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mc="http://schemas.openxmlformats.org/markup-compatibility/2006"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K-NN: Feature Normalization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05256" y="1773936"/>
            <a:ext cx="10341864" cy="4828032"/>
          </a:xfrm>
          <a:prstGeom prst="roundRect">
            <a:avLst>
              <a:gd name="adj" fmla="val 1515"/>
            </a:avLst>
          </a:prstGeom>
          <a:solidFill>
            <a:srgbClr val="E8E8E8"/>
          </a:solidFill>
          <a:ln w="25400">
            <a:solidFill>
              <a:srgbClr val="AA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3584" y="217627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should be on the </a:t>
            </a:r>
            <a:pPr indent="0" marL="0">
              <a:buNone/>
            </a:pPr>
            <a:r>
              <a:rPr lang="en-US" sz="21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scale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43584" y="2798064"/>
            <a:ext cx="82296" cy="82296"/>
          </a:xfrm>
          <a:prstGeom prst="ellipse">
            <a:avLst/>
          </a:prstGeom>
          <a:solidFill>
            <a:srgbClr val="00000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706624"/>
            <a:ext cx="6035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if one feature has its values in millimeters and another has in centimeters, we would need to normalize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243584" y="4133088"/>
            <a:ext cx="82296" cy="82296"/>
          </a:xfrm>
          <a:prstGeom prst="ellipse">
            <a:avLst/>
          </a:prstGeom>
          <a:solidFill>
            <a:srgbClr val="000000"/>
          </a:solidFill>
          <a:ln w="31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2768" y="40416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way is: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266176" y="2249424"/>
            <a:ext cx="2843784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CC"/>
            </a:solidFill>
            <a:prstDash val="solid"/>
          </a:ln>
        </p:spPr>
      </p:sp>
      <mc:AlternateContent>
        <mc:Choice xmlns:a14="http://schemas.microsoft.com/office/drawing/2010/main" Requires="a14">
          <p:sp>
            <p:nvSpPr>
              <p:cNvPr id="13" name="Equation OMML" descr="d(x_i, x_j) = \sqrt{\sum_{m=1}^{D}(x_{im} - x_{jm})^{2}}"/>
              <p:cNvSpPr txBox="1"/>
              <p:nvPr/>
            </p:nvSpPr>
            <p:spPr>
              <a:xfrm>
                <a:off x="8369808" y="2400810"/>
                <a:ext cx="2682237" cy="624837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d(</m:t>
                      </m:r>
                      <m:sSub>
                        <m:sSubPr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</m:t>
                          </m:r>
                        </m:sub>
                      </m:sSub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,</m:t>
                      </m:r>
                      <m:sSub>
                        <m:sSubPr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j</m:t>
                          </m:r>
                        </m:sub>
                      </m:sSub>
                      <m:r>
                        <a:rPr lang="en-US" i="1" smtClean="0" sz="155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)=</m:t>
                      </m:r>
                      <m:rad>
                        <m:radPr>
                          <m:degHide m:val="on"/>
                          <m:ctrlPr>
                            <a:rPr lang="en-US" i="1" smtClean="0" sz="155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m=1</m:t>
                              </m:r>
                            </m:sub>
                            <m:sup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D</m:t>
                              </m:r>
                            </m:sup>
                            <m:e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(</m:t>
                              </m:r>
                              <m:sSub>
                                <m:sSub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im</m:t>
                                  </m:r>
                                </m:sub>
                              </m:sSub>
                              <m:r>
                                <a:rPr lang="en-US" i="1" smtClean="0" sz="155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-</m:t>
                              </m:r>
                              <m:sSub>
                                <m:sSub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  <m:sub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jm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)</m:t>
                                  </m:r>
                                </m:e>
                                <m:sup>
                                  <m:r>
                                    <a:rPr lang="en-US" i="1" smtClean="0" sz="155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3" name="Image 0" descr="/home/ahmed/Projects/ai_llm_slides/videos/ml-intro/recreated_pptx/build/omml/slide_052/assets/eq_052_distance_v2.png">    </p:cNvPr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8369808" y="2400810"/>
                <a:ext cx="2682237" cy="624837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Shape 11"/>
          <p:cNvSpPr/>
          <p:nvPr/>
        </p:nvSpPr>
        <p:spPr>
          <a:xfrm>
            <a:off x="1380744" y="4700016"/>
            <a:ext cx="7735824" cy="1673352"/>
          </a:xfrm>
          <a:prstGeom prst="rect">
            <a:avLst/>
          </a:prstGeom>
          <a:solidFill>
            <a:srgbClr val="FFFF99"/>
          </a:solidFill>
          <a:ln w="12700">
            <a:solidFill>
              <a:srgbClr val="0000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435100" y="4657090"/>
            <a:ext cx="119943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Replace 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16" name="Equation OMML" descr="x_{im}"/>
              <p:cNvSpPr txBox="1"/>
              <p:nvPr/>
            </p:nvSpPr>
            <p:spPr>
              <a:xfrm>
                <a:off x="2386584" y="4828540"/>
                <a:ext cx="355089" cy="182880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x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im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6" name="Image 1" descr="/home/ahmed/Projects/ai_llm_slides/videos/ml-intro/recreated_pptx/build/omml/slide_052/assets/eq_052_xim.png">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86584" y="4828540"/>
                <a:ext cx="355089" cy="18288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 13"/>
          <p:cNvSpPr/>
          <p:nvPr/>
        </p:nvSpPr>
        <p:spPr>
          <a:xfrm>
            <a:off x="2741673" y="4657090"/>
            <a:ext cx="5117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by 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18" name="Equation OMML" descr="z_{im} = \,\: \frac{x_{im} \;-\; \bar{x}_{m}}{\sigma_{m}}"/>
              <p:cNvSpPr txBox="1"/>
              <p:nvPr/>
            </p:nvSpPr>
            <p:spPr>
              <a:xfrm>
                <a:off x="3150108" y="4732529"/>
                <a:ext cx="1463040" cy="329184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z</m:t>
                          </m:r>
                        </m:e>
                        <m: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im</m:t>
                          </m:r>
                        </m:sub>
                      </m:sSub>
                      <m:r>
                        <a:rPr lang="en-US" i="1" smtClean="0" sz="1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  </m:t>
                      </m:r>
                      <m:f>
                        <m:fPr>
                          <m:ctrlP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1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 - </m:t>
                          </m:r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smtClean="0" sz="1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smtClean="0" sz="18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σ</m:t>
                              </m:r>
                            </m:e>
                            <m:sub>
                              <m:r>
                                <a:rPr lang="en-US" i="1" smtClean="0" sz="1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18" name="Image 2" descr="/home/ahmed/Projects/ai_llm_slides/videos/ml-intro/recreated_pptx/build/omml/slide_052/assets/eq_052_zfrac_v2.png">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50108" y="4732529"/>
                <a:ext cx="1463040" cy="329184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 14"/>
          <p:cNvSpPr/>
          <p:nvPr/>
        </p:nvSpPr>
        <p:spPr>
          <a:xfrm>
            <a:off x="4632706" y="4657090"/>
            <a:ext cx="1830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(make them 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092825" y="4657090"/>
            <a:ext cx="345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AA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zero mean, unit variance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978920" y="465709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)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22" name="Equation OMML" descr="\bar{x}_{m} = \;\, \frac{1}{N} \: \sum_{i=1}^{N} \qquad x_{im}"/>
              <p:cNvSpPr txBox="1"/>
              <p:nvPr/>
            </p:nvSpPr>
            <p:spPr>
              <a:xfrm>
                <a:off x="1435608" y="5137148"/>
                <a:ext cx="1908051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bar>
                            <m:barPr>
                              <m:pos m:val="top"/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</m:ba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</m:sSub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=  </m:t>
                      </m:r>
                      <m:f>
                        <m:f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 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p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  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2" name="Image 3" descr="/home/ahmed/Projects/ai_llm_slides/videos/ml-intro/recreated_pptx/build/omml/slide_052/assets/eq_052_mean_v2.png">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5608" y="5137148"/>
                <a:ext cx="1908051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 17"/>
          <p:cNvSpPr/>
          <p:nvPr/>
        </p:nvSpPr>
        <p:spPr>
          <a:xfrm>
            <a:off x="3498850" y="52095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: empirical mean of m</a:t>
            </a:r>
            <a:pPr algn="l" indent="0" marL="0">
              <a:buNone/>
            </a:pPr>
            <a:r>
              <a:rPr lang="en-US" sz="1800" baseline="300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th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feature</a:t>
            </a:r>
            <a:endParaRPr lang="en-US" sz="1800" dirty="0"/>
          </a:p>
        </p:txBody>
      </p:sp>
      <mc:AlternateContent>
        <mc:Choice xmlns:a14="http://schemas.microsoft.com/office/drawing/2010/main" Requires="a14">
          <p:sp>
            <p:nvSpPr>
              <p:cNvPr id="24" name="Equation OMML" descr="\sigma_{m}^{2} \,\: = \;\, \frac{1}{N}\sum_{i=1}^{N}\quad\, (x_{im} \; - \; \bar{x}_{m})^{2}"/>
              <p:cNvSpPr txBox="1"/>
              <p:nvPr/>
            </p:nvSpPr>
            <p:spPr>
              <a:xfrm>
                <a:off x="1422908" y="5746748"/>
                <a:ext cx="2692908" cy="608076"/>
              </a:xfrm>
              <a:prstGeom prst="rect">
                <a:avLst/>
              </a:prstGeom>
              <a:noFill/>
            </p:spPr>
            <p:txBody>
              <a:bodyPr lIns="0" tIns="0" rIns="0" bIns="0" anchor="ctr">
                <a:noAutofit/>
              </a:bodyPr>
              <a:lstStyle/>
              <a:p>
                <a:pPr algn="ctr">
                  <a:buNone/>
                </a:pPr>
                <a14:m>
                  <m:oMathPara xmlns:m="http://schemas.openxmlformats.org/officeDocument/2006/math" xmlns:a="http://schemas.openxmlformats.org/drawingml/2006/main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σ</m:t>
                          </m:r>
                        </m:e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m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2</m:t>
                          </m:r>
                        </m:sup>
                      </m:sSubSup>
                      <m:r>
                        <a:rPr lang="en-US" i="1" smtClean="0" sz="17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 xml:space="preserve">  =  </m:t>
                      </m:r>
                      <m:f>
                        <m:fPr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1</m:t>
                          </m:r>
                        </m:num>
                        <m:den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i=1</m:t>
                          </m:r>
                        </m:sub>
                        <m:sup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N</m:t>
                          </m:r>
                        </m:sup>
                        <m:e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  (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x</m:t>
                              </m: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im</m:t>
                              </m:r>
                            </m:sub>
                          </m:sSub>
                          <m:r>
                            <a:rPr lang="en-US" i="1" smtClean="0" sz="1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 xml:space="preserve"> - </m:t>
                          </m:r>
                          <m:sSub>
                            <m:sSub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pos m:val="top"/>
                                  <m:ctrlPr>
                                    <a:rPr lang="en-US" i="1" smtClean="0" sz="1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n-US" i="1" smtClean="0" sz="1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 xml:space="preserve">x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m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)</m:t>
                              </m:r>
                            </m:e>
                            <m:sup>
                              <m:r>
                                <a:rPr lang="en-US" i="1" smtClean="0" sz="1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 xml:space="preserve"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pic>
            <p:nvPicPr>
              <p:cNvPr id="24" name="Image 4" descr="/home/ahmed/Projects/ai_llm_slides/videos/ml-intro/recreated_pptx/build/omml/slide_052/assets/eq_052_var_v2.png">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2908" y="5746748"/>
                <a:ext cx="2692908" cy="608076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 18"/>
          <p:cNvSpPr/>
          <p:nvPr/>
        </p:nvSpPr>
        <p:spPr>
          <a:xfrm>
            <a:off x="4133850" y="58191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: empirical variance of m</a:t>
            </a:r>
            <a:pPr algn="l" indent="0" marL="0">
              <a:buNone/>
            </a:pPr>
            <a:r>
              <a:rPr lang="en-US" sz="1800" baseline="300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th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DejaVu Serif" pitchFamily="34" charset="0"/>
                <a:ea typeface="DejaVu Serif" pitchFamily="34" charset="-122"/>
                <a:cs typeface="DejaVu Serif" pitchFamily="34" charset="-120"/>
              </a:rPr>
              <a:t> feature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2026-10-10T19:48:22Z</dcterms:created>
  <dcterms:modified xsi:type="dcterms:W3CDTF">2026-10-10T19:48:22Z</dcterms:modified>
</cp:coreProperties>
</file>