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g015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g016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g017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g018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g019_image-1-1.png"/><Relationship Id="rId2" Type="http://schemas.openxmlformats.org/officeDocument/2006/relationships/image" Target="../media/img019_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g026_image-1-1.png"/><Relationship Id="rId2" Type="http://schemas.openxmlformats.org/officeDocument/2006/relationships/image" Target="../media/img026_image-1-2.png"/><Relationship Id="rId3" Type="http://schemas.openxmlformats.org/officeDocument/2006/relationships/image" Target="../media/img026_image-1-3.png"/><Relationship Id="rId4" Type="http://schemas.openxmlformats.org/officeDocument/2006/relationships/image" Target="../media/img026_image-1-4.png"/><Relationship Id="rId5" Type="http://schemas.openxmlformats.org/officeDocument/2006/relationships/image" Target="../media/img026_image-1-5.png"/><Relationship Id="rId6" Type="http://schemas.openxmlformats.org/officeDocument/2006/relationships/image" Target="../media/img026_image-1-6.png"/><Relationship Id="rId7" Type="http://schemas.openxmlformats.org/officeDocument/2006/relationships/image" Target="../media/img026_image-1-7.png"/><Relationship Id="rId8" Type="http://schemas.openxmlformats.org/officeDocument/2006/relationships/image" Target="../media/img026_image-1-8.png"/><Relationship Id="rId9" Type="http://schemas.openxmlformats.org/officeDocument/2006/relationships/image" Target="../media/img026_image-1-9.png"/><Relationship Id="rId10" Type="http://schemas.openxmlformats.org/officeDocument/2006/relationships/image" Target="../media/img026_image-1-10.png"/><Relationship Id="rId11" Type="http://schemas.openxmlformats.org/officeDocument/2006/relationships/image" Target="../media/img026_image-1-11.png"/><Relationship Id="rId12" Type="http://schemas.openxmlformats.org/officeDocument/2006/relationships/image" Target="../media/img026_image-1-12.png"/><Relationship Id="rId13" Type="http://schemas.openxmlformats.org/officeDocument/2006/relationships/image" Target="../media/img026_image-1-13.png"/><Relationship Id="rId14" Type="http://schemas.openxmlformats.org/officeDocument/2006/relationships/image" Target="../media/img026_image-1-10.png"/><Relationship Id="rId15" Type="http://schemas.openxmlformats.org/officeDocument/2006/relationships/image" Target="../media/img026_image-1-15.png"/><Relationship Id="rId16" Type="http://schemas.openxmlformats.org/officeDocument/2006/relationships/image" Target="../media/img026_image-1-16.png"/><Relationship Id="rId17" Type="http://schemas.openxmlformats.org/officeDocument/2006/relationships/image" Target="../media/img026_image-1-17.png"/><Relationship Id="rId18" Type="http://schemas.openxmlformats.org/officeDocument/2006/relationships/image" Target="../media/img026_image-1-10.png"/><Relationship Id="rId19" Type="http://schemas.openxmlformats.org/officeDocument/2006/relationships/image" Target="../media/img026_image-1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g035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g042_image-1-1.png"/><Relationship Id="rId2" Type="http://schemas.openxmlformats.org/officeDocument/2006/relationships/image" Target="../media/img042_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g043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g044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g045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g046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g047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g048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g049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g050_image-1-1.png"/><Relationship Id="rId2" Type="http://schemas.openxmlformats.org/officeDocument/2006/relationships/image" Target="../media/img050_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g051_image-1-1.png"/><Relationship Id="rId2" Type="http://schemas.openxmlformats.org/officeDocument/2006/relationships/image" Target="../media/img051_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g052_image-1-1.png"/><Relationship Id="rId2" Type="http://schemas.openxmlformats.org/officeDocument/2006/relationships/image" Target="../media/img052_image-1-2.png"/><Relationship Id="rId3" Type="http://schemas.openxmlformats.org/officeDocument/2006/relationships/image" Target="../media/img052_image-1-3.png"/><Relationship Id="rId4" Type="http://schemas.openxmlformats.org/officeDocument/2006/relationships/image" Target="../media/img052_image-1-4.png"/><Relationship Id="rId5" Type="http://schemas.openxmlformats.org/officeDocument/2006/relationships/image" Target="../media/img052_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g053_image-1-1.png"/><Relationship Id="rId2" Type="http://schemas.openxmlformats.org/officeDocument/2006/relationships/image" Target="../media/img053_image-1-2.png"/><Relationship Id="rId3" Type="http://schemas.openxmlformats.org/officeDocument/2006/relationships/image" Target="../media/img053_image-1-1.png"/><Relationship Id="rId4" Type="http://schemas.openxmlformats.org/officeDocument/2006/relationships/image" Target="../media/img053_image-1-2.png"/><Relationship Id="rId5" Type="http://schemas.openxmlformats.org/officeDocument/2006/relationships/image" Target="../media/img053_image-1-1.png"/><Relationship Id="rId6" Type="http://schemas.openxmlformats.org/officeDocument/2006/relationships/image" Target="../media/img053_image-1-2.png"/><Relationship Id="rId7" Type="http://schemas.openxmlformats.org/officeDocument/2006/relationships/image" Target="../media/img053_image-1-7.png"/><Relationship Id="rId8" Type="http://schemas.openxmlformats.org/officeDocument/2006/relationships/image" Target="../media/img053_image-1-8.png"/><Relationship Id="rId9" Type="http://schemas.openxmlformats.org/officeDocument/2006/relationships/image" Target="../media/img053_image-1-7.png"/><Relationship Id="rId10" Type="http://schemas.openxmlformats.org/officeDocument/2006/relationships/image" Target="../media/img053_image-1-8.png"/><Relationship Id="rId11" Type="http://schemas.openxmlformats.org/officeDocument/2006/relationships/image" Target="../media/img053_image-1-7.png"/><Relationship Id="rId12" Type="http://schemas.openxmlformats.org/officeDocument/2006/relationships/image" Target="../media/img053_image-1-8.png"/><Relationship Id="rId13" Type="http://schemas.openxmlformats.org/officeDocument/2006/relationships/image" Target="../media/img053_image-1-13.png"/><Relationship Id="rId14" Type="http://schemas.openxmlformats.org/officeDocument/2006/relationships/image" Target="../media/img053_image-1-14.png"/><Relationship Id="rId15" Type="http://schemas.openxmlformats.org/officeDocument/2006/relationships/image" Target="../media/img053_image-1-13.png"/><Relationship Id="rId16" Type="http://schemas.openxmlformats.org/officeDocument/2006/relationships/image" Target="../media/img053_image-1-14.png"/><Relationship Id="rId17" Type="http://schemas.openxmlformats.org/officeDocument/2006/relationships/image" Target="../media/img053_image-1-13.png"/><Relationship Id="rId18" Type="http://schemas.openxmlformats.org/officeDocument/2006/relationships/image" Target="../media/img053_image-1-14.png"/><Relationship Id="rId19" Type="http://schemas.openxmlformats.org/officeDocument/2006/relationships/image" Target="../media/img053_image-1-19.png"/><Relationship Id="rId20" Type="http://schemas.openxmlformats.org/officeDocument/2006/relationships/image" Target="../media/img053_image-1-20.png"/><Relationship Id="rId21" Type="http://schemas.openxmlformats.org/officeDocument/2006/relationships/image" Target="../media/img053_image-1-21.png"/><Relationship Id="rId22" Type="http://schemas.openxmlformats.org/officeDocument/2006/relationships/image" Target="../media/img053_image-1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g054_image-1-1.png"/><Relationship Id="rId2" Type="http://schemas.openxmlformats.org/officeDocument/2006/relationships/image" Target="../media/img054_image-1-2.png"/><Relationship Id="rId3" Type="http://schemas.openxmlformats.org/officeDocument/2006/relationships/image" Target="../media/img054_image-1-1.png"/><Relationship Id="rId4" Type="http://schemas.openxmlformats.org/officeDocument/2006/relationships/image" Target="../media/img054_image-1-2.png"/><Relationship Id="rId5" Type="http://schemas.openxmlformats.org/officeDocument/2006/relationships/image" Target="../media/img054_image-1-1.png"/><Relationship Id="rId6" Type="http://schemas.openxmlformats.org/officeDocument/2006/relationships/image" Target="../media/img054_image-1-2.png"/><Relationship Id="rId7" Type="http://schemas.openxmlformats.org/officeDocument/2006/relationships/image" Target="../media/img054_image-1-7.png"/><Relationship Id="rId8" Type="http://schemas.openxmlformats.org/officeDocument/2006/relationships/image" Target="../media/img054_image-1-8.png"/><Relationship Id="rId9" Type="http://schemas.openxmlformats.org/officeDocument/2006/relationships/image" Target="../media/img054_image-1-7.png"/><Relationship Id="rId10" Type="http://schemas.openxmlformats.org/officeDocument/2006/relationships/image" Target="../media/img054_image-1-8.png"/><Relationship Id="rId11" Type="http://schemas.openxmlformats.org/officeDocument/2006/relationships/image" Target="../media/img054_image-1-7.png"/><Relationship Id="rId12" Type="http://schemas.openxmlformats.org/officeDocument/2006/relationships/image" Target="../media/img054_image-1-8.png"/><Relationship Id="rId13" Type="http://schemas.openxmlformats.org/officeDocument/2006/relationships/image" Target="../media/img054_image-1-13.png"/><Relationship Id="rId14" Type="http://schemas.openxmlformats.org/officeDocument/2006/relationships/image" Target="../media/img054_image-1-14.png"/><Relationship Id="rId15" Type="http://schemas.openxmlformats.org/officeDocument/2006/relationships/image" Target="../media/img054_image-1-13.png"/><Relationship Id="rId16" Type="http://schemas.openxmlformats.org/officeDocument/2006/relationships/image" Target="../media/img054_image-1-14.png"/><Relationship Id="rId17" Type="http://schemas.openxmlformats.org/officeDocument/2006/relationships/image" Target="../media/img054_image-1-13.png"/><Relationship Id="rId18" Type="http://schemas.openxmlformats.org/officeDocument/2006/relationships/image" Target="../media/img054_image-1-14.png"/><Relationship Id="rId19" Type="http://schemas.openxmlformats.org/officeDocument/2006/relationships/image" Target="../media/img054_image-1-19.png"/><Relationship Id="rId20" Type="http://schemas.openxmlformats.org/officeDocument/2006/relationships/image" Target="../media/img054_image-1-20.png"/><Relationship Id="rId21" Type="http://schemas.openxmlformats.org/officeDocument/2006/relationships/image" Target="../media/img054_image-1-21.png"/><Relationship Id="rId22" Type="http://schemas.openxmlformats.org/officeDocument/2006/relationships/image" Target="../media/img054_image-1-22.png"/><Relationship Id="rId23" Type="http://schemas.openxmlformats.org/officeDocument/2006/relationships/image" Target="../media/img054_image-1-23.png"/><Relationship Id="rId24" Type="http://schemas.openxmlformats.org/officeDocument/2006/relationships/image" Target="../media/img054_image-1-24.png"/><Relationship Id="rId25" Type="http://schemas.openxmlformats.org/officeDocument/2006/relationships/image" Target="../media/img054_image-1-23.png"/><Relationship Id="rId26" Type="http://schemas.openxmlformats.org/officeDocument/2006/relationships/image" Target="../media/img054_image-1-24.png"/><Relationship Id="rId27" Type="http://schemas.openxmlformats.org/officeDocument/2006/relationships/image" Target="../media/img054_image-1-23.png"/><Relationship Id="rId28" Type="http://schemas.openxmlformats.org/officeDocument/2006/relationships/image" Target="../media/img054_image-1-24.png"/><Relationship Id="rId29" Type="http://schemas.openxmlformats.org/officeDocument/2006/relationships/image" Target="../media/img054_image-1-29.png"/><Relationship Id="rId30" Type="http://schemas.openxmlformats.org/officeDocument/2006/relationships/image" Target="../media/img054_image-1-30.png"/><Relationship Id="rId31" Type="http://schemas.openxmlformats.org/officeDocument/2006/relationships/image" Target="../media/img054_image-1-29.png"/><Relationship Id="rId32" Type="http://schemas.openxmlformats.org/officeDocument/2006/relationships/image" Target="../media/img054_image-1-30.png"/><Relationship Id="rId33" Type="http://schemas.openxmlformats.org/officeDocument/2006/relationships/image" Target="../media/img054_image-1-29.png"/><Relationship Id="rId34" Type="http://schemas.openxmlformats.org/officeDocument/2006/relationships/image" Target="../media/img054_image-1-30.png"/><Relationship Id="rId35" Type="http://schemas.openxmlformats.org/officeDocument/2006/relationships/image" Target="../media/img054_image-1-35.png"/><Relationship Id="rId36" Type="http://schemas.openxmlformats.org/officeDocument/2006/relationships/image" Target="../media/img054_image-1-36.png"/><Relationship Id="rId37" Type="http://schemas.openxmlformats.org/officeDocument/2006/relationships/image" Target="../media/img054_image-1-35.png"/><Relationship Id="rId38" Type="http://schemas.openxmlformats.org/officeDocument/2006/relationships/image" Target="../media/img054_image-1-36.png"/><Relationship Id="rId39" Type="http://schemas.openxmlformats.org/officeDocument/2006/relationships/image" Target="../media/img054_image-1-35.png"/><Relationship Id="rId40" Type="http://schemas.openxmlformats.org/officeDocument/2006/relationships/image" Target="../media/img054_image-1-36.png"/><Relationship Id="rId41" Type="http://schemas.openxmlformats.org/officeDocument/2006/relationships/image" Target="../media/img054_image-1-41.png"/><Relationship Id="rId42" Type="http://schemas.openxmlformats.org/officeDocument/2006/relationships/image" Target="../media/img054_image-1-42.png"/><Relationship Id="rId43" Type="http://schemas.openxmlformats.org/officeDocument/2006/relationships/image" Target="../media/img054_image-1-43.png"/><Relationship Id="rId44" Type="http://schemas.openxmlformats.org/officeDocument/2006/relationships/image" Target="../media/img054_image-1-44.png"/><Relationship Id="rId45" Type="http://schemas.openxmlformats.org/officeDocument/2006/relationships/image" Target="../media/img054_image-1-45.png"/><Relationship Id="rId46" Type="http://schemas.openxmlformats.org/officeDocument/2006/relationships/slideLayout" Target="../slideLayouts/slideLayout1.xml"/><Relationship Id="rId47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g055_image-1-1.png"/><Relationship Id="rId2" Type="http://schemas.openxmlformats.org/officeDocument/2006/relationships/image" Target="../media/img055_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g057_image-1-1.png"/><Relationship Id="rId2" Type="http://schemas.openxmlformats.org/officeDocument/2006/relationships/image" Target="../media/img057_image-1-2.png"/><Relationship Id="rId3" Type="http://schemas.openxmlformats.org/officeDocument/2006/relationships/image" Target="../media/img057_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g060_image-1-1.png"/><Relationship Id="rId2" Type="http://schemas.openxmlformats.org/officeDocument/2006/relationships/image" Target="../media/img060_image-1-2.png"/><Relationship Id="rId3" Type="http://schemas.openxmlformats.org/officeDocument/2006/relationships/image" Target="../media/img060_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g061_image-1-1.png"/><Relationship Id="rId2" Type="http://schemas.openxmlformats.org/officeDocument/2006/relationships/image" Target="../media/img061_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g063_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g064_image-1-1.png"/><Relationship Id="rId2" Type="http://schemas.openxmlformats.org/officeDocument/2006/relationships/image" Target="../media/img064_image-1-2.png"/><Relationship Id="rId3" Type="http://schemas.openxmlformats.org/officeDocument/2006/relationships/image" Target="../media/img064_image-1-3.png"/><Relationship Id="rId4" Type="http://schemas.openxmlformats.org/officeDocument/2006/relationships/image" Target="../media/img064_image-1-4.png"/><Relationship Id="rId5" Type="http://schemas.openxmlformats.org/officeDocument/2006/relationships/image" Target="../media/img064_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CSAI 253  -  Spring 2024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0" y="2423160"/>
            <a:ext cx="5788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Khaled Mostafa ElSayed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kmelsayed@zewailcity.edu.eg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2578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Instructors: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Khaled Mostafa ElSayed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kmelsayed@zewailcity.edu.eg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4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Mohamed Maher Ata</a:t>
            </a:r>
            <a:endParaRPr lang="en-US" sz="16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momaher@zewailcity.edu.eg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41080" y="5349240"/>
            <a:ext cx="960120" cy="960120"/>
          </a:xfrm>
          <a:prstGeom prst="rect">
            <a:avLst/>
          </a:prstGeom>
          <a:solidFill>
            <a:srgbClr val="1B9E8F"/>
          </a:solidFill>
          <a:ln w="6350">
            <a:solidFill>
              <a:srgbClr val="1B9E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08008" y="5458968"/>
            <a:ext cx="182880" cy="182880"/>
          </a:xfrm>
          <a:prstGeom prst="ellipse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69096" y="5568696"/>
            <a:ext cx="713232" cy="384048"/>
          </a:xfrm>
          <a:prstGeom prst="triangle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59710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ZEWAIL CITY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656064" y="5404104"/>
            <a:ext cx="25146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29216" y="54589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جامعة العلوم والتكنولوجيا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Science and Technology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961409" y="1920240"/>
            <a:ext cx="4266133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3961409" y="1920240"/>
            <a:ext cx="426613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017520" y="3566160"/>
            <a:ext cx="2925348" cy="822960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3566160"/>
            <a:ext cx="29253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Based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(Expert Systems)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45352" y="3566160"/>
            <a:ext cx="2925348" cy="822960"/>
          </a:xfrm>
          <a:prstGeom prst="rect">
            <a:avLst/>
          </a:prstGeom>
          <a:solidFill>
            <a:srgbClr val="2E8B2E"/>
          </a:solidFill>
          <a:ln/>
        </p:spPr>
      </p:sp>
      <p:sp>
        <p:nvSpPr>
          <p:cNvPr id="11" name="Text 9"/>
          <p:cNvSpPr/>
          <p:nvPr/>
        </p:nvSpPr>
        <p:spPr>
          <a:xfrm>
            <a:off x="6245352" y="3566160"/>
            <a:ext cx="29253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Based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(Machine Learning)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094476" y="2743200"/>
            <a:ext cx="0" cy="411480"/>
          </a:xfrm>
          <a:prstGeom prst="line">
            <a:avLst/>
          </a:prstGeom>
          <a:ln w="12700">
            <a:solidFill>
              <a:srgbClr val="CC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4480194" y="3154680"/>
            <a:ext cx="1614282" cy="411480"/>
          </a:xfrm>
          <a:prstGeom prst="curvedConnector2">
            <a:avLst/>
          </a:prstGeom>
          <a:ln w="1270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94476" y="3154680"/>
            <a:ext cx="1613550" cy="411480"/>
          </a:xfrm>
          <a:prstGeom prst="curvedConnector2">
            <a:avLst/>
          </a:prstGeom>
          <a:ln w="12700">
            <a:solidFill>
              <a:srgbClr val="CC000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Machine Learning?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63040" y="1714500"/>
            <a:ext cx="9262872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01168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Learning: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28800" y="269748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94560" y="2697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algorithms that can 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learn patterns from data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(and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194560" y="30815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 them)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28800" y="361188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94560" y="36118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supplies training examples, the machine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94560" y="3995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452628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94560" y="45262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machine a bunch of spam and legitimate emails and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94560" y="49103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it learn to predict if a new email is spam or not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Machine Learning?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133856" y="1828800"/>
            <a:ext cx="9985248" cy="4828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03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029968"/>
            <a:ext cx="87782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primarily </a:t>
            </a:r>
            <a:pPr indent="0" marL="0">
              <a:buNone/>
            </a:pPr>
            <a:r>
              <a:rPr lang="en-US" sz="25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the statistically motivated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280160" y="2459736"/>
            <a:ext cx="1828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5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865376" y="2898648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12848" y="2898648"/>
            <a:ext cx="89154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02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hand-crafted rules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subtle pattern nuances are often be difficult to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12848" y="3282696"/>
            <a:ext cx="18288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65376" y="3721608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12848" y="3721608"/>
            <a:ext cx="89154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Instead, </a:t>
            </a:r>
            <a:pPr indent="0" marL="0">
              <a:buNone/>
            </a:pPr>
            <a:r>
              <a:rPr lang="en-US" sz="2200" b="1" dirty="0">
                <a:solidFill>
                  <a:srgbClr val="202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machine figure out the rules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2200" b="1" u="sng" dirty="0">
                <a:solidFill>
                  <a:srgbClr val="202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its own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</a:t>
            </a:r>
            <a:pPr indent="0" marL="0">
              <a:buNone/>
            </a:pPr>
            <a:r>
              <a:rPr lang="en-US" sz="2200" i="1" dirty="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212848" y="3995928"/>
            <a:ext cx="384048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models of the data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4489704"/>
            <a:ext cx="566928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Desirable Property: </a:t>
            </a:r>
            <a:pPr indent="0" marL="0">
              <a:buNone/>
            </a:pPr>
            <a:r>
              <a:rPr lang="en-US" sz="2500" b="1" dirty="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1362456" y="5010912"/>
            <a:ext cx="3200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1691640" y="5010912"/>
            <a:ext cx="7315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</a:t>
            </a:r>
            <a:pPr indent="0" marL="0">
              <a:buNone/>
            </a:pPr>
            <a:r>
              <a:rPr lang="en-US" sz="25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shouldn't overfit</a:t>
            </a:r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buNone/>
            </a:pPr>
            <a:r>
              <a:rPr lang="en-US" sz="2500" u="sng" dirty="0">
                <a:solidFill>
                  <a:srgbClr val="202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training data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1362456" y="5532120"/>
            <a:ext cx="3200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1691640" y="5532120"/>
            <a:ext cx="82296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02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should generalize</a:t>
            </a:r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well on unseen (future) test data</a:t>
            </a:r>
            <a:endParaRPr lang="en-US" sz="2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in the real-world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06424" y="1481328"/>
            <a:ext cx="9866376" cy="5166360"/>
          </a:xfrm>
          <a:prstGeom prst="rect">
            <a:avLst/>
          </a:prstGeom>
          <a:solidFill>
            <a:srgbClr val="FFFFFF"/>
          </a:solidFill>
          <a:ln w="19050">
            <a:solidFill>
              <a:srgbClr val="B0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5087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Broadly applicable in many domains</a:t>
            </a:r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(e.g., finance, robotics,</a:t>
            </a:r>
            <a:endParaRPr lang="en-US" sz="24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bio-informatics, vision, natural language, etc.). Some applications: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194560" y="2258568"/>
            <a:ext cx="859536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Spam filtering</a:t>
            </a:r>
            <a:endParaRPr lang="en-US" sz="18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Translation (e.g., Google Translate)</a:t>
            </a:r>
            <a:endParaRPr lang="en-US" sz="18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Speech/handwriting recognition</a:t>
            </a:r>
            <a:endParaRPr lang="en-US" sz="18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detection/recognition</a:t>
            </a:r>
            <a:endParaRPr lang="en-US" sz="18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prediction</a:t>
            </a:r>
            <a:endParaRPr lang="en-US" sz="18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Classifying DNA sequences</a:t>
            </a:r>
            <a:endParaRPr lang="en-US" sz="18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market analysis</a:t>
            </a:r>
            <a:endParaRPr lang="en-US" sz="18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vehicle navigation</a:t>
            </a:r>
            <a:endParaRPr lang="en-US" sz="18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engines (e.g, Google)</a:t>
            </a:r>
            <a:endParaRPr lang="en-US" sz="18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Credit-card fraud detection</a:t>
            </a:r>
            <a:endParaRPr lang="en-US" sz="18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Webpage clustering (e.g., Google News)</a:t>
            </a:r>
            <a:endParaRPr lang="en-US" sz="1800" dirty="0"/>
          </a:p>
          <a:p>
            <a:pPr algn="l" marL="190500" indent="-190500">
              <a:lnSpc>
                <a:spcPts val="2560"/>
              </a:lnSpc>
              <a:buSzPct val="100000"/>
              <a:buChar char="•"/>
            </a:pPr>
            <a:r>
              <a:rPr lang="en-US" sz="18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 and many more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965960"/>
            <a:ext cx="11914632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9E2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0" y="256032"/>
            <a:ext cx="4873752" cy="1508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110916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Domains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Machine/Deep Learning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216152" y="4251960"/>
            <a:ext cx="2194560" cy="1577340"/>
          </a:xfrm>
          <a:prstGeom prst="rect">
            <a:avLst/>
          </a:prstGeom>
          <a:solidFill>
            <a:srgbClr val="0B0BA8"/>
          </a:solidFill>
          <a:ln w="12700">
            <a:solidFill>
              <a:srgbClr val="0B0B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4251960"/>
            <a:ext cx="219456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776472" y="4251960"/>
            <a:ext cx="2194560" cy="1577340"/>
          </a:xfrm>
          <a:prstGeom prst="rect">
            <a:avLst/>
          </a:prstGeom>
          <a:solidFill>
            <a:srgbClr val="1E8C3C"/>
          </a:solidFill>
          <a:ln w="12700">
            <a:solidFill>
              <a:srgbClr val="1E8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6472" y="4251960"/>
            <a:ext cx="219456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17920" y="4251960"/>
            <a:ext cx="2194560" cy="1577340"/>
          </a:xfrm>
          <a:prstGeom prst="rect">
            <a:avLst/>
          </a:prstGeom>
          <a:solidFill>
            <a:srgbClr val="7A4A00"/>
          </a:solidFill>
          <a:ln w="12700">
            <a:solidFill>
              <a:srgbClr val="7A4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4251960"/>
            <a:ext cx="219456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778240" y="4251960"/>
            <a:ext cx="2194560" cy="1577340"/>
          </a:xfrm>
          <a:prstGeom prst="rect">
            <a:avLst/>
          </a:prstGeom>
          <a:solidFill>
            <a:srgbClr val="B30000"/>
          </a:solidFill>
          <a:ln w="12700">
            <a:solidFill>
              <a:srgbClr val="B3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0" y="4251960"/>
            <a:ext cx="219456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 flipH="1">
            <a:off x="2313432" y="1764792"/>
            <a:ext cx="3781044" cy="2487168"/>
          </a:xfrm>
          <a:prstGeom prst="curvedConnector2">
            <a:avLst/>
          </a:prstGeom>
          <a:ln w="317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4873752" y="1764792"/>
            <a:ext cx="1220724" cy="2487168"/>
          </a:xfrm>
          <a:prstGeom prst="curvedConnector2">
            <a:avLst/>
          </a:prstGeom>
          <a:ln w="317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94476" y="1764792"/>
            <a:ext cx="1220724" cy="2487168"/>
          </a:xfrm>
          <a:prstGeom prst="curvedConnector2">
            <a:avLst/>
          </a:prstGeom>
          <a:ln w="317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94476" y="1764792"/>
            <a:ext cx="3781044" cy="2487168"/>
          </a:xfrm>
          <a:prstGeom prst="curvedConnector2">
            <a:avLst/>
          </a:prstGeom>
          <a:ln w="3175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 Languages, Platforms, and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9448" y="1920240"/>
            <a:ext cx="5241249" cy="452628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9488" y="2066544"/>
            <a:ext cx="46926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Languages for ML/DL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29488" y="2432304"/>
            <a:ext cx="46926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29488" y="3218688"/>
            <a:ext cx="46926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Platforms for ML/DL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29488" y="3584448"/>
            <a:ext cx="46926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 Flow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14600" y="3456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+ Keras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29488" y="4105656"/>
            <a:ext cx="46926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Libraries (for python)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29488" y="4471416"/>
            <a:ext cx="469260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 Learn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SciPy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NLTK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Spacy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Gensim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Machine Learning Paradigms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19656"/>
            <a:ext cx="11274552" cy="4809744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0299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Nomenclature: </a:t>
            </a:r>
            <a:pPr algn="l" indent="0" marL="0">
              <a:buNone/>
            </a:pPr>
            <a:r>
              <a:rPr lang="en-US" sz="2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denotes an </a:t>
            </a:r>
            <a:pPr algn="l" indent="0" marL="0">
              <a:buNone/>
            </a:pPr>
            <a:r>
              <a:rPr lang="en-US" sz="25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input,</a:t>
            </a:r>
            <a:pPr algn="l" indent="0" marL="0">
              <a:buNone/>
            </a:pPr>
            <a:r>
              <a:rPr lang="en-US" sz="2500" b="1" dirty="0">
                <a:solidFill>
                  <a:srgbClr val="222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</a:t>
            </a:r>
            <a:pPr algn="l" indent="0" marL="0">
              <a:buNone/>
            </a:pPr>
            <a:r>
              <a:rPr lang="en-US" sz="2500" dirty="0">
                <a:solidFill>
                  <a:srgbClr val="2222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denotes  output/label/prediction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97280" y="25740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 </a:t>
            </a:r>
            <a:pPr algn="l" indent="0" marL="0">
              <a:buNone/>
            </a:pPr>
            <a:r>
              <a:rPr lang="en-US" sz="2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Learning:</a:t>
            </a:r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learning with a teacher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965960" y="3017520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Given: N labeled training examples {(x</a:t>
            </a:r>
            <a:pPr algn="l" indent="0" marL="0">
              <a:buNone/>
            </a:pPr>
            <a:r>
              <a:rPr lang="en-US" sz="20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y</a:t>
            </a:r>
            <a:pPr algn="l" indent="0" marL="0">
              <a:buNone/>
            </a:pPr>
            <a:r>
              <a:rPr lang="en-US" sz="20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), . . . , (x</a:t>
            </a:r>
            <a:pPr algn="l" indent="0" marL="0">
              <a:buNone/>
            </a:pPr>
            <a:r>
              <a:rPr lang="en-US" sz="20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y</a:t>
            </a:r>
            <a:pPr algn="l" indent="0" marL="0">
              <a:buNone/>
            </a:pPr>
            <a:r>
              <a:rPr lang="en-US" sz="20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)}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65960" y="3502152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Goal: learn mapping </a:t>
            </a:r>
            <a:pPr algn="l" indent="0" marL="0">
              <a:buNone/>
            </a:pPr>
            <a:r>
              <a:rPr lang="en-US" sz="22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predicts label y for a test example x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65960" y="3931920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Example: Spam classification, webpage categorization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44119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 </a:t>
            </a:r>
            <a:pPr algn="l" indent="0" marL="0">
              <a:buNone/>
            </a:pPr>
            <a:r>
              <a:rPr lang="en-US" sz="2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Learning:</a:t>
            </a:r>
            <a:pPr algn="l"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learning without a teacher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965960" y="4837176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Given: a set of N unlabeled inputs {x</a:t>
            </a:r>
            <a:pPr algn="l" indent="0" marL="0">
              <a:buNone/>
            </a:pPr>
            <a:r>
              <a:rPr lang="en-US" sz="20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. . . , x</a:t>
            </a:r>
            <a:pPr algn="l" indent="0" marL="0">
              <a:buNone/>
            </a:pPr>
            <a:r>
              <a:rPr lang="en-US" sz="20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}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65960" y="5266944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Goal: learn some intrinsic structure in the inputs (e.g., groups/clusters)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65960" y="5637276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Example: Automatically grouping news stories (Google News)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9000" y="1816100"/>
            <a:ext cx="10350500" cy="482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Machine Learning Paradigms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24000" y="2599639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Reinforcement Learning:</a:t>
            </a:r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learning by interacting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2349500" y="3058668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Given: </a:t>
            </a:r>
            <a:pPr indent="0" marL="0"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acting in an environment (having a set of states)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2349500" y="3439668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</a:t>
            </a:r>
            <a:pPr indent="0" marL="0">
              <a:buNone/>
            </a:pPr>
            <a:r>
              <a:rPr lang="en-US" sz="175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a policy</a:t>
            </a:r>
            <a:pPr indent="0" marL="0"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(state to action mapping) that maximizes agent's reward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2349500" y="3833368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2349500" y="4176268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vehicle navigation</a:t>
            </a:r>
            <a:pPr indent="0" marL="0">
              <a:buNone/>
            </a:pPr>
            <a:r>
              <a:rPr lang="en-US" sz="1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(computer) learning to play Chess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11548872" cy="5257800"/>
          </a:xfrm>
          <a:prstGeom prst="rect">
            <a:avLst/>
          </a:prstGeom>
          <a:solidFill>
            <a:srgbClr val="FFFFFF"/>
          </a:solidFill>
          <a:ln w="22225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Given: 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labeled training examples {(x</a:t>
            </a:r>
            <a:pPr algn="l" indent="0" marL="0">
              <a:buNone/>
            </a:pPr>
            <a:r>
              <a:rPr lang="en-US" sz="24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y</a:t>
            </a:r>
            <a:pPr algn="l" indent="0" marL="0">
              <a:buNone/>
            </a:pPr>
            <a:r>
              <a:rPr lang="en-US" sz="24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. . . , (x</a:t>
            </a:r>
            <a:pPr algn="l" indent="0" marL="0">
              <a:buNone/>
            </a:pPr>
            <a:r>
              <a:rPr lang="en-US" sz="24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y</a:t>
            </a:r>
            <a:pPr algn="l" indent="0" marL="0">
              <a:buNone/>
            </a:pPr>
            <a:r>
              <a:rPr lang="en-US" sz="24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)}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a model that predicts the label y for a test example x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Assumption: 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training and the test examples are drawn from the same data distribution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3886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Things to keep in mind: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4526280"/>
            <a:ext cx="10469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learning algorithm is universally good ("no free lunch")</a:t>
            </a:r>
            <a:endParaRPr lang="en-US" sz="24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learning algorithms work with different assumptions</a:t>
            </a:r>
            <a:endParaRPr lang="en-US" sz="24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 is particularly important for supervised learning</a:t>
            </a:r>
            <a:endParaRPr lang="en-US" sz="24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78408" y="1719072"/>
            <a:ext cx="10607040" cy="4791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965960"/>
            <a:ext cx="99669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</a:t>
            </a:r>
            <a:pPr algn="l"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l"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{ </a:t>
            </a:r>
            <a:pPr algn="l"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function from </a:t>
            </a:r>
            <a:pPr algn="l"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pPr algn="l"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}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discrete variable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 variable: takes a value from a discrete set </a:t>
            </a:r>
            <a:pPr algn="l"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∈ {1, . . . , </a:t>
            </a:r>
            <a:pPr algn="l"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}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Category of a web page (sports, politics, business, science, etc.)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Regression: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real-valued variable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Price of a stock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Learning: </a:t>
            </a:r>
            <a:pPr algn="ctr" indent="0" marL="0">
              <a:buNone/>
            </a:pPr>
            <a:r>
              <a:rPr lang="en-US" sz="4000" b="1" u="sng" dirty="0">
                <a:solidFill>
                  <a:srgbClr val="000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78408" y="1645920"/>
            <a:ext cx="1024128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B0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874520"/>
            <a:ext cx="9601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Types: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000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Binary Classification:</a:t>
            </a:r>
            <a:endParaRPr lang="en-US" sz="24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C03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is binary</a:t>
            </a:r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(two classes: 0/1 or -1/+1)</a:t>
            </a:r>
            <a:endParaRPr lang="en-US" sz="24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Spam Filtering (tell whether this email is spam or legitimate)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000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Multi-class Classification:</a:t>
            </a:r>
            <a:endParaRPr lang="en-US" sz="24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C03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is discrete</a:t>
            </a:r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one of K &gt; 2 possible values</a:t>
            </a:r>
            <a:endParaRPr lang="en-US" sz="24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Predicting your class grade (e.g., A, A−, B+, B, B−, other)</a:t>
            </a:r>
            <a:endParaRPr lang="en-US" sz="2400" dirty="0"/>
          </a:p>
          <a:p>
            <a:pPr algn="l" marL="152400" indent="-1524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C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Learning: </a:t>
            </a:r>
            <a:pPr algn="ctr" indent="0" marL="0">
              <a:buNone/>
            </a:pPr>
            <a:r>
              <a:rPr lang="en-US" sz="2800" b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2648" y="1714500"/>
            <a:ext cx="1097280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Multi-label Classification: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</a:t>
            </a:r>
            <a:pPr algn="l" indent="0" marL="0">
              <a:buNone/>
            </a:pPr>
            <a:r>
              <a:rPr lang="en-US" sz="17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7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vector of discrete variables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input </a:t>
            </a:r>
            <a:pPr algn="l"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 multiple labels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element of </a:t>
            </a:r>
            <a:pPr algn="l"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one label (individual labels can be binary/multi-class)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  <a:pPr algn="l" indent="0" marL="0">
              <a:buNone/>
            </a:pPr>
            <a:r>
              <a:rPr lang="en-US" sz="1700" dirty="0">
                <a:solidFill>
                  <a:srgbClr val="33C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annotation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(each image can have multiple labels)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Structured Prediction: </a:t>
            </a:r>
            <a:pPr algn="l" indent="0" marL="0">
              <a:buNone/>
            </a:pPr>
            <a:r>
              <a:rPr lang="en-US" sz="17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</a:t>
            </a:r>
            <a:pPr algn="l" indent="0" marL="0">
              <a:buNone/>
            </a:pPr>
            <a:r>
              <a:rPr lang="en-US" sz="17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7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vector with a structure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4206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Elements of </a:t>
            </a:r>
            <a:pPr algn="l"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not independent but related to each-other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parts-of-speech (POS) tags for a sentence</a:t>
            </a:r>
            <a:endParaRPr lang="en-US" sz="17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22576" y="5349240"/>
          <a:ext cx="7543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960120"/>
                <a:gridCol w="960120"/>
                <a:gridCol w="960120"/>
                <a:gridCol w="960120"/>
                <a:gridCol w="960120"/>
                <a:gridCol w="960120"/>
                <a:gridCol w="9601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sandwich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NOUN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NOUN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7E6E6"/>
          </a:solidFill>
          <a:ln w="6350">
            <a:solidFill>
              <a:srgbClr val="E7E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1109167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Learning: </a:t>
            </a:r>
            <a:pPr algn="ctr" indent="0" marL="0">
              <a:buNone/>
            </a:pPr>
            <a:r>
              <a:rPr lang="en-US" sz="2800" b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7238" y="1421892"/>
            <a:ext cx="11521440" cy="5084064"/>
          </a:xfrm>
          <a:prstGeom prst="rect">
            <a:avLst/>
          </a:prstGeom>
          <a:solidFill>
            <a:srgbClr val="FFFFFF"/>
          </a:solidFill>
          <a:ln w="34925">
            <a:solidFill>
              <a:srgbClr val="C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5236" y="16642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Types: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45236" y="2200046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Univariate Regression: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45236" y="2694737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is a single real-valued number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45236" y="319674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the </a:t>
            </a:r>
            <a:pPr algn="l" indent="0" marL="0">
              <a:buNone/>
            </a:pPr>
            <a:r>
              <a:rPr lang="en-US" sz="24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price of a stock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45236" y="4180637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Multivariate Regression: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45236" y="467624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is a real-valued vector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45236" y="517093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element of y tells the value of one response variable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45236" y="5674766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  <a:pPr algn="l" indent="0" marL="0">
              <a:buNone/>
            </a:pPr>
            <a:r>
              <a:rPr lang="en-US" sz="24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Torque values in multiple joints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a robotic arm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vs Regression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1444752"/>
            <a:ext cx="10652760" cy="5193792"/>
          </a:xfrm>
          <a:prstGeom prst="rect">
            <a:avLst/>
          </a:prstGeom>
          <a:solidFill>
            <a:srgbClr val="E8E8E8"/>
          </a:solidFill>
          <a:ln w="28575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71907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about finding separation boundaries (linear/non-linear):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078224" y="2249424"/>
            <a:ext cx="2313432" cy="1371600"/>
          </a:xfrm>
          <a:prstGeom prst="rect">
            <a:avLst/>
          </a:prstGeom>
          <a:solidFill>
            <a:srgbClr val="E8E8E8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3538728"/>
            <a:ext cx="2148840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4160520" y="2331720"/>
            <a:ext cx="914" cy="120700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74205" y="3204021"/>
            <a:ext cx="73152" cy="73152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68754" y="3015728"/>
            <a:ext cx="73152" cy="73152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659005" y="2832263"/>
            <a:ext cx="73152" cy="73152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839508" y="2647590"/>
            <a:ext cx="73152" cy="73152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884633" y="2499128"/>
            <a:ext cx="73152" cy="73152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16" name="Text 14"/>
          <p:cNvSpPr/>
          <p:nvPr/>
        </p:nvSpPr>
        <p:spPr>
          <a:xfrm>
            <a:off x="5202067" y="25951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62393" y="27810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72141" y="29656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02067" y="29656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34616" y="318536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V="1">
            <a:off x="4626818" y="2475354"/>
            <a:ext cx="547954" cy="867839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9984" y="2249424"/>
            <a:ext cx="2313432" cy="1371600"/>
          </a:xfrm>
          <a:prstGeom prst="rect">
            <a:avLst/>
          </a:prstGeom>
          <a:solidFill>
            <a:srgbClr val="E8E8E8"/>
          </a:solidFill>
          <a:ln w="9525">
            <a:solidFill>
              <a:srgbClr val="000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12280" y="3538728"/>
            <a:ext cx="2148840" cy="914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6812280" y="2331720"/>
            <a:ext cx="914" cy="120700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082988" y="2891406"/>
            <a:ext cx="73152" cy="73152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6960" y="3191951"/>
            <a:ext cx="73152" cy="73152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27" name="Shape 25"/>
          <p:cNvSpPr/>
          <p:nvPr/>
        </p:nvSpPr>
        <p:spPr>
          <a:xfrm>
            <a:off x="7302170" y="2596896"/>
            <a:ext cx="73152" cy="73152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753426" y="2519647"/>
            <a:ext cx="73152" cy="73152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29" name="Shape 27"/>
          <p:cNvSpPr/>
          <p:nvPr/>
        </p:nvSpPr>
        <p:spPr>
          <a:xfrm>
            <a:off x="8140217" y="2484644"/>
            <a:ext cx="73152" cy="73152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30" name="Text 28"/>
          <p:cNvSpPr/>
          <p:nvPr/>
        </p:nvSpPr>
        <p:spPr>
          <a:xfrm>
            <a:off x="7785064" y="269411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17977" y="269532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59436" y="284619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56814" y="295241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30348" y="309846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flipV="1">
            <a:off x="7323704" y="2972641"/>
            <a:ext cx="51572" cy="9294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7375276" y="2935224"/>
            <a:ext cx="25786" cy="37417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7401062" y="2906256"/>
            <a:ext cx="25786" cy="28968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7426848" y="2872460"/>
            <a:ext cx="25786" cy="33796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7452634" y="2850733"/>
            <a:ext cx="25786" cy="21726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7478420" y="2830214"/>
            <a:ext cx="23637" cy="20519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7502058" y="2813316"/>
            <a:ext cx="25786" cy="16898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7527844" y="2800039"/>
            <a:ext cx="25786" cy="13277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7553630" y="2787969"/>
            <a:ext cx="25786" cy="1207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7579416" y="2771071"/>
            <a:ext cx="25786" cy="16898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7605202" y="2745724"/>
            <a:ext cx="51572" cy="25347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7656774" y="2737275"/>
            <a:ext cx="25786" cy="8449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7682560" y="2695029"/>
            <a:ext cx="100995" cy="42245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7783556" y="2686580"/>
            <a:ext cx="25786" cy="8449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7809342" y="2669682"/>
            <a:ext cx="77358" cy="16898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7886700" y="2652784"/>
            <a:ext cx="77358" cy="16898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7964058" y="2644335"/>
            <a:ext cx="51572" cy="8449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8015630" y="2635886"/>
            <a:ext cx="75209" cy="8449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8090840" y="2627437"/>
            <a:ext cx="128930" cy="8449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19770" y="2627437"/>
            <a:ext cx="75209" cy="914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94980" y="2627437"/>
            <a:ext cx="103144" cy="8449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98124" y="2635886"/>
            <a:ext cx="51572" cy="8449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49696" y="2644335"/>
            <a:ext cx="77358" cy="8449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27054" y="2652784"/>
            <a:ext cx="100995" cy="25347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23704" y="3065581"/>
            <a:ext cx="51572" cy="103803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5276" y="3169384"/>
            <a:ext cx="25786" cy="39831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401062" y="3209215"/>
            <a:ext cx="25786" cy="25347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426848" y="3234562"/>
            <a:ext cx="25786" cy="25347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452634" y="3259909"/>
            <a:ext cx="25786" cy="21726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478420" y="3281635"/>
            <a:ext cx="36530" cy="16898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51560" y="40233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more like fitting a curve/surface to the data:</a:t>
            </a:r>
            <a:endParaRPr lang="en-US" sz="1800" dirty="0"/>
          </a:p>
        </p:txBody>
      </p:sp>
      <p:pic>
        <p:nvPicPr>
          <p:cNvPr id="66" name="Image 0" descr="videos/ml-intro/recreated_pptx/build/assets/graphs/s015_graph_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2842" y="4566514"/>
            <a:ext cx="4134917" cy="193212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Overfit and Underfit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55448" y="868680"/>
            <a:ext cx="11878056" cy="6949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" y="1563624"/>
            <a:ext cx="11878056" cy="4910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" y="6473952"/>
            <a:ext cx="11878056" cy="2377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197510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X axis is the input. The Y axis is the response.</a:t>
            </a:r>
            <a:endParaRPr lang="en-US" sz="2000" dirty="0"/>
          </a:p>
        </p:txBody>
      </p:sp>
      <p:pic>
        <p:nvPicPr>
          <p:cNvPr id="10" name="Image 0" descr="videos/ml-intro/recreated_pptx/build/assets/graphs/s016_graph_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0300" y="2336804"/>
            <a:ext cx="6769102" cy="401320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>
              <a:alpha val="0"/>
            </a:srgbClr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Overfit and Underfit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1270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2648" y="1234440"/>
            <a:ext cx="10963656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B03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572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Questions:-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21488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the four red curves fits the data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(blue dots) best?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2971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curve is expected to </a:t>
            </a:r>
            <a:pPr indent="0" marL="0">
              <a:spcAft>
                <a:spcPts val="400"/>
              </a:spcAft>
              <a:buNone/>
            </a:pPr>
            <a:r>
              <a:rPr lang="en-US" sz="1700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generalize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397764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they both the same?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yes, why? If no, why not?</a:t>
            </a:r>
            <a:endParaRPr lang="en-US" sz="1600" dirty="0"/>
          </a:p>
        </p:txBody>
      </p:sp>
      <p:pic>
        <p:nvPicPr>
          <p:cNvPr id="11" name="Image 0" descr="videos/ml-intro/recreated_pptx/build/assets/graphs/s017_graph_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403" y="1663696"/>
            <a:ext cx="4063996" cy="237489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Overfit and Underfit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234440" y="1417320"/>
            <a:ext cx="9720072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27632" y="1755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Questions:-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27632" y="223113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Which of the four red curves fits the data (blue dots) best?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27632" y="28712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Which curve is expected to </a:t>
            </a:r>
            <a:pPr algn="l" indent="0" marL="0">
              <a:buNone/>
            </a:pPr>
            <a:r>
              <a:rPr lang="en-US" sz="1700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generalize</a:t>
            </a:r>
            <a:pPr algn="l" indent="0" marL="0">
              <a:buNone/>
            </a:pPr>
            <a:r>
              <a:rPr lang="en-US" sz="17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best?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27632" y="347472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they both the same?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yes, why? If no, why not?</a:t>
            </a:r>
            <a:endParaRPr lang="en-US" sz="1700" dirty="0"/>
          </a:p>
        </p:txBody>
      </p:sp>
      <p:pic>
        <p:nvPicPr>
          <p:cNvPr id="11" name="Image 0" descr="videos/ml-intro/recreated_pptx/build/assets/graphs/s018_graph_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403" y="1663696"/>
            <a:ext cx="4063996" cy="237489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27632" y="4224528"/>
            <a:ext cx="9098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</a:t>
            </a:r>
            <a:pPr algn="l" indent="0" marL="0">
              <a:buNone/>
            </a:pPr>
            <a:r>
              <a:rPr lang="en-US" sz="1700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models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should be </a:t>
            </a:r>
            <a:pPr algn="l" indent="0" marL="0">
              <a:buNone/>
            </a:pPr>
            <a:r>
              <a:rPr lang="en-US" sz="17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 complicated models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627632" y="4718304"/>
            <a:ext cx="9098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models </a:t>
            </a:r>
            <a:pPr algn="l" indent="0" marL="0">
              <a:buNone/>
            </a:pPr>
            <a:r>
              <a:rPr lang="en-US" sz="1700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prevent overfitting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627632" y="5212080"/>
            <a:ext cx="9098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simple a model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</a:t>
            </a:r>
            <a:pPr algn="l" indent="0" marL="0">
              <a:buNone/>
            </a:pPr>
            <a:r>
              <a:rPr lang="en-US" sz="17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underfit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(e.g., M = 0 above)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627632" y="5705856"/>
            <a:ext cx="9098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guideline: 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model </a:t>
            </a:r>
            <a:pPr algn="l" indent="0" marL="0">
              <a:buNone/>
            </a:pPr>
            <a:r>
              <a:rPr lang="en-US" sz="1700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not-too-simple, yet not-too-complex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Overfit and Underfit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12848" y="1298448"/>
            <a:ext cx="9235440" cy="3127248"/>
          </a:xfrm>
          <a:prstGeom prst="rect">
            <a:avLst/>
          </a:prstGeom>
          <a:solidFill>
            <a:srgbClr val="E8E8E8"/>
          </a:solidFill>
          <a:ln w="25400">
            <a:solidFill>
              <a:srgbClr val="AA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3317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331720" y="1417320"/>
            <a:ext cx="27432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545336"/>
            <a:ext cx="914" cy="2048256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545336"/>
            <a:ext cx="50292" cy="100584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2555748" y="1545336"/>
            <a:ext cx="50292" cy="100584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3593592"/>
            <a:ext cx="2304288" cy="914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4809744" y="3593592"/>
            <a:ext cx="100584" cy="50292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9744" y="3543300"/>
            <a:ext cx="100584" cy="50292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1176" y="1954987"/>
            <a:ext cx="54864" cy="91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66898" y="3593592"/>
            <a:ext cx="914" cy="5486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1176" y="2364638"/>
            <a:ext cx="54864" cy="91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7755" y="3593592"/>
            <a:ext cx="914" cy="5486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1176" y="2774290"/>
            <a:ext cx="54864" cy="91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88613" y="3593592"/>
            <a:ext cx="914" cy="5486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1176" y="3183941"/>
            <a:ext cx="54864" cy="91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49470" y="3593592"/>
            <a:ext cx="914" cy="5486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1371" y="3259836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741371" y="3259836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09621" y="308152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2909621" y="308152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25496" y="2831897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2825496" y="2831897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77870" y="3188513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3077870" y="3188513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4058" y="2938882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3204058" y="2938882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35808" y="265358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3035808" y="265358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30245" y="2760574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3330245" y="2760574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46120" y="243961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3246120" y="243961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98494" y="3045866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3498494" y="3045866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40557" y="2617927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3540557" y="2617927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24682" y="311719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3624682" y="311719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66744" y="3224174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3666744" y="3224174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82619" y="290322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3582619" y="290322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08806" y="240395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3708806" y="240395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03243" y="3152851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4003243" y="3152851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087368" y="265358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4087368" y="265358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13555" y="2974543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4213555" y="2974543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39742" y="2510942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4339742" y="2510942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465930" y="308152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4465930" y="308152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92117" y="268925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4592117" y="268925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423867" y="2261311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4423867" y="2261311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951683" y="2332634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161995" y="2154326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372307" y="2368296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46120" y="197601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540557" y="218998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624682" y="1904695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750869" y="2296973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834994" y="2047342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919118" y="1869034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045306" y="2118665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171493" y="1940357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297680" y="2154326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550054" y="2296973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255618" y="1797710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07992" y="1762049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919118" y="1797710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456432" y="2831897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603650" y="2510942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877056" y="3010205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045306" y="286755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771900" y="2760574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658161" y="215503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673484" y="216218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688806" y="216932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704129" y="217647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719452" y="218361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734774" y="219076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750097" y="219790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765420" y="220505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780743" y="221219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796065" y="221934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811388" y="222648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826711" y="223363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842034" y="224077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857356" y="224792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872679" y="225506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888002" y="226221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903325" y="226935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918647" y="227650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933970" y="228364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949293" y="229079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964615" y="229793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979938" y="230508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995261" y="231222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10584" y="231937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025906" y="232651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041229" y="233366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056552" y="234080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071875" y="234795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087197" y="235509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102520" y="236224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117843" y="236938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133165" y="237653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148488" y="238367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163811" y="239082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179134" y="239796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194456" y="240511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209779" y="241225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225102" y="241940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240425" y="242654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255747" y="243369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271070" y="244083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286393" y="244798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301716" y="245512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317038" y="246227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332361" y="246941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347684" y="2476563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363006" y="248370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378329" y="2490853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3393652" y="249799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3408975" y="2505143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424297" y="251228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3439620" y="2519433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454943" y="252657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470266" y="2533723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485588" y="254086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500911" y="2548013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3516234" y="255515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531556" y="2562303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546879" y="256944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562202" y="2576593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577525" y="258373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592847" y="2590883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608170" y="2598029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623493" y="2605174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638816" y="2612319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3654138" y="2619464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669461" y="2626609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684784" y="2633754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700107" y="2640899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715429" y="2648044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730752" y="2655189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746075" y="2662334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761397" y="2669479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776720" y="2676624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3792043" y="2683769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807366" y="2690914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822688" y="2698059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838011" y="2705204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853334" y="2712349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868657" y="271949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3883979" y="272664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3899302" y="273378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3914625" y="274093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929948" y="274807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3945270" y="275522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960593" y="276236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3975916" y="276951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991238" y="277665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4006561" y="278380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021884" y="279094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4037207" y="279809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4052529" y="280523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4067852" y="281238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4083175" y="281952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4098498" y="282667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4113820" y="2833815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4129143" y="2840960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4144466" y="284810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4159788" y="285525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4175111" y="286239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4190434" y="286954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4205757" y="287668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4221079" y="288383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4236402" y="289097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4251725" y="289812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267048" y="290526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4282370" y="291241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4297693" y="291955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4313016" y="292670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328339" y="293384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4343661" y="294099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4358984" y="294813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4374307" y="295528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389629" y="2962426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4404952" y="2969571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4420275" y="297671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4435598" y="298386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4450920" y="299100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4466243" y="299815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4481566" y="300529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4496889" y="301244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4512211" y="301958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4527534" y="302673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4542857" y="303387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4558179" y="304102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4573502" y="304816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4588825" y="305531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4604148" y="306245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4619470" y="306960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4634793" y="307674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4650116" y="308389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4665439" y="3091037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4680761" y="3098182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4696084" y="310532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4711407" y="3112473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4726730" y="311961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4742052" y="3126763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757375" y="313390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4772698" y="3141053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4788020" y="3148198"/>
            <a:ext cx="15323" cy="71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5440680" y="1417320"/>
            <a:ext cx="27432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5715000" y="1545336"/>
            <a:ext cx="914" cy="2048256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5715000" y="1545336"/>
            <a:ext cx="50292" cy="100584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 flipV="1">
            <a:off x="5664708" y="1545336"/>
            <a:ext cx="50292" cy="100584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5715000" y="3593592"/>
            <a:ext cx="2304288" cy="914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 flipV="1">
            <a:off x="7918704" y="3593592"/>
            <a:ext cx="100584" cy="50292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7918704" y="3543300"/>
            <a:ext cx="100584" cy="50292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5660136" y="1954987"/>
            <a:ext cx="54864" cy="91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175858" y="3593592"/>
            <a:ext cx="914" cy="5486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5660136" y="2364638"/>
            <a:ext cx="54864" cy="91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636715" y="3593592"/>
            <a:ext cx="914" cy="5486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5660136" y="2774290"/>
            <a:ext cx="54864" cy="91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7097573" y="3593592"/>
            <a:ext cx="914" cy="5486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5660136" y="3183941"/>
            <a:ext cx="54864" cy="91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7558430" y="3593592"/>
            <a:ext cx="914" cy="5486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5850331" y="3259836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 flipV="1">
            <a:off x="5850331" y="3259836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6018581" y="308152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 flipV="1">
            <a:off x="6018581" y="308152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5934456" y="2831897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 flipV="1">
            <a:off x="5934456" y="2831897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6186830" y="3188513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 flipV="1">
            <a:off x="6186830" y="3188513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6313018" y="2938882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 flipV="1">
            <a:off x="6313018" y="2938882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6144768" y="265358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 flipV="1">
            <a:off x="6144768" y="265358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6439205" y="2760574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 flipV="1">
            <a:off x="6439205" y="2760574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6355080" y="243961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 flipV="1">
            <a:off x="6355080" y="243961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6607454" y="3045866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 flipV="1">
            <a:off x="6607454" y="3045866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6649517" y="2617927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 flipV="1">
            <a:off x="6649517" y="2617927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6733642" y="311719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 flipV="1">
            <a:off x="6733642" y="311719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6775704" y="3224174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 flipV="1">
            <a:off x="6775704" y="3224174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6691579" y="290322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 flipV="1">
            <a:off x="6691579" y="290322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6817766" y="240395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 flipV="1">
            <a:off x="6817766" y="240395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7112203" y="3152851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 flipV="1">
            <a:off x="7112203" y="3152851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7196328" y="265358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 flipV="1">
            <a:off x="7196328" y="265358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7322515" y="2974543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 flipV="1">
            <a:off x="7322515" y="2974543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7448702" y="2510942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 flipV="1">
            <a:off x="7448702" y="2510942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7574890" y="308152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 flipV="1">
            <a:off x="7574890" y="308152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7701077" y="268925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 flipV="1">
            <a:off x="7701077" y="268925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7532827" y="2261311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 flipV="1">
            <a:off x="7532827" y="2261311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6060643" y="2332634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6270955" y="2154326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6481267" y="2368296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6355080" y="197601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6649517" y="218998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6733642" y="1904695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6859829" y="2296973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6943954" y="2047342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7028078" y="1869034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7154266" y="2118665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7280453" y="1940357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7406640" y="2154326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7659014" y="2296973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7364578" y="1797710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7616952" y="1762049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7028078" y="1797710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6565392" y="2831897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6712610" y="2510942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6986016" y="3010205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7154266" y="286755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6880860" y="2760574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5767121" y="2229702"/>
            <a:ext cx="15323" cy="1774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5782444" y="2247446"/>
            <a:ext cx="15323" cy="1750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5797766" y="2264954"/>
            <a:ext cx="15323" cy="1727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5813089" y="2282225"/>
            <a:ext cx="15323" cy="1703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5828412" y="2299259"/>
            <a:ext cx="15323" cy="1679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5843734" y="2316057"/>
            <a:ext cx="15323" cy="1656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5859057" y="2332618"/>
            <a:ext cx="15323" cy="1632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5874380" y="2348943"/>
            <a:ext cx="15323" cy="1608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5889703" y="2365031"/>
            <a:ext cx="15323" cy="1585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5905025" y="2380882"/>
            <a:ext cx="15323" cy="1561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5920348" y="2396497"/>
            <a:ext cx="15323" cy="1537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5935671" y="2411875"/>
            <a:ext cx="15323" cy="1514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5950994" y="2427016"/>
            <a:ext cx="15323" cy="1490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5966316" y="2441921"/>
            <a:ext cx="15323" cy="1466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5981639" y="2456590"/>
            <a:ext cx="15323" cy="1443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5996962" y="2471021"/>
            <a:ext cx="15323" cy="1419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6012285" y="2485216"/>
            <a:ext cx="15323" cy="1395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6027607" y="2499175"/>
            <a:ext cx="15323" cy="1372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6042930" y="2512896"/>
            <a:ext cx="15323" cy="1348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6058253" y="2526381"/>
            <a:ext cx="15323" cy="1324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6073575" y="2539630"/>
            <a:ext cx="15323" cy="1301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6088898" y="2552642"/>
            <a:ext cx="15323" cy="1277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6104221" y="2565417"/>
            <a:ext cx="15323" cy="1253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6119544" y="2577956"/>
            <a:ext cx="15323" cy="1230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6134866" y="2590258"/>
            <a:ext cx="15323" cy="1206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6150189" y="2602323"/>
            <a:ext cx="15323" cy="1182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6165512" y="2614152"/>
            <a:ext cx="15323" cy="1159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6180835" y="2625744"/>
            <a:ext cx="15323" cy="1135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6196157" y="2637100"/>
            <a:ext cx="15323" cy="1111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6211480" y="2648219"/>
            <a:ext cx="15323" cy="1088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6226803" y="2659101"/>
            <a:ext cx="15323" cy="1064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6242125" y="2669747"/>
            <a:ext cx="15323" cy="1040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6257448" y="2680156"/>
            <a:ext cx="15323" cy="1017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6272771" y="2690328"/>
            <a:ext cx="15323" cy="993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6288094" y="2700264"/>
            <a:ext cx="15323" cy="969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6303416" y="2709963"/>
            <a:ext cx="15323" cy="946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6318739" y="2719426"/>
            <a:ext cx="15323" cy="922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6334062" y="2728651"/>
            <a:ext cx="15323" cy="898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6349385" y="2737641"/>
            <a:ext cx="15323" cy="875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6364707" y="2746393"/>
            <a:ext cx="15323" cy="851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6380030" y="2754910"/>
            <a:ext cx="15323" cy="827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6395353" y="2763189"/>
            <a:ext cx="15323" cy="804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6410676" y="2771232"/>
            <a:ext cx="15323" cy="780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6425998" y="2779038"/>
            <a:ext cx="15323" cy="757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6441321" y="2786608"/>
            <a:ext cx="15323" cy="733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6456644" y="2793941"/>
            <a:ext cx="15323" cy="709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6471966" y="2801037"/>
            <a:ext cx="15323" cy="686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6487289" y="2807897"/>
            <a:ext cx="15323" cy="662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6502612" y="2814520"/>
            <a:ext cx="15323" cy="638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6517935" y="2820906"/>
            <a:ext cx="15323" cy="615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6533257" y="2827056"/>
            <a:ext cx="15323" cy="591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6548580" y="2832969"/>
            <a:ext cx="15323" cy="567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6563903" y="2838646"/>
            <a:ext cx="15323" cy="544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6579226" y="2844086"/>
            <a:ext cx="15323" cy="520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6594548" y="2849289"/>
            <a:ext cx="15323" cy="496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6609871" y="2854256"/>
            <a:ext cx="15323" cy="473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6625194" y="2858986"/>
            <a:ext cx="15323" cy="449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6640516" y="2863480"/>
            <a:ext cx="15323" cy="425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6655839" y="2867737"/>
            <a:ext cx="15323" cy="402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6671162" y="2871757"/>
            <a:ext cx="15323" cy="378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6686485" y="2875540"/>
            <a:ext cx="15323" cy="354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6701807" y="2879087"/>
            <a:ext cx="15323" cy="331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6717130" y="2882398"/>
            <a:ext cx="15323" cy="307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6732453" y="2885472"/>
            <a:ext cx="15323" cy="283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6747776" y="2888309"/>
            <a:ext cx="15323" cy="260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6763098" y="2890909"/>
            <a:ext cx="15323" cy="236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6778421" y="2893273"/>
            <a:ext cx="15323" cy="212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6793744" y="2895400"/>
            <a:ext cx="15323" cy="189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6809067" y="2897291"/>
            <a:ext cx="15323" cy="165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6824389" y="2898945"/>
            <a:ext cx="15323" cy="141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6839712" y="2900363"/>
            <a:ext cx="15323" cy="118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6855035" y="2901543"/>
            <a:ext cx="15323" cy="94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6870357" y="2902487"/>
            <a:ext cx="15323" cy="91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6885680" y="2903195"/>
            <a:ext cx="15323" cy="91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6901003" y="2903666"/>
            <a:ext cx="15323" cy="91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 flipV="1">
            <a:off x="6916326" y="2903898"/>
            <a:ext cx="15323" cy="91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 flipV="1">
            <a:off x="6931648" y="2903659"/>
            <a:ext cx="15323" cy="91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 flipV="1">
            <a:off x="6946971" y="2903183"/>
            <a:ext cx="15323" cy="91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 flipV="1">
            <a:off x="6962294" y="2902471"/>
            <a:ext cx="15323" cy="91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 flipV="1">
            <a:off x="6977617" y="2901522"/>
            <a:ext cx="15323" cy="94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 flipV="1">
            <a:off x="6992939" y="2900337"/>
            <a:ext cx="15323" cy="118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 flipV="1">
            <a:off x="7008262" y="2898915"/>
            <a:ext cx="15323" cy="142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 flipV="1">
            <a:off x="7023585" y="2897256"/>
            <a:ext cx="15323" cy="165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 flipV="1">
            <a:off x="7038908" y="2895361"/>
            <a:ext cx="15323" cy="189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 flipV="1">
            <a:off x="7054230" y="2893229"/>
            <a:ext cx="15323" cy="213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 flipV="1">
            <a:off x="7069553" y="2890861"/>
            <a:ext cx="15323" cy="236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 flipV="1">
            <a:off x="7084876" y="2888255"/>
            <a:ext cx="15323" cy="260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 flipV="1">
            <a:off x="7100198" y="2885414"/>
            <a:ext cx="15323" cy="284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 flipV="1">
            <a:off x="7115521" y="2882335"/>
            <a:ext cx="15323" cy="307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 flipV="1">
            <a:off x="7130844" y="2879020"/>
            <a:ext cx="15323" cy="331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 flipV="1">
            <a:off x="7146167" y="2875468"/>
            <a:ext cx="15323" cy="355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 flipV="1">
            <a:off x="7161489" y="2871680"/>
            <a:ext cx="15323" cy="378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 flipV="1">
            <a:off x="7176812" y="2867655"/>
            <a:ext cx="15323" cy="402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 flipV="1">
            <a:off x="7192135" y="2863394"/>
            <a:ext cx="15323" cy="426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 flipV="1">
            <a:off x="7207458" y="2858896"/>
            <a:ext cx="15323" cy="449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 flipV="1">
            <a:off x="7222780" y="2854161"/>
            <a:ext cx="15323" cy="473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 flipV="1">
            <a:off x="7238103" y="2849190"/>
            <a:ext cx="15323" cy="497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 flipV="1">
            <a:off x="7253426" y="2843982"/>
            <a:ext cx="15323" cy="520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 flipV="1">
            <a:off x="7268748" y="2838537"/>
            <a:ext cx="15323" cy="54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 flipV="1">
            <a:off x="7284071" y="2832856"/>
            <a:ext cx="15323" cy="568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 flipV="1">
            <a:off x="7299394" y="2826938"/>
            <a:ext cx="15323" cy="591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 flipV="1">
            <a:off x="7314717" y="2820783"/>
            <a:ext cx="15323" cy="615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 flipV="1">
            <a:off x="7330039" y="2814392"/>
            <a:ext cx="15323" cy="639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 flipV="1">
            <a:off x="7345362" y="2807764"/>
            <a:ext cx="15323" cy="662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 flipV="1">
            <a:off x="7360685" y="2800900"/>
            <a:ext cx="15323" cy="686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 flipV="1">
            <a:off x="7376008" y="2793799"/>
            <a:ext cx="15323" cy="710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 flipV="1">
            <a:off x="7391330" y="2786461"/>
            <a:ext cx="15323" cy="733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 flipV="1">
            <a:off x="7406653" y="2778887"/>
            <a:ext cx="15323" cy="757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 flipV="1">
            <a:off x="7421976" y="2771076"/>
            <a:ext cx="15323" cy="781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 flipV="1">
            <a:off x="7437299" y="2763029"/>
            <a:ext cx="15323" cy="804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 flipV="1">
            <a:off x="7452621" y="2754745"/>
            <a:ext cx="15323" cy="828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 flipV="1">
            <a:off x="7467944" y="2746224"/>
            <a:ext cx="15323" cy="852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 flipV="1">
            <a:off x="7483267" y="2737467"/>
            <a:ext cx="15323" cy="875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 flipV="1">
            <a:off x="7498589" y="2728473"/>
            <a:ext cx="15323" cy="899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 flipV="1">
            <a:off x="7513912" y="2719242"/>
            <a:ext cx="15323" cy="923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 flipV="1">
            <a:off x="7529235" y="2709775"/>
            <a:ext cx="15323" cy="946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 flipV="1">
            <a:off x="7544558" y="2700071"/>
            <a:ext cx="15323" cy="970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 flipV="1">
            <a:off x="7559880" y="2690131"/>
            <a:ext cx="15323" cy="994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 flipV="1">
            <a:off x="7575203" y="2679954"/>
            <a:ext cx="15323" cy="1017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 flipV="1">
            <a:off x="7590526" y="2669540"/>
            <a:ext cx="15323" cy="1041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 flipV="1">
            <a:off x="7605849" y="2658890"/>
            <a:ext cx="15323" cy="1065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 flipV="1">
            <a:off x="7621171" y="2648003"/>
            <a:ext cx="15323" cy="1088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 flipV="1">
            <a:off x="7636494" y="2636879"/>
            <a:ext cx="15323" cy="1112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 flipV="1">
            <a:off x="7651817" y="2625519"/>
            <a:ext cx="15323" cy="1136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 flipV="1">
            <a:off x="7667139" y="2613922"/>
            <a:ext cx="15323" cy="1159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 flipV="1">
            <a:off x="7682462" y="2602089"/>
            <a:ext cx="15323" cy="1183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 flipV="1">
            <a:off x="7697785" y="2590019"/>
            <a:ext cx="15323" cy="1207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 flipV="1">
            <a:off x="7713108" y="2577712"/>
            <a:ext cx="15323" cy="1230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 flipV="1">
            <a:off x="7728430" y="2565169"/>
            <a:ext cx="15323" cy="1254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 flipV="1">
            <a:off x="7743753" y="2552389"/>
            <a:ext cx="15323" cy="1278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 flipV="1">
            <a:off x="7759076" y="2539372"/>
            <a:ext cx="15323" cy="1301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 flipV="1">
            <a:off x="7774399" y="2526119"/>
            <a:ext cx="15323" cy="1325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 flipV="1">
            <a:off x="7789721" y="2512630"/>
            <a:ext cx="15323" cy="1349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 flipV="1">
            <a:off x="7805044" y="2498903"/>
            <a:ext cx="15323" cy="1372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 flipV="1">
            <a:off x="7820367" y="2484940"/>
            <a:ext cx="15323" cy="1396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 flipV="1">
            <a:off x="7835690" y="2470740"/>
            <a:ext cx="15323" cy="1420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 flipV="1">
            <a:off x="7851012" y="2456304"/>
            <a:ext cx="15323" cy="1443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 flipV="1">
            <a:off x="7866335" y="2441631"/>
            <a:ext cx="15323" cy="1467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 flipV="1">
            <a:off x="7881658" y="2426722"/>
            <a:ext cx="15323" cy="1491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 flipV="1">
            <a:off x="7896980" y="2411576"/>
            <a:ext cx="15323" cy="1514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8549640" y="1417320"/>
            <a:ext cx="27432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8823960" y="1545336"/>
            <a:ext cx="914" cy="2048256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8823960" y="1545336"/>
            <a:ext cx="50292" cy="100584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 flipV="1">
            <a:off x="8773668" y="1545336"/>
            <a:ext cx="50292" cy="100584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8823960" y="3593592"/>
            <a:ext cx="2304288" cy="914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 flipV="1">
            <a:off x="11027664" y="3593592"/>
            <a:ext cx="100584" cy="50292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11027664" y="3543300"/>
            <a:ext cx="100584" cy="50292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8769096" y="1954987"/>
            <a:ext cx="54864" cy="91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9284818" y="3593592"/>
            <a:ext cx="914" cy="5486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8769096" y="2364638"/>
            <a:ext cx="54864" cy="91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9745675" y="3593592"/>
            <a:ext cx="914" cy="5486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8769096" y="2774290"/>
            <a:ext cx="54864" cy="91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10206533" y="3593592"/>
            <a:ext cx="914" cy="5486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8769096" y="3183941"/>
            <a:ext cx="54864" cy="91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10667390" y="3593592"/>
            <a:ext cx="914" cy="54864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8959291" y="3259836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 flipV="1">
            <a:off x="8959291" y="3259836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9127541" y="308152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 flipV="1">
            <a:off x="9127541" y="308152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9043416" y="2831897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 flipV="1">
            <a:off x="9043416" y="2831897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9295790" y="3188513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 flipV="1">
            <a:off x="9295790" y="3188513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9421978" y="2938882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 flipV="1">
            <a:off x="9421978" y="2938882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9253728" y="265358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 flipV="1">
            <a:off x="9253728" y="265358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9548165" y="2760574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 flipV="1">
            <a:off x="9548165" y="2760574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9464040" y="243961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 flipV="1">
            <a:off x="9464040" y="243961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9716414" y="3045866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 flipV="1">
            <a:off x="9716414" y="3045866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9758477" y="2617927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 flipV="1">
            <a:off x="9758477" y="2617927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9842602" y="311719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 flipV="1">
            <a:off x="9842602" y="311719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9884664" y="3224174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 flipV="1">
            <a:off x="9884664" y="3224174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9800539" y="290322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 flipV="1">
            <a:off x="9800539" y="290322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9926726" y="240395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 flipV="1">
            <a:off x="9926726" y="240395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10221163" y="3152851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 flipV="1">
            <a:off x="10221163" y="3152851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10305288" y="265358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 flipV="1">
            <a:off x="10305288" y="2653589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10431475" y="2974543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 flipV="1">
            <a:off x="10431475" y="2974543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10557662" y="2510942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 flipV="1">
            <a:off x="10557662" y="2510942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10683850" y="308152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 flipV="1">
            <a:off x="10683850" y="3081528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10810037" y="268925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 flipV="1">
            <a:off x="10810037" y="2689250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10641787" y="2261311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 flipV="1">
            <a:off x="10641787" y="2261311"/>
            <a:ext cx="128016" cy="128016"/>
          </a:xfrm>
          <a:prstGeom prst="line">
            <a:avLst/>
          </a:prstGeom>
          <a:noFill/>
          <a:ln w="19050">
            <a:solidFill>
              <a:srgbClr val="FF0000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9169603" y="2332634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9379915" y="2154326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9590227" y="2368296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>
            <a:off x="9464040" y="197601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>
            <a:off x="9758477" y="218998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9842602" y="1904695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9968789" y="2296973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10052914" y="2047342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>
            <a:off x="10137038" y="1869034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10263226" y="2118665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10389413" y="1940357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10515600" y="2154326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10767974" y="2296973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10473538" y="1797710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>
            <a:off x="10725912" y="1762049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10137038" y="1797710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>
            <a:off x="9674352" y="2831897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9821570" y="2510942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>
            <a:off x="10094976" y="3010205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>
            <a:off x="10263226" y="286755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>
            <a:off x="9989820" y="2760574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08080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8876081" y="2354688"/>
            <a:ext cx="15323" cy="3044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8891404" y="2385137"/>
            <a:ext cx="15323" cy="3085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>
            <a:off x="8906726" y="2415991"/>
            <a:ext cx="15323" cy="3017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>
            <a:off x="8922049" y="2446165"/>
            <a:ext cx="15323" cy="2843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8937372" y="2474602"/>
            <a:ext cx="15323" cy="2571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8952694" y="2500320"/>
            <a:ext cx="15323" cy="2213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8968017" y="2522451"/>
            <a:ext cx="15323" cy="1782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>
            <a:off x="8983340" y="2540279"/>
            <a:ext cx="15323" cy="1299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8998663" y="2553269"/>
            <a:ext cx="15323" cy="782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9013985" y="2561093"/>
            <a:ext cx="15323" cy="254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 flipV="1">
            <a:off x="9029308" y="2561019"/>
            <a:ext cx="15323" cy="262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 flipV="1">
            <a:off x="9044631" y="2553564"/>
            <a:ext cx="15323" cy="745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 flipV="1">
            <a:off x="9059954" y="2541809"/>
            <a:ext cx="15323" cy="1175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 flipV="1">
            <a:off x="9075276" y="2526470"/>
            <a:ext cx="15323" cy="1533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 flipV="1">
            <a:off x="9090599" y="2508416"/>
            <a:ext cx="15323" cy="1805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 flipV="1">
            <a:off x="9105922" y="2488629"/>
            <a:ext cx="15323" cy="1978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 flipV="1">
            <a:off x="9121245" y="2468168"/>
            <a:ext cx="15323" cy="2046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 flipV="1">
            <a:off x="9136567" y="2448115"/>
            <a:ext cx="15323" cy="2005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 flipV="1">
            <a:off x="9151890" y="2429540"/>
            <a:ext cx="15323" cy="1857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 flipV="1">
            <a:off x="9167213" y="2413447"/>
            <a:ext cx="15323" cy="1609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 flipV="1">
            <a:off x="9182535" y="2400736"/>
            <a:ext cx="15323" cy="1271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 flipV="1">
            <a:off x="9197858" y="2392165"/>
            <a:ext cx="15323" cy="857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 flipV="1">
            <a:off x="9213181" y="2388316"/>
            <a:ext cx="15323" cy="384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>
            <a:off x="9228504" y="2388316"/>
            <a:ext cx="15323" cy="125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>
            <a:off x="9243826" y="2389572"/>
            <a:ext cx="15323" cy="652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9259149" y="2396098"/>
            <a:ext cx="15323" cy="1174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9274472" y="2407839"/>
            <a:ext cx="15323" cy="1667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9289795" y="2424518"/>
            <a:ext cx="15323" cy="2113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>
            <a:off x="9305117" y="2445649"/>
            <a:ext cx="15323" cy="2491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>
            <a:off x="9320440" y="2470560"/>
            <a:ext cx="15323" cy="2785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52" name="Shape 550"/>
          <p:cNvSpPr/>
          <p:nvPr/>
        </p:nvSpPr>
        <p:spPr>
          <a:xfrm>
            <a:off x="9335763" y="2498415"/>
            <a:ext cx="15323" cy="2984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9351085" y="2528257"/>
            <a:ext cx="15323" cy="3078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9366408" y="2559044"/>
            <a:ext cx="15323" cy="3064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9381731" y="2589693"/>
            <a:ext cx="15323" cy="2943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>
            <a:off x="9397054" y="2619129"/>
            <a:ext cx="15323" cy="2719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>
            <a:off x="9412376" y="2646326"/>
            <a:ext cx="15323" cy="2402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>
            <a:off x="9427699" y="2670354"/>
            <a:ext cx="15323" cy="2006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>
            <a:off x="9443022" y="2690417"/>
            <a:ext cx="15323" cy="1546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9458345" y="2705886"/>
            <a:ext cx="15323" cy="1044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>
            <a:off x="9473667" y="2716327"/>
            <a:ext cx="15323" cy="519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62" name="Shape 560"/>
          <p:cNvSpPr/>
          <p:nvPr/>
        </p:nvSpPr>
        <p:spPr>
          <a:xfrm flipV="1">
            <a:off x="9488990" y="2721458"/>
            <a:ext cx="15323" cy="91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63" name="Shape 561"/>
          <p:cNvSpPr/>
          <p:nvPr/>
        </p:nvSpPr>
        <p:spPr>
          <a:xfrm flipV="1">
            <a:off x="9504313" y="2716372"/>
            <a:ext cx="15323" cy="508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64" name="Shape 562"/>
          <p:cNvSpPr/>
          <p:nvPr/>
        </p:nvSpPr>
        <p:spPr>
          <a:xfrm flipV="1">
            <a:off x="9519636" y="2706692"/>
            <a:ext cx="15323" cy="967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 flipV="1">
            <a:off x="9534958" y="2693049"/>
            <a:ext cx="15323" cy="1364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 flipV="1">
            <a:off x="9550281" y="2676239"/>
            <a:ext cx="15323" cy="1681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 flipV="1">
            <a:off x="9565604" y="2657192"/>
            <a:ext cx="15323" cy="1904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68" name="Shape 566"/>
          <p:cNvSpPr/>
          <p:nvPr/>
        </p:nvSpPr>
        <p:spPr>
          <a:xfrm flipV="1">
            <a:off x="9580926" y="2636934"/>
            <a:ext cx="15323" cy="2025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69" name="Shape 567"/>
          <p:cNvSpPr/>
          <p:nvPr/>
        </p:nvSpPr>
        <p:spPr>
          <a:xfrm flipV="1">
            <a:off x="9596249" y="2616541"/>
            <a:ext cx="15323" cy="2039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 flipV="1">
            <a:off x="9611572" y="2597095"/>
            <a:ext cx="15323" cy="1944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 flipV="1">
            <a:off x="9626895" y="2579638"/>
            <a:ext cx="15323" cy="1745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 flipV="1">
            <a:off x="9642217" y="2565128"/>
            <a:ext cx="15323" cy="1451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 flipV="1">
            <a:off x="9657540" y="2554398"/>
            <a:ext cx="15323" cy="1073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74" name="Shape 572"/>
          <p:cNvSpPr/>
          <p:nvPr/>
        </p:nvSpPr>
        <p:spPr>
          <a:xfrm flipV="1">
            <a:off x="9672863" y="2548122"/>
            <a:ext cx="15323" cy="627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75" name="Shape 573"/>
          <p:cNvSpPr/>
          <p:nvPr/>
        </p:nvSpPr>
        <p:spPr>
          <a:xfrm flipV="1">
            <a:off x="9688186" y="2546785"/>
            <a:ext cx="15323" cy="133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76" name="Shape 574"/>
          <p:cNvSpPr/>
          <p:nvPr/>
        </p:nvSpPr>
        <p:spPr>
          <a:xfrm>
            <a:off x="9703508" y="2546785"/>
            <a:ext cx="15323" cy="387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>
            <a:off x="9718831" y="2550663"/>
            <a:ext cx="15323" cy="914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>
            <a:off x="9734154" y="2559812"/>
            <a:ext cx="15323" cy="1425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79" name="Shape 577"/>
          <p:cNvSpPr/>
          <p:nvPr/>
        </p:nvSpPr>
        <p:spPr>
          <a:xfrm>
            <a:off x="9749476" y="2574065"/>
            <a:ext cx="15323" cy="1897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80" name="Shape 578"/>
          <p:cNvSpPr/>
          <p:nvPr/>
        </p:nvSpPr>
        <p:spPr>
          <a:xfrm>
            <a:off x="9764799" y="2593038"/>
            <a:ext cx="15323" cy="2311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81" name="Shape 579"/>
          <p:cNvSpPr/>
          <p:nvPr/>
        </p:nvSpPr>
        <p:spPr>
          <a:xfrm>
            <a:off x="9780122" y="2616150"/>
            <a:ext cx="15323" cy="2649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82" name="Shape 580"/>
          <p:cNvSpPr/>
          <p:nvPr/>
        </p:nvSpPr>
        <p:spPr>
          <a:xfrm>
            <a:off x="9795445" y="2642642"/>
            <a:ext cx="15323" cy="2897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>
            <a:off x="9810767" y="2671615"/>
            <a:ext cx="15323" cy="3044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>
            <a:off x="9826090" y="2702062"/>
            <a:ext cx="15323" cy="3085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>
            <a:off x="9841413" y="2732916"/>
            <a:ext cx="15323" cy="3017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86" name="Shape 584"/>
          <p:cNvSpPr/>
          <p:nvPr/>
        </p:nvSpPr>
        <p:spPr>
          <a:xfrm>
            <a:off x="9856736" y="2763092"/>
            <a:ext cx="15323" cy="2844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87" name="Shape 585"/>
          <p:cNvSpPr/>
          <p:nvPr/>
        </p:nvSpPr>
        <p:spPr>
          <a:xfrm>
            <a:off x="9872058" y="2791534"/>
            <a:ext cx="15323" cy="2572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88" name="Shape 586"/>
          <p:cNvSpPr/>
          <p:nvPr/>
        </p:nvSpPr>
        <p:spPr>
          <a:xfrm>
            <a:off x="9887381" y="2817259"/>
            <a:ext cx="15323" cy="2214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>
            <a:off x="9902704" y="2839399"/>
            <a:ext cx="15323" cy="1783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>
            <a:off x="9918027" y="2857237"/>
            <a:ext cx="15323" cy="1300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91" name="Shape 589"/>
          <p:cNvSpPr/>
          <p:nvPr/>
        </p:nvSpPr>
        <p:spPr>
          <a:xfrm>
            <a:off x="9933349" y="2870239"/>
            <a:ext cx="15323" cy="783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92" name="Shape 590"/>
          <p:cNvSpPr/>
          <p:nvPr/>
        </p:nvSpPr>
        <p:spPr>
          <a:xfrm>
            <a:off x="9948672" y="2878074"/>
            <a:ext cx="15323" cy="255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93" name="Shape 591"/>
          <p:cNvSpPr/>
          <p:nvPr/>
        </p:nvSpPr>
        <p:spPr>
          <a:xfrm flipV="1">
            <a:off x="9963995" y="2878023"/>
            <a:ext cx="15323" cy="260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94" name="Shape 592"/>
          <p:cNvSpPr/>
          <p:nvPr/>
        </p:nvSpPr>
        <p:spPr>
          <a:xfrm flipV="1">
            <a:off x="9979317" y="2870577"/>
            <a:ext cx="15323" cy="74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 flipV="1">
            <a:off x="9994640" y="2858831"/>
            <a:ext cx="15323" cy="1174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 flipV="1">
            <a:off x="10009963" y="2843499"/>
            <a:ext cx="15323" cy="1533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 flipV="1">
            <a:off x="10025286" y="2825449"/>
            <a:ext cx="15323" cy="1804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98" name="Shape 596"/>
          <p:cNvSpPr/>
          <p:nvPr/>
        </p:nvSpPr>
        <p:spPr>
          <a:xfrm flipV="1">
            <a:off x="10040608" y="2805666"/>
            <a:ext cx="15323" cy="1978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599" name="Shape 597"/>
          <p:cNvSpPr/>
          <p:nvPr/>
        </p:nvSpPr>
        <p:spPr>
          <a:xfrm flipV="1">
            <a:off x="10055931" y="2785204"/>
            <a:ext cx="15323" cy="2046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00" name="Shape 598"/>
          <p:cNvSpPr/>
          <p:nvPr/>
        </p:nvSpPr>
        <p:spPr>
          <a:xfrm flipV="1">
            <a:off x="10071254" y="2765150"/>
            <a:ext cx="15323" cy="2005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01" name="Shape 599"/>
          <p:cNvSpPr/>
          <p:nvPr/>
        </p:nvSpPr>
        <p:spPr>
          <a:xfrm flipV="1">
            <a:off x="10086577" y="2746570"/>
            <a:ext cx="15323" cy="1858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02" name="Shape 600"/>
          <p:cNvSpPr/>
          <p:nvPr/>
        </p:nvSpPr>
        <p:spPr>
          <a:xfrm flipV="1">
            <a:off x="10101899" y="2730471"/>
            <a:ext cx="15323" cy="1610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03" name="Shape 601"/>
          <p:cNvSpPr/>
          <p:nvPr/>
        </p:nvSpPr>
        <p:spPr>
          <a:xfrm flipV="1">
            <a:off x="10117222" y="2717752"/>
            <a:ext cx="15323" cy="1271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04" name="Shape 602"/>
          <p:cNvSpPr/>
          <p:nvPr/>
        </p:nvSpPr>
        <p:spPr>
          <a:xfrm flipV="1">
            <a:off x="10132545" y="2709171"/>
            <a:ext cx="15323" cy="858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05" name="Shape 603"/>
          <p:cNvSpPr/>
          <p:nvPr/>
        </p:nvSpPr>
        <p:spPr>
          <a:xfrm flipV="1">
            <a:off x="10147868" y="2705311"/>
            <a:ext cx="15323" cy="386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06" name="Shape 604"/>
          <p:cNvSpPr/>
          <p:nvPr/>
        </p:nvSpPr>
        <p:spPr>
          <a:xfrm>
            <a:off x="10163190" y="2705311"/>
            <a:ext cx="15323" cy="124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07" name="Shape 605"/>
          <p:cNvSpPr/>
          <p:nvPr/>
        </p:nvSpPr>
        <p:spPr>
          <a:xfrm>
            <a:off x="10178513" y="2706555"/>
            <a:ext cx="15323" cy="651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08" name="Shape 606"/>
          <p:cNvSpPr/>
          <p:nvPr/>
        </p:nvSpPr>
        <p:spPr>
          <a:xfrm>
            <a:off x="10193836" y="2713070"/>
            <a:ext cx="15323" cy="1173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09" name="Shape 607"/>
          <p:cNvSpPr/>
          <p:nvPr/>
        </p:nvSpPr>
        <p:spPr>
          <a:xfrm>
            <a:off x="10209158" y="2724800"/>
            <a:ext cx="15323" cy="1666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10" name="Shape 608"/>
          <p:cNvSpPr/>
          <p:nvPr/>
        </p:nvSpPr>
        <p:spPr>
          <a:xfrm>
            <a:off x="10224481" y="2741468"/>
            <a:ext cx="15323" cy="2112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11" name="Shape 609"/>
          <p:cNvSpPr/>
          <p:nvPr/>
        </p:nvSpPr>
        <p:spPr>
          <a:xfrm>
            <a:off x="10239804" y="2762591"/>
            <a:ext cx="15323" cy="2490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12" name="Shape 610"/>
          <p:cNvSpPr/>
          <p:nvPr/>
        </p:nvSpPr>
        <p:spPr>
          <a:xfrm>
            <a:off x="10255127" y="2787494"/>
            <a:ext cx="15323" cy="2785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13" name="Shape 611"/>
          <p:cNvSpPr/>
          <p:nvPr/>
        </p:nvSpPr>
        <p:spPr>
          <a:xfrm>
            <a:off x="10270449" y="2815344"/>
            <a:ext cx="15323" cy="2983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14" name="Shape 612"/>
          <p:cNvSpPr/>
          <p:nvPr/>
        </p:nvSpPr>
        <p:spPr>
          <a:xfrm>
            <a:off x="10285772" y="2845182"/>
            <a:ext cx="15323" cy="3078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15" name="Shape 613"/>
          <p:cNvSpPr/>
          <p:nvPr/>
        </p:nvSpPr>
        <p:spPr>
          <a:xfrm>
            <a:off x="10301095" y="2875968"/>
            <a:ext cx="15323" cy="3065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16" name="Shape 614"/>
          <p:cNvSpPr/>
          <p:nvPr/>
        </p:nvSpPr>
        <p:spPr>
          <a:xfrm>
            <a:off x="10316418" y="2906619"/>
            <a:ext cx="15323" cy="2944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17" name="Shape 615"/>
          <p:cNvSpPr/>
          <p:nvPr/>
        </p:nvSpPr>
        <p:spPr>
          <a:xfrm>
            <a:off x="10331740" y="2936059"/>
            <a:ext cx="15323" cy="2720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18" name="Shape 616"/>
          <p:cNvSpPr/>
          <p:nvPr/>
        </p:nvSpPr>
        <p:spPr>
          <a:xfrm>
            <a:off x="10347063" y="2963262"/>
            <a:ext cx="15323" cy="2403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19" name="Shape 617"/>
          <p:cNvSpPr/>
          <p:nvPr/>
        </p:nvSpPr>
        <p:spPr>
          <a:xfrm>
            <a:off x="10362386" y="2987298"/>
            <a:ext cx="15323" cy="2007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20" name="Shape 618"/>
          <p:cNvSpPr/>
          <p:nvPr/>
        </p:nvSpPr>
        <p:spPr>
          <a:xfrm>
            <a:off x="10377708" y="3007370"/>
            <a:ext cx="15323" cy="1548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21" name="Shape 619"/>
          <p:cNvSpPr/>
          <p:nvPr/>
        </p:nvSpPr>
        <p:spPr>
          <a:xfrm>
            <a:off x="10393031" y="3022850"/>
            <a:ext cx="15323" cy="1045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22" name="Shape 620"/>
          <p:cNvSpPr/>
          <p:nvPr/>
        </p:nvSpPr>
        <p:spPr>
          <a:xfrm>
            <a:off x="10408354" y="3033302"/>
            <a:ext cx="15323" cy="520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23" name="Shape 621"/>
          <p:cNvSpPr/>
          <p:nvPr/>
        </p:nvSpPr>
        <p:spPr>
          <a:xfrm flipV="1">
            <a:off x="10423677" y="3038456"/>
            <a:ext cx="15323" cy="91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24" name="Shape 622"/>
          <p:cNvSpPr/>
          <p:nvPr/>
        </p:nvSpPr>
        <p:spPr>
          <a:xfrm flipV="1">
            <a:off x="10438999" y="3033380"/>
            <a:ext cx="15323" cy="507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25" name="Shape 623"/>
          <p:cNvSpPr/>
          <p:nvPr/>
        </p:nvSpPr>
        <p:spPr>
          <a:xfrm flipV="1">
            <a:off x="10454322" y="3023710"/>
            <a:ext cx="15323" cy="967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26" name="Shape 624"/>
          <p:cNvSpPr/>
          <p:nvPr/>
        </p:nvSpPr>
        <p:spPr>
          <a:xfrm flipV="1">
            <a:off x="10469645" y="3010074"/>
            <a:ext cx="15323" cy="1363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27" name="Shape 625"/>
          <p:cNvSpPr/>
          <p:nvPr/>
        </p:nvSpPr>
        <p:spPr>
          <a:xfrm flipV="1">
            <a:off x="10484968" y="2993270"/>
            <a:ext cx="15323" cy="1680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28" name="Shape 626"/>
          <p:cNvSpPr/>
          <p:nvPr/>
        </p:nvSpPr>
        <p:spPr>
          <a:xfrm flipV="1">
            <a:off x="10500290" y="2974227"/>
            <a:ext cx="15323" cy="1904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29" name="Shape 627"/>
          <p:cNvSpPr/>
          <p:nvPr/>
        </p:nvSpPr>
        <p:spPr>
          <a:xfrm flipV="1">
            <a:off x="10515613" y="2953970"/>
            <a:ext cx="15323" cy="2025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30" name="Shape 628"/>
          <p:cNvSpPr/>
          <p:nvPr/>
        </p:nvSpPr>
        <p:spPr>
          <a:xfrm flipV="1">
            <a:off x="10530936" y="2933576"/>
            <a:ext cx="15323" cy="2039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31" name="Shape 629"/>
          <p:cNvSpPr/>
          <p:nvPr/>
        </p:nvSpPr>
        <p:spPr>
          <a:xfrm flipV="1">
            <a:off x="10546259" y="2914127"/>
            <a:ext cx="15323" cy="1944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32" name="Shape 630"/>
          <p:cNvSpPr/>
          <p:nvPr/>
        </p:nvSpPr>
        <p:spPr>
          <a:xfrm flipV="1">
            <a:off x="10561581" y="2896665"/>
            <a:ext cx="15323" cy="1746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33" name="Shape 631"/>
          <p:cNvSpPr/>
          <p:nvPr/>
        </p:nvSpPr>
        <p:spPr>
          <a:xfrm flipV="1">
            <a:off x="10576904" y="2882147"/>
            <a:ext cx="15323" cy="1451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34" name="Shape 632"/>
          <p:cNvSpPr/>
          <p:nvPr/>
        </p:nvSpPr>
        <p:spPr>
          <a:xfrm flipV="1">
            <a:off x="10592227" y="2871409"/>
            <a:ext cx="15323" cy="1073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35" name="Shape 633"/>
          <p:cNvSpPr/>
          <p:nvPr/>
        </p:nvSpPr>
        <p:spPr>
          <a:xfrm flipV="1">
            <a:off x="10607549" y="2865122"/>
            <a:ext cx="15323" cy="628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36" name="Shape 634"/>
          <p:cNvSpPr/>
          <p:nvPr/>
        </p:nvSpPr>
        <p:spPr>
          <a:xfrm flipV="1">
            <a:off x="10622872" y="2863774"/>
            <a:ext cx="15323" cy="134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37" name="Shape 635"/>
          <p:cNvSpPr/>
          <p:nvPr/>
        </p:nvSpPr>
        <p:spPr>
          <a:xfrm>
            <a:off x="10638195" y="2863774"/>
            <a:ext cx="15323" cy="386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38" name="Shape 636"/>
          <p:cNvSpPr/>
          <p:nvPr/>
        </p:nvSpPr>
        <p:spPr>
          <a:xfrm>
            <a:off x="10653518" y="2867641"/>
            <a:ext cx="15323" cy="913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39" name="Shape 637"/>
          <p:cNvSpPr/>
          <p:nvPr/>
        </p:nvSpPr>
        <p:spPr>
          <a:xfrm>
            <a:off x="10668840" y="2876778"/>
            <a:ext cx="15323" cy="1424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40" name="Shape 638"/>
          <p:cNvSpPr/>
          <p:nvPr/>
        </p:nvSpPr>
        <p:spPr>
          <a:xfrm>
            <a:off x="10684163" y="2891020"/>
            <a:ext cx="15323" cy="1896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41" name="Shape 639"/>
          <p:cNvSpPr/>
          <p:nvPr/>
        </p:nvSpPr>
        <p:spPr>
          <a:xfrm>
            <a:off x="10699486" y="2909984"/>
            <a:ext cx="15323" cy="2310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42" name="Shape 640"/>
          <p:cNvSpPr/>
          <p:nvPr/>
        </p:nvSpPr>
        <p:spPr>
          <a:xfrm>
            <a:off x="10714809" y="2933087"/>
            <a:ext cx="15323" cy="2648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43" name="Shape 641"/>
          <p:cNvSpPr/>
          <p:nvPr/>
        </p:nvSpPr>
        <p:spPr>
          <a:xfrm>
            <a:off x="10730131" y="2959573"/>
            <a:ext cx="15323" cy="2896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44" name="Shape 642"/>
          <p:cNvSpPr/>
          <p:nvPr/>
        </p:nvSpPr>
        <p:spPr>
          <a:xfrm>
            <a:off x="10745454" y="2988541"/>
            <a:ext cx="15323" cy="3044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45" name="Shape 643"/>
          <p:cNvSpPr/>
          <p:nvPr/>
        </p:nvSpPr>
        <p:spPr>
          <a:xfrm>
            <a:off x="10760777" y="3018987"/>
            <a:ext cx="15323" cy="3085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46" name="Shape 644"/>
          <p:cNvSpPr/>
          <p:nvPr/>
        </p:nvSpPr>
        <p:spPr>
          <a:xfrm>
            <a:off x="10776099" y="3049841"/>
            <a:ext cx="15323" cy="3017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47" name="Shape 645"/>
          <p:cNvSpPr/>
          <p:nvPr/>
        </p:nvSpPr>
        <p:spPr>
          <a:xfrm>
            <a:off x="10791422" y="3080020"/>
            <a:ext cx="15323" cy="2844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48" name="Shape 646"/>
          <p:cNvSpPr/>
          <p:nvPr/>
        </p:nvSpPr>
        <p:spPr>
          <a:xfrm>
            <a:off x="10806745" y="3108467"/>
            <a:ext cx="15323" cy="2573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49" name="Shape 647"/>
          <p:cNvSpPr/>
          <p:nvPr/>
        </p:nvSpPr>
        <p:spPr>
          <a:xfrm>
            <a:off x="10822068" y="3134199"/>
            <a:ext cx="15323" cy="2214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50" name="Shape 648"/>
          <p:cNvSpPr/>
          <p:nvPr/>
        </p:nvSpPr>
        <p:spPr>
          <a:xfrm>
            <a:off x="10837390" y="3156347"/>
            <a:ext cx="15323" cy="1784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51" name="Shape 649"/>
          <p:cNvSpPr/>
          <p:nvPr/>
        </p:nvSpPr>
        <p:spPr>
          <a:xfrm>
            <a:off x="10852713" y="3174195"/>
            <a:ext cx="15323" cy="1301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52" name="Shape 650"/>
          <p:cNvSpPr/>
          <p:nvPr/>
        </p:nvSpPr>
        <p:spPr>
          <a:xfrm>
            <a:off x="10868036" y="3187208"/>
            <a:ext cx="15323" cy="784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53" name="Shape 651"/>
          <p:cNvSpPr/>
          <p:nvPr/>
        </p:nvSpPr>
        <p:spPr>
          <a:xfrm>
            <a:off x="10883359" y="3195055"/>
            <a:ext cx="15323" cy="256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54" name="Shape 652"/>
          <p:cNvSpPr/>
          <p:nvPr/>
        </p:nvSpPr>
        <p:spPr>
          <a:xfrm flipV="1">
            <a:off x="10898681" y="3195026"/>
            <a:ext cx="15323" cy="259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55" name="Shape 653"/>
          <p:cNvSpPr/>
          <p:nvPr/>
        </p:nvSpPr>
        <p:spPr>
          <a:xfrm flipV="1">
            <a:off x="10914004" y="3187591"/>
            <a:ext cx="15323" cy="743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56" name="Shape 654"/>
          <p:cNvSpPr/>
          <p:nvPr/>
        </p:nvSpPr>
        <p:spPr>
          <a:xfrm flipV="1">
            <a:off x="10929327" y="3175852"/>
            <a:ext cx="15323" cy="1173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57" name="Shape 655"/>
          <p:cNvSpPr/>
          <p:nvPr/>
        </p:nvSpPr>
        <p:spPr>
          <a:xfrm flipV="1">
            <a:off x="10944650" y="3160527"/>
            <a:ext cx="15323" cy="1532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58" name="Shape 656"/>
          <p:cNvSpPr/>
          <p:nvPr/>
        </p:nvSpPr>
        <p:spPr>
          <a:xfrm flipV="1">
            <a:off x="10959972" y="3142483"/>
            <a:ext cx="15323" cy="1804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59" name="Shape 657"/>
          <p:cNvSpPr/>
          <p:nvPr/>
        </p:nvSpPr>
        <p:spPr>
          <a:xfrm flipV="1">
            <a:off x="10975295" y="3122702"/>
            <a:ext cx="15323" cy="1978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60" name="Shape 658"/>
          <p:cNvSpPr/>
          <p:nvPr/>
        </p:nvSpPr>
        <p:spPr>
          <a:xfrm flipV="1">
            <a:off x="10990618" y="3102241"/>
            <a:ext cx="15323" cy="2046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61" name="Shape 659"/>
          <p:cNvSpPr/>
          <p:nvPr/>
        </p:nvSpPr>
        <p:spPr>
          <a:xfrm flipV="1">
            <a:off x="11005940" y="3082184"/>
            <a:ext cx="15323" cy="2005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62" name="Shape 660"/>
          <p:cNvSpPr/>
          <p:nvPr/>
        </p:nvSpPr>
        <p:spPr>
          <a:xfrm>
            <a:off x="10389955" y="2944048"/>
            <a:ext cx="7139" cy="4427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63" name="Shape 661"/>
          <p:cNvSpPr/>
          <p:nvPr/>
        </p:nvSpPr>
        <p:spPr>
          <a:xfrm flipV="1">
            <a:off x="10380184" y="2988320"/>
            <a:ext cx="16910" cy="3985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64" name="Shape 662"/>
          <p:cNvSpPr/>
          <p:nvPr/>
        </p:nvSpPr>
        <p:spPr>
          <a:xfrm flipV="1">
            <a:off x="10345074" y="3028174"/>
            <a:ext cx="35110" cy="2541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65" name="Shape 663"/>
          <p:cNvSpPr/>
          <p:nvPr/>
        </p:nvSpPr>
        <p:spPr>
          <a:xfrm flipV="1">
            <a:off x="10305913" y="3053585"/>
            <a:ext cx="39161" cy="1090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66" name="Shape 664"/>
          <p:cNvSpPr/>
          <p:nvPr/>
        </p:nvSpPr>
        <p:spPr>
          <a:xfrm flipV="1">
            <a:off x="10274674" y="3064487"/>
            <a:ext cx="31239" cy="670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67" name="Shape 665"/>
          <p:cNvSpPr/>
          <p:nvPr/>
        </p:nvSpPr>
        <p:spPr>
          <a:xfrm flipV="1">
            <a:off x="10253421" y="3071193"/>
            <a:ext cx="21253" cy="1422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68" name="Shape 666"/>
          <p:cNvSpPr/>
          <p:nvPr/>
        </p:nvSpPr>
        <p:spPr>
          <a:xfrm flipV="1">
            <a:off x="10235442" y="3085418"/>
            <a:ext cx="17980" cy="2461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69" name="Shape 667"/>
          <p:cNvSpPr/>
          <p:nvPr/>
        </p:nvSpPr>
        <p:spPr>
          <a:xfrm flipV="1">
            <a:off x="10213044" y="3110033"/>
            <a:ext cx="22398" cy="2681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70" name="Shape 668"/>
          <p:cNvSpPr/>
          <p:nvPr/>
        </p:nvSpPr>
        <p:spPr>
          <a:xfrm flipV="1">
            <a:off x="10184221" y="3136845"/>
            <a:ext cx="28822" cy="1722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71" name="Shape 669"/>
          <p:cNvSpPr/>
          <p:nvPr/>
        </p:nvSpPr>
        <p:spPr>
          <a:xfrm flipV="1">
            <a:off x="10152520" y="3154074"/>
            <a:ext cx="31701" cy="203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72" name="Shape 670"/>
          <p:cNvSpPr/>
          <p:nvPr/>
        </p:nvSpPr>
        <p:spPr>
          <a:xfrm>
            <a:off x="10121755" y="3146478"/>
            <a:ext cx="30765" cy="962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73" name="Shape 671"/>
          <p:cNvSpPr/>
          <p:nvPr/>
        </p:nvSpPr>
        <p:spPr>
          <a:xfrm>
            <a:off x="10092158" y="3132128"/>
            <a:ext cx="29597" cy="1435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74" name="Shape 672"/>
          <p:cNvSpPr/>
          <p:nvPr/>
        </p:nvSpPr>
        <p:spPr>
          <a:xfrm>
            <a:off x="10062247" y="3115503"/>
            <a:ext cx="29911" cy="1662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75" name="Shape 673"/>
          <p:cNvSpPr/>
          <p:nvPr/>
        </p:nvSpPr>
        <p:spPr>
          <a:xfrm>
            <a:off x="10033916" y="3092806"/>
            <a:ext cx="28331" cy="2269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76" name="Shape 674"/>
          <p:cNvSpPr/>
          <p:nvPr/>
        </p:nvSpPr>
        <p:spPr>
          <a:xfrm>
            <a:off x="10014235" y="3059805"/>
            <a:ext cx="19681" cy="3300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77" name="Shape 675"/>
          <p:cNvSpPr/>
          <p:nvPr/>
        </p:nvSpPr>
        <p:spPr>
          <a:xfrm>
            <a:off x="10010618" y="3018576"/>
            <a:ext cx="3618" cy="4122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78" name="Shape 676"/>
          <p:cNvSpPr/>
          <p:nvPr/>
        </p:nvSpPr>
        <p:spPr>
          <a:xfrm flipV="1">
            <a:off x="10010618" y="2977526"/>
            <a:ext cx="12634" cy="4105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79" name="Shape 677"/>
          <p:cNvSpPr/>
          <p:nvPr/>
        </p:nvSpPr>
        <p:spPr>
          <a:xfrm flipV="1">
            <a:off x="10023251" y="2944048"/>
            <a:ext cx="19232" cy="3347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80" name="Shape 678"/>
          <p:cNvSpPr/>
          <p:nvPr/>
        </p:nvSpPr>
        <p:spPr>
          <a:xfrm flipV="1">
            <a:off x="10042483" y="2917152"/>
            <a:ext cx="12418" cy="2689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81" name="Shape 679"/>
          <p:cNvSpPr/>
          <p:nvPr/>
        </p:nvSpPr>
        <p:spPr>
          <a:xfrm>
            <a:off x="10053667" y="2888001"/>
            <a:ext cx="1233" cy="2915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82" name="Shape 680"/>
          <p:cNvSpPr/>
          <p:nvPr/>
        </p:nvSpPr>
        <p:spPr>
          <a:xfrm>
            <a:off x="10044154" y="2848665"/>
            <a:ext cx="9513" cy="39336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83" name="Shape 681"/>
          <p:cNvSpPr/>
          <p:nvPr/>
        </p:nvSpPr>
        <p:spPr>
          <a:xfrm>
            <a:off x="10039734" y="2801048"/>
            <a:ext cx="4420" cy="4761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84" name="Shape 682"/>
          <p:cNvSpPr/>
          <p:nvPr/>
        </p:nvSpPr>
        <p:spPr>
          <a:xfrm flipV="1">
            <a:off x="10039734" y="2757238"/>
            <a:ext cx="11589" cy="4381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85" name="Shape 683"/>
          <p:cNvSpPr/>
          <p:nvPr/>
        </p:nvSpPr>
        <p:spPr>
          <a:xfrm flipV="1">
            <a:off x="10051323" y="2730488"/>
            <a:ext cx="28362" cy="2675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86" name="Shape 684"/>
          <p:cNvSpPr/>
          <p:nvPr/>
        </p:nvSpPr>
        <p:spPr>
          <a:xfrm flipV="1">
            <a:off x="10079685" y="2724910"/>
            <a:ext cx="36914" cy="557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87" name="Shape 685"/>
          <p:cNvSpPr/>
          <p:nvPr/>
        </p:nvSpPr>
        <p:spPr>
          <a:xfrm>
            <a:off x="10116599" y="2724910"/>
            <a:ext cx="36107" cy="8323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88" name="Shape 686"/>
          <p:cNvSpPr/>
          <p:nvPr/>
        </p:nvSpPr>
        <p:spPr>
          <a:xfrm>
            <a:off x="10152706" y="2733233"/>
            <a:ext cx="31516" cy="1100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89" name="Shape 687"/>
          <p:cNvSpPr/>
          <p:nvPr/>
        </p:nvSpPr>
        <p:spPr>
          <a:xfrm>
            <a:off x="10184221" y="2744235"/>
            <a:ext cx="28637" cy="8257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90" name="Shape 688"/>
          <p:cNvSpPr/>
          <p:nvPr/>
        </p:nvSpPr>
        <p:spPr>
          <a:xfrm>
            <a:off x="10212858" y="2752491"/>
            <a:ext cx="27739" cy="8864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91" name="Shape 689"/>
          <p:cNvSpPr/>
          <p:nvPr/>
        </p:nvSpPr>
        <p:spPr>
          <a:xfrm>
            <a:off x="10240597" y="2761355"/>
            <a:ext cx="25296" cy="15842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92" name="Shape 690"/>
          <p:cNvSpPr/>
          <p:nvPr/>
        </p:nvSpPr>
        <p:spPr>
          <a:xfrm>
            <a:off x="10265894" y="2777197"/>
            <a:ext cx="19704" cy="24351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93" name="Shape 691"/>
          <p:cNvSpPr/>
          <p:nvPr/>
        </p:nvSpPr>
        <p:spPr>
          <a:xfrm>
            <a:off x="10285597" y="2801548"/>
            <a:ext cx="14498" cy="27819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94" name="Shape 692"/>
          <p:cNvSpPr/>
          <p:nvPr/>
        </p:nvSpPr>
        <p:spPr>
          <a:xfrm>
            <a:off x="10300095" y="2829367"/>
            <a:ext cx="15060" cy="2551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95" name="Shape 693"/>
          <p:cNvSpPr/>
          <p:nvPr/>
        </p:nvSpPr>
        <p:spPr>
          <a:xfrm>
            <a:off x="10315155" y="2854885"/>
            <a:ext cx="21979" cy="23518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96" name="Shape 694"/>
          <p:cNvSpPr/>
          <p:nvPr/>
        </p:nvSpPr>
        <p:spPr>
          <a:xfrm>
            <a:off x="10337134" y="2878403"/>
            <a:ext cx="28310" cy="27955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97" name="Shape 695"/>
          <p:cNvSpPr/>
          <p:nvPr/>
        </p:nvSpPr>
        <p:spPr>
          <a:xfrm>
            <a:off x="10365444" y="2906358"/>
            <a:ext cx="24511" cy="37690"/>
          </a:xfrm>
          <a:prstGeom prst="line">
            <a:avLst/>
          </a:prstGeom>
          <a:noFill/>
          <a:ln w="25400">
            <a:solidFill>
              <a:srgbClr val="0000FF"/>
            </a:solidFill>
            <a:prstDash val="solid"/>
          </a:ln>
        </p:spPr>
      </p:sp>
      <p:sp>
        <p:nvSpPr>
          <p:cNvPr id="698" name="Text 696"/>
          <p:cNvSpPr/>
          <p:nvPr/>
        </p:nvSpPr>
        <p:spPr>
          <a:xfrm>
            <a:off x="2331720" y="3767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Under-fitting</a:t>
            </a:r>
            <a:endParaRPr lang="en-US" sz="1300" dirty="0"/>
          </a:p>
        </p:txBody>
      </p:sp>
      <p:sp>
        <p:nvSpPr>
          <p:cNvPr id="699" name="Text 697"/>
          <p:cNvSpPr/>
          <p:nvPr/>
        </p:nvSpPr>
        <p:spPr>
          <a:xfrm>
            <a:off x="2103120" y="396849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(too simple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variance)</a:t>
            </a:r>
            <a:endParaRPr lang="en-US" sz="900" dirty="0"/>
          </a:p>
        </p:txBody>
      </p:sp>
      <p:sp>
        <p:nvSpPr>
          <p:cNvPr id="700" name="Text 698"/>
          <p:cNvSpPr/>
          <p:nvPr/>
        </p:nvSpPr>
        <p:spPr>
          <a:xfrm>
            <a:off x="5440680" y="3767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Appropriate-fitting</a:t>
            </a:r>
            <a:endParaRPr lang="en-US" sz="1300" dirty="0"/>
          </a:p>
        </p:txBody>
      </p:sp>
      <p:sp>
        <p:nvSpPr>
          <p:cNvPr id="701" name="Text 699"/>
          <p:cNvSpPr/>
          <p:nvPr/>
        </p:nvSpPr>
        <p:spPr>
          <a:xfrm>
            <a:off x="8549640" y="3767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Over-fitting</a:t>
            </a:r>
            <a:endParaRPr lang="en-US" sz="1300" dirty="0"/>
          </a:p>
        </p:txBody>
      </p:sp>
      <p:sp>
        <p:nvSpPr>
          <p:cNvPr id="702" name="Text 700"/>
          <p:cNvSpPr/>
          <p:nvPr/>
        </p:nvSpPr>
        <p:spPr>
          <a:xfrm>
            <a:off x="8321040" y="396849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(forcefitting -- too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to be true)</a:t>
            </a:r>
            <a:endParaRPr lang="en-US" sz="900" dirty="0"/>
          </a:p>
        </p:txBody>
      </p:sp>
      <p:sp>
        <p:nvSpPr>
          <p:cNvPr id="703" name="Text 701"/>
          <p:cNvSpPr/>
          <p:nvPr/>
        </p:nvSpPr>
        <p:spPr>
          <a:xfrm>
            <a:off x="804672" y="50749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1600" dirty="0"/>
          </a:p>
        </p:txBody>
      </p:sp>
      <p:pic>
        <p:nvPicPr>
          <p:cNvPr id="704" name="Image 0" descr="videos/ml-intro/recreated_pptx/build/assets/graphs/s19_graph_left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0300" y="4572000"/>
            <a:ext cx="3873490" cy="1600200"/>
          </a:xfrm>
          <a:prstGeom prst="rect">
            <a:avLst/>
          </a:prstGeom>
        </p:spPr>
      </p:pic>
      <p:pic>
        <p:nvPicPr>
          <p:cNvPr id="705" name="Image 1" descr="videos/ml-intro/recreated_pptx/build/assets/graphs/s19_graph_right_v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490" y="4572000"/>
            <a:ext cx="3822741" cy="1587490"/>
          </a:xfrm>
          <a:prstGeom prst="rect">
            <a:avLst/>
          </a:prstGeom>
        </p:spPr>
      </p:pic>
      <p:sp>
        <p:nvSpPr>
          <p:cNvPr id="706" name="Text 702"/>
          <p:cNvSpPr/>
          <p:nvPr/>
        </p:nvSpPr>
        <p:spPr>
          <a:xfrm>
            <a:off x="2474001" y="521720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000" dirty="0"/>
          </a:p>
        </p:txBody>
      </p:sp>
      <p:sp>
        <p:nvSpPr>
          <p:cNvPr id="707" name="Text 703"/>
          <p:cNvSpPr/>
          <p:nvPr/>
        </p:nvSpPr>
        <p:spPr>
          <a:xfrm>
            <a:off x="4251960" y="59918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708" name="Text 704"/>
          <p:cNvSpPr/>
          <p:nvPr/>
        </p:nvSpPr>
        <p:spPr>
          <a:xfrm>
            <a:off x="7376465" y="521720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000" dirty="0"/>
          </a:p>
        </p:txBody>
      </p:sp>
      <p:sp>
        <p:nvSpPr>
          <p:cNvPr id="709" name="Text 705"/>
          <p:cNvSpPr/>
          <p:nvPr/>
        </p:nvSpPr>
        <p:spPr>
          <a:xfrm>
            <a:off x="9116019" y="59664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000" dirty="0"/>
          </a:p>
        </p:txBody>
      </p:sp>
      <p:sp>
        <p:nvSpPr>
          <p:cNvPr id="710" name="Shape 706"/>
          <p:cNvSpPr/>
          <p:nvPr/>
        </p:nvSpPr>
        <p:spPr>
          <a:xfrm>
            <a:off x="5213086" y="4686300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1" name="Text 707"/>
          <p:cNvSpPr/>
          <p:nvPr/>
        </p:nvSpPr>
        <p:spPr>
          <a:xfrm>
            <a:off x="5350246" y="4663440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750" dirty="0"/>
          </a:p>
        </p:txBody>
      </p:sp>
      <p:sp>
        <p:nvSpPr>
          <p:cNvPr id="712" name="Shape 708"/>
          <p:cNvSpPr/>
          <p:nvPr/>
        </p:nvSpPr>
        <p:spPr>
          <a:xfrm>
            <a:off x="5203942" y="4869180"/>
            <a:ext cx="118872" cy="914"/>
          </a:xfrm>
          <a:prstGeom prst="line">
            <a:avLst/>
          </a:prstGeom>
          <a:noFill/>
          <a:ln w="19050">
            <a:solidFill>
              <a:srgbClr val="0000FF"/>
            </a:solidFill>
            <a:prstDash val="solid"/>
          </a:ln>
        </p:spPr>
      </p:sp>
      <p:sp>
        <p:nvSpPr>
          <p:cNvPr id="713" name="Text 709"/>
          <p:cNvSpPr/>
          <p:nvPr/>
        </p:nvSpPr>
        <p:spPr>
          <a:xfrm>
            <a:off x="5350246" y="4800600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750" dirty="0"/>
          </a:p>
        </p:txBody>
      </p:sp>
      <p:sp>
        <p:nvSpPr>
          <p:cNvPr id="714" name="Shape 710"/>
          <p:cNvSpPr/>
          <p:nvPr/>
        </p:nvSpPr>
        <p:spPr>
          <a:xfrm>
            <a:off x="5203942" y="5006340"/>
            <a:ext cx="118872" cy="914"/>
          </a:xfrm>
          <a:prstGeom prst="line">
            <a:avLst/>
          </a:prstGeom>
          <a:noFill/>
          <a:ln w="19050">
            <a:solidFill>
              <a:srgbClr val="FF6600"/>
            </a:solidFill>
            <a:prstDash val="solid"/>
          </a:ln>
        </p:spPr>
      </p:sp>
      <p:sp>
        <p:nvSpPr>
          <p:cNvPr id="715" name="Text 711"/>
          <p:cNvSpPr/>
          <p:nvPr/>
        </p:nvSpPr>
        <p:spPr>
          <a:xfrm>
            <a:off x="5350246" y="4937760"/>
            <a:ext cx="868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</a:t>
            </a:r>
            <a:endParaRPr lang="en-US" sz="750" dirty="0"/>
          </a:p>
        </p:txBody>
      </p:sp>
      <p:sp>
        <p:nvSpPr>
          <p:cNvPr id="716" name="Shape 712"/>
          <p:cNvSpPr/>
          <p:nvPr/>
        </p:nvSpPr>
        <p:spPr>
          <a:xfrm>
            <a:off x="9579894" y="555598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7" name="Text 713"/>
          <p:cNvSpPr/>
          <p:nvPr/>
        </p:nvSpPr>
        <p:spPr>
          <a:xfrm>
            <a:off x="9735342" y="551941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00" dirty="0"/>
          </a:p>
        </p:txBody>
      </p:sp>
      <p:sp>
        <p:nvSpPr>
          <p:cNvPr id="718" name="Shape 714"/>
          <p:cNvSpPr/>
          <p:nvPr/>
        </p:nvSpPr>
        <p:spPr>
          <a:xfrm>
            <a:off x="9561606" y="5775442"/>
            <a:ext cx="146304" cy="914"/>
          </a:xfrm>
          <a:prstGeom prst="line">
            <a:avLst/>
          </a:prstGeom>
          <a:noFill/>
          <a:ln w="19050">
            <a:solidFill>
              <a:srgbClr val="00CC66"/>
            </a:solidFill>
            <a:prstDash val="solid"/>
          </a:ln>
        </p:spPr>
      </p:sp>
      <p:sp>
        <p:nvSpPr>
          <p:cNvPr id="719" name="Text 715"/>
          <p:cNvSpPr/>
          <p:nvPr/>
        </p:nvSpPr>
        <p:spPr>
          <a:xfrm>
            <a:off x="9735342" y="569314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2nd Order Fit</a:t>
            </a:r>
            <a:endParaRPr lang="en-US" sz="800" dirty="0"/>
          </a:p>
        </p:txBody>
      </p:sp>
      <p:sp>
        <p:nvSpPr>
          <p:cNvPr id="720" name="Shape 716"/>
          <p:cNvSpPr/>
          <p:nvPr/>
        </p:nvSpPr>
        <p:spPr>
          <a:xfrm>
            <a:off x="9561606" y="5949178"/>
            <a:ext cx="146304" cy="914"/>
          </a:xfrm>
          <a:prstGeom prst="line">
            <a:avLst/>
          </a:prstGeom>
          <a:noFill/>
          <a:ln w="15875">
            <a:solidFill>
              <a:srgbClr val="FF0000"/>
            </a:solidFill>
            <a:prstDash val="solid"/>
          </a:ln>
        </p:spPr>
      </p:sp>
      <p:sp>
        <p:nvSpPr>
          <p:cNvPr id="721" name="Text 717"/>
          <p:cNvSpPr/>
          <p:nvPr/>
        </p:nvSpPr>
        <p:spPr>
          <a:xfrm>
            <a:off x="9735342" y="586688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10th Order Fit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 Learning (RL)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10332720" cy="4818888"/>
          </a:xfrm>
          <a:prstGeom prst="rect">
            <a:avLst/>
          </a:prstGeom>
          <a:solidFill>
            <a:srgbClr val="FFFFFF"/>
          </a:solidFill>
          <a:ln w="25400">
            <a:solidFill>
              <a:srgbClr val="B03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783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19072" y="1783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supervised/unsupervised learning, RL does not receive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19072" y="2148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25880" y="26426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19072" y="264261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Rather, </a:t>
            </a:r>
            <a:pPr algn="l" indent="0" marL="0">
              <a:buNone/>
            </a:pPr>
            <a:r>
              <a:rPr lang="en-US" sz="24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learns (gathers experience) by interacting with the world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25880" y="313639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719072" y="313639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by an agent and an environment the agent acts in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25880" y="363016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19072" y="363016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 a </a:t>
            </a:r>
            <a:pPr algn="l" indent="0" marL="0">
              <a:buNone/>
            </a:pPr>
            <a:r>
              <a:rPr lang="en-US" sz="24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of actions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 a </a:t>
            </a:r>
            <a:pPr algn="l" indent="0" marL="0">
              <a:buNone/>
            </a:pPr>
            <a:r>
              <a:rPr lang="en-US" sz="24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 of states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25880" y="412394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719072" y="412394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algn="l" indent="0" marL="0">
              <a:buNone/>
            </a:pPr>
            <a:r>
              <a:rPr lang="en-US" sz="24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sequence of actions by the agent that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19072" y="448970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reward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25880" y="4983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19072" y="4983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 policy which maps states to actions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25880" y="547725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719072" y="547725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problems always include time as a variable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25880" y="597103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719072" y="59710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problems: </a:t>
            </a:r>
            <a:pPr algn="l" indent="0" marL="0">
              <a:buNone/>
            </a:pPr>
            <a:r>
              <a:rPr lang="en-US" sz="2400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Chess, Robot control, autonomous driving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Paradigms: Semi-supervised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86968" y="1728216"/>
            <a:ext cx="10360152" cy="4828032"/>
          </a:xfrm>
          <a:prstGeom prst="rect">
            <a:avLst/>
          </a:prstGeom>
          <a:solidFill>
            <a:srgbClr val="FFFFFF"/>
          </a:solidFill>
          <a:ln w="25400">
            <a:solidFill>
              <a:srgbClr val="B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2748" y="2135124"/>
            <a:ext cx="155448" cy="155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755648" y="2002536"/>
            <a:ext cx="9509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 requires labeled data (the more, the</a:t>
            </a:r>
            <a:endParaRPr lang="en-US" sz="255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better!)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412748" y="3031236"/>
            <a:ext cx="155448" cy="155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755648" y="290779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1:</a:t>
            </a:r>
            <a:pPr indent="0" marL="0">
              <a:lnSpc>
                <a:spcPts val="3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Labeling is expensive (usually done by humans)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412748" y="3561588"/>
            <a:ext cx="155448" cy="155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1755648" y="3438144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2:</a:t>
            </a:r>
            <a:pPr indent="0" marL="0">
              <a:lnSpc>
                <a:spcPts val="3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Sometimes labels are really hard to get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412748" y="4082796"/>
            <a:ext cx="155448" cy="155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1755648" y="3959352"/>
            <a:ext cx="9509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we learn well even with small amounts of labeled</a:t>
            </a:r>
            <a:endParaRPr lang="en-US" sz="255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data?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412748" y="4988052"/>
            <a:ext cx="155448" cy="155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1755648" y="486460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answer: Semi-supervised Learning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412748" y="5518404"/>
            <a:ext cx="155448" cy="155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1755648" y="5394960"/>
            <a:ext cx="9509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550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small amount of labeled + plenty of (freely available)</a:t>
            </a:r>
            <a:endParaRPr lang="en-US" sz="255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550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unlabeled data</a:t>
            </a:r>
            <a:endParaRPr lang="en-US" sz="2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Paradigms: Active Learning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1270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2648" y="1719072"/>
            <a:ext cx="10972800" cy="4636008"/>
          </a:xfrm>
          <a:prstGeom prst="roundRect">
            <a:avLst>
              <a:gd name="adj" fmla="val 2367"/>
            </a:avLst>
          </a:prstGeom>
          <a:solidFill>
            <a:srgbClr val="E8E8E8"/>
          </a:solidFill>
          <a:ln w="22225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1168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Similar motivation as semi-supervised learning (saving data labeling cost)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2459736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 supervised learning is passive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290779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Learner has no choice for the data it has to learn from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331927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Not all labeled examples are really informative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73075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Spending labeling efforts on uninformative examples isn't really worth it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414223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 Learning: </a:t>
            </a:r>
            <a:pPr indent="0" marL="0">
              <a:buNone/>
            </a:pPr>
            <a:r>
              <a:rPr lang="en-US" sz="2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the learner to ask for specific labeled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examples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08760" y="4590288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.. the ones it considers the </a:t>
            </a:r>
            <a:pPr indent="0" marL="0">
              <a:buNone/>
            </a:pPr>
            <a:r>
              <a:rPr lang="en-US" sz="18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informative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500176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 Learning can lead to </a:t>
            </a:r>
            <a:pPr indent="0" marL="0">
              <a:buNone/>
            </a:pPr>
            <a:r>
              <a:rPr lang="en-US" sz="20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benefits: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544982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Less labeled data needed to learn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586130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Better classifiers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072122" y="2194560"/>
            <a:ext cx="76790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A02C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72122" y="2194560"/>
            <a:ext cx="7679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0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Sets</a:t>
            </a:r>
            <a:endParaRPr lang="en-US" sz="6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945636" y="256032"/>
            <a:ext cx="429768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6032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Sets for Model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0" y="3246120"/>
            <a:ext cx="2432304" cy="105156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3246120"/>
            <a:ext cx="2432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 75%)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73752" y="3246120"/>
            <a:ext cx="2441448" cy="1051560"/>
          </a:xfrm>
          <a:prstGeom prst="rect">
            <a:avLst/>
          </a:prstGeom>
          <a:solidFill>
            <a:srgbClr val="1E7B34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3246120"/>
            <a:ext cx="2441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 10%)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84464" y="3246120"/>
            <a:ext cx="2441448" cy="1051560"/>
          </a:xfrm>
          <a:prstGeom prst="rect">
            <a:avLst/>
          </a:prstGeom>
          <a:solidFill>
            <a:srgbClr val="B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84464" y="3246120"/>
            <a:ext cx="2441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(e.g. 15%)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90472" y="4434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to Train the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39996" y="4434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Testing during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(Stopping criteria)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950708" y="44348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to test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Model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94476" y="1225296"/>
            <a:ext cx="0" cy="1993392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>
            <a:off x="6034474" y="1225296"/>
            <a:ext cx="60002" cy="215942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18" name="Shape 16"/>
          <p:cNvSpPr/>
          <p:nvPr/>
        </p:nvSpPr>
        <p:spPr>
          <a:xfrm flipH="1">
            <a:off x="5868585" y="1441238"/>
            <a:ext cx="165888" cy="174286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19" name="Shape 17"/>
          <p:cNvSpPr/>
          <p:nvPr/>
        </p:nvSpPr>
        <p:spPr>
          <a:xfrm flipH="1">
            <a:off x="5617988" y="1615525"/>
            <a:ext cx="250597" cy="142409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 flipH="1">
            <a:off x="5303859" y="1757934"/>
            <a:ext cx="314129" cy="120311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 flipH="1">
            <a:off x="4947375" y="1878245"/>
            <a:ext cx="356484" cy="107992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22" name="Shape 20"/>
          <p:cNvSpPr/>
          <p:nvPr/>
        </p:nvSpPr>
        <p:spPr>
          <a:xfrm flipH="1">
            <a:off x="4569714" y="1986238"/>
            <a:ext cx="377661" cy="105452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 flipH="1">
            <a:off x="4192053" y="2091690"/>
            <a:ext cx="377661" cy="112691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 flipH="1">
            <a:off x="3835569" y="2204381"/>
            <a:ext cx="356484" cy="129709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 flipH="1">
            <a:off x="3521440" y="2334091"/>
            <a:ext cx="314129" cy="156506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 flipH="1">
            <a:off x="3270843" y="2490597"/>
            <a:ext cx="250597" cy="193082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 flipH="1">
            <a:off x="3104954" y="2683679"/>
            <a:ext cx="165888" cy="239437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 flipH="1">
            <a:off x="3044952" y="2923117"/>
            <a:ext cx="60002" cy="295571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094476" y="1225296"/>
            <a:ext cx="67109" cy="215942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6161585" y="1441238"/>
            <a:ext cx="185536" cy="174286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6347121" y="1615525"/>
            <a:ext cx="280278" cy="142409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6627400" y="1757934"/>
            <a:ext cx="351335" cy="120311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978735" y="1878245"/>
            <a:ext cx="398706" cy="107992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7377441" y="1986238"/>
            <a:ext cx="422391" cy="105452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7799832" y="2091690"/>
            <a:ext cx="422391" cy="112691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8222223" y="2204381"/>
            <a:ext cx="398706" cy="129709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8620929" y="2334091"/>
            <a:ext cx="351335" cy="156506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8972264" y="2490597"/>
            <a:ext cx="280278" cy="193082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9252543" y="2683679"/>
            <a:ext cx="185536" cy="239437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9438079" y="2923117"/>
            <a:ext cx="67109" cy="295571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594360" y="53492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Annotated and unannotated data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you have labels for your Dataset ???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146304"/>
            <a:ext cx="11896344" cy="914400"/>
          </a:xfrm>
          <a:prstGeom prst="rect">
            <a:avLst/>
          </a:prstGeom>
          <a:solidFill>
            <a:srgbClr val="E0E0E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38912"/>
            <a:ext cx="384048" cy="329184"/>
          </a:xfrm>
          <a:prstGeom prst="rect">
            <a:avLst/>
          </a:prstGeom>
          <a:solidFill>
            <a:srgbClr val="E0E0E0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402336"/>
            <a:ext cx="64008" cy="54864"/>
          </a:xfrm>
          <a:prstGeom prst="ellipse">
            <a:avLst/>
          </a:prstGeom>
          <a:solidFill>
            <a:srgbClr val="E0E0E0"/>
          </a:solidFill>
          <a:ln w="15875">
            <a:solidFill>
              <a:srgbClr val="4CAF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402336"/>
            <a:ext cx="64008" cy="54864"/>
          </a:xfrm>
          <a:prstGeom prst="ellipse">
            <a:avLst/>
          </a:prstGeom>
          <a:solidFill>
            <a:srgbClr val="E0E0E0"/>
          </a:solidFill>
          <a:ln w="15875">
            <a:solidFill>
              <a:srgbClr val="4CAF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402336"/>
            <a:ext cx="64008" cy="54864"/>
          </a:xfrm>
          <a:prstGeom prst="ellipse">
            <a:avLst/>
          </a:prstGeom>
          <a:solidFill>
            <a:srgbClr val="E0E0E0"/>
          </a:solidFill>
          <a:ln w="15875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402336"/>
            <a:ext cx="64008" cy="54864"/>
          </a:xfrm>
          <a:prstGeom prst="ellipse">
            <a:avLst/>
          </a:prstGeom>
          <a:solidFill>
            <a:srgbClr val="E0E0E0"/>
          </a:solidFill>
          <a:ln w="15875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347472"/>
            <a:ext cx="201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481328" y="521208"/>
            <a:ext cx="137160" cy="137160"/>
          </a:xfrm>
          <a:prstGeom prst="donut">
            <a:avLst/>
          </a:prstGeom>
          <a:solidFill>
            <a:srgbClr val="E0E0E0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207008" y="475488"/>
            <a:ext cx="329184" cy="292608"/>
          </a:xfrm>
          <a:prstGeom prst="trapezoid">
            <a:avLst/>
          </a:prstGeom>
          <a:solidFill>
            <a:srgbClr val="E0E0E0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98448" y="310896"/>
            <a:ext cx="27432" cy="118872"/>
          </a:xfrm>
          <a:prstGeom prst="line">
            <a:avLst/>
          </a:prstGeom>
          <a:noFill/>
          <a:ln w="19050">
            <a:solidFill>
              <a:srgbClr val="4CAF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08176" y="310896"/>
            <a:ext cx="27432" cy="118872"/>
          </a:xfrm>
          <a:prstGeom prst="line">
            <a:avLst/>
          </a:prstGeom>
          <a:noFill/>
          <a:ln w="1905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Representation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12700">
            <a:solidFill>
              <a:srgbClr val="FFF9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09905" y="1028700"/>
            <a:ext cx="10969142" cy="54864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1417320"/>
            <a:ext cx="9144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has form: {(x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baseline="-40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y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baseline="-40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. . . , (x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baseline="-40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y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baseline="-40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)} (labeled), or {x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baseline="-40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. . . , x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baseline="-40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} (unlabeled)</a:t>
            </a:r>
            <a:endParaRPr lang="en-US" sz="22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example X is a set of (numeric) </a:t>
            </a:r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2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pPr algn="l" marL="177800" indent="-1778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attributes / dimensions</a:t>
            </a:r>
            <a:endParaRPr lang="en-US" sz="2200" dirty="0"/>
          </a:p>
          <a:p>
            <a:pPr algn="l" marL="177800" indent="-1778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is commonly represented as a D × 1 vector</a:t>
            </a:r>
            <a:endParaRPr lang="en-US" sz="2200" dirty="0"/>
          </a:p>
          <a:p>
            <a:pPr algn="l" lvl="1" marL="304800" indent="-152400">
              <a:spcAft>
                <a:spcPts val="800"/>
              </a:spcAft>
              <a:buSzPct val="100000"/>
              <a:buChar char="–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Representing a 28 × 28 image: x can be a 784 × 1 vector of pixel values</a:t>
            </a:r>
            <a:endParaRPr lang="en-US" sz="2200" dirty="0"/>
          </a:p>
          <a:p>
            <a:pPr algn="l" lvl="1" marL="304800" indent="-152400">
              <a:spcAft>
                <a:spcPts val="1000"/>
              </a:spcAft>
              <a:buSzPct val="100000"/>
              <a:buChar char="–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Representing a text document: x can be a vector of word-counts of words appearing in that document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Notations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12648" y="1371600"/>
            <a:ext cx="10963656" cy="5212080"/>
          </a:xfrm>
          <a:prstGeom prst="roundRect">
            <a:avLst>
              <a:gd name="adj" fmla="val 1053"/>
            </a:avLst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64742" y="1904878"/>
            <a:ext cx="139903" cy="139903"/>
          </a:xfrm>
          <a:prstGeom prst="ellipse">
            <a:avLst/>
          </a:prstGeom>
          <a:solidFill>
            <a:srgbClr val="2020A0"/>
          </a:solidFill>
          <a:ln w="3175">
            <a:solidFill>
              <a:srgbClr val="2020A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8" name="Equation OMML" descr="\mathbb{R}^D"/>
              <p:cNvSpPr txBox="1"/>
              <p:nvPr/>
            </p:nvSpPr>
            <p:spPr>
              <a:xfrm>
                <a:off x="1664208" y="1782574"/>
                <a:ext cx="306324" cy="23621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ℝ</m:t>
                          </m:r>
                        </m:e>
                        <m:sup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8" name="Image 0" descr="/home/ahmed/Projects/ai_llm_slides/videos/ml-intro/recreated_pptx/build/omml/slide_026/assets/eq_026_rd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664208" y="1782574"/>
                <a:ext cx="306324" cy="236217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 6"/>
          <p:cNvSpPr/>
          <p:nvPr/>
        </p:nvSpPr>
        <p:spPr>
          <a:xfrm>
            <a:off x="2177186" y="1780743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denotes the set of all D × 1 real-valued column vectors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364742" y="2266889"/>
            <a:ext cx="139903" cy="139903"/>
          </a:xfrm>
          <a:prstGeom prst="ellipse">
            <a:avLst/>
          </a:prstGeom>
          <a:solidFill>
            <a:srgbClr val="2020A0"/>
          </a:solidFill>
          <a:ln w="3175">
            <a:solidFill>
              <a:srgbClr val="2020A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1" name="Equation OMML" descr="x \in \mathbb{R}^D"/>
              <p:cNvSpPr txBox="1"/>
              <p:nvPr/>
            </p:nvSpPr>
            <p:spPr>
              <a:xfrm>
                <a:off x="1664208" y="2150871"/>
                <a:ext cx="740664" cy="23774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x∈</m:t>
                      </m:r>
                      <m:sSup>
                        <m:sSupPr>
                          <m:ctrlP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ℝ</m:t>
                          </m:r>
                        </m:e>
                        <m:sup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" name="Image 1" descr="/home/ahmed/Projects/ai_llm_slides/videos/ml-intro/recreated_pptx/build/omml/slide_026/assets/eq_026_xin_rd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64208" y="2150871"/>
                <a:ext cx="740664" cy="237744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 8"/>
          <p:cNvSpPr/>
          <p:nvPr/>
        </p:nvSpPr>
        <p:spPr>
          <a:xfrm>
            <a:off x="2697480" y="2149043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denotes a D × 1 real-valued column vector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364742" y="2609789"/>
            <a:ext cx="139903" cy="139903"/>
          </a:xfrm>
          <a:prstGeom prst="ellipse">
            <a:avLst/>
          </a:prstGeom>
          <a:solidFill>
            <a:srgbClr val="2020A0"/>
          </a:solidFill>
          <a:ln w="3175">
            <a:solidFill>
              <a:srgbClr val="2020A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4" name="Equation OMML" descr="x{}^T"/>
              <p:cNvSpPr txBox="1"/>
              <p:nvPr/>
            </p:nvSpPr>
            <p:spPr>
              <a:xfrm>
                <a:off x="1664208" y="2506474"/>
                <a:ext cx="275847" cy="23621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p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4" name="Image 2" descr="/home/ahmed/Projects/ai_llm_slides/videos/ml-intro/recreated_pptx/build/omml/slide_026/assets/eq_026_xT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4208" y="2506474"/>
                <a:ext cx="275847" cy="236217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 10"/>
          <p:cNvSpPr/>
          <p:nvPr/>
        </p:nvSpPr>
        <p:spPr>
          <a:xfrm>
            <a:off x="2113178" y="2504643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denotes the transpose of </a:t>
            </a:r>
            <a:pPr algn="l" indent="0" marL="0">
              <a:buNone/>
            </a:pPr>
            <a:r>
              <a:rPr lang="en-US" sz="18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1 × D row vector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1364742" y="2965308"/>
            <a:ext cx="139903" cy="139903"/>
          </a:xfrm>
          <a:prstGeom prst="ellipse">
            <a:avLst/>
          </a:prstGeom>
          <a:solidFill>
            <a:srgbClr val="2020A0"/>
          </a:solidFill>
          <a:ln w="3175">
            <a:solidFill>
              <a:srgbClr val="2020A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7" name="Equation OMML" descr="\mathbb{R}^{N\times D}"/>
              <p:cNvSpPr txBox="1"/>
              <p:nvPr/>
            </p:nvSpPr>
            <p:spPr>
              <a:xfrm>
                <a:off x="1676908" y="2849374"/>
                <a:ext cx="621792" cy="23621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ℝ</m:t>
                          </m:r>
                        </m:e>
                        <m:sup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N×D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7" name="Image 3" descr="/home/ahmed/Projects/ai_llm_slides/videos/ml-intro/recreated_pptx/build/omml/slide_026/assets/eq_026_rnd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76908" y="2849374"/>
                <a:ext cx="621792" cy="236217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 12"/>
          <p:cNvSpPr/>
          <p:nvPr/>
        </p:nvSpPr>
        <p:spPr>
          <a:xfrm>
            <a:off x="2544775" y="2847543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denotes the set of all N × D real-valued matrices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1364742" y="3320918"/>
            <a:ext cx="139903" cy="139903"/>
          </a:xfrm>
          <a:prstGeom prst="ellipse">
            <a:avLst/>
          </a:prstGeom>
          <a:solidFill>
            <a:srgbClr val="2020A0"/>
          </a:solidFill>
          <a:ln w="3175">
            <a:solidFill>
              <a:srgbClr val="2020A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20" name="Equation OMML" descr="X \in \mathbb{R}^{N\times D}"/>
              <p:cNvSpPr txBox="1"/>
              <p:nvPr/>
            </p:nvSpPr>
            <p:spPr>
              <a:xfrm>
                <a:off x="1664208" y="3217671"/>
                <a:ext cx="1080519" cy="23774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X∈</m:t>
                      </m:r>
                      <m:sSup>
                        <m:sSupPr>
                          <m:ctrlP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ℝ</m:t>
                          </m:r>
                        </m:e>
                        <m:sup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N×D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0" name="Image 4" descr="/home/ahmed/Projects/ai_llm_slides/videos/ml-intro/recreated_pptx/build/omml/slide_026/assets/eq_026_xin_rnd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64208" y="3217671"/>
                <a:ext cx="1080519" cy="237744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 14"/>
          <p:cNvSpPr/>
          <p:nvPr/>
        </p:nvSpPr>
        <p:spPr>
          <a:xfrm>
            <a:off x="2913278" y="3215843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denotes an N × D real-valued matrix</a:t>
            </a:r>
            <a:endParaRPr lang="en-US" sz="1800" dirty="0"/>
          </a:p>
        </p:txBody>
      </p:sp>
      <p:sp>
        <p:nvSpPr>
          <p:cNvPr id="22" name="Shape 15"/>
          <p:cNvSpPr/>
          <p:nvPr/>
        </p:nvSpPr>
        <p:spPr>
          <a:xfrm>
            <a:off x="1364742" y="3676528"/>
            <a:ext cx="139903" cy="139903"/>
          </a:xfrm>
          <a:prstGeom prst="ellipse">
            <a:avLst/>
          </a:prstGeom>
          <a:solidFill>
            <a:srgbClr val="2020A0"/>
          </a:solidFill>
          <a:ln w="3175">
            <a:solidFill>
              <a:srgbClr val="2020A0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1666951" y="3571443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Learning: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Often, we write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6413500" y="3619500"/>
            <a:ext cx="4406900" cy="279400"/>
          </a:xfrm>
          <a:prstGeom prst="rect">
            <a:avLst/>
          </a:prstGeom>
          <a:solidFill>
            <a:srgbClr val="E8D9B5"/>
          </a:solidFill>
          <a:ln w="3175">
            <a:solidFill>
              <a:srgbClr val="E8D9B5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25" name="Equation OMML" descr="\{(x{}_1, y_1), \ldots, (x{}_N, y_N)\} \ \mathrm{as}\ (X, Y)"/>
              <p:cNvSpPr txBox="1"/>
              <p:nvPr/>
            </p:nvSpPr>
            <p:spPr>
              <a:xfrm>
                <a:off x="6490208" y="3612894"/>
                <a:ext cx="3334515" cy="24384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{(</m:t>
                      </m:r>
                      <m:sSub>
                        <m:sSubPr>
                          <m:ctrlP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sSub>
                        <m:sSubPr>
                          <m:ctrlP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),…,(</m:t>
                      </m:r>
                      <m:sSub>
                        <m:sSubPr>
                          <m:ctrlP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sub>
                      </m:sSub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sSub>
                        <m:sSubPr>
                          <m:ctrlP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sub>
                      </m:sSub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)} </m:t>
                      </m:r>
                      <m:r>
                        <m:rPr>
                          <m:sty m:val="p"/>
                        </m:rPr>
                        <a:rPr lang="en-US" i="0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as</m:t>
                      </m:r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 (X,Y)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5" name="Image 5" descr="/home/ahmed/Projects/ai_llm_slides/videos/ml-intro/recreated_pptx/build/omml/slide_026/assets/eq_026_set18.png">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90208" y="3612894"/>
                <a:ext cx="3334515" cy="243843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Shape 18"/>
          <p:cNvSpPr/>
          <p:nvPr/>
        </p:nvSpPr>
        <p:spPr>
          <a:xfrm>
            <a:off x="2000250" y="4057650"/>
            <a:ext cx="114300" cy="114300"/>
          </a:xfrm>
          <a:prstGeom prst="ellipse">
            <a:avLst/>
          </a:prstGeom>
          <a:solidFill>
            <a:srgbClr val="2020A0"/>
          </a:solidFill>
          <a:ln w="3175">
            <a:solidFill>
              <a:srgbClr val="2020A0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2276856" y="4002837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an N × D matrix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2000250" y="4413260"/>
            <a:ext cx="114300" cy="114300"/>
          </a:xfrm>
          <a:prstGeom prst="ellipse">
            <a:avLst/>
          </a:prstGeom>
          <a:solidFill>
            <a:srgbClr val="2020A0"/>
          </a:solidFill>
          <a:ln w="3175">
            <a:solidFill>
              <a:srgbClr val="2020A0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2276856" y="4333037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of </a:t>
            </a:r>
            <a:pPr algn="l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denotes an example,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2267712" y="4625137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column denotes a feature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2000250" y="5035509"/>
            <a:ext cx="114300" cy="114300"/>
          </a:xfrm>
          <a:prstGeom prst="ellipse">
            <a:avLst/>
          </a:prstGeom>
          <a:solidFill>
            <a:srgbClr val="2020A0"/>
          </a:solidFill>
          <a:ln w="3175">
            <a:solidFill>
              <a:srgbClr val="2020A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32" name="Equation OMML" descr="x{}_{ij}"/>
              <p:cNvSpPr txBox="1"/>
              <p:nvPr/>
            </p:nvSpPr>
            <p:spPr>
              <a:xfrm>
                <a:off x="2273808" y="5041394"/>
                <a:ext cx="192024" cy="16306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ij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2" name="Image 6" descr="/home/ahmed/Projects/ai_llm_slides/videos/ml-intro/recreated_pptx/build/omml/slide_026/assets/eq_026_xij.png">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73808" y="5041394"/>
                <a:ext cx="192024" cy="163065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Text 24"/>
          <p:cNvSpPr/>
          <p:nvPr/>
        </p:nvSpPr>
        <p:spPr>
          <a:xfrm>
            <a:off x="2570378" y="4980737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denotes the j-th feature of the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2276856" y="5209337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i-th example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2000250" y="5645140"/>
            <a:ext cx="114300" cy="114300"/>
          </a:xfrm>
          <a:prstGeom prst="ellipse">
            <a:avLst/>
          </a:prstGeom>
          <a:solidFill>
            <a:srgbClr val="2020A0"/>
          </a:solidFill>
          <a:ln w="3175">
            <a:solidFill>
              <a:srgbClr val="2020A0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2267712" y="5590337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an N × 1 vector. Row i denotes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2267712" y="5831637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label of the i-th example</a:t>
            </a:r>
            <a:endParaRPr lang="en-US" sz="1300" dirty="0"/>
          </a:p>
        </p:txBody>
      </p:sp>
      <mc:AlternateContent>
        <mc:Choice xmlns:a14="http://schemas.microsoft.com/office/drawing/2010/main" Requires="a14">
          <p:sp>
            <p:nvSpPr>
              <p:cNvPr id="38" name="Equation OMML" descr="\mathbf{X}\;="/>
              <p:cNvSpPr txBox="1"/>
              <p:nvPr/>
            </p:nvSpPr>
            <p:spPr>
              <a:xfrm>
                <a:off x="6629908" y="4622295"/>
                <a:ext cx="469389" cy="19049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b"/>
                        </m:rPr>
                        <a:rPr lang="en-US" i="0" smtClean="0" sz="18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 =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38" name="Image 7" descr="/home/ahmed/Projects/ai_llm_slides/videos/ml-intro/recreated_pptx/build/omml/slide_026/assets/eq_026_Xeq.png">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29908" y="4622295"/>
                <a:ext cx="469389" cy="190497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Shape 29"/>
          <p:cNvSpPr/>
          <p:nvPr/>
        </p:nvSpPr>
        <p:spPr>
          <a:xfrm>
            <a:off x="7340600" y="4241800"/>
            <a:ext cx="173736" cy="977900"/>
          </a:xfrm>
          <a:prstGeom prst="arc">
            <a:avLst>
              <a:gd name="adj1" fmla="val 5400000"/>
              <a:gd name="adj2" fmla="val 16200000"/>
            </a:avLst>
          </a:prstGeom>
          <a:noFill/>
          <a:ln w="22225">
            <a:solidFill>
              <a:srgbClr val="000000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7581900" y="4305300"/>
            <a:ext cx="444500" cy="203200"/>
          </a:xfrm>
          <a:prstGeom prst="roundRect">
            <a:avLst>
              <a:gd name="adj" fmla="val 18000"/>
            </a:avLst>
          </a:prstGeom>
          <a:solidFill>
            <a:srgbClr val="F4E04D"/>
          </a:solidFill>
          <a:ln w="6350">
            <a:solidFill>
              <a:srgbClr val="F4E04D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41" name="Equation OMML" descr="x{}_1"/>
              <p:cNvSpPr txBox="1"/>
              <p:nvPr/>
            </p:nvSpPr>
            <p:spPr>
              <a:xfrm>
                <a:off x="7709183" y="4305808"/>
                <a:ext cx="202695" cy="14934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1" name="Image 8" descr="/home/ahmed/Projects/ai_llm_slides/videos/ml-intro/recreated_pptx/build/omml/slide_026/assets/eq_026_x1_14.png">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09183" y="4305808"/>
                <a:ext cx="202695" cy="149349"/>
              </a:xfrm>
              <a:prstGeom prst="rect">
                <a:avLst/>
              </a:prstGeom>
            </p:spPr>
          </p:pic>
        </mc:Fallback>
      </mc:AlternateContent>
      <p:sp>
        <p:nvSpPr>
          <p:cNvPr id="42" name="Shape 31"/>
          <p:cNvSpPr/>
          <p:nvPr/>
        </p:nvSpPr>
        <p:spPr>
          <a:xfrm>
            <a:off x="7581900" y="4533900"/>
            <a:ext cx="444500" cy="203200"/>
          </a:xfrm>
          <a:prstGeom prst="roundRect">
            <a:avLst>
              <a:gd name="adj" fmla="val 18000"/>
            </a:avLst>
          </a:prstGeom>
          <a:solidFill>
            <a:srgbClr val="7BE8A0"/>
          </a:solidFill>
          <a:ln w="6350">
            <a:solidFill>
              <a:srgbClr val="7BE8A0"/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7581900" y="4762500"/>
            <a:ext cx="444500" cy="203200"/>
          </a:xfrm>
          <a:prstGeom prst="roundRect">
            <a:avLst>
              <a:gd name="adj" fmla="val 18000"/>
            </a:avLst>
          </a:prstGeom>
          <a:solidFill>
            <a:srgbClr val="E86DE8"/>
          </a:solidFill>
          <a:ln w="6350">
            <a:solidFill>
              <a:srgbClr val="E86DE8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44" name="Equation OMML" descr="\vdots"/>
              <p:cNvSpPr txBox="1"/>
              <p:nvPr/>
            </p:nvSpPr>
            <p:spPr>
              <a:xfrm>
                <a:off x="7793006" y="4945886"/>
                <a:ext cx="35049" cy="11582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9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4" name="Image 9" descr="/home/ahmed/Projects/ai_llm_slides/videos/ml-intro/recreated_pptx/build/omml/slide_026/assets/eq_026_vdots.png">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93006" y="4945886"/>
                <a:ext cx="35049" cy="115827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Shape 33"/>
          <p:cNvSpPr/>
          <p:nvPr/>
        </p:nvSpPr>
        <p:spPr>
          <a:xfrm>
            <a:off x="7581900" y="5029200"/>
            <a:ext cx="444500" cy="203200"/>
          </a:xfrm>
          <a:prstGeom prst="roundRect">
            <a:avLst>
              <a:gd name="adj" fmla="val 18000"/>
            </a:avLst>
          </a:prstGeom>
          <a:solidFill>
            <a:srgbClr val="5FE8E8"/>
          </a:solidFill>
          <a:ln w="6350">
            <a:solidFill>
              <a:srgbClr val="5FE8E8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46" name="Equation OMML" descr="x{}_N"/>
              <p:cNvSpPr txBox="1"/>
              <p:nvPr/>
            </p:nvSpPr>
            <p:spPr>
              <a:xfrm>
                <a:off x="7716772" y="5042408"/>
                <a:ext cx="225555" cy="14934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6" name="Image 10" descr="/home/ahmed/Projects/ai_llm_slides/videos/ml-intro/recreated_pptx/build/omml/slide_026/assets/eq_026_xN_14.png">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716772" y="5042408"/>
                <a:ext cx="225555" cy="149349"/>
              </a:xfrm>
              <a:prstGeom prst="rect">
                <a:avLst/>
              </a:prstGeom>
            </p:spPr>
          </p:pic>
        </mc:Fallback>
      </mc:AlternateContent>
      <p:sp>
        <p:nvSpPr>
          <p:cNvPr id="47" name="Shape 34"/>
          <p:cNvSpPr/>
          <p:nvPr/>
        </p:nvSpPr>
        <p:spPr>
          <a:xfrm>
            <a:off x="8170164" y="4241800"/>
            <a:ext cx="173736" cy="977900"/>
          </a:xfrm>
          <a:prstGeom prst="arc">
            <a:avLst>
              <a:gd name="adj1" fmla="val 16200000"/>
              <a:gd name="adj2" fmla="val 5400000"/>
            </a:avLst>
          </a:prstGeom>
          <a:noFill/>
          <a:ln w="22225">
            <a:solidFill>
              <a:srgbClr val="00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48" name="Equation OMML" descr="="/>
              <p:cNvSpPr txBox="1"/>
              <p:nvPr/>
            </p:nvSpPr>
            <p:spPr>
              <a:xfrm>
                <a:off x="8522208" y="4672072"/>
                <a:ext cx="167637" cy="8839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48" name="Image 11" descr="/home/ahmed/Projects/ai_llm_slides/videos/ml-intro/recreated_pptx/build/omml/slide_026/assets/eq_026_mideq.png">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22208" y="4672072"/>
                <a:ext cx="167637" cy="88395"/>
              </a:xfrm>
              <a:prstGeom prst="rect">
                <a:avLst/>
              </a:prstGeom>
            </p:spPr>
          </p:pic>
        </mc:Fallback>
      </mc:AlternateContent>
      <p:sp>
        <p:nvSpPr>
          <p:cNvPr id="49" name="Shape 35"/>
          <p:cNvSpPr/>
          <p:nvPr/>
        </p:nvSpPr>
        <p:spPr>
          <a:xfrm>
            <a:off x="8915400" y="4241800"/>
            <a:ext cx="173736" cy="977900"/>
          </a:xfrm>
          <a:prstGeom prst="arc">
            <a:avLst>
              <a:gd name="adj1" fmla="val 5400000"/>
              <a:gd name="adj2" fmla="val 16200000"/>
            </a:avLst>
          </a:prstGeom>
          <a:noFill/>
          <a:ln w="22225">
            <a:solidFill>
              <a:srgbClr val="000000"/>
            </a:solidFill>
            <a:prstDash val="solid"/>
          </a:ln>
        </p:spPr>
      </p:sp>
      <p:sp>
        <p:nvSpPr>
          <p:cNvPr id="50" name="Shape 36"/>
          <p:cNvSpPr/>
          <p:nvPr/>
        </p:nvSpPr>
        <p:spPr>
          <a:xfrm>
            <a:off x="9194800" y="4305300"/>
            <a:ext cx="1549400" cy="203200"/>
          </a:xfrm>
          <a:prstGeom prst="roundRect">
            <a:avLst>
              <a:gd name="adj" fmla="val 18000"/>
            </a:avLst>
          </a:prstGeom>
          <a:solidFill>
            <a:srgbClr val="F4E04D"/>
          </a:solidFill>
          <a:ln w="6350">
            <a:solidFill>
              <a:srgbClr val="F4E04D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51" name="Equation OMML" descr="x{}_{11} \ \ldots\ x{}_{1D}"/>
              <p:cNvSpPr txBox="1"/>
              <p:nvPr/>
            </p:nvSpPr>
            <p:spPr>
              <a:xfrm>
                <a:off x="9552188" y="4343908"/>
                <a:ext cx="809244" cy="13868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11</m:t>
                          </m:r>
                        </m:sub>
                      </m:sSub>
                      <m:r>
                        <a:rPr lang="en-US" i="1" smtClean="0" sz="1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 … </m:t>
                      </m:r>
                      <m:sSub>
                        <m:sSubPr>
                          <m:ctrlP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1D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1" name="Image 12" descr="/home/ahmed/Projects/ai_llm_slides/videos/ml-intro/recreated_pptx/build/omml/slide_026/assets/eq_026_row1_13.png">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552188" y="4343908"/>
                <a:ext cx="809244" cy="138687"/>
              </a:xfrm>
              <a:prstGeom prst="rect">
                <a:avLst/>
              </a:prstGeom>
            </p:spPr>
          </p:pic>
        </mc:Fallback>
      </mc:AlternateContent>
      <p:sp>
        <p:nvSpPr>
          <p:cNvPr id="52" name="Shape 37"/>
          <p:cNvSpPr/>
          <p:nvPr/>
        </p:nvSpPr>
        <p:spPr>
          <a:xfrm>
            <a:off x="9194800" y="4533900"/>
            <a:ext cx="1549400" cy="203200"/>
          </a:xfrm>
          <a:prstGeom prst="roundRect">
            <a:avLst>
              <a:gd name="adj" fmla="val 18000"/>
            </a:avLst>
          </a:prstGeom>
          <a:solidFill>
            <a:srgbClr val="7BE8A0"/>
          </a:solidFill>
          <a:ln w="6350">
            <a:solidFill>
              <a:srgbClr val="7BE8A0"/>
            </a:solidFill>
            <a:prstDash val="solid"/>
          </a:ln>
        </p:spPr>
      </p:sp>
      <p:sp>
        <p:nvSpPr>
          <p:cNvPr id="53" name="Shape 38"/>
          <p:cNvSpPr/>
          <p:nvPr/>
        </p:nvSpPr>
        <p:spPr>
          <a:xfrm>
            <a:off x="9194800" y="4762500"/>
            <a:ext cx="1549400" cy="203200"/>
          </a:xfrm>
          <a:prstGeom prst="roundRect">
            <a:avLst>
              <a:gd name="adj" fmla="val 18000"/>
            </a:avLst>
          </a:prstGeom>
          <a:solidFill>
            <a:srgbClr val="E86DE8"/>
          </a:solidFill>
          <a:ln w="6350">
            <a:solidFill>
              <a:srgbClr val="E86DE8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54" name="Equation OMML" descr="\vdots"/>
              <p:cNvSpPr txBox="1"/>
              <p:nvPr/>
            </p:nvSpPr>
            <p:spPr>
              <a:xfrm>
                <a:off x="9951996" y="4945886"/>
                <a:ext cx="35049" cy="11582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9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4" name="Image 13" descr="/home/ahmed/Projects/ai_llm_slides/videos/ml-intro/recreated_pptx/build/omml/slide_026/assets/eq_026_vdots.png">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951996" y="4945886"/>
                <a:ext cx="35049" cy="115827"/>
              </a:xfrm>
              <a:prstGeom prst="rect">
                <a:avLst/>
              </a:prstGeom>
            </p:spPr>
          </p:pic>
        </mc:Fallback>
      </mc:AlternateContent>
      <p:sp>
        <p:nvSpPr>
          <p:cNvPr id="55" name="Shape 39"/>
          <p:cNvSpPr/>
          <p:nvPr/>
        </p:nvSpPr>
        <p:spPr>
          <a:xfrm>
            <a:off x="9194800" y="5029200"/>
            <a:ext cx="1549400" cy="203200"/>
          </a:xfrm>
          <a:prstGeom prst="roundRect">
            <a:avLst>
              <a:gd name="adj" fmla="val 18000"/>
            </a:avLst>
          </a:prstGeom>
          <a:solidFill>
            <a:srgbClr val="5FE8E8"/>
          </a:solidFill>
          <a:ln w="6350">
            <a:solidFill>
              <a:srgbClr val="5FE8E8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56" name="Equation OMML" descr="x{}_{N1} \ \ldots\ x{}_{ND}"/>
              <p:cNvSpPr txBox="1"/>
              <p:nvPr/>
            </p:nvSpPr>
            <p:spPr>
              <a:xfrm>
                <a:off x="9533594" y="5067808"/>
                <a:ext cx="833631" cy="13868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N1</m:t>
                          </m:r>
                        </m:sub>
                      </m:sSub>
                      <m:r>
                        <a:rPr lang="en-US" i="1" smtClean="0" sz="1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 … </m:t>
                      </m:r>
                      <m:sSub>
                        <m:sSubPr>
                          <m:ctrlP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3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ND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6" name="Image 14" descr="/home/ahmed/Projects/ai_llm_slides/videos/ml-intro/recreated_pptx/build/omml/slide_026/assets/eq_026_rowN_13.png">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533594" y="5067808"/>
                <a:ext cx="833631" cy="138687"/>
              </a:xfrm>
              <a:prstGeom prst="rect">
                <a:avLst/>
              </a:prstGeom>
            </p:spPr>
          </p:pic>
        </mc:Fallback>
      </mc:AlternateContent>
      <p:sp>
        <p:nvSpPr>
          <p:cNvPr id="57" name="Shape 40"/>
          <p:cNvSpPr/>
          <p:nvPr/>
        </p:nvSpPr>
        <p:spPr>
          <a:xfrm>
            <a:off x="10786364" y="4241800"/>
            <a:ext cx="173736" cy="977900"/>
          </a:xfrm>
          <a:prstGeom prst="arc">
            <a:avLst>
              <a:gd name="adj1" fmla="val 16200000"/>
              <a:gd name="adj2" fmla="val 5400000"/>
            </a:avLst>
          </a:prstGeom>
          <a:noFill/>
          <a:ln w="22225">
            <a:solidFill>
              <a:srgbClr val="000000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58" name="Equation OMML" descr="\mathbf{Y}\;="/>
              <p:cNvSpPr txBox="1"/>
              <p:nvPr/>
            </p:nvSpPr>
            <p:spPr>
              <a:xfrm>
                <a:off x="7671308" y="5904995"/>
                <a:ext cx="466344" cy="19049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b"/>
                        </m:rPr>
                        <a:rPr lang="en-US" i="0" smtClean="0" sz="1800" b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Y</m:t>
                      </m:r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 =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58" name="Image 15" descr="/home/ahmed/Projects/ai_llm_slides/videos/ml-intro/recreated_pptx/build/omml/slide_026/assets/eq_026_Yeq.png">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671308" y="5904995"/>
                <a:ext cx="466344" cy="190497"/>
              </a:xfrm>
              <a:prstGeom prst="rect">
                <a:avLst/>
              </a:prstGeom>
            </p:spPr>
          </p:pic>
        </mc:Fallback>
      </mc:AlternateContent>
      <p:sp>
        <p:nvSpPr>
          <p:cNvPr id="59" name="Shape 41"/>
          <p:cNvSpPr/>
          <p:nvPr/>
        </p:nvSpPr>
        <p:spPr>
          <a:xfrm>
            <a:off x="8394700" y="5524500"/>
            <a:ext cx="173736" cy="977900"/>
          </a:xfrm>
          <a:prstGeom prst="arc">
            <a:avLst>
              <a:gd name="adj1" fmla="val 5400000"/>
              <a:gd name="adj2" fmla="val 16200000"/>
            </a:avLst>
          </a:prstGeom>
          <a:noFill/>
          <a:ln w="22225">
            <a:solidFill>
              <a:srgbClr val="000000"/>
            </a:solidFill>
            <a:prstDash val="solid"/>
          </a:ln>
        </p:spPr>
      </p:sp>
      <p:sp>
        <p:nvSpPr>
          <p:cNvPr id="60" name="Shape 42"/>
          <p:cNvSpPr/>
          <p:nvPr/>
        </p:nvSpPr>
        <p:spPr>
          <a:xfrm>
            <a:off x="8661400" y="5588000"/>
            <a:ext cx="444500" cy="203200"/>
          </a:xfrm>
          <a:prstGeom prst="roundRect">
            <a:avLst>
              <a:gd name="adj" fmla="val 18000"/>
            </a:avLst>
          </a:prstGeom>
          <a:solidFill>
            <a:srgbClr val="F4E04D"/>
          </a:solidFill>
          <a:ln w="6350">
            <a:solidFill>
              <a:srgbClr val="F4E04D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61" name="Equation OMML" descr="y{}_1"/>
              <p:cNvSpPr txBox="1"/>
              <p:nvPr/>
            </p:nvSpPr>
            <p:spPr>
              <a:xfrm>
                <a:off x="8775922" y="5613908"/>
                <a:ext cx="202695" cy="15849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1" name="Image 16" descr="/home/ahmed/Projects/ai_llm_slides/videos/ml-intro/recreated_pptx/build/omml/slide_026/assets/eq_026_y1_14.png">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75922" y="5613908"/>
                <a:ext cx="202695" cy="158493"/>
              </a:xfrm>
              <a:prstGeom prst="rect">
                <a:avLst/>
              </a:prstGeom>
            </p:spPr>
          </p:pic>
        </mc:Fallback>
      </mc:AlternateContent>
      <p:sp>
        <p:nvSpPr>
          <p:cNvPr id="62" name="Shape 43"/>
          <p:cNvSpPr/>
          <p:nvPr/>
        </p:nvSpPr>
        <p:spPr>
          <a:xfrm>
            <a:off x="8661400" y="5816600"/>
            <a:ext cx="444500" cy="203200"/>
          </a:xfrm>
          <a:prstGeom prst="roundRect">
            <a:avLst>
              <a:gd name="adj" fmla="val 18000"/>
            </a:avLst>
          </a:prstGeom>
          <a:solidFill>
            <a:srgbClr val="7BE8A0"/>
          </a:solidFill>
          <a:ln w="6350">
            <a:solidFill>
              <a:srgbClr val="7BE8A0"/>
            </a:solidFill>
            <a:prstDash val="solid"/>
          </a:ln>
        </p:spPr>
      </p:sp>
      <p:sp>
        <p:nvSpPr>
          <p:cNvPr id="63" name="Shape 44"/>
          <p:cNvSpPr/>
          <p:nvPr/>
        </p:nvSpPr>
        <p:spPr>
          <a:xfrm>
            <a:off x="8661400" y="6045200"/>
            <a:ext cx="444500" cy="203200"/>
          </a:xfrm>
          <a:prstGeom prst="roundRect">
            <a:avLst>
              <a:gd name="adj" fmla="val 18000"/>
            </a:avLst>
          </a:prstGeom>
          <a:solidFill>
            <a:srgbClr val="E86DE8"/>
          </a:solidFill>
          <a:ln w="6350">
            <a:solidFill>
              <a:srgbClr val="E86DE8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64" name="Equation OMML" descr="\vdots"/>
              <p:cNvSpPr txBox="1"/>
              <p:nvPr/>
            </p:nvSpPr>
            <p:spPr>
              <a:xfrm>
                <a:off x="8897876" y="6228586"/>
                <a:ext cx="35049" cy="11582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9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4" name="Image 17" descr="/home/ahmed/Projects/ai_llm_slides/videos/ml-intro/recreated_pptx/build/omml/slide_026/assets/eq_026_vdots.png">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97876" y="6228586"/>
                <a:ext cx="35049" cy="115827"/>
              </a:xfrm>
              <a:prstGeom prst="rect">
                <a:avLst/>
              </a:prstGeom>
            </p:spPr>
          </p:pic>
        </mc:Fallback>
      </mc:AlternateContent>
      <p:sp>
        <p:nvSpPr>
          <p:cNvPr id="65" name="Shape 45"/>
          <p:cNvSpPr/>
          <p:nvPr/>
        </p:nvSpPr>
        <p:spPr>
          <a:xfrm>
            <a:off x="8661400" y="6311900"/>
            <a:ext cx="444500" cy="203200"/>
          </a:xfrm>
          <a:prstGeom prst="roundRect">
            <a:avLst>
              <a:gd name="adj" fmla="val 18000"/>
            </a:avLst>
          </a:prstGeom>
          <a:solidFill>
            <a:srgbClr val="5FE8E8"/>
          </a:solidFill>
          <a:ln w="6350">
            <a:solidFill>
              <a:srgbClr val="5FE8E8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66" name="Equation OMML" descr="y{}_N"/>
              <p:cNvSpPr txBox="1"/>
              <p:nvPr/>
            </p:nvSpPr>
            <p:spPr>
              <a:xfrm>
                <a:off x="8770893" y="6337808"/>
                <a:ext cx="225555" cy="158493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y</m:t>
                          </m:r>
                        </m:e>
                        <m:sub>
                          <m:r>
                            <a:rPr lang="en-US" i="1" smtClean="0" sz="1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66" name="Image 18" descr="/home/ahmed/Projects/ai_llm_slides/videos/ml-intro/recreated_pptx/build/omml/slide_026/assets/eq_026_yN_14.png">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70893" y="6337808"/>
                <a:ext cx="225555" cy="158493"/>
              </a:xfrm>
              <a:prstGeom prst="rect">
                <a:avLst/>
              </a:prstGeom>
            </p:spPr>
          </p:pic>
        </mc:Fallback>
      </mc:AlternateContent>
      <p:sp>
        <p:nvSpPr>
          <p:cNvPr id="67" name="Shape 46"/>
          <p:cNvSpPr/>
          <p:nvPr/>
        </p:nvSpPr>
        <p:spPr>
          <a:xfrm>
            <a:off x="9211564" y="5524500"/>
            <a:ext cx="173736" cy="977900"/>
          </a:xfrm>
          <a:prstGeom prst="arc">
            <a:avLst>
              <a:gd name="adj1" fmla="val 16200000"/>
              <a:gd name="adj2" fmla="val 5400000"/>
            </a:avLst>
          </a:prstGeom>
          <a:noFill/>
          <a:ln w="22225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AA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Non-Numeric</a:t>
            </a:r>
            <a:endParaRPr lang="en-US" sz="3500" dirty="0"/>
          </a:p>
          <a:p>
            <a:pPr algn="ctr" indent="0" marL="0">
              <a:buNone/>
            </a:pPr>
            <a:r>
              <a:rPr lang="en-US" sz="3500" b="1" dirty="0">
                <a:solidFill>
                  <a:srgbClr val="AA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Representation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886968" y="1856232"/>
            <a:ext cx="10259568" cy="2871216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15875">
            <a:solidFill>
              <a:srgbClr val="AA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2728" y="2098548"/>
            <a:ext cx="128016" cy="12801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20116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the data has a non-numeric representation (e.g. Tennis Playing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600200" y="239572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example)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1252728" y="2912364"/>
            <a:ext cx="128016" cy="12801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285292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are nominal (Low/High, Yes/No, Overcast/Rainy/Sunny, etc.)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1252728" y="3406140"/>
            <a:ext cx="128016" cy="12801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3346704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with only 2 possible values can be represented as 0/1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1252728" y="3909060"/>
            <a:ext cx="128016" cy="12801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3849624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about features having more than 2 possible values?</a:t>
            </a:r>
            <a:endParaRPr lang="en-US" sz="2300" dirty="0"/>
          </a:p>
        </p:txBody>
      </p:sp>
      <p:sp>
        <p:nvSpPr>
          <p:cNvPr id="16" name="Shape 14"/>
          <p:cNvSpPr/>
          <p:nvPr/>
        </p:nvSpPr>
        <p:spPr>
          <a:xfrm>
            <a:off x="1252728" y="4411980"/>
            <a:ext cx="128016" cy="12801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1600200" y="434340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we just</a:t>
            </a:r>
            <a:pPr algn="l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buNone/>
            </a:pPr>
            <a:r>
              <a:rPr lang="en-US" sz="23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Sunny to 0, Overcast to 1, Rainy to 2?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1362456" y="5029200"/>
            <a:ext cx="1746504" cy="1655064"/>
          </a:xfrm>
          <a:prstGeom prst="rect">
            <a:avLst/>
          </a:prstGeom>
          <a:solidFill>
            <a:srgbClr val="FFFFCC"/>
          </a:solidFill>
          <a:ln w="6350">
            <a:solidFill>
              <a:srgbClr val="FFFF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26464" y="502005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93392" y="502005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26464" y="531266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93392" y="53126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26464" y="58064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993392" y="580644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26464" y="608990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93392" y="608990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26464" y="63733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93392" y="637336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Humidity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43984" y="4928616"/>
            <a:ext cx="411480" cy="170078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55464" y="4928616"/>
            <a:ext cx="740664" cy="1700784"/>
          </a:xfrm>
          <a:prstGeom prst="rect">
            <a:avLst/>
          </a:prstGeom>
          <a:solidFill>
            <a:srgbClr val="FF99CC"/>
          </a:solidFill>
          <a:ln w="3175">
            <a:solidFill>
              <a:srgbClr val="FF99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51576" y="4928616"/>
            <a:ext cx="420624" cy="1700784"/>
          </a:xfrm>
          <a:prstGeom prst="rect">
            <a:avLst/>
          </a:prstGeom>
          <a:solidFill>
            <a:srgbClr val="FFCC99"/>
          </a:solidFill>
          <a:ln w="3175">
            <a:solidFill>
              <a:srgbClr val="FFCC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2784" y="4928616"/>
            <a:ext cx="329184" cy="1700784"/>
          </a:xfrm>
          <a:prstGeom prst="rect">
            <a:avLst/>
          </a:prstGeom>
          <a:solidFill>
            <a:srgbClr val="99FF99"/>
          </a:solidFill>
          <a:ln w="3175">
            <a:solidFill>
              <a:srgbClr val="99FF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43984" y="494690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55464" y="4946904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51576" y="494690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72784" y="494690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43984" y="51389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55464" y="5138928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Sunny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751576" y="513892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72784" y="513892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443984" y="5330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55464" y="5330952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Sunny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751576" y="533095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72784" y="533095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443984" y="55229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55464" y="5522976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Sunny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751576" y="552297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72784" y="552297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443984" y="57150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55464" y="5715000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Overcast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751576" y="571500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272784" y="571500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443984" y="590702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55464" y="5907024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Overcast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751576" y="590702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272784" y="590702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443984" y="608990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855464" y="6089904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Overcast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751576" y="608990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272784" y="608990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443984" y="62819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855464" y="6281928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Rainy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751576" y="628192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272784" y="628192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443984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4855464" y="6473952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Rainy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751576" y="647395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272784" y="647395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931152" y="5669280"/>
            <a:ext cx="365760" cy="219456"/>
          </a:xfrm>
          <a:prstGeom prst="rightArrow">
            <a:avLst/>
          </a:prstGeom>
          <a:solidFill>
            <a:srgbClr val="E8E8E8"/>
          </a:solidFill>
          <a:ln w="15875">
            <a:solidFill>
              <a:srgbClr val="CC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44968" y="4928616"/>
            <a:ext cx="429768" cy="1700784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174736" y="4928616"/>
            <a:ext cx="347472" cy="1700784"/>
          </a:xfrm>
          <a:prstGeom prst="rect">
            <a:avLst/>
          </a:prstGeom>
          <a:solidFill>
            <a:srgbClr val="FF99CC"/>
          </a:solidFill>
          <a:ln w="3175">
            <a:solidFill>
              <a:srgbClr val="FF99C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622792" y="4928616"/>
            <a:ext cx="192024" cy="1700784"/>
          </a:xfrm>
          <a:prstGeom prst="rect">
            <a:avLst/>
          </a:prstGeom>
          <a:solidFill>
            <a:srgbClr val="FFCC99"/>
          </a:solidFill>
          <a:ln w="3175">
            <a:solidFill>
              <a:srgbClr val="FFCC9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814816" y="4928616"/>
            <a:ext cx="320040" cy="1700784"/>
          </a:xfrm>
          <a:prstGeom prst="rect">
            <a:avLst/>
          </a:prstGeom>
          <a:solidFill>
            <a:srgbClr val="99FF99"/>
          </a:solidFill>
          <a:ln w="3175">
            <a:solidFill>
              <a:srgbClr val="99FF9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744968" y="4946904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8174736" y="49469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8622792" y="4946904"/>
            <a:ext cx="192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8814816" y="49469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7744968" y="513892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8174736" y="513892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8622792" y="5138928"/>
            <a:ext cx="192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8814816" y="51389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7744968" y="5330952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8174736" y="53309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8622792" y="5330952"/>
            <a:ext cx="192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8814816" y="5330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7744968" y="5522976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8174736" y="552297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8622792" y="5522976"/>
            <a:ext cx="192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8814816" y="55229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7744968" y="5715000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8174736" y="571500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8622792" y="5715000"/>
            <a:ext cx="192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8814816" y="571500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7744968" y="5907024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8174736" y="590702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8622792" y="5907024"/>
            <a:ext cx="192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8814816" y="590702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7744968" y="6089904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8174736" y="60899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8622792" y="6089904"/>
            <a:ext cx="192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8814816" y="608990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7744968" y="6281928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8174736" y="628192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8622792" y="6281928"/>
            <a:ext cx="192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8814816" y="62819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7744968" y="6473952"/>
            <a:ext cx="429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8174736" y="64739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8622792" y="6473952"/>
            <a:ext cx="192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8814816" y="64739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146304"/>
            <a:ext cx="11896344" cy="1444752"/>
          </a:xfrm>
          <a:prstGeom prst="rect">
            <a:avLst/>
          </a:prstGeom>
          <a:solidFill>
            <a:srgbClr val="DDDDDD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Representation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22376" y="1591056"/>
            <a:ext cx="10735056" cy="5047488"/>
          </a:xfrm>
          <a:prstGeom prst="rect">
            <a:avLst/>
          </a:prstGeom>
          <a:solidFill>
            <a:srgbClr val="FFFFFF"/>
          </a:solidFill>
          <a:ln w="28575">
            <a:solidFill>
              <a:srgbClr val="CC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80744" y="1783080"/>
            <a:ext cx="128016" cy="12801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1728216" y="167335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Well, we could map Sunny to 0, Overcast to 1, Rainy to 2..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380744" y="2286000"/>
            <a:ext cx="128016" cy="12801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728216" y="2167128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such a mapping may not always be appropriate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327148" y="2729484"/>
            <a:ext cx="100584" cy="10058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2642616" y="260604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color being a feature in some data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327148" y="3140964"/>
            <a:ext cx="100584" cy="10058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2642616" y="3026664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code 3 possible colors as </a:t>
            </a:r>
            <a:pPr indent="0" marL="0">
              <a:buNone/>
            </a:pPr>
            <a:r>
              <a:rPr lang="en-US" sz="20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Red=0,</a:t>
            </a:r>
            <a:pPr indent="0" marL="0">
              <a:buNone/>
            </a:pPr>
            <a:r>
              <a:rPr lang="en-US" sz="2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Blue=1,</a:t>
            </a:r>
            <a:pPr indent="0" marL="0">
              <a:buNone/>
            </a:pPr>
            <a:r>
              <a:rPr lang="en-US" sz="2000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Green=2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327148" y="3552444"/>
            <a:ext cx="100584" cy="10058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2642616" y="3438144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implies Red is more similar to Blue than to Green !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380744" y="4023360"/>
            <a:ext cx="128016" cy="12801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1728216" y="391363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a feature with K &gt; 2 possible values, we usually </a:t>
            </a:r>
            <a:pPr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K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728216" y="416052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features, one for each possible value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133856" y="4800600"/>
            <a:ext cx="2514600" cy="1527048"/>
          </a:xfrm>
          <a:prstGeom prst="rect">
            <a:avLst/>
          </a:prstGeom>
          <a:solidFill>
            <a:srgbClr val="FFFFCC"/>
          </a:solidFill>
          <a:ln w="6350">
            <a:solidFill>
              <a:srgbClr val="FFFF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48188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34440" y="50200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29968" y="50200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34440" y="54498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34440" y="5650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29968" y="5650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Sunny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34440" y="58795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29968" y="58795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Overcast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34440" y="60899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029968" y="608990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Rainy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3048" y="4727448"/>
          <a:ext cx="2441448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859536"/>
                <a:gridCol w="612648"/>
                <a:gridCol w="512064"/>
              </a:tblGrid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Overcast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Overcast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Overcast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</a:tbl>
          </a:graphicData>
        </a:graphic>
      </p:graphicFrame>
      <p:sp>
        <p:nvSpPr>
          <p:cNvPr id="33" name="Shape 30"/>
          <p:cNvSpPr/>
          <p:nvPr/>
        </p:nvSpPr>
        <p:spPr>
          <a:xfrm>
            <a:off x="6501384" y="5468112"/>
            <a:ext cx="420624" cy="146304"/>
          </a:xfrm>
          <a:prstGeom prst="rightArrow">
            <a:avLst/>
          </a:prstGeom>
          <a:solidFill>
            <a:srgbClr val="CC0000"/>
          </a:solidFill>
          <a:ln w="6350">
            <a:solidFill>
              <a:srgbClr val="CC0000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13448" y="4727448"/>
          <a:ext cx="2157984" cy="914400"/>
        </p:xfrm>
        <a:graphic>
          <a:graphicData uri="http://schemas.openxmlformats.org/drawingml/2006/table">
            <a:tbl>
              <a:tblPr/>
              <a:tblGrid>
                <a:gridCol w="329184"/>
                <a:gridCol w="402336"/>
                <a:gridCol w="384048"/>
                <a:gridCol w="429768"/>
                <a:gridCol w="329184"/>
                <a:gridCol w="283464"/>
              </a:tblGrid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R?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  <a:tr h="195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9FF99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7328916" y="4736592"/>
            <a:ext cx="18288" cy="1737360"/>
          </a:xfrm>
          <a:prstGeom prst="rect">
            <a:avLst/>
          </a:prstGeom>
          <a:solidFill>
            <a:srgbClr val="A6A6A6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" y="1316736"/>
            <a:ext cx="10378440" cy="4828032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11091672" cy="6702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900"/>
              </a:lnSpc>
              <a:buNone/>
            </a:pPr>
            <a:r>
              <a:rPr lang="en-US" sz="5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</a:t>
            </a:r>
            <a:endParaRPr lang="en-US" sz="5100" dirty="0"/>
          </a:p>
          <a:p>
            <a:pPr algn="ctr" indent="0" marL="0">
              <a:lnSpc>
                <a:spcPts val="8900"/>
              </a:lnSpc>
              <a:buNone/>
            </a:pPr>
            <a:r>
              <a:rPr lang="en-US" sz="5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5100" dirty="0"/>
          </a:p>
          <a:p>
            <a:pPr algn="ctr" indent="0" marL="0">
              <a:lnSpc>
                <a:spcPts val="8900"/>
              </a:lnSpc>
              <a:buNone/>
            </a:pPr>
            <a:r>
              <a:rPr lang="en-US" sz="5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Process</a:t>
            </a:r>
            <a:endParaRPr lang="en-US" sz="5100" dirty="0"/>
          </a:p>
        </p:txBody>
      </p:sp>
      <p:sp>
        <p:nvSpPr>
          <p:cNvPr id="5" name="Shape 3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ML </a:t>
            </a:r>
            <a:pPr algn="ctr" indent="0" marL="0">
              <a:buNone/>
            </a:pPr>
            <a:r>
              <a:rPr lang="en-US" sz="3000" b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77824" y="1298448"/>
            <a:ext cx="10497312" cy="4864608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856232"/>
            <a:ext cx="1636776" cy="694944"/>
          </a:xfrm>
          <a:prstGeom prst="ellipse">
            <a:avLst/>
          </a:prstGeom>
          <a:solidFill>
            <a:srgbClr val="F5E0C8"/>
          </a:solidFill>
          <a:ln w="9525">
            <a:solidFill>
              <a:srgbClr val="B4B4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56232"/>
            <a:ext cx="16367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71016" y="2578608"/>
            <a:ext cx="566928" cy="530352"/>
          </a:xfrm>
          <a:prstGeom prst="curvedConnector2">
            <a:avLst/>
          </a:prstGeom>
          <a:ln w="2540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83664" y="2743200"/>
            <a:ext cx="1271016" cy="740664"/>
          </a:xfrm>
          <a:prstGeom prst="rect">
            <a:avLst/>
          </a:prstGeom>
          <a:solidFill>
            <a:srgbClr val="FFFDE7"/>
          </a:solidFill>
          <a:ln w="12700">
            <a:solidFill>
              <a:srgbClr val="5F56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83664" y="2743200"/>
            <a:ext cx="127101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94176" y="2779776"/>
            <a:ext cx="1691640" cy="694944"/>
          </a:xfrm>
          <a:prstGeom prst="rect">
            <a:avLst/>
          </a:prstGeom>
          <a:solidFill>
            <a:srgbClr val="D6E4F0"/>
          </a:solidFill>
          <a:ln w="12700">
            <a:solidFill>
              <a:srgbClr val="555C9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2779776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0136" y="2798064"/>
            <a:ext cx="1399032" cy="676656"/>
          </a:xfrm>
          <a:prstGeom prst="rect">
            <a:avLst/>
          </a:prstGeom>
          <a:solidFill>
            <a:srgbClr val="D9EAD3"/>
          </a:solidFill>
          <a:ln w="12700">
            <a:solidFill>
              <a:srgbClr val="74A5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0136" y="2798064"/>
            <a:ext cx="1399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Selection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70648" y="2752344"/>
            <a:ext cx="1673352" cy="749808"/>
          </a:xfrm>
          <a:prstGeom prst="rect">
            <a:avLst/>
          </a:prstGeom>
          <a:solidFill>
            <a:srgbClr val="B30000"/>
          </a:solidFill>
          <a:ln w="12700">
            <a:solidFill>
              <a:srgbClr val="7A000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0648" y="2752344"/>
            <a:ext cx="16733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546336" y="2807208"/>
            <a:ext cx="1344168" cy="649224"/>
          </a:xfrm>
          <a:prstGeom prst="rect">
            <a:avLst/>
          </a:prstGeom>
          <a:solidFill>
            <a:srgbClr val="E6CCFF"/>
          </a:solidFill>
          <a:ln w="12700">
            <a:solidFill>
              <a:srgbClr val="8D42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46336" y="2807208"/>
            <a:ext cx="13441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154680" y="3127248"/>
            <a:ext cx="539496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385816" y="3127248"/>
            <a:ext cx="274320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059168" y="3127248"/>
            <a:ext cx="411480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44000" y="3127248"/>
            <a:ext cx="402336" cy="0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063240" y="3849624"/>
            <a:ext cx="1106424" cy="521208"/>
          </a:xfrm>
          <a:prstGeom prst="roundRect">
            <a:avLst>
              <a:gd name="adj" fmla="val 14035"/>
            </a:avLst>
          </a:prstGeom>
          <a:solidFill>
            <a:srgbClr val="E8E8E8"/>
          </a:solidFill>
          <a:ln/>
        </p:spPr>
      </p:sp>
      <p:sp>
        <p:nvSpPr>
          <p:cNvPr id="25" name="Text 23"/>
          <p:cNvSpPr/>
          <p:nvPr/>
        </p:nvSpPr>
        <p:spPr>
          <a:xfrm>
            <a:off x="3063240" y="3849624"/>
            <a:ext cx="11064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Data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01184" y="3849624"/>
            <a:ext cx="1106424" cy="521208"/>
          </a:xfrm>
          <a:prstGeom prst="roundRect">
            <a:avLst>
              <a:gd name="adj" fmla="val 14035"/>
            </a:avLst>
          </a:prstGeom>
          <a:solidFill>
            <a:srgbClr val="E8E8E8"/>
          </a:solidFill>
          <a:ln/>
        </p:spPr>
      </p:sp>
      <p:sp>
        <p:nvSpPr>
          <p:cNvPr id="27" name="Text 25"/>
          <p:cNvSpPr/>
          <p:nvPr/>
        </p:nvSpPr>
        <p:spPr>
          <a:xfrm>
            <a:off x="4901184" y="3849624"/>
            <a:ext cx="11064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21424" y="3849624"/>
            <a:ext cx="1106424" cy="521208"/>
          </a:xfrm>
          <a:prstGeom prst="roundRect">
            <a:avLst>
              <a:gd name="adj" fmla="val 14035"/>
            </a:avLst>
          </a:prstGeom>
          <a:solidFill>
            <a:srgbClr val="E8E8E8"/>
          </a:solidFill>
          <a:ln/>
        </p:spPr>
      </p:sp>
      <p:sp>
        <p:nvSpPr>
          <p:cNvPr id="29" name="Text 27"/>
          <p:cNvSpPr/>
          <p:nvPr/>
        </p:nvSpPr>
        <p:spPr>
          <a:xfrm>
            <a:off x="6821424" y="3849624"/>
            <a:ext cx="11064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Features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814816" y="3849624"/>
            <a:ext cx="1106424" cy="521208"/>
          </a:xfrm>
          <a:prstGeom prst="roundRect">
            <a:avLst>
              <a:gd name="adj" fmla="val 14035"/>
            </a:avLst>
          </a:prstGeom>
          <a:solidFill>
            <a:srgbClr val="E8E8E8"/>
          </a:solidFill>
          <a:ln/>
        </p:spPr>
      </p:sp>
      <p:sp>
        <p:nvSpPr>
          <p:cNvPr id="31" name="Text 29"/>
          <p:cNvSpPr/>
          <p:nvPr/>
        </p:nvSpPr>
        <p:spPr>
          <a:xfrm>
            <a:off x="8814816" y="3849624"/>
            <a:ext cx="11064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Class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113264" y="4114800"/>
            <a:ext cx="1170432" cy="521208"/>
          </a:xfrm>
          <a:prstGeom prst="ellipse">
            <a:avLst/>
          </a:prstGeom>
          <a:solidFill>
            <a:srgbClr val="FFFF66"/>
          </a:solidFill>
          <a:ln/>
        </p:spPr>
      </p:sp>
      <p:sp>
        <p:nvSpPr>
          <p:cNvPr id="33" name="Text 31"/>
          <p:cNvSpPr/>
          <p:nvPr/>
        </p:nvSpPr>
        <p:spPr>
          <a:xfrm>
            <a:off x="10113264" y="4114800"/>
            <a:ext cx="11704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Result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671048" y="3456432"/>
            <a:ext cx="18288" cy="621792"/>
          </a:xfrm>
          <a:prstGeom prst="line">
            <a:avLst/>
          </a:prstGeom>
          <a:noFill/>
          <a:ln w="25400">
            <a:solidFill>
              <a:srgbClr val="CC000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" y="1581912"/>
            <a:ext cx="10488168" cy="50749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91456" y="274320"/>
            <a:ext cx="2606040" cy="658368"/>
          </a:xfrm>
          <a:prstGeom prst="rect">
            <a:avLst/>
          </a:prstGeom>
          <a:solidFill>
            <a:srgbClr val="FFFFCC"/>
          </a:solidFill>
          <a:ln w="15875">
            <a:solidFill>
              <a:srgbClr val="7030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 processing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234440" y="18105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is</a:t>
            </a:r>
            <a:pPr algn="l" indent="0" marL="0">
              <a:buNone/>
            </a:pPr>
            <a:r>
              <a:rPr lang="en-US" sz="20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Problem dependent and data dependent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331720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may include: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34440" y="2670048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filling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99008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Thinning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28269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Contour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57530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Binarization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386791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Noise Removal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16052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Color to Gray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445312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Opening touched points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4745736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Resizing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038344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Normalization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53309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......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135" y="1577340"/>
            <a:ext cx="10482682" cy="50749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65676" y="256032"/>
            <a:ext cx="3657600" cy="822960"/>
          </a:xfrm>
          <a:prstGeom prst="rect">
            <a:avLst/>
          </a:prstGeom>
          <a:solidFill>
            <a:srgbClr val="CFE8E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965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Types are is</a:t>
            </a:r>
            <a:pPr algn="l" indent="0" marL="0">
              <a:buNone/>
            </a:pPr>
            <a:r>
              <a:rPr lang="en-US" sz="200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Problem dependent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25603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may include: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306324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Center of Gravity location,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341071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Aspect Ratio,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3758184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Length and Width,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91640" y="4105656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Number of intersections,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91640" y="445312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Moments,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91640" y="480060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Geometrical Features ,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91640" y="514807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Colors,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5495544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Transformations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91640" y="5843016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.........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0392" y="1371600"/>
            <a:ext cx="10488168" cy="5138928"/>
          </a:xfrm>
          <a:prstGeom prst="rect">
            <a:avLst/>
          </a:prstGeom>
          <a:solidFill>
            <a:srgbClr val="FFFFFF"/>
          </a:solidFill>
          <a:ln w="25400">
            <a:solidFill>
              <a:srgbClr val="CC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95928" y="256032"/>
            <a:ext cx="4206240" cy="685800"/>
          </a:xfrm>
          <a:prstGeom prst="rect">
            <a:avLst/>
          </a:prstGeom>
          <a:solidFill>
            <a:srgbClr val="CCE5FF"/>
          </a:solidFill>
          <a:ln w="15875">
            <a:solidFill>
              <a:srgbClr val="000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Invariants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34440" y="16459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Invariants are</a:t>
            </a:r>
            <a:pPr algn="l" indent="0" marL="0">
              <a:buNone/>
            </a:pPr>
            <a:r>
              <a:rPr lang="en-US" sz="200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Problem dependent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23774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Rotation Invariant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28163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Scaling Invariant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325526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Translation invariant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36941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Mirroring Invariant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10543032" cy="4937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18745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Techniques are based on Data separability nature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468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separability point of view </a:t>
            </a:r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can be classified into</a:t>
            </a:r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32918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00200" y="3291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Linearly Separable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74920" y="3310128"/>
            <a:ext cx="1554480" cy="347472"/>
          </a:xfrm>
          <a:prstGeom prst="rightArrow">
            <a:avLst/>
          </a:prstGeom>
          <a:solidFill>
            <a:srgbClr val="CC0000"/>
          </a:solidFill>
          <a:ln w="9525">
            <a:solidFill>
              <a:srgbClr val="C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32918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 Linear classifier)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42062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4206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Non-Linearly Separable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74920" y="4224528"/>
            <a:ext cx="1554480" cy="347472"/>
          </a:xfrm>
          <a:prstGeom prst="rightArrow">
            <a:avLst/>
          </a:prstGeom>
          <a:solidFill>
            <a:srgbClr val="CC0000"/>
          </a:solidFill>
          <a:ln w="9525">
            <a:solidFill>
              <a:srgbClr val="CC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4206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 Non-Linear classifier)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51206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00200" y="5120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Non-Separable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74920" y="5138928"/>
            <a:ext cx="1554480" cy="347472"/>
          </a:xfrm>
          <a:prstGeom prst="rightArrow">
            <a:avLst/>
          </a:prstGeom>
          <a:solidFill>
            <a:srgbClr val="CC0000"/>
          </a:solidFill>
          <a:ln w="9525">
            <a:solidFill>
              <a:srgbClr val="CC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5120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 Kernels with Classifiers)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Linearly separable vs. Not linearly separable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194560" y="822960"/>
            <a:ext cx="69494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822960"/>
            <a:ext cx="914" cy="260604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8961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Linearly separable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31720" y="11612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linear decision boundary that separates the two classes exists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1664208"/>
            <a:ext cx="914" cy="141732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3081528"/>
            <a:ext cx="2377440" cy="914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61848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02352" y="298094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086557" y="1979676"/>
            <a:ext cx="77724" cy="7772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3371850" y="1837944"/>
            <a:ext cx="77724" cy="7772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2991460" y="2263140"/>
            <a:ext cx="77724" cy="7772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3419399" y="2163928"/>
            <a:ext cx="77724" cy="7772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655" y="2504084"/>
            <a:ext cx="77724" cy="7772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3514496" y="2404872"/>
            <a:ext cx="77724" cy="7772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3300527" y="2730856"/>
            <a:ext cx="77724" cy="77724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4223156" y="2017624"/>
            <a:ext cx="86868" cy="86868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22" name="Shape 20"/>
          <p:cNvSpPr/>
          <p:nvPr/>
        </p:nvSpPr>
        <p:spPr>
          <a:xfrm>
            <a:off x="4532224" y="1847545"/>
            <a:ext cx="86868" cy="86868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23" name="Shape 21"/>
          <p:cNvSpPr/>
          <p:nvPr/>
        </p:nvSpPr>
        <p:spPr>
          <a:xfrm>
            <a:off x="4342028" y="2329434"/>
            <a:ext cx="86868" cy="86868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24" name="Shape 22"/>
          <p:cNvSpPr/>
          <p:nvPr/>
        </p:nvSpPr>
        <p:spPr>
          <a:xfrm>
            <a:off x="4651096" y="2187702"/>
            <a:ext cx="86868" cy="86868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25" name="Shape 23"/>
          <p:cNvSpPr/>
          <p:nvPr/>
        </p:nvSpPr>
        <p:spPr>
          <a:xfrm>
            <a:off x="4151833" y="2584552"/>
            <a:ext cx="86868" cy="86868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26" name="Shape 24"/>
          <p:cNvSpPr/>
          <p:nvPr/>
        </p:nvSpPr>
        <p:spPr>
          <a:xfrm>
            <a:off x="4484675" y="2726284"/>
            <a:ext cx="86868" cy="86868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27" name="Shape 25"/>
          <p:cNvSpPr/>
          <p:nvPr/>
        </p:nvSpPr>
        <p:spPr>
          <a:xfrm>
            <a:off x="4722419" y="2442820"/>
            <a:ext cx="86868" cy="86868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28" name="Shape 26"/>
          <p:cNvSpPr/>
          <p:nvPr/>
        </p:nvSpPr>
        <p:spPr>
          <a:xfrm flipV="1">
            <a:off x="3886200" y="1735074"/>
            <a:ext cx="71323" cy="1275588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05072" y="2854757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boundary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760720" y="8961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linearly separable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806440" y="11612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linear decision boundary that separates the two classes perfectly exists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70448" y="1737360"/>
            <a:ext cx="914" cy="135331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70448" y="3090672"/>
            <a:ext cx="1371600" cy="91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14416" y="169164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x2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260336" y="299923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137910" y="2081997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6302502" y="1946666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8" name="Shape 36"/>
          <p:cNvSpPr/>
          <p:nvPr/>
        </p:nvSpPr>
        <p:spPr>
          <a:xfrm>
            <a:off x="6439662" y="2109064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6247638" y="2406792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6549390" y="2487991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6055614" y="2596256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25362" y="2239823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43" name="Shape 41"/>
          <p:cNvSpPr/>
          <p:nvPr/>
        </p:nvSpPr>
        <p:spPr>
          <a:xfrm>
            <a:off x="6599682" y="1887962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44" name="Shape 42"/>
          <p:cNvSpPr/>
          <p:nvPr/>
        </p:nvSpPr>
        <p:spPr>
          <a:xfrm>
            <a:off x="6764274" y="2293955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45" name="Shape 43"/>
          <p:cNvSpPr/>
          <p:nvPr/>
        </p:nvSpPr>
        <p:spPr>
          <a:xfrm>
            <a:off x="6462522" y="2699949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46" name="Shape 44"/>
          <p:cNvSpPr/>
          <p:nvPr/>
        </p:nvSpPr>
        <p:spPr>
          <a:xfrm>
            <a:off x="6023610" y="2293955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47" name="Shape 45"/>
          <p:cNvSpPr/>
          <p:nvPr/>
        </p:nvSpPr>
        <p:spPr>
          <a:xfrm>
            <a:off x="6736842" y="2618750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48" name="Shape 46"/>
          <p:cNvSpPr/>
          <p:nvPr/>
        </p:nvSpPr>
        <p:spPr>
          <a:xfrm>
            <a:off x="6901434" y="2050359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49" name="Shape 47"/>
          <p:cNvSpPr/>
          <p:nvPr/>
        </p:nvSpPr>
        <p:spPr>
          <a:xfrm flipV="1">
            <a:off x="5980176" y="1845625"/>
            <a:ext cx="1152144" cy="1136782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44768" y="1980956"/>
            <a:ext cx="713232" cy="676656"/>
          </a:xfrm>
          <a:prstGeom prst="ellipse">
            <a:avLst/>
          </a:prstGeom>
          <a:ln w="9525">
            <a:solidFill>
              <a:srgbClr val="000000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 flipH="1" flipV="1">
            <a:off x="5952744" y="2251619"/>
            <a:ext cx="54864" cy="230063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 flipV="1">
            <a:off x="5952744" y="2035089"/>
            <a:ext cx="54864" cy="21653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 flipV="1">
            <a:off x="6007608" y="1899757"/>
            <a:ext cx="164592" cy="135331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 flipV="1">
            <a:off x="6172200" y="1845625"/>
            <a:ext cx="192024" cy="54132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6364224" y="1845625"/>
            <a:ext cx="164592" cy="54132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6126480" y="15727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Nonlinear boundary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479792" y="1737360"/>
            <a:ext cx="914" cy="135331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79792" y="3090672"/>
            <a:ext cx="1371600" cy="914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23760" y="169164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x2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8869680" y="299923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578090" y="1860895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62" name="Shape 60"/>
          <p:cNvSpPr/>
          <p:nvPr/>
        </p:nvSpPr>
        <p:spPr>
          <a:xfrm>
            <a:off x="8620506" y="1915028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63" name="Shape 61"/>
          <p:cNvSpPr/>
          <p:nvPr/>
        </p:nvSpPr>
        <p:spPr>
          <a:xfrm>
            <a:off x="7632954" y="2835280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64" name="Shape 62"/>
          <p:cNvSpPr/>
          <p:nvPr/>
        </p:nvSpPr>
        <p:spPr>
          <a:xfrm>
            <a:off x="8647938" y="2754081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65" name="Shape 63"/>
          <p:cNvSpPr/>
          <p:nvPr/>
        </p:nvSpPr>
        <p:spPr>
          <a:xfrm>
            <a:off x="8126730" y="1793230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66" name="Shape 64"/>
          <p:cNvSpPr/>
          <p:nvPr/>
        </p:nvSpPr>
        <p:spPr>
          <a:xfrm>
            <a:off x="7536942" y="2375154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67" name="Shape 65"/>
          <p:cNvSpPr/>
          <p:nvPr/>
        </p:nvSpPr>
        <p:spPr>
          <a:xfrm>
            <a:off x="8702802" y="2348088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68" name="Shape 66"/>
          <p:cNvSpPr/>
          <p:nvPr/>
        </p:nvSpPr>
        <p:spPr>
          <a:xfrm>
            <a:off x="8154162" y="2916479"/>
            <a:ext cx="77724" cy="77724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69" name="Shape 67"/>
          <p:cNvSpPr/>
          <p:nvPr/>
        </p:nvSpPr>
        <p:spPr>
          <a:xfrm>
            <a:off x="8021574" y="2244395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70" name="Shape 68"/>
          <p:cNvSpPr/>
          <p:nvPr/>
        </p:nvSpPr>
        <p:spPr>
          <a:xfrm>
            <a:off x="8213598" y="2325594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71" name="Shape 69"/>
          <p:cNvSpPr/>
          <p:nvPr/>
        </p:nvSpPr>
        <p:spPr>
          <a:xfrm>
            <a:off x="8090154" y="2460925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72" name="Shape 70"/>
          <p:cNvSpPr/>
          <p:nvPr/>
        </p:nvSpPr>
        <p:spPr>
          <a:xfrm>
            <a:off x="7952994" y="2406792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73" name="Shape 71"/>
          <p:cNvSpPr/>
          <p:nvPr/>
        </p:nvSpPr>
        <p:spPr>
          <a:xfrm>
            <a:off x="8145018" y="2163196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74" name="Shape 72"/>
          <p:cNvSpPr/>
          <p:nvPr/>
        </p:nvSpPr>
        <p:spPr>
          <a:xfrm>
            <a:off x="8282178" y="2460925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75" name="Shape 73"/>
          <p:cNvSpPr/>
          <p:nvPr/>
        </p:nvSpPr>
        <p:spPr>
          <a:xfrm>
            <a:off x="8049006" y="2569190"/>
            <a:ext cx="68580" cy="6858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76" name="Shape 74"/>
          <p:cNvSpPr/>
          <p:nvPr/>
        </p:nvSpPr>
        <p:spPr>
          <a:xfrm>
            <a:off x="7863840" y="2062155"/>
            <a:ext cx="603504" cy="622524"/>
          </a:xfrm>
          <a:prstGeom prst="ellipse">
            <a:avLst/>
          </a:prstGeom>
          <a:ln w="9525">
            <a:solidFill>
              <a:srgbClr val="000000"/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>
            <a:off x="7616952" y="1926824"/>
            <a:ext cx="1069848" cy="974385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pic>
        <p:nvPicPr>
          <p:cNvPr id="78" name="Image 0" descr="videos/ml-intro/recreated_pptx/build/assets/graphs/s35_graph_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1430" y="3594141"/>
            <a:ext cx="3670310" cy="31115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778000"/>
            <a:ext cx="10325100" cy="482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00550" y="1054100"/>
            <a:ext cx="3390900" cy="736600"/>
          </a:xfrm>
          <a:prstGeom prst="rect">
            <a:avLst/>
          </a:prstGeom>
          <a:solidFill>
            <a:srgbClr val="8B0000"/>
          </a:solidFill>
          <a:ln w="635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"/>
            <a:ext cx="11091672" cy="2332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74800" y="19050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of Commonly used classifiers: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19300" y="2458720"/>
            <a:ext cx="8229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Linear Regression</a:t>
            </a:r>
            <a:endParaRPr lang="en-US" sz="1800" dirty="0"/>
          </a:p>
          <a:p>
            <a:pPr algn="l"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Logistic Regression</a:t>
            </a:r>
            <a:endParaRPr lang="en-US" sz="1800" dirty="0"/>
          </a:p>
          <a:p>
            <a:pPr algn="l"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Neural Network</a:t>
            </a:r>
            <a:endParaRPr lang="en-US" sz="1800" dirty="0"/>
          </a:p>
          <a:p>
            <a:pPr algn="l"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Support Vector Machine</a:t>
            </a:r>
            <a:endParaRPr lang="en-US" sz="1800" dirty="0"/>
          </a:p>
          <a:p>
            <a:pPr algn="l"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Hidden Markov Model</a:t>
            </a:r>
            <a:endParaRPr lang="en-US" sz="1800" dirty="0"/>
          </a:p>
          <a:p>
            <a:pPr algn="l"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Decision Trees</a:t>
            </a:r>
            <a:endParaRPr lang="en-US" sz="1800" dirty="0"/>
          </a:p>
          <a:p>
            <a:pPr algn="l"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Bayesian classifier</a:t>
            </a:r>
            <a:endParaRPr lang="en-US" sz="1800" dirty="0"/>
          </a:p>
          <a:p>
            <a:pPr algn="l"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.......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505200" y="1587500"/>
            <a:ext cx="4851400" cy="1003300"/>
          </a:xfrm>
          <a:prstGeom prst="rect">
            <a:avLst/>
          </a:prstGeom>
          <a:solidFill>
            <a:srgbClr val="8B0000"/>
          </a:solidFill>
          <a:ln w="635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11091672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Classification</a:t>
            </a:r>
            <a:endParaRPr lang="en-US" sz="27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Approaches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358900" y="3606800"/>
            <a:ext cx="4102100" cy="1016000"/>
          </a:xfrm>
          <a:prstGeom prst="rect">
            <a:avLst/>
          </a:prstGeom>
          <a:solidFill>
            <a:srgbClr val="0000CC"/>
          </a:solidFill>
          <a:ln w="6350">
            <a:solidFill>
              <a:srgbClr val="000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8900" y="3606800"/>
            <a:ext cx="41021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654800" y="3606800"/>
            <a:ext cx="4000500" cy="1016000"/>
          </a:xfrm>
          <a:prstGeom prst="rect">
            <a:avLst/>
          </a:prstGeom>
          <a:solidFill>
            <a:srgbClr val="1E8C3A"/>
          </a:solidFill>
          <a:ln w="6350">
            <a:solidFill>
              <a:srgbClr val="1E8C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54800" y="3606800"/>
            <a:ext cx="4000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Unsuepervised Learning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 flipH="1">
            <a:off x="3403600" y="2590800"/>
            <a:ext cx="2527300" cy="1016000"/>
          </a:xfrm>
          <a:prstGeom prst="curvedConnector4">
            <a:avLst/>
          </a:prstGeom>
          <a:noFill/>
          <a:ln w="31750">
            <a:solidFill>
              <a:srgbClr val="CC0000"/>
            </a:solidFill>
            <a:prstDash val="solid"/>
            <a:tailEnd type="stealth"/>
          </a:ln>
        </p:spPr>
      </p:sp>
      <p:sp>
        <p:nvSpPr>
          <p:cNvPr id="12" name="Shape 10"/>
          <p:cNvSpPr/>
          <p:nvPr/>
        </p:nvSpPr>
        <p:spPr>
          <a:xfrm>
            <a:off x="5930900" y="2590800"/>
            <a:ext cx="2717800" cy="1016000"/>
          </a:xfrm>
          <a:prstGeom prst="curvedConnector4">
            <a:avLst/>
          </a:prstGeom>
          <a:noFill/>
          <a:ln w="31750">
            <a:solidFill>
              <a:srgbClr val="CC0000"/>
            </a:solidFill>
            <a:prstDash val="solid"/>
            <a:tailEnd type="stealth"/>
          </a:ln>
        </p:spPr>
      </p:sp>
      <p:sp>
        <p:nvSpPr>
          <p:cNvPr id="13" name="Text 11"/>
          <p:cNvSpPr/>
          <p:nvPr/>
        </p:nvSpPr>
        <p:spPr>
          <a:xfrm>
            <a:off x="1033272" y="49194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Labels are required for training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54800" y="4919472"/>
            <a:ext cx="40005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Need for Data Labels</a:t>
            </a:r>
            <a:endParaRPr lang="en-US" sz="19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(A.K.A Clustering)</a:t>
            </a:r>
            <a:endParaRPr lang="en-US" sz="1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" y="1508760"/>
            <a:ext cx="10241280" cy="5010912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Training Takes Place to learn the model 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4440" y="2423160"/>
            <a:ext cx="1600200" cy="1188720"/>
          </a:xfrm>
          <a:prstGeom prst="rect">
            <a:avLst/>
          </a:prstGeom>
          <a:solidFill>
            <a:srgbClr val="1E7B34"/>
          </a:solidFill>
          <a:ln w="9525">
            <a:solidFill>
              <a:srgbClr val="1E7B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4231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Sample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62072" y="3017520"/>
            <a:ext cx="429768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3319272" y="2194560"/>
            <a:ext cx="2514600" cy="1645920"/>
          </a:xfrm>
          <a:prstGeom prst="rect">
            <a:avLst/>
          </a:prstGeom>
          <a:solidFill>
            <a:srgbClr val="8B0000"/>
          </a:solidFill>
          <a:ln w="9525">
            <a:solidFill>
              <a:srgbClr val="8B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219456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Model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(with Model Parameters)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61304" y="3017520"/>
            <a:ext cx="429768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6318504" y="2331720"/>
            <a:ext cx="1554480" cy="1371600"/>
          </a:xfrm>
          <a:prstGeom prst="rect">
            <a:avLst/>
          </a:prstGeom>
          <a:solidFill>
            <a:srgbClr val="D6EAF8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233172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Class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(Label)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00416" y="3017520"/>
            <a:ext cx="429768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8357616" y="1874520"/>
            <a:ext cx="502920" cy="2286000"/>
          </a:xfrm>
          <a:prstGeom prst="rect">
            <a:avLst/>
          </a:prstGeom>
          <a:solidFill>
            <a:srgbClr val="F5E6C8"/>
          </a:solidFill>
          <a:ln w="9525">
            <a:solidFill>
              <a:srgbClr val="F5E6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 rot="5400000">
            <a:off x="7466076" y="27660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46920" y="2331720"/>
            <a:ext cx="1554480" cy="1371600"/>
          </a:xfrm>
          <a:prstGeom prst="rect">
            <a:avLst/>
          </a:prstGeom>
          <a:solidFill>
            <a:srgbClr val="FDF9D8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46920" y="233172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Label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Sample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887968" y="3017520"/>
            <a:ext cx="731520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headEnd type="arrow"/>
          </a:ln>
        </p:spPr>
      </p:sp>
      <p:sp>
        <p:nvSpPr>
          <p:cNvPr id="21" name="Text 19"/>
          <p:cNvSpPr/>
          <p:nvPr/>
        </p:nvSpPr>
        <p:spPr>
          <a:xfrm>
            <a:off x="1325880" y="48920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to update model parameters (Iteratively) to minimize error</a:t>
            </a:r>
            <a:pPr algn="l" indent="0" marL="0">
              <a:buNone/>
            </a:pPr>
            <a:r>
              <a:rPr lang="en-US" sz="1800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(Loss Function)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53227" y="1920240"/>
            <a:ext cx="10360609" cy="3909060"/>
          </a:xfrm>
          <a:prstGeom prst="rect">
            <a:avLst/>
          </a:prstGeom>
          <a:solidFill>
            <a:srgbClr val="FFFFFF"/>
          </a:solidFill>
          <a:ln w="19050">
            <a:solidFill>
              <a:srgbClr val="B0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56032"/>
            <a:ext cx="11091672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7800"/>
              </a:lnSpc>
              <a:buNone/>
            </a:pPr>
            <a:r>
              <a:rPr lang="en-US" sz="5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Neighbor   (NN)</a:t>
            </a:r>
            <a:endParaRPr lang="en-US" sz="5200" dirty="0"/>
          </a:p>
          <a:p>
            <a:pPr algn="ctr" indent="0" marL="0">
              <a:lnSpc>
                <a:spcPts val="7800"/>
              </a:lnSpc>
              <a:buNone/>
            </a:pPr>
            <a:r>
              <a:rPr lang="en-US" sz="3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5200" dirty="0"/>
          </a:p>
          <a:p>
            <a:pPr algn="ctr" indent="0" marL="0">
              <a:lnSpc>
                <a:spcPts val="7800"/>
              </a:lnSpc>
              <a:buNone/>
            </a:pPr>
            <a:r>
              <a:rPr lang="en-US" sz="51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-Nearest Neighbor (K -NN)</a:t>
            </a:r>
            <a:endParaRPr lang="en-US" sz="5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135" y="1714500"/>
            <a:ext cx="10482682" cy="4800600"/>
          </a:xfrm>
          <a:prstGeom prst="rect">
            <a:avLst/>
          </a:prstGeom>
          <a:solidFill>
            <a:srgbClr val="FFFFFF"/>
          </a:solidFill>
          <a:ln w="15875">
            <a:solidFill>
              <a:srgbClr val="AA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-Nearest Neighbor (K -NN)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18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Given: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training data D = {(x</a:t>
            </a:r>
            <a:pPr algn="l" indent="0" marL="0">
              <a:buNone/>
            </a:pPr>
            <a:r>
              <a:rPr lang="en-US" sz="18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y</a:t>
            </a:r>
            <a:pPr algn="l" indent="0" marL="0">
              <a:buNone/>
            </a:pPr>
            <a:r>
              <a:rPr lang="en-US" sz="18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), . . . , (x</a:t>
            </a:r>
            <a:pPr algn="l" indent="0" marL="0">
              <a:buNone/>
            </a:pPr>
            <a:r>
              <a:rPr lang="en-US" sz="18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 y</a:t>
            </a:r>
            <a:pPr algn="l" indent="0" marL="0">
              <a:buNone/>
            </a:pPr>
            <a:r>
              <a:rPr lang="en-US" sz="18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)} and a test point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39572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buNone/>
            </a:pPr>
            <a:r>
              <a:rPr lang="en-US" sz="18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Rule: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Look at the K most similar training examples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54880" y="3063240"/>
            <a:ext cx="0" cy="132588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4389120"/>
            <a:ext cx="260604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10912" y="3200400"/>
            <a:ext cx="621792" cy="731520"/>
          </a:xfrm>
          <a:prstGeom prst="ellipse">
            <a:avLst/>
          </a:prstGeom>
          <a:ln w="15875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89220" y="3360420"/>
            <a:ext cx="82296" cy="82296"/>
          </a:xfrm>
          <a:prstGeom prst="ellips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26964" y="3323844"/>
            <a:ext cx="82296" cy="82296"/>
          </a:xfrm>
          <a:prstGeom prst="ellips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97780" y="3570732"/>
            <a:ext cx="82296" cy="82296"/>
          </a:xfrm>
          <a:prstGeom prst="ellips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35524" y="3543300"/>
            <a:ext cx="82296" cy="82296"/>
          </a:xfrm>
          <a:prstGeom prst="ellips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63540" y="3479292"/>
            <a:ext cx="82296" cy="82296"/>
          </a:xfrm>
          <a:prstGeom prst="ellips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70932" y="3726180"/>
            <a:ext cx="82296" cy="82296"/>
          </a:xfrm>
          <a:prstGeom prst="ellips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72100" y="3671316"/>
            <a:ext cx="82296" cy="82296"/>
          </a:xfrm>
          <a:prstGeom prst="ellipse">
            <a:avLst/>
          </a:prstGeom>
          <a:solidFill>
            <a:srgbClr val="CC0000"/>
          </a:solidFill>
          <a:ln w="3175">
            <a:solidFill>
              <a:srgbClr val="CC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3182112"/>
            <a:ext cx="621792" cy="731520"/>
          </a:xfrm>
          <a:prstGeom prst="ellipse">
            <a:avLst/>
          </a:prstGeom>
          <a:ln w="15875">
            <a:solidFill>
              <a:srgbClr val="9999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88836" y="3342132"/>
            <a:ext cx="82296" cy="82296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26580" y="3305556"/>
            <a:ext cx="82296" cy="82296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15684" y="3552444"/>
            <a:ext cx="82296" cy="82296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3428" y="3525012"/>
            <a:ext cx="82296" cy="82296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63156" y="3451860"/>
            <a:ext cx="82296" cy="82296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0548" y="3707892"/>
            <a:ext cx="82296" cy="82296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90004" y="3653028"/>
            <a:ext cx="82296" cy="82296"/>
          </a:xfrm>
          <a:prstGeom prst="ellipse">
            <a:avLst/>
          </a:prstGeom>
          <a:solidFill>
            <a:srgbClr val="3333CC"/>
          </a:solidFill>
          <a:ln w="3175">
            <a:solidFill>
              <a:srgbClr val="3333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0720" y="3858768"/>
            <a:ext cx="621792" cy="603504"/>
          </a:xfrm>
          <a:prstGeom prst="ellipse">
            <a:avLst/>
          </a:prstGeom>
          <a:ln w="15875">
            <a:solidFill>
              <a:srgbClr val="9999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20740" y="3945636"/>
            <a:ext cx="82296" cy="82296"/>
          </a:xfrm>
          <a:prstGeom prst="ellipse">
            <a:avLst/>
          </a:prstGeom>
          <a:solidFill>
            <a:srgbClr val="33CC66"/>
          </a:solidFill>
          <a:ln w="3175">
            <a:solidFill>
              <a:srgbClr val="33CC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58484" y="3909060"/>
            <a:ext cx="82296" cy="82296"/>
          </a:xfrm>
          <a:prstGeom prst="ellipse">
            <a:avLst/>
          </a:prstGeom>
          <a:solidFill>
            <a:srgbClr val="33CC66"/>
          </a:solidFill>
          <a:ln w="3175">
            <a:solidFill>
              <a:srgbClr val="33CC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47588" y="4119372"/>
            <a:ext cx="82296" cy="82296"/>
          </a:xfrm>
          <a:prstGeom prst="ellipse">
            <a:avLst/>
          </a:prstGeom>
          <a:solidFill>
            <a:srgbClr val="33CC66"/>
          </a:solidFill>
          <a:ln w="3175">
            <a:solidFill>
              <a:srgbClr val="33CC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5332" y="4091940"/>
            <a:ext cx="82296" cy="82296"/>
          </a:xfrm>
          <a:prstGeom prst="ellipse">
            <a:avLst/>
          </a:prstGeom>
          <a:solidFill>
            <a:srgbClr val="33CC66"/>
          </a:solidFill>
          <a:ln w="3175">
            <a:solidFill>
              <a:srgbClr val="33CC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3348" y="4018788"/>
            <a:ext cx="82296" cy="82296"/>
          </a:xfrm>
          <a:prstGeom prst="ellipse">
            <a:avLst/>
          </a:prstGeom>
          <a:solidFill>
            <a:srgbClr val="33CC66"/>
          </a:solidFill>
          <a:ln w="3175">
            <a:solidFill>
              <a:srgbClr val="33CC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57316" y="4238244"/>
            <a:ext cx="82296" cy="82296"/>
          </a:xfrm>
          <a:prstGeom prst="ellipse">
            <a:avLst/>
          </a:prstGeom>
          <a:solidFill>
            <a:srgbClr val="33CC66"/>
          </a:solidFill>
          <a:ln w="3175">
            <a:solidFill>
              <a:srgbClr val="33CC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40196" y="4183380"/>
            <a:ext cx="82296" cy="82296"/>
          </a:xfrm>
          <a:prstGeom prst="ellipse">
            <a:avLst/>
          </a:prstGeom>
          <a:solidFill>
            <a:srgbClr val="33CC66"/>
          </a:solidFill>
          <a:ln w="3175">
            <a:solidFill>
              <a:srgbClr val="33CC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14416" y="3822192"/>
            <a:ext cx="201168" cy="201168"/>
          </a:xfrm>
          <a:prstGeom prst="star5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00200" y="4663440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For </a:t>
            </a:r>
            <a:pPr algn="l" indent="0" marL="0">
              <a:buNone/>
            </a:pPr>
            <a:r>
              <a:rPr lang="en-US" sz="1800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assign the majority class label (</a:t>
            </a:r>
            <a:pPr algn="l" indent="0" marL="0">
              <a:buNone/>
            </a:pPr>
            <a:r>
              <a:rPr lang="en-US" sz="1800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 voting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00200" y="5074920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For </a:t>
            </a:r>
            <a:pPr algn="l" indent="0" marL="0">
              <a:buNone/>
            </a:pPr>
            <a:r>
              <a:rPr lang="en-US" sz="1800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assign the average response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325880" y="550468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algorithm requires: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600200" y="5916168"/>
            <a:ext cx="9235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algn="l" indent="0" marL="0">
              <a:buNone/>
            </a:pPr>
            <a:r>
              <a:rPr lang="en-US" sz="18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 K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number of nearest neighbors to look for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-Nearest Neighbors </a:t>
            </a:r>
            <a:pPr algn="ctr" indent="0" marL="0">
              <a:buNone/>
            </a:pPr>
            <a:r>
              <a:rPr lang="en-US" sz="3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11183112" cy="5212080"/>
          </a:xfrm>
          <a:prstGeom prst="rect">
            <a:avLst/>
          </a:prstGeom>
          <a:solidFill>
            <a:srgbClr val="E8E8E8"/>
          </a:solidFill>
          <a:ln w="19050">
            <a:solidFill>
              <a:srgbClr val="B0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830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21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pPr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test point’s distance from each training point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2585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21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</a:t>
            </a:r>
            <a:pPr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distances in ascending (or descending) order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273405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sorted distances to </a:t>
            </a:r>
            <a:pPr indent="0" marL="0">
              <a:buNone/>
            </a:pPr>
            <a:r>
              <a:rPr lang="en-US" sz="21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K nearest neighbors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320954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21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 rule</a:t>
            </a:r>
            <a:pPr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(for classification) or averaging (for regression)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0120" y="40233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K -Nearest Neighbors is called a </a:t>
            </a:r>
            <a:pPr indent="0" marL="0">
              <a:buNone/>
            </a:pPr>
            <a:r>
              <a:rPr lang="en-US" sz="20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non-parametric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method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455371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other supervised learning algorithms,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5084064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-Nearest Neighbors </a:t>
            </a:r>
            <a:pPr indent="0" marL="0">
              <a:buNone/>
            </a:pPr>
            <a:r>
              <a:rPr lang="en-US" sz="2000" b="1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doesn’t</a:t>
            </a:r>
            <a:pPr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5596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learn an explicit mapping f from the training data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599846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It simply uses the training data at the test time to make predictions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K-NN: Computing the distances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12648" y="1508760"/>
            <a:ext cx="10972800" cy="5010912"/>
          </a:xfrm>
          <a:prstGeom prst="rect">
            <a:avLst/>
          </a:prstGeom>
          <a:solidFill>
            <a:srgbClr val="E8E8E8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K-NN algorithm requires computing distances of the 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example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from 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of the training examples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276148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Several ways to compute distances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25526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The choice depends on the type of the features in the data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749040"/>
            <a:ext cx="23097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Real-valued features (</a:t>
            </a:r>
            <a:endParaRPr lang="en-US" sz="1700" dirty="0"/>
          </a:p>
        </p:txBody>
      </p:sp>
      <mc:AlternateContent>
        <mc:Choice xmlns:a14="http://schemas.microsoft.com/office/drawing/2010/main" Requires="a14">
          <p:sp>
            <p:nvSpPr>
              <p:cNvPr id="11" name="Equation OMML" descr="x_i \in \mathbb{R}^D"/>
              <p:cNvSpPr txBox="1"/>
              <p:nvPr/>
            </p:nvSpPr>
            <p:spPr>
              <a:xfrm>
                <a:off x="3023006" y="3752057"/>
                <a:ext cx="748281" cy="25603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mtClean="0" sz="1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∈</m:t>
                      </m:r>
                      <m:sSup>
                        <m:sSupPr>
                          <m:ctrlP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ℝ</m:t>
                          </m:r>
                        </m:e>
                        <m:sup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1" name="Image 0" descr="/home/ahmed/Projects/ai_llm_slides/videos/ml-intro/recreated_pptx/build/omml/slide_042/assets/eq_042_xi_rd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3023006" y="3752057"/>
                <a:ext cx="748281" cy="256032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 9"/>
          <p:cNvSpPr/>
          <p:nvPr/>
        </p:nvSpPr>
        <p:spPr>
          <a:xfrm>
            <a:off x="3826151" y="3749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): </a:t>
            </a:r>
            <a:pPr algn="l" indent="0" marL="0">
              <a:buNone/>
            </a:pPr>
            <a:r>
              <a:rPr lang="en-US" sz="1700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Euclidean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distance is commonly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60120" y="4041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used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95528" y="4956048"/>
            <a:ext cx="10607040" cy="1371600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CC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5" name="Equation OMML" descr="d(x_i, x_j) = \sqrt{\sum_{m=1}^{D}(x_{im} - x_{jm})^2} = \sqrt{\Vert x_i\Vert^2 + \Vert x_j\Vert^2 - 2 x_i^T x_j}"/>
              <p:cNvSpPr txBox="1"/>
              <p:nvPr/>
            </p:nvSpPr>
            <p:spPr>
              <a:xfrm>
                <a:off x="1435608" y="5180585"/>
                <a:ext cx="8439912" cy="1033272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d(</m:t>
                      </m:r>
                      <m:sSub>
                        <m:sSubPr>
                          <m:ctrlPr>
                            <a:rPr lang="en-US" i="1" smtClean="0"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mtClean="0" sz="2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sSub>
                        <m:sSubPr>
                          <m:ctrlPr>
                            <a:rPr lang="en-US" i="1" smtClean="0"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j</m:t>
                          </m:r>
                        </m:sub>
                      </m:sSub>
                      <m:r>
                        <a:rPr lang="en-US" i="1" smtClean="0" sz="2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)=</m:t>
                      </m:r>
                      <m:rad>
                        <m:radPr>
                          <m:degHide m:val="on"/>
                          <m:ctrlPr>
                            <a:rPr lang="en-US" i="1" smtClean="0"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m=1</m:t>
                              </m:r>
                            </m:sub>
                            <m:sup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D</m:t>
                              </m:r>
                            </m:sup>
                            <m:e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(</m:t>
                              </m:r>
                              <m:sSub>
                                <m:sSubPr>
                                  <m:ctrlPr>
                                    <a:rPr lang="en-US" i="1" smtClean="0" sz="2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 sz="2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x</m:t>
                                  </m:r>
                                </m:e>
                                <m:sub>
                                  <m:r>
                                    <a:rPr lang="en-US" i="1" smtClean="0" sz="2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im</m:t>
                                  </m:r>
                                </m:sub>
                              </m:sSub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-</m:t>
                              </m:r>
                              <m:sSub>
                                <m:sSubPr>
                                  <m:ctrlPr>
                                    <a:rPr lang="en-US" i="1" smtClean="0" sz="2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 sz="2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x</m:t>
                                  </m:r>
                                </m:e>
                                <m:sub>
                                  <m:r>
                                    <a:rPr lang="en-US" i="1" smtClean="0" sz="2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jm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i="1" smtClean="0" sz="2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smtClean="0" sz="2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)</m:t>
                                  </m:r>
                                </m:e>
                                <m:sup>
                                  <m:r>
                                    <a:rPr lang="en-US" i="1" smtClean="0" sz="26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  <m:r>
                        <a:rPr lang="en-US" i="1" smtClean="0" sz="26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rad>
                        <m:radPr>
                          <m:degHide m:val="on"/>
                          <m:ctrlPr>
                            <a:rPr lang="en-US" i="1" smtClean="0"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 smtClean="0"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‖</m:t>
                          </m:r>
                          <m:sSub>
                            <m:sSubPr>
                              <m:ctrlP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‖</m:t>
                              </m:r>
                            </m:e>
                            <m:sup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sup>
                          </m:sSup>
                          <m:r>
                            <a:rPr lang="en-US" i="1" smtClean="0"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+‖</m:t>
                          </m:r>
                          <m:sSub>
                            <m:sSubPr>
                              <m:ctrlP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j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‖</m:t>
                              </m:r>
                            </m:e>
                            <m:sup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sup>
                          </m:sSup>
                          <m:r>
                            <a:rPr lang="en-US" i="1" smtClean="0" sz="26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-2</m:t>
                          </m:r>
                          <m:sSubSup>
                            <m:sSubSupPr>
                              <m:ctrlP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</m:t>
                              </m:r>
                            </m:sub>
                            <m:sup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T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26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j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5" name="Image 1" descr="/home/ahmed/Projects/ai_llm_slides/videos/ml-intro/recreated_pptx/build/omml/slide_042/assets/eq_042_distance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35608" y="5180585"/>
                <a:ext cx="8439912" cy="103327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914400"/>
          </a:xfrm>
          <a:prstGeom prst="rect">
            <a:avLst/>
          </a:prstGeom>
          <a:solidFill>
            <a:srgbClr val="E6E8E6"/>
          </a:solidFill>
          <a:ln w="12700">
            <a:solidFill>
              <a:srgbClr val="E6E8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>
              <a:alpha val="0"/>
            </a:srgbClr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Neighbors</a:t>
            </a:r>
            <a:pPr algn="ctr" indent="0" marL="0">
              <a:buNone/>
            </a:pPr>
            <a:r>
              <a:rPr lang="en-US" sz="3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(NN) Example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11640312" cy="5532120"/>
          </a:xfrm>
          <a:prstGeom prst="rect">
            <a:avLst/>
          </a:prstGeom>
          <a:solidFill>
            <a:srgbClr val="FFFFFF"/>
          </a:solidFill>
          <a:ln w="19050">
            <a:solidFill>
              <a:srgbClr val="8B1A1A"/>
            </a:solidFill>
            <a:prstDash val="solid"/>
          </a:ln>
        </p:spPr>
      </p:sp>
      <p:pic>
        <p:nvPicPr>
          <p:cNvPr id="8" name="Image 0" descr="videos/ml-intro/recreated_pptx/build/assets/graphs/s43_graph_v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20" y="2031980"/>
            <a:ext cx="4572000" cy="4114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25296" y="6135624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of Three Classes   and </a:t>
            </a:r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8B1A1A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ONE TEST</a:t>
            </a:r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sample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>
              <a:alpha val="0"/>
            </a:srgbClr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5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Neighbors </a:t>
            </a:r>
            <a:pPr algn="ctr" indent="0" marL="0">
              <a:lnSpc>
                <a:spcPts val="4200"/>
              </a:lnSpc>
              <a:buNone/>
            </a:pPr>
            <a:r>
              <a:rPr lang="en-US" sz="35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(NN) Example</a:t>
            </a:r>
            <a:endParaRPr lang="en-US" sz="3500" dirty="0"/>
          </a:p>
        </p:txBody>
      </p:sp>
      <p:pic>
        <p:nvPicPr>
          <p:cNvPr id="6" name="Image 0" descr="videos/ml-intro/recreated_pptx/build/assets/graphs/s44_graph_v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980" y="1473190"/>
            <a:ext cx="10350459" cy="51562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95380" y="1479591"/>
            <a:ext cx="10344150" cy="5149809"/>
          </a:xfrm>
          <a:prstGeom prst="rect">
            <a:avLst/>
          </a:prstGeom>
          <a:solidFill>
            <a:srgbClr val="E8E8E8">
              <a:alpha val="0"/>
            </a:srgbClr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011" y="6086246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of Three Classes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206490" y="608624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Neighbor is the Orange class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56032"/>
            <a:ext cx="10698480" cy="594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Neighbors </a:t>
            </a:r>
            <a:pPr algn="ctr" indent="0" marL="0">
              <a:buNone/>
            </a:pPr>
            <a:r>
              <a:rPr lang="en-US" sz="3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(NN) Outlier Problem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800" dirty="0"/>
          </a:p>
        </p:txBody>
      </p:sp>
      <p:pic>
        <p:nvPicPr>
          <p:cNvPr id="8" name="Image 0" descr="videos/ml-intro/recreated_pptx/build/assets/graphs/s45_graph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41" y="2031980"/>
            <a:ext cx="9601200" cy="4114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696" y="6144768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of Three Classes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44184" y="6144768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Neighbor is the Green class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Neighbors</a:t>
            </a:r>
            <a:pPr algn="ctr" indent="0" marL="0">
              <a:buNone/>
            </a:pPr>
            <a:r>
              <a:rPr lang="en-US" sz="3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(NN) Outlier Problem</a:t>
            </a:r>
            <a:endParaRPr lang="en-US" sz="3000" dirty="0"/>
          </a:p>
        </p:txBody>
      </p:sp>
      <p:pic>
        <p:nvPicPr>
          <p:cNvPr id="6" name="Image 0" descr="videos/ml-intro/recreated_pptx/build/assets/graphs/s46_graph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41" y="2031980"/>
            <a:ext cx="960120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03720" y="1143000"/>
            <a:ext cx="86868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03720" y="114300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635240" y="1664208"/>
            <a:ext cx="1371600" cy="969264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16152" y="6172200"/>
            <a:ext cx="4636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of Three Classes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336792" y="617220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Neighbor is the Green class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 Neighbors</a:t>
            </a:r>
            <a:pPr algn="ctr" indent="0" marL="0">
              <a:buNone/>
            </a:pPr>
            <a:r>
              <a:rPr lang="en-US" sz="2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(NN) Equal Distance</a:t>
            </a:r>
            <a:endParaRPr lang="en-US" sz="2800" dirty="0"/>
          </a:p>
        </p:txBody>
      </p:sp>
      <p:pic>
        <p:nvPicPr>
          <p:cNvPr id="6" name="Image 0" descr="videos/ml-intro/recreated_pptx/build/assets/graphs/s47_graph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41" y="2031980"/>
            <a:ext cx="960120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6172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of Three Classes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629400" y="6172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Unique Nearest Neighbor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164592"/>
            <a:ext cx="11859768" cy="6528816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Neighbors</a:t>
            </a:r>
            <a:pPr algn="ctr" indent="0" marL="0">
              <a:buNone/>
            </a:pPr>
            <a:r>
              <a:rPr lang="en-US" sz="3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(KNN) , K=3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4592" y="1051560"/>
            <a:ext cx="11859768" cy="0"/>
          </a:xfrm>
          <a:prstGeom prst="line">
            <a:avLst/>
          </a:prstGeom>
          <a:noFill/>
          <a:ln w="19050">
            <a:solidFill>
              <a:srgbClr val="8B0000"/>
            </a:solidFill>
            <a:prstDash val="solid"/>
          </a:ln>
        </p:spPr>
      </p:sp>
      <p:pic>
        <p:nvPicPr>
          <p:cNvPr id="8" name="Image 0" descr="/home/ahmed/Projects/ai_llm_slides/videos/ml-intro/recreated_pptx/build/assets/graphs/s48_graph_v2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70" y="1270010"/>
            <a:ext cx="10604480" cy="542294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" y="6135624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Nearest 3 Neighbors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0" y="1417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K=3,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00E5E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cyan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36792" y="6208776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on 3 Nearest Neighbors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Neighbors </a:t>
            </a:r>
            <a:pPr algn="ctr" indent="0" marL="0">
              <a:buNone/>
            </a:pPr>
            <a:r>
              <a:rPr lang="en-US" sz="3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(KNN) , K=5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37160" y="960120"/>
            <a:ext cx="11914632" cy="0"/>
          </a:xfrm>
          <a:prstGeom prst="line">
            <a:avLst/>
          </a:prstGeom>
          <a:noFill/>
          <a:ln w="19050">
            <a:solidFill>
              <a:srgbClr val="B22222"/>
            </a:solidFill>
            <a:prstDash val="solid"/>
          </a:ln>
        </p:spPr>
      </p:sp>
      <p:pic>
        <p:nvPicPr>
          <p:cNvPr id="7" name="Image 0" descr="/home/ahmed/Projects/ai_llm_slides/videos/ml-intro/recreated_pptx/build/assets/graphs/s49_graph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70" y="1270010"/>
            <a:ext cx="10604480" cy="542294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16152" y="6181344"/>
            <a:ext cx="4882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Nearest 5 Neighbors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72084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K=5, 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00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cyan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45936" y="6272784"/>
            <a:ext cx="52303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on 5 Nearest Neighbors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37160"/>
            <a:ext cx="11914632" cy="914400"/>
          </a:xfrm>
          <a:prstGeom prst="rect">
            <a:avLst/>
          </a:prstGeom>
          <a:solidFill>
            <a:srgbClr val="E8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56032"/>
            <a:ext cx="11091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Neighbors</a:t>
            </a:r>
            <a:pPr algn="ctr" indent="0" marL="0">
              <a:buNone/>
            </a:pPr>
            <a:r>
              <a:rPr lang="en-US" sz="2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(KNN) , K=20</a:t>
            </a:r>
            <a:endParaRPr lang="en-US" sz="2800" dirty="0"/>
          </a:p>
        </p:txBody>
      </p:sp>
      <p:pic>
        <p:nvPicPr>
          <p:cNvPr id="7" name="Image 0" descr="videos/ml-intro/recreated_pptx/build/assets/graphs/s50_graph_left_v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70" y="1270010"/>
            <a:ext cx="5676870" cy="5524530"/>
          </a:xfrm>
          <a:prstGeom prst="rect">
            <a:avLst/>
          </a:prstGeom>
        </p:spPr>
      </p:pic>
      <p:pic>
        <p:nvPicPr>
          <p:cNvPr id="8" name="Image 1" descr="videos/ml-intro/recreated_pptx/build/assets/graphs/s50_graph_right_v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510" y="1270010"/>
            <a:ext cx="5016490" cy="55245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60920" y="18470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K=20, 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highlight>
                  <a:srgbClr val="00CC44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14984" y="61813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Nearest 20 Neighbors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861304" y="62453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on 20 Nearest Neighbors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>
              <a:alpha val="0"/>
            </a:srgbClr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Neighbors </a:t>
            </a:r>
            <a:pPr algn="ctr" indent="0" marL="0">
              <a:buNone/>
            </a:pPr>
            <a:r>
              <a:rPr lang="en-US" sz="3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(KNN) , K=20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800" dirty="0"/>
          </a:p>
        </p:txBody>
      </p:sp>
      <p:pic>
        <p:nvPicPr>
          <p:cNvPr id="6" name="Image 0" descr="videos/ml-intro/recreated_pptx/build/assets/graphs/s51_graph_left_v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70" y="1270010"/>
            <a:ext cx="5676870" cy="5524530"/>
          </a:xfrm>
          <a:prstGeom prst="rect">
            <a:avLst/>
          </a:prstGeom>
        </p:spPr>
      </p:pic>
      <p:pic>
        <p:nvPicPr>
          <p:cNvPr id="7" name="Image 1" descr="videos/ml-intro/recreated_pptx/build/assets/graphs/s51_graph_right_v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510" y="1270010"/>
            <a:ext cx="5016490" cy="55245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75120" y="1920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K=20, 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highlight>
                  <a:srgbClr val="00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97280" y="61813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Nearest 20 Neighbors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696712" y="624535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on 20 Nearest Neighbors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 rot="18900000">
            <a:off x="2715768" y="278892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Bias (Bad)</a:t>
            </a:r>
            <a:endParaRPr lang="en-US" sz="5400" dirty="0"/>
          </a:p>
        </p:txBody>
      </p:sp>
    </p:spTree>
  </p:cSld>
  <p:clrMapOvr>
    <a:masterClrMapping/>
  </p:clrMapOvr>
</p:sld>
</file>

<file path=ppt/slides/slide52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K-NN: Feature Normalization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05256" y="1773936"/>
            <a:ext cx="10341864" cy="4828032"/>
          </a:xfrm>
          <a:prstGeom prst="roundRect">
            <a:avLst>
              <a:gd name="adj" fmla="val 1515"/>
            </a:avLst>
          </a:prstGeom>
          <a:solidFill>
            <a:srgbClr val="E8E8E8"/>
          </a:solidFill>
          <a:ln w="25400">
            <a:solidFill>
              <a:srgbClr val="AA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43584" y="217627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should be on the </a:t>
            </a:r>
            <a:pPr indent="0" marL="0">
              <a:buNone/>
            </a:pPr>
            <a:r>
              <a:rPr lang="en-US" sz="21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scale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243584" y="2798064"/>
            <a:ext cx="82296" cy="82296"/>
          </a:xfrm>
          <a:prstGeom prst="ellipse">
            <a:avLst/>
          </a:prstGeom>
          <a:solidFill>
            <a:srgbClr val="00000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72768" y="2706624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if one feature has its values in millimeters and another has in centimeters, we would need to normalize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243584" y="4133088"/>
            <a:ext cx="82296" cy="82296"/>
          </a:xfrm>
          <a:prstGeom prst="ellipse">
            <a:avLst/>
          </a:prstGeom>
          <a:solidFill>
            <a:srgbClr val="00000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72768" y="40416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way is: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66176" y="2249424"/>
            <a:ext cx="2843784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CC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3" name="Equation OMML" descr="d(x_i, x_j) = \sqrt{\sum_{m=1}^{D}(x_{im} - x_{jm})^{2}}"/>
              <p:cNvSpPr txBox="1"/>
              <p:nvPr/>
            </p:nvSpPr>
            <p:spPr>
              <a:xfrm>
                <a:off x="8369808" y="2400810"/>
                <a:ext cx="2682237" cy="6248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d(</m:t>
                      </m:r>
                      <m:sSub>
                        <m:sSubPr>
                          <m:ctrlPr>
                            <a:rPr lang="en-US" i="1" smtClean="0" sz="15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5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5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mtClean="0" sz="15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sSub>
                        <m:sSubPr>
                          <m:ctrlPr>
                            <a:rPr lang="en-US" i="1" smtClean="0" sz="15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5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5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j</m:t>
                          </m:r>
                        </m:sub>
                      </m:sSub>
                      <m:r>
                        <a:rPr lang="en-US" i="1" smtClean="0" sz="15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)=</m:t>
                      </m:r>
                      <m:rad>
                        <m:radPr>
                          <m:degHide m:val="on"/>
                          <m:ctrlPr>
                            <a:rPr lang="en-US" i="1" smtClean="0" sz="15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 smtClean="0" sz="15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smtClean="0" sz="15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m=1</m:t>
                              </m:r>
                            </m:sub>
                            <m:sup>
                              <m:r>
                                <a:rPr lang="en-US" i="1" smtClean="0" sz="15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D</m:t>
                              </m:r>
                            </m:sup>
                            <m:e>
                              <m:r>
                                <a:rPr lang="en-US" i="1" smtClean="0" sz="15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(</m:t>
                              </m:r>
                              <m:sSub>
                                <m:sSubPr>
                                  <m:ctrlPr>
                                    <a:rPr lang="en-US" i="1" smtClean="0" sz="15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 sz="15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x</m:t>
                                  </m:r>
                                </m:e>
                                <m:sub>
                                  <m:r>
                                    <a:rPr lang="en-US" i="1" smtClean="0" sz="15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im</m:t>
                                  </m:r>
                                </m:sub>
                              </m:sSub>
                              <m:r>
                                <a:rPr lang="en-US" i="1" smtClean="0" sz="15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-</m:t>
                              </m:r>
                              <m:sSub>
                                <m:sSubPr>
                                  <m:ctrlPr>
                                    <a:rPr lang="en-US" i="1" smtClean="0" sz="15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 sz="15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x</m:t>
                                  </m:r>
                                </m:e>
                                <m:sub>
                                  <m:r>
                                    <a:rPr lang="en-US" i="1" smtClean="0" sz="15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jm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i="1" smtClean="0" sz="15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smtClean="0" sz="15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)</m:t>
                                  </m:r>
                                </m:e>
                                <m:sup>
                                  <m:r>
                                    <a:rPr lang="en-US" i="1" smtClean="0" sz="15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" name="Image 0" descr="/home/ahmed/Projects/ai_llm_slides/videos/ml-intro/recreated_pptx/build/omml/slide_052/assets/eq_052_distance_v2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8369808" y="2400810"/>
                <a:ext cx="2682237" cy="624837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Shape 11"/>
          <p:cNvSpPr/>
          <p:nvPr/>
        </p:nvSpPr>
        <p:spPr>
          <a:xfrm>
            <a:off x="1380744" y="4700016"/>
            <a:ext cx="7735824" cy="1673352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35100" y="4657090"/>
            <a:ext cx="11994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Replace </a:t>
            </a:r>
            <a:endParaRPr lang="en-US" sz="1800" dirty="0"/>
          </a:p>
        </p:txBody>
      </p:sp>
      <mc:AlternateContent>
        <mc:Choice xmlns:a14="http://schemas.microsoft.com/office/drawing/2010/main" Requires="a14">
          <p:sp>
            <p:nvSpPr>
              <p:cNvPr id="16" name="Equation OMML" descr="x_{im}"/>
              <p:cNvSpPr txBox="1"/>
              <p:nvPr/>
            </p:nvSpPr>
            <p:spPr>
              <a:xfrm>
                <a:off x="2386584" y="4828540"/>
                <a:ext cx="355089" cy="1828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im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" name="Image 1" descr="/home/ahmed/Projects/ai_llm_slides/videos/ml-intro/recreated_pptx/build/omml/slide_052/assets/eq_052_xim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86584" y="4828540"/>
                <a:ext cx="355089" cy="18288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 13"/>
          <p:cNvSpPr/>
          <p:nvPr/>
        </p:nvSpPr>
        <p:spPr>
          <a:xfrm>
            <a:off x="2741673" y="4657090"/>
            <a:ext cx="5117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 by </a:t>
            </a:r>
            <a:endParaRPr lang="en-US" sz="1800" dirty="0"/>
          </a:p>
        </p:txBody>
      </p:sp>
      <mc:AlternateContent>
        <mc:Choice xmlns:a14="http://schemas.microsoft.com/office/drawing/2010/main" Requires="a14">
          <p:sp>
            <p:nvSpPr>
              <p:cNvPr id="18" name="Equation OMML" descr="z_{im} = \,\: \frac{x_{im} \;-\; \bar{x}_{m}}{\sigma_{m}}"/>
              <p:cNvSpPr txBox="1"/>
              <p:nvPr/>
            </p:nvSpPr>
            <p:spPr>
              <a:xfrm>
                <a:off x="3150108" y="4732529"/>
                <a:ext cx="1463040" cy="3291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z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im</m:t>
                          </m:r>
                        </m:sub>
                      </m:sSub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  </m:t>
                      </m:r>
                      <m:f>
                        <m:fPr>
                          <m:ctrlP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 sz="1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1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1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im</m:t>
                              </m:r>
                            </m:sub>
                          </m:sSub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 - </m:t>
                          </m:r>
                          <m:sSub>
                            <m:sSubPr>
                              <m:ctrlPr>
                                <a:rPr lang="en-US" i="1" smtClean="0" sz="1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i="1" smtClean="0" sz="1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i="1" smtClean="0" sz="1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x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i="1" smtClean="0" sz="1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m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 sz="1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1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σ</m:t>
                              </m:r>
                            </m:e>
                            <m:sub>
                              <m:r>
                                <a:rPr lang="en-US" i="1" smtClean="0" sz="1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m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8" name="Image 2" descr="/home/ahmed/Projects/ai_llm_slides/videos/ml-intro/recreated_pptx/build/omml/slide_052/assets/eq_052_zfrac_v2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0108" y="4732529"/>
                <a:ext cx="1463040" cy="329184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 14"/>
          <p:cNvSpPr/>
          <p:nvPr/>
        </p:nvSpPr>
        <p:spPr>
          <a:xfrm>
            <a:off x="4632706" y="4657090"/>
            <a:ext cx="1830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(make them 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092825" y="4657090"/>
            <a:ext cx="345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AA0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zero mean, unit variance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978920" y="465709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)</a:t>
            </a:r>
            <a:endParaRPr lang="en-US" sz="1800" dirty="0"/>
          </a:p>
        </p:txBody>
      </p:sp>
      <mc:AlternateContent>
        <mc:Choice xmlns:a14="http://schemas.microsoft.com/office/drawing/2010/main" Requires="a14">
          <p:sp>
            <p:nvSpPr>
              <p:cNvPr id="22" name="Equation OMML" descr="\bar{x}_{m} = \;\, \frac{1}{N} \: \sum_{i=1}^{N} \qquad x_{im}"/>
              <p:cNvSpPr txBox="1"/>
              <p:nvPr/>
            </p:nvSpPr>
            <p:spPr>
              <a:xfrm>
                <a:off x="1435608" y="5137148"/>
                <a:ext cx="1908051" cy="6080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</m:bar>
                        </m:e>
                        <m:sub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m</m:t>
                          </m:r>
                        </m:sub>
                      </m:sSub>
                      <m:r>
                        <a:rPr lang="en-US" i="1" smtClean="0" sz="1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=  </m:t>
                      </m:r>
                      <m:f>
                        <m:fPr>
                          <m:ctrlP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num>
                        <m:den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den>
                      </m:f>
                      <m:r>
                        <a:rPr lang="en-US" i="1" smtClean="0" sz="1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 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i=1</m:t>
                          </m:r>
                        </m:sub>
                        <m:sup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sup>
                        <m:e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  </m:t>
                          </m:r>
                          <m:sSub>
                            <m:sSubPr>
                              <m:ctrlP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im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2" name="Image 3" descr="/home/ahmed/Projects/ai_llm_slides/videos/ml-intro/recreated_pptx/build/omml/slide_052/assets/eq_052_mean_v2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5608" y="5137148"/>
                <a:ext cx="1908051" cy="608076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 17"/>
          <p:cNvSpPr/>
          <p:nvPr/>
        </p:nvSpPr>
        <p:spPr>
          <a:xfrm>
            <a:off x="3498850" y="52095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: empirical mean of m</a:t>
            </a:r>
            <a:pPr algn="l" indent="0" marL="0">
              <a:buNone/>
            </a:pPr>
            <a:r>
              <a:rPr lang="en-US" sz="1800" baseline="30000" dirty="0">
                <a:solidFill>
                  <a:srgbClr val="00000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th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 feature</a:t>
            </a:r>
            <a:endParaRPr lang="en-US" sz="1800" dirty="0"/>
          </a:p>
        </p:txBody>
      </p:sp>
      <mc:AlternateContent>
        <mc:Choice xmlns:a14="http://schemas.microsoft.com/office/drawing/2010/main" Requires="a14">
          <p:sp>
            <p:nvSpPr>
              <p:cNvPr id="24" name="Equation OMML" descr="\sigma_{m}^{2} \,\: = \;\, \frac{1}{N}\sum_{i=1}^{N}\quad\, (x_{im} \; - \; \bar{x}_{m})^{2}"/>
              <p:cNvSpPr txBox="1"/>
              <p:nvPr/>
            </p:nvSpPr>
            <p:spPr>
              <a:xfrm>
                <a:off x="1422908" y="5746748"/>
                <a:ext cx="2692908" cy="6080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σ</m:t>
                          </m:r>
                        </m:e>
                        <m:sub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m</m:t>
                          </m:r>
                        </m:sub>
                        <m:sup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bSup>
                      <m:r>
                        <a:rPr lang="en-US" i="1" smtClean="0" sz="1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  =  </m:t>
                      </m:r>
                      <m:f>
                        <m:fPr>
                          <m:ctrlP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num>
                        <m:den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i=1</m:t>
                          </m:r>
                        </m:sub>
                        <m:sup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sup>
                        <m:e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  (</m:t>
                          </m:r>
                          <m:sSub>
                            <m:sSubPr>
                              <m:ctrlP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im</m:t>
                              </m:r>
                            </m:sub>
                          </m:sSub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 - </m:t>
                          </m:r>
                          <m:sSub>
                            <m:sSubPr>
                              <m:ctrlP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i="1" smtClean="0" sz="17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i="1" smtClean="0" sz="17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x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m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)</m:t>
                              </m:r>
                            </m:e>
                            <m:sup>
                              <m: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4" name="Image 4" descr="/home/ahmed/Projects/ai_llm_slides/videos/ml-intro/recreated_pptx/build/omml/slide_052/assets/eq_052_var_v2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22908" y="5746748"/>
                <a:ext cx="2692908" cy="608076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 18"/>
          <p:cNvSpPr/>
          <p:nvPr/>
        </p:nvSpPr>
        <p:spPr>
          <a:xfrm>
            <a:off x="4133850" y="58191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: empirical variance of m</a:t>
            </a:r>
            <a:pPr algn="l" indent="0" marL="0">
              <a:buNone/>
            </a:pPr>
            <a:r>
              <a:rPr lang="en-US" sz="1800" baseline="30000" dirty="0">
                <a:solidFill>
                  <a:srgbClr val="00000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th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 feature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 Distance </a:t>
            </a:r>
            <a:pPr algn="ctr" indent="0" marL="0">
              <a:buNone/>
            </a:pPr>
            <a:r>
              <a:rPr lang="en-US" sz="3000" b="1" u="sng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</a:t>
            </a:r>
            <a:pPr algn="ctr" indent="0" marL="0">
              <a:buNone/>
            </a:pPr>
            <a:r>
              <a:rPr lang="en-US" sz="30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11183112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A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780" y="185724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Vector  of bars: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443480" y="23434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Class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53330" y="233705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Class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37830" y="232435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Class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63480" y="23180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400" dirty="0"/>
          </a:p>
        </p:txBody>
      </p:sp>
      <p:pic>
        <p:nvPicPr>
          <p:cNvPr id="12" name="Image 0" descr="videos/ml-intro/recreated_pptx/build/assets/parens53/paren_lp_54_C00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8304" y="2692654"/>
            <a:ext cx="82296" cy="697992"/>
          </a:xfrm>
          <a:prstGeom prst="rect">
            <a:avLst/>
          </a:prstGeom>
        </p:spPr>
      </p:pic>
      <p:pic>
        <p:nvPicPr>
          <p:cNvPr id="13" name="Image 1" descr="videos/ml-intro/recreated_pptx/build/assets/parens53/paren_rp_54_C000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224" y="2692654"/>
            <a:ext cx="82296" cy="6979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79625" y="27038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1"/>
          <p:cNvSpPr/>
          <p:nvPr/>
        </p:nvSpPr>
        <p:spPr>
          <a:xfrm>
            <a:off x="2079625" y="30213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2300" dirty="0"/>
          </a:p>
        </p:txBody>
      </p:sp>
      <p:pic>
        <p:nvPicPr>
          <p:cNvPr id="16" name="Image 2" descr="videos/ml-intro/recreated_pptx/build/assets/parens53/paren_lp_54_C000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304" y="2692654"/>
            <a:ext cx="82296" cy="697992"/>
          </a:xfrm>
          <a:prstGeom prst="rect">
            <a:avLst/>
          </a:prstGeom>
        </p:spPr>
      </p:pic>
      <p:pic>
        <p:nvPicPr>
          <p:cNvPr id="17" name="Image 3" descr="videos/ml-intro/recreated_pptx/build/assets/parens53/paren_rp_54_C000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524" y="2692654"/>
            <a:ext cx="82296" cy="6979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841625" y="27038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3"/>
          <p:cNvSpPr/>
          <p:nvPr/>
        </p:nvSpPr>
        <p:spPr>
          <a:xfrm>
            <a:off x="2841625" y="30213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2300" dirty="0"/>
          </a:p>
        </p:txBody>
      </p:sp>
      <p:pic>
        <p:nvPicPr>
          <p:cNvPr id="20" name="Image 4" descr="videos/ml-intro/recreated_pptx/build/assets/parens53/paren_lp_54_C0000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9604" y="2692654"/>
            <a:ext cx="82296" cy="697992"/>
          </a:xfrm>
          <a:prstGeom prst="rect">
            <a:avLst/>
          </a:prstGeom>
        </p:spPr>
      </p:pic>
      <p:pic>
        <p:nvPicPr>
          <p:cNvPr id="21" name="Image 5" descr="videos/ml-intro/recreated_pptx/build/assets/parens53/paren_rp_54_C0000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2524" y="2692654"/>
            <a:ext cx="82296" cy="69799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594100" y="27038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15"/>
          <p:cNvSpPr/>
          <p:nvPr/>
        </p:nvSpPr>
        <p:spPr>
          <a:xfrm>
            <a:off x="3594100" y="30213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2300" dirty="0"/>
          </a:p>
        </p:txBody>
      </p:sp>
      <p:pic>
        <p:nvPicPr>
          <p:cNvPr id="24" name="Image 6" descr="videos/ml-intro/recreated_pptx/build/assets/parens53/paren_lp_54_0000C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8004" y="2692654"/>
            <a:ext cx="82296" cy="697992"/>
          </a:xfrm>
          <a:prstGeom prst="rect">
            <a:avLst/>
          </a:prstGeom>
        </p:spPr>
      </p:pic>
      <p:pic>
        <p:nvPicPr>
          <p:cNvPr id="25" name="Image 7" descr="videos/ml-intro/recreated_pptx/build/assets/parens53/paren_rp_54_0000C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3624" y="2692654"/>
            <a:ext cx="82296" cy="69799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778375" y="27038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300" dirty="0"/>
          </a:p>
        </p:txBody>
      </p:sp>
      <p:sp>
        <p:nvSpPr>
          <p:cNvPr id="27" name="Text 17"/>
          <p:cNvSpPr/>
          <p:nvPr/>
        </p:nvSpPr>
        <p:spPr>
          <a:xfrm>
            <a:off x="4778375" y="30213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2300" dirty="0"/>
          </a:p>
        </p:txBody>
      </p:sp>
      <p:pic>
        <p:nvPicPr>
          <p:cNvPr id="28" name="Image 8" descr="videos/ml-intro/recreated_pptx/build/assets/parens53/paren_lp_54_0000C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0004" y="2692654"/>
            <a:ext cx="82296" cy="697992"/>
          </a:xfrm>
          <a:prstGeom prst="rect">
            <a:avLst/>
          </a:prstGeom>
        </p:spPr>
      </p:pic>
      <p:pic>
        <p:nvPicPr>
          <p:cNvPr id="29" name="Image 9" descr="videos/ml-intro/recreated_pptx/build/assets/parens53/paren_rp_54_0000CC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2924" y="2692654"/>
            <a:ext cx="82296" cy="69799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527675" y="27038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300" dirty="0"/>
          </a:p>
        </p:txBody>
      </p:sp>
      <p:sp>
        <p:nvSpPr>
          <p:cNvPr id="31" name="Text 19"/>
          <p:cNvSpPr/>
          <p:nvPr/>
        </p:nvSpPr>
        <p:spPr>
          <a:xfrm>
            <a:off x="5527675" y="30213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2300" dirty="0"/>
          </a:p>
        </p:txBody>
      </p:sp>
      <p:pic>
        <p:nvPicPr>
          <p:cNvPr id="32" name="Image 10" descr="videos/ml-intro/recreated_pptx/build/assets/parens53/paren_lp_54_0000CC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2004" y="2692654"/>
            <a:ext cx="82296" cy="697992"/>
          </a:xfrm>
          <a:prstGeom prst="rect">
            <a:avLst/>
          </a:prstGeom>
        </p:spPr>
      </p:pic>
      <p:pic>
        <p:nvPicPr>
          <p:cNvPr id="33" name="Image 11" descr="videos/ml-intro/recreated_pptx/build/assets/parens53/paren_rp_54_0000CC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97624" y="2692654"/>
            <a:ext cx="82296" cy="697992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6289675" y="27038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300" dirty="0"/>
          </a:p>
        </p:txBody>
      </p:sp>
      <p:sp>
        <p:nvSpPr>
          <p:cNvPr id="35" name="Text 21"/>
          <p:cNvSpPr/>
          <p:nvPr/>
        </p:nvSpPr>
        <p:spPr>
          <a:xfrm>
            <a:off x="6289675" y="30213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2300" dirty="0"/>
          </a:p>
        </p:txBody>
      </p:sp>
      <p:pic>
        <p:nvPicPr>
          <p:cNvPr id="36" name="Image 12" descr="videos/ml-intro/recreated_pptx/build/assets/parens53/paren_lp_54_2E8B2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53604" y="2692654"/>
            <a:ext cx="82296" cy="697992"/>
          </a:xfrm>
          <a:prstGeom prst="rect">
            <a:avLst/>
          </a:prstGeom>
        </p:spPr>
      </p:pic>
      <p:pic>
        <p:nvPicPr>
          <p:cNvPr id="37" name="Image 13" descr="videos/ml-intro/recreated_pptx/build/assets/parens53/paren_rp_54_2E8B2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69224" y="2692654"/>
            <a:ext cx="82296" cy="697992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7670800" y="27038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2E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300" dirty="0"/>
          </a:p>
        </p:txBody>
      </p:sp>
      <p:sp>
        <p:nvSpPr>
          <p:cNvPr id="39" name="Text 23"/>
          <p:cNvSpPr/>
          <p:nvPr/>
        </p:nvSpPr>
        <p:spPr>
          <a:xfrm>
            <a:off x="7670800" y="30213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2E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2300" dirty="0"/>
          </a:p>
        </p:txBody>
      </p:sp>
      <p:pic>
        <p:nvPicPr>
          <p:cNvPr id="40" name="Image 14" descr="videos/ml-intro/recreated_pptx/build/assets/parens53/paren_lp_54_2E8B22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28304" y="2692654"/>
            <a:ext cx="82296" cy="697992"/>
          </a:xfrm>
          <a:prstGeom prst="rect">
            <a:avLst/>
          </a:prstGeom>
        </p:spPr>
      </p:pic>
      <p:pic>
        <p:nvPicPr>
          <p:cNvPr id="41" name="Image 15" descr="videos/ml-intro/recreated_pptx/build/assets/parens53/paren_rp_54_2E8B22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31224" y="2692654"/>
            <a:ext cx="82296" cy="697992"/>
          </a:xfrm>
          <a:prstGeom prst="rect">
            <a:avLst/>
          </a:prstGeom>
        </p:spPr>
      </p:pic>
      <p:sp>
        <p:nvSpPr>
          <p:cNvPr id="42" name="Text 24"/>
          <p:cNvSpPr/>
          <p:nvPr/>
        </p:nvSpPr>
        <p:spPr>
          <a:xfrm>
            <a:off x="8432800" y="27038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2E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300" dirty="0"/>
          </a:p>
        </p:txBody>
      </p:sp>
      <p:sp>
        <p:nvSpPr>
          <p:cNvPr id="43" name="Text 25"/>
          <p:cNvSpPr/>
          <p:nvPr/>
        </p:nvSpPr>
        <p:spPr>
          <a:xfrm>
            <a:off x="8432800" y="30213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2E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2300" dirty="0"/>
          </a:p>
        </p:txBody>
      </p:sp>
      <p:pic>
        <p:nvPicPr>
          <p:cNvPr id="44" name="Image 16" descr="videos/ml-intro/recreated_pptx/build/assets/parens53/paren_lp_54_2E8B22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77604" y="2692654"/>
            <a:ext cx="82296" cy="697992"/>
          </a:xfrm>
          <a:prstGeom prst="rect">
            <a:avLst/>
          </a:prstGeom>
        </p:spPr>
      </p:pic>
      <p:pic>
        <p:nvPicPr>
          <p:cNvPr id="45" name="Image 17" descr="videos/ml-intro/recreated_pptx/build/assets/parens53/paren_rp_54_2E8B22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93224" y="2692654"/>
            <a:ext cx="82296" cy="697992"/>
          </a:xfrm>
          <a:prstGeom prst="rect">
            <a:avLst/>
          </a:prstGeom>
        </p:spPr>
      </p:pic>
      <p:sp>
        <p:nvSpPr>
          <p:cNvPr id="46" name="Text 26"/>
          <p:cNvSpPr/>
          <p:nvPr/>
        </p:nvSpPr>
        <p:spPr>
          <a:xfrm>
            <a:off x="9191625" y="27038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2E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300" dirty="0"/>
          </a:p>
        </p:txBody>
      </p:sp>
      <p:sp>
        <p:nvSpPr>
          <p:cNvPr id="47" name="Text 27"/>
          <p:cNvSpPr/>
          <p:nvPr/>
        </p:nvSpPr>
        <p:spPr>
          <a:xfrm>
            <a:off x="9191625" y="30213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2E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300" dirty="0"/>
          </a:p>
        </p:txBody>
      </p:sp>
      <p:pic>
        <p:nvPicPr>
          <p:cNvPr id="48" name="Image 18" descr="videos/ml-intro/recreated_pptx/build/assets/parens53/paren_lp_58_000000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34904" y="2687828"/>
            <a:ext cx="94488" cy="748284"/>
          </a:xfrm>
          <a:prstGeom prst="rect">
            <a:avLst/>
          </a:prstGeom>
        </p:spPr>
      </p:pic>
      <p:pic>
        <p:nvPicPr>
          <p:cNvPr id="49" name="Image 19" descr="videos/ml-intro/recreated_pptx/build/assets/parens53/paren_rp_58_000000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36808" y="2687828"/>
            <a:ext cx="94488" cy="748284"/>
          </a:xfrm>
          <a:prstGeom prst="rect">
            <a:avLst/>
          </a:prstGeom>
        </p:spPr>
      </p:pic>
      <p:sp>
        <p:nvSpPr>
          <p:cNvPr id="50" name="Text 28"/>
          <p:cNvSpPr/>
          <p:nvPr/>
        </p:nvSpPr>
        <p:spPr>
          <a:xfrm>
            <a:off x="10439400" y="27038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300" dirty="0"/>
          </a:p>
        </p:txBody>
      </p:sp>
      <p:sp>
        <p:nvSpPr>
          <p:cNvPr id="51" name="Text 29"/>
          <p:cNvSpPr/>
          <p:nvPr/>
        </p:nvSpPr>
        <p:spPr>
          <a:xfrm>
            <a:off x="10439400" y="3021330"/>
            <a:ext cx="76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2300" dirty="0"/>
          </a:p>
        </p:txBody>
      </p:sp>
      <p:sp>
        <p:nvSpPr>
          <p:cNvPr id="52" name="Text 30"/>
          <p:cNvSpPr/>
          <p:nvPr/>
        </p:nvSpPr>
        <p:spPr>
          <a:xfrm>
            <a:off x="1076960" y="27990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(KG)</a:t>
            </a:r>
            <a:endParaRPr lang="en-US" sz="1500" dirty="0"/>
          </a:p>
        </p:txBody>
      </p:sp>
      <p:sp>
        <p:nvSpPr>
          <p:cNvPr id="53" name="Text 31"/>
          <p:cNvSpPr/>
          <p:nvPr/>
        </p:nvSpPr>
        <p:spPr>
          <a:xfrm>
            <a:off x="1076960" y="30784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(cm)</a:t>
            </a:r>
            <a:endParaRPr lang="en-US" sz="1500" dirty="0"/>
          </a:p>
        </p:txBody>
      </p:sp>
      <p:sp>
        <p:nvSpPr>
          <p:cNvPr id="54" name="Text 32"/>
          <p:cNvSpPr/>
          <p:nvPr/>
        </p:nvSpPr>
        <p:spPr>
          <a:xfrm>
            <a:off x="984250" y="3550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Squared distance between each vector and test vector</a:t>
            </a:r>
            <a:endParaRPr lang="en-US" sz="1250" dirty="0"/>
          </a:p>
        </p:txBody>
      </p:sp>
      <p:sp>
        <p:nvSpPr>
          <p:cNvPr id="55" name="Shape 33"/>
          <p:cNvSpPr/>
          <p:nvPr/>
        </p:nvSpPr>
        <p:spPr>
          <a:xfrm>
            <a:off x="2249424" y="3797320"/>
            <a:ext cx="585216" cy="44439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E8D44D"/>
            </a:solidFill>
            <a:prstDash val="solid"/>
          </a:ln>
        </p:spPr>
      </p:sp>
      <p:sp>
        <p:nvSpPr>
          <p:cNvPr id="56" name="Text 34"/>
          <p:cNvSpPr/>
          <p:nvPr/>
        </p:nvSpPr>
        <p:spPr>
          <a:xfrm>
            <a:off x="2148840" y="3831336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endParaRPr lang="en-US" sz="2000" dirty="0"/>
          </a:p>
        </p:txBody>
      </p:sp>
      <p:sp>
        <p:nvSpPr>
          <p:cNvPr id="57" name="Text 35"/>
          <p:cNvSpPr/>
          <p:nvPr/>
        </p:nvSpPr>
        <p:spPr>
          <a:xfrm>
            <a:off x="2331720" y="38313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425</a:t>
            </a:r>
            <a:endParaRPr lang="en-US" sz="2000" dirty="0"/>
          </a:p>
        </p:txBody>
      </p:sp>
      <p:sp>
        <p:nvSpPr>
          <p:cNvPr id="58" name="Text 36"/>
          <p:cNvSpPr/>
          <p:nvPr/>
        </p:nvSpPr>
        <p:spPr>
          <a:xfrm>
            <a:off x="2880360" y="38313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916</a:t>
            </a:r>
            <a:endParaRPr lang="en-US" sz="2000" dirty="0"/>
          </a:p>
        </p:txBody>
      </p:sp>
      <p:sp>
        <p:nvSpPr>
          <p:cNvPr id="59" name="Text 37"/>
          <p:cNvSpPr/>
          <p:nvPr/>
        </p:nvSpPr>
        <p:spPr>
          <a:xfrm>
            <a:off x="3429000" y="38313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6409</a:t>
            </a:r>
            <a:endParaRPr lang="en-US" sz="2000" dirty="0"/>
          </a:p>
        </p:txBody>
      </p:sp>
      <p:sp>
        <p:nvSpPr>
          <p:cNvPr id="60" name="Text 38"/>
          <p:cNvSpPr/>
          <p:nvPr/>
        </p:nvSpPr>
        <p:spPr>
          <a:xfrm>
            <a:off x="4005072" y="3831336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</p:txBody>
      </p:sp>
      <p:sp>
        <p:nvSpPr>
          <p:cNvPr id="61" name="Text 39"/>
          <p:cNvSpPr/>
          <p:nvPr/>
        </p:nvSpPr>
        <p:spPr>
          <a:xfrm>
            <a:off x="5120640" y="383133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(900   6401   16904)</a:t>
            </a:r>
            <a:endParaRPr lang="en-US" sz="2000" dirty="0"/>
          </a:p>
        </p:txBody>
      </p:sp>
      <p:sp>
        <p:nvSpPr>
          <p:cNvPr id="62" name="Text 40"/>
          <p:cNvSpPr/>
          <p:nvPr/>
        </p:nvSpPr>
        <p:spPr>
          <a:xfrm>
            <a:off x="7863840" y="383133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2E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(925   16936   32449)</a:t>
            </a:r>
            <a:endParaRPr lang="en-US" sz="2000" dirty="0"/>
          </a:p>
        </p:txBody>
      </p:sp>
      <p:sp>
        <p:nvSpPr>
          <p:cNvPr id="63" name="Shape 41"/>
          <p:cNvSpPr/>
          <p:nvPr/>
        </p:nvSpPr>
        <p:spPr>
          <a:xfrm>
            <a:off x="7416800" y="5575300"/>
            <a:ext cx="3949700" cy="914400"/>
          </a:xfrm>
          <a:prstGeom prst="rect">
            <a:avLst/>
          </a:prstGeom>
          <a:solidFill>
            <a:srgbClr val="F5F5DC"/>
          </a:solidFill>
          <a:ln w="6350">
            <a:solidFill>
              <a:srgbClr val="F5F5DC"/>
            </a:solidFill>
            <a:prstDash val="solid"/>
          </a:ln>
        </p:spPr>
      </p:sp>
      <p:pic>
        <p:nvPicPr>
          <p:cNvPr id="64" name="Image 20" descr="videos/ml-intro/recreated_pptx/build/assets/parens53/paren_lp_57_000000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6604" y="5658104"/>
            <a:ext cx="88392" cy="736092"/>
          </a:xfrm>
          <a:prstGeom prst="rect">
            <a:avLst/>
          </a:prstGeom>
        </p:spPr>
      </p:pic>
      <p:pic>
        <p:nvPicPr>
          <p:cNvPr id="65" name="Image 21" descr="videos/ml-intro/recreated_pptx/build/assets/parens53/paren_rp_57_000000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21904" y="5658104"/>
            <a:ext cx="88392" cy="736092"/>
          </a:xfrm>
          <a:prstGeom prst="rect">
            <a:avLst/>
          </a:prstGeom>
        </p:spPr>
      </p:pic>
      <p:sp>
        <p:nvSpPr>
          <p:cNvPr id="66" name="Text 42"/>
          <p:cNvSpPr/>
          <p:nvPr/>
        </p:nvSpPr>
        <p:spPr>
          <a:xfrm>
            <a:off x="7620000" y="5688330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67" name="Text 43"/>
          <p:cNvSpPr/>
          <p:nvPr/>
        </p:nvSpPr>
        <p:spPr>
          <a:xfrm>
            <a:off x="7620000" y="6005830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2200" dirty="0"/>
          </a:p>
        </p:txBody>
      </p:sp>
      <p:sp>
        <p:nvSpPr>
          <p:cNvPr id="68" name="Text 44"/>
          <p:cNvSpPr/>
          <p:nvPr/>
        </p:nvSpPr>
        <p:spPr>
          <a:xfrm>
            <a:off x="8515350" y="5897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Belongs to   </a:t>
            </a:r>
            <a:pPr algn="l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Class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 Distance </a:t>
            </a:r>
            <a:pPr algn="ctr" indent="0" marL="0">
              <a:buNone/>
            </a:pPr>
            <a:r>
              <a:rPr lang="en-US" sz="3000" b="1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</a:t>
            </a:r>
            <a:pPr algn="ctr" indent="0" marL="0">
              <a:buNone/>
            </a:pPr>
            <a:r>
              <a:rPr lang="en-US" sz="3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89000" y="1784350"/>
            <a:ext cx="10350500" cy="4819650"/>
          </a:xfrm>
          <a:prstGeom prst="rect">
            <a:avLst/>
          </a:prstGeom>
          <a:solidFill>
            <a:srgbClr val="FFFFFF"/>
          </a:solidFill>
          <a:ln w="41275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" y="1836483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Vector  for bars: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2387600" y="2314575"/>
            <a:ext cx="157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Class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68850" y="2314575"/>
            <a:ext cx="157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Class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72350" y="2314575"/>
            <a:ext cx="157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Class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97950" y="2314575"/>
            <a:ext cx="157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931400" y="2314575"/>
            <a:ext cx="157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S.D</a:t>
            </a:r>
            <a:endParaRPr lang="en-US" sz="1500" dirty="0"/>
          </a:p>
        </p:txBody>
      </p:sp>
      <p:pic>
        <p:nvPicPr>
          <p:cNvPr id="13" name="Image 0" descr="videos/ml-intro/recreated_pptx/build/assets/parens54/paren_feat_lp_48.0_CC0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8304" y="2724404"/>
            <a:ext cx="76200" cy="621792"/>
          </a:xfrm>
          <a:prstGeom prst="rect">
            <a:avLst/>
          </a:prstGeom>
        </p:spPr>
      </p:pic>
      <p:pic>
        <p:nvPicPr>
          <p:cNvPr id="14" name="Image 1" descr="videos/ml-intro/recreated_pptx/build/assets/parens54/paren_feat_rp_48.0_CC00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920" y="2724404"/>
            <a:ext cx="76200" cy="6217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65350" y="27002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2165350" y="30177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</a:t>
            </a:r>
            <a:endParaRPr lang="en-US" sz="2200" dirty="0"/>
          </a:p>
        </p:txBody>
      </p:sp>
      <p:pic>
        <p:nvPicPr>
          <p:cNvPr id="17" name="Image 2" descr="videos/ml-intro/recreated_pptx/build/assets/parens54/paren_feat_lp_48.0_CC00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304" y="2724404"/>
            <a:ext cx="76200" cy="621792"/>
          </a:xfrm>
          <a:prstGeom prst="rect">
            <a:avLst/>
          </a:prstGeom>
        </p:spPr>
      </p:pic>
      <p:pic>
        <p:nvPicPr>
          <p:cNvPr id="18" name="Image 3" descr="videos/ml-intro/recreated_pptx/build/assets/parens54/paren_feat_rp_48.0_CC00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1220" y="2724404"/>
            <a:ext cx="76200" cy="6217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921000" y="27002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2921000" y="30177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150</a:t>
            </a:r>
            <a:endParaRPr lang="en-US" sz="2200" dirty="0"/>
          </a:p>
        </p:txBody>
      </p:sp>
      <p:pic>
        <p:nvPicPr>
          <p:cNvPr id="21" name="Image 4" descr="videos/ml-intro/recreated_pptx/build/assets/parens54/paren_feat_lp_48.0_CC000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9604" y="2724404"/>
            <a:ext cx="76200" cy="621792"/>
          </a:xfrm>
          <a:prstGeom prst="rect">
            <a:avLst/>
          </a:prstGeom>
        </p:spPr>
      </p:pic>
      <p:pic>
        <p:nvPicPr>
          <p:cNvPr id="22" name="Image 5" descr="videos/ml-intro/recreated_pptx/build/assets/parens54/paren_feat_rp_48.0_CC000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3220" y="2724404"/>
            <a:ext cx="76200" cy="62179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676650" y="27002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16"/>
          <p:cNvSpPr/>
          <p:nvPr/>
        </p:nvSpPr>
        <p:spPr>
          <a:xfrm>
            <a:off x="3676650" y="30177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</a:t>
            </a:r>
            <a:endParaRPr lang="en-US" sz="2200" dirty="0"/>
          </a:p>
        </p:txBody>
      </p:sp>
      <p:pic>
        <p:nvPicPr>
          <p:cNvPr id="25" name="Image 6" descr="videos/ml-intro/recreated_pptx/build/assets/parens54/paren_feat_lp_48.0_0000C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9404" y="2724404"/>
            <a:ext cx="76200" cy="621792"/>
          </a:xfrm>
          <a:prstGeom prst="rect">
            <a:avLst/>
          </a:prstGeom>
        </p:spPr>
      </p:pic>
      <p:pic>
        <p:nvPicPr>
          <p:cNvPr id="26" name="Image 7" descr="videos/ml-intro/recreated_pptx/build/assets/parens54/paren_feat_rp_48.0_0000C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0320" y="2724404"/>
            <a:ext cx="76200" cy="62179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610100" y="27002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2200" dirty="0"/>
          </a:p>
        </p:txBody>
      </p:sp>
      <p:sp>
        <p:nvSpPr>
          <p:cNvPr id="28" name="Text 18"/>
          <p:cNvSpPr/>
          <p:nvPr/>
        </p:nvSpPr>
        <p:spPr>
          <a:xfrm>
            <a:off x="4610100" y="30177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150</a:t>
            </a:r>
            <a:endParaRPr lang="en-US" sz="2200" dirty="0"/>
          </a:p>
        </p:txBody>
      </p:sp>
      <p:pic>
        <p:nvPicPr>
          <p:cNvPr id="29" name="Image 8" descr="videos/ml-intro/recreated_pptx/build/assets/parens54/paren_feat_lp_48.0_0000C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1404" y="2724404"/>
            <a:ext cx="76200" cy="621792"/>
          </a:xfrm>
          <a:prstGeom prst="rect">
            <a:avLst/>
          </a:prstGeom>
        </p:spPr>
      </p:pic>
      <p:pic>
        <p:nvPicPr>
          <p:cNvPr id="30" name="Image 9" descr="videos/ml-intro/recreated_pptx/build/assets/parens54/paren_feat_rp_48.0_0000CC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5020" y="2724404"/>
            <a:ext cx="76200" cy="621792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5378450" y="27002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2200" dirty="0"/>
          </a:p>
        </p:txBody>
      </p:sp>
      <p:sp>
        <p:nvSpPr>
          <p:cNvPr id="32" name="Text 20"/>
          <p:cNvSpPr/>
          <p:nvPr/>
        </p:nvSpPr>
        <p:spPr>
          <a:xfrm>
            <a:off x="5378450" y="30177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200</a:t>
            </a:r>
            <a:endParaRPr lang="en-US" sz="2200" dirty="0"/>
          </a:p>
        </p:txBody>
      </p:sp>
      <p:pic>
        <p:nvPicPr>
          <p:cNvPr id="33" name="Image 10" descr="videos/ml-intro/recreated_pptx/build/assets/parens54/paren_feat_lp_48.0_0000CC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53404" y="2724404"/>
            <a:ext cx="76200" cy="621792"/>
          </a:xfrm>
          <a:prstGeom prst="rect">
            <a:avLst/>
          </a:prstGeom>
        </p:spPr>
      </p:pic>
      <p:pic>
        <p:nvPicPr>
          <p:cNvPr id="34" name="Image 11" descr="videos/ml-intro/recreated_pptx/build/assets/parens54/paren_feat_rp_48.0_0000CC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49720" y="2724404"/>
            <a:ext cx="76200" cy="621792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6146800" y="27002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2200" dirty="0"/>
          </a:p>
        </p:txBody>
      </p:sp>
      <p:sp>
        <p:nvSpPr>
          <p:cNvPr id="36" name="Text 22"/>
          <p:cNvSpPr/>
          <p:nvPr/>
        </p:nvSpPr>
        <p:spPr>
          <a:xfrm>
            <a:off x="6146800" y="30177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250</a:t>
            </a:r>
            <a:endParaRPr lang="en-US" sz="2200" dirty="0"/>
          </a:p>
        </p:txBody>
      </p:sp>
      <p:pic>
        <p:nvPicPr>
          <p:cNvPr id="37" name="Image 12" descr="videos/ml-intro/recreated_pptx/build/assets/parens54/paren_feat_lp_48.0_2E8B22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56704" y="2724404"/>
            <a:ext cx="76200" cy="621792"/>
          </a:xfrm>
          <a:prstGeom prst="rect">
            <a:avLst/>
          </a:prstGeom>
        </p:spPr>
      </p:pic>
      <p:pic>
        <p:nvPicPr>
          <p:cNvPr id="38" name="Image 13" descr="videos/ml-intro/recreated_pptx/build/assets/parens54/paren_feat_rp_48.0_2E8B2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7620" y="2724404"/>
            <a:ext cx="76200" cy="621792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7137400" y="27002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2200" dirty="0"/>
          </a:p>
        </p:txBody>
      </p:sp>
      <p:sp>
        <p:nvSpPr>
          <p:cNvPr id="40" name="Text 24"/>
          <p:cNvSpPr/>
          <p:nvPr/>
        </p:nvSpPr>
        <p:spPr>
          <a:xfrm>
            <a:off x="7137400" y="30177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150</a:t>
            </a:r>
            <a:endParaRPr lang="en-US" sz="2200" dirty="0"/>
          </a:p>
        </p:txBody>
      </p:sp>
      <p:pic>
        <p:nvPicPr>
          <p:cNvPr id="41" name="Image 14" descr="videos/ml-intro/recreated_pptx/build/assets/parens54/paren_feat_lp_48.0_2E8B22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18704" y="2724404"/>
            <a:ext cx="76200" cy="621792"/>
          </a:xfrm>
          <a:prstGeom prst="rect">
            <a:avLst/>
          </a:prstGeom>
        </p:spPr>
      </p:pic>
      <p:pic>
        <p:nvPicPr>
          <p:cNvPr id="42" name="Image 15" descr="videos/ml-intro/recreated_pptx/build/assets/parens54/paren_feat_rp_48.0_2E8B22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9620" y="2724404"/>
            <a:ext cx="76200" cy="621792"/>
          </a:xfrm>
          <a:prstGeom prst="rect">
            <a:avLst/>
          </a:prstGeom>
        </p:spPr>
      </p:pic>
      <p:sp>
        <p:nvSpPr>
          <p:cNvPr id="43" name="Text 25"/>
          <p:cNvSpPr/>
          <p:nvPr/>
        </p:nvSpPr>
        <p:spPr>
          <a:xfrm>
            <a:off x="7899400" y="27002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2200" dirty="0"/>
          </a:p>
        </p:txBody>
      </p:sp>
      <p:sp>
        <p:nvSpPr>
          <p:cNvPr id="44" name="Text 26"/>
          <p:cNvSpPr/>
          <p:nvPr/>
        </p:nvSpPr>
        <p:spPr>
          <a:xfrm>
            <a:off x="7899400" y="30177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250</a:t>
            </a:r>
            <a:endParaRPr lang="en-US" sz="2200" dirty="0"/>
          </a:p>
        </p:txBody>
      </p:sp>
      <p:pic>
        <p:nvPicPr>
          <p:cNvPr id="45" name="Image 16" descr="videos/ml-intro/recreated_pptx/build/assets/parens54/paren_feat_lp_48.0_2E8B22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80704" y="2724404"/>
            <a:ext cx="76200" cy="621792"/>
          </a:xfrm>
          <a:prstGeom prst="rect">
            <a:avLst/>
          </a:prstGeom>
        </p:spPr>
      </p:pic>
      <p:pic>
        <p:nvPicPr>
          <p:cNvPr id="46" name="Image 17" descr="videos/ml-intro/recreated_pptx/build/assets/parens54/paren_feat_rp_48.0_2E8B22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64320" y="2724404"/>
            <a:ext cx="76200" cy="621792"/>
          </a:xfrm>
          <a:prstGeom prst="rect">
            <a:avLst/>
          </a:prstGeom>
        </p:spPr>
      </p:pic>
      <p:sp>
        <p:nvSpPr>
          <p:cNvPr id="47" name="Text 27"/>
          <p:cNvSpPr/>
          <p:nvPr/>
        </p:nvSpPr>
        <p:spPr>
          <a:xfrm>
            <a:off x="8667750" y="27002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2200" dirty="0"/>
          </a:p>
        </p:txBody>
      </p:sp>
      <p:sp>
        <p:nvSpPr>
          <p:cNvPr id="48" name="Text 28"/>
          <p:cNvSpPr/>
          <p:nvPr/>
        </p:nvSpPr>
        <p:spPr>
          <a:xfrm>
            <a:off x="8667750" y="3017774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300</a:t>
            </a:r>
            <a:endParaRPr lang="en-US" sz="2200" dirty="0"/>
          </a:p>
        </p:txBody>
      </p:sp>
      <p:pic>
        <p:nvPicPr>
          <p:cNvPr id="49" name="Image 18" descr="videos/ml-intro/recreated_pptx/build/assets/parens54/paren_mean_lp_42.5_B3B3B3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79204" y="2751328"/>
            <a:ext cx="76200" cy="551688"/>
          </a:xfrm>
          <a:prstGeom prst="rect">
            <a:avLst/>
          </a:prstGeom>
        </p:spPr>
      </p:pic>
      <p:pic>
        <p:nvPicPr>
          <p:cNvPr id="50" name="Image 19" descr="videos/ml-intro/recreated_pptx/build/assets/parens54/paren_mean_rp_42.5_B3B3B3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78720" y="2751328"/>
            <a:ext cx="76200" cy="551688"/>
          </a:xfrm>
          <a:prstGeom prst="rect">
            <a:avLst/>
          </a:prstGeom>
        </p:spPr>
      </p:pic>
      <p:sp>
        <p:nvSpPr>
          <p:cNvPr id="51" name="Text 29"/>
          <p:cNvSpPr/>
          <p:nvPr/>
        </p:nvSpPr>
        <p:spPr>
          <a:xfrm>
            <a:off x="9321800" y="27686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52" name="Text 30"/>
          <p:cNvSpPr/>
          <p:nvPr/>
        </p:nvSpPr>
        <p:spPr>
          <a:xfrm>
            <a:off x="9321800" y="30353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194.44</a:t>
            </a:r>
            <a:endParaRPr lang="en-US" sz="1600" dirty="0"/>
          </a:p>
        </p:txBody>
      </p:sp>
      <p:pic>
        <p:nvPicPr>
          <p:cNvPr id="53" name="Image 20" descr="videos/ml-intro/recreated_pptx/build/assets/parens54/paren_sd_lp_43.0_B3B3B3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19004" y="2738628"/>
            <a:ext cx="76200" cy="557784"/>
          </a:xfrm>
          <a:prstGeom prst="rect">
            <a:avLst/>
          </a:prstGeom>
        </p:spPr>
      </p:pic>
      <p:pic>
        <p:nvPicPr>
          <p:cNvPr id="54" name="Image 21" descr="videos/ml-intro/recreated_pptx/build/assets/parens54/paren_sd_rp_43.0_B3B3B3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31220" y="2738628"/>
            <a:ext cx="76200" cy="557784"/>
          </a:xfrm>
          <a:prstGeom prst="rect">
            <a:avLst/>
          </a:prstGeom>
        </p:spPr>
      </p:pic>
      <p:sp>
        <p:nvSpPr>
          <p:cNvPr id="55" name="Text 31"/>
          <p:cNvSpPr/>
          <p:nvPr/>
        </p:nvSpPr>
        <p:spPr>
          <a:xfrm>
            <a:off x="10267950" y="27686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4.163</a:t>
            </a:r>
            <a:endParaRPr lang="en-US" sz="1600" dirty="0"/>
          </a:p>
        </p:txBody>
      </p:sp>
      <p:sp>
        <p:nvSpPr>
          <p:cNvPr id="56" name="Text 32"/>
          <p:cNvSpPr/>
          <p:nvPr/>
        </p:nvSpPr>
        <p:spPr>
          <a:xfrm>
            <a:off x="10267950" y="3035300"/>
            <a:ext cx="889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59.835</a:t>
            </a:r>
            <a:endParaRPr lang="en-US" sz="1600" dirty="0"/>
          </a:p>
        </p:txBody>
      </p:sp>
      <p:sp>
        <p:nvSpPr>
          <p:cNvPr id="57" name="Text 33"/>
          <p:cNvSpPr/>
          <p:nvPr/>
        </p:nvSpPr>
        <p:spPr>
          <a:xfrm>
            <a:off x="1054100" y="2809621"/>
            <a:ext cx="1231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 (KG)</a:t>
            </a:r>
            <a:endParaRPr lang="en-US" sz="1300" dirty="0"/>
          </a:p>
        </p:txBody>
      </p:sp>
      <p:sp>
        <p:nvSpPr>
          <p:cNvPr id="58" name="Text 34"/>
          <p:cNvSpPr/>
          <p:nvPr/>
        </p:nvSpPr>
        <p:spPr>
          <a:xfrm>
            <a:off x="1066800" y="3101721"/>
            <a:ext cx="1231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Length (cm)</a:t>
            </a:r>
            <a:endParaRPr lang="en-US" sz="1300" dirty="0"/>
          </a:p>
        </p:txBody>
      </p:sp>
      <p:sp>
        <p:nvSpPr>
          <p:cNvPr id="59" name="Text 35"/>
          <p:cNvSpPr/>
          <p:nvPr/>
        </p:nvSpPr>
        <p:spPr>
          <a:xfrm>
            <a:off x="3225800" y="2578100"/>
            <a:ext cx="330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3B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60" name="Text 36"/>
          <p:cNvSpPr/>
          <p:nvPr/>
        </p:nvSpPr>
        <p:spPr>
          <a:xfrm>
            <a:off x="2044700" y="3813175"/>
            <a:ext cx="241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</a:t>
            </a:r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 Class</a:t>
            </a:r>
            <a:endParaRPr lang="en-US" sz="1500" dirty="0"/>
          </a:p>
        </p:txBody>
      </p:sp>
      <p:sp>
        <p:nvSpPr>
          <p:cNvPr id="61" name="Text 37"/>
          <p:cNvSpPr/>
          <p:nvPr/>
        </p:nvSpPr>
        <p:spPr>
          <a:xfrm>
            <a:off x="4591050" y="3813175"/>
            <a:ext cx="241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</a:t>
            </a:r>
            <a:pPr algn="ctr" indent="0" marL="0">
              <a:buNone/>
            </a:pPr>
            <a:r>
              <a:rPr lang="en-US" sz="15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Blue Class</a:t>
            </a:r>
            <a:endParaRPr lang="en-US" sz="1500" dirty="0"/>
          </a:p>
        </p:txBody>
      </p:sp>
      <p:sp>
        <p:nvSpPr>
          <p:cNvPr id="62" name="Text 38"/>
          <p:cNvSpPr/>
          <p:nvPr/>
        </p:nvSpPr>
        <p:spPr>
          <a:xfrm>
            <a:off x="7073900" y="3813175"/>
            <a:ext cx="241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</a:t>
            </a:r>
            <a:pPr algn="ctr" indent="0" marL="0">
              <a:buNone/>
            </a:pPr>
            <a:r>
              <a:rPr lang="en-US" sz="1500" b="1" dirty="0">
                <a:solidFill>
                  <a:srgbClr val="2E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Green Class</a:t>
            </a:r>
            <a:endParaRPr lang="en-US" sz="1500" dirty="0"/>
          </a:p>
        </p:txBody>
      </p:sp>
      <p:sp>
        <p:nvSpPr>
          <p:cNvPr id="63" name="Text 39"/>
          <p:cNvSpPr/>
          <p:nvPr/>
        </p:nvSpPr>
        <p:spPr>
          <a:xfrm>
            <a:off x="9436100" y="3813175"/>
            <a:ext cx="190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</a:t>
            </a:r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</a:t>
            </a:r>
            <a:endParaRPr lang="en-US" sz="1500" dirty="0"/>
          </a:p>
        </p:txBody>
      </p:sp>
      <p:sp>
        <p:nvSpPr>
          <p:cNvPr id="64" name="Shape 40"/>
          <p:cNvSpPr/>
          <p:nvPr/>
        </p:nvSpPr>
        <p:spPr>
          <a:xfrm>
            <a:off x="2254250" y="4006850"/>
            <a:ext cx="1022350" cy="22860"/>
          </a:xfrm>
          <a:prstGeom prst="rect">
            <a:avLst/>
          </a:prstGeom>
          <a:solidFill>
            <a:srgbClr val="CC0000"/>
          </a:solidFill>
          <a:ln w="3175">
            <a:solidFill>
              <a:srgbClr val="CC0000">
                <a:alpha val="0"/>
              </a:srgbClr>
            </a:solidFill>
            <a:prstDash val="solid"/>
          </a:ln>
        </p:spPr>
      </p:sp>
      <p:sp>
        <p:nvSpPr>
          <p:cNvPr id="65" name="Shape 41"/>
          <p:cNvSpPr/>
          <p:nvPr/>
        </p:nvSpPr>
        <p:spPr>
          <a:xfrm>
            <a:off x="4781550" y="4006850"/>
            <a:ext cx="1016000" cy="22860"/>
          </a:xfrm>
          <a:prstGeom prst="rect">
            <a:avLst/>
          </a:prstGeom>
          <a:solidFill>
            <a:srgbClr val="0000CC"/>
          </a:solidFill>
          <a:ln w="3175">
            <a:solidFill>
              <a:srgbClr val="0000CC">
                <a:alpha val="0"/>
              </a:srgbClr>
            </a:solidFill>
            <a:prstDash val="solid"/>
          </a:ln>
        </p:spPr>
      </p:sp>
      <p:sp>
        <p:nvSpPr>
          <p:cNvPr id="66" name="Shape 42"/>
          <p:cNvSpPr/>
          <p:nvPr/>
        </p:nvSpPr>
        <p:spPr>
          <a:xfrm>
            <a:off x="7194550" y="4006850"/>
            <a:ext cx="1022350" cy="22860"/>
          </a:xfrm>
          <a:prstGeom prst="rect">
            <a:avLst/>
          </a:prstGeom>
          <a:solidFill>
            <a:srgbClr val="2E8B22"/>
          </a:solidFill>
          <a:ln w="3175">
            <a:solidFill>
              <a:srgbClr val="2E8B22">
                <a:alpha val="0"/>
              </a:srgbClr>
            </a:solidFill>
            <a:prstDash val="solid"/>
          </a:ln>
        </p:spPr>
      </p:sp>
      <p:sp>
        <p:nvSpPr>
          <p:cNvPr id="67" name="Shape 43"/>
          <p:cNvSpPr/>
          <p:nvPr/>
        </p:nvSpPr>
        <p:spPr>
          <a:xfrm>
            <a:off x="9683750" y="4024630"/>
            <a:ext cx="1009650" cy="24130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8" name="Image 22" descr="videos/ml-intro/recreated_pptx/build/assets/parens54/paren_nred_lp_35.0_CC0000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140204" y="4108704"/>
            <a:ext cx="76200" cy="457200"/>
          </a:xfrm>
          <a:prstGeom prst="rect">
            <a:avLst/>
          </a:prstGeom>
        </p:spPr>
      </p:pic>
      <p:pic>
        <p:nvPicPr>
          <p:cNvPr id="69" name="Image 23" descr="videos/ml-intro/recreated_pptx/build/assets/parens54/paren_nred_rp_35.0_CC0000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763520" y="4108704"/>
            <a:ext cx="76200" cy="457200"/>
          </a:xfrm>
          <a:prstGeom prst="rect">
            <a:avLst/>
          </a:prstGeom>
        </p:spPr>
      </p:pic>
      <p:sp>
        <p:nvSpPr>
          <p:cNvPr id="70" name="Text 44"/>
          <p:cNvSpPr/>
          <p:nvPr/>
        </p:nvSpPr>
        <p:spPr>
          <a:xfrm>
            <a:off x="2108200" y="4095813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−1.441</a:t>
            </a:r>
            <a:endParaRPr lang="en-US" sz="1550" dirty="0"/>
          </a:p>
        </p:txBody>
      </p:sp>
      <p:sp>
        <p:nvSpPr>
          <p:cNvPr id="71" name="Text 45"/>
          <p:cNvSpPr/>
          <p:nvPr/>
        </p:nvSpPr>
        <p:spPr>
          <a:xfrm>
            <a:off x="2108200" y="4324414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−1.578</a:t>
            </a:r>
            <a:endParaRPr lang="en-US" sz="1550" dirty="0"/>
          </a:p>
        </p:txBody>
      </p:sp>
      <p:pic>
        <p:nvPicPr>
          <p:cNvPr id="72" name="Image 24" descr="videos/ml-intro/recreated_pptx/build/assets/parens54/paren_nred_lp_35.0_CC0000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978404" y="4108704"/>
            <a:ext cx="76200" cy="457200"/>
          </a:xfrm>
          <a:prstGeom prst="rect">
            <a:avLst/>
          </a:prstGeom>
        </p:spPr>
      </p:pic>
      <p:pic>
        <p:nvPicPr>
          <p:cNvPr id="73" name="Image 25" descr="videos/ml-intro/recreated_pptx/build/assets/parens54/paren_nred_rp_35.0_CC0000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614420" y="4108704"/>
            <a:ext cx="76200" cy="457200"/>
          </a:xfrm>
          <a:prstGeom prst="rect">
            <a:avLst/>
          </a:prstGeom>
        </p:spPr>
      </p:pic>
      <p:sp>
        <p:nvSpPr>
          <p:cNvPr id="74" name="Text 46"/>
          <p:cNvSpPr/>
          <p:nvPr/>
        </p:nvSpPr>
        <p:spPr>
          <a:xfrm>
            <a:off x="2952750" y="4095813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−1.201</a:t>
            </a:r>
            <a:endParaRPr lang="en-US" sz="1550" dirty="0"/>
          </a:p>
        </p:txBody>
      </p:sp>
      <p:sp>
        <p:nvSpPr>
          <p:cNvPr id="75" name="Text 47"/>
          <p:cNvSpPr/>
          <p:nvPr/>
        </p:nvSpPr>
        <p:spPr>
          <a:xfrm>
            <a:off x="2952750" y="4324414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−0.743</a:t>
            </a:r>
            <a:endParaRPr lang="en-US" sz="1550" dirty="0"/>
          </a:p>
        </p:txBody>
      </p:sp>
      <p:pic>
        <p:nvPicPr>
          <p:cNvPr id="76" name="Image 26" descr="videos/ml-intro/recreated_pptx/build/assets/parens54/paren_nred_lp_35.0_CC0000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803904" y="4108704"/>
            <a:ext cx="76200" cy="457200"/>
          </a:xfrm>
          <a:prstGeom prst="rect">
            <a:avLst/>
          </a:prstGeom>
        </p:spPr>
      </p:pic>
      <p:pic>
        <p:nvPicPr>
          <p:cNvPr id="77" name="Image 27" descr="videos/ml-intro/recreated_pptx/build/assets/parens54/paren_nred_rp_35.0_CC0000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439920" y="4108704"/>
            <a:ext cx="76200" cy="457200"/>
          </a:xfrm>
          <a:prstGeom prst="rect">
            <a:avLst/>
          </a:prstGeom>
        </p:spPr>
      </p:pic>
      <p:sp>
        <p:nvSpPr>
          <p:cNvPr id="78" name="Text 48"/>
          <p:cNvSpPr/>
          <p:nvPr/>
        </p:nvSpPr>
        <p:spPr>
          <a:xfrm>
            <a:off x="3778250" y="4095813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−0.961</a:t>
            </a:r>
            <a:endParaRPr lang="en-US" sz="1550" dirty="0"/>
          </a:p>
        </p:txBody>
      </p:sp>
      <p:sp>
        <p:nvSpPr>
          <p:cNvPr id="79" name="Text 49"/>
          <p:cNvSpPr/>
          <p:nvPr/>
        </p:nvSpPr>
        <p:spPr>
          <a:xfrm>
            <a:off x="3778250" y="4324414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0.093</a:t>
            </a:r>
            <a:endParaRPr lang="en-US" sz="1550" dirty="0"/>
          </a:p>
        </p:txBody>
      </p:sp>
      <p:pic>
        <p:nvPicPr>
          <p:cNvPr id="80" name="Image 28" descr="videos/ml-intro/recreated_pptx/build/assets/parens54/paren_nblue_lp_37.0_0000CC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67504" y="4110228"/>
            <a:ext cx="76200" cy="481584"/>
          </a:xfrm>
          <a:prstGeom prst="rect">
            <a:avLst/>
          </a:prstGeom>
        </p:spPr>
      </p:pic>
      <p:pic>
        <p:nvPicPr>
          <p:cNvPr id="81" name="Image 29" descr="videos/ml-intro/recreated_pptx/build/assets/parens54/paren_nblue_rp_37.0_0000CC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354320" y="4110228"/>
            <a:ext cx="76200" cy="481584"/>
          </a:xfrm>
          <a:prstGeom prst="rect">
            <a:avLst/>
          </a:prstGeom>
        </p:spPr>
      </p:pic>
      <p:sp>
        <p:nvSpPr>
          <p:cNvPr id="82" name="Text 50"/>
          <p:cNvSpPr/>
          <p:nvPr/>
        </p:nvSpPr>
        <p:spPr>
          <a:xfrm>
            <a:off x="4667250" y="409213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−0.24</a:t>
            </a:r>
            <a:endParaRPr lang="en-US" sz="1650" dirty="0"/>
          </a:p>
        </p:txBody>
      </p:sp>
      <p:sp>
        <p:nvSpPr>
          <p:cNvPr id="83" name="Text 51"/>
          <p:cNvSpPr/>
          <p:nvPr/>
        </p:nvSpPr>
        <p:spPr>
          <a:xfrm>
            <a:off x="4667250" y="434613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−0.743</a:t>
            </a:r>
            <a:endParaRPr lang="en-US" sz="1650" dirty="0"/>
          </a:p>
        </p:txBody>
      </p:sp>
      <p:pic>
        <p:nvPicPr>
          <p:cNvPr id="84" name="Image 30" descr="videos/ml-intro/recreated_pptx/build/assets/parens54/paren_nblue_lp_37.0_0000CC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56504" y="4110228"/>
            <a:ext cx="76200" cy="481584"/>
          </a:xfrm>
          <a:prstGeom prst="rect">
            <a:avLst/>
          </a:prstGeom>
        </p:spPr>
      </p:pic>
      <p:pic>
        <p:nvPicPr>
          <p:cNvPr id="85" name="Image 31" descr="videos/ml-intro/recreated_pptx/build/assets/parens54/paren_nblue_rp_37.0_0000CC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078220" y="4110228"/>
            <a:ext cx="76200" cy="481584"/>
          </a:xfrm>
          <a:prstGeom prst="rect">
            <a:avLst/>
          </a:prstGeom>
        </p:spPr>
      </p:pic>
      <p:sp>
        <p:nvSpPr>
          <p:cNvPr id="86" name="Text 52"/>
          <p:cNvSpPr/>
          <p:nvPr/>
        </p:nvSpPr>
        <p:spPr>
          <a:xfrm>
            <a:off x="5473700" y="409213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650" dirty="0"/>
          </a:p>
        </p:txBody>
      </p:sp>
      <p:sp>
        <p:nvSpPr>
          <p:cNvPr id="87" name="Text 53"/>
          <p:cNvSpPr/>
          <p:nvPr/>
        </p:nvSpPr>
        <p:spPr>
          <a:xfrm>
            <a:off x="5473700" y="434613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0.093</a:t>
            </a:r>
            <a:endParaRPr lang="en-US" sz="1650" dirty="0"/>
          </a:p>
        </p:txBody>
      </p:sp>
      <p:pic>
        <p:nvPicPr>
          <p:cNvPr id="88" name="Image 32" descr="videos/ml-intro/recreated_pptx/build/assets/parens54/paren_nblue_lp_37.0_0000CC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293104" y="4110228"/>
            <a:ext cx="76200" cy="481584"/>
          </a:xfrm>
          <a:prstGeom prst="rect">
            <a:avLst/>
          </a:prstGeom>
        </p:spPr>
      </p:pic>
      <p:pic>
        <p:nvPicPr>
          <p:cNvPr id="89" name="Image 33" descr="videos/ml-intro/recreated_pptx/build/assets/parens54/paren_nblue_rp_37.0_0000CC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814820" y="4110228"/>
            <a:ext cx="76200" cy="481584"/>
          </a:xfrm>
          <a:prstGeom prst="rect">
            <a:avLst/>
          </a:prstGeom>
        </p:spPr>
      </p:pic>
      <p:sp>
        <p:nvSpPr>
          <p:cNvPr id="90" name="Text 54"/>
          <p:cNvSpPr/>
          <p:nvPr/>
        </p:nvSpPr>
        <p:spPr>
          <a:xfrm>
            <a:off x="6210300" y="409213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0.24</a:t>
            </a:r>
            <a:endParaRPr lang="en-US" sz="1650" dirty="0"/>
          </a:p>
        </p:txBody>
      </p:sp>
      <p:sp>
        <p:nvSpPr>
          <p:cNvPr id="91" name="Text 55"/>
          <p:cNvSpPr/>
          <p:nvPr/>
        </p:nvSpPr>
        <p:spPr>
          <a:xfrm>
            <a:off x="6210300" y="434613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0.928</a:t>
            </a:r>
            <a:endParaRPr lang="en-US" sz="1650" dirty="0"/>
          </a:p>
        </p:txBody>
      </p:sp>
      <p:pic>
        <p:nvPicPr>
          <p:cNvPr id="92" name="Image 34" descr="videos/ml-intro/recreated_pptx/build/assets/parens54/paren_ngreen_lp_35.0_2E8B22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118604" y="4159504"/>
            <a:ext cx="76200" cy="457200"/>
          </a:xfrm>
          <a:prstGeom prst="rect">
            <a:avLst/>
          </a:prstGeom>
        </p:spPr>
      </p:pic>
      <p:pic>
        <p:nvPicPr>
          <p:cNvPr id="93" name="Image 35" descr="videos/ml-intro/recreated_pptx/build/assets/parens54/paren_ngreen_rp_35.0_2E8B22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780020" y="4159504"/>
            <a:ext cx="76200" cy="457200"/>
          </a:xfrm>
          <a:prstGeom prst="rect">
            <a:avLst/>
          </a:prstGeom>
        </p:spPr>
      </p:pic>
      <p:sp>
        <p:nvSpPr>
          <p:cNvPr id="94" name="Text 56"/>
          <p:cNvSpPr/>
          <p:nvPr/>
        </p:nvSpPr>
        <p:spPr>
          <a:xfrm>
            <a:off x="7105650" y="4130231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0.961</a:t>
            </a:r>
            <a:endParaRPr lang="en-US" sz="1650" dirty="0"/>
          </a:p>
        </p:txBody>
      </p:sp>
      <p:sp>
        <p:nvSpPr>
          <p:cNvPr id="95" name="Text 57"/>
          <p:cNvSpPr/>
          <p:nvPr/>
        </p:nvSpPr>
        <p:spPr>
          <a:xfrm>
            <a:off x="7105650" y="437153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−0.743</a:t>
            </a:r>
            <a:endParaRPr lang="en-US" sz="1650" dirty="0"/>
          </a:p>
        </p:txBody>
      </p:sp>
      <p:pic>
        <p:nvPicPr>
          <p:cNvPr id="96" name="Image 36" descr="videos/ml-intro/recreated_pptx/build/assets/parens54/paren_ngreen_lp_35.0_2E8B22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007604" y="4159504"/>
            <a:ext cx="76200" cy="457200"/>
          </a:xfrm>
          <a:prstGeom prst="rect">
            <a:avLst/>
          </a:prstGeom>
        </p:spPr>
      </p:pic>
      <p:pic>
        <p:nvPicPr>
          <p:cNvPr id="97" name="Image 37" descr="videos/ml-intro/recreated_pptx/build/assets/parens54/paren_ngreen_rp_35.0_2E8B22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529320" y="4159504"/>
            <a:ext cx="76200" cy="457200"/>
          </a:xfrm>
          <a:prstGeom prst="rect">
            <a:avLst/>
          </a:prstGeom>
        </p:spPr>
      </p:pic>
      <p:sp>
        <p:nvSpPr>
          <p:cNvPr id="98" name="Text 58"/>
          <p:cNvSpPr/>
          <p:nvPr/>
        </p:nvSpPr>
        <p:spPr>
          <a:xfrm>
            <a:off x="7924800" y="4130231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1.201</a:t>
            </a:r>
            <a:endParaRPr lang="en-US" sz="1650" dirty="0"/>
          </a:p>
        </p:txBody>
      </p:sp>
      <p:sp>
        <p:nvSpPr>
          <p:cNvPr id="99" name="Text 59"/>
          <p:cNvSpPr/>
          <p:nvPr/>
        </p:nvSpPr>
        <p:spPr>
          <a:xfrm>
            <a:off x="7924800" y="437153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0.928</a:t>
            </a:r>
            <a:endParaRPr lang="en-US" sz="1650" dirty="0"/>
          </a:p>
        </p:txBody>
      </p:sp>
      <p:pic>
        <p:nvPicPr>
          <p:cNvPr id="100" name="Image 38" descr="videos/ml-intro/recreated_pptx/build/assets/parens54/paren_ngreen_lp_35.0_2E8B22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744204" y="4159504"/>
            <a:ext cx="76200" cy="457200"/>
          </a:xfrm>
          <a:prstGeom prst="rect">
            <a:avLst/>
          </a:prstGeom>
        </p:spPr>
      </p:pic>
      <p:pic>
        <p:nvPicPr>
          <p:cNvPr id="101" name="Image 39" descr="videos/ml-intro/recreated_pptx/build/assets/parens54/paren_ngreen_rp_35.0_2E8B22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253220" y="4159504"/>
            <a:ext cx="76200" cy="457200"/>
          </a:xfrm>
          <a:prstGeom prst="rect">
            <a:avLst/>
          </a:prstGeom>
        </p:spPr>
      </p:pic>
      <p:sp>
        <p:nvSpPr>
          <p:cNvPr id="102" name="Text 60"/>
          <p:cNvSpPr/>
          <p:nvPr/>
        </p:nvSpPr>
        <p:spPr>
          <a:xfrm>
            <a:off x="8655050" y="4130231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1.441</a:t>
            </a:r>
            <a:endParaRPr lang="en-US" sz="1650" dirty="0"/>
          </a:p>
        </p:txBody>
      </p:sp>
      <p:sp>
        <p:nvSpPr>
          <p:cNvPr id="103" name="Text 61"/>
          <p:cNvSpPr/>
          <p:nvPr/>
        </p:nvSpPr>
        <p:spPr>
          <a:xfrm>
            <a:off x="8655050" y="4371530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1.764</a:t>
            </a:r>
            <a:endParaRPr lang="en-US" sz="1650" dirty="0"/>
          </a:p>
        </p:txBody>
      </p:sp>
      <p:pic>
        <p:nvPicPr>
          <p:cNvPr id="104" name="Image 40" descr="videos/ml-intro/recreated_pptx/build/assets/parens54/paren_test_lp_44.5_000000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103104" y="4159504"/>
            <a:ext cx="82296" cy="577596"/>
          </a:xfrm>
          <a:prstGeom prst="rect">
            <a:avLst/>
          </a:prstGeom>
        </p:spPr>
      </p:pic>
      <p:pic>
        <p:nvPicPr>
          <p:cNvPr id="105" name="Image 41" descr="videos/ml-intro/recreated_pptx/build/assets/parens54/paren_test_rp_44.5_000000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809224" y="4159504"/>
            <a:ext cx="82296" cy="577596"/>
          </a:xfrm>
          <a:prstGeom prst="rect">
            <a:avLst/>
          </a:prstGeom>
        </p:spPr>
      </p:pic>
      <p:sp>
        <p:nvSpPr>
          <p:cNvPr id="106" name="Text 62"/>
          <p:cNvSpPr/>
          <p:nvPr/>
        </p:nvSpPr>
        <p:spPr>
          <a:xfrm>
            <a:off x="10115550" y="4166489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−0.24</a:t>
            </a:r>
            <a:endParaRPr lang="en-US" sz="1700" dirty="0"/>
          </a:p>
        </p:txBody>
      </p:sp>
      <p:sp>
        <p:nvSpPr>
          <p:cNvPr id="107" name="Text 63"/>
          <p:cNvSpPr/>
          <p:nvPr/>
        </p:nvSpPr>
        <p:spPr>
          <a:xfrm>
            <a:off x="10115550" y="4420489"/>
            <a:ext cx="76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−1.244</a:t>
            </a:r>
            <a:endParaRPr lang="en-US" sz="1700" dirty="0"/>
          </a:p>
        </p:txBody>
      </p:sp>
      <p:sp>
        <p:nvSpPr>
          <p:cNvPr id="108" name="Text 64"/>
          <p:cNvSpPr/>
          <p:nvPr/>
        </p:nvSpPr>
        <p:spPr>
          <a:xfrm>
            <a:off x="1092200" y="4092321"/>
            <a:ext cx="1231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 (KG)</a:t>
            </a:r>
            <a:endParaRPr lang="en-US" sz="1300" dirty="0"/>
          </a:p>
        </p:txBody>
      </p:sp>
      <p:sp>
        <p:nvSpPr>
          <p:cNvPr id="109" name="Text 65"/>
          <p:cNvSpPr/>
          <p:nvPr/>
        </p:nvSpPr>
        <p:spPr>
          <a:xfrm>
            <a:off x="1104900" y="4371721"/>
            <a:ext cx="1231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Length (cm)</a:t>
            </a:r>
            <a:endParaRPr lang="en-US" sz="1300" dirty="0"/>
          </a:p>
        </p:txBody>
      </p:sp>
      <p:sp>
        <p:nvSpPr>
          <p:cNvPr id="110" name="Text 66"/>
          <p:cNvSpPr/>
          <p:nvPr/>
        </p:nvSpPr>
        <p:spPr>
          <a:xfrm>
            <a:off x="984250" y="4826000"/>
            <a:ext cx="787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Squared distance between each </a:t>
            </a:r>
            <a:pPr algn="l"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vector and </a:t>
            </a:r>
            <a:pPr algn="l" indent="0" marL="0">
              <a:buNone/>
            </a:pPr>
            <a:r>
              <a:rPr lang="en-US" sz="1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</a:t>
            </a:r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 vector</a:t>
            </a:r>
            <a:endParaRPr lang="en-US" sz="1600" dirty="0"/>
          </a:p>
        </p:txBody>
      </p:sp>
      <p:sp>
        <p:nvSpPr>
          <p:cNvPr id="111" name="Shape 67"/>
          <p:cNvSpPr/>
          <p:nvPr/>
        </p:nvSpPr>
        <p:spPr>
          <a:xfrm>
            <a:off x="4692650" y="5073650"/>
            <a:ext cx="444500" cy="419100"/>
          </a:xfrm>
          <a:prstGeom prst="ellipse">
            <a:avLst/>
          </a:prstGeom>
          <a:solidFill>
            <a:srgbClr val="DDDD00">
              <a:alpha val="30000"/>
            </a:srgbClr>
          </a:solidFill>
          <a:ln w="6350">
            <a:solidFill>
              <a:srgbClr val="DDDD00">
                <a:alpha val="0"/>
              </a:srgbClr>
            </a:solidFill>
            <a:prstDash val="solid"/>
          </a:ln>
        </p:spPr>
      </p:sp>
      <p:sp>
        <p:nvSpPr>
          <p:cNvPr id="112" name="Text 68"/>
          <p:cNvSpPr/>
          <p:nvPr/>
        </p:nvSpPr>
        <p:spPr>
          <a:xfrm>
            <a:off x="2205990" y="5095469"/>
            <a:ext cx="12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endParaRPr lang="en-US" sz="2200" dirty="0"/>
          </a:p>
        </p:txBody>
      </p:sp>
      <p:sp>
        <p:nvSpPr>
          <p:cNvPr id="113" name="Text 69"/>
          <p:cNvSpPr/>
          <p:nvPr/>
        </p:nvSpPr>
        <p:spPr>
          <a:xfrm>
            <a:off x="2286000" y="5176139"/>
            <a:ext cx="71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1.554</a:t>
            </a:r>
            <a:endParaRPr lang="en-US" sz="1700" dirty="0"/>
          </a:p>
        </p:txBody>
      </p:sp>
      <p:sp>
        <p:nvSpPr>
          <p:cNvPr id="114" name="Text 70"/>
          <p:cNvSpPr/>
          <p:nvPr/>
        </p:nvSpPr>
        <p:spPr>
          <a:xfrm>
            <a:off x="3136900" y="5176139"/>
            <a:ext cx="71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1.175</a:t>
            </a:r>
            <a:endParaRPr lang="en-US" sz="1700" dirty="0"/>
          </a:p>
        </p:txBody>
      </p:sp>
      <p:sp>
        <p:nvSpPr>
          <p:cNvPr id="115" name="Text 71"/>
          <p:cNvSpPr/>
          <p:nvPr/>
        </p:nvSpPr>
        <p:spPr>
          <a:xfrm>
            <a:off x="3886200" y="5176139"/>
            <a:ext cx="71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2.307</a:t>
            </a:r>
            <a:endParaRPr lang="en-US" sz="1700" dirty="0"/>
          </a:p>
        </p:txBody>
      </p:sp>
      <p:sp>
        <p:nvSpPr>
          <p:cNvPr id="116" name="Text 72"/>
          <p:cNvSpPr/>
          <p:nvPr/>
        </p:nvSpPr>
        <p:spPr>
          <a:xfrm>
            <a:off x="4344670" y="5095469"/>
            <a:ext cx="12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2200" dirty="0"/>
          </a:p>
        </p:txBody>
      </p:sp>
      <p:sp>
        <p:nvSpPr>
          <p:cNvPr id="117" name="Text 73"/>
          <p:cNvSpPr/>
          <p:nvPr/>
        </p:nvSpPr>
        <p:spPr>
          <a:xfrm>
            <a:off x="4618990" y="5095469"/>
            <a:ext cx="12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endParaRPr lang="en-US" sz="2200" dirty="0"/>
          </a:p>
        </p:txBody>
      </p:sp>
      <p:sp>
        <p:nvSpPr>
          <p:cNvPr id="118" name="Text 74"/>
          <p:cNvSpPr/>
          <p:nvPr/>
        </p:nvSpPr>
        <p:spPr>
          <a:xfrm>
            <a:off x="4648200" y="5176139"/>
            <a:ext cx="71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0.251</a:t>
            </a:r>
            <a:endParaRPr lang="en-US" sz="1700" dirty="0"/>
          </a:p>
        </p:txBody>
      </p:sp>
      <p:sp>
        <p:nvSpPr>
          <p:cNvPr id="119" name="Text 75"/>
          <p:cNvSpPr/>
          <p:nvPr/>
        </p:nvSpPr>
        <p:spPr>
          <a:xfrm>
            <a:off x="5549900" y="5176139"/>
            <a:ext cx="71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1.845</a:t>
            </a:r>
            <a:endParaRPr lang="en-US" sz="1700" dirty="0"/>
          </a:p>
        </p:txBody>
      </p:sp>
      <p:sp>
        <p:nvSpPr>
          <p:cNvPr id="120" name="Text 76"/>
          <p:cNvSpPr/>
          <p:nvPr/>
        </p:nvSpPr>
        <p:spPr>
          <a:xfrm>
            <a:off x="6299200" y="5176139"/>
            <a:ext cx="71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4.948</a:t>
            </a:r>
            <a:endParaRPr lang="en-US" sz="1700" dirty="0"/>
          </a:p>
        </p:txBody>
      </p:sp>
      <p:sp>
        <p:nvSpPr>
          <p:cNvPr id="121" name="Text 77"/>
          <p:cNvSpPr/>
          <p:nvPr/>
        </p:nvSpPr>
        <p:spPr>
          <a:xfrm>
            <a:off x="6753860" y="5095469"/>
            <a:ext cx="12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2200" dirty="0"/>
          </a:p>
        </p:txBody>
      </p:sp>
      <p:sp>
        <p:nvSpPr>
          <p:cNvPr id="122" name="Text 78"/>
          <p:cNvSpPr/>
          <p:nvPr/>
        </p:nvSpPr>
        <p:spPr>
          <a:xfrm>
            <a:off x="7184390" y="5095469"/>
            <a:ext cx="12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endParaRPr lang="en-US" sz="2200" dirty="0"/>
          </a:p>
        </p:txBody>
      </p:sp>
      <p:sp>
        <p:nvSpPr>
          <p:cNvPr id="123" name="Text 79"/>
          <p:cNvSpPr/>
          <p:nvPr/>
        </p:nvSpPr>
        <p:spPr>
          <a:xfrm>
            <a:off x="7264400" y="5176139"/>
            <a:ext cx="71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1.693</a:t>
            </a:r>
            <a:endParaRPr lang="en-US" sz="1700" dirty="0"/>
          </a:p>
        </p:txBody>
      </p:sp>
      <p:sp>
        <p:nvSpPr>
          <p:cNvPr id="124" name="Text 80"/>
          <p:cNvSpPr/>
          <p:nvPr/>
        </p:nvSpPr>
        <p:spPr>
          <a:xfrm>
            <a:off x="8001000" y="5176139"/>
            <a:ext cx="71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6.794</a:t>
            </a:r>
            <a:endParaRPr lang="en-US" sz="1700" dirty="0"/>
          </a:p>
        </p:txBody>
      </p:sp>
      <p:sp>
        <p:nvSpPr>
          <p:cNvPr id="125" name="Text 81"/>
          <p:cNvSpPr/>
          <p:nvPr/>
        </p:nvSpPr>
        <p:spPr>
          <a:xfrm>
            <a:off x="8788400" y="5176139"/>
            <a:ext cx="711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11.874</a:t>
            </a:r>
            <a:endParaRPr lang="en-US" sz="1700" dirty="0"/>
          </a:p>
        </p:txBody>
      </p:sp>
      <p:sp>
        <p:nvSpPr>
          <p:cNvPr id="126" name="Text 82"/>
          <p:cNvSpPr/>
          <p:nvPr/>
        </p:nvSpPr>
        <p:spPr>
          <a:xfrm>
            <a:off x="9331960" y="5095469"/>
            <a:ext cx="12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2E8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2200" dirty="0"/>
          </a:p>
        </p:txBody>
      </p:sp>
      <p:sp>
        <p:nvSpPr>
          <p:cNvPr id="127" name="Shape 83"/>
          <p:cNvSpPr/>
          <p:nvPr/>
        </p:nvSpPr>
        <p:spPr>
          <a:xfrm>
            <a:off x="1206496" y="5727701"/>
            <a:ext cx="2971800" cy="685800"/>
          </a:xfrm>
          <a:prstGeom prst="rect">
            <a:avLst/>
          </a:prstGeom>
          <a:solidFill>
            <a:srgbClr val="F9EDDF"/>
          </a:solidFill>
          <a:ln w="15875">
            <a:solidFill>
              <a:srgbClr val="8E4E3C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28" name="Equation OMML" descr="Normalized\ X = \dfrac{\,X - Mean\,}{S.D.}"/>
              <p:cNvSpPr txBox="1"/>
              <p:nvPr/>
            </p:nvSpPr>
            <p:spPr>
              <a:xfrm>
                <a:off x="1283205" y="5776470"/>
                <a:ext cx="2839212" cy="57911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Normalized X=</m:t>
                      </m:r>
                      <m:f>
                        <m:fPr>
                          <m:ctrlP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 X-Mean </m:t>
                          </m:r>
                        </m:num>
                        <m:den>
                          <m:r>
                            <a:rPr lang="en-US" i="1" smtClean="0" sz="2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S.D.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28" name="Image 42" descr="/home/ahmed/Projects/ai_llm_slides/videos/ml-intro/recreated_pptx/build/omml/slide_054/assets/eq_054_normalization.png">    </p:cNvPr>
              <p:cNvPicPr>
                <a:picLocks noChangeAspect="1"/>
              </p:cNvPicPr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283205" y="5776470"/>
                <a:ext cx="2839212" cy="579117"/>
              </a:xfrm>
              <a:prstGeom prst="rect">
                <a:avLst/>
              </a:prstGeom>
            </p:spPr>
          </p:pic>
        </mc:Fallback>
      </mc:AlternateContent>
      <p:sp>
        <p:nvSpPr>
          <p:cNvPr id="129" name="Shape 84"/>
          <p:cNvSpPr/>
          <p:nvPr/>
        </p:nvSpPr>
        <p:spPr>
          <a:xfrm>
            <a:off x="7391400" y="5575300"/>
            <a:ext cx="3594100" cy="914400"/>
          </a:xfrm>
          <a:prstGeom prst="rect">
            <a:avLst/>
          </a:prstGeom>
          <a:solidFill>
            <a:srgbClr val="FAFCE4"/>
          </a:solidFill>
          <a:ln w="12700">
            <a:solidFill>
              <a:srgbClr val="C8CDC8"/>
            </a:solidFill>
            <a:prstDash val="solid"/>
          </a:ln>
        </p:spPr>
      </p:sp>
      <p:pic>
        <p:nvPicPr>
          <p:cNvPr id="130" name="Image 43" descr="videos/ml-intro/recreated_pptx/build/assets/parens53/paren_lp_57_000000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613904" y="5658104"/>
            <a:ext cx="88392" cy="736092"/>
          </a:xfrm>
          <a:prstGeom prst="rect">
            <a:avLst/>
          </a:prstGeom>
        </p:spPr>
      </p:pic>
      <p:pic>
        <p:nvPicPr>
          <p:cNvPr id="131" name="Image 44" descr="videos/ml-intro/recreated_pptx/build/assets/parens53/paren_rp_57_000000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121904" y="5658104"/>
            <a:ext cx="88392" cy="736092"/>
          </a:xfrm>
          <a:prstGeom prst="rect">
            <a:avLst/>
          </a:prstGeom>
        </p:spPr>
      </p:pic>
      <p:sp>
        <p:nvSpPr>
          <p:cNvPr id="132" name="Text 85"/>
          <p:cNvSpPr/>
          <p:nvPr/>
        </p:nvSpPr>
        <p:spPr>
          <a:xfrm>
            <a:off x="7626350" y="5692140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2000" dirty="0"/>
          </a:p>
        </p:txBody>
      </p:sp>
      <p:sp>
        <p:nvSpPr>
          <p:cNvPr id="133" name="Text 86"/>
          <p:cNvSpPr/>
          <p:nvPr/>
        </p:nvSpPr>
        <p:spPr>
          <a:xfrm>
            <a:off x="7626350" y="6009640"/>
            <a:ext cx="584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</a:t>
            </a:r>
            <a:endParaRPr lang="en-US" sz="2000" dirty="0"/>
          </a:p>
        </p:txBody>
      </p:sp>
      <p:sp>
        <p:nvSpPr>
          <p:cNvPr id="134" name="Text 87"/>
          <p:cNvSpPr/>
          <p:nvPr/>
        </p:nvSpPr>
        <p:spPr>
          <a:xfrm>
            <a:off x="8533130" y="5902325"/>
            <a:ext cx="127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7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Belongs to</a:t>
            </a:r>
            <a:endParaRPr lang="en-US" sz="1300" dirty="0"/>
          </a:p>
        </p:txBody>
      </p:sp>
      <p:sp>
        <p:nvSpPr>
          <p:cNvPr id="135" name="Text 88"/>
          <p:cNvSpPr/>
          <p:nvPr/>
        </p:nvSpPr>
        <p:spPr>
          <a:xfrm>
            <a:off x="9734550" y="5891213"/>
            <a:ext cx="139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Class</a:t>
            </a:r>
            <a:endParaRPr lang="en-US" sz="1650" dirty="0"/>
          </a:p>
        </p:txBody>
      </p:sp>
    </p:spTree>
  </p:cSld>
  <p:clrMapOvr>
    <a:masterClrMapping/>
  </p:clrMapOvr>
</p:sld>
</file>

<file path=ppt/slides/slide55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173736"/>
            <a:ext cx="11841480" cy="651052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560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K-NN: Some other distance measures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12648" y="1714500"/>
            <a:ext cx="10963656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5875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659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Binary-valued features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39572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algn="l" indent="0" marL="0">
              <a:buNone/>
            </a:pPr>
            <a:r>
              <a:rPr lang="en-US" sz="16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Hamming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distance: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80720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Hamming distance counts the number of features where the two examples disagree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8404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feature types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(some real-valued and some binary-valued)?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64515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Can use mixed distance measures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505663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E.g., 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Euclidean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real part, 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00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Hamming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the binary part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555955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also </a:t>
            </a:r>
            <a:pPr algn="l" indent="0" marL="0">
              <a:buNone/>
            </a:pPr>
            <a:r>
              <a:rPr lang="en-US" sz="1600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weights to features</a:t>
            </a:r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91170" y="2171700"/>
            <a:ext cx="4381530" cy="609630"/>
          </a:xfrm>
          <a:prstGeom prst="rect">
            <a:avLst/>
          </a:prstGeom>
          <a:solidFill>
            <a:srgbClr val="FFFFCC"/>
          </a:solidFill>
          <a:ln w="19050">
            <a:solidFill>
              <a:srgbClr val="333333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6" name="Equation OMML" descr="d(x_i, x_j) = \sum{}_{m=1}^{D} \mathbb{I}(x_{im} \neq x_{jm})"/>
              <p:cNvSpPr txBox="1"/>
              <p:nvPr/>
            </p:nvSpPr>
            <p:spPr>
              <a:xfrm>
                <a:off x="5855238" y="2197124"/>
                <a:ext cx="4247388" cy="460245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57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 xml:space="preserve">d(</m:t>
                      </m:r>
                      <m:sSub>
                        <m:sSubPr>
                          <m:ctrlPr>
                            <a:rPr lang="en-US" i="1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mtClean="0" sz="257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sSub>
                        <m:sSubPr>
                          <m:ctrlPr>
                            <a:rPr lang="en-US" i="1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j</m:t>
                          </m:r>
                        </m:sub>
                      </m:sSub>
                      <m:r>
                        <a:rPr lang="en-US" i="1" smtClean="0" sz="257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 xml:space="preserve">)=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i="1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m=1</m:t>
                          </m:r>
                        </m:sub>
                        <m:sup>
                          <m:r>
                            <a:rPr lang="en-US" i="1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i="0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𝕀</m:t>
                          </m:r>
                          <m:r>
                            <a:rPr lang="en-US" i="1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(</m:t>
                          </m:r>
                          <m:sSub>
                            <m:sSubPr>
                              <m:ctrlPr>
                                <a:rPr lang="en-US" i="1" smtClean="0" sz="257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257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257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im</m:t>
                              </m:r>
                            </m:sub>
                          </m:sSub>
                          <m:r>
                            <a:rPr lang="en-US" i="1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≠</m:t>
                          </m:r>
                          <m:sSub>
                            <m:sSubPr>
                              <m:ctrlPr>
                                <a:rPr lang="en-US" i="1" smtClean="0" sz="257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257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257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jm</m:t>
                              </m:r>
                            </m:sub>
                          </m:sSub>
                          <m:r>
                            <a:rPr lang="en-US" i="1" smtClean="0" sz="257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" name="Image 0" descr="/home/ahmed/Projects/ai_llm_slides/videos/ml-intro/recreated_pptx/build/omml/slide_055/assets/eq_055_hamming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855238" y="2197124"/>
                <a:ext cx="4247388" cy="460245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Shape 14"/>
          <p:cNvSpPr/>
          <p:nvPr/>
        </p:nvSpPr>
        <p:spPr>
          <a:xfrm>
            <a:off x="5486400" y="5575280"/>
            <a:ext cx="5168920" cy="787390"/>
          </a:xfrm>
          <a:prstGeom prst="rect">
            <a:avLst/>
          </a:prstGeom>
          <a:solidFill>
            <a:srgbClr val="FFFFCC"/>
          </a:solidFill>
          <a:ln w="19050">
            <a:solidFill>
              <a:srgbClr val="333333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8" name="Equation OMML" descr="d(x_i, x_j) = \sum{}_{m=1}^{D} w_m d(x_{im}, x_{jm})"/>
              <p:cNvSpPr txBox="1"/>
              <p:nvPr/>
            </p:nvSpPr>
            <p:spPr>
              <a:xfrm>
                <a:off x="5550378" y="5614449"/>
                <a:ext cx="4939287" cy="492249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27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 xml:space="preserve">d(</m:t>
                      </m:r>
                      <m:sSub>
                        <m:sSubPr>
                          <m:ctrlPr>
                            <a:rPr lang="en-US" i="1" smtClean="0" sz="27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7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7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mtClean="0" sz="27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sSub>
                        <m:sSubPr>
                          <m:ctrlPr>
                            <a:rPr lang="en-US" i="1" smtClean="0" sz="27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27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27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j</m:t>
                          </m:r>
                        </m:sub>
                      </m:sSub>
                      <m:r>
                        <a:rPr lang="en-US" i="1" smtClean="0" sz="275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</a:rPr>
                        <m:t xml:space="preserve">)=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i="1" smtClean="0" sz="27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 sz="27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m=1</m:t>
                          </m:r>
                        </m:sub>
                        <m:sup>
                          <m:r>
                            <a:rPr lang="en-US" i="1" smtClean="0" sz="27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sup>
                        <m:e>
                          <m:sSub>
                            <m:sSubPr>
                              <m:ctrlPr>
                                <a:rPr lang="en-US" i="1" smtClean="0" sz="275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275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w</m:t>
                              </m:r>
                            </m:e>
                            <m:sub>
                              <m:r>
                                <a:rPr lang="en-US" i="1" smtClean="0" sz="275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m</m:t>
                              </m:r>
                            </m:sub>
                          </m:sSub>
                          <m:r>
                            <a:rPr lang="en-US" i="1" smtClean="0" sz="27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d(</m:t>
                          </m:r>
                          <m:sSub>
                            <m:sSubPr>
                              <m:ctrlPr>
                                <a:rPr lang="en-US" i="1" smtClean="0" sz="275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275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275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im</m:t>
                              </m:r>
                            </m:sub>
                          </m:sSub>
                          <m:r>
                            <a:rPr lang="en-US" i="1" smtClean="0" sz="27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,</m:t>
                          </m:r>
                          <m:sSub>
                            <m:sSubPr>
                              <m:ctrlPr>
                                <a:rPr lang="en-US" i="1" smtClean="0" sz="275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275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275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jm</m:t>
                              </m:r>
                            </m:sub>
                          </m:sSub>
                          <m:r>
                            <a:rPr lang="en-US" i="1" smtClean="0" sz="275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8" name="Image 1" descr="/home/ahmed/Projects/ai_llm_slides/videos/ml-intro/recreated_pptx/build/omml/slide_055/assets/eq_055_weighted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550378" y="5614449"/>
                <a:ext cx="4939287" cy="492249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 15"/>
          <p:cNvSpPr/>
          <p:nvPr/>
        </p:nvSpPr>
        <p:spPr>
          <a:xfrm>
            <a:off x="320040" y="6519672"/>
            <a:ext cx="4114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2710 Foundations of AI [?]</a:t>
            </a:r>
            <a:endParaRPr lang="en-US" sz="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173736"/>
            <a:ext cx="11841480" cy="6510528"/>
          </a:xfrm>
          <a:prstGeom prst="rect">
            <a:avLst/>
          </a:prstGeom>
          <a:solidFill>
            <a:srgbClr val="FFFFFF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56032"/>
            <a:ext cx="110916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 of K - Neighborhood Size</a:t>
            </a:r>
            <a:endParaRPr lang="en-US" sz="3500" dirty="0"/>
          </a:p>
        </p:txBody>
      </p:sp>
      <p:sp>
        <p:nvSpPr>
          <p:cNvPr id="7" name="Shape 5"/>
          <p:cNvSpPr/>
          <p:nvPr/>
        </p:nvSpPr>
        <p:spPr>
          <a:xfrm>
            <a:off x="896112" y="1773936"/>
            <a:ext cx="10360152" cy="4837176"/>
          </a:xfrm>
          <a:prstGeom prst="roundRect">
            <a:avLst>
              <a:gd name="adj" fmla="val 1512"/>
            </a:avLst>
          </a:prstGeom>
          <a:solidFill>
            <a:srgbClr val="FFFFFF"/>
          </a:solidFill>
          <a:ln w="25400">
            <a:solidFill>
              <a:srgbClr val="B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029968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56816" y="2432304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Creates many small regions for each class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956816" y="2743200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May lead to non-smooth decision boundaries </a:t>
            </a:r>
            <a:pPr indent="0" marL="0">
              <a:buNone/>
            </a:pPr>
            <a:r>
              <a:rPr lang="en-US" sz="1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over-fit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371600" y="313639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56816" y="349300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Creates fewer larger regions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956816" y="3794760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Usually leads to smoother decision boundaries (caution: too smooth decision boundary can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956816" y="4032504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under-fit</a:t>
            </a:r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</a:t>
            </a:r>
            <a:pPr indent="0" marL="0">
              <a:buNone/>
            </a:pPr>
            <a:r>
              <a:rPr lang="en-US" sz="1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bias</a:t>
            </a:r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classes with larger members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71600" y="4398264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956816" y="4754880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Often data dependent and heuristic based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956816" y="5102352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Or using cross-validation (using some held-out data)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956816" y="5431536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pPr indent="0" marL="0">
              <a:buNone/>
            </a:pPr>
            <a:r>
              <a:rPr lang="en-US" sz="16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general, a K too small or too big is bad!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353312" y="56235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105156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>
              <a:alpha val="0"/>
            </a:srgbClr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 of K - Neighborhood Size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800" dirty="0"/>
          </a:p>
        </p:txBody>
      </p:sp>
      <p:pic>
        <p:nvPicPr>
          <p:cNvPr id="7" name="Image 0" descr="videos/ml-intro/recreated_pptx/build/assets/graphs/s057_graph_v3_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0" y="2921000"/>
            <a:ext cx="3200400" cy="25273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06320" y="2716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</a:t>
            </a:r>
            <a:endParaRPr lang="en-US" sz="1400" dirty="0"/>
          </a:p>
        </p:txBody>
      </p:sp>
      <p:pic>
        <p:nvPicPr>
          <p:cNvPr id="9" name="Image 1" descr="videos/ml-intro/recreated_pptx/build/assets/graphs/s057_graph_v3_P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921000"/>
            <a:ext cx="3276600" cy="2527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27370" y="2716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3</a:t>
            </a:r>
            <a:endParaRPr lang="en-US" sz="1400" dirty="0"/>
          </a:p>
        </p:txBody>
      </p:sp>
      <p:pic>
        <p:nvPicPr>
          <p:cNvPr id="11" name="Image 2" descr="videos/ml-intro/recreated_pptx/build/assets/graphs/s057_graph_v3_P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700" y="2921000"/>
            <a:ext cx="3276600" cy="2527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48420" y="2716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31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-Nearest Neighbor: Properties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86968" y="1773936"/>
            <a:ext cx="10351008" cy="4846320"/>
          </a:xfrm>
          <a:prstGeom prst="rect">
            <a:avLst/>
          </a:prstGeom>
          <a:ln w="1905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057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nice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4323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Simple and intuitive; </a:t>
            </a:r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easily implementable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7797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 -NN approaches the best possible classifier (Bayes optimal)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32369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not so nice..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36118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Store all the training data in memory even at test time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995928"/>
            <a:ext cx="7040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Can be memory intensive for large training datasets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4251960"/>
            <a:ext cx="7040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An example of non-parametric, or memory/instance-based methods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4507992"/>
            <a:ext cx="7040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Different from parametric, model-based learning models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892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Expensive at test time: O(ND) computations for each test point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5276088"/>
            <a:ext cx="7040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Have to search through all training data to find nearest neighbors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5532120"/>
            <a:ext cx="7040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Distance computations with N training points (D features each)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59161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Sensitive to noisy features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6263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May perform badly in high dimensions (curse of dimensionality)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>
              <a:alpha val="0"/>
            </a:srgbClr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Assignment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78408" y="1737360"/>
            <a:ext cx="10232136" cy="4709160"/>
          </a:xfrm>
          <a:prstGeom prst="rect">
            <a:avLst/>
          </a:prstGeom>
          <a:solidFill>
            <a:srgbClr val="FFFFFF"/>
          </a:solidFill>
          <a:ln w="22225">
            <a:solidFill>
              <a:srgbClr val="B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788920"/>
            <a:ext cx="9409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F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Use PCA to visualize the Dataset (as 2-D) </a:t>
            </a:r>
            <a:pPr algn="l" indent="0" marL="0">
              <a:buNone/>
            </a:pPr>
            <a:r>
              <a:rPr lang="en-US" sz="2000" u="sng" dirty="0">
                <a:solidFill>
                  <a:srgbClr val="1F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[Optional]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4709160"/>
            <a:ext cx="9409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F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 Calculate the classification accuracy for </a:t>
            </a:r>
            <a:pPr algn="l" indent="0" marL="0">
              <a:buNone/>
            </a:pPr>
            <a:r>
              <a:rPr lang="en-US" sz="2000" u="sng" dirty="0">
                <a:solidFill>
                  <a:srgbClr val="1F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K</a:t>
            </a:r>
            <a:pPr algn="l" indent="0" marL="0">
              <a:buNone/>
            </a:pPr>
            <a:r>
              <a:rPr lang="en-US" sz="2000" dirty="0">
                <a:solidFill>
                  <a:srgbClr val="1F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Which is the best?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148840"/>
            <a:ext cx="9409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F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Download “IRIS” Data set (three flowers) [150 Samples]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3429000"/>
            <a:ext cx="9409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F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Divide the data into 80% Training, 20% test [120 , 30 samples]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4069080"/>
            <a:ext cx="9409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F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Apply KNN with K=3, 5, and 7 on Test Samples.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5349240"/>
            <a:ext cx="9409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6) </a:t>
            </a:r>
            <a:pPr algn="l" indent="0" marL="0">
              <a:buNone/>
            </a:pPr>
            <a:r>
              <a:rPr lang="en-US" sz="2000" b="1" dirty="0">
                <a:solidFill>
                  <a:srgbClr val="1F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</a:t>
            </a:r>
            <a:pPr algn="l" indent="0" marL="0">
              <a:buNone/>
            </a:pPr>
            <a:r>
              <a:rPr lang="en-US" sz="2000" dirty="0">
                <a:solidFill>
                  <a:srgbClr val="1F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IRIS dataset and repeat steps 4 and 5. Compare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5897880"/>
            <a:ext cx="9409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F2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previous results, does normalization affect the accuracy ?</a:t>
            </a:r>
            <a:endParaRPr lang="en-US" sz="2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 Dataset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75995" y="1765706"/>
            <a:ext cx="3200400" cy="4370832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5995" y="1856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 setosa</a:t>
            </a:r>
            <a:endParaRPr lang="en-US" sz="2000" dirty="0"/>
          </a:p>
        </p:txBody>
      </p:sp>
      <p:pic>
        <p:nvPicPr>
          <p:cNvPr id="8" name="Image 0" descr="videos/ml-intro/recreated_pptx/build/assets/slide060_phot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24405"/>
            <a:ext cx="3137306" cy="33018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78838" y="56418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33142" y="56418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04995" y="1765706"/>
            <a:ext cx="3200400" cy="4370832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04995" y="1856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 versicolor</a:t>
            </a:r>
            <a:endParaRPr lang="en-US" sz="2000" dirty="0"/>
          </a:p>
        </p:txBody>
      </p:sp>
      <p:pic>
        <p:nvPicPr>
          <p:cNvPr id="13" name="Image 1" descr="videos/ml-intro/recreated_pptx/build/assets/slide060_photo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324405"/>
            <a:ext cx="3124505" cy="330189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09337" y="56418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petal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580937" y="56418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sepal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912303" y="1765706"/>
            <a:ext cx="3174797" cy="4370832"/>
          </a:xfrm>
          <a:prstGeom prst="rect">
            <a:avLst/>
          </a:prstGeom>
          <a:solidFill>
            <a:srgbClr val="FFFFFF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912303" y="1856232"/>
            <a:ext cx="317479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 virginica</a:t>
            </a:r>
            <a:endParaRPr lang="en-US" sz="2000" dirty="0"/>
          </a:p>
        </p:txBody>
      </p:sp>
      <p:pic>
        <p:nvPicPr>
          <p:cNvPr id="18" name="Image 2" descr="videos/ml-intro/recreated_pptx/build/assets/slide060_photo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6" y="2324405"/>
            <a:ext cx="3124505" cy="330189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16645" y="56418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petal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895637" y="56418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sepal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1755648" y="6227064"/>
            <a:ext cx="8842248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CD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755648" y="6227064"/>
            <a:ext cx="88422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Samples, 3 Classes, features of petal and sepal parts of each flower</a:t>
            </a:r>
            <a:endParaRPr lang="en-US" sz="1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of High Dimensional Data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(IRIS Dataset)</a:t>
            </a:r>
            <a:endParaRPr lang="en-US" sz="2600" dirty="0"/>
          </a:p>
        </p:txBody>
      </p:sp>
      <p:pic>
        <p:nvPicPr>
          <p:cNvPr id="7" name="Image 0" descr="videos/ml-intro/recreated_pptx/build/assets/slide061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390" y="2387498"/>
            <a:ext cx="4849978" cy="3771900"/>
          </a:xfrm>
          <a:prstGeom prst="rect">
            <a:avLst/>
          </a:prstGeom>
        </p:spPr>
      </p:pic>
      <p:pic>
        <p:nvPicPr>
          <p:cNvPr id="8" name="Image 1" descr="videos/ml-intro/recreated_pptx/build/assets/slide061_pho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88" y="2871216"/>
            <a:ext cx="3355848" cy="26334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0040" y="6217920"/>
            <a:ext cx="11548872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6217920"/>
            <a:ext cx="11548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Features: </a:t>
            </a:r>
            <a:pPr algn="ctr" indent="0" marL="0"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Width and Length of both sepal and petal</a:t>
            </a:r>
            <a:endParaRPr lang="en-US" sz="2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 Dataset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014984" y="1380744"/>
            <a:ext cx="4837176" cy="5239512"/>
          </a:xfrm>
          <a:prstGeom prst="rect">
            <a:avLst/>
          </a:prstGeom>
          <a:solidFill>
            <a:srgbClr val="FFFFFF"/>
          </a:solidFill>
          <a:ln w="15875">
            <a:solidFill>
              <a:srgbClr val="CC0000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0704" y="1508760"/>
          <a:ext cx="4754880" cy="914400"/>
        </p:xfrm>
        <a:graphic>
          <a:graphicData uri="http://schemas.openxmlformats.org/drawingml/2006/table">
            <a:tbl>
              <a:tblPr/>
              <a:tblGrid>
                <a:gridCol w="630936"/>
                <a:gridCol w="868680"/>
                <a:gridCol w="868680"/>
                <a:gridCol w="868680"/>
                <a:gridCol w="868680"/>
                <a:gridCol w="649224"/>
              </a:tblGrid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Serial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sepal.length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sepal.width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petal.length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petal.width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9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Versicolor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9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Versicolor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9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Versicolor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9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Versicolor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9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Versicolor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9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Versicolor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9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Versicolor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9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Versicolor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9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Versicolor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9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Versicolor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9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Versicolor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Virginica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Virginica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Virginica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Virginica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C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Virginica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Virginica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Virginica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086600" y="1965960"/>
            <a:ext cx="2880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86600" y="1965960"/>
            <a:ext cx="288036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Samples</a:t>
            </a:r>
            <a:endParaRPr lang="en-US" sz="20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Classes</a:t>
            </a:r>
            <a:endParaRPr lang="en-US" sz="20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Setosa</a:t>
            </a:r>
            <a:endParaRPr lang="en-US" sz="20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Versicolor</a:t>
            </a:r>
            <a:endParaRPr lang="en-US" sz="2000" dirty="0"/>
          </a:p>
          <a:p>
            <a:pPr algn="ctr" indent="0" marL="0">
              <a:lnSpc>
                <a:spcPts val="19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Virginica</a:t>
            </a:r>
            <a:endParaRPr lang="en-US" sz="20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algn="ctr" indent="0" marL="0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Features</a:t>
            </a:r>
            <a:endParaRPr lang="en-US" sz="20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400" i="1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Direct Visualization</a:t>
            </a:r>
            <a:endParaRPr lang="en-US" sz="2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Reduced Features  [ </a:t>
            </a:r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features are reduced to </a:t>
            </a:r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two</a:t>
            </a:r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features]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7006" y="1170432"/>
            <a:ext cx="10848442" cy="5010912"/>
          </a:xfrm>
          <a:prstGeom prst="rect">
            <a:avLst/>
          </a:prstGeom>
          <a:solidFill>
            <a:srgbClr val="E8E8E8"/>
          </a:solidFill>
          <a:ln w="15875">
            <a:solidFill>
              <a:srgbClr val="8B0000"/>
            </a:solidFill>
            <a:prstDash val="solid"/>
          </a:ln>
        </p:spPr>
      </p:sp>
      <p:pic>
        <p:nvPicPr>
          <p:cNvPr id="7" name="Image 0" descr="videos/ml-intro/recreated_pptx/build/assets/graphs/s63_graph_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4230" y="1206459"/>
            <a:ext cx="6349959" cy="508004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27202" y="1803197"/>
            <a:ext cx="1904695" cy="1473098"/>
          </a:xfrm>
          <a:prstGeom prst="rect">
            <a:avLst/>
          </a:prstGeom>
          <a:solidFill>
            <a:srgbClr val="E8E8E8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96970" y="1866930"/>
            <a:ext cx="50841" cy="1333470"/>
          </a:xfrm>
          <a:prstGeom prst="arc">
            <a:avLst>
              <a:gd name="adj1" fmla="val 5400000"/>
              <a:gd name="adj2" fmla="val 16200000"/>
            </a:avLst>
          </a:prstGeom>
          <a:solidFill>
            <a:srgbClr val="E8E8E8">
              <a:alpha val="0"/>
            </a:srgbClr>
          </a:solidFill>
          <a:ln w="28575">
            <a:solidFill>
              <a:srgbClr val="B3B3B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84310" y="1866930"/>
            <a:ext cx="34930" cy="1333470"/>
          </a:xfrm>
          <a:prstGeom prst="arc">
            <a:avLst>
              <a:gd name="adj1" fmla="val 16200000"/>
              <a:gd name="adj2" fmla="val 5400000"/>
            </a:avLst>
          </a:prstGeom>
          <a:solidFill>
            <a:srgbClr val="E8E8E8">
              <a:alpha val="0"/>
            </a:srgbClr>
          </a:solidFill>
          <a:ln w="28575">
            <a:solidFill>
              <a:srgbClr val="B3B3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18565" y="1877263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ᵀ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9886" y="1890979"/>
            <a:ext cx="54864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5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₁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9886" y="2223821"/>
            <a:ext cx="54864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algn="ctr" indent="0" marL="0">
              <a:buNone/>
            </a:pPr>
            <a:r>
              <a:rPr lang="en-US" sz="15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₁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9886" y="2556662"/>
            <a:ext cx="54864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5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19886" y="2889504"/>
            <a:ext cx="54864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algn="ctr" indent="0" marL="0">
              <a:buNone/>
            </a:pPr>
            <a:r>
              <a:rPr lang="en-US" sz="15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₂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727302" y="2210105"/>
            <a:ext cx="50840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701698" y="2482596"/>
            <a:ext cx="495605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861718" y="2497226"/>
            <a:ext cx="2798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2419320" y="2197120"/>
            <a:ext cx="63459" cy="685800"/>
          </a:xfrm>
          <a:prstGeom prst="arc">
            <a:avLst>
              <a:gd name="adj1" fmla="val 5400000"/>
              <a:gd name="adj2" fmla="val 16200000"/>
            </a:avLst>
          </a:prstGeom>
          <a:solidFill>
            <a:srgbClr val="E8E8E8">
              <a:alpha val="0"/>
            </a:srgbClr>
          </a:solidFill>
          <a:ln w="28575">
            <a:solidFill>
              <a:srgbClr val="B3B3B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24180" y="2197120"/>
            <a:ext cx="38130" cy="685800"/>
          </a:xfrm>
          <a:prstGeom prst="arc">
            <a:avLst>
              <a:gd name="adj1" fmla="val 16200000"/>
              <a:gd name="adj2" fmla="val 5400000"/>
            </a:avLst>
          </a:prstGeom>
          <a:solidFill>
            <a:srgbClr val="E8E8E8">
              <a:alpha val="0"/>
            </a:srgbClr>
          </a:solidFill>
          <a:ln w="28575">
            <a:solidFill>
              <a:srgbClr val="B3B3B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66974" y="2105863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ᵀ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328977" y="2196846"/>
            <a:ext cx="54864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₁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2328977" y="2526944"/>
            <a:ext cx="54864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₂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0113264" y="2734056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Setosa</a:t>
            </a:r>
            <a:endParaRPr lang="en-US" sz="700" dirty="0"/>
          </a:p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Versicolor</a:t>
            </a:r>
            <a:endParaRPr lang="en-US" sz="700" dirty="0"/>
          </a:p>
          <a:p>
            <a:pPr algn="l" indent="0" marL="0">
              <a:lnSpc>
                <a:spcPts val="800"/>
              </a:lnSpc>
              <a:buNone/>
            </a:pPr>
            <a:r>
              <a:rPr lang="en-US" sz="7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Virginica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2441448" y="6291072"/>
            <a:ext cx="7315200" cy="384048"/>
          </a:xfrm>
          <a:prstGeom prst="rect">
            <a:avLst/>
          </a:prstGeom>
          <a:solidFill>
            <a:srgbClr val="E8E8E8"/>
          </a:solidFill>
          <a:ln w="12700">
            <a:solidFill>
              <a:srgbClr val="A3A1B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441448" y="629107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Classes </a:t>
            </a:r>
            <a:pPr algn="ctr" indent="0" marL="0">
              <a:buNone/>
            </a:pPr>
            <a:r>
              <a:rPr lang="en-US" sz="15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</a:t>
            </a:r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2-D</a:t>
            </a:r>
            <a:pPr algn="ctr" indent="0" marL="0">
              <a:buNone/>
            </a:pPr>
            <a:r>
              <a:rPr lang="en-US" sz="15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(Z₁ vs Z₂)</a:t>
            </a:r>
            <a:endParaRPr lang="en-US" sz="15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Visualize </a:t>
            </a:r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Features</a:t>
            </a:r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 </a:t>
            </a:r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features are reduced to </a:t>
            </a:r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three features</a:t>
            </a:r>
            <a:pPr algn="ctr" indent="0" marL="0">
              <a:buNone/>
            </a:pPr>
            <a:r>
              <a:rPr lang="en-US" sz="2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11365992" cy="5257800"/>
          </a:xfrm>
          <a:prstGeom prst="rect">
            <a:avLst/>
          </a:prstGeom>
          <a:solidFill>
            <a:srgbClr val="E8E8E8"/>
          </a:solidFill>
          <a:ln w="19050">
            <a:solidFill>
              <a:srgbClr val="CC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16090"/>
            <a:ext cx="1930390" cy="1460480"/>
          </a:xfrm>
          <a:prstGeom prst="rect">
            <a:avLst/>
          </a:prstGeom>
          <a:solidFill>
            <a:srgbClr val="E8E8E8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3460" y="187325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lnSpc>
                <a:spcPts val="2600"/>
              </a:lnSpc>
              <a:buNone/>
            </a:pPr>
            <a:r>
              <a:rPr lang="en-US" sz="160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algn="ctr" indent="0" marL="0">
              <a:lnSpc>
                <a:spcPts val="2600"/>
              </a:lnSpc>
              <a:buNone/>
            </a:pPr>
            <a:r>
              <a:rPr lang="en-US" sz="160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lnSpc>
                <a:spcPts val="2600"/>
              </a:lnSpc>
              <a:buNone/>
            </a:pPr>
            <a:r>
              <a:rPr lang="en-US" sz="160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pPr algn="ctr" indent="0" marL="0">
              <a:lnSpc>
                <a:spcPts val="2600"/>
              </a:lnSpc>
              <a:buNone/>
            </a:pPr>
            <a:r>
              <a:rPr lang="en-US" sz="160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23160" y="2044700"/>
            <a:ext cx="411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lnSpc>
                <a:spcPts val="2600"/>
              </a:lnSpc>
              <a:buNone/>
            </a:pPr>
            <a:r>
              <a:rPr lang="en-US" sz="1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lnSpc>
                <a:spcPts val="2600"/>
              </a:lnSpc>
              <a:buNone/>
            </a:pPr>
            <a:r>
              <a:rPr lang="en-US" sz="1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</a:t>
            </a:r>
            <a:pPr algn="ctr" indent="0" marL="0">
              <a:lnSpc>
                <a:spcPts val="2600"/>
              </a:lnSpc>
              <a:buNone/>
            </a:pPr>
            <a:r>
              <a:rPr lang="en-US" sz="1600" b="1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pic>
        <p:nvPicPr>
          <p:cNvPr id="10" name="Image 0" descr="videos/ml-intro/recreated_pptx/build/assets/parens_064/wl_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298" y="1879600"/>
            <a:ext cx="32004" cy="1346200"/>
          </a:xfrm>
          <a:prstGeom prst="rect">
            <a:avLst/>
          </a:prstGeom>
        </p:spPr>
      </p:pic>
      <p:pic>
        <p:nvPicPr>
          <p:cNvPr id="11" name="Image 1" descr="videos/ml-intro/recreated_pptx/build/assets/parens_064/wl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698" y="1892300"/>
            <a:ext cx="32004" cy="1320800"/>
          </a:xfrm>
          <a:prstGeom prst="rect">
            <a:avLst/>
          </a:prstGeom>
        </p:spPr>
      </p:pic>
      <p:pic>
        <p:nvPicPr>
          <p:cNvPr id="12" name="Image 2" descr="videos/ml-intro/recreated_pptx/build/assets/parens_064/z_lef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698" y="2057400"/>
            <a:ext cx="32004" cy="990600"/>
          </a:xfrm>
          <a:prstGeom prst="rect">
            <a:avLst/>
          </a:prstGeom>
        </p:spPr>
      </p:pic>
      <p:pic>
        <p:nvPicPr>
          <p:cNvPr id="13" name="Image 3" descr="videos/ml-intro/recreated_pptx/build/assets/parens_064/z_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6248" y="2044700"/>
            <a:ext cx="32004" cy="990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3040" y="1865376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2706624" y="1856232"/>
            <a:ext cx="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661160" y="22179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1714500" y="2523744"/>
            <a:ext cx="584200" cy="0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  <a:tailEnd type="triangle"/>
          </a:ln>
        </p:spPr>
      </p:sp>
      <p:pic>
        <p:nvPicPr>
          <p:cNvPr id="18" name="Image 4" descr="videos/ml-intro/recreated_pptx/build/assets/graphs/s064_graph_v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3395" y="1168603"/>
            <a:ext cx="6197803" cy="509229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692640" y="26060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Setosa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9692640" y="295351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Versicolor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9692640" y="330098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Virginica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2651760" y="6391656"/>
            <a:ext cx="6903720" cy="292608"/>
          </a:xfrm>
          <a:prstGeom prst="rect">
            <a:avLst/>
          </a:prstGeom>
          <a:solidFill>
            <a:srgbClr val="E8E8E8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2651760" y="6391656"/>
            <a:ext cx="6903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</a:t>
            </a:r>
            <a:pPr algn="ctr" indent="0" marL="0">
              <a:buNone/>
            </a:pPr>
            <a:r>
              <a:rPr lang="en-US" sz="1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pPr algn="ctr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3-D (z</a:t>
            </a:r>
            <a:pPr algn="ctr" indent="0" marL="0">
              <a:buNone/>
            </a:pPr>
            <a:r>
              <a:rPr lang="en-US" sz="180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Z </a:t>
            </a:r>
            <a:pPr algn="ctr" indent="0" marL="0">
              <a:buNone/>
            </a:pPr>
            <a:r>
              <a:rPr lang="en-US" sz="180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vs Z</a:t>
            </a:r>
            <a:pPr algn="ctr" indent="0" marL="0">
              <a:buNone/>
            </a:pPr>
            <a:r>
              <a:rPr lang="en-US" sz="1800" b="1" baseline="-4000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2026-10-10T19:45:45Z</dcterms:created>
  <dcterms:modified xsi:type="dcterms:W3CDTF">2026-10-10T19:45:45Z</dcterms:modified>
</cp:coreProperties>
</file>