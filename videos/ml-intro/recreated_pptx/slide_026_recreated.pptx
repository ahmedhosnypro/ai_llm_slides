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0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0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Notations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12648" y="1371600"/>
            <a:ext cx="10963656" cy="5212080"/>
          </a:xfrm>
          <a:prstGeom prst="roundRect">
            <a:avLst>
              <a:gd name="adj" fmla="val 1053"/>
            </a:avLst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4742" y="190487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8" name="Equation OMML" descr="\mathbb{R}^D"/>
              <p:cNvSpPr txBox="1"/>
              <p:nvPr/>
            </p:nvSpPr>
            <p:spPr>
              <a:xfrm>
                <a:off x="1664208" y="1782574"/>
                <a:ext cx="306324" cy="2362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" name="Image 0" descr="/home/ahmed/Projects/ai_llm_slides/videos/ml-intro/recreated_pptx/build/omml/slide_026/assets/eq_026_r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64208" y="1782574"/>
                <a:ext cx="306324" cy="236217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 6"/>
          <p:cNvSpPr/>
          <p:nvPr/>
        </p:nvSpPr>
        <p:spPr>
          <a:xfrm>
            <a:off x="2177186" y="17807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set of all D × 1 real-valued column vectors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64742" y="2266889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1" name="Equation OMML" descr="x \in \mathbb{R}^D"/>
              <p:cNvSpPr txBox="1"/>
              <p:nvPr/>
            </p:nvSpPr>
            <p:spPr>
              <a:xfrm>
                <a:off x="1664208" y="2150871"/>
                <a:ext cx="740664" cy="2377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x∈</m:t>
                      </m:r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1" descr="/home/ahmed/Projects/ai_llm_slides/videos/ml-intro/recreated_pptx/build/omml/slide_026/assets/eq_026_xin_r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64208" y="2150871"/>
                <a:ext cx="740664" cy="23774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 8"/>
          <p:cNvSpPr/>
          <p:nvPr/>
        </p:nvSpPr>
        <p:spPr>
          <a:xfrm>
            <a:off x="2697480" y="21490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a D × 1 real-valued column vector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364742" y="2609789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4" name="Equation OMML" descr="x{}^T"/>
              <p:cNvSpPr txBox="1"/>
              <p:nvPr/>
            </p:nvSpPr>
            <p:spPr>
              <a:xfrm>
                <a:off x="1664208" y="2506474"/>
                <a:ext cx="275847" cy="2362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2" descr="/home/ahmed/Projects/ai_llm_slides/videos/ml-intro/recreated_pptx/build/omml/slide_026/assets/eq_026_xT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4208" y="2506474"/>
                <a:ext cx="275847" cy="236217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 10"/>
          <p:cNvSpPr/>
          <p:nvPr/>
        </p:nvSpPr>
        <p:spPr>
          <a:xfrm>
            <a:off x="2113178" y="25046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transpose of </a:t>
            </a:r>
            <a:pPr algn="l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1 × D row vector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364742" y="296530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7" name="Equation OMML" descr="\mathbb{R}^{N\times D}"/>
              <p:cNvSpPr txBox="1"/>
              <p:nvPr/>
            </p:nvSpPr>
            <p:spPr>
              <a:xfrm>
                <a:off x="1676908" y="2849374"/>
                <a:ext cx="621792" cy="2362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3" descr="/home/ahmed/Projects/ai_llm_slides/videos/ml-intro/recreated_pptx/build/omml/slide_026/assets/eq_026_rnd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6908" y="2849374"/>
                <a:ext cx="621792" cy="236217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 12"/>
          <p:cNvSpPr/>
          <p:nvPr/>
        </p:nvSpPr>
        <p:spPr>
          <a:xfrm>
            <a:off x="2544775" y="28475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set of all N × D real-valued matrices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364742" y="332091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0" name="Equation OMML" descr="X \in \mathbb{R}^{N\times D}"/>
              <p:cNvSpPr txBox="1"/>
              <p:nvPr/>
            </p:nvSpPr>
            <p:spPr>
              <a:xfrm>
                <a:off x="1664208" y="3217671"/>
                <a:ext cx="1080519" cy="2377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X∈</m:t>
                      </m:r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4" descr="/home/ahmed/Projects/ai_llm_slides/videos/ml-intro/recreated_pptx/build/omml/slide_026/assets/eq_026_xin_rnd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08" y="3217671"/>
                <a:ext cx="1080519" cy="237744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 14"/>
          <p:cNvSpPr/>
          <p:nvPr/>
        </p:nvSpPr>
        <p:spPr>
          <a:xfrm>
            <a:off x="2913278" y="32158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an N × D real-valued matrix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1364742" y="367652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666951" y="3571443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Often, we write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6413500" y="3619500"/>
            <a:ext cx="4406900" cy="279400"/>
          </a:xfrm>
          <a:prstGeom prst="rect">
            <a:avLst/>
          </a:prstGeom>
          <a:solidFill>
            <a:srgbClr val="E8D9B5"/>
          </a:solidFill>
          <a:ln w="3175">
            <a:solidFill>
              <a:srgbClr val="E8D9B5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5" name="Equation OMML" descr="\{(x{}_1, y_1), \ldots, (x{}_N, y_N)\} \ \mathrm{as}\ (X, Y)"/>
              <p:cNvSpPr txBox="1"/>
              <p:nvPr/>
            </p:nvSpPr>
            <p:spPr>
              <a:xfrm>
                <a:off x="6490208" y="3612894"/>
                <a:ext cx="3334515" cy="2438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{(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),…,(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)} </m:t>
                      </m:r>
                      <m:r>
                        <m:rPr>
                          <m:sty m:val="p"/>
                        </m:rPr>
                        <a:rPr lang="en-US" i="0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as</m:t>
                      </m:r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(X,Y)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5" name="Image 5" descr="/home/ahmed/Projects/ai_llm_slides/videos/ml-intro/recreated_pptx/build/omml/slide_026/assets/eq_026_set18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90208" y="3612894"/>
                <a:ext cx="3334515" cy="243843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Shape 18"/>
          <p:cNvSpPr/>
          <p:nvPr/>
        </p:nvSpPr>
        <p:spPr>
          <a:xfrm>
            <a:off x="2000250" y="4057650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2276856" y="4002837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N × D matrix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000250" y="4413260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2276856" y="4333037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of </a:t>
            </a:r>
            <a:pPr algn="l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denotes an example,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2267712" y="4625137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column denotes a feature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2000250" y="5035509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2" name="Equation OMML" descr="x{}_{ij}"/>
              <p:cNvSpPr txBox="1"/>
              <p:nvPr/>
            </p:nvSpPr>
            <p:spPr>
              <a:xfrm>
                <a:off x="2273808" y="5041394"/>
                <a:ext cx="192024" cy="16306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ij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2" name="Image 6" descr="/home/ahmed/Projects/ai_llm_slides/videos/ml-intro/recreated_pptx/build/omml/slide_026/assets/eq_026_xij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3808" y="5041394"/>
                <a:ext cx="192024" cy="163065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 24"/>
          <p:cNvSpPr/>
          <p:nvPr/>
        </p:nvSpPr>
        <p:spPr>
          <a:xfrm>
            <a:off x="2570378" y="4980737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j-th feature of the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2276856" y="520933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i-th example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2000250" y="5645140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2267712" y="5590337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N × 1 vector. Row i denotes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2267712" y="583163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of the i-th example</a:t>
            </a:r>
            <a:endParaRPr lang="en-US" sz="1300" dirty="0"/>
          </a:p>
        </p:txBody>
      </p:sp>
      <mc:AlternateContent>
        <mc:Choice xmlns:a14="http://schemas.microsoft.com/office/drawing/2010/main" Requires="a14">
          <p:sp>
            <p:nvSpPr>
              <p:cNvPr id="38" name="Equation OMML" descr="\mathbf{X}\;="/>
              <p:cNvSpPr txBox="1"/>
              <p:nvPr/>
            </p:nvSpPr>
            <p:spPr>
              <a:xfrm>
                <a:off x="6629908" y="4622295"/>
                <a:ext cx="469389" cy="19049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8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7" descr="/home/ahmed/Projects/ai_llm_slides/videos/ml-intro/recreated_pptx/build/omml/slide_026/assets/eq_026_Xeq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9908" y="4622295"/>
                <a:ext cx="469389" cy="190497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Shape 29"/>
          <p:cNvSpPr/>
          <p:nvPr/>
        </p:nvSpPr>
        <p:spPr>
          <a:xfrm>
            <a:off x="7340600" y="4241800"/>
            <a:ext cx="173736" cy="977900"/>
          </a:xfrm>
          <a:prstGeom prst="arc">
            <a:avLst>
              <a:gd name="adj1" fmla="val 5400000"/>
              <a:gd name="adj2" fmla="val 162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7581900" y="43053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F4E04D"/>
          </a:solidFill>
          <a:ln w="6350">
            <a:solidFill>
              <a:srgbClr val="F4E04D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1" name="Equation OMML" descr="x{}_1"/>
              <p:cNvSpPr txBox="1"/>
              <p:nvPr/>
            </p:nvSpPr>
            <p:spPr>
              <a:xfrm>
                <a:off x="7709183" y="4305808"/>
                <a:ext cx="202695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1" name="Image 8" descr="/home/ahmed/Projects/ai_llm_slides/videos/ml-intro/recreated_pptx/build/omml/slide_026/assets/eq_026_x1_14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09183" y="4305808"/>
                <a:ext cx="202695" cy="149349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Shape 31"/>
          <p:cNvSpPr/>
          <p:nvPr/>
        </p:nvSpPr>
        <p:spPr>
          <a:xfrm>
            <a:off x="7581900" y="45339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7BE8A0"/>
          </a:solidFill>
          <a:ln w="6350">
            <a:solidFill>
              <a:srgbClr val="7BE8A0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7581900" y="47625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E86DE8"/>
          </a:solidFill>
          <a:ln w="6350">
            <a:solidFill>
              <a:srgbClr val="E86D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4" name="Equation OMML" descr="\vdots"/>
              <p:cNvSpPr txBox="1"/>
              <p:nvPr/>
            </p:nvSpPr>
            <p:spPr>
              <a:xfrm>
                <a:off x="7793006" y="4945886"/>
                <a:ext cx="35049" cy="11582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9" descr="/home/ahmed/Projects/ai_llm_slides/videos/ml-intro/recreated_pptx/build/omml/slide_026/assets/eq_026_vdots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93006" y="4945886"/>
                <a:ext cx="35049" cy="115827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Shape 33"/>
          <p:cNvSpPr/>
          <p:nvPr/>
        </p:nvSpPr>
        <p:spPr>
          <a:xfrm>
            <a:off x="7581900" y="50292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5FE8E8"/>
          </a:solidFill>
          <a:ln w="6350">
            <a:solidFill>
              <a:srgbClr val="5FE8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6" name="Equation OMML" descr="x{}_N"/>
              <p:cNvSpPr txBox="1"/>
              <p:nvPr/>
            </p:nvSpPr>
            <p:spPr>
              <a:xfrm>
                <a:off x="7716772" y="5042408"/>
                <a:ext cx="225555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10" descr="/home/ahmed/Projects/ai_llm_slides/videos/ml-intro/recreated_pptx/build/omml/slide_026/assets/eq_026_xN_14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16772" y="5042408"/>
                <a:ext cx="225555" cy="149349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Shape 34"/>
          <p:cNvSpPr/>
          <p:nvPr/>
        </p:nvSpPr>
        <p:spPr>
          <a:xfrm>
            <a:off x="8170164" y="4241800"/>
            <a:ext cx="173736" cy="977900"/>
          </a:xfrm>
          <a:prstGeom prst="arc">
            <a:avLst>
              <a:gd name="adj1" fmla="val 16200000"/>
              <a:gd name="adj2" fmla="val 54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8" name="Equation OMML" descr="="/>
              <p:cNvSpPr txBox="1"/>
              <p:nvPr/>
            </p:nvSpPr>
            <p:spPr>
              <a:xfrm>
                <a:off x="8522208" y="4672072"/>
                <a:ext cx="167637" cy="883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8" name="Image 11" descr="/home/ahmed/Projects/ai_llm_slides/videos/ml-intro/recreated_pptx/build/omml/slide_026/assets/eq_026_mideq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22208" y="4672072"/>
                <a:ext cx="167637" cy="88395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Shape 35"/>
          <p:cNvSpPr/>
          <p:nvPr/>
        </p:nvSpPr>
        <p:spPr>
          <a:xfrm>
            <a:off x="8915400" y="4241800"/>
            <a:ext cx="173736" cy="977900"/>
          </a:xfrm>
          <a:prstGeom prst="arc">
            <a:avLst>
              <a:gd name="adj1" fmla="val 5400000"/>
              <a:gd name="adj2" fmla="val 162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9194800" y="43053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F4E04D"/>
          </a:solidFill>
          <a:ln w="6350">
            <a:solidFill>
              <a:srgbClr val="F4E04D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1" name="Equation OMML" descr="x{}_{11} \ \ldots\ x{}_{1D}"/>
              <p:cNvSpPr txBox="1"/>
              <p:nvPr/>
            </p:nvSpPr>
            <p:spPr>
              <a:xfrm>
                <a:off x="9552188" y="4343908"/>
                <a:ext cx="809244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11</m:t>
                          </m:r>
                        </m:sub>
                      </m:sSub>
                      <m:r>
                        <a:rPr lang="en-US" i="1" smtClean="0" sz="1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… </m:t>
                      </m:r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1" name="Image 12" descr="/home/ahmed/Projects/ai_llm_slides/videos/ml-intro/recreated_pptx/build/omml/slide_026/assets/eq_026_row1_13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52188" y="4343908"/>
                <a:ext cx="809244" cy="138687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Shape 37"/>
          <p:cNvSpPr/>
          <p:nvPr/>
        </p:nvSpPr>
        <p:spPr>
          <a:xfrm>
            <a:off x="9194800" y="45339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7BE8A0"/>
          </a:solidFill>
          <a:ln w="6350">
            <a:solidFill>
              <a:srgbClr val="7BE8A0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9194800" y="47625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E86DE8"/>
          </a:solidFill>
          <a:ln w="6350">
            <a:solidFill>
              <a:srgbClr val="E86D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4" name="Equation OMML" descr="\vdots"/>
              <p:cNvSpPr txBox="1"/>
              <p:nvPr/>
            </p:nvSpPr>
            <p:spPr>
              <a:xfrm>
                <a:off x="9951996" y="4945886"/>
                <a:ext cx="35049" cy="11582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4" name="Image 13" descr="/home/ahmed/Projects/ai_llm_slides/videos/ml-intro/recreated_pptx/build/omml/slide_026/assets/eq_026_vdots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951996" y="4945886"/>
                <a:ext cx="35049" cy="115827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Shape 39"/>
          <p:cNvSpPr/>
          <p:nvPr/>
        </p:nvSpPr>
        <p:spPr>
          <a:xfrm>
            <a:off x="9194800" y="50292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5FE8E8"/>
          </a:solidFill>
          <a:ln w="6350">
            <a:solidFill>
              <a:srgbClr val="5FE8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6" name="Equation OMML" descr="x{}_{N1} \ \ldots\ x{}_{ND}"/>
              <p:cNvSpPr txBox="1"/>
              <p:nvPr/>
            </p:nvSpPr>
            <p:spPr>
              <a:xfrm>
                <a:off x="9533594" y="5067808"/>
                <a:ext cx="833631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N1</m:t>
                          </m:r>
                        </m:sub>
                      </m:sSub>
                      <m:r>
                        <a:rPr lang="en-US" i="1" smtClean="0" sz="1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… </m:t>
                      </m:r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14" descr="/home/ahmed/Projects/ai_llm_slides/videos/ml-intro/recreated_pptx/build/omml/slide_026/assets/eq_026_rowN_1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33594" y="5067808"/>
                <a:ext cx="833631" cy="138687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Shape 40"/>
          <p:cNvSpPr/>
          <p:nvPr/>
        </p:nvSpPr>
        <p:spPr>
          <a:xfrm>
            <a:off x="10786364" y="4241800"/>
            <a:ext cx="173736" cy="977900"/>
          </a:xfrm>
          <a:prstGeom prst="arc">
            <a:avLst>
              <a:gd name="adj1" fmla="val 16200000"/>
              <a:gd name="adj2" fmla="val 54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8" name="Equation OMML" descr="\mathbf{Y}\;="/>
              <p:cNvSpPr txBox="1"/>
              <p:nvPr/>
            </p:nvSpPr>
            <p:spPr>
              <a:xfrm>
                <a:off x="7671308" y="5904995"/>
                <a:ext cx="466344" cy="19049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8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15" descr="/home/ahmed/Projects/ai_llm_slides/videos/ml-intro/recreated_pptx/build/omml/slide_026/assets/eq_026_Yeq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71308" y="5904995"/>
                <a:ext cx="466344" cy="190497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Shape 41"/>
          <p:cNvSpPr/>
          <p:nvPr/>
        </p:nvSpPr>
        <p:spPr>
          <a:xfrm>
            <a:off x="8394700" y="5524500"/>
            <a:ext cx="173736" cy="977900"/>
          </a:xfrm>
          <a:prstGeom prst="arc">
            <a:avLst>
              <a:gd name="adj1" fmla="val 5400000"/>
              <a:gd name="adj2" fmla="val 162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8661400" y="55880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F4E04D"/>
          </a:solidFill>
          <a:ln w="6350">
            <a:solidFill>
              <a:srgbClr val="F4E04D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61" name="Equation OMML" descr="y{}_1"/>
              <p:cNvSpPr txBox="1"/>
              <p:nvPr/>
            </p:nvSpPr>
            <p:spPr>
              <a:xfrm>
                <a:off x="8775922" y="5613908"/>
                <a:ext cx="202695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16" descr="/home/ahmed/Projects/ai_llm_slides/videos/ml-intro/recreated_pptx/build/omml/slide_026/assets/eq_026_y1_14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75922" y="5613908"/>
                <a:ext cx="202695" cy="158493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Shape 43"/>
          <p:cNvSpPr/>
          <p:nvPr/>
        </p:nvSpPr>
        <p:spPr>
          <a:xfrm>
            <a:off x="8661400" y="58166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7BE8A0"/>
          </a:solidFill>
          <a:ln w="6350">
            <a:solidFill>
              <a:srgbClr val="7BE8A0"/>
            </a:solidFill>
            <a:prstDash val="solid"/>
          </a:ln>
        </p:spPr>
      </p:sp>
      <p:sp>
        <p:nvSpPr>
          <p:cNvPr id="63" name="Shape 44"/>
          <p:cNvSpPr/>
          <p:nvPr/>
        </p:nvSpPr>
        <p:spPr>
          <a:xfrm>
            <a:off x="8661400" y="60452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E86DE8"/>
          </a:solidFill>
          <a:ln w="6350">
            <a:solidFill>
              <a:srgbClr val="E86D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64" name="Equation OMML" descr="\vdots"/>
              <p:cNvSpPr txBox="1"/>
              <p:nvPr/>
            </p:nvSpPr>
            <p:spPr>
              <a:xfrm>
                <a:off x="8897876" y="6228586"/>
                <a:ext cx="35049" cy="11582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17" descr="/home/ahmed/Projects/ai_llm_slides/videos/ml-intro/recreated_pptx/build/omml/slide_026/assets/eq_026_vdots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97876" y="6228586"/>
                <a:ext cx="35049" cy="115827"/>
              </a:xfrm>
              <a:prstGeom prst="rect">
                <a:avLst/>
              </a:prstGeom>
            </p:spPr>
          </p:pic>
        </mc:Fallback>
      </mc:AlternateContent>
      <p:sp>
        <p:nvSpPr>
          <p:cNvPr id="65" name="Shape 45"/>
          <p:cNvSpPr/>
          <p:nvPr/>
        </p:nvSpPr>
        <p:spPr>
          <a:xfrm>
            <a:off x="8661400" y="63119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5FE8E8"/>
          </a:solidFill>
          <a:ln w="6350">
            <a:solidFill>
              <a:srgbClr val="5FE8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66" name="Equation OMML" descr="y{}_N"/>
              <p:cNvSpPr txBox="1"/>
              <p:nvPr/>
            </p:nvSpPr>
            <p:spPr>
              <a:xfrm>
                <a:off x="8770893" y="6337808"/>
                <a:ext cx="225555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18" descr="/home/ahmed/Projects/ai_llm_slides/videos/ml-intro/recreated_pptx/build/omml/slide_026/assets/eq_026_yN_14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70893" y="6337808"/>
                <a:ext cx="225555" cy="158493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Shape 46"/>
          <p:cNvSpPr/>
          <p:nvPr/>
        </p:nvSpPr>
        <p:spPr>
          <a:xfrm>
            <a:off x="9211564" y="5524500"/>
            <a:ext cx="173736" cy="977900"/>
          </a:xfrm>
          <a:prstGeom prst="arc">
            <a:avLst>
              <a:gd name="adj1" fmla="val 16200000"/>
              <a:gd name="adj2" fmla="val 54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2026-10-10T19:48:21Z</dcterms:created>
  <dcterms:modified xsi:type="dcterms:W3CDTF">2026-10-10T19:48:21Z</dcterms:modified>
</cp:coreProperties>
</file>