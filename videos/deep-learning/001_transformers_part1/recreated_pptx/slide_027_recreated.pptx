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0400" y="1371600"/>
            <a:ext cx="10350500" cy="5270500"/>
          </a:xfrm>
          <a:prstGeom prst="roundRect">
            <a:avLst>
              <a:gd name="adj" fmla="val 1214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3213100" y="2463800"/>
            <a:ext cx="1155700" cy="2679700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7" name="Text 5"/>
          <p:cNvSpPr/>
          <p:nvPr/>
        </p:nvSpPr>
        <p:spPr>
          <a:xfrm>
            <a:off x="3213100" y="2501900"/>
            <a:ext cx="115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5C3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46550" y="30797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9" name="Shape 7"/>
          <p:cNvSpPr/>
          <p:nvPr/>
        </p:nvSpPr>
        <p:spPr>
          <a:xfrm>
            <a:off x="3943350" y="36004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2050" y="411480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1" name="Shape 9"/>
          <p:cNvSpPr/>
          <p:nvPr/>
        </p:nvSpPr>
        <p:spPr>
          <a:xfrm>
            <a:off x="3460750" y="4679950"/>
            <a:ext cx="101600" cy="101600"/>
          </a:xfrm>
          <a:prstGeom prst="ellipse">
            <a:avLst/>
          </a:prstGeom>
          <a:solidFill>
            <a:srgbClr val="0200A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39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09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11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462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13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2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9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11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462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13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24" name="Text 22"/>
          <p:cNvSpPr/>
          <p:nvPr/>
        </p:nvSpPr>
        <p:spPr>
          <a:xfrm>
            <a:off x="11262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9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27" name="Shape 25"/>
          <p:cNvSpPr/>
          <p:nvPr/>
        </p:nvSpPr>
        <p:spPr>
          <a:xfrm>
            <a:off x="11811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2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13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0" name="Text 28"/>
          <p:cNvSpPr/>
          <p:nvPr/>
        </p:nvSpPr>
        <p:spPr>
          <a:xfrm>
            <a:off x="11262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9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811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34" name="Shape 32"/>
          <p:cNvSpPr/>
          <p:nvPr/>
        </p:nvSpPr>
        <p:spPr>
          <a:xfrm>
            <a:off x="13462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13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262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16600" y="2489200"/>
            <a:ext cx="393700" cy="2616200"/>
          </a:xfrm>
          <a:prstGeom prst="roundRect">
            <a:avLst>
              <a:gd name="adj" fmla="val 11613"/>
            </a:avLst>
          </a:prstGeom>
          <a:solidFill>
            <a:srgbClr val="F8DEFB"/>
          </a:solidFill>
          <a:ln/>
        </p:spPr>
      </p:sp>
      <p:sp>
        <p:nvSpPr>
          <p:cNvPr id="38" name="Text 36"/>
          <p:cNvSpPr/>
          <p:nvPr/>
        </p:nvSpPr>
        <p:spPr>
          <a:xfrm rot="16200000">
            <a:off x="4824730" y="356235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6B0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40" name="Text 38"/>
          <p:cNvSpPr/>
          <p:nvPr/>
        </p:nvSpPr>
        <p:spPr>
          <a:xfrm>
            <a:off x="6553200" y="2489200"/>
            <a:ext cx="1701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765300" y="3124200"/>
            <a:ext cx="2381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48150" y="3124200"/>
            <a:ext cx="1543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765300" y="3644900"/>
            <a:ext cx="21780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44950" y="3644900"/>
            <a:ext cx="17462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5300" y="4165600"/>
            <a:ext cx="19367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03650" y="4165600"/>
            <a:ext cx="19875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765300" y="4724400"/>
            <a:ext cx="16954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2350" y="4724400"/>
            <a:ext cx="222885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223000" y="31242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3000" y="36449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3000" y="4165600"/>
            <a:ext cx="3441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23000" y="4724400"/>
            <a:ext cx="25146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756400" y="2806700"/>
            <a:ext cx="0" cy="2921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7150100" y="2806700"/>
            <a:ext cx="0" cy="8128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7505700" y="2806700"/>
            <a:ext cx="0" cy="13335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7899400" y="2806700"/>
            <a:ext cx="0" cy="18669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273800" y="28702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73800" y="33909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73800" y="39116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73800" y="447040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92900" y="30607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31242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718300" y="30988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65595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6851650" y="30543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35814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99300" y="36449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7112000" y="36195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400000">
            <a:off x="69532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7245350" y="35750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2200" y="41021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54900" y="41656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467600" y="41402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400000">
            <a:off x="73088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7600950" y="40957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>
            <a:off x="7835900" y="4660900"/>
            <a:ext cx="127000" cy="127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848600" y="4724400"/>
            <a:ext cx="1016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861300" y="4699000"/>
            <a:ext cx="76200" cy="508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400000">
            <a:off x="77025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4" name="Shape 82"/>
          <p:cNvSpPr/>
          <p:nvPr/>
        </p:nvSpPr>
        <p:spPr>
          <a:xfrm rot="16200000">
            <a:off x="7994650" y="4654550"/>
            <a:ext cx="101600" cy="1397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5" name="Shape 83"/>
          <p:cNvSpPr/>
          <p:nvPr/>
        </p:nvSpPr>
        <p:spPr>
          <a:xfrm rot="1560000">
            <a:off x="6972300" y="1854200"/>
            <a:ext cx="304800" cy="266700"/>
          </a:xfrm>
          <a:prstGeom prst="upArrow">
            <a:avLst/>
          </a:prstGeom>
          <a:solidFill>
            <a:srgbClr val="12B45A"/>
          </a:solidFill>
          <a:ln/>
        </p:spPr>
      </p:sp>
      <p:sp>
        <p:nvSpPr>
          <p:cNvPr id="86" name="Shape 84"/>
          <p:cNvSpPr/>
          <p:nvPr/>
        </p:nvSpPr>
        <p:spPr>
          <a:xfrm flipV="1">
            <a:off x="7404100" y="1917700"/>
            <a:ext cx="0" cy="533400"/>
          </a:xfrm>
          <a:prstGeom prst="line">
            <a:avLst/>
          </a:prstGeom>
          <a:noFill/>
          <a:ln w="19050">
            <a:solidFill>
              <a:srgbClr val="8C000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3378200" y="2032000"/>
            <a:ext cx="952500" cy="3556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88" name="Text 86"/>
          <p:cNvSpPr/>
          <p:nvPr/>
        </p:nvSpPr>
        <p:spPr>
          <a:xfrm>
            <a:off x="3378200" y="20320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435600" y="2044700"/>
            <a:ext cx="1117600" cy="3937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0" name="Text 88"/>
          <p:cNvSpPr/>
          <p:nvPr/>
        </p:nvSpPr>
        <p:spPr>
          <a:xfrm>
            <a:off x="5435600" y="2044700"/>
            <a:ext cx="1117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7213600" y="1930400"/>
            <a:ext cx="1587500" cy="444500"/>
          </a:xfrm>
          <a:prstGeom prst="ellipse">
            <a:avLst/>
          </a:prstGeom>
          <a:solidFill>
            <a:srgbClr val="F9FCDB"/>
          </a:solidFill>
          <a:ln/>
        </p:spPr>
      </p:sp>
      <p:sp>
        <p:nvSpPr>
          <p:cNvPr id="92" name="Text 90"/>
          <p:cNvSpPr/>
          <p:nvPr/>
        </p:nvSpPr>
        <p:spPr>
          <a:xfrm>
            <a:off x="7670800" y="1930400"/>
            <a:ext cx="990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946900" y="1511300"/>
            <a:ext cx="901700" cy="368300"/>
          </a:xfrm>
          <a:prstGeom prst="roundRect">
            <a:avLst>
              <a:gd name="adj" fmla="val 9931"/>
            </a:avLst>
          </a:prstGeom>
          <a:ln w="15875">
            <a:solidFill>
              <a:srgbClr val="3B7A40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6972300" y="1536700"/>
            <a:ext cx="165100" cy="304800"/>
          </a:xfrm>
          <a:prstGeom prst="rect">
            <a:avLst/>
          </a:prstGeom>
          <a:solidFill>
            <a:srgbClr val="B2DCA5"/>
          </a:solidFill>
          <a:ln/>
        </p:spPr>
      </p:sp>
      <p:sp>
        <p:nvSpPr>
          <p:cNvPr id="95" name="Shape 93"/>
          <p:cNvSpPr/>
          <p:nvPr/>
        </p:nvSpPr>
        <p:spPr>
          <a:xfrm>
            <a:off x="7142480" y="1536700"/>
            <a:ext cx="165100" cy="304800"/>
          </a:xfrm>
          <a:prstGeom prst="rect">
            <a:avLst/>
          </a:prstGeom>
          <a:solidFill>
            <a:srgbClr val="AFDAA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2660" y="1536700"/>
            <a:ext cx="165100" cy="304800"/>
          </a:xfrm>
          <a:prstGeom prst="rect">
            <a:avLst/>
          </a:prstGeom>
          <a:solidFill>
            <a:srgbClr val="96CE91"/>
          </a:solidFill>
          <a:ln/>
        </p:spPr>
      </p:sp>
      <p:sp>
        <p:nvSpPr>
          <p:cNvPr id="97" name="Shape 95"/>
          <p:cNvSpPr/>
          <p:nvPr/>
        </p:nvSpPr>
        <p:spPr>
          <a:xfrm>
            <a:off x="7482840" y="1536700"/>
            <a:ext cx="165100" cy="304800"/>
          </a:xfrm>
          <a:prstGeom prst="rect">
            <a:avLst/>
          </a:prstGeom>
          <a:solidFill>
            <a:srgbClr val="A0CC9A"/>
          </a:solidFill>
          <a:ln/>
        </p:spPr>
      </p:sp>
      <p:sp>
        <p:nvSpPr>
          <p:cNvPr id="98" name="Shape 96"/>
          <p:cNvSpPr/>
          <p:nvPr/>
        </p:nvSpPr>
        <p:spPr>
          <a:xfrm>
            <a:off x="7653020" y="1536700"/>
            <a:ext cx="175260" cy="304800"/>
          </a:xfrm>
          <a:prstGeom prst="rect">
            <a:avLst/>
          </a:prstGeom>
          <a:solidFill>
            <a:srgbClr val="A5C8BD"/>
          </a:solidFill>
          <a:ln/>
        </p:spPr>
      </p:sp>
      <p:sp>
        <p:nvSpPr>
          <p:cNvPr id="99" name="Text 97"/>
          <p:cNvSpPr/>
          <p:nvPr/>
        </p:nvSpPr>
        <p:spPr>
          <a:xfrm>
            <a:off x="7251700" y="1511300"/>
            <a:ext cx="317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8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9664700" y="2870200"/>
            <a:ext cx="1054100" cy="2159000"/>
          </a:xfrm>
          <a:prstGeom prst="roundRect">
            <a:avLst>
              <a:gd name="adj" fmla="val 6072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7917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6800" y="30416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21900" y="30416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87000" y="30416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52100" y="30416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067036" y="30162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7917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956800" y="35623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121900" y="35623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287000" y="35623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52100" y="35623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067036" y="35369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97917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956800" y="40830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121900" y="40830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87000" y="40830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52100" y="40830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67036" y="40576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7917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956800" y="46418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121900" y="46418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287000" y="46418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0452100" y="46418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24" name="Text 122"/>
          <p:cNvSpPr/>
          <p:nvPr/>
        </p:nvSpPr>
        <p:spPr>
          <a:xfrm>
            <a:off x="10067036" y="46164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2260600" y="6007100"/>
            <a:ext cx="4000500" cy="571500"/>
          </a:xfrm>
          <a:prstGeom prst="roundRect">
            <a:avLst>
              <a:gd name="adj" fmla="val 11200"/>
            </a:avLst>
          </a:prstGeom>
          <a:solidFill>
            <a:srgbClr val="E6FCE7"/>
          </a:solidFill>
          <a:ln w="15875">
            <a:solidFill>
              <a:srgbClr val="3B7A40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24257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590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7559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9210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30861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27010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3053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4704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6355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8006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9657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45806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52578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39" name="Shape 137"/>
          <p:cNvSpPr/>
          <p:nvPr/>
        </p:nvSpPr>
        <p:spPr>
          <a:xfrm>
            <a:off x="5422900" y="6191250"/>
            <a:ext cx="152400" cy="177800"/>
          </a:xfrm>
          <a:prstGeom prst="rect">
            <a:avLst/>
          </a:prstGeom>
          <a:solidFill>
            <a:srgbClr val="FCFFC6"/>
          </a:solidFill>
          <a:ln/>
        </p:spPr>
      </p:sp>
      <p:sp>
        <p:nvSpPr>
          <p:cNvPr id="140" name="Shape 138"/>
          <p:cNvSpPr/>
          <p:nvPr/>
        </p:nvSpPr>
        <p:spPr>
          <a:xfrm>
            <a:off x="5588000" y="6191250"/>
            <a:ext cx="152400" cy="177800"/>
          </a:xfrm>
          <a:prstGeom prst="rect">
            <a:avLst/>
          </a:prstGeom>
          <a:solidFill>
            <a:srgbClr val="D791C8"/>
          </a:solidFill>
          <a:ln/>
        </p:spPr>
      </p:sp>
      <p:sp>
        <p:nvSpPr>
          <p:cNvPr id="141" name="Shape 139"/>
          <p:cNvSpPr/>
          <p:nvPr/>
        </p:nvSpPr>
        <p:spPr>
          <a:xfrm>
            <a:off x="5753100" y="6191250"/>
            <a:ext cx="152400" cy="177800"/>
          </a:xfrm>
          <a:prstGeom prst="rect">
            <a:avLst/>
          </a:prstGeom>
          <a:solidFill>
            <a:srgbClr val="E6E2F8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918200" y="6191250"/>
            <a:ext cx="152400" cy="177800"/>
          </a:xfrm>
          <a:prstGeom prst="rect">
            <a:avLst/>
          </a:prstGeom>
          <a:solidFill>
            <a:srgbClr val="F3D3EC"/>
          </a:solidFill>
          <a:ln/>
        </p:spPr>
      </p:sp>
      <p:sp>
        <p:nvSpPr>
          <p:cNvPr id="143" name="Text 141"/>
          <p:cNvSpPr/>
          <p:nvPr/>
        </p:nvSpPr>
        <p:spPr>
          <a:xfrm>
            <a:off x="5533136" y="616585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3314700" y="5994400"/>
            <a:ext cx="965200" cy="444500"/>
          </a:xfrm>
          <a:prstGeom prst="roundRect">
            <a:avLst>
              <a:gd name="adj" fmla="val 10286"/>
            </a:avLst>
          </a:prstGeom>
          <a:ln w="19050">
            <a:solidFill>
              <a:srgbClr val="A01450"/>
            </a:solidFill>
            <a:prstDash val="sysDot"/>
          </a:ln>
        </p:spPr>
      </p:sp>
      <p:sp>
        <p:nvSpPr>
          <p:cNvPr id="145" name="Shape 143"/>
          <p:cNvSpPr/>
          <p:nvPr/>
        </p:nvSpPr>
        <p:spPr>
          <a:xfrm>
            <a:off x="3365500" y="6191250"/>
            <a:ext cx="152400" cy="177800"/>
          </a:xfrm>
          <a:prstGeom prst="rect">
            <a:avLst/>
          </a:prstGeom>
          <a:solidFill>
            <a:srgbClr val="E39FB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30600" y="6191250"/>
            <a:ext cx="152400" cy="177800"/>
          </a:xfrm>
          <a:prstGeom prst="rect">
            <a:avLst/>
          </a:prstGeom>
          <a:solidFill>
            <a:srgbClr val="E0A5D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3695700" y="6191250"/>
            <a:ext cx="152400" cy="177800"/>
          </a:xfrm>
          <a:prstGeom prst="rect">
            <a:avLst/>
          </a:prstGeom>
          <a:solidFill>
            <a:srgbClr val="C44C8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860800" y="6191250"/>
            <a:ext cx="152400" cy="177800"/>
          </a:xfrm>
          <a:prstGeom prst="rect">
            <a:avLst/>
          </a:prstGeom>
          <a:solidFill>
            <a:srgbClr val="D595E2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025900" y="6191250"/>
            <a:ext cx="157480" cy="177800"/>
          </a:xfrm>
          <a:prstGeom prst="rect">
            <a:avLst/>
          </a:prstGeom>
          <a:solidFill>
            <a:srgbClr val="DC92E3"/>
          </a:solidFill>
          <a:ln/>
        </p:spPr>
      </p:sp>
      <p:sp>
        <p:nvSpPr>
          <p:cNvPr id="150" name="Text 148"/>
          <p:cNvSpPr/>
          <p:nvPr/>
        </p:nvSpPr>
        <p:spPr>
          <a:xfrm>
            <a:off x="3543300" y="6070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1" name="Shape 149"/>
          <p:cNvSpPr/>
          <p:nvPr/>
        </p:nvSpPr>
        <p:spPr>
          <a:xfrm flipV="1">
            <a:off x="3784600" y="5156200"/>
            <a:ext cx="0" cy="85090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 flipV="1">
            <a:off x="3378200" y="6502400"/>
            <a:ext cx="228600" cy="177800"/>
          </a:xfrm>
          <a:prstGeom prst="line">
            <a:avLst/>
          </a:prstGeom>
          <a:noFill/>
          <a:ln w="50800">
            <a:solidFill>
              <a:srgbClr val="C5000F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 flipH="1" flipV="1">
            <a:off x="1651000" y="5943600"/>
            <a:ext cx="508000" cy="50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 flipH="1" flipV="1">
            <a:off x="1422400" y="5842000"/>
            <a:ext cx="2286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 flipH="1" flipV="1">
            <a:off x="1320800" y="5689600"/>
            <a:ext cx="1016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6" name="Shape 154"/>
          <p:cNvSpPr/>
          <p:nvPr/>
        </p:nvSpPr>
        <p:spPr>
          <a:xfrm flipH="1" flipV="1">
            <a:off x="1295400" y="5461000"/>
            <a:ext cx="25400" cy="228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7" name="Shape 155"/>
          <p:cNvSpPr/>
          <p:nvPr/>
        </p:nvSpPr>
        <p:spPr>
          <a:xfrm flipV="1">
            <a:off x="1295400" y="5194300"/>
            <a:ext cx="0" cy="2667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8" name="Shape 156"/>
          <p:cNvSpPr/>
          <p:nvPr/>
        </p:nvSpPr>
        <p:spPr>
          <a:xfrm flipV="1">
            <a:off x="6311900" y="6248400"/>
            <a:ext cx="800100" cy="25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59" name="Shape 157"/>
          <p:cNvSpPr/>
          <p:nvPr/>
        </p:nvSpPr>
        <p:spPr>
          <a:xfrm flipV="1">
            <a:off x="7112000" y="6184900"/>
            <a:ext cx="698500" cy="635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0" name="Shape 158"/>
          <p:cNvSpPr/>
          <p:nvPr/>
        </p:nvSpPr>
        <p:spPr>
          <a:xfrm flipV="1">
            <a:off x="7810500" y="6108700"/>
            <a:ext cx="546100" cy="762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1" name="Shape 159"/>
          <p:cNvSpPr/>
          <p:nvPr/>
        </p:nvSpPr>
        <p:spPr>
          <a:xfrm flipV="1">
            <a:off x="8356600" y="6019800"/>
            <a:ext cx="469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2" name="Shape 160"/>
          <p:cNvSpPr/>
          <p:nvPr/>
        </p:nvSpPr>
        <p:spPr>
          <a:xfrm flipV="1">
            <a:off x="8826500" y="5930900"/>
            <a:ext cx="3429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3" name="Shape 161"/>
          <p:cNvSpPr/>
          <p:nvPr/>
        </p:nvSpPr>
        <p:spPr>
          <a:xfrm flipV="1">
            <a:off x="9169400" y="5842000"/>
            <a:ext cx="266700" cy="889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4" name="Shape 162"/>
          <p:cNvSpPr/>
          <p:nvPr/>
        </p:nvSpPr>
        <p:spPr>
          <a:xfrm flipV="1">
            <a:off x="9436100" y="5740400"/>
            <a:ext cx="215900" cy="1016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5" name="Shape 163"/>
          <p:cNvSpPr/>
          <p:nvPr/>
        </p:nvSpPr>
        <p:spPr>
          <a:xfrm flipV="1">
            <a:off x="9652000" y="5613400"/>
            <a:ext cx="190500" cy="1270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6" name="Shape 164"/>
          <p:cNvSpPr/>
          <p:nvPr/>
        </p:nvSpPr>
        <p:spPr>
          <a:xfrm flipV="1">
            <a:off x="9842500" y="5461000"/>
            <a:ext cx="1397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7" name="Shape 165"/>
          <p:cNvSpPr/>
          <p:nvPr/>
        </p:nvSpPr>
        <p:spPr>
          <a:xfrm flipV="1">
            <a:off x="9982200" y="5283200"/>
            <a:ext cx="114300" cy="1778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 flipV="1">
            <a:off x="10096500" y="5130800"/>
            <a:ext cx="76200" cy="152400"/>
          </a:xfrm>
          <a:prstGeom prst="line">
            <a:avLst/>
          </a:prstGeom>
          <a:noFill/>
          <a:ln w="12700">
            <a:solidFill>
              <a:srgbClr val="AC9F90"/>
            </a:solidFill>
            <a:prstDash val="dash"/>
          </a:ln>
        </p:spPr>
      </p:sp>
      <p:sp>
        <p:nvSpPr>
          <p:cNvPr id="169" name="Shape 167"/>
          <p:cNvSpPr/>
          <p:nvPr/>
        </p:nvSpPr>
        <p:spPr>
          <a:xfrm>
            <a:off x="12382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0140950" y="5029200"/>
            <a:ext cx="114300" cy="127000"/>
          </a:xfrm>
          <a:prstGeom prst="triangle">
            <a:avLst/>
          </a:prstGeom>
          <a:solidFill>
            <a:srgbClr val="1E7A34"/>
          </a:solidFill>
          <a:ln/>
        </p:spPr>
      </p:sp>
      <p:sp>
        <p:nvSpPr>
          <p:cNvPr id="171" name="Text 169"/>
          <p:cNvSpPr/>
          <p:nvPr/>
        </p:nvSpPr>
        <p:spPr>
          <a:xfrm>
            <a:off x="834390" y="6629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BF29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(Fundamental Operation)</a:t>
            </a:r>
            <a:endParaRPr lang="en-US" sz="2000" dirty="0"/>
          </a:p>
        </p:txBody>
      </p:sp>
      <p:sp>
        <p:nvSpPr>
          <p:cNvPr id="172" name="Text 170"/>
          <p:cNvSpPr/>
          <p:nvPr/>
        </p:nvSpPr>
        <p:spPr>
          <a:xfrm>
            <a:off x="770839" y="961949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5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95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50" dirty="0"/>
          </a:p>
        </p:txBody>
      </p:sp>
      <p:sp>
        <p:nvSpPr>
          <p:cNvPr id="173" name="Shape 171"/>
          <p:cNvSpPr/>
          <p:nvPr/>
        </p:nvSpPr>
        <p:spPr>
          <a:xfrm>
            <a:off x="8851900" y="1638300"/>
            <a:ext cx="1504950" cy="63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174" name="Image 0" descr="/home/ahmed/Projects/ai_llm_slides/videos/deep-learning/001_transformers_part1/recreated_pptx/build/assets/slide027/eq27_y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0800" y="1706114"/>
            <a:ext cx="1370073" cy="490731"/>
          </a:xfrm>
          <a:prstGeom prst="rect">
            <a:avLst/>
          </a:prstGeom>
        </p:spPr>
      </p:pic>
      <p:sp>
        <p:nvSpPr>
          <p:cNvPr id="175" name="Shape 172"/>
          <p:cNvSpPr/>
          <p:nvPr/>
        </p:nvSpPr>
        <p:spPr>
          <a:xfrm>
            <a:off x="4241800" y="5207000"/>
            <a:ext cx="1339850" cy="482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176" name="Image 1" descr="/home/ahmed/Projects/ai_llm_slides/videos/deep-learning/001_transformers_part1/recreated_pptx/build/assets/slide027/eq27_wpr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0" y="5299455"/>
            <a:ext cx="1127757" cy="278892"/>
          </a:xfrm>
          <a:prstGeom prst="rect">
            <a:avLst/>
          </a:prstGeom>
        </p:spPr>
      </p:pic>
      <p:sp>
        <p:nvSpPr>
          <p:cNvPr id="177" name="Shape 173"/>
          <p:cNvSpPr/>
          <p:nvPr/>
        </p:nvSpPr>
        <p:spPr>
          <a:xfrm>
            <a:off x="6223000" y="5105400"/>
            <a:ext cx="1758950" cy="73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A2C7"/>
            </a:solidFill>
            <a:prstDash val="solid"/>
          </a:ln>
        </p:spPr>
      </p:sp>
      <p:pic>
        <p:nvPicPr>
          <p:cNvPr id="178" name="Image 2" descr="/home/ahmed/Projects/ai_llm_slides/videos/deep-learning/001_transformers_part1/recreated_pptx/build/assets/slide027/wf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5447794"/>
            <a:ext cx="455673" cy="163065"/>
          </a:xfrm>
          <a:prstGeom prst="rect">
            <a:avLst/>
          </a:prstGeom>
        </p:spPr>
      </p:pic>
      <p:sp>
        <p:nvSpPr>
          <p:cNvPr id="179" name="Shape 174"/>
          <p:cNvSpPr/>
          <p:nvPr/>
        </p:nvSpPr>
        <p:spPr>
          <a:xfrm>
            <a:off x="6934200" y="5461000"/>
            <a:ext cx="990600" cy="3175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80" name="Image 3" descr="/home/ahmed/Projects/ai_llm_slides/videos/deep-learning/001_transformers_part1/recreated_pptx/build/assets/slide027/wf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380" y="5168900"/>
            <a:ext cx="586743" cy="205740"/>
          </a:xfrm>
          <a:prstGeom prst="rect">
            <a:avLst/>
          </a:prstGeom>
        </p:spPr>
      </p:pic>
      <p:pic>
        <p:nvPicPr>
          <p:cNvPr id="181" name="Image 4" descr="/home/ahmed/Projects/ai_llm_slides/videos/deep-learning/001_transformers_part1/recreated_pptx/build/assets/slide027/w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330" y="5549900"/>
            <a:ext cx="877824" cy="259077"/>
          </a:xfrm>
          <a:prstGeom prst="rect">
            <a:avLst/>
          </a:prstGeom>
        </p:spPr>
      </p:pic>
      <p:sp>
        <p:nvSpPr>
          <p:cNvPr id="182" name="Shape 175"/>
          <p:cNvSpPr/>
          <p:nvPr/>
        </p:nvSpPr>
        <p:spPr>
          <a:xfrm>
            <a:off x="1079500" y="2374900"/>
            <a:ext cx="438150" cy="41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8E80A3"/>
            </a:solidFill>
            <a:prstDash val="solid"/>
          </a:ln>
        </p:spPr>
      </p:sp>
      <p:sp>
        <p:nvSpPr>
          <p:cNvPr id="183" name="Text 176"/>
          <p:cNvSpPr/>
          <p:nvPr/>
        </p:nvSpPr>
        <p:spPr>
          <a:xfrm>
            <a:off x="1079500" y="2374900"/>
            <a:ext cx="4381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ℓ</a:t>
            </a:r>
            <a:endParaRPr lang="en-US" sz="1800" dirty="0"/>
          </a:p>
        </p:txBody>
      </p:sp>
      <p:sp>
        <p:nvSpPr>
          <p:cNvPr id="184" name="Shape 177"/>
          <p:cNvSpPr/>
          <p:nvPr/>
        </p:nvSpPr>
        <p:spPr>
          <a:xfrm>
            <a:off x="2959100" y="5562600"/>
            <a:ext cx="755650" cy="412750"/>
          </a:xfrm>
          <a:prstGeom prst="rect">
            <a:avLst/>
          </a:prstGeom>
          <a:solidFill>
            <a:srgbClr val="FFFFFF"/>
          </a:solidFill>
          <a:ln w="12700">
            <a:solidFill>
              <a:srgbClr val="8E80A3"/>
            </a:solidFill>
            <a:prstDash val="solid"/>
          </a:ln>
        </p:spPr>
      </p:sp>
      <p:sp>
        <p:nvSpPr>
          <p:cNvPr id="185" name="Text 178"/>
          <p:cNvSpPr/>
          <p:nvPr/>
        </p:nvSpPr>
        <p:spPr>
          <a:xfrm>
            <a:off x="2959100" y="5562600"/>
            <a:ext cx="7556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1700" b="1" dirty="0">
                <a:solidFill>
                  <a:srgbClr val="9E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ctr" indent="0" marL="0">
              <a:buNone/>
            </a:pPr>
            <a:r>
              <a:rPr lang="en-US" sz="170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700" b="1" baseline="-40000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86" name="Shape 179"/>
          <p:cNvSpPr/>
          <p:nvPr/>
        </p:nvSpPr>
        <p:spPr>
          <a:xfrm>
            <a:off x="8610600" y="5308600"/>
            <a:ext cx="2406650" cy="1289050"/>
          </a:xfrm>
          <a:prstGeom prst="rect">
            <a:avLst/>
          </a:prstGeom>
          <a:solidFill>
            <a:srgbClr val="F5FACD"/>
          </a:solidFill>
          <a:ln w="25400">
            <a:solidFill>
              <a:srgbClr val="5C3712"/>
            </a:solidFill>
            <a:prstDash val="solid"/>
          </a:ln>
        </p:spPr>
      </p:sp>
      <p:sp>
        <p:nvSpPr>
          <p:cNvPr id="187" name="Text 180"/>
          <p:cNvSpPr/>
          <p:nvPr/>
        </p:nvSpPr>
        <p:spPr>
          <a:xfrm>
            <a:off x="8534400" y="5346700"/>
            <a:ext cx="63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Output</a:t>
            </a:r>
            <a:endParaRPr lang="en-US" sz="9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layer</a:t>
            </a:r>
            <a:endParaRPr lang="en-US" sz="900" dirty="0"/>
          </a:p>
        </p:txBody>
      </p:sp>
      <p:sp>
        <p:nvSpPr>
          <p:cNvPr id="188" name="Text 181"/>
          <p:cNvSpPr/>
          <p:nvPr/>
        </p:nvSpPr>
        <p:spPr>
          <a:xfrm>
            <a:off x="9220200" y="5346700"/>
            <a:ext cx="1079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Softmax</a:t>
            </a:r>
            <a:endParaRPr lang="en-US" sz="90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activation function</a:t>
            </a:r>
            <a:endParaRPr lang="en-US" sz="900" dirty="0"/>
          </a:p>
        </p:txBody>
      </p:sp>
      <p:sp>
        <p:nvSpPr>
          <p:cNvPr id="189" name="Text 182"/>
          <p:cNvSpPr/>
          <p:nvPr/>
        </p:nvSpPr>
        <p:spPr>
          <a:xfrm>
            <a:off x="10312400" y="53848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Probabilities</a:t>
            </a:r>
            <a:endParaRPr lang="en-US" sz="900" dirty="0"/>
          </a:p>
        </p:txBody>
      </p:sp>
      <p:sp>
        <p:nvSpPr>
          <p:cNvPr id="190" name="Shape 183"/>
          <p:cNvSpPr/>
          <p:nvPr/>
        </p:nvSpPr>
        <p:spPr>
          <a:xfrm>
            <a:off x="9309100" y="5651500"/>
            <a:ext cx="908050" cy="895350"/>
          </a:xfrm>
          <a:prstGeom prst="rect">
            <a:avLst/>
          </a:prstGeom>
          <a:ln w="19050">
            <a:solidFill>
              <a:srgbClr val="000000"/>
            </a:solidFill>
            <a:prstDash val="solid"/>
          </a:ln>
        </p:spPr>
      </p:sp>
      <p:pic>
        <p:nvPicPr>
          <p:cNvPr id="191" name="Image 5" descr="/home/ahmed/Projects/ai_llm_slides/videos/deep-learning/001_transformers_part1/recreated_pptx/build/assets/slide027/eq27_sm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190" y="5874820"/>
            <a:ext cx="743709" cy="507492"/>
          </a:xfrm>
          <a:prstGeom prst="rect">
            <a:avLst/>
          </a:prstGeom>
        </p:spPr>
      </p:pic>
      <p:sp>
        <p:nvSpPr>
          <p:cNvPr id="192" name="Shape 184"/>
          <p:cNvSpPr/>
          <p:nvPr/>
        </p:nvSpPr>
        <p:spPr>
          <a:xfrm>
            <a:off x="86741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3" name="Shape 185"/>
          <p:cNvSpPr/>
          <p:nvPr/>
        </p:nvSpPr>
        <p:spPr>
          <a:xfrm>
            <a:off x="8674100" y="56388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4" name="Shape 186"/>
          <p:cNvSpPr/>
          <p:nvPr/>
        </p:nvSpPr>
        <p:spPr>
          <a:xfrm>
            <a:off x="8674100" y="65024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5" name="Shape 187"/>
          <p:cNvSpPr/>
          <p:nvPr/>
        </p:nvSpPr>
        <p:spPr>
          <a:xfrm>
            <a:off x="89662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6" name="Shape 188"/>
          <p:cNvSpPr/>
          <p:nvPr/>
        </p:nvSpPr>
        <p:spPr>
          <a:xfrm>
            <a:off x="8928100" y="56388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7" name="Shape 189"/>
          <p:cNvSpPr/>
          <p:nvPr/>
        </p:nvSpPr>
        <p:spPr>
          <a:xfrm>
            <a:off x="8928100" y="6502400"/>
            <a:ext cx="635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8" name="Shape 190"/>
          <p:cNvSpPr/>
          <p:nvPr/>
        </p:nvSpPr>
        <p:spPr>
          <a:xfrm>
            <a:off x="105283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9" name="Shape 191"/>
          <p:cNvSpPr/>
          <p:nvPr/>
        </p:nvSpPr>
        <p:spPr>
          <a:xfrm>
            <a:off x="10528300" y="5638800"/>
            <a:ext cx="508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0" name="Shape 192"/>
          <p:cNvSpPr/>
          <p:nvPr/>
        </p:nvSpPr>
        <p:spPr>
          <a:xfrm>
            <a:off x="10528300" y="6502400"/>
            <a:ext cx="508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1" name="Shape 193"/>
          <p:cNvSpPr/>
          <p:nvPr/>
        </p:nvSpPr>
        <p:spPr>
          <a:xfrm>
            <a:off x="10807700" y="5676900"/>
            <a:ext cx="25400" cy="838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2" name="Shape 194"/>
          <p:cNvSpPr/>
          <p:nvPr/>
        </p:nvSpPr>
        <p:spPr>
          <a:xfrm>
            <a:off x="10782300" y="5638800"/>
            <a:ext cx="254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3" name="Shape 195"/>
          <p:cNvSpPr/>
          <p:nvPr/>
        </p:nvSpPr>
        <p:spPr>
          <a:xfrm>
            <a:off x="10782300" y="6502400"/>
            <a:ext cx="25400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4" name="Text 196"/>
          <p:cNvSpPr/>
          <p:nvPr/>
        </p:nvSpPr>
        <p:spPr>
          <a:xfrm>
            <a:off x="8616950" y="5645150"/>
            <a:ext cx="40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1.3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5.1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2.2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0.7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1.1</a:t>
            </a:r>
            <a:endParaRPr lang="en-US" sz="1000" dirty="0"/>
          </a:p>
        </p:txBody>
      </p:sp>
      <p:sp>
        <p:nvSpPr>
          <p:cNvPr id="205" name="Text 197"/>
          <p:cNvSpPr/>
          <p:nvPr/>
        </p:nvSpPr>
        <p:spPr>
          <a:xfrm>
            <a:off x="10490200" y="5645150"/>
            <a:ext cx="40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0.02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0.90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0.05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0.01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0.02</a:t>
            </a:r>
            <a:endParaRPr lang="en-US" sz="1000" dirty="0"/>
          </a:p>
        </p:txBody>
      </p:sp>
      <p:sp>
        <p:nvSpPr>
          <p:cNvPr id="206" name="Shape 198"/>
          <p:cNvSpPr/>
          <p:nvPr/>
        </p:nvSpPr>
        <p:spPr>
          <a:xfrm>
            <a:off x="8966200" y="6083300"/>
            <a:ext cx="3302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7" name="Shape 199"/>
          <p:cNvSpPr/>
          <p:nvPr/>
        </p:nvSpPr>
        <p:spPr>
          <a:xfrm>
            <a:off x="10172700" y="6083300"/>
            <a:ext cx="34290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8" name="Text 200"/>
          <p:cNvSpPr/>
          <p:nvPr/>
        </p:nvSpPr>
        <p:spPr>
          <a:xfrm>
            <a:off x="7683500" y="6337300"/>
            <a:ext cx="9652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2026-10-11T12:40:20Z</dcterms:created>
  <dcterms:modified xsi:type="dcterms:W3CDTF">2026-10-11T12:40:20Z</dcterms:modified>
</cp:coreProperties>
</file>