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4.png"/><Relationship Id="rId17" Type="http://schemas.openxmlformats.org/officeDocument/2006/relationships/image" Target="../media/image-1-15.png"/><Relationship Id="rId18" Type="http://schemas.openxmlformats.org/officeDocument/2006/relationships/image" Target="../media/image-1-14.png"/><Relationship Id="rId19" Type="http://schemas.openxmlformats.org/officeDocument/2006/relationships/image" Target="../media/image-1-15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0.png"/><Relationship Id="rId23" Type="http://schemas.openxmlformats.org/officeDocument/2006/relationships/image" Target="../media/image-1-21.png"/><Relationship Id="rId24" Type="http://schemas.openxmlformats.org/officeDocument/2006/relationships/image" Target="../media/image-1-20.png"/><Relationship Id="rId25" Type="http://schemas.openxmlformats.org/officeDocument/2006/relationships/image" Target="../media/image-1-21.png"/><Relationship Id="rId26" Type="http://schemas.openxmlformats.org/officeDocument/2006/relationships/image" Target="../media/image-1-26.png"/><Relationship Id="rId27" Type="http://schemas.openxmlformats.org/officeDocument/2006/relationships/image" Target="../media/image-1-26.png"/><Relationship Id="rId28" Type="http://schemas.openxmlformats.org/officeDocument/2006/relationships/image" Target="../media/image-1-26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73400" y="647700"/>
            <a:ext cx="635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41500" y="91440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(Embedding 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Vector Dimension</a:t>
            </a:r>
            <a:pPr algn="ctr" indent="0" marL="0">
              <a:buNone/>
            </a:pPr>
            <a:r>
              <a:rPr lang="en-US" sz="20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Softmax Sensitivity</a:t>
            </a:r>
            <a:pPr algn="ctr" indent="0" marL="0">
              <a:buNone/>
            </a:pPr>
            <a:r>
              <a:rPr lang="en-US" sz="20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50" dirty="0"/>
          </a:p>
        </p:txBody>
      </p:sp>
      <p:sp>
        <p:nvSpPr>
          <p:cNvPr id="7" name="Shape 5"/>
          <p:cNvSpPr/>
          <p:nvPr/>
        </p:nvSpPr>
        <p:spPr>
          <a:xfrm>
            <a:off x="596900" y="1308100"/>
            <a:ext cx="4394200" cy="2108200"/>
          </a:xfrm>
          <a:prstGeom prst="roundRect">
            <a:avLst>
              <a:gd name="adj" fmla="val 3470"/>
            </a:avLst>
          </a:prstGeom>
          <a:solidFill>
            <a:srgbClr val="FFFFFF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6300" y="1460500"/>
            <a:ext cx="15748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pic>
        <p:nvPicPr>
          <p:cNvPr id="9" name="Image 0" descr="/home/ahmed/Projects/ai_llm_slides/videos/deep-learning/001_transformers_part1/recreated_pptx/build/assets/eq34_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300" y="1511300"/>
            <a:ext cx="1316736" cy="408435"/>
          </a:xfrm>
          <a:prstGeom prst="rect">
            <a:avLst/>
          </a:prstGeom>
        </p:spPr>
      </p:pic>
      <p:pic>
        <p:nvPicPr>
          <p:cNvPr id="10" name="Image 1" descr="/home/ahmed/Projects/ai_llm_slides/videos/deep-learning/001_transformers_part1/recreated_pptx/build/assets/eq34_bracket_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1473200"/>
            <a:ext cx="167637" cy="579117"/>
          </a:xfrm>
          <a:prstGeom prst="rect">
            <a:avLst/>
          </a:prstGeom>
        </p:spPr>
      </p:pic>
      <p:pic>
        <p:nvPicPr>
          <p:cNvPr id="11" name="Image 2" descr="/home/ahmed/Projects/ai_llm_slides/videos/deep-learning/001_transformers_part1/recreated_pptx/build/assets/eq34_xon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200" y="1600704"/>
            <a:ext cx="262131" cy="252987"/>
          </a:xfrm>
          <a:prstGeom prst="rect">
            <a:avLst/>
          </a:prstGeom>
        </p:spPr>
      </p:pic>
      <p:pic>
        <p:nvPicPr>
          <p:cNvPr id="12" name="Image 3" descr="/home/ahmed/Projects/ai_llm_slides/videos/deep-learning/001_transformers_part1/recreated_pptx/build/assets/eq34_isu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300" y="1839470"/>
            <a:ext cx="54864" cy="117345"/>
          </a:xfrm>
          <a:prstGeom prst="rect">
            <a:avLst/>
          </a:prstGeom>
        </p:spPr>
      </p:pic>
      <p:pic>
        <p:nvPicPr>
          <p:cNvPr id="13" name="Image 4" descr="/home/ahmed/Projects/ai_llm_slides/videos/deep-learning/001_transformers_part1/recreated_pptx/build/assets/eq34_bracket_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2600" y="1473200"/>
            <a:ext cx="167637" cy="57911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68800" y="1905000"/>
            <a:ext cx="431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736600" y="2286000"/>
            <a:ext cx="25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16" name="Shape 9"/>
          <p:cNvSpPr/>
          <p:nvPr/>
        </p:nvSpPr>
        <p:spPr>
          <a:xfrm>
            <a:off x="1073150" y="2260600"/>
            <a:ext cx="0" cy="330200"/>
          </a:xfrm>
          <a:prstGeom prst="line">
            <a:avLst/>
          </a:prstGeom>
          <a:noFill/>
          <a:ln w="57150">
            <a:solidFill>
              <a:srgbClr val="00A500"/>
            </a:solidFill>
            <a:prstDash val="solid"/>
            <a:headEnd type="triangle"/>
          </a:ln>
        </p:spPr>
      </p:sp>
      <p:sp>
        <p:nvSpPr>
          <p:cNvPr id="17" name="Shape 10"/>
          <p:cNvSpPr/>
          <p:nvPr/>
        </p:nvSpPr>
        <p:spPr>
          <a:xfrm>
            <a:off x="2616200" y="2235200"/>
            <a:ext cx="203200" cy="381000"/>
          </a:xfrm>
          <a:prstGeom prst="upArrow">
            <a:avLst/>
          </a:prstGeom>
          <a:solidFill>
            <a:srgbClr val="00A500"/>
          </a:solidFill>
          <a:ln/>
        </p:spPr>
      </p:sp>
      <p:sp>
        <p:nvSpPr>
          <p:cNvPr id="18" name="Shape 11"/>
          <p:cNvSpPr/>
          <p:nvPr/>
        </p:nvSpPr>
        <p:spPr>
          <a:xfrm>
            <a:off x="2895600" y="2235200"/>
            <a:ext cx="16129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pic>
        <p:nvPicPr>
          <p:cNvPr id="19" name="Image 5" descr="/home/ahmed/Projects/ai_llm_slides/videos/deep-learning/001_transformers_part1/recreated_pptx/build/assets/eq34_sma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0700" y="2311400"/>
            <a:ext cx="778767" cy="248415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35000" y="2717800"/>
            <a:ext cx="4140200" cy="609600"/>
          </a:xfrm>
          <a:prstGeom prst="rect">
            <a:avLst/>
          </a:prstGeom>
          <a:ln w="12700">
            <a:solidFill>
              <a:srgbClr val="9999CC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863600" y="2794000"/>
            <a:ext cx="393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Dimension of Embedding </a:t>
            </a:r>
            <a:pPr algn="l" indent="0" marL="0">
              <a:buNone/>
            </a:pPr>
            <a:r>
              <a:rPr lang="en-US" sz="1400" b="1" i="1" dirty="0">
                <a:solidFill>
                  <a:srgbClr val="99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"d"</a:t>
            </a:r>
            <a:pPr algn="l" indent="0" marL="0">
              <a:buNone/>
            </a:pPr>
            <a:r>
              <a:rPr lang="en-US" sz="1400" b="1" i="1" dirty="0">
                <a:solidFill>
                  <a:srgbClr val="0000C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Increases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965200" y="3028950"/>
            <a:ext cx="393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Calculated weight value </a:t>
            </a:r>
            <a:pPr algn="l" indent="0" marL="0">
              <a:buNone/>
            </a:pPr>
            <a:r>
              <a:rPr lang="en-US" sz="1400" b="1" i="1" dirty="0">
                <a:solidFill>
                  <a:srgbClr val="99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"w" increases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609600" y="3505200"/>
            <a:ext cx="10414000" cy="3225800"/>
          </a:xfrm>
          <a:prstGeom prst="roundRect">
            <a:avLst>
              <a:gd name="adj" fmla="val 3402"/>
            </a:avLst>
          </a:prstGeom>
          <a:solidFill>
            <a:srgbClr val="FCE4D4"/>
          </a:solidFill>
          <a:ln/>
        </p:spPr>
      </p:sp>
      <p:sp>
        <p:nvSpPr>
          <p:cNvPr id="24" name="Shape 16"/>
          <p:cNvSpPr/>
          <p:nvPr/>
        </p:nvSpPr>
        <p:spPr>
          <a:xfrm>
            <a:off x="660400" y="3581400"/>
            <a:ext cx="952500" cy="82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00"/>
            </a:solidFill>
            <a:prstDash val="solid"/>
          </a:ln>
        </p:spPr>
      </p:sp>
      <p:pic>
        <p:nvPicPr>
          <p:cNvPr id="25" name="Image 6" descr="/home/ahmed/Projects/ai_llm_slides/videos/deep-learning/001_transformers_part1/recreated_pptx/build/assets/eq34_bracket_l_s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632200"/>
            <a:ext cx="126489" cy="425196"/>
          </a:xfrm>
          <a:prstGeom prst="rect">
            <a:avLst/>
          </a:prstGeom>
        </p:spPr>
      </p:pic>
      <p:pic>
        <p:nvPicPr>
          <p:cNvPr id="26" name="Image 7" descr="/home/ahmed/Projects/ai_llm_slides/videos/deep-learning/001_transformers_part1/recreated_pptx/build/assets/eq34_xonly_s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3707895"/>
            <a:ext cx="198123" cy="190497"/>
          </a:xfrm>
          <a:prstGeom prst="rect">
            <a:avLst/>
          </a:prstGeom>
        </p:spPr>
      </p:pic>
      <p:pic>
        <p:nvPicPr>
          <p:cNvPr id="27" name="Image 8" descr="/home/ahmed/Projects/ai_llm_slides/videos/deep-learning/001_transformers_part1/recreated_pptx/build/assets/eq34_isub_s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200" y="3803904"/>
            <a:ext cx="47247" cy="96012"/>
          </a:xfrm>
          <a:prstGeom prst="rect">
            <a:avLst/>
          </a:prstGeom>
        </p:spPr>
      </p:pic>
      <p:pic>
        <p:nvPicPr>
          <p:cNvPr id="28" name="Image 9" descr="/home/ahmed/Projects/ai_llm_slides/videos/deep-learning/001_transformers_part1/recreated_pptx/build/assets/eq34_bracket_r_sm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" y="3632200"/>
            <a:ext cx="128016" cy="425196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1155700" y="4025900"/>
            <a:ext cx="48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1400" dirty="0"/>
          </a:p>
        </p:txBody>
      </p:sp>
      <p:sp>
        <p:nvSpPr>
          <p:cNvPr id="30" name="Text 18"/>
          <p:cNvSpPr/>
          <p:nvPr/>
        </p:nvSpPr>
        <p:spPr>
          <a:xfrm>
            <a:off x="2120900" y="3771900"/>
            <a:ext cx="101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650" dirty="0"/>
          </a:p>
        </p:txBody>
      </p:sp>
      <p:sp>
        <p:nvSpPr>
          <p:cNvPr id="31" name="Shape 19"/>
          <p:cNvSpPr/>
          <p:nvPr/>
        </p:nvSpPr>
        <p:spPr>
          <a:xfrm>
            <a:off x="3136900" y="3568700"/>
            <a:ext cx="18034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pic>
        <p:nvPicPr>
          <p:cNvPr id="32" name="Image 10" descr="/home/ahmed/Projects/ai_llm_slides/videos/deep-learning/001_transformers_part1/recreated_pptx/build/assets/eq34_wij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63900" y="3875530"/>
            <a:ext cx="512064" cy="211839"/>
          </a:xfrm>
          <a:prstGeom prst="rect">
            <a:avLst/>
          </a:prstGeom>
        </p:spPr>
      </p:pic>
      <p:pic>
        <p:nvPicPr>
          <p:cNvPr id="33" name="Image 11" descr="/home/ahmed/Projects/ai_llm_slides/videos/deep-learning/001_transformers_part1/recreated_pptx/build/assets/eq34_exp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38600" y="3619500"/>
            <a:ext cx="585216" cy="248415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3860800" y="3949700"/>
            <a:ext cx="1016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pic>
        <p:nvPicPr>
          <p:cNvPr id="35" name="Image 12" descr="/home/ahmed/Projects/ai_llm_slides/videos/deep-learning/001_transformers_part1/recreated_pptx/build/assets/eq34_exp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73500" y="3987800"/>
            <a:ext cx="886968" cy="289563"/>
          </a:xfrm>
          <a:prstGeom prst="rect">
            <a:avLst/>
          </a:prstGeom>
        </p:spPr>
      </p:pic>
      <p:sp>
        <p:nvSpPr>
          <p:cNvPr id="36" name="Shape 21"/>
          <p:cNvSpPr/>
          <p:nvPr/>
        </p:nvSpPr>
        <p:spPr>
          <a:xfrm>
            <a:off x="4978400" y="3606800"/>
            <a:ext cx="5994400" cy="39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37" name="Text 22"/>
          <p:cNvSpPr/>
          <p:nvPr/>
        </p:nvSpPr>
        <p:spPr>
          <a:xfrm>
            <a:off x="5181600" y="3581400"/>
            <a:ext cx="5588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</a:t>
            </a:r>
            <a:pPr algn="ctr" indent="0" marL="0">
              <a:buNone/>
            </a:pPr>
            <a:r>
              <a:rPr lang="en-US" sz="15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Values </a:t>
            </a:r>
            <a:pPr algn="ctr" indent="0" marL="0">
              <a:buNone/>
            </a:pPr>
            <a:r>
              <a:rPr lang="en-US" sz="150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</a:t>
            </a:r>
            <a:pPr algn="ctr" indent="0" marL="0">
              <a:buNone/>
            </a:pPr>
            <a:r>
              <a:rPr lang="en-US" sz="15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gradient, and </a:t>
            </a:r>
            <a:pPr algn="ctr" indent="0" marL="0">
              <a:buNone/>
            </a:pPr>
            <a:r>
              <a:rPr lang="en-US" sz="150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down </a:t>
            </a:r>
            <a:pPr algn="ctr" indent="0" marL="0">
              <a:buNone/>
            </a:pPr>
            <a:r>
              <a:rPr lang="en-US" sz="15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500" dirty="0"/>
          </a:p>
        </p:txBody>
      </p:sp>
      <p:sp>
        <p:nvSpPr>
          <p:cNvPr id="38" name="Text 23"/>
          <p:cNvSpPr/>
          <p:nvPr/>
        </p:nvSpPr>
        <p:spPr>
          <a:xfrm>
            <a:off x="1676400" y="4191000"/>
            <a:ext cx="254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39" name="Shape 24"/>
          <p:cNvSpPr/>
          <p:nvPr/>
        </p:nvSpPr>
        <p:spPr>
          <a:xfrm>
            <a:off x="2012950" y="4102100"/>
            <a:ext cx="0" cy="355600"/>
          </a:xfrm>
          <a:prstGeom prst="line">
            <a:avLst/>
          </a:prstGeom>
          <a:noFill/>
          <a:ln w="50800">
            <a:solidFill>
              <a:srgbClr val="00A500"/>
            </a:solidFill>
            <a:prstDash val="solid"/>
            <a:tailEnd type="triangle"/>
          </a:ln>
        </p:spPr>
      </p:sp>
      <p:sp>
        <p:nvSpPr>
          <p:cNvPr id="40" name="Text 25"/>
          <p:cNvSpPr/>
          <p:nvPr/>
        </p:nvSpPr>
        <p:spPr>
          <a:xfrm>
            <a:off x="5029200" y="4191000"/>
            <a:ext cx="254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41" name="Shape 26"/>
          <p:cNvSpPr/>
          <p:nvPr/>
        </p:nvSpPr>
        <p:spPr>
          <a:xfrm>
            <a:off x="5365750" y="4064000"/>
            <a:ext cx="0" cy="355600"/>
          </a:xfrm>
          <a:prstGeom prst="line">
            <a:avLst/>
          </a:prstGeom>
          <a:noFill/>
          <a:ln w="50800">
            <a:solidFill>
              <a:srgbClr val="00A500"/>
            </a:solidFill>
            <a:prstDash val="solid"/>
            <a:headEnd type="triangle"/>
          </a:ln>
        </p:spPr>
      </p:sp>
      <p:sp>
        <p:nvSpPr>
          <p:cNvPr id="42" name="Text 27"/>
          <p:cNvSpPr/>
          <p:nvPr/>
        </p:nvSpPr>
        <p:spPr>
          <a:xfrm>
            <a:off x="8483600" y="4191000"/>
            <a:ext cx="254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43" name="Shape 28"/>
          <p:cNvSpPr/>
          <p:nvPr/>
        </p:nvSpPr>
        <p:spPr>
          <a:xfrm>
            <a:off x="8826500" y="4076700"/>
            <a:ext cx="0" cy="342900"/>
          </a:xfrm>
          <a:prstGeom prst="line">
            <a:avLst/>
          </a:prstGeom>
          <a:noFill/>
          <a:ln w="50800">
            <a:solidFill>
              <a:srgbClr val="00A500"/>
            </a:solidFill>
            <a:prstDash val="solid"/>
            <a:headEnd type="triangle"/>
          </a:ln>
        </p:spPr>
      </p:sp>
      <p:sp>
        <p:nvSpPr>
          <p:cNvPr id="44" name="Shape 29"/>
          <p:cNvSpPr/>
          <p:nvPr/>
        </p:nvSpPr>
        <p:spPr>
          <a:xfrm>
            <a:off x="9029700" y="4076700"/>
            <a:ext cx="0" cy="342900"/>
          </a:xfrm>
          <a:prstGeom prst="line">
            <a:avLst/>
          </a:prstGeom>
          <a:noFill/>
          <a:ln w="50800">
            <a:solidFill>
              <a:srgbClr val="00A500"/>
            </a:solidFill>
            <a:prstDash val="solid"/>
            <a:headEnd type="triangle"/>
          </a:ln>
        </p:spPr>
      </p:sp>
      <p:pic>
        <p:nvPicPr>
          <p:cNvPr id="45" name="Image 13" descr="/home/ahmed/Projects/ai_llm_slides/videos/deep-learning/001_transformers_part1/recreated_pptx/build/assets/paren_red_l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38300" y="4584700"/>
            <a:ext cx="18288" cy="1638303"/>
          </a:xfrm>
          <a:prstGeom prst="rect">
            <a:avLst/>
          </a:prstGeom>
        </p:spPr>
      </p:pic>
      <p:pic>
        <p:nvPicPr>
          <p:cNvPr id="46" name="Image 14" descr="/home/ahmed/Projects/ai_llm_slides/videos/deep-learning/001_transformers_part1/recreated_pptx/build/assets/paren_red_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33600" y="4584700"/>
            <a:ext cx="18288" cy="1638303"/>
          </a:xfrm>
          <a:prstGeom prst="rect">
            <a:avLst/>
          </a:prstGeom>
        </p:spPr>
      </p:pic>
      <p:sp>
        <p:nvSpPr>
          <p:cNvPr id="47" name="Shape 30"/>
          <p:cNvSpPr/>
          <p:nvPr/>
        </p:nvSpPr>
        <p:spPr>
          <a:xfrm>
            <a:off x="1701800" y="4686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8" name="Text 31"/>
          <p:cNvSpPr/>
          <p:nvPr/>
        </p:nvSpPr>
        <p:spPr>
          <a:xfrm>
            <a:off x="1701800" y="4686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9" name="Shape 32"/>
          <p:cNvSpPr/>
          <p:nvPr/>
        </p:nvSpPr>
        <p:spPr>
          <a:xfrm>
            <a:off x="1701800" y="50165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50" name="Text 33"/>
          <p:cNvSpPr/>
          <p:nvPr/>
        </p:nvSpPr>
        <p:spPr>
          <a:xfrm>
            <a:off x="1701800" y="50165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1" name="Shape 34"/>
          <p:cNvSpPr/>
          <p:nvPr/>
        </p:nvSpPr>
        <p:spPr>
          <a:xfrm>
            <a:off x="1701800" y="5448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52" name="Text 35"/>
          <p:cNvSpPr/>
          <p:nvPr/>
        </p:nvSpPr>
        <p:spPr>
          <a:xfrm>
            <a:off x="1701800" y="5448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3" name="Shape 36"/>
          <p:cNvSpPr/>
          <p:nvPr/>
        </p:nvSpPr>
        <p:spPr>
          <a:xfrm>
            <a:off x="1701800" y="58420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54" name="Text 37"/>
          <p:cNvSpPr/>
          <p:nvPr/>
        </p:nvSpPr>
        <p:spPr>
          <a:xfrm>
            <a:off x="1701800" y="58420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pic>
        <p:nvPicPr>
          <p:cNvPr id="55" name="Image 15" descr="/home/ahmed/Projects/ai_llm_slides/videos/deep-learning/001_transformers_part1/recreated_pptx/build/assets/paren_red_l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54600" y="4584700"/>
            <a:ext cx="18288" cy="1638303"/>
          </a:xfrm>
          <a:prstGeom prst="rect">
            <a:avLst/>
          </a:prstGeom>
        </p:spPr>
      </p:pic>
      <p:pic>
        <p:nvPicPr>
          <p:cNvPr id="56" name="Image 16" descr="/home/ahmed/Projects/ai_llm_slides/videos/deep-learning/001_transformers_part1/recreated_pptx/build/assets/paren_red_r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62600" y="4584700"/>
            <a:ext cx="18288" cy="1638303"/>
          </a:xfrm>
          <a:prstGeom prst="rect">
            <a:avLst/>
          </a:prstGeom>
        </p:spPr>
      </p:pic>
      <p:sp>
        <p:nvSpPr>
          <p:cNvPr id="57" name="Shape 38"/>
          <p:cNvSpPr/>
          <p:nvPr/>
        </p:nvSpPr>
        <p:spPr>
          <a:xfrm>
            <a:off x="5118100" y="4686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58" name="Text 39"/>
          <p:cNvSpPr/>
          <p:nvPr/>
        </p:nvSpPr>
        <p:spPr>
          <a:xfrm>
            <a:off x="5118100" y="4686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9" name="Shape 40"/>
          <p:cNvSpPr/>
          <p:nvPr/>
        </p:nvSpPr>
        <p:spPr>
          <a:xfrm>
            <a:off x="5118100" y="50165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60" name="Text 41"/>
          <p:cNvSpPr/>
          <p:nvPr/>
        </p:nvSpPr>
        <p:spPr>
          <a:xfrm>
            <a:off x="5118100" y="50165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61" name="Shape 42"/>
          <p:cNvSpPr/>
          <p:nvPr/>
        </p:nvSpPr>
        <p:spPr>
          <a:xfrm>
            <a:off x="5118100" y="5448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62" name="Text 43"/>
          <p:cNvSpPr/>
          <p:nvPr/>
        </p:nvSpPr>
        <p:spPr>
          <a:xfrm>
            <a:off x="5118100" y="5448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63" name="Shape 44"/>
          <p:cNvSpPr/>
          <p:nvPr/>
        </p:nvSpPr>
        <p:spPr>
          <a:xfrm>
            <a:off x="5118100" y="58420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64" name="Text 45"/>
          <p:cNvSpPr/>
          <p:nvPr/>
        </p:nvSpPr>
        <p:spPr>
          <a:xfrm>
            <a:off x="5118100" y="58420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pic>
        <p:nvPicPr>
          <p:cNvPr id="65" name="Image 17" descr="/home/ahmed/Projects/ai_llm_slides/videos/deep-learning/001_transformers_part1/recreated_pptx/build/assets/paren_red_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58200" y="4584700"/>
            <a:ext cx="18288" cy="1638303"/>
          </a:xfrm>
          <a:prstGeom prst="rect">
            <a:avLst/>
          </a:prstGeom>
        </p:spPr>
      </p:pic>
      <p:pic>
        <p:nvPicPr>
          <p:cNvPr id="66" name="Image 18" descr="/home/ahmed/Projects/ai_llm_slides/videos/deep-learning/001_transformers_part1/recreated_pptx/build/assets/paren_red_r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66200" y="4584700"/>
            <a:ext cx="18288" cy="1638303"/>
          </a:xfrm>
          <a:prstGeom prst="rect">
            <a:avLst/>
          </a:prstGeom>
        </p:spPr>
      </p:pic>
      <p:sp>
        <p:nvSpPr>
          <p:cNvPr id="67" name="Shape 46"/>
          <p:cNvSpPr/>
          <p:nvPr/>
        </p:nvSpPr>
        <p:spPr>
          <a:xfrm>
            <a:off x="8521700" y="4686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68" name="Text 47"/>
          <p:cNvSpPr/>
          <p:nvPr/>
        </p:nvSpPr>
        <p:spPr>
          <a:xfrm>
            <a:off x="8521700" y="4686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69" name="Shape 48"/>
          <p:cNvSpPr/>
          <p:nvPr/>
        </p:nvSpPr>
        <p:spPr>
          <a:xfrm>
            <a:off x="8521700" y="50165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70" name="Text 49"/>
          <p:cNvSpPr/>
          <p:nvPr/>
        </p:nvSpPr>
        <p:spPr>
          <a:xfrm>
            <a:off x="8521700" y="50165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71" name="Shape 50"/>
          <p:cNvSpPr/>
          <p:nvPr/>
        </p:nvSpPr>
        <p:spPr>
          <a:xfrm>
            <a:off x="8521700" y="54483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72" name="Text 51"/>
          <p:cNvSpPr/>
          <p:nvPr/>
        </p:nvSpPr>
        <p:spPr>
          <a:xfrm>
            <a:off x="8521700" y="54483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  <p:sp>
        <p:nvSpPr>
          <p:cNvPr id="73" name="Shape 52"/>
          <p:cNvSpPr/>
          <p:nvPr/>
        </p:nvSpPr>
        <p:spPr>
          <a:xfrm>
            <a:off x="8521700" y="5842000"/>
            <a:ext cx="406400" cy="215900"/>
          </a:xfrm>
          <a:prstGeom prst="roundRect">
            <a:avLst>
              <a:gd name="adj" fmla="val 14824"/>
            </a:avLst>
          </a:prstGeom>
          <a:solidFill>
            <a:srgbClr val="FFFFCC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74" name="Text 53"/>
          <p:cNvSpPr/>
          <p:nvPr/>
        </p:nvSpPr>
        <p:spPr>
          <a:xfrm>
            <a:off x="8521700" y="5842000"/>
            <a:ext cx="40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  <p:sp>
        <p:nvSpPr>
          <p:cNvPr id="75" name="Shape 54"/>
          <p:cNvSpPr/>
          <p:nvPr/>
        </p:nvSpPr>
        <p:spPr>
          <a:xfrm>
            <a:off x="2273300" y="5359400"/>
            <a:ext cx="800100" cy="190500"/>
          </a:xfrm>
          <a:prstGeom prst="rightArrow">
            <a:avLst/>
          </a:prstGeom>
          <a:solidFill>
            <a:srgbClr val="990000"/>
          </a:solidFill>
          <a:ln/>
        </p:spPr>
      </p:sp>
      <p:sp>
        <p:nvSpPr>
          <p:cNvPr id="76" name="Text 55"/>
          <p:cNvSpPr/>
          <p:nvPr/>
        </p:nvSpPr>
        <p:spPr>
          <a:xfrm>
            <a:off x="2108200" y="5080000"/>
            <a:ext cx="101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400" dirty="0"/>
          </a:p>
        </p:txBody>
      </p:sp>
      <p:sp>
        <p:nvSpPr>
          <p:cNvPr id="77" name="Shape 56"/>
          <p:cNvSpPr/>
          <p:nvPr/>
        </p:nvSpPr>
        <p:spPr>
          <a:xfrm>
            <a:off x="5689600" y="5359400"/>
            <a:ext cx="800100" cy="190500"/>
          </a:xfrm>
          <a:prstGeom prst="rightArrow">
            <a:avLst/>
          </a:prstGeom>
          <a:solidFill>
            <a:srgbClr val="990000"/>
          </a:solidFill>
          <a:ln/>
        </p:spPr>
      </p:sp>
      <p:sp>
        <p:nvSpPr>
          <p:cNvPr id="78" name="Text 57"/>
          <p:cNvSpPr/>
          <p:nvPr/>
        </p:nvSpPr>
        <p:spPr>
          <a:xfrm>
            <a:off x="5511800" y="5080000"/>
            <a:ext cx="101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400" dirty="0"/>
          </a:p>
        </p:txBody>
      </p:sp>
      <p:sp>
        <p:nvSpPr>
          <p:cNvPr id="79" name="Shape 58"/>
          <p:cNvSpPr/>
          <p:nvPr/>
        </p:nvSpPr>
        <p:spPr>
          <a:xfrm>
            <a:off x="9093200" y="5359400"/>
            <a:ext cx="800100" cy="190500"/>
          </a:xfrm>
          <a:prstGeom prst="rightArrow">
            <a:avLst/>
          </a:prstGeom>
          <a:solidFill>
            <a:srgbClr val="990000"/>
          </a:solidFill>
          <a:ln/>
        </p:spPr>
      </p:sp>
      <p:sp>
        <p:nvSpPr>
          <p:cNvPr id="80" name="Text 59"/>
          <p:cNvSpPr/>
          <p:nvPr/>
        </p:nvSpPr>
        <p:spPr>
          <a:xfrm>
            <a:off x="8915400" y="5080000"/>
            <a:ext cx="101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400" dirty="0"/>
          </a:p>
        </p:txBody>
      </p:sp>
      <p:pic>
        <p:nvPicPr>
          <p:cNvPr id="81" name="Image 19" descr="/home/ahmed/Projects/ai_llm_slides/videos/deep-learning/001_transformers_part1/recreated_pptx/build/assets/paren_blue_l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175000" y="4635500"/>
            <a:ext cx="15243" cy="1574295"/>
          </a:xfrm>
          <a:prstGeom prst="rect">
            <a:avLst/>
          </a:prstGeom>
        </p:spPr>
      </p:pic>
      <p:pic>
        <p:nvPicPr>
          <p:cNvPr id="82" name="Image 20" descr="/home/ahmed/Projects/ai_llm_slides/videos/deep-learning/001_transformers_part1/recreated_pptx/build/assets/paren_blue_r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911600" y="4635500"/>
            <a:ext cx="15243" cy="1574295"/>
          </a:xfrm>
          <a:prstGeom prst="rect">
            <a:avLst/>
          </a:prstGeom>
        </p:spPr>
      </p:pic>
      <p:sp>
        <p:nvSpPr>
          <p:cNvPr id="83" name="Shape 60"/>
          <p:cNvSpPr/>
          <p:nvPr/>
        </p:nvSpPr>
        <p:spPr>
          <a:xfrm>
            <a:off x="3251200" y="4686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84" name="Text 61"/>
          <p:cNvSpPr/>
          <p:nvPr/>
        </p:nvSpPr>
        <p:spPr>
          <a:xfrm>
            <a:off x="3251200" y="4686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0.0321</a:t>
            </a:r>
            <a:endParaRPr lang="en-US" sz="1100" dirty="0"/>
          </a:p>
        </p:txBody>
      </p:sp>
      <p:sp>
        <p:nvSpPr>
          <p:cNvPr id="85" name="Shape 62"/>
          <p:cNvSpPr/>
          <p:nvPr/>
        </p:nvSpPr>
        <p:spPr>
          <a:xfrm>
            <a:off x="3251200" y="5054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86" name="Text 63"/>
          <p:cNvSpPr/>
          <p:nvPr/>
        </p:nvSpPr>
        <p:spPr>
          <a:xfrm>
            <a:off x="3251200" y="5054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0.0871</a:t>
            </a:r>
            <a:endParaRPr lang="en-US" sz="1100" dirty="0"/>
          </a:p>
        </p:txBody>
      </p:sp>
      <p:sp>
        <p:nvSpPr>
          <p:cNvPr id="87" name="Shape 64"/>
          <p:cNvSpPr/>
          <p:nvPr/>
        </p:nvSpPr>
        <p:spPr>
          <a:xfrm>
            <a:off x="3251200" y="5435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88" name="Text 65"/>
          <p:cNvSpPr/>
          <p:nvPr/>
        </p:nvSpPr>
        <p:spPr>
          <a:xfrm>
            <a:off x="3251200" y="5435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0.2369</a:t>
            </a:r>
            <a:endParaRPr lang="en-US" sz="1100" dirty="0"/>
          </a:p>
        </p:txBody>
      </p:sp>
      <p:sp>
        <p:nvSpPr>
          <p:cNvPr id="89" name="Shape 66"/>
          <p:cNvSpPr/>
          <p:nvPr/>
        </p:nvSpPr>
        <p:spPr>
          <a:xfrm>
            <a:off x="3251200" y="5829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90" name="Text 67"/>
          <p:cNvSpPr/>
          <p:nvPr/>
        </p:nvSpPr>
        <p:spPr>
          <a:xfrm>
            <a:off x="3251200" y="5829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0.6439</a:t>
            </a:r>
            <a:endParaRPr lang="en-US" sz="1100" dirty="0"/>
          </a:p>
        </p:txBody>
      </p:sp>
      <p:pic>
        <p:nvPicPr>
          <p:cNvPr id="91" name="Image 21" descr="/home/ahmed/Projects/ai_llm_slides/videos/deep-learning/001_transformers_part1/recreated_pptx/build/assets/paren_blue_l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91300" y="4635500"/>
            <a:ext cx="15243" cy="1574295"/>
          </a:xfrm>
          <a:prstGeom prst="rect">
            <a:avLst/>
          </a:prstGeom>
        </p:spPr>
      </p:pic>
      <p:pic>
        <p:nvPicPr>
          <p:cNvPr id="92" name="Image 22" descr="/home/ahmed/Projects/ai_llm_slides/videos/deep-learning/001_transformers_part1/recreated_pptx/build/assets/paren_blue_r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15200" y="4635500"/>
            <a:ext cx="15243" cy="1574295"/>
          </a:xfrm>
          <a:prstGeom prst="rect">
            <a:avLst/>
          </a:prstGeom>
        </p:spPr>
      </p:pic>
      <p:sp>
        <p:nvSpPr>
          <p:cNvPr id="93" name="Shape 68"/>
          <p:cNvSpPr/>
          <p:nvPr/>
        </p:nvSpPr>
        <p:spPr>
          <a:xfrm>
            <a:off x="6654800" y="4686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94" name="Text 69"/>
          <p:cNvSpPr/>
          <p:nvPr/>
        </p:nvSpPr>
        <p:spPr>
          <a:xfrm>
            <a:off x="6654800" y="4686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95" name="Shape 70"/>
          <p:cNvSpPr/>
          <p:nvPr/>
        </p:nvSpPr>
        <p:spPr>
          <a:xfrm>
            <a:off x="6654800" y="5054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96" name="Text 71"/>
          <p:cNvSpPr/>
          <p:nvPr/>
        </p:nvSpPr>
        <p:spPr>
          <a:xfrm>
            <a:off x="6654800" y="5054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97" name="Shape 72"/>
          <p:cNvSpPr/>
          <p:nvPr/>
        </p:nvSpPr>
        <p:spPr>
          <a:xfrm>
            <a:off x="6654800" y="5435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98" name="Text 73"/>
          <p:cNvSpPr/>
          <p:nvPr/>
        </p:nvSpPr>
        <p:spPr>
          <a:xfrm>
            <a:off x="6654800" y="5435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0.0067</a:t>
            </a:r>
            <a:endParaRPr lang="en-US" sz="1100" dirty="0"/>
          </a:p>
        </p:txBody>
      </p:sp>
      <p:sp>
        <p:nvSpPr>
          <p:cNvPr id="99" name="Shape 74"/>
          <p:cNvSpPr/>
          <p:nvPr/>
        </p:nvSpPr>
        <p:spPr>
          <a:xfrm>
            <a:off x="6654800" y="5829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00" name="Text 75"/>
          <p:cNvSpPr/>
          <p:nvPr/>
        </p:nvSpPr>
        <p:spPr>
          <a:xfrm>
            <a:off x="6654800" y="5829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0.9933</a:t>
            </a:r>
            <a:endParaRPr lang="en-US" sz="1100" dirty="0"/>
          </a:p>
        </p:txBody>
      </p:sp>
      <p:pic>
        <p:nvPicPr>
          <p:cNvPr id="101" name="Image 23" descr="/home/ahmed/Projects/ai_llm_slides/videos/deep-learning/001_transformers_part1/recreated_pptx/build/assets/paren_blue_l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94900" y="4635500"/>
            <a:ext cx="15243" cy="1574295"/>
          </a:xfrm>
          <a:prstGeom prst="rect">
            <a:avLst/>
          </a:prstGeom>
        </p:spPr>
      </p:pic>
      <p:pic>
        <p:nvPicPr>
          <p:cNvPr id="102" name="Image 24" descr="/home/ahmed/Projects/ai_llm_slides/videos/deep-learning/001_transformers_part1/recreated_pptx/build/assets/paren_blue_r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18800" y="4635500"/>
            <a:ext cx="15243" cy="1574295"/>
          </a:xfrm>
          <a:prstGeom prst="rect">
            <a:avLst/>
          </a:prstGeom>
        </p:spPr>
      </p:pic>
      <p:sp>
        <p:nvSpPr>
          <p:cNvPr id="103" name="Shape 76"/>
          <p:cNvSpPr/>
          <p:nvPr/>
        </p:nvSpPr>
        <p:spPr>
          <a:xfrm>
            <a:off x="10058400" y="4686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04" name="Text 77"/>
          <p:cNvSpPr/>
          <p:nvPr/>
        </p:nvSpPr>
        <p:spPr>
          <a:xfrm>
            <a:off x="10058400" y="4686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105" name="Shape 78"/>
          <p:cNvSpPr/>
          <p:nvPr/>
        </p:nvSpPr>
        <p:spPr>
          <a:xfrm>
            <a:off x="10058400" y="5054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06" name="Text 79"/>
          <p:cNvSpPr/>
          <p:nvPr/>
        </p:nvSpPr>
        <p:spPr>
          <a:xfrm>
            <a:off x="10058400" y="5054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107" name="Shape 80"/>
          <p:cNvSpPr/>
          <p:nvPr/>
        </p:nvSpPr>
        <p:spPr>
          <a:xfrm>
            <a:off x="10058400" y="54356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08" name="Text 81"/>
          <p:cNvSpPr/>
          <p:nvPr/>
        </p:nvSpPr>
        <p:spPr>
          <a:xfrm>
            <a:off x="10058400" y="54356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109" name="Shape 82"/>
          <p:cNvSpPr/>
          <p:nvPr/>
        </p:nvSpPr>
        <p:spPr>
          <a:xfrm>
            <a:off x="10058400" y="5829300"/>
            <a:ext cx="596900" cy="21590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10" name="Text 83"/>
          <p:cNvSpPr/>
          <p:nvPr/>
        </p:nvSpPr>
        <p:spPr>
          <a:xfrm>
            <a:off x="10058400" y="5829300"/>
            <a:ext cx="596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1.0000</a:t>
            </a:r>
            <a:endParaRPr lang="en-US" sz="1100" dirty="0"/>
          </a:p>
        </p:txBody>
      </p:sp>
      <p:pic>
        <p:nvPicPr>
          <p:cNvPr id="111" name="Image 25" descr="/home/ahmed/Projects/ai_llm_slides/videos/deep-learning/001_transformers_part1/recreated_pptx/build/assets/eq34_wprime2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714500" y="6251956"/>
            <a:ext cx="409953" cy="301752"/>
          </a:xfrm>
          <a:prstGeom prst="rect">
            <a:avLst/>
          </a:prstGeom>
        </p:spPr>
      </p:pic>
      <p:sp>
        <p:nvSpPr>
          <p:cNvPr id="112" name="Text 84"/>
          <p:cNvSpPr/>
          <p:nvPr/>
        </p:nvSpPr>
        <p:spPr>
          <a:xfrm>
            <a:off x="2324100" y="6273800"/>
            <a:ext cx="1778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small "d"</a:t>
            </a:r>
            <a:endParaRPr lang="en-US" sz="1300" dirty="0"/>
          </a:p>
        </p:txBody>
      </p:sp>
      <p:pic>
        <p:nvPicPr>
          <p:cNvPr id="113" name="Image 26" descr="/home/ahmed/Projects/ai_llm_slides/videos/deep-learning/001_transformers_part1/recreated_pptx/build/assets/eq34_wprime2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30800" y="6277356"/>
            <a:ext cx="409953" cy="301752"/>
          </a:xfrm>
          <a:prstGeom prst="rect">
            <a:avLst/>
          </a:prstGeom>
        </p:spPr>
      </p:pic>
      <p:sp>
        <p:nvSpPr>
          <p:cNvPr id="114" name="Text 85"/>
          <p:cNvSpPr/>
          <p:nvPr/>
        </p:nvSpPr>
        <p:spPr>
          <a:xfrm>
            <a:off x="5664200" y="6299200"/>
            <a:ext cx="1778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medium "d"</a:t>
            </a:r>
            <a:endParaRPr lang="en-US" sz="1300" dirty="0"/>
          </a:p>
        </p:txBody>
      </p:sp>
      <p:pic>
        <p:nvPicPr>
          <p:cNvPr id="115" name="Image 27" descr="/home/ahmed/Projects/ai_llm_slides/videos/deep-learning/001_transformers_part1/recreated_pptx/build/assets/eq34_wprime2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72500" y="6290056"/>
            <a:ext cx="409953" cy="301752"/>
          </a:xfrm>
          <a:prstGeom prst="rect">
            <a:avLst/>
          </a:prstGeom>
        </p:spPr>
      </p:pic>
      <p:sp>
        <p:nvSpPr>
          <p:cNvPr id="116" name="Text 86"/>
          <p:cNvSpPr/>
          <p:nvPr/>
        </p:nvSpPr>
        <p:spPr>
          <a:xfrm>
            <a:off x="9131300" y="6311900"/>
            <a:ext cx="1778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large "d"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 Attention Mechanism (Embedding Vector Dimension and Softmax Sensitivity)</dc:title>
  <dc:subject>PptxGenJS Presentation</dc:subject>
  <dc:creator>slide-recreation pipeline</dc:creator>
  <cp:lastModifiedBy>slide-recreation pipeline</cp:lastModifiedBy>
  <cp:revision>1</cp:revision>
  <dcterms:created xsi:type="dcterms:W3CDTF">2026-10-11T13:00:09Z</dcterms:created>
  <dcterms:modified xsi:type="dcterms:W3CDTF">2026-10-11T13:00:09Z</dcterms:modified>
</cp:coreProperties>
</file>