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6100" y="1479550"/>
            <a:ext cx="11099800" cy="48704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083300" y="1485900"/>
            <a:ext cx="5372100" cy="2095500"/>
          </a:xfrm>
          <a:prstGeom prst="roundRect">
            <a:avLst>
              <a:gd name="adj" fmla="val 5236"/>
            </a:avLst>
          </a:prstGeom>
          <a:solidFill>
            <a:srgbClr val="FDFF85"/>
          </a:solidFill>
          <a:ln w="9525">
            <a:solidFill>
              <a:srgbClr val="E6E1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4200" y="3886200"/>
            <a:ext cx="5613400" cy="2413000"/>
          </a:xfrm>
          <a:prstGeom prst="roundRect">
            <a:avLst>
              <a:gd name="adj" fmla="val 5684"/>
            </a:avLst>
          </a:prstGeom>
          <a:solidFill>
            <a:srgbClr val="F8D5AD"/>
          </a:solidFill>
          <a:ln w="9525">
            <a:solidFill>
              <a:srgbClr val="E6C7A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65900" y="2489200"/>
            <a:ext cx="977900" cy="254000"/>
          </a:xfrm>
          <a:prstGeom prst="rect">
            <a:avLst/>
          </a:prstGeom>
          <a:solidFill>
            <a:srgbClr val="E8FF6E"/>
          </a:solidFill>
          <a:ln w="12700">
            <a:solidFill>
              <a:srgbClr val="C2D6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10375" y="24892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54850" y="24892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99325" y="24892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74050" y="2489200"/>
            <a:ext cx="977900" cy="254000"/>
          </a:xfrm>
          <a:prstGeom prst="rect">
            <a:avLst/>
          </a:prstGeom>
          <a:solidFill>
            <a:srgbClr val="E8FF6E"/>
          </a:solidFill>
          <a:ln w="12700">
            <a:solidFill>
              <a:srgbClr val="C2D6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18525" y="24892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63000" y="24892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07475" y="24892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75850" y="2489200"/>
            <a:ext cx="977900" cy="254000"/>
          </a:xfrm>
          <a:prstGeom prst="rect">
            <a:avLst/>
          </a:prstGeom>
          <a:solidFill>
            <a:srgbClr val="E8FF6E"/>
          </a:solidFill>
          <a:ln w="12700">
            <a:solidFill>
              <a:srgbClr val="C2D6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20325" y="24892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64800" y="24892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09275" y="24892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65900" y="3225800"/>
            <a:ext cx="977900" cy="254000"/>
          </a:xfrm>
          <a:prstGeom prst="rect">
            <a:avLst/>
          </a:prstGeom>
          <a:solidFill>
            <a:srgbClr val="FAEC69"/>
          </a:solidFill>
          <a:ln w="12700">
            <a:solidFill>
              <a:srgbClr val="C2C7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10375" y="32258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54850" y="32258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99325" y="32258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74050" y="3225800"/>
            <a:ext cx="977900" cy="254000"/>
          </a:xfrm>
          <a:prstGeom prst="rect">
            <a:avLst/>
          </a:prstGeom>
          <a:solidFill>
            <a:srgbClr val="FAEC69"/>
          </a:solidFill>
          <a:ln w="12700">
            <a:solidFill>
              <a:srgbClr val="C2C7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18525" y="32258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63000" y="32258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07475" y="32258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75850" y="3225800"/>
            <a:ext cx="977900" cy="254000"/>
          </a:xfrm>
          <a:prstGeom prst="rect">
            <a:avLst/>
          </a:prstGeom>
          <a:solidFill>
            <a:srgbClr val="FAEC69"/>
          </a:solidFill>
          <a:ln w="12700">
            <a:solidFill>
              <a:srgbClr val="C2C7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220325" y="32258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64800" y="32258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709275" y="32258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54850" y="1828800"/>
            <a:ext cx="0" cy="6604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33" name="Shape 31"/>
          <p:cNvSpPr/>
          <p:nvPr/>
        </p:nvSpPr>
        <p:spPr>
          <a:xfrm>
            <a:off x="8763000" y="1828800"/>
            <a:ext cx="0" cy="6604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34" name="Shape 32"/>
          <p:cNvSpPr/>
          <p:nvPr/>
        </p:nvSpPr>
        <p:spPr>
          <a:xfrm>
            <a:off x="10464800" y="1828800"/>
            <a:ext cx="0" cy="6604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35" name="Text 33"/>
          <p:cNvSpPr/>
          <p:nvPr/>
        </p:nvSpPr>
        <p:spPr>
          <a:xfrm>
            <a:off x="6689090" y="1447800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8397240" y="1447800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0099040" y="1447800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5685790" y="2082800"/>
            <a:ext cx="128016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5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softmax</a:t>
            </a:r>
            <a:endParaRPr lang="en-US" sz="1850" dirty="0"/>
          </a:p>
        </p:txBody>
      </p:sp>
      <p:sp>
        <p:nvSpPr>
          <p:cNvPr id="39" name="Text 37"/>
          <p:cNvSpPr/>
          <p:nvPr/>
        </p:nvSpPr>
        <p:spPr>
          <a:xfrm>
            <a:off x="7393940" y="2082800"/>
            <a:ext cx="128016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5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softmax</a:t>
            </a:r>
            <a:endParaRPr lang="en-US" sz="1850" dirty="0"/>
          </a:p>
        </p:txBody>
      </p:sp>
      <p:sp>
        <p:nvSpPr>
          <p:cNvPr id="40" name="Text 38"/>
          <p:cNvSpPr/>
          <p:nvPr/>
        </p:nvSpPr>
        <p:spPr>
          <a:xfrm>
            <a:off x="9095740" y="2082800"/>
            <a:ext cx="128016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5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softmax</a:t>
            </a:r>
            <a:endParaRPr lang="en-US" sz="1850" dirty="0"/>
          </a:p>
        </p:txBody>
      </p:sp>
      <p:sp>
        <p:nvSpPr>
          <p:cNvPr id="41" name="Shape 39"/>
          <p:cNvSpPr/>
          <p:nvPr/>
        </p:nvSpPr>
        <p:spPr>
          <a:xfrm>
            <a:off x="7054850" y="2755900"/>
            <a:ext cx="0" cy="4699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763000" y="2755900"/>
            <a:ext cx="0" cy="4699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0464800" y="2755900"/>
            <a:ext cx="0" cy="4699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620000" y="3352800"/>
            <a:ext cx="647700" cy="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9334500" y="3352800"/>
            <a:ext cx="647700" cy="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11049000" y="3352800"/>
            <a:ext cx="393700" cy="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7546340" y="3378200"/>
            <a:ext cx="73152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9267190" y="3378200"/>
            <a:ext cx="73152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10981690" y="3378200"/>
            <a:ext cx="73152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00" dirty="0"/>
          </a:p>
        </p:txBody>
      </p:sp>
      <p:pic>
        <p:nvPicPr>
          <p:cNvPr id="50" name="Image 0" descr="/home/ahmed/Projects/ai_llm_slides/videos/deep-learning/001_transformers_part1/recreated_pptx/build/assets/curve_a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7700" y="2336800"/>
            <a:ext cx="1320759" cy="927110"/>
          </a:xfrm>
          <a:prstGeom prst="rect">
            <a:avLst/>
          </a:prstGeom>
        </p:spPr>
      </p:pic>
      <p:pic>
        <p:nvPicPr>
          <p:cNvPr id="51" name="Image 1" descr="/home/ahmed/Projects/ai_llm_slides/videos/deep-learning/001_transformers_part1/recreated_pptx/build/assets/curve_b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9500" y="2336800"/>
            <a:ext cx="1320759" cy="927110"/>
          </a:xfrm>
          <a:prstGeom prst="rect">
            <a:avLst/>
          </a:prstGeom>
        </p:spPr>
      </p:pic>
      <p:sp>
        <p:nvSpPr>
          <p:cNvPr id="52" name="Shape 48"/>
          <p:cNvSpPr/>
          <p:nvPr/>
        </p:nvSpPr>
        <p:spPr>
          <a:xfrm>
            <a:off x="8350250" y="3505200"/>
            <a:ext cx="203200" cy="190500"/>
          </a:xfrm>
          <a:prstGeom prst="line">
            <a:avLst/>
          </a:prstGeom>
          <a:noFill/>
          <a:ln w="19050">
            <a:solidFill>
              <a:srgbClr val="9EA828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10058400" y="3505200"/>
            <a:ext cx="203200" cy="190500"/>
          </a:xfrm>
          <a:prstGeom prst="line">
            <a:avLst/>
          </a:prstGeom>
          <a:noFill/>
          <a:ln w="19050">
            <a:solidFill>
              <a:srgbClr val="9EA828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1441450" y="4076700"/>
            <a:ext cx="977900" cy="254000"/>
          </a:xfrm>
          <a:prstGeom prst="rect">
            <a:avLst/>
          </a:prstGeom>
          <a:solidFill>
            <a:srgbClr val="F2C7A7"/>
          </a:solidFill>
          <a:ln w="12700">
            <a:solidFill>
              <a:srgbClr val="C29F77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1685925" y="40767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1930400" y="40767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2174875" y="40767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3155950" y="4076700"/>
            <a:ext cx="977900" cy="254000"/>
          </a:xfrm>
          <a:prstGeom prst="rect">
            <a:avLst/>
          </a:prstGeom>
          <a:solidFill>
            <a:srgbClr val="F2C7A7"/>
          </a:solidFill>
          <a:ln w="12700">
            <a:solidFill>
              <a:srgbClr val="C29F77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3400425" y="40767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3644900" y="40767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3889375" y="40767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4851400" y="4076700"/>
            <a:ext cx="977900" cy="254000"/>
          </a:xfrm>
          <a:prstGeom prst="rect">
            <a:avLst/>
          </a:prstGeom>
          <a:solidFill>
            <a:srgbClr val="F2C7A7"/>
          </a:solidFill>
          <a:ln w="12700">
            <a:solidFill>
              <a:srgbClr val="C29F77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5095875" y="40767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5340350" y="40767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5584825" y="40767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1441450" y="5219700"/>
            <a:ext cx="977900" cy="266700"/>
          </a:xfrm>
          <a:prstGeom prst="rect">
            <a:avLst/>
          </a:prstGeom>
          <a:solidFill>
            <a:srgbClr val="F9D5A3"/>
          </a:solidFill>
          <a:ln w="12700">
            <a:solidFill>
              <a:srgbClr val="C9A87B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1685925" y="5219700"/>
            <a:ext cx="0" cy="2667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1930400" y="5219700"/>
            <a:ext cx="0" cy="2667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2174875" y="5219700"/>
            <a:ext cx="0" cy="2667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3155950" y="5219700"/>
            <a:ext cx="977900" cy="266700"/>
          </a:xfrm>
          <a:prstGeom prst="rect">
            <a:avLst/>
          </a:prstGeom>
          <a:solidFill>
            <a:srgbClr val="F9D5A3"/>
          </a:solidFill>
          <a:ln w="12700">
            <a:solidFill>
              <a:srgbClr val="C9A87B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3400425" y="5219700"/>
            <a:ext cx="0" cy="2667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3644900" y="5219700"/>
            <a:ext cx="0" cy="2667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3889375" y="5219700"/>
            <a:ext cx="0" cy="2667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4851400" y="5219700"/>
            <a:ext cx="977900" cy="266700"/>
          </a:xfrm>
          <a:prstGeom prst="rect">
            <a:avLst/>
          </a:prstGeom>
          <a:solidFill>
            <a:srgbClr val="F9D5A3"/>
          </a:solidFill>
          <a:ln w="12700">
            <a:solidFill>
              <a:srgbClr val="C9A87B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5095875" y="5219700"/>
            <a:ext cx="0" cy="2667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5340350" y="5219700"/>
            <a:ext cx="0" cy="2667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5584825" y="5219700"/>
            <a:ext cx="0" cy="2667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78" name="Text 74"/>
          <p:cNvSpPr/>
          <p:nvPr/>
        </p:nvSpPr>
        <p:spPr>
          <a:xfrm>
            <a:off x="2263140" y="3937000"/>
            <a:ext cx="73152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79" name="Text 75"/>
          <p:cNvSpPr/>
          <p:nvPr/>
        </p:nvSpPr>
        <p:spPr>
          <a:xfrm>
            <a:off x="3977640" y="3937000"/>
            <a:ext cx="73152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80" name="Shape 76"/>
          <p:cNvSpPr/>
          <p:nvPr/>
        </p:nvSpPr>
        <p:spPr>
          <a:xfrm>
            <a:off x="647700" y="4210050"/>
            <a:ext cx="723900" cy="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tailEnd type="triangle"/>
          </a:ln>
        </p:spPr>
      </p:sp>
      <p:sp>
        <p:nvSpPr>
          <p:cNvPr id="81" name="Shape 77"/>
          <p:cNvSpPr/>
          <p:nvPr/>
        </p:nvSpPr>
        <p:spPr>
          <a:xfrm>
            <a:off x="2489200" y="4210050"/>
            <a:ext cx="596900" cy="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tailEnd type="triangle"/>
          </a:ln>
        </p:spPr>
      </p:sp>
      <p:sp>
        <p:nvSpPr>
          <p:cNvPr id="82" name="Shape 78"/>
          <p:cNvSpPr/>
          <p:nvPr/>
        </p:nvSpPr>
        <p:spPr>
          <a:xfrm>
            <a:off x="4191000" y="4210050"/>
            <a:ext cx="596900" cy="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tailEnd type="triangle"/>
          </a:ln>
        </p:spPr>
      </p:sp>
      <p:sp>
        <p:nvSpPr>
          <p:cNvPr id="83" name="Shape 79"/>
          <p:cNvSpPr/>
          <p:nvPr/>
        </p:nvSpPr>
        <p:spPr>
          <a:xfrm>
            <a:off x="1930400" y="4394200"/>
            <a:ext cx="0" cy="7747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84" name="Shape 80"/>
          <p:cNvSpPr/>
          <p:nvPr/>
        </p:nvSpPr>
        <p:spPr>
          <a:xfrm>
            <a:off x="3644900" y="4394200"/>
            <a:ext cx="0" cy="7747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85" name="Shape 81"/>
          <p:cNvSpPr/>
          <p:nvPr/>
        </p:nvSpPr>
        <p:spPr>
          <a:xfrm>
            <a:off x="5340350" y="4394200"/>
            <a:ext cx="0" cy="7747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86" name="Text 82"/>
          <p:cNvSpPr/>
          <p:nvPr/>
        </p:nvSpPr>
        <p:spPr>
          <a:xfrm>
            <a:off x="365760" y="4648200"/>
            <a:ext cx="146304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embedding x</a:t>
            </a:r>
            <a:pPr algn="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50" dirty="0"/>
          </a:p>
        </p:txBody>
      </p:sp>
      <p:sp>
        <p:nvSpPr>
          <p:cNvPr id="87" name="Text 83"/>
          <p:cNvSpPr/>
          <p:nvPr/>
        </p:nvSpPr>
        <p:spPr>
          <a:xfrm>
            <a:off x="2092960" y="4648200"/>
            <a:ext cx="146304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embedding x</a:t>
            </a:r>
            <a:pPr algn="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50" dirty="0"/>
          </a:p>
        </p:txBody>
      </p:sp>
      <p:sp>
        <p:nvSpPr>
          <p:cNvPr id="88" name="Text 84"/>
          <p:cNvSpPr/>
          <p:nvPr/>
        </p:nvSpPr>
        <p:spPr>
          <a:xfrm>
            <a:off x="3794760" y="4648200"/>
            <a:ext cx="146304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embedding x</a:t>
            </a:r>
            <a:pPr algn="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50" dirty="0"/>
          </a:p>
        </p:txBody>
      </p:sp>
      <p:sp>
        <p:nvSpPr>
          <p:cNvPr id="89" name="Shape 85"/>
          <p:cNvSpPr/>
          <p:nvPr/>
        </p:nvSpPr>
        <p:spPr>
          <a:xfrm>
            <a:off x="2667000" y="5003800"/>
            <a:ext cx="0" cy="1778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2590800" y="5092700"/>
            <a:ext cx="165100" cy="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1930400" y="5537200"/>
            <a:ext cx="0" cy="5461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92" name="Shape 88"/>
          <p:cNvSpPr/>
          <p:nvPr/>
        </p:nvSpPr>
        <p:spPr>
          <a:xfrm>
            <a:off x="3644900" y="5537200"/>
            <a:ext cx="0" cy="5461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93" name="Shape 89"/>
          <p:cNvSpPr/>
          <p:nvPr/>
        </p:nvSpPr>
        <p:spPr>
          <a:xfrm>
            <a:off x="5340350" y="5537200"/>
            <a:ext cx="0" cy="5461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94" name="Text 90"/>
          <p:cNvSpPr/>
          <p:nvPr/>
        </p:nvSpPr>
        <p:spPr>
          <a:xfrm>
            <a:off x="1564640" y="6045200"/>
            <a:ext cx="731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95" name="Text 91"/>
          <p:cNvSpPr/>
          <p:nvPr/>
        </p:nvSpPr>
        <p:spPr>
          <a:xfrm>
            <a:off x="3279140" y="6045200"/>
            <a:ext cx="731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96" name="Text 92"/>
          <p:cNvSpPr/>
          <p:nvPr/>
        </p:nvSpPr>
        <p:spPr>
          <a:xfrm>
            <a:off x="4974590" y="6045200"/>
            <a:ext cx="731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00" dirty="0"/>
          </a:p>
        </p:txBody>
      </p:sp>
      <p:sp>
        <p:nvSpPr>
          <p:cNvPr id="97" name="Shape 93"/>
          <p:cNvSpPr/>
          <p:nvPr/>
        </p:nvSpPr>
        <p:spPr>
          <a:xfrm>
            <a:off x="1384300" y="2870200"/>
            <a:ext cx="4572000" cy="977900"/>
          </a:xfrm>
          <a:prstGeom prst="roundRect">
            <a:avLst>
              <a:gd name="adj" fmla="val 9351"/>
            </a:avLst>
          </a:prstGeom>
          <a:solidFill>
            <a:srgbClr val="EFF1FD"/>
          </a:solidFill>
          <a:ln w="12700">
            <a:solidFill>
              <a:srgbClr val="C3CCD5"/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3124200" y="3213100"/>
            <a:ext cx="1054100" cy="304800"/>
          </a:xfrm>
          <a:prstGeom prst="rect">
            <a:avLst/>
          </a:prstGeom>
          <a:solidFill>
            <a:srgbClr val="D6D8E4"/>
          </a:solidFill>
          <a:ln w="12700">
            <a:solidFill>
              <a:srgbClr val="A9ACB8"/>
            </a:solidFill>
            <a:prstDash val="solid"/>
          </a:ln>
        </p:spPr>
      </p:sp>
      <p:sp>
        <p:nvSpPr>
          <p:cNvPr id="99" name="Text 95"/>
          <p:cNvSpPr/>
          <p:nvPr/>
        </p:nvSpPr>
        <p:spPr>
          <a:xfrm>
            <a:off x="3124200" y="3213100"/>
            <a:ext cx="105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4444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attention</a:t>
            </a:r>
            <a:endParaRPr lang="en-US" sz="2000" dirty="0"/>
          </a:p>
        </p:txBody>
      </p:sp>
      <p:sp>
        <p:nvSpPr>
          <p:cNvPr id="100" name="Shape 96"/>
          <p:cNvSpPr/>
          <p:nvPr/>
        </p:nvSpPr>
        <p:spPr>
          <a:xfrm flipV="1">
            <a:off x="1930400" y="3530600"/>
            <a:ext cx="1714500" cy="50800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01" name="Shape 97"/>
          <p:cNvSpPr/>
          <p:nvPr/>
        </p:nvSpPr>
        <p:spPr>
          <a:xfrm>
            <a:off x="3644900" y="3530600"/>
            <a:ext cx="0" cy="50800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  <a:headEnd type="triangle"/>
          </a:ln>
        </p:spPr>
      </p:sp>
      <p:sp>
        <p:nvSpPr>
          <p:cNvPr id="102" name="Shape 98"/>
          <p:cNvSpPr/>
          <p:nvPr/>
        </p:nvSpPr>
        <p:spPr>
          <a:xfrm>
            <a:off x="3644900" y="3530600"/>
            <a:ext cx="1701800" cy="50800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  <a:headEnd type="triangle"/>
          </a:ln>
        </p:spPr>
      </p:sp>
      <p:sp>
        <p:nvSpPr>
          <p:cNvPr id="103" name="Text 99"/>
          <p:cNvSpPr/>
          <p:nvPr/>
        </p:nvSpPr>
        <p:spPr>
          <a:xfrm>
            <a:off x="2641600" y="2540000"/>
            <a:ext cx="203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i="1" dirty="0">
                <a:solidFill>
                  <a:srgbClr val="060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950" dirty="0"/>
          </a:p>
        </p:txBody>
      </p:sp>
      <p:sp>
        <p:nvSpPr>
          <p:cNvPr id="104" name="Shape 100"/>
          <p:cNvSpPr/>
          <p:nvPr/>
        </p:nvSpPr>
        <p:spPr>
          <a:xfrm>
            <a:off x="6286500" y="3708400"/>
            <a:ext cx="4546600" cy="622300"/>
          </a:xfrm>
          <a:prstGeom prst="roundRect">
            <a:avLst>
              <a:gd name="adj" fmla="val 11755"/>
            </a:avLst>
          </a:prstGeom>
          <a:solidFill>
            <a:srgbClr val="EFF1FD"/>
          </a:solidFill>
          <a:ln w="12700">
            <a:solidFill>
              <a:srgbClr val="C8CCD5"/>
            </a:solidFill>
            <a:prstDash val="solid"/>
          </a:ln>
        </p:spPr>
      </p:sp>
      <p:pic>
        <p:nvPicPr>
          <p:cNvPr id="105" name="Image 2" descr="/home/ahmed/Projects/ai_llm_slides/videos/deep-learning/001_transformers_part1/recreated_pptx/build/assets/dash_f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5600" y="2184400"/>
            <a:ext cx="6299210" cy="2133570"/>
          </a:xfrm>
          <a:prstGeom prst="rect">
            <a:avLst/>
          </a:prstGeom>
        </p:spPr>
      </p:pic>
      <p:sp>
        <p:nvSpPr>
          <p:cNvPr id="106" name="Shape 101"/>
          <p:cNvSpPr/>
          <p:nvPr/>
        </p:nvSpPr>
        <p:spPr>
          <a:xfrm>
            <a:off x="7073900" y="3517900"/>
            <a:ext cx="0" cy="1524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107" name="Shape 102"/>
          <p:cNvSpPr/>
          <p:nvPr/>
        </p:nvSpPr>
        <p:spPr>
          <a:xfrm>
            <a:off x="8686800" y="3517900"/>
            <a:ext cx="0" cy="1524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108" name="Shape 103"/>
          <p:cNvSpPr/>
          <p:nvPr/>
        </p:nvSpPr>
        <p:spPr>
          <a:xfrm>
            <a:off x="10414000" y="3517900"/>
            <a:ext cx="0" cy="1524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109" name="Text 104"/>
          <p:cNvSpPr/>
          <p:nvPr/>
        </p:nvSpPr>
        <p:spPr>
          <a:xfrm>
            <a:off x="8674100" y="4356100"/>
            <a:ext cx="203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i="1" dirty="0">
                <a:solidFill>
                  <a:srgbClr val="060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650" dirty="0"/>
          </a:p>
        </p:txBody>
      </p:sp>
      <p:sp>
        <p:nvSpPr>
          <p:cNvPr id="110" name="Shape 105"/>
          <p:cNvSpPr/>
          <p:nvPr/>
        </p:nvSpPr>
        <p:spPr>
          <a:xfrm>
            <a:off x="6483350" y="3295650"/>
            <a:ext cx="76200" cy="76200"/>
          </a:xfrm>
          <a:prstGeom prst="ellipse">
            <a:avLst/>
          </a:prstGeom>
          <a:solidFill>
            <a:srgbClr val="A0000E"/>
          </a:solidFill>
          <a:ln/>
        </p:spPr>
      </p:sp>
      <p:sp>
        <p:nvSpPr>
          <p:cNvPr id="111" name="Shape 106"/>
          <p:cNvSpPr/>
          <p:nvPr/>
        </p:nvSpPr>
        <p:spPr>
          <a:xfrm>
            <a:off x="5918200" y="4108450"/>
            <a:ext cx="76200" cy="76200"/>
          </a:xfrm>
          <a:prstGeom prst="ellipse">
            <a:avLst/>
          </a:prstGeom>
          <a:solidFill>
            <a:srgbClr val="A0000E"/>
          </a:solidFill>
          <a:ln/>
        </p:spPr>
      </p:sp>
      <p:pic>
        <p:nvPicPr>
          <p:cNvPr id="112" name="Image 3" descr="/home/ahmed/Projects/ai_llm_slides/videos/deep-learning/001_transformers_part1/recreated_pptx/build/assets/ctx_ar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2800" y="3263900"/>
            <a:ext cx="609600" cy="927100"/>
          </a:xfrm>
          <a:prstGeom prst="rect">
            <a:avLst/>
          </a:prstGeom>
        </p:spPr>
      </p:pic>
      <p:pic>
        <p:nvPicPr>
          <p:cNvPr id="113" name="Image 4" descr="/home/ahmed/Projects/ai_llm_slides/videos/deep-learning/001_transformers_part1/recreated_pptx/build/assets/pink_con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4305300"/>
            <a:ext cx="952530" cy="673090"/>
          </a:xfrm>
          <a:prstGeom prst="rect">
            <a:avLst/>
          </a:prstGeom>
        </p:spPr>
      </p:pic>
      <p:sp>
        <p:nvSpPr>
          <p:cNvPr id="114" name="Shape 107"/>
          <p:cNvSpPr/>
          <p:nvPr/>
        </p:nvSpPr>
        <p:spPr>
          <a:xfrm>
            <a:off x="7086600" y="4711700"/>
            <a:ext cx="3568700" cy="508000"/>
          </a:xfrm>
          <a:prstGeom prst="rect">
            <a:avLst/>
          </a:prstGeom>
          <a:solidFill>
            <a:srgbClr val="F8DCDD"/>
          </a:solidFill>
          <a:ln w="12700">
            <a:solidFill>
              <a:srgbClr val="A0000E"/>
            </a:solidFill>
            <a:prstDash val="solid"/>
          </a:ln>
        </p:spPr>
      </p:sp>
      <p:sp>
        <p:nvSpPr>
          <p:cNvPr id="115" name="Text 108"/>
          <p:cNvSpPr/>
          <p:nvPr/>
        </p:nvSpPr>
        <p:spPr>
          <a:xfrm>
            <a:off x="7086600" y="4711700"/>
            <a:ext cx="3568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Vector (of Whole Inputs)</a:t>
            </a:r>
            <a:endParaRPr lang="en-US" sz="1550" dirty="0"/>
          </a:p>
        </p:txBody>
      </p:sp>
      <p:sp>
        <p:nvSpPr>
          <p:cNvPr id="116" name="Shape 109"/>
          <p:cNvSpPr/>
          <p:nvPr/>
        </p:nvSpPr>
        <p:spPr>
          <a:xfrm>
            <a:off x="863600" y="1841500"/>
            <a:ext cx="3606800" cy="546100"/>
          </a:xfrm>
          <a:prstGeom prst="rect">
            <a:avLst/>
          </a:prstGeom>
          <a:solidFill>
            <a:srgbClr val="DDFFE8"/>
          </a:solidFill>
          <a:ln w="12700">
            <a:solidFill>
              <a:srgbClr val="8FBF9A"/>
            </a:solidFill>
            <a:prstDash val="solid"/>
          </a:ln>
        </p:spPr>
      </p:sp>
      <p:sp>
        <p:nvSpPr>
          <p:cNvPr id="117" name="Text 110"/>
          <p:cNvSpPr/>
          <p:nvPr/>
        </p:nvSpPr>
        <p:spPr>
          <a:xfrm>
            <a:off x="863600" y="1841500"/>
            <a:ext cx="36068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i="1" dirty="0">
                <a:solidFill>
                  <a:srgbClr val="060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 of the hidden states</a:t>
            </a:r>
            <a:endParaRPr lang="en-US" sz="1550" dirty="0"/>
          </a:p>
        </p:txBody>
      </p:sp>
      <p:sp>
        <p:nvSpPr>
          <p:cNvPr id="118" name="Shape 111"/>
          <p:cNvSpPr/>
          <p:nvPr/>
        </p:nvSpPr>
        <p:spPr>
          <a:xfrm>
            <a:off x="6616700" y="5486400"/>
            <a:ext cx="4838700" cy="1219200"/>
          </a:xfrm>
          <a:prstGeom prst="rect">
            <a:avLst/>
          </a:prstGeom>
          <a:solidFill>
            <a:srgbClr val="EAE6DD"/>
          </a:solidFill>
          <a:ln w="12700">
            <a:solidFill>
              <a:srgbClr val="99A0A6"/>
            </a:solidFill>
            <a:prstDash val="solid"/>
          </a:ln>
        </p:spPr>
      </p:sp>
      <p:sp>
        <p:nvSpPr>
          <p:cNvPr id="119" name="Text 112"/>
          <p:cNvSpPr/>
          <p:nvPr/>
        </p:nvSpPr>
        <p:spPr>
          <a:xfrm>
            <a:off x="6781800" y="5562600"/>
            <a:ext cx="419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 Utilizes:</a:t>
            </a:r>
            <a:endParaRPr lang="en-US" sz="1950" dirty="0"/>
          </a:p>
        </p:txBody>
      </p:sp>
      <p:sp>
        <p:nvSpPr>
          <p:cNvPr id="120" name="Shape 113"/>
          <p:cNvSpPr/>
          <p:nvPr/>
        </p:nvSpPr>
        <p:spPr>
          <a:xfrm>
            <a:off x="6772275" y="5965825"/>
            <a:ext cx="82550" cy="8255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21" name="Shape 114"/>
          <p:cNvSpPr/>
          <p:nvPr/>
        </p:nvSpPr>
        <p:spPr>
          <a:xfrm>
            <a:off x="6772275" y="6296025"/>
            <a:ext cx="82550" cy="8255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22" name="Text 115"/>
          <p:cNvSpPr/>
          <p:nvPr/>
        </p:nvSpPr>
        <p:spPr>
          <a:xfrm>
            <a:off x="7010400" y="5905500"/>
            <a:ext cx="3810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Vector</a:t>
            </a:r>
            <a:endParaRPr lang="en-US" sz="1800" dirty="0"/>
          </a:p>
        </p:txBody>
      </p:sp>
      <p:sp>
        <p:nvSpPr>
          <p:cNvPr id="123" name="Text 116"/>
          <p:cNvSpPr/>
          <p:nvPr/>
        </p:nvSpPr>
        <p:spPr>
          <a:xfrm>
            <a:off x="7010400" y="6223000"/>
            <a:ext cx="431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 of hidden states</a:t>
            </a:r>
            <a:endParaRPr lang="en-US" sz="1800" dirty="0"/>
          </a:p>
        </p:txBody>
      </p:sp>
      <p:sp>
        <p:nvSpPr>
          <p:cNvPr id="124" name="Text 117"/>
          <p:cNvSpPr/>
          <p:nvPr/>
        </p:nvSpPr>
        <p:spPr>
          <a:xfrm>
            <a:off x="8229600" y="1104900"/>
            <a:ext cx="203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i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2050" dirty="0"/>
          </a:p>
        </p:txBody>
      </p:sp>
      <p:sp>
        <p:nvSpPr>
          <p:cNvPr id="125" name="Text 118"/>
          <p:cNvSpPr/>
          <p:nvPr/>
        </p:nvSpPr>
        <p:spPr>
          <a:xfrm>
            <a:off x="2317750" y="6413500"/>
            <a:ext cx="203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i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2050" dirty="0"/>
          </a:p>
        </p:txBody>
      </p:sp>
      <p:sp>
        <p:nvSpPr>
          <p:cNvPr id="126" name="Text 119"/>
          <p:cNvSpPr/>
          <p:nvPr/>
        </p:nvSpPr>
        <p:spPr>
          <a:xfrm>
            <a:off x="2743200" y="6604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25" b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RNN  Seq2Seq model </a:t>
            </a:r>
            <a:pPr algn="ctr" indent="0" marL="0">
              <a:buNone/>
            </a:pPr>
            <a:r>
              <a:rPr lang="en-US" sz="2525" b="1" dirty="0">
                <a:solidFill>
                  <a:srgbClr val="060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[with Attention]</a:t>
            </a:r>
            <a:endParaRPr lang="en-US" sz="2525" dirty="0"/>
          </a:p>
        </p:txBody>
      </p:sp>
      <p:sp>
        <p:nvSpPr>
          <p:cNvPr id="127" name="Text 120"/>
          <p:cNvSpPr/>
          <p:nvPr/>
        </p:nvSpPr>
        <p:spPr>
          <a:xfrm>
            <a:off x="2736850" y="1016000"/>
            <a:ext cx="635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0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To overcome </a:t>
            </a:r>
            <a:pPr algn="ctr" indent="0" marL="0">
              <a:buNone/>
            </a:pPr>
            <a:r>
              <a:rPr lang="en-US" sz="2000" b="1" u="sng" dirty="0">
                <a:solidFill>
                  <a:srgbClr val="060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</a:t>
            </a:r>
            <a:pPr algn="ctr" indent="0" marL="0">
              <a:buNone/>
            </a:pPr>
            <a:r>
              <a:rPr lang="en-US" sz="2000" b="1" dirty="0">
                <a:solidFill>
                  <a:srgbClr val="060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challenge]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2026-10-11T13:38:02Z</dcterms:created>
  <dcterms:modified xsi:type="dcterms:W3CDTF">2026-10-11T13:38:02Z</dcterms:modified>
</cp:coreProperties>
</file>