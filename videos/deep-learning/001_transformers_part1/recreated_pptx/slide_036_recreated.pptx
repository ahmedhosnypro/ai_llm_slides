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0410" y="698500"/>
            <a:ext cx="110921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489200" y="977900"/>
            <a:ext cx="914400" cy="2794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7" name="Text 5"/>
          <p:cNvSpPr/>
          <p:nvPr/>
        </p:nvSpPr>
        <p:spPr>
          <a:xfrm>
            <a:off x="778510" y="977900"/>
            <a:ext cx="110921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(Scaling based on Square Root of Embedding Vector Dimension)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84200" y="1257300"/>
            <a:ext cx="2857500" cy="3479800"/>
          </a:xfrm>
          <a:prstGeom prst="roundRect">
            <a:avLst>
              <a:gd name="adj" fmla="val 1920"/>
            </a:avLst>
          </a:prstGeom>
          <a:solidFill>
            <a:srgbClr val="FCFFE4"/>
          </a:solidFill>
          <a:ln w="19050">
            <a:solidFill>
              <a:srgbClr val="3B7A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1460500"/>
            <a:ext cx="0" cy="3175000"/>
          </a:xfrm>
          <a:prstGeom prst="line">
            <a:avLst/>
          </a:prstGeom>
          <a:noFill/>
          <a:ln w="15875">
            <a:solidFill>
              <a:srgbClr val="FFA50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460500" y="3048000"/>
            <a:ext cx="685800" cy="381000"/>
          </a:xfrm>
          <a:prstGeom prst="rightArrow">
            <a:avLst/>
          </a:prstGeom>
          <a:solidFill>
            <a:srgbClr val="FFFFFF"/>
          </a:solidFill>
          <a:ln w="19050">
            <a:solidFill>
              <a:srgbClr val="0000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650" y="1346200"/>
            <a:ext cx="35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400" b="1" i="1" baseline="-40000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9350" y="1346200"/>
            <a:ext cx="35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400" b="1" i="1" baseline="-40000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46300" y="1346200"/>
            <a:ext cx="35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400" b="1" i="1" baseline="-40000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67000" y="1346200"/>
            <a:ext cx="35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400" b="1" i="1" baseline="-40000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1200" y="179705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1200" y="200787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1200" y="221869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1200" y="242951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1200" y="264033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1200" y="285115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1200" y="306197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1200" y="327279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1200" y="348361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1200" y="369443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1200" y="390525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1200" y="4116070"/>
            <a:ext cx="27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2700" y="1758950"/>
            <a:ext cx="24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82700" y="1977390"/>
            <a:ext cx="24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82700" y="2195830"/>
            <a:ext cx="24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82700" y="2414270"/>
            <a:ext cx="24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22500" y="1803400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222500" y="2008378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222500" y="2213356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222500" y="2418334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222500" y="2623312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222500" y="2828290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222500" y="3033268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222500" y="3238246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222500" y="3443224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222500" y="3648202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222500" y="3853180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222500" y="4058158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806700" y="1758950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806700" y="1996059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2806700" y="2233168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2806700" y="2470277"/>
            <a:ext cx="26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400" dirty="0"/>
          </a:p>
        </p:txBody>
      </p:sp>
      <p:pic>
        <p:nvPicPr>
          <p:cNvPr id="47" name="Image 0" descr="/home/ahmed/Projects/ai_llm_slides/videos/deep-learning/001_transformers_part1/recreated_pptx/build/assets/slide036/d_v1L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400" y="1701800"/>
            <a:ext cx="126489" cy="2705097"/>
          </a:xfrm>
          <a:prstGeom prst="rect">
            <a:avLst/>
          </a:prstGeom>
        </p:spPr>
      </p:pic>
      <p:pic>
        <p:nvPicPr>
          <p:cNvPr id="48" name="Image 1" descr="/home/ahmed/Projects/ai_llm_slides/videos/deep-learning/001_transformers_part1/recreated_pptx/build/assets/slide036/d_v1L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01800"/>
            <a:ext cx="126489" cy="2705097"/>
          </a:xfrm>
          <a:prstGeom prst="rect">
            <a:avLst/>
          </a:prstGeom>
        </p:spPr>
      </p:pic>
      <p:pic>
        <p:nvPicPr>
          <p:cNvPr id="49" name="Image 2" descr="/home/ahmed/Projects/ai_llm_slides/videos/deep-learning/001_transformers_part1/recreated_pptx/build/assets/slide036/d_v2L_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689100"/>
            <a:ext cx="126489" cy="1002795"/>
          </a:xfrm>
          <a:prstGeom prst="rect">
            <a:avLst/>
          </a:prstGeom>
        </p:spPr>
      </p:pic>
      <p:pic>
        <p:nvPicPr>
          <p:cNvPr id="50" name="Image 3" descr="/home/ahmed/Projects/ai_llm_slides/videos/deep-learning/001_transformers_part1/recreated_pptx/build/assets/slide036/d_v2L_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1689100"/>
            <a:ext cx="126489" cy="1002795"/>
          </a:xfrm>
          <a:prstGeom prst="rect">
            <a:avLst/>
          </a:prstGeom>
        </p:spPr>
      </p:pic>
      <p:pic>
        <p:nvPicPr>
          <p:cNvPr id="51" name="Image 4" descr="/home/ahmed/Projects/ai_llm_slides/videos/deep-learning/001_transformers_part1/recreated_pptx/build/assets/slide036/d_v1R_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4400" y="1701800"/>
            <a:ext cx="126489" cy="2705097"/>
          </a:xfrm>
          <a:prstGeom prst="rect">
            <a:avLst/>
          </a:prstGeom>
        </p:spPr>
      </p:pic>
      <p:pic>
        <p:nvPicPr>
          <p:cNvPr id="52" name="Image 5" descr="/home/ahmed/Projects/ai_llm_slides/videos/deep-learning/001_transformers_part1/recreated_pptx/build/assets/slide036/d_v1R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8400" y="1701800"/>
            <a:ext cx="126489" cy="2705097"/>
          </a:xfrm>
          <a:prstGeom prst="rect">
            <a:avLst/>
          </a:prstGeom>
        </p:spPr>
      </p:pic>
      <p:pic>
        <p:nvPicPr>
          <p:cNvPr id="53" name="Image 6" descr="/home/ahmed/Projects/ai_llm_slides/videos/deep-learning/001_transformers_part1/recreated_pptx/build/assets/slide036/d_v2R_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1689100"/>
            <a:ext cx="126489" cy="1002795"/>
          </a:xfrm>
          <a:prstGeom prst="rect">
            <a:avLst/>
          </a:prstGeom>
        </p:spPr>
      </p:pic>
      <p:pic>
        <p:nvPicPr>
          <p:cNvPr id="54" name="Image 7" descr="/home/ahmed/Projects/ai_llm_slides/videos/deep-learning/001_transformers_part1/recreated_pptx/build/assets/slide036/d_v2R_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9100" y="1689100"/>
            <a:ext cx="126489" cy="1002795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990600" y="4394200"/>
            <a:ext cx="40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1xd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6" name="Text 46"/>
          <p:cNvSpPr/>
          <p:nvPr/>
        </p:nvSpPr>
        <p:spPr>
          <a:xfrm>
            <a:off x="1485900" y="2679700"/>
            <a:ext cx="40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1xd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7" name="Text 47"/>
          <p:cNvSpPr/>
          <p:nvPr/>
        </p:nvSpPr>
        <p:spPr>
          <a:xfrm>
            <a:off x="2514600" y="4394200"/>
            <a:ext cx="40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1xd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8" name="Text 48"/>
          <p:cNvSpPr/>
          <p:nvPr/>
        </p:nvSpPr>
        <p:spPr>
          <a:xfrm>
            <a:off x="3009900" y="2679700"/>
            <a:ext cx="406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1xd</a:t>
            </a:r>
            <a:pPr algn="ctr" indent="0" marL="0">
              <a:buNone/>
            </a:pPr>
            <a:r>
              <a:rPr lang="en-US" sz="1500" i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9" name="Shape 49"/>
          <p:cNvSpPr/>
          <p:nvPr/>
        </p:nvSpPr>
        <p:spPr>
          <a:xfrm>
            <a:off x="3911600" y="1346200"/>
            <a:ext cx="4470400" cy="1536700"/>
          </a:xfrm>
          <a:prstGeom prst="roundRect">
            <a:avLst>
              <a:gd name="adj" fmla="val 3570"/>
            </a:avLst>
          </a:prstGeom>
          <a:solidFill>
            <a:srgbClr val="FFFFFF"/>
          </a:solidFill>
          <a:ln w="15875">
            <a:solidFill>
              <a:srgbClr val="3B7A40"/>
            </a:solidFill>
            <a:prstDash val="solid"/>
          </a:ln>
        </p:spPr>
      </p:sp>
      <p:sp>
        <p:nvSpPr>
          <p:cNvPr id="60" name="Text 50"/>
          <p:cNvSpPr/>
          <p:nvPr/>
        </p:nvSpPr>
        <p:spPr>
          <a:xfrm>
            <a:off x="4076700" y="1498600"/>
            <a:ext cx="3327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Average Values of elements of </a:t>
            </a:r>
            <a:pPr algn="l" indent="0" marL="0">
              <a:buNone/>
            </a:pPr>
            <a:r>
              <a:rPr lang="en-US" sz="135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35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buNone/>
            </a:pPr>
            <a:r>
              <a:rPr lang="en-US" sz="135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350" dirty="0"/>
          </a:p>
        </p:txBody>
      </p:sp>
      <p:sp>
        <p:nvSpPr>
          <p:cNvPr id="61" name="Text 51"/>
          <p:cNvSpPr/>
          <p:nvPr/>
        </p:nvSpPr>
        <p:spPr>
          <a:xfrm>
            <a:off x="4076700" y="1778000"/>
            <a:ext cx="3327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Average Values of elements of </a:t>
            </a:r>
            <a:pPr algn="l" indent="0" marL="0">
              <a:buNone/>
            </a:pPr>
            <a:r>
              <a:rPr lang="en-US" sz="135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350" b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buNone/>
            </a:pPr>
            <a:r>
              <a:rPr lang="en-US" sz="135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350" dirty="0"/>
          </a:p>
        </p:txBody>
      </p:sp>
      <p:sp>
        <p:nvSpPr>
          <p:cNvPr id="62" name="Text 52"/>
          <p:cNvSpPr/>
          <p:nvPr/>
        </p:nvSpPr>
        <p:spPr>
          <a:xfrm>
            <a:off x="4102100" y="2095500"/>
            <a:ext cx="3606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Length of </a:t>
            </a:r>
            <a:pPr algn="l" indent="0" marL="0">
              <a:buNone/>
            </a:pPr>
            <a:r>
              <a:rPr lang="en-US" sz="1500" b="1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500" b="1" i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15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(all Ms) = </a:t>
            </a:r>
            <a:pPr algn="l" indent="0" marL="0">
              <a:buNone/>
            </a:pPr>
            <a:r>
              <a:rPr lang="en-US" sz="15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500" b="1" i="1" baseline="-40000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1500" b="1" i="1" baseline="30000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buNone/>
            </a:pPr>
            <a:r>
              <a:rPr lang="en-US" sz="15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</a:t>
            </a:r>
            <a:pPr algn="l" indent="0" marL="0">
              <a:buNone/>
            </a:pPr>
            <a:r>
              <a:rPr lang="en-US" sz="1500" b="1" i="1" baseline="-40000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15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M </a:t>
            </a:r>
            <a:endParaRPr lang="en-US" sz="1500" dirty="0"/>
          </a:p>
        </p:txBody>
      </p:sp>
      <p:pic>
        <p:nvPicPr>
          <p:cNvPr id="63" name="Image 8" descr="/home/ahmed/Projects/ai_llm_slides/videos/deep-learning/001_transformers_part1/recreated_pptx/build/assets/slide036/eq_sqrt_d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7000" y="2146302"/>
            <a:ext cx="338328" cy="227073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4102100" y="2463800"/>
            <a:ext cx="3606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Length of </a:t>
            </a:r>
            <a:pPr algn="l" indent="0" marL="0">
              <a:buNone/>
            </a:pPr>
            <a:r>
              <a:rPr lang="en-US" sz="1500" b="1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500" b="1" i="1" baseline="-40000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buNone/>
            </a:pPr>
            <a:r>
              <a:rPr lang="en-US" sz="15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(all Ms) = </a:t>
            </a:r>
            <a:pPr algn="l" indent="0" marL="0">
              <a:buNone/>
            </a:pPr>
            <a:r>
              <a:rPr lang="en-US" sz="15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500" b="1" i="1" baseline="-40000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buNone/>
            </a:pPr>
            <a:r>
              <a:rPr lang="en-US" sz="1500" b="1" i="1" baseline="30000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buNone/>
            </a:pPr>
            <a:r>
              <a:rPr lang="en-US" sz="15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</a:t>
            </a:r>
            <a:pPr algn="l" indent="0" marL="0">
              <a:buNone/>
            </a:pPr>
            <a:r>
              <a:rPr lang="en-US" sz="1500" b="1" i="1" baseline="-40000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buNone/>
            </a:pPr>
            <a:r>
              <a:rPr lang="en-US" sz="15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M </a:t>
            </a:r>
            <a:endParaRPr lang="en-US" sz="1500" dirty="0"/>
          </a:p>
        </p:txBody>
      </p:sp>
      <p:pic>
        <p:nvPicPr>
          <p:cNvPr id="65" name="Image 9" descr="/home/ahmed/Projects/ai_llm_slides/videos/deep-learning/001_transformers_part1/recreated_pptx/build/assets/slide036/eq_sqrt_d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7000" y="2514602"/>
            <a:ext cx="338328" cy="227073"/>
          </a:xfrm>
          <a:prstGeom prst="rect">
            <a:avLst/>
          </a:prstGeom>
        </p:spPr>
      </p:pic>
      <p:sp>
        <p:nvSpPr>
          <p:cNvPr id="66" name="Shape 54"/>
          <p:cNvSpPr/>
          <p:nvPr/>
        </p:nvSpPr>
        <p:spPr>
          <a:xfrm>
            <a:off x="8674100" y="1397000"/>
            <a:ext cx="2679700" cy="139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99"/>
            </a:solidFill>
            <a:prstDash val="solid"/>
          </a:ln>
        </p:spPr>
      </p:sp>
      <p:pic>
        <p:nvPicPr>
          <p:cNvPr id="67" name="Image 10" descr="/home/ahmed/Projects/ai_llm_slides/videos/deep-learning/001_transformers_part1/recreated_pptx/build/assets/slide036/bell_plo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800" y="1422400"/>
            <a:ext cx="2032000" cy="1143000"/>
          </a:xfrm>
          <a:prstGeom prst="rect">
            <a:avLst/>
          </a:prstGeom>
        </p:spPr>
      </p:pic>
      <p:sp>
        <p:nvSpPr>
          <p:cNvPr id="68" name="Text 55"/>
          <p:cNvSpPr/>
          <p:nvPr/>
        </p:nvSpPr>
        <p:spPr>
          <a:xfrm>
            <a:off x="9791700" y="2578100"/>
            <a:ext cx="2921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300" dirty="0"/>
          </a:p>
        </p:txBody>
      </p:sp>
      <p:sp>
        <p:nvSpPr>
          <p:cNvPr id="69" name="Shape 56"/>
          <p:cNvSpPr/>
          <p:nvPr/>
        </p:nvSpPr>
        <p:spPr>
          <a:xfrm>
            <a:off x="3759200" y="3022600"/>
            <a:ext cx="3886200" cy="533400"/>
          </a:xfrm>
          <a:prstGeom prst="rect">
            <a:avLst/>
          </a:prstGeom>
          <a:solidFill>
            <a:srgbClr val="E6FCEC"/>
          </a:solidFill>
          <a:ln w="25400">
            <a:solidFill>
              <a:srgbClr val="3B7A40"/>
            </a:solidFill>
            <a:prstDash val="solid"/>
          </a:ln>
        </p:spPr>
      </p:sp>
      <p:pic>
        <p:nvPicPr>
          <p:cNvPr id="70" name="Image 11" descr="/home/ahmed/Projects/ai_llm_slides/videos/deep-learning/001_transformers_part1/recreated_pptx/build/assets/slide036/eq_sqrtd_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73500" y="3121150"/>
            <a:ext cx="352044" cy="284991"/>
          </a:xfrm>
          <a:prstGeom prst="rect">
            <a:avLst/>
          </a:prstGeom>
        </p:spPr>
      </p:pic>
      <p:sp>
        <p:nvSpPr>
          <p:cNvPr id="71" name="Text 57"/>
          <p:cNvSpPr/>
          <p:nvPr/>
        </p:nvSpPr>
        <p:spPr>
          <a:xfrm>
            <a:off x="4406900" y="3073400"/>
            <a:ext cx="317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good choice for scaling</a:t>
            </a:r>
            <a:endParaRPr lang="en-US" sz="1850" dirty="0"/>
          </a:p>
        </p:txBody>
      </p:sp>
      <p:sp>
        <p:nvSpPr>
          <p:cNvPr id="72" name="Shape 58"/>
          <p:cNvSpPr/>
          <p:nvPr/>
        </p:nvSpPr>
        <p:spPr>
          <a:xfrm>
            <a:off x="7835900" y="3022600"/>
            <a:ext cx="3556000" cy="546100"/>
          </a:xfrm>
          <a:prstGeom prst="rect">
            <a:avLst/>
          </a:prstGeom>
          <a:solidFill>
            <a:srgbClr val="FFF8D7"/>
          </a:solidFill>
          <a:ln w="19050">
            <a:solidFill>
              <a:srgbClr val="3B7A40"/>
            </a:solidFill>
            <a:prstDash val="solid"/>
          </a:ln>
        </p:spPr>
      </p:sp>
      <p:pic>
        <p:nvPicPr>
          <p:cNvPr id="73" name="Image 12" descr="/home/ahmed/Projects/ai_llm_slides/videos/deep-learning/001_transformers_part1/recreated_pptx/build/assets/slide036/eq_4sqrtd_b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18500" y="3121150"/>
            <a:ext cx="362715" cy="284991"/>
          </a:xfrm>
          <a:prstGeom prst="rect">
            <a:avLst/>
          </a:prstGeom>
        </p:spPr>
      </p:pic>
      <p:sp>
        <p:nvSpPr>
          <p:cNvPr id="74" name="Text 59"/>
          <p:cNvSpPr/>
          <p:nvPr/>
        </p:nvSpPr>
        <p:spPr>
          <a:xfrm>
            <a:off x="8864600" y="3073400"/>
            <a:ext cx="236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i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Some times is used</a:t>
            </a:r>
            <a:endParaRPr lang="en-US" sz="1850" dirty="0"/>
          </a:p>
        </p:txBody>
      </p:sp>
      <p:sp>
        <p:nvSpPr>
          <p:cNvPr id="75" name="Shape 60"/>
          <p:cNvSpPr/>
          <p:nvPr/>
        </p:nvSpPr>
        <p:spPr>
          <a:xfrm>
            <a:off x="3695700" y="3886200"/>
            <a:ext cx="1943100" cy="736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6" name="Text 61"/>
          <p:cNvSpPr/>
          <p:nvPr/>
        </p:nvSpPr>
        <p:spPr>
          <a:xfrm>
            <a:off x="3759200" y="4127500"/>
            <a:ext cx="81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500" dirty="0"/>
          </a:p>
        </p:txBody>
      </p:sp>
      <p:pic>
        <p:nvPicPr>
          <p:cNvPr id="77" name="Image 13" descr="/home/ahmed/Projects/ai_llm_slides/videos/deep-learning/001_transformers_part1/recreated_pptx/build/assets/slide036/d_fb1_l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00600" y="3987800"/>
            <a:ext cx="114300" cy="507492"/>
          </a:xfrm>
          <a:prstGeom prst="rect">
            <a:avLst/>
          </a:prstGeom>
        </p:spPr>
      </p:pic>
      <p:pic>
        <p:nvPicPr>
          <p:cNvPr id="78" name="Image 14" descr="/home/ahmed/Projects/ai_llm_slides/videos/deep-learning/001_transformers_part1/recreated_pptx/build/assets/slide036/d_fb1_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57800" y="3987800"/>
            <a:ext cx="114300" cy="507492"/>
          </a:xfrm>
          <a:prstGeom prst="rect">
            <a:avLst/>
          </a:prstGeom>
        </p:spPr>
      </p:pic>
      <p:pic>
        <p:nvPicPr>
          <p:cNvPr id="79" name="Image 15" descr="/home/ahmed/Projects/ai_llm_slides/videos/deep-learning/001_transformers_part1/recreated_pptx/build/assets/slide036/eq_wij_inner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33950" y="4124957"/>
            <a:ext cx="361188" cy="289563"/>
          </a:xfrm>
          <a:prstGeom prst="rect">
            <a:avLst/>
          </a:prstGeom>
        </p:spPr>
      </p:pic>
      <p:sp>
        <p:nvSpPr>
          <p:cNvPr id="80" name="Shape 62"/>
          <p:cNvSpPr/>
          <p:nvPr/>
        </p:nvSpPr>
        <p:spPr>
          <a:xfrm>
            <a:off x="6388100" y="3759200"/>
            <a:ext cx="1943100" cy="990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81" name="Text 63"/>
          <p:cNvSpPr/>
          <p:nvPr/>
        </p:nvSpPr>
        <p:spPr>
          <a:xfrm>
            <a:off x="6438900" y="41529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500" dirty="0"/>
          </a:p>
        </p:txBody>
      </p:sp>
      <p:pic>
        <p:nvPicPr>
          <p:cNvPr id="82" name="Image 16" descr="/home/ahmed/Projects/ai_llm_slides/videos/deep-learning/001_transformers_part1/recreated_pptx/build/assets/slide036/d_fb2_l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93000" y="3873500"/>
            <a:ext cx="30477" cy="812289"/>
          </a:xfrm>
          <a:prstGeom prst="rect">
            <a:avLst/>
          </a:prstGeom>
        </p:spPr>
      </p:pic>
      <p:pic>
        <p:nvPicPr>
          <p:cNvPr id="83" name="Image 17" descr="/home/ahmed/Projects/ai_llm_slides/videos/deep-learning/001_transformers_part1/recreated_pptx/build/assets/slide036/d_fb2_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1800" y="3873500"/>
            <a:ext cx="30477" cy="812289"/>
          </a:xfrm>
          <a:prstGeom prst="rect">
            <a:avLst/>
          </a:prstGeom>
        </p:spPr>
      </p:pic>
      <p:pic>
        <p:nvPicPr>
          <p:cNvPr id="84" name="Image 18" descr="/home/ahmed/Projects/ai_llm_slides/videos/deep-learning/001_transformers_part1/recreated_pptx/build/assets/slide036/eq_frac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0" y="4002022"/>
            <a:ext cx="329184" cy="568455"/>
          </a:xfrm>
          <a:prstGeom prst="rect">
            <a:avLst/>
          </a:prstGeom>
        </p:spPr>
      </p:pic>
      <p:sp>
        <p:nvSpPr>
          <p:cNvPr id="85" name="Shape 64"/>
          <p:cNvSpPr/>
          <p:nvPr/>
        </p:nvSpPr>
        <p:spPr>
          <a:xfrm>
            <a:off x="8953500" y="3911600"/>
            <a:ext cx="1943100" cy="66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86" name="Text 65"/>
          <p:cNvSpPr/>
          <p:nvPr/>
        </p:nvSpPr>
        <p:spPr>
          <a:xfrm>
            <a:off x="9131300" y="4076700"/>
            <a:ext cx="83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d=100,</a:t>
            </a:r>
            <a:endParaRPr lang="en-US" sz="1450" dirty="0"/>
          </a:p>
        </p:txBody>
      </p:sp>
      <p:pic>
        <p:nvPicPr>
          <p:cNvPr id="87" name="Image 19" descr="/home/ahmed/Projects/ai_llm_slides/videos/deep-learning/001_transformers_part1/recreated_pptx/build/assets/slide036/eq_sqrtd_m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82200" y="4081783"/>
            <a:ext cx="260604" cy="213357"/>
          </a:xfrm>
          <a:prstGeom prst="rect">
            <a:avLst/>
          </a:prstGeom>
        </p:spPr>
      </p:pic>
      <p:sp>
        <p:nvSpPr>
          <p:cNvPr id="88" name="Text 66"/>
          <p:cNvSpPr/>
          <p:nvPr/>
        </p:nvSpPr>
        <p:spPr>
          <a:xfrm>
            <a:off x="10261600" y="4076700"/>
            <a:ext cx="45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=10</a:t>
            </a:r>
            <a:endParaRPr lang="en-US" sz="1450" dirty="0"/>
          </a:p>
        </p:txBody>
      </p:sp>
      <p:sp>
        <p:nvSpPr>
          <p:cNvPr id="89" name="Shape 67"/>
          <p:cNvSpPr/>
          <p:nvPr/>
        </p:nvSpPr>
        <p:spPr>
          <a:xfrm>
            <a:off x="558800" y="4902200"/>
            <a:ext cx="2286000" cy="154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90" name="Text 68"/>
          <p:cNvSpPr/>
          <p:nvPr/>
        </p:nvSpPr>
        <p:spPr>
          <a:xfrm>
            <a:off x="622300" y="5041900"/>
            <a:ext cx="116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endParaRPr lang="en-US" sz="1400" dirty="0"/>
          </a:p>
        </p:txBody>
      </p:sp>
      <p:sp>
        <p:nvSpPr>
          <p:cNvPr id="91" name="Text 69"/>
          <p:cNvSpPr/>
          <p:nvPr/>
        </p:nvSpPr>
        <p:spPr>
          <a:xfrm>
            <a:off x="1320800" y="5245100"/>
            <a:ext cx="78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"d" is</a:t>
            </a:r>
            <a:endParaRPr lang="en-US" sz="1400" dirty="0"/>
          </a:p>
        </p:txBody>
      </p:sp>
      <p:sp>
        <p:nvSpPr>
          <p:cNvPr id="92" name="Text 70"/>
          <p:cNvSpPr/>
          <p:nvPr/>
        </p:nvSpPr>
        <p:spPr>
          <a:xfrm>
            <a:off x="558800" y="5461000"/>
            <a:ext cx="2324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of Embedding</a:t>
            </a:r>
            <a:endParaRPr lang="en-US" sz="1400" dirty="0"/>
          </a:p>
        </p:txBody>
      </p:sp>
      <p:sp>
        <p:nvSpPr>
          <p:cNvPr id="93" name="Text 71"/>
          <p:cNvSpPr/>
          <p:nvPr/>
        </p:nvSpPr>
        <p:spPr>
          <a:xfrm>
            <a:off x="1320800" y="5880100"/>
            <a:ext cx="78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endParaRPr lang="en-US" sz="1400" dirty="0"/>
          </a:p>
        </p:txBody>
      </p:sp>
      <p:sp>
        <p:nvSpPr>
          <p:cNvPr id="94" name="Text 72"/>
          <p:cNvSpPr/>
          <p:nvPr/>
        </p:nvSpPr>
        <p:spPr>
          <a:xfrm>
            <a:off x="558800" y="608330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of input Sequence</a:t>
            </a:r>
            <a:endParaRPr lang="en-US" sz="1400" dirty="0"/>
          </a:p>
        </p:txBody>
      </p:sp>
      <p:sp>
        <p:nvSpPr>
          <p:cNvPr id="95" name="Shape 73"/>
          <p:cNvSpPr/>
          <p:nvPr/>
        </p:nvSpPr>
        <p:spPr>
          <a:xfrm>
            <a:off x="3632200" y="4813300"/>
            <a:ext cx="2755900" cy="1841500"/>
          </a:xfrm>
          <a:prstGeom prst="rect">
            <a:avLst/>
          </a:prstGeom>
          <a:ln w="22225">
            <a:solidFill>
              <a:srgbClr val="1A1A1A"/>
            </a:solidFill>
            <a:prstDash val="solid"/>
          </a:ln>
        </p:spPr>
      </p:sp>
      <p:pic>
        <p:nvPicPr>
          <p:cNvPr id="96" name="Image 20" descr="/home/ahmed/Projects/ai_llm_slides/videos/deep-learning/001_transformers_part1/recreated_pptx/build/assets/slide036/d_fc1L_l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22700" y="5181600"/>
            <a:ext cx="137160" cy="1395987"/>
          </a:xfrm>
          <a:prstGeom prst="rect">
            <a:avLst/>
          </a:prstGeom>
        </p:spPr>
      </p:pic>
      <p:pic>
        <p:nvPicPr>
          <p:cNvPr id="97" name="Image 21" descr="/home/ahmed/Projects/ai_llm_slides/videos/deep-learning/001_transformers_part1/recreated_pptx/build/assets/slide036/d_fc1L_r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54500" y="5181600"/>
            <a:ext cx="137160" cy="1395987"/>
          </a:xfrm>
          <a:prstGeom prst="rect">
            <a:avLst/>
          </a:prstGeom>
        </p:spPr>
      </p:pic>
      <p:sp>
        <p:nvSpPr>
          <p:cNvPr id="98" name="Shape 74"/>
          <p:cNvSpPr/>
          <p:nvPr/>
        </p:nvSpPr>
        <p:spPr>
          <a:xfrm>
            <a:off x="3886200" y="5022850"/>
            <a:ext cx="381000" cy="266700"/>
          </a:xfrm>
          <a:prstGeom prst="rect">
            <a:avLst/>
          </a:prstGeom>
          <a:solidFill>
            <a:srgbClr val="FFFCC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99" name="Text 75"/>
          <p:cNvSpPr/>
          <p:nvPr/>
        </p:nvSpPr>
        <p:spPr>
          <a:xfrm>
            <a:off x="3886200" y="5010150"/>
            <a:ext cx="381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100" name="Shape 76"/>
          <p:cNvSpPr/>
          <p:nvPr/>
        </p:nvSpPr>
        <p:spPr>
          <a:xfrm>
            <a:off x="3886200" y="5411470"/>
            <a:ext cx="381000" cy="266700"/>
          </a:xfrm>
          <a:prstGeom prst="rect">
            <a:avLst/>
          </a:prstGeom>
          <a:solidFill>
            <a:srgbClr val="FFFCC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1" name="Text 77"/>
          <p:cNvSpPr/>
          <p:nvPr/>
        </p:nvSpPr>
        <p:spPr>
          <a:xfrm>
            <a:off x="3886200" y="5398770"/>
            <a:ext cx="381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102" name="Shape 78"/>
          <p:cNvSpPr/>
          <p:nvPr/>
        </p:nvSpPr>
        <p:spPr>
          <a:xfrm>
            <a:off x="3886200" y="5800090"/>
            <a:ext cx="381000" cy="266700"/>
          </a:xfrm>
          <a:prstGeom prst="rect">
            <a:avLst/>
          </a:prstGeom>
          <a:solidFill>
            <a:srgbClr val="FFFCC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3" name="Text 79"/>
          <p:cNvSpPr/>
          <p:nvPr/>
        </p:nvSpPr>
        <p:spPr>
          <a:xfrm>
            <a:off x="3886200" y="5787390"/>
            <a:ext cx="381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100" dirty="0"/>
          </a:p>
        </p:txBody>
      </p:sp>
      <p:sp>
        <p:nvSpPr>
          <p:cNvPr id="104" name="Shape 80"/>
          <p:cNvSpPr/>
          <p:nvPr/>
        </p:nvSpPr>
        <p:spPr>
          <a:xfrm>
            <a:off x="3886200" y="6188710"/>
            <a:ext cx="381000" cy="266700"/>
          </a:xfrm>
          <a:prstGeom prst="rect">
            <a:avLst/>
          </a:prstGeom>
          <a:solidFill>
            <a:srgbClr val="FFFCC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5" name="Text 81"/>
          <p:cNvSpPr/>
          <p:nvPr/>
        </p:nvSpPr>
        <p:spPr>
          <a:xfrm>
            <a:off x="3886200" y="6176010"/>
            <a:ext cx="381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100" dirty="0"/>
          </a:p>
        </p:txBody>
      </p:sp>
      <p:sp>
        <p:nvSpPr>
          <p:cNvPr id="106" name="Text 82"/>
          <p:cNvSpPr/>
          <p:nvPr/>
        </p:nvSpPr>
        <p:spPr>
          <a:xfrm>
            <a:off x="4406900" y="5422900"/>
            <a:ext cx="82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300" dirty="0"/>
          </a:p>
        </p:txBody>
      </p:sp>
      <p:sp>
        <p:nvSpPr>
          <p:cNvPr id="107" name="Shape 83"/>
          <p:cNvSpPr/>
          <p:nvPr/>
        </p:nvSpPr>
        <p:spPr>
          <a:xfrm>
            <a:off x="4445000" y="5803900"/>
            <a:ext cx="876300" cy="0"/>
          </a:xfrm>
          <a:prstGeom prst="line">
            <a:avLst/>
          </a:prstGeom>
          <a:noFill/>
          <a:ln w="44450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108" name="Image 22" descr="/home/ahmed/Projects/ai_llm_slides/videos/deep-learning/001_transformers_part1/recreated_pptx/build/assets/slide036/d_fc1R_l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59400" y="4864100"/>
            <a:ext cx="137160" cy="1714500"/>
          </a:xfrm>
          <a:prstGeom prst="rect">
            <a:avLst/>
          </a:prstGeom>
        </p:spPr>
      </p:pic>
      <p:pic>
        <p:nvPicPr>
          <p:cNvPr id="109" name="Image 23" descr="/home/ahmed/Projects/ai_llm_slides/videos/deep-learning/001_transformers_part1/recreated_pptx/build/assets/slide036/d_fc1R_r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70600" y="4864100"/>
            <a:ext cx="137160" cy="1714500"/>
          </a:xfrm>
          <a:prstGeom prst="rect">
            <a:avLst/>
          </a:prstGeom>
        </p:spPr>
      </p:pic>
      <p:sp>
        <p:nvSpPr>
          <p:cNvPr id="110" name="Shape 84"/>
          <p:cNvSpPr/>
          <p:nvPr/>
        </p:nvSpPr>
        <p:spPr>
          <a:xfrm>
            <a:off x="5422900" y="5022850"/>
            <a:ext cx="647700" cy="266700"/>
          </a:xfrm>
          <a:prstGeom prst="rect">
            <a:avLst/>
          </a:prstGeom>
          <a:solidFill>
            <a:srgbClr val="FFFDCE"/>
          </a:solidFill>
          <a:ln w="12700">
            <a:solidFill>
              <a:srgbClr val="333399"/>
            </a:solidFill>
            <a:prstDash val="solid"/>
          </a:ln>
        </p:spPr>
      </p:sp>
      <p:sp>
        <p:nvSpPr>
          <p:cNvPr id="111" name="Text 85"/>
          <p:cNvSpPr/>
          <p:nvPr/>
        </p:nvSpPr>
        <p:spPr>
          <a:xfrm>
            <a:off x="5422900" y="5010150"/>
            <a:ext cx="647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112" name="Shape 86"/>
          <p:cNvSpPr/>
          <p:nvPr/>
        </p:nvSpPr>
        <p:spPr>
          <a:xfrm>
            <a:off x="5422900" y="5411470"/>
            <a:ext cx="647700" cy="266700"/>
          </a:xfrm>
          <a:prstGeom prst="rect">
            <a:avLst/>
          </a:prstGeom>
          <a:solidFill>
            <a:srgbClr val="FFFDCE"/>
          </a:solidFill>
          <a:ln w="12700">
            <a:solidFill>
              <a:srgbClr val="333399"/>
            </a:solidFill>
            <a:prstDash val="solid"/>
          </a:ln>
        </p:spPr>
      </p:sp>
      <p:sp>
        <p:nvSpPr>
          <p:cNvPr id="113" name="Text 87"/>
          <p:cNvSpPr/>
          <p:nvPr/>
        </p:nvSpPr>
        <p:spPr>
          <a:xfrm>
            <a:off x="5422900" y="5398770"/>
            <a:ext cx="647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114" name="Shape 88"/>
          <p:cNvSpPr/>
          <p:nvPr/>
        </p:nvSpPr>
        <p:spPr>
          <a:xfrm>
            <a:off x="5422900" y="5800090"/>
            <a:ext cx="647700" cy="266700"/>
          </a:xfrm>
          <a:prstGeom prst="rect">
            <a:avLst/>
          </a:prstGeom>
          <a:solidFill>
            <a:srgbClr val="FFFDCE"/>
          </a:solidFill>
          <a:ln w="12700">
            <a:solidFill>
              <a:srgbClr val="333399"/>
            </a:solidFill>
            <a:prstDash val="solid"/>
          </a:ln>
        </p:spPr>
      </p:sp>
      <p:sp>
        <p:nvSpPr>
          <p:cNvPr id="115" name="Text 89"/>
          <p:cNvSpPr/>
          <p:nvPr/>
        </p:nvSpPr>
        <p:spPr>
          <a:xfrm>
            <a:off x="5422900" y="5787390"/>
            <a:ext cx="647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</a:t>
            </a:r>
            <a:endParaRPr lang="en-US" sz="1100" dirty="0"/>
          </a:p>
        </p:txBody>
      </p:sp>
      <p:sp>
        <p:nvSpPr>
          <p:cNvPr id="116" name="Shape 90"/>
          <p:cNvSpPr/>
          <p:nvPr/>
        </p:nvSpPr>
        <p:spPr>
          <a:xfrm>
            <a:off x="5422900" y="6188710"/>
            <a:ext cx="647700" cy="266700"/>
          </a:xfrm>
          <a:prstGeom prst="rect">
            <a:avLst/>
          </a:prstGeom>
          <a:solidFill>
            <a:srgbClr val="FFFDCE"/>
          </a:solidFill>
          <a:ln w="12700">
            <a:solidFill>
              <a:srgbClr val="333399"/>
            </a:solidFill>
            <a:prstDash val="solid"/>
          </a:ln>
        </p:spPr>
      </p:sp>
      <p:sp>
        <p:nvSpPr>
          <p:cNvPr id="117" name="Text 91"/>
          <p:cNvSpPr/>
          <p:nvPr/>
        </p:nvSpPr>
        <p:spPr>
          <a:xfrm>
            <a:off x="5422900" y="6176010"/>
            <a:ext cx="647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1.0000</a:t>
            </a:r>
            <a:endParaRPr lang="en-US" sz="1100" dirty="0"/>
          </a:p>
        </p:txBody>
      </p:sp>
      <p:sp>
        <p:nvSpPr>
          <p:cNvPr id="118" name="Shape 92"/>
          <p:cNvSpPr/>
          <p:nvPr/>
        </p:nvSpPr>
        <p:spPr>
          <a:xfrm>
            <a:off x="6502400" y="4800600"/>
            <a:ext cx="4927600" cy="1854200"/>
          </a:xfrm>
          <a:prstGeom prst="rect">
            <a:avLst/>
          </a:prstGeom>
          <a:solidFill>
            <a:srgbClr val="F9E3FA"/>
          </a:solidFill>
          <a:ln w="22225">
            <a:solidFill>
              <a:srgbClr val="800080"/>
            </a:solidFill>
            <a:prstDash val="solid"/>
          </a:ln>
        </p:spPr>
      </p:sp>
      <p:pic>
        <p:nvPicPr>
          <p:cNvPr id="119" name="Image 24" descr="/home/ahmed/Projects/ai_llm_slides/videos/deep-learning/001_transformers_part1/recreated_pptx/build/assets/slide036/d_fc2a_l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04000" y="4851400"/>
            <a:ext cx="60963" cy="1738887"/>
          </a:xfrm>
          <a:prstGeom prst="rect">
            <a:avLst/>
          </a:prstGeom>
        </p:spPr>
      </p:pic>
      <p:pic>
        <p:nvPicPr>
          <p:cNvPr id="120" name="Image 25" descr="/home/ahmed/Projects/ai_llm_slides/videos/deep-learning/001_transformers_part1/recreated_pptx/build/assets/slide036/d_fc2a_r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86600" y="4851400"/>
            <a:ext cx="60963" cy="1738887"/>
          </a:xfrm>
          <a:prstGeom prst="rect">
            <a:avLst/>
          </a:prstGeom>
        </p:spPr>
      </p:pic>
      <p:sp>
        <p:nvSpPr>
          <p:cNvPr id="121" name="Shape 93"/>
          <p:cNvSpPr/>
          <p:nvPr/>
        </p:nvSpPr>
        <p:spPr>
          <a:xfrm>
            <a:off x="6680200" y="5022850"/>
            <a:ext cx="330200" cy="266700"/>
          </a:xfrm>
          <a:prstGeom prst="rect">
            <a:avLst/>
          </a:prstGeom>
          <a:solidFill>
            <a:srgbClr val="FFFCC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2" name="Text 94"/>
          <p:cNvSpPr/>
          <p:nvPr/>
        </p:nvSpPr>
        <p:spPr>
          <a:xfrm>
            <a:off x="6680200" y="5010150"/>
            <a:ext cx="330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123" name="Shape 95"/>
          <p:cNvSpPr/>
          <p:nvPr/>
        </p:nvSpPr>
        <p:spPr>
          <a:xfrm>
            <a:off x="6680200" y="5411470"/>
            <a:ext cx="330200" cy="266700"/>
          </a:xfrm>
          <a:prstGeom prst="rect">
            <a:avLst/>
          </a:prstGeom>
          <a:solidFill>
            <a:srgbClr val="FFFCC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4" name="Text 96"/>
          <p:cNvSpPr/>
          <p:nvPr/>
        </p:nvSpPr>
        <p:spPr>
          <a:xfrm>
            <a:off x="6680200" y="5398770"/>
            <a:ext cx="330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125" name="Shape 97"/>
          <p:cNvSpPr/>
          <p:nvPr/>
        </p:nvSpPr>
        <p:spPr>
          <a:xfrm>
            <a:off x="6680200" y="5800090"/>
            <a:ext cx="330200" cy="266700"/>
          </a:xfrm>
          <a:prstGeom prst="rect">
            <a:avLst/>
          </a:prstGeom>
          <a:solidFill>
            <a:srgbClr val="FFFCC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6" name="Text 98"/>
          <p:cNvSpPr/>
          <p:nvPr/>
        </p:nvSpPr>
        <p:spPr>
          <a:xfrm>
            <a:off x="6680200" y="5787390"/>
            <a:ext cx="330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100" dirty="0"/>
          </a:p>
        </p:txBody>
      </p:sp>
      <p:sp>
        <p:nvSpPr>
          <p:cNvPr id="127" name="Shape 99"/>
          <p:cNvSpPr/>
          <p:nvPr/>
        </p:nvSpPr>
        <p:spPr>
          <a:xfrm>
            <a:off x="6680200" y="6188710"/>
            <a:ext cx="330200" cy="266700"/>
          </a:xfrm>
          <a:prstGeom prst="rect">
            <a:avLst/>
          </a:prstGeom>
          <a:solidFill>
            <a:srgbClr val="FFFCC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8" name="Text 100"/>
          <p:cNvSpPr/>
          <p:nvPr/>
        </p:nvSpPr>
        <p:spPr>
          <a:xfrm>
            <a:off x="6680200" y="6176010"/>
            <a:ext cx="330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100" dirty="0"/>
          </a:p>
        </p:txBody>
      </p:sp>
      <p:sp>
        <p:nvSpPr>
          <p:cNvPr id="129" name="Text 101"/>
          <p:cNvSpPr/>
          <p:nvPr/>
        </p:nvSpPr>
        <p:spPr>
          <a:xfrm>
            <a:off x="7137400" y="5448300"/>
            <a:ext cx="228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2200" dirty="0"/>
          </a:p>
        </p:txBody>
      </p:sp>
      <p:pic>
        <p:nvPicPr>
          <p:cNvPr id="130" name="Image 26" descr="/home/ahmed/Projects/ai_llm_slides/videos/deep-learning/001_transformers_part1/recreated_pptx/build/assets/slide036/d_fc2b_l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42200" y="4851400"/>
            <a:ext cx="60963" cy="1738887"/>
          </a:xfrm>
          <a:prstGeom prst="rect">
            <a:avLst/>
          </a:prstGeom>
        </p:spPr>
      </p:pic>
      <p:pic>
        <p:nvPicPr>
          <p:cNvPr id="131" name="Image 27" descr="/home/ahmed/Projects/ai_llm_slides/videos/deep-learning/001_transformers_part1/recreated_pptx/build/assets/slide036/d_fc2b_r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924800" y="4851400"/>
            <a:ext cx="60963" cy="1738887"/>
          </a:xfrm>
          <a:prstGeom prst="rect">
            <a:avLst/>
          </a:prstGeom>
        </p:spPr>
      </p:pic>
      <p:pic>
        <p:nvPicPr>
          <p:cNvPr id="132" name="Image 28" descr="/home/ahmed/Projects/ai_llm_slides/videos/deep-learning/001_transformers_part1/recreated_pptx/build/assets/slide036/eq_sqrtd_fc2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531100" y="5448807"/>
            <a:ext cx="315468" cy="256032"/>
          </a:xfrm>
          <a:prstGeom prst="rect">
            <a:avLst/>
          </a:prstGeom>
        </p:spPr>
      </p:pic>
      <p:sp>
        <p:nvSpPr>
          <p:cNvPr id="133" name="Text 102"/>
          <p:cNvSpPr/>
          <p:nvPr/>
        </p:nvSpPr>
        <p:spPr>
          <a:xfrm>
            <a:off x="8026400" y="5461000"/>
            <a:ext cx="71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</a:t>
            </a:r>
            <a:endParaRPr lang="en-US" sz="1500" dirty="0"/>
          </a:p>
        </p:txBody>
      </p:sp>
      <p:sp>
        <p:nvSpPr>
          <p:cNvPr id="134" name="Shape 103"/>
          <p:cNvSpPr/>
          <p:nvPr/>
        </p:nvSpPr>
        <p:spPr>
          <a:xfrm>
            <a:off x="8128000" y="5816600"/>
            <a:ext cx="825500" cy="0"/>
          </a:xfrm>
          <a:prstGeom prst="line">
            <a:avLst/>
          </a:prstGeom>
          <a:noFill/>
          <a:ln w="44450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135" name="Image 29" descr="/home/ahmed/Projects/ai_llm_slides/videos/deep-learning/001_transformers_part1/recreated_pptx/build/assets/slide036/d_fc2c_l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042400" y="4953000"/>
            <a:ext cx="60963" cy="1586484"/>
          </a:xfrm>
          <a:prstGeom prst="rect">
            <a:avLst/>
          </a:prstGeom>
        </p:spPr>
      </p:pic>
      <p:pic>
        <p:nvPicPr>
          <p:cNvPr id="136" name="Image 30" descr="/home/ahmed/Projects/ai_llm_slides/videos/deep-learning/001_transformers_part1/recreated_pptx/build/assets/slide036/d_fc2c_r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525000" y="4953000"/>
            <a:ext cx="60963" cy="1586484"/>
          </a:xfrm>
          <a:prstGeom prst="rect">
            <a:avLst/>
          </a:prstGeom>
        </p:spPr>
      </p:pic>
      <p:sp>
        <p:nvSpPr>
          <p:cNvPr id="137" name="Shape 104"/>
          <p:cNvSpPr/>
          <p:nvPr/>
        </p:nvSpPr>
        <p:spPr>
          <a:xfrm>
            <a:off x="9105900" y="5022850"/>
            <a:ext cx="317500" cy="266700"/>
          </a:xfrm>
          <a:prstGeom prst="rect">
            <a:avLst/>
          </a:prstGeom>
          <a:solidFill>
            <a:srgbClr val="FFFCC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8" name="Text 105"/>
          <p:cNvSpPr/>
          <p:nvPr/>
        </p:nvSpPr>
        <p:spPr>
          <a:xfrm>
            <a:off x="9105900" y="5010150"/>
            <a:ext cx="317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9" name="Shape 106"/>
          <p:cNvSpPr/>
          <p:nvPr/>
        </p:nvSpPr>
        <p:spPr>
          <a:xfrm>
            <a:off x="9105900" y="5411470"/>
            <a:ext cx="317500" cy="266700"/>
          </a:xfrm>
          <a:prstGeom prst="rect">
            <a:avLst/>
          </a:prstGeom>
          <a:solidFill>
            <a:srgbClr val="FFFCC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0" name="Text 107"/>
          <p:cNvSpPr/>
          <p:nvPr/>
        </p:nvSpPr>
        <p:spPr>
          <a:xfrm>
            <a:off x="9105900" y="5398770"/>
            <a:ext cx="317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1" name="Shape 108"/>
          <p:cNvSpPr/>
          <p:nvPr/>
        </p:nvSpPr>
        <p:spPr>
          <a:xfrm>
            <a:off x="9105900" y="5800090"/>
            <a:ext cx="317500" cy="266700"/>
          </a:xfrm>
          <a:prstGeom prst="rect">
            <a:avLst/>
          </a:prstGeom>
          <a:solidFill>
            <a:srgbClr val="FFFCC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2" name="Text 109"/>
          <p:cNvSpPr/>
          <p:nvPr/>
        </p:nvSpPr>
        <p:spPr>
          <a:xfrm>
            <a:off x="9105900" y="5787390"/>
            <a:ext cx="317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3" name="Shape 110"/>
          <p:cNvSpPr/>
          <p:nvPr/>
        </p:nvSpPr>
        <p:spPr>
          <a:xfrm>
            <a:off x="9105900" y="6188710"/>
            <a:ext cx="317500" cy="266700"/>
          </a:xfrm>
          <a:prstGeom prst="rect">
            <a:avLst/>
          </a:prstGeom>
          <a:solidFill>
            <a:srgbClr val="FFFCC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44" name="Text 111"/>
          <p:cNvSpPr/>
          <p:nvPr/>
        </p:nvSpPr>
        <p:spPr>
          <a:xfrm>
            <a:off x="9105900" y="6176010"/>
            <a:ext cx="317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45" name="Text 112"/>
          <p:cNvSpPr/>
          <p:nvPr/>
        </p:nvSpPr>
        <p:spPr>
          <a:xfrm>
            <a:off x="9575800" y="54864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500" dirty="0"/>
          </a:p>
        </p:txBody>
      </p:sp>
      <p:sp>
        <p:nvSpPr>
          <p:cNvPr id="146" name="Shape 113"/>
          <p:cNvSpPr/>
          <p:nvPr/>
        </p:nvSpPr>
        <p:spPr>
          <a:xfrm>
            <a:off x="9702800" y="5816600"/>
            <a:ext cx="787400" cy="0"/>
          </a:xfrm>
          <a:prstGeom prst="line">
            <a:avLst/>
          </a:prstGeom>
          <a:noFill/>
          <a:ln w="44450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147" name="Image 31" descr="/home/ahmed/Projects/ai_llm_slides/videos/deep-learning/001_transformers_part1/recreated_pptx/build/assets/slide036/d_fc2d_l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566400" y="4864100"/>
            <a:ext cx="60963" cy="1700784"/>
          </a:xfrm>
          <a:prstGeom prst="rect">
            <a:avLst/>
          </a:prstGeom>
        </p:spPr>
      </p:pic>
      <p:pic>
        <p:nvPicPr>
          <p:cNvPr id="148" name="Image 32" descr="/home/ahmed/Projects/ai_llm_slides/videos/deep-learning/001_transformers_part1/recreated_pptx/build/assets/slide036/d_fc2d_r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315700" y="4864100"/>
            <a:ext cx="60963" cy="1700784"/>
          </a:xfrm>
          <a:prstGeom prst="rect">
            <a:avLst/>
          </a:prstGeom>
        </p:spPr>
      </p:pic>
      <p:sp>
        <p:nvSpPr>
          <p:cNvPr id="149" name="Shape 114"/>
          <p:cNvSpPr/>
          <p:nvPr/>
        </p:nvSpPr>
        <p:spPr>
          <a:xfrm>
            <a:off x="10629900" y="5022850"/>
            <a:ext cx="647700" cy="266700"/>
          </a:xfrm>
          <a:prstGeom prst="rect">
            <a:avLst/>
          </a:prstGeom>
          <a:solidFill>
            <a:srgbClr val="FFFDCE"/>
          </a:solidFill>
          <a:ln w="12700">
            <a:solidFill>
              <a:srgbClr val="333399"/>
            </a:solidFill>
            <a:prstDash val="solid"/>
          </a:ln>
        </p:spPr>
      </p:sp>
      <p:sp>
        <p:nvSpPr>
          <p:cNvPr id="150" name="Text 115"/>
          <p:cNvSpPr/>
          <p:nvPr/>
        </p:nvSpPr>
        <p:spPr>
          <a:xfrm>
            <a:off x="10629900" y="5010150"/>
            <a:ext cx="647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0.0321</a:t>
            </a:r>
            <a:endParaRPr lang="en-US" sz="1100" dirty="0"/>
          </a:p>
        </p:txBody>
      </p:sp>
      <p:sp>
        <p:nvSpPr>
          <p:cNvPr id="151" name="Shape 116"/>
          <p:cNvSpPr/>
          <p:nvPr/>
        </p:nvSpPr>
        <p:spPr>
          <a:xfrm>
            <a:off x="10629900" y="5411470"/>
            <a:ext cx="647700" cy="266700"/>
          </a:xfrm>
          <a:prstGeom prst="rect">
            <a:avLst/>
          </a:prstGeom>
          <a:solidFill>
            <a:srgbClr val="FFFDCE"/>
          </a:solidFill>
          <a:ln w="12700">
            <a:solidFill>
              <a:srgbClr val="333399"/>
            </a:solidFill>
            <a:prstDash val="solid"/>
          </a:ln>
        </p:spPr>
      </p:sp>
      <p:sp>
        <p:nvSpPr>
          <p:cNvPr id="152" name="Text 117"/>
          <p:cNvSpPr/>
          <p:nvPr/>
        </p:nvSpPr>
        <p:spPr>
          <a:xfrm>
            <a:off x="10629900" y="5398770"/>
            <a:ext cx="647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0.0871</a:t>
            </a:r>
            <a:endParaRPr lang="en-US" sz="1100" dirty="0"/>
          </a:p>
        </p:txBody>
      </p:sp>
      <p:sp>
        <p:nvSpPr>
          <p:cNvPr id="153" name="Shape 118"/>
          <p:cNvSpPr/>
          <p:nvPr/>
        </p:nvSpPr>
        <p:spPr>
          <a:xfrm>
            <a:off x="10629900" y="5800090"/>
            <a:ext cx="647700" cy="266700"/>
          </a:xfrm>
          <a:prstGeom prst="rect">
            <a:avLst/>
          </a:prstGeom>
          <a:solidFill>
            <a:srgbClr val="FFFDCE"/>
          </a:solidFill>
          <a:ln w="12700">
            <a:solidFill>
              <a:srgbClr val="333399"/>
            </a:solidFill>
            <a:prstDash val="solid"/>
          </a:ln>
        </p:spPr>
      </p:sp>
      <p:sp>
        <p:nvSpPr>
          <p:cNvPr id="154" name="Text 119"/>
          <p:cNvSpPr/>
          <p:nvPr/>
        </p:nvSpPr>
        <p:spPr>
          <a:xfrm>
            <a:off x="10629900" y="5787390"/>
            <a:ext cx="647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0.2369</a:t>
            </a:r>
            <a:endParaRPr lang="en-US" sz="1100" dirty="0"/>
          </a:p>
        </p:txBody>
      </p:sp>
      <p:sp>
        <p:nvSpPr>
          <p:cNvPr id="155" name="Shape 120"/>
          <p:cNvSpPr/>
          <p:nvPr/>
        </p:nvSpPr>
        <p:spPr>
          <a:xfrm>
            <a:off x="10629900" y="6188710"/>
            <a:ext cx="647700" cy="266700"/>
          </a:xfrm>
          <a:prstGeom prst="rect">
            <a:avLst/>
          </a:prstGeom>
          <a:solidFill>
            <a:srgbClr val="FFFDCE"/>
          </a:solidFill>
          <a:ln w="12700">
            <a:solidFill>
              <a:srgbClr val="333399"/>
            </a:solidFill>
            <a:prstDash val="solid"/>
          </a:ln>
        </p:spPr>
      </p:sp>
      <p:sp>
        <p:nvSpPr>
          <p:cNvPr id="156" name="Text 121"/>
          <p:cNvSpPr/>
          <p:nvPr/>
        </p:nvSpPr>
        <p:spPr>
          <a:xfrm>
            <a:off x="10629900" y="6176010"/>
            <a:ext cx="647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0.6439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2026-10-11T13:15:34Z</dcterms:created>
  <dcterms:modified xsi:type="dcterms:W3CDTF">2026-10-11T13:15:34Z</dcterms:modified>
</cp:coreProperties>
</file>