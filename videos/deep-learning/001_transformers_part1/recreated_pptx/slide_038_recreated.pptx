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3100" y="1358900"/>
            <a:ext cx="10325100" cy="5270500"/>
          </a:xfrm>
          <a:prstGeom prst="roundRect">
            <a:avLst>
              <a:gd name="adj" fmla="val 1388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736600" y="2870200"/>
            <a:ext cx="1066800" cy="2133600"/>
          </a:xfrm>
          <a:prstGeom prst="roundRect">
            <a:avLst>
              <a:gd name="adj" fmla="val 5143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6600" y="30099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600" y="30099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9480" y="30099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2360" y="30099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5240" y="30099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8120" y="30099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0356" y="30226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63700" y="31242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930400" y="29591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0400" y="29591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78100" y="29337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100" y="29337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175" y="29337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2250" y="29337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4325" y="29337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7200" y="2921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600" y="35306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00" y="35306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9480" y="35306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2360" y="35306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5240" y="35306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68120" y="35306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0356" y="3543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63700" y="36449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930400" y="34798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30400" y="34798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78100" y="34544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78100" y="34544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175" y="34544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62250" y="34544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4325" y="34544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7200" y="344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600" y="40513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600" y="40513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9480" y="40513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02360" y="40513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85240" y="40513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8120" y="40513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0356" y="4064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63700" y="41656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930400" y="40005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30400" y="40005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78100" y="39751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78100" y="39751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70175" y="39751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62250" y="39751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54325" y="39751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97200" y="3962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6600" y="45974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6600" y="45974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9480" y="45974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2360" y="45974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85240" y="45974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68120" y="45974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0356" y="46101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663700" y="4711700"/>
            <a:ext cx="24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930400" y="4546600"/>
            <a:ext cx="533400" cy="330200"/>
          </a:xfrm>
          <a:prstGeom prst="rect">
            <a:avLst/>
          </a:prstGeom>
          <a:solidFill>
            <a:srgbClr val="DCFEE6"/>
          </a:solidFill>
          <a:ln w="15875">
            <a:solidFill>
              <a:srgbClr val="5FAF7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30400" y="4546600"/>
            <a:ext cx="533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578100" y="4521200"/>
            <a:ext cx="3683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78100" y="45212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70175" y="4521200"/>
            <a:ext cx="92075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62250" y="45212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54325" y="4521200"/>
            <a:ext cx="92075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97200" y="4508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244600" y="5003800"/>
            <a:ext cx="0" cy="152400"/>
          </a:xfrm>
          <a:prstGeom prst="line">
            <a:avLst/>
          </a:prstGeom>
          <a:noFill/>
          <a:ln w="12700">
            <a:solidFill>
              <a:srgbClr val="00B050"/>
            </a:solidFill>
            <a:prstDash val="dash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588500" y="2870200"/>
            <a:ext cx="1143000" cy="2133600"/>
          </a:xfrm>
          <a:prstGeom prst="roundRect">
            <a:avLst>
              <a:gd name="adj" fmla="val 4800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9728200" y="30099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28200" y="30099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11080" y="30099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93960" y="30099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76840" y="30099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59720" y="30099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061956" y="30226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 flipH="1">
            <a:off x="9486900" y="31242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890000" y="29591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90000" y="29591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483600" y="29337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83600" y="29337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78850" y="29337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74100" y="29337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69350" y="29337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15300" y="29210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728200" y="35306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28200" y="35306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911080" y="35306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093960" y="35306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276840" y="35306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459720" y="35306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061956" y="3543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 flipH="1">
            <a:off x="9486900" y="36449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8890000" y="34798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890000" y="34798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483600" y="34544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483600" y="34544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78850" y="34544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674100" y="34544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769350" y="34544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15300" y="34417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9728200" y="40513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728200" y="40513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911080" y="40513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93960" y="40513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276840" y="40513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459720" y="40513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061956" y="4064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 flipH="1">
            <a:off x="9486900" y="41656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8890000" y="40005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890000" y="40005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483600" y="39751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83600" y="39751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578850" y="39751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674100" y="39751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69350" y="39751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115300" y="39624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9728200" y="4597400"/>
            <a:ext cx="914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8200" y="4597400"/>
            <a:ext cx="182880" cy="2286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911080" y="4597400"/>
            <a:ext cx="182880" cy="2286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93960" y="4597400"/>
            <a:ext cx="182880" cy="2286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276840" y="4597400"/>
            <a:ext cx="182880" cy="2286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59720" y="4597400"/>
            <a:ext cx="182880" cy="2286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061956" y="46101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 flipH="1">
            <a:off x="9486900" y="4711700"/>
            <a:ext cx="2159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8890000" y="4546600"/>
            <a:ext cx="571500" cy="330200"/>
          </a:xfrm>
          <a:prstGeom prst="rect">
            <a:avLst/>
          </a:prstGeom>
          <a:solidFill>
            <a:srgbClr val="D4FBF7"/>
          </a:solidFill>
          <a:ln w="15875">
            <a:solidFill>
              <a:srgbClr val="26268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890000" y="4546600"/>
            <a:ext cx="57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483600" y="4521200"/>
            <a:ext cx="3810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483600" y="45212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578850" y="4521200"/>
            <a:ext cx="952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74100" y="4521200"/>
            <a:ext cx="952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769350" y="4521200"/>
            <a:ext cx="9525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115300" y="45085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10160000" y="5029200"/>
            <a:ext cx="0" cy="152400"/>
          </a:xfrm>
          <a:prstGeom prst="line">
            <a:avLst/>
          </a:prstGeom>
          <a:noFill/>
          <a:ln w="12700">
            <a:solidFill>
              <a:srgbClr val="00B050"/>
            </a:solidFill>
            <a:prstDash val="dash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3200400" y="2451100"/>
            <a:ext cx="1219200" cy="2654300"/>
          </a:xfrm>
          <a:prstGeom prst="rect">
            <a:avLst/>
          </a:prstGeom>
          <a:solidFill>
            <a:srgbClr val="D8CBBC"/>
          </a:solidFill>
          <a:ln w="9525">
            <a:solidFill>
              <a:srgbClr val="8B7B6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200400" y="2489200"/>
            <a:ext cx="1219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2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C3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50" dirty="0"/>
          </a:p>
        </p:txBody>
      </p:sp>
      <p:sp>
        <p:nvSpPr>
          <p:cNvPr id="140" name="Shape 138"/>
          <p:cNvSpPr/>
          <p:nvPr/>
        </p:nvSpPr>
        <p:spPr>
          <a:xfrm flipV="1">
            <a:off x="3810000" y="3200400"/>
            <a:ext cx="381000" cy="17780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 flipV="1">
            <a:off x="3810000" y="3721100"/>
            <a:ext cx="177800" cy="12573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 flipH="1" flipV="1">
            <a:off x="3733800" y="4241800"/>
            <a:ext cx="76200" cy="7366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 flipH="1" flipV="1">
            <a:off x="3505200" y="4800600"/>
            <a:ext cx="304800" cy="1778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4146550" y="30670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943350" y="35877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89350" y="41084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460750" y="4667250"/>
            <a:ext cx="114300" cy="114300"/>
          </a:xfrm>
          <a:prstGeom prst="ellipse">
            <a:avLst/>
          </a:prstGeom>
          <a:solidFill>
            <a:srgbClr val="3A3AA8"/>
          </a:solidFill>
          <a:ln w="19050">
            <a:solidFill>
              <a:srgbClr val="A9C0F5"/>
            </a:solidFill>
            <a:prstDash val="solid"/>
          </a:ln>
        </p:spPr>
      </p:sp>
      <p:pic>
        <p:nvPicPr>
          <p:cNvPr id="148" name="Image 0" descr="/home/ahmed/Projects/ai_llm_slides/videos/deep-learning/001_transformers_part1/recreated_pptx/build/assets/eq_Kq_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7022" y="2508252"/>
            <a:ext cx="333756" cy="190497"/>
          </a:xfrm>
          <a:prstGeom prst="rect">
            <a:avLst/>
          </a:prstGeom>
        </p:spPr>
      </p:pic>
      <p:sp>
        <p:nvSpPr>
          <p:cNvPr id="149" name="Shape 146"/>
          <p:cNvSpPr/>
          <p:nvPr/>
        </p:nvSpPr>
        <p:spPr>
          <a:xfrm>
            <a:off x="5829300" y="2463800"/>
            <a:ext cx="381000" cy="2641600"/>
          </a:xfrm>
          <a:prstGeom prst="rect">
            <a:avLst/>
          </a:prstGeom>
          <a:solidFill>
            <a:srgbClr val="F7DFF9"/>
          </a:solidFill>
          <a:ln w="9525">
            <a:solidFill>
              <a:srgbClr val="E0C7E8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 rot="5400000">
            <a:off x="5829300" y="2463800"/>
            <a:ext cx="3810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64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51" name="Shape 148"/>
          <p:cNvSpPr/>
          <p:nvPr/>
        </p:nvSpPr>
        <p:spPr>
          <a:xfrm>
            <a:off x="2463800" y="3124200"/>
            <a:ext cx="1625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2" name="Shape 149"/>
          <p:cNvSpPr/>
          <p:nvPr/>
        </p:nvSpPr>
        <p:spPr>
          <a:xfrm>
            <a:off x="4419600" y="31242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3" name="Shape 150"/>
          <p:cNvSpPr/>
          <p:nvPr/>
        </p:nvSpPr>
        <p:spPr>
          <a:xfrm>
            <a:off x="5346700" y="31242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4" name="Shape 151"/>
          <p:cNvSpPr/>
          <p:nvPr/>
        </p:nvSpPr>
        <p:spPr>
          <a:xfrm>
            <a:off x="6210300" y="3124200"/>
            <a:ext cx="3937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5" name="Shape 152"/>
          <p:cNvSpPr/>
          <p:nvPr/>
        </p:nvSpPr>
        <p:spPr>
          <a:xfrm>
            <a:off x="2463800" y="3644900"/>
            <a:ext cx="14224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6" name="Shape 153"/>
          <p:cNvSpPr/>
          <p:nvPr/>
        </p:nvSpPr>
        <p:spPr>
          <a:xfrm>
            <a:off x="4419600" y="36449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7" name="Shape 154"/>
          <p:cNvSpPr/>
          <p:nvPr/>
        </p:nvSpPr>
        <p:spPr>
          <a:xfrm>
            <a:off x="5346700" y="36449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8" name="Shape 155"/>
          <p:cNvSpPr/>
          <p:nvPr/>
        </p:nvSpPr>
        <p:spPr>
          <a:xfrm>
            <a:off x="6210300" y="3644900"/>
            <a:ext cx="749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9" name="Shape 156"/>
          <p:cNvSpPr/>
          <p:nvPr/>
        </p:nvSpPr>
        <p:spPr>
          <a:xfrm>
            <a:off x="2463800" y="4165600"/>
            <a:ext cx="11684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0" name="Shape 157"/>
          <p:cNvSpPr/>
          <p:nvPr/>
        </p:nvSpPr>
        <p:spPr>
          <a:xfrm>
            <a:off x="4419600" y="41656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1" name="Shape 158"/>
          <p:cNvSpPr/>
          <p:nvPr/>
        </p:nvSpPr>
        <p:spPr>
          <a:xfrm>
            <a:off x="5346700" y="41656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2" name="Shape 159"/>
          <p:cNvSpPr/>
          <p:nvPr/>
        </p:nvSpPr>
        <p:spPr>
          <a:xfrm>
            <a:off x="6210300" y="4165600"/>
            <a:ext cx="1130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3" name="Shape 160"/>
          <p:cNvSpPr/>
          <p:nvPr/>
        </p:nvSpPr>
        <p:spPr>
          <a:xfrm>
            <a:off x="2463800" y="4711700"/>
            <a:ext cx="939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4" name="Shape 161"/>
          <p:cNvSpPr/>
          <p:nvPr/>
        </p:nvSpPr>
        <p:spPr>
          <a:xfrm>
            <a:off x="4419600" y="4711700"/>
            <a:ext cx="1778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5" name="Shape 162"/>
          <p:cNvSpPr/>
          <p:nvPr/>
        </p:nvSpPr>
        <p:spPr>
          <a:xfrm>
            <a:off x="5346700" y="4711700"/>
            <a:ext cx="330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6" name="Shape 163"/>
          <p:cNvSpPr/>
          <p:nvPr/>
        </p:nvSpPr>
        <p:spPr>
          <a:xfrm>
            <a:off x="6210300" y="4711700"/>
            <a:ext cx="15113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7" name="Shape 164"/>
          <p:cNvSpPr/>
          <p:nvPr/>
        </p:nvSpPr>
        <p:spPr>
          <a:xfrm>
            <a:off x="6527800" y="2476500"/>
            <a:ext cx="1752600" cy="317500"/>
          </a:xfrm>
          <a:prstGeom prst="rect">
            <a:avLst/>
          </a:prstGeom>
          <a:solidFill>
            <a:srgbClr val="EBFDFC"/>
          </a:solidFill>
          <a:ln w="9525">
            <a:solidFill>
              <a:srgbClr val="C9BEB2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6527800" y="2476500"/>
            <a:ext cx="1752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600" dirty="0"/>
          </a:p>
        </p:txBody>
      </p:sp>
      <p:sp>
        <p:nvSpPr>
          <p:cNvPr id="169" name="Shape 166"/>
          <p:cNvSpPr/>
          <p:nvPr/>
        </p:nvSpPr>
        <p:spPr>
          <a:xfrm flipH="1">
            <a:off x="6921500" y="3124200"/>
            <a:ext cx="19812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0" name="Shape 167"/>
          <p:cNvSpPr/>
          <p:nvPr/>
        </p:nvSpPr>
        <p:spPr>
          <a:xfrm flipV="1">
            <a:off x="6769100" y="2908300"/>
            <a:ext cx="0" cy="1143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1" name="Shape 168"/>
          <p:cNvSpPr/>
          <p:nvPr/>
        </p:nvSpPr>
        <p:spPr>
          <a:xfrm>
            <a:off x="6667500" y="30226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711950" y="30670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 flipV="1">
            <a:off x="6711950" y="30670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 flipH="1">
            <a:off x="7277100" y="3644900"/>
            <a:ext cx="1625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5" name="Shape 172"/>
          <p:cNvSpPr/>
          <p:nvPr/>
        </p:nvSpPr>
        <p:spPr>
          <a:xfrm flipV="1">
            <a:off x="7124700" y="2908300"/>
            <a:ext cx="0" cy="635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6" name="Shape 173"/>
          <p:cNvSpPr/>
          <p:nvPr/>
        </p:nvSpPr>
        <p:spPr>
          <a:xfrm>
            <a:off x="7023100" y="35433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067550" y="35877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 flipV="1">
            <a:off x="7067550" y="35877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 flipH="1">
            <a:off x="7658100" y="4165600"/>
            <a:ext cx="1244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0" name="Shape 177"/>
          <p:cNvSpPr/>
          <p:nvPr/>
        </p:nvSpPr>
        <p:spPr>
          <a:xfrm flipV="1">
            <a:off x="7505700" y="2908300"/>
            <a:ext cx="0" cy="11557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1" name="Shape 178"/>
          <p:cNvSpPr/>
          <p:nvPr/>
        </p:nvSpPr>
        <p:spPr>
          <a:xfrm>
            <a:off x="7404100" y="40640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7448550" y="41084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 flipV="1">
            <a:off x="7448550" y="41084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 flipH="1">
            <a:off x="8039100" y="4711700"/>
            <a:ext cx="863600" cy="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5" name="Shape 182"/>
          <p:cNvSpPr/>
          <p:nvPr/>
        </p:nvSpPr>
        <p:spPr>
          <a:xfrm flipV="1">
            <a:off x="7886700" y="2908300"/>
            <a:ext cx="0" cy="16764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86" name="Shape 183"/>
          <p:cNvSpPr/>
          <p:nvPr/>
        </p:nvSpPr>
        <p:spPr>
          <a:xfrm>
            <a:off x="7785100" y="4584700"/>
            <a:ext cx="203200" cy="20320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7829550" y="46291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 flipV="1">
            <a:off x="7829550" y="4629150"/>
            <a:ext cx="114300" cy="114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 flipV="1">
            <a:off x="6959600" y="1905000"/>
            <a:ext cx="381000" cy="177800"/>
          </a:xfrm>
          <a:prstGeom prst="line">
            <a:avLst/>
          </a:prstGeom>
          <a:noFill/>
          <a:ln w="57150">
            <a:solidFill>
              <a:srgbClr val="00B050"/>
            </a:solidFill>
            <a:prstDash val="solid"/>
            <a:tailEnd type="triangle"/>
          </a:ln>
        </p:spPr>
      </p:sp>
      <p:sp>
        <p:nvSpPr>
          <p:cNvPr id="190" name="Shape 187"/>
          <p:cNvSpPr/>
          <p:nvPr/>
        </p:nvSpPr>
        <p:spPr>
          <a:xfrm flipV="1">
            <a:off x="7404100" y="1879600"/>
            <a:ext cx="0" cy="127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91" name="Shape 188"/>
          <p:cNvSpPr/>
          <p:nvPr/>
        </p:nvSpPr>
        <p:spPr>
          <a:xfrm>
            <a:off x="6959600" y="1549400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6959600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7090229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7220857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7351486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7482114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7612743" y="1549400"/>
            <a:ext cx="130629" cy="304800"/>
          </a:xfrm>
          <a:prstGeom prst="rect">
            <a:avLst/>
          </a:prstGeom>
          <a:solidFill>
            <a:srgbClr val="C9D6C4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7743371" y="1549400"/>
            <a:ext cx="130629" cy="304800"/>
          </a:xfrm>
          <a:prstGeom prst="rect">
            <a:avLst/>
          </a:prstGeom>
          <a:solidFill>
            <a:srgbClr val="CFE8C8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6959600" y="1549400"/>
            <a:ext cx="914400" cy="304800"/>
          </a:xfrm>
          <a:prstGeom prst="rect">
            <a:avLst/>
          </a:prstGeom>
          <a:ln w="12700">
            <a:solidFill>
              <a:srgbClr val="00B050"/>
            </a:solidFill>
            <a:prstDash val="dash"/>
          </a:ln>
        </p:spPr>
      </p:sp>
      <p:sp>
        <p:nvSpPr>
          <p:cNvPr id="200" name="Text 197"/>
          <p:cNvSpPr/>
          <p:nvPr/>
        </p:nvSpPr>
        <p:spPr>
          <a:xfrm>
            <a:off x="7188200" y="15748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1" name="Shape 198"/>
          <p:cNvSpPr/>
          <p:nvPr/>
        </p:nvSpPr>
        <p:spPr>
          <a:xfrm>
            <a:off x="3441700" y="2044700"/>
            <a:ext cx="8255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02" name="Text 199"/>
          <p:cNvSpPr/>
          <p:nvPr/>
        </p:nvSpPr>
        <p:spPr>
          <a:xfrm>
            <a:off x="3441700" y="20447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03" name="Shape 200"/>
          <p:cNvSpPr/>
          <p:nvPr/>
        </p:nvSpPr>
        <p:spPr>
          <a:xfrm>
            <a:off x="5435600" y="2044700"/>
            <a:ext cx="10922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04" name="Text 201"/>
          <p:cNvSpPr/>
          <p:nvPr/>
        </p:nvSpPr>
        <p:spPr>
          <a:xfrm>
            <a:off x="5435600" y="2044700"/>
            <a:ext cx="109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05" name="Shape 202"/>
          <p:cNvSpPr/>
          <p:nvPr/>
        </p:nvSpPr>
        <p:spPr>
          <a:xfrm>
            <a:off x="7569200" y="2044700"/>
            <a:ext cx="1206500" cy="304800"/>
          </a:xfrm>
          <a:prstGeom prst="roundRect">
            <a:avLst>
              <a:gd name="adj" fmla="val 30000"/>
            </a:avLst>
          </a:prstGeom>
          <a:solidFill>
            <a:srgbClr val="FCFEDD"/>
          </a:solidFill>
          <a:ln w="12700">
            <a:solidFill>
              <a:srgbClr val="CFC7AE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7569200" y="2044700"/>
            <a:ext cx="120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07" name="Shape 204"/>
          <p:cNvSpPr/>
          <p:nvPr/>
        </p:nvSpPr>
        <p:spPr>
          <a:xfrm>
            <a:off x="2286000" y="6007100"/>
            <a:ext cx="3937000" cy="546100"/>
          </a:xfrm>
          <a:prstGeom prst="roundRect">
            <a:avLst>
              <a:gd name="adj" fmla="val 10047"/>
            </a:avLst>
          </a:prstGeom>
          <a:solidFill>
            <a:srgbClr val="E7FDE8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208" name="Shape 205"/>
          <p:cNvSpPr/>
          <p:nvPr/>
        </p:nvSpPr>
        <p:spPr>
          <a:xfrm>
            <a:off x="2362200" y="6134100"/>
            <a:ext cx="6350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2362200" y="6134100"/>
            <a:ext cx="12700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2489200" y="6134100"/>
            <a:ext cx="12700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2616200" y="6134100"/>
            <a:ext cx="12700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2743200" y="6134100"/>
            <a:ext cx="12700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2870200" y="6134100"/>
            <a:ext cx="12700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4" name="Text 211"/>
          <p:cNvSpPr/>
          <p:nvPr/>
        </p:nvSpPr>
        <p:spPr>
          <a:xfrm>
            <a:off x="25527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5" name="Shape 212"/>
          <p:cNvSpPr/>
          <p:nvPr/>
        </p:nvSpPr>
        <p:spPr>
          <a:xfrm>
            <a:off x="3327400" y="6134100"/>
            <a:ext cx="9652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E6FD5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332740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352044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371348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390652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4099560" y="6134100"/>
            <a:ext cx="193040" cy="254000"/>
          </a:xfrm>
          <a:prstGeom prst="rect">
            <a:avLst/>
          </a:prstGeom>
          <a:solidFill>
            <a:srgbClr val="DF92E4"/>
          </a:solidFill>
          <a:ln w="6350">
            <a:solidFill>
              <a:srgbClr val="EE6FD5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36830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2" name="Shape 219"/>
          <p:cNvSpPr/>
          <p:nvPr/>
        </p:nvSpPr>
        <p:spPr>
          <a:xfrm>
            <a:off x="4330700" y="6134100"/>
            <a:ext cx="6350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4330700" y="6134100"/>
            <a:ext cx="12700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4457700" y="6134100"/>
            <a:ext cx="12700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4584700" y="6134100"/>
            <a:ext cx="12700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4711700" y="6134100"/>
            <a:ext cx="12700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4838700" y="6134100"/>
            <a:ext cx="12700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45212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9" name="Shape 226"/>
          <p:cNvSpPr/>
          <p:nvPr/>
        </p:nvSpPr>
        <p:spPr>
          <a:xfrm>
            <a:off x="5003800" y="6134100"/>
            <a:ext cx="9652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003800" y="6134100"/>
            <a:ext cx="193040" cy="254000"/>
          </a:xfrm>
          <a:prstGeom prst="rect">
            <a:avLst/>
          </a:prstGeom>
          <a:solidFill>
            <a:srgbClr val="FCFED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5196840" y="6134100"/>
            <a:ext cx="193040" cy="254000"/>
          </a:xfrm>
          <a:prstGeom prst="rect">
            <a:avLst/>
          </a:prstGeom>
          <a:solidFill>
            <a:srgbClr val="EDFEE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5389880" y="6134100"/>
            <a:ext cx="193040" cy="254000"/>
          </a:xfrm>
          <a:prstGeom prst="rect">
            <a:avLst/>
          </a:prstGeom>
          <a:solidFill>
            <a:srgbClr val="F2F2F4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5582920" y="6134100"/>
            <a:ext cx="193040" cy="254000"/>
          </a:xfrm>
          <a:prstGeom prst="rect">
            <a:avLst/>
          </a:prstGeom>
          <a:solidFill>
            <a:srgbClr val="E4E6F5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5775960" y="6134100"/>
            <a:ext cx="193040" cy="254000"/>
          </a:xfrm>
          <a:prstGeom prst="rect">
            <a:avLst/>
          </a:prstGeom>
          <a:solidFill>
            <a:srgbClr val="F8DDE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5" name="Text 232"/>
          <p:cNvSpPr/>
          <p:nvPr/>
        </p:nvSpPr>
        <p:spPr>
          <a:xfrm>
            <a:off x="5359400" y="61595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6" name="Shape 233"/>
          <p:cNvSpPr/>
          <p:nvPr/>
        </p:nvSpPr>
        <p:spPr>
          <a:xfrm flipV="1">
            <a:off x="3429000" y="6464300"/>
            <a:ext cx="317500" cy="228600"/>
          </a:xfrm>
          <a:prstGeom prst="line">
            <a:avLst/>
          </a:prstGeom>
          <a:noFill/>
          <a:ln w="63500">
            <a:solidFill>
              <a:srgbClr val="E00000"/>
            </a:solidFill>
            <a:prstDash val="solid"/>
            <a:tailEnd type="triangle"/>
          </a:ln>
        </p:spPr>
      </p:sp>
      <p:sp>
        <p:nvSpPr>
          <p:cNvPr id="237" name="Shape 234"/>
          <p:cNvSpPr/>
          <p:nvPr/>
        </p:nvSpPr>
        <p:spPr>
          <a:xfrm flipV="1">
            <a:off x="3784600" y="5880100"/>
            <a:ext cx="0" cy="1270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38" name="Shape 235"/>
          <p:cNvSpPr/>
          <p:nvPr/>
        </p:nvSpPr>
        <p:spPr>
          <a:xfrm>
            <a:off x="3556000" y="5524500"/>
            <a:ext cx="431800" cy="33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39" name="Text 236"/>
          <p:cNvSpPr/>
          <p:nvPr/>
        </p:nvSpPr>
        <p:spPr>
          <a:xfrm>
            <a:off x="3556000" y="5524500"/>
            <a:ext cx="431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950" dirty="0"/>
          </a:p>
        </p:txBody>
      </p:sp>
      <p:sp>
        <p:nvSpPr>
          <p:cNvPr id="240" name="Shape 237"/>
          <p:cNvSpPr/>
          <p:nvPr/>
        </p:nvSpPr>
        <p:spPr>
          <a:xfrm flipV="1">
            <a:off x="3784600" y="5156200"/>
            <a:ext cx="0" cy="355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41" name="Text 238"/>
          <p:cNvSpPr/>
          <p:nvPr/>
        </p:nvSpPr>
        <p:spPr>
          <a:xfrm>
            <a:off x="3517900" y="52324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2" name="Shape 239"/>
          <p:cNvSpPr/>
          <p:nvPr/>
        </p:nvSpPr>
        <p:spPr>
          <a:xfrm>
            <a:off x="3873500" y="5245100"/>
            <a:ext cx="4064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3873500" y="5245100"/>
            <a:ext cx="8128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3954780" y="5245100"/>
            <a:ext cx="8128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4036060" y="5245100"/>
            <a:ext cx="81280" cy="152400"/>
          </a:xfrm>
          <a:prstGeom prst="rect">
            <a:avLst/>
          </a:prstGeom>
          <a:solidFill>
            <a:srgbClr val="EDFEE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4117340" y="5245100"/>
            <a:ext cx="8128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4198620" y="5245100"/>
            <a:ext cx="8128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9347200" y="5918200"/>
            <a:ext cx="2184400" cy="787400"/>
          </a:xfrm>
          <a:prstGeom prst="roundRect">
            <a:avLst>
              <a:gd name="adj" fmla="val 6968"/>
            </a:avLst>
          </a:prstGeom>
          <a:solidFill>
            <a:srgbClr val="E7FDE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49" name="Shape 246"/>
          <p:cNvSpPr/>
          <p:nvPr/>
        </p:nvSpPr>
        <p:spPr>
          <a:xfrm>
            <a:off x="9525000" y="5981700"/>
            <a:ext cx="3302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9525000" y="5981700"/>
            <a:ext cx="825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9607550" y="5981700"/>
            <a:ext cx="8255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9690100" y="5981700"/>
            <a:ext cx="8255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9772650" y="5981700"/>
            <a:ext cx="8255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pic>
        <p:nvPicPr>
          <p:cNvPr id="254" name="Image 1" descr="/home/ahmed/Projects/ai_llm_slides/videos/deep-learning/001_transformers_part1/recreated_pptx/build/assets/eq_1xd_0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706" y="6154672"/>
            <a:ext cx="252987" cy="111255"/>
          </a:xfrm>
          <a:prstGeom prst="rect">
            <a:avLst/>
          </a:prstGeom>
        </p:spPr>
      </p:pic>
      <p:sp>
        <p:nvSpPr>
          <p:cNvPr id="255" name="Shape 251"/>
          <p:cNvSpPr/>
          <p:nvPr/>
        </p:nvSpPr>
        <p:spPr>
          <a:xfrm>
            <a:off x="10033000" y="5981700"/>
            <a:ext cx="444500" cy="406400"/>
          </a:xfrm>
          <a:prstGeom prst="rect">
            <a:avLst/>
          </a:prstGeom>
          <a:solidFill>
            <a:srgbClr val="FAFBCE"/>
          </a:solidFill>
          <a:ln w="12700">
            <a:solidFill>
              <a:srgbClr val="8B7B6C"/>
            </a:solidFill>
            <a:prstDash val="solid"/>
          </a:ln>
        </p:spPr>
      </p:sp>
      <p:sp>
        <p:nvSpPr>
          <p:cNvPr id="256" name="Text 252"/>
          <p:cNvSpPr/>
          <p:nvPr/>
        </p:nvSpPr>
        <p:spPr>
          <a:xfrm>
            <a:off x="10033000" y="598170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500" dirty="0"/>
          </a:p>
        </p:txBody>
      </p:sp>
      <p:sp>
        <p:nvSpPr>
          <p:cNvPr id="257" name="Text 253"/>
          <p:cNvSpPr/>
          <p:nvPr/>
        </p:nvSpPr>
        <p:spPr>
          <a:xfrm>
            <a:off x="10477500" y="6070600"/>
            <a:ext cx="17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258" name="Shape 254"/>
          <p:cNvSpPr/>
          <p:nvPr/>
        </p:nvSpPr>
        <p:spPr>
          <a:xfrm>
            <a:off x="10744200" y="6134100"/>
            <a:ext cx="457200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9" name="Shape 255"/>
          <p:cNvSpPr/>
          <p:nvPr/>
        </p:nvSpPr>
        <p:spPr>
          <a:xfrm>
            <a:off x="10744200" y="6134100"/>
            <a:ext cx="9144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0" name="Shape 256"/>
          <p:cNvSpPr/>
          <p:nvPr/>
        </p:nvSpPr>
        <p:spPr>
          <a:xfrm>
            <a:off x="10835640" y="6134100"/>
            <a:ext cx="91440" cy="152400"/>
          </a:xfrm>
          <a:prstGeom prst="rect">
            <a:avLst/>
          </a:prstGeom>
          <a:solidFill>
            <a:srgbClr val="FCFED0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1" name="Shape 257"/>
          <p:cNvSpPr/>
          <p:nvPr/>
        </p:nvSpPr>
        <p:spPr>
          <a:xfrm>
            <a:off x="10927080" y="6134100"/>
            <a:ext cx="91440" cy="152400"/>
          </a:xfrm>
          <a:prstGeom prst="rect">
            <a:avLst/>
          </a:prstGeom>
          <a:solidFill>
            <a:srgbClr val="F2F2F4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2" name="Shape 258"/>
          <p:cNvSpPr/>
          <p:nvPr/>
        </p:nvSpPr>
        <p:spPr>
          <a:xfrm>
            <a:off x="11018520" y="6134100"/>
            <a:ext cx="91440" cy="152400"/>
          </a:xfrm>
          <a:prstGeom prst="rect">
            <a:avLst/>
          </a:prstGeom>
          <a:solidFill>
            <a:srgbClr val="E4E6F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3" name="Shape 259"/>
          <p:cNvSpPr/>
          <p:nvPr/>
        </p:nvSpPr>
        <p:spPr>
          <a:xfrm>
            <a:off x="11109960" y="6134100"/>
            <a:ext cx="91440" cy="152400"/>
          </a:xfrm>
          <a:prstGeom prst="rect">
            <a:avLst/>
          </a:prstGeom>
          <a:solidFill>
            <a:srgbClr val="F8DDEF"/>
          </a:solidFill>
          <a:ln w="6350">
            <a:solidFill>
              <a:srgbClr val="555555"/>
            </a:solidFill>
            <a:prstDash val="solid"/>
          </a:ln>
        </p:spPr>
      </p:sp>
      <p:pic>
        <p:nvPicPr>
          <p:cNvPr id="264" name="Image 2" descr="/home/ahmed/Projects/ai_llm_slides/videos/deep-learning/001_transformers_part1/recreated_pptx/build/assets/eq_1xd_0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1406" y="6307072"/>
            <a:ext cx="252987" cy="111255"/>
          </a:xfrm>
          <a:prstGeom prst="rect">
            <a:avLst/>
          </a:prstGeom>
        </p:spPr>
      </p:pic>
      <p:pic>
        <p:nvPicPr>
          <p:cNvPr id="265" name="Image 3" descr="/home/ahmed/Projects/ai_llm_slides/videos/deep-learning/001_transformers_part1/recreated_pptx/build/assets/eq_dxd_0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7698" y="6434072"/>
            <a:ext cx="260604" cy="111255"/>
          </a:xfrm>
          <a:prstGeom prst="rect">
            <a:avLst/>
          </a:prstGeom>
        </p:spPr>
      </p:pic>
      <p:sp>
        <p:nvSpPr>
          <p:cNvPr id="266" name="Text 260"/>
          <p:cNvSpPr/>
          <p:nvPr/>
        </p:nvSpPr>
        <p:spPr>
          <a:xfrm>
            <a:off x="9448800" y="6540500"/>
            <a:ext cx="198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950" dirty="0"/>
          </a:p>
        </p:txBody>
      </p:sp>
      <p:sp>
        <p:nvSpPr>
          <p:cNvPr id="267" name="Text 261"/>
          <p:cNvSpPr/>
          <p:nvPr/>
        </p:nvSpPr>
        <p:spPr>
          <a:xfrm>
            <a:off x="2578100" y="6731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(Adding Scaling)</a:t>
            </a:r>
            <a:endParaRPr lang="en-US" sz="2000" dirty="0"/>
          </a:p>
        </p:txBody>
      </p:sp>
      <p:sp>
        <p:nvSpPr>
          <p:cNvPr id="268" name="Text 262"/>
          <p:cNvSpPr/>
          <p:nvPr/>
        </p:nvSpPr>
        <p:spPr>
          <a:xfrm>
            <a:off x="1816100" y="965200"/>
            <a:ext cx="914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30" dirty="0"/>
          </a:p>
        </p:txBody>
      </p:sp>
      <p:sp>
        <p:nvSpPr>
          <p:cNvPr id="269" name="Shape 263"/>
          <p:cNvSpPr/>
          <p:nvPr/>
        </p:nvSpPr>
        <p:spPr>
          <a:xfrm>
            <a:off x="4724400" y="2349500"/>
            <a:ext cx="609600" cy="2895600"/>
          </a:xfrm>
          <a:prstGeom prst="rect">
            <a:avLst/>
          </a:prstGeom>
          <a:solidFill>
            <a:srgbClr val="FAF36E"/>
          </a:solidFill>
          <a:ln w="9525">
            <a:solidFill>
              <a:srgbClr val="DDBA3C"/>
            </a:solidFill>
            <a:prstDash val="solid"/>
          </a:ln>
        </p:spPr>
      </p:sp>
      <p:sp>
        <p:nvSpPr>
          <p:cNvPr id="270" name="Shape 264"/>
          <p:cNvSpPr/>
          <p:nvPr/>
        </p:nvSpPr>
        <p:spPr>
          <a:xfrm>
            <a:off x="4787900" y="2425700"/>
            <a:ext cx="482600" cy="2755900"/>
          </a:xfrm>
          <a:prstGeom prst="rect">
            <a:avLst/>
          </a:prstGeom>
          <a:solidFill>
            <a:srgbClr val="FFF069"/>
          </a:solidFill>
          <a:ln w="12700">
            <a:solidFill>
              <a:srgbClr val="DDBA3C"/>
            </a:solidFill>
            <a:prstDash val="solid"/>
          </a:ln>
        </p:spPr>
      </p:sp>
      <p:sp>
        <p:nvSpPr>
          <p:cNvPr id="271" name="Text 265"/>
          <p:cNvSpPr/>
          <p:nvPr/>
        </p:nvSpPr>
        <p:spPr>
          <a:xfrm rot="5400000">
            <a:off x="4206875" y="3702050"/>
            <a:ext cx="165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1600" dirty="0"/>
          </a:p>
        </p:txBody>
      </p:sp>
      <p:pic>
        <p:nvPicPr>
          <p:cNvPr id="272" name="Image 4" descr="/home/ahmed/Projects/ai_llm_slides/videos/deep-learning/001_transformers_part1/recreated_pptx/build/assets/eq_Kq_num_0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016" y="2426210"/>
            <a:ext cx="309369" cy="176781"/>
          </a:xfrm>
          <a:prstGeom prst="rect">
            <a:avLst/>
          </a:prstGeom>
        </p:spPr>
      </p:pic>
      <p:sp>
        <p:nvSpPr>
          <p:cNvPr id="273" name="Shape 266"/>
          <p:cNvSpPr/>
          <p:nvPr/>
        </p:nvSpPr>
        <p:spPr>
          <a:xfrm>
            <a:off x="5308600" y="2616200"/>
            <a:ext cx="3937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pic>
        <p:nvPicPr>
          <p:cNvPr id="274" name="Image 5" descr="/home/ahmed/Projects/ai_llm_slides/videos/deep-learning/001_transformers_part1/recreated_pptx/build/assets/eq_Sqrtd_0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6898" y="2649222"/>
            <a:ext cx="260604" cy="213357"/>
          </a:xfrm>
          <a:prstGeom prst="rect">
            <a:avLst/>
          </a:prstGeom>
        </p:spPr>
      </p:pic>
      <p:sp>
        <p:nvSpPr>
          <p:cNvPr id="275" name="Shape 267"/>
          <p:cNvSpPr/>
          <p:nvPr/>
        </p:nvSpPr>
        <p:spPr>
          <a:xfrm>
            <a:off x="10121900" y="1447800"/>
            <a:ext cx="1485900" cy="2527300"/>
          </a:xfrm>
          <a:prstGeom prst="rect">
            <a:avLst/>
          </a:prstGeom>
          <a:solidFill>
            <a:srgbClr val="FFFFFF"/>
          </a:solidFill>
          <a:ln w="28575">
            <a:solidFill>
              <a:srgbClr val="1D7136"/>
            </a:solidFill>
            <a:prstDash val="solid"/>
          </a:ln>
        </p:spPr>
      </p:sp>
      <p:sp>
        <p:nvSpPr>
          <p:cNvPr id="276" name="Shape 268"/>
          <p:cNvSpPr/>
          <p:nvPr/>
        </p:nvSpPr>
        <p:spPr>
          <a:xfrm>
            <a:off x="10617200" y="1727200"/>
            <a:ext cx="825500" cy="254000"/>
          </a:xfrm>
          <a:prstGeom prst="roundRect">
            <a:avLst>
              <a:gd name="adj" fmla="val 10800"/>
            </a:avLst>
          </a:prstGeom>
          <a:solidFill>
            <a:srgbClr val="C3B9DB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77" name="Text 269"/>
          <p:cNvSpPr/>
          <p:nvPr/>
        </p:nvSpPr>
        <p:spPr>
          <a:xfrm>
            <a:off x="10617200" y="1727200"/>
            <a:ext cx="82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1000" dirty="0"/>
          </a:p>
        </p:txBody>
      </p:sp>
      <p:sp>
        <p:nvSpPr>
          <p:cNvPr id="278" name="Shape 270"/>
          <p:cNvSpPr/>
          <p:nvPr/>
        </p:nvSpPr>
        <p:spPr>
          <a:xfrm>
            <a:off x="10325100" y="2108200"/>
            <a:ext cx="774700" cy="241300"/>
          </a:xfrm>
          <a:prstGeom prst="roundRect">
            <a:avLst>
              <a:gd name="adj" fmla="val 11368"/>
            </a:avLst>
          </a:prstGeom>
          <a:solidFill>
            <a:srgbClr val="CEE6D0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79" name="Text 271"/>
          <p:cNvSpPr/>
          <p:nvPr/>
        </p:nvSpPr>
        <p:spPr>
          <a:xfrm>
            <a:off x="10325100" y="2108200"/>
            <a:ext cx="774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000" dirty="0"/>
          </a:p>
        </p:txBody>
      </p:sp>
      <p:sp>
        <p:nvSpPr>
          <p:cNvPr id="280" name="Shape 272"/>
          <p:cNvSpPr/>
          <p:nvPr/>
        </p:nvSpPr>
        <p:spPr>
          <a:xfrm>
            <a:off x="10287000" y="2489200"/>
            <a:ext cx="850900" cy="228600"/>
          </a:xfrm>
          <a:prstGeom prst="roundRect">
            <a:avLst>
              <a:gd name="adj" fmla="val 12000"/>
            </a:avLst>
          </a:prstGeom>
          <a:solidFill>
            <a:srgbClr val="D8B6C5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81" name="Text 273"/>
          <p:cNvSpPr/>
          <p:nvPr/>
        </p:nvSpPr>
        <p:spPr>
          <a:xfrm>
            <a:off x="10287000" y="2489200"/>
            <a:ext cx="85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1000" dirty="0"/>
          </a:p>
        </p:txBody>
      </p:sp>
      <p:sp>
        <p:nvSpPr>
          <p:cNvPr id="282" name="Shape 274"/>
          <p:cNvSpPr/>
          <p:nvPr/>
        </p:nvSpPr>
        <p:spPr>
          <a:xfrm>
            <a:off x="10439400" y="2857500"/>
            <a:ext cx="546100" cy="228600"/>
          </a:xfrm>
          <a:prstGeom prst="roundRect">
            <a:avLst>
              <a:gd name="adj" fmla="val 12000"/>
            </a:avLst>
          </a:prstGeom>
          <a:solidFill>
            <a:srgbClr val="F5F9C0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83" name="Text 275"/>
          <p:cNvSpPr/>
          <p:nvPr/>
        </p:nvSpPr>
        <p:spPr>
          <a:xfrm>
            <a:off x="10439400" y="2857500"/>
            <a:ext cx="54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284" name="Shape 276"/>
          <p:cNvSpPr/>
          <p:nvPr/>
        </p:nvSpPr>
        <p:spPr>
          <a:xfrm>
            <a:off x="10325100" y="3238500"/>
            <a:ext cx="774700" cy="228600"/>
          </a:xfrm>
          <a:prstGeom prst="roundRect">
            <a:avLst>
              <a:gd name="adj" fmla="val 12000"/>
            </a:avLst>
          </a:prstGeom>
          <a:solidFill>
            <a:srgbClr val="C3B9DB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285" name="Text 277"/>
          <p:cNvSpPr/>
          <p:nvPr/>
        </p:nvSpPr>
        <p:spPr>
          <a:xfrm>
            <a:off x="10325100" y="3238500"/>
            <a:ext cx="77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1000" dirty="0"/>
          </a:p>
        </p:txBody>
      </p:sp>
      <p:sp>
        <p:nvSpPr>
          <p:cNvPr id="286" name="Shape 278"/>
          <p:cNvSpPr/>
          <p:nvPr/>
        </p:nvSpPr>
        <p:spPr>
          <a:xfrm flipV="1">
            <a:off x="10712450" y="3124200"/>
            <a:ext cx="0" cy="114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87" name="Shape 279"/>
          <p:cNvSpPr/>
          <p:nvPr/>
        </p:nvSpPr>
        <p:spPr>
          <a:xfrm flipV="1">
            <a:off x="10712450" y="2743200"/>
            <a:ext cx="0" cy="114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88" name="Shape 280"/>
          <p:cNvSpPr/>
          <p:nvPr/>
        </p:nvSpPr>
        <p:spPr>
          <a:xfrm flipV="1">
            <a:off x="10712450" y="2374900"/>
            <a:ext cx="0" cy="114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89" name="Shape 281"/>
          <p:cNvSpPr/>
          <p:nvPr/>
        </p:nvSpPr>
        <p:spPr>
          <a:xfrm flipV="1">
            <a:off x="10712450" y="1993900"/>
            <a:ext cx="0" cy="114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0" name="Shape 282"/>
          <p:cNvSpPr/>
          <p:nvPr/>
        </p:nvSpPr>
        <p:spPr>
          <a:xfrm flipV="1">
            <a:off x="11029950" y="1574800"/>
            <a:ext cx="0" cy="1524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1" name="Shape 283"/>
          <p:cNvSpPr/>
          <p:nvPr/>
        </p:nvSpPr>
        <p:spPr>
          <a:xfrm flipV="1">
            <a:off x="11322050" y="1993900"/>
            <a:ext cx="0" cy="1765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2" name="Shape 284"/>
          <p:cNvSpPr/>
          <p:nvPr/>
        </p:nvSpPr>
        <p:spPr>
          <a:xfrm flipV="1">
            <a:off x="10483850" y="3479800"/>
            <a:ext cx="0" cy="1905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3" name="Shape 285"/>
          <p:cNvSpPr/>
          <p:nvPr/>
        </p:nvSpPr>
        <p:spPr>
          <a:xfrm flipV="1">
            <a:off x="10915650" y="3505200"/>
            <a:ext cx="0" cy="2413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94" name="Text 286"/>
          <p:cNvSpPr/>
          <p:nvPr/>
        </p:nvSpPr>
        <p:spPr>
          <a:xfrm>
            <a:off x="10394950" y="36703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sp>
        <p:nvSpPr>
          <p:cNvPr id="295" name="Text 287"/>
          <p:cNvSpPr/>
          <p:nvPr/>
        </p:nvSpPr>
        <p:spPr>
          <a:xfrm>
            <a:off x="10833100" y="36703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000" dirty="0"/>
          </a:p>
        </p:txBody>
      </p:sp>
      <p:sp>
        <p:nvSpPr>
          <p:cNvPr id="296" name="Text 288"/>
          <p:cNvSpPr/>
          <p:nvPr/>
        </p:nvSpPr>
        <p:spPr>
          <a:xfrm>
            <a:off x="11239500" y="3670300"/>
            <a:ext cx="1778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2026-10-11T22:07:49Z</dcterms:created>
  <dcterms:modified xsi:type="dcterms:W3CDTF">2026-10-11T22:07:49Z</dcterms:modified>
</cp:coreProperties>
</file>