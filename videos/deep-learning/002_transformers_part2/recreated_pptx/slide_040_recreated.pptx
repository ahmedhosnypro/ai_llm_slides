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6940" y="1381760"/>
            <a:ext cx="10622280" cy="107696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70050" y="2711450"/>
            <a:ext cx="5377180" cy="38938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94580" y="1926590"/>
            <a:ext cx="1880870" cy="172720"/>
          </a:xfrm>
          <a:prstGeom prst="rect">
            <a:avLst/>
          </a:prstGeom>
          <a:solidFill>
            <a:srgbClr val="D8F8D8"/>
          </a:solidFill>
          <a:ln w="12700">
            <a:solidFill>
              <a:srgbClr val="D8F8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050" y="3002280"/>
            <a:ext cx="2943860" cy="306070"/>
          </a:xfrm>
          <a:prstGeom prst="rect">
            <a:avLst/>
          </a:prstGeom>
          <a:solidFill>
            <a:srgbClr val="B0E8B0"/>
          </a:solidFill>
          <a:ln w="12700">
            <a:solidFill>
              <a:srgbClr val="B0E8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18970" y="4011930"/>
            <a:ext cx="317500" cy="332740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5640" y="4782820"/>
            <a:ext cx="331470" cy="318770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2940" y="5288280"/>
            <a:ext cx="276860" cy="332740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2100" y="5633720"/>
            <a:ext cx="342900" cy="306070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5010" y="5448300"/>
            <a:ext cx="317500" cy="332740"/>
          </a:xfrm>
          <a:prstGeom prst="rect">
            <a:avLst/>
          </a:prstGeom>
          <a:solidFill>
            <a:srgbClr val="FF9C9C"/>
          </a:solidFill>
          <a:ln w="12700">
            <a:solidFill>
              <a:srgbClr val="FF9C9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11520" y="5462270"/>
            <a:ext cx="1168400" cy="279400"/>
          </a:xfrm>
          <a:prstGeom prst="rect">
            <a:avLst/>
          </a:prstGeom>
          <a:solidFill>
            <a:srgbClr val="FF9C9C"/>
          </a:solidFill>
          <a:ln w="12700">
            <a:solidFill>
              <a:srgbClr val="FF9C9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41270" y="6004560"/>
            <a:ext cx="185420" cy="279400"/>
          </a:xfrm>
          <a:prstGeom prst="rect">
            <a:avLst/>
          </a:prstGeom>
          <a:solidFill>
            <a:srgbClr val="B0E8B0"/>
          </a:solidFill>
          <a:ln w="12700">
            <a:solidFill>
              <a:srgbClr val="B0E8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5420" y="6004560"/>
            <a:ext cx="238760" cy="306070"/>
          </a:xfrm>
          <a:prstGeom prst="rect">
            <a:avLst/>
          </a:prstGeom>
          <a:solidFill>
            <a:srgbClr val="FF9C9C"/>
          </a:solidFill>
          <a:ln w="12700">
            <a:solidFill>
              <a:srgbClr val="FF9C9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90240" y="6004560"/>
            <a:ext cx="185420" cy="279400"/>
          </a:xfrm>
          <a:prstGeom prst="rect">
            <a:avLst/>
          </a:prstGeom>
          <a:solidFill>
            <a:srgbClr val="B0E8B0"/>
          </a:solidFill>
          <a:ln w="12700">
            <a:solidFill>
              <a:srgbClr val="B0E8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88610" y="6004560"/>
            <a:ext cx="1592580" cy="279400"/>
          </a:xfrm>
          <a:prstGeom prst="rect">
            <a:avLst/>
          </a:prstGeom>
          <a:solidFill>
            <a:srgbClr val="FFA64D"/>
          </a:solidFill>
          <a:ln w="12700">
            <a:solidFill>
              <a:srgbClr val="FFA6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5303520"/>
            <a:ext cx="1621790" cy="6235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5994400"/>
            <a:ext cx="2736850" cy="3187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9C9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0250" y="6033770"/>
            <a:ext cx="276860" cy="279400"/>
          </a:xfrm>
          <a:prstGeom prst="ellipse">
            <a:avLst/>
          </a:prstGeom>
          <a:solidFill>
            <a:srgbClr val="F0B880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9841" y="2086630"/>
            <a:ext cx="1981836" cy="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6782" y="2086630"/>
            <a:ext cx="2140383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4353" y="2405605"/>
            <a:ext cx="4333614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2250" y="739520"/>
            <a:ext cx="635000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Parameters</a:t>
            </a:r>
            <a:endParaRPr lang="en-US" sz="3550" dirty="0"/>
          </a:p>
        </p:txBody>
      </p:sp>
      <p:sp>
        <p:nvSpPr>
          <p:cNvPr id="26" name="Text 24"/>
          <p:cNvSpPr/>
          <p:nvPr/>
        </p:nvSpPr>
        <p:spPr>
          <a:xfrm>
            <a:off x="1117600" y="1479550"/>
            <a:ext cx="1016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Instead of restricting the Activations of each layer to be </a:t>
            </a:r>
            <a:pPr algn="l" indent="0" marL="0">
              <a:buNone/>
            </a:pPr>
            <a:r>
              <a:rPr lang="en-US" sz="2000" i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strictly </a:t>
            </a:r>
            <a:pPr algn="l" indent="0" marL="0">
              <a:buNone/>
            </a:pPr>
            <a:r>
              <a:rPr lang="en-US" sz="2000" b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</a:t>
            </a:r>
            <a:pPr algn="l" indent="0" marL="0">
              <a:buNone/>
            </a:pPr>
            <a:r>
              <a:rPr lang="en-US" sz="2000" i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</a:t>
            </a:r>
            <a:pPr algn="l" indent="0" marL="0">
              <a:buNone/>
            </a:pPr>
            <a:r>
              <a:rPr lang="en-US" sz="2000" i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</a:t>
            </a:r>
            <a:pPr algn="l" indent="0" marL="0">
              <a:buNone/>
            </a:pPr>
            <a:r>
              <a:rPr lang="en-US" sz="2000" b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</a:t>
            </a:r>
            <a:pPr algn="l" indent="0" marL="0">
              <a:buNone/>
            </a:pPr>
            <a:r>
              <a:rPr lang="en-US" sz="2000" i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variance,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17600" y="1812290"/>
            <a:ext cx="406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Normalization allows the network to 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07280" y="181229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 parameters </a:t>
            </a:r>
            <a:pPr algn="l" indent="0" marL="0">
              <a:buNone/>
            </a:pPr>
            <a:r>
              <a:rPr lang="en-US" sz="20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γ </a:t>
            </a:r>
            <a:pPr algn="l" indent="0" marL="0">
              <a:buNone/>
            </a:pPr>
            <a:r>
              <a:rPr lang="en-US" sz="200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</a:t>
            </a:r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 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can </a:t>
            </a:r>
            <a:pPr algn="l" indent="0" marL="0">
              <a:buNone/>
            </a:pPr>
            <a:r>
              <a:rPr lang="en-US" sz="20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the mean and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17600" y="2145030"/>
            <a:ext cx="635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variance to any value that </a:t>
            </a:r>
            <a:pPr algn="l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Minimizes Loss.</a:t>
            </a:r>
            <a:endParaRPr lang="en-US" sz="2000" dirty="0"/>
          </a:p>
        </p:txBody>
      </p:sp>
      <mc:AlternateContent>
        <mc:Choice xmlns:a14="http://schemas.microsoft.com/office/drawing/2010/main" Requires="a14">
          <p:sp>
            <p:nvSpPr>
              <p:cNvPr id="30" name="Equation OMML" descr="\mathbf{Input:}\ \ \mathrm{Values\ of}\ x\ \mathrm{over\ a\ mini-batch:}\ \mathbb{B}=\{x_{1\ldots m}\};"/>
              <p:cNvSpPr txBox="1"/>
              <p:nvPr/>
            </p:nvSpPr>
            <p:spPr>
              <a:xfrm>
                <a:off x="1761490" y="2778762"/>
                <a:ext cx="4856991" cy="2636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b"/>
                        </m:rPr>
                        <a:rPr lang="en-US" i="0" smtClean="0" sz="1575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Input:</m:t>
                      </m:r>
                      <m:r>
                        <a:rPr lang="en-US" i="1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  </m:t>
                      </m:r>
                      <m:r>
                        <m:rPr>
                          <m:sty m:val="p"/>
                        </m:rPr>
                        <a:rPr lang="en-US" i="0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Values of</m:t>
                      </m:r>
                      <m:r>
                        <a:rPr lang="en-US" i="1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 x </m:t>
                      </m:r>
                      <m:r>
                        <m:rPr>
                          <m:sty m:val="p"/>
                        </m:rPr>
                        <a:rPr lang="en-US" i="0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over a mini-batch:</m:t>
                      </m:r>
                      <m:r>
                        <a:rPr lang="en-US" i="1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i="0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ℬ</m:t>
                      </m:r>
                      <m:r>
                        <a:rPr lang="en-US" i="1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={</m:t>
                      </m:r>
                      <m:sSub>
                        <m:sSubPr>
                          <m:ctrlPr>
                            <a:rPr lang="en-US" i="1" smtClean="0" sz="157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57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57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1…m</m:t>
                          </m:r>
                        </m:sub>
                      </m:sSub>
                      <m:r>
                        <a:rPr lang="en-US" i="1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};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0" name="Image 0" descr="/home/ahmed/Projects/ai_llm_slides/videos/deep-learning/002_transformers_part2/recreated_pptx/build/assets/slide040_h1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761490" y="2778762"/>
                <a:ext cx="4856991" cy="26364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1" name="Equation OMML" descr="\mathrm{Parameters\ to\ be\ learned:}\ \gamma,\ \beta"/>
              <p:cNvSpPr txBox="1"/>
              <p:nvPr/>
            </p:nvSpPr>
            <p:spPr>
              <a:xfrm>
                <a:off x="2489200" y="3078735"/>
                <a:ext cx="2763015" cy="20421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5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 xml:space="preserve">Parameters to be learned:</m:t>
                      </m:r>
                      <m:r>
                        <a:rPr lang="en-US" i="1" smtClean="0" sz="155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 xml:space="preserve"> γ, 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1" name="Image 1" descr="/home/ahmed/Projects/ai_llm_slides/videos/deep-learning/002_transformers_part2/recreated_pptx/build/assets/slide040_h2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89200" y="3078735"/>
                <a:ext cx="2763015" cy="20421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2" name="Equation OMML" descr="\mathbf{Output:}\ \ \{y_i=\mathrm{BN}_{\gamma,\beta}(x_i)\}"/>
              <p:cNvSpPr txBox="1"/>
              <p:nvPr/>
            </p:nvSpPr>
            <p:spPr>
              <a:xfrm>
                <a:off x="1748790" y="3321050"/>
                <a:ext cx="2561847" cy="2971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b"/>
                        </m:rPr>
                        <a:rPr lang="en-US" i="0" smtClean="0" sz="1695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Output:</m:t>
                      </m:r>
                      <m:r>
                        <a:rPr lang="en-US" i="1" smtClean="0" sz="169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  {</m:t>
                      </m:r>
                      <m:sSub>
                        <m:sSubPr>
                          <m:ctrlP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69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BN</m:t>
                          </m:r>
                        </m:e>
                        <m:sub>
                          <m: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γ,β</m:t>
                          </m:r>
                        </m:sub>
                      </m:sSub>
                      <m:r>
                        <a:rPr lang="en-US" i="1" smtClean="0" sz="169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</m:t>
                      </m:r>
                      <m:sSub>
                        <m:sSubPr>
                          <m:ctrlP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69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2" name="Image 2" descr="/home/ahmed/Projects/ai_llm_slides/videos/deep-learning/002_transformers_part2/recreated_pptx/build/assets/slide040_h3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8790" y="3321050"/>
                <a:ext cx="2561847" cy="2971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3" name="Equation OMML" descr="\mu_{\mathbb{B}} ⟵ \frac{1}{m} \sum_{i=1}^{m} x_i"/>
              <p:cNvSpPr txBox="1"/>
              <p:nvPr/>
            </p:nvSpPr>
            <p:spPr>
              <a:xfrm>
                <a:off x="1906270" y="3874260"/>
                <a:ext cx="1508760" cy="6583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ℬ</m:t>
                          </m:r>
                        </m:sub>
                      </m:sSub>
                      <m:r>
                        <a:rPr lang="en-US" i="1" smtClean="0" sz="19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⟵</m:t>
                      </m:r>
                      <m:f>
                        <m:fPr>
                          <m:ctrlP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i=1</m:t>
                          </m:r>
                        </m:sub>
                        <m:sup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3" name="Image 3" descr="/home/ahmed/Projects/ai_llm_slides/videos/deep-learning/002_transformers_part2/recreated_pptx/build/assets/slide040_eq1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06270" y="3874260"/>
                <a:ext cx="1508760" cy="6583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4" name="Equation OMML" descr="\sigma_{\mathbb{B}}^{2} ⟵ \frac{1}{m} \sum_{i=1}^{m} (x_i - \mu_{\mathbb{B}})^2"/>
              <p:cNvSpPr txBox="1"/>
              <p:nvPr/>
            </p:nvSpPr>
            <p:spPr>
              <a:xfrm>
                <a:off x="1906270" y="4632450"/>
                <a:ext cx="2371341" cy="6583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ℬ</m:t>
                          </m:r>
                        </m:sub>
                        <m:sup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bSup>
                      <m:r>
                        <a:rPr lang="en-US" i="1" smtClean="0" sz="19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⟵</m:t>
                      </m:r>
                      <m:f>
                        <m:fPr>
                          <m:ctrlP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i=1</m:t>
                          </m:r>
                        </m:sub>
                        <m:sup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</m:sup>
                        <m:e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(</m:t>
                          </m:r>
                          <m:sSub>
                            <m:sSubPr>
                              <m:ctrlP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</m:t>
                              </m:r>
                            </m:sub>
                          </m:sSub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-</m:t>
                          </m:r>
                          <m:sSub>
                            <m:sSubPr>
                              <m:ctrlP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ℬ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)</m:t>
                              </m:r>
                            </m:e>
                            <m:sup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4" name="Image 4" descr="/home/ahmed/Projects/ai_llm_slides/videos/deep-learning/002_transformers_part2/recreated_pptx/build/assets/slide040_eq2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06270" y="4632450"/>
                <a:ext cx="2371341" cy="6583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5" name="Equation OMML" descr="\hat{x}_i \leftarrow \frac{x_i - \mu_{\mathbb{B}}}{\sqrt{\sigma_{\mathbb{B}}^2 + \epsilon}}"/>
              <p:cNvSpPr txBox="1"/>
              <p:nvPr/>
            </p:nvSpPr>
            <p:spPr>
              <a:xfrm>
                <a:off x="2039620" y="5441440"/>
                <a:ext cx="1487427" cy="5394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^"/>
                              <m:ctrlP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</m:acc>
                        </m:e>
                        <m:sub>
                          <m:r>
                            <a:rPr lang="en-US" i="1" smtClean="0" sz="2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←</m:t>
                      </m:r>
                      <m:f>
                        <m:fPr>
                          <m:ctrlPr>
                            <a:rPr lang="en-US" i="1" smtClean="0" sz="2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</m:t>
                              </m:r>
                            </m:sub>
                          </m:sSub>
                          <m:r>
                            <a:rPr lang="en-US" i="1" smtClean="0" sz="2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-</m:t>
                          </m:r>
                          <m:sSub>
                            <m:sSubPr>
                              <m:ctrlP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ℬ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i="1" smtClean="0" sz="23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smtClean="0" sz="23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 smtClean="0" sz="23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ℬ</m:t>
                                  </m:r>
                                </m:sub>
                                <m:sup>
                                  <m:r>
                                    <a:rPr lang="en-US" i="1" smtClean="0" sz="23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2</m:t>
                                  </m:r>
                                </m:sup>
                              </m:sSubSup>
                              <m: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+ε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5" name="Image 5" descr="/home/ahmed/Projects/ai_llm_slides/videos/deep-learning/002_transformers_part2/recreated_pptx/build/assets/slide040_eq3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39620" y="5441440"/>
                <a:ext cx="1487427" cy="5394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6" name="Equation OMML" descr="y_i \leftarrow \gamma\, \hat{x}_i + \beta \equiv \mathrm{BN}_{\gamma,\beta}(x_i)"/>
              <p:cNvSpPr txBox="1"/>
              <p:nvPr/>
            </p:nvSpPr>
            <p:spPr>
              <a:xfrm>
                <a:off x="2066290" y="6055612"/>
                <a:ext cx="2590797" cy="27127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86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←γ </m:t>
                      </m:r>
                      <m:sSub>
                        <m:sSubPr>
                          <m:ctrlP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^"/>
                              <m:ctrlPr>
                                <a:rPr lang="en-US" i="1" smtClean="0" sz="186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smtClean="0" sz="186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</m:acc>
                        </m:e>
                        <m:sub>
                          <m: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86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+β≡</m:t>
                      </m:r>
                      <m:sSub>
                        <m:sSubPr>
                          <m:ctrlP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BN</m:t>
                          </m:r>
                        </m:e>
                        <m:sub>
                          <m: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γ,β</m:t>
                          </m:r>
                        </m:sub>
                      </m:sSub>
                      <m:r>
                        <a:rPr lang="en-US" i="1" smtClean="0" sz="186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</m:t>
                      </m:r>
                      <m:sSub>
                        <m:sSubPr>
                          <m:ctrlP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86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6" name="Image 6" descr="/home/ahmed/Projects/ai_llm_slides/videos/deep-learning/002_transformers_part2/recreated_pptx/build/assets/slide040_eq4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66290" y="6055612"/>
                <a:ext cx="2590797" cy="271275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Shape 28"/>
          <p:cNvSpPr/>
          <p:nvPr/>
        </p:nvSpPr>
        <p:spPr>
          <a:xfrm>
            <a:off x="1918970" y="5933440"/>
            <a:ext cx="1623060" cy="0"/>
          </a:xfrm>
          <a:prstGeom prst="line">
            <a:avLst/>
          </a:prstGeom>
          <a:noFill/>
          <a:ln w="19050">
            <a:solidFill>
              <a:srgbClr val="9999CC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4826000" y="4035748"/>
            <a:ext cx="2159000" cy="33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mini-batch mean</a:t>
            </a:r>
            <a:endParaRPr lang="en-US" sz="1630" dirty="0"/>
          </a:p>
        </p:txBody>
      </p:sp>
      <p:sp>
        <p:nvSpPr>
          <p:cNvPr id="39" name="Text 30"/>
          <p:cNvSpPr/>
          <p:nvPr/>
        </p:nvSpPr>
        <p:spPr>
          <a:xfrm>
            <a:off x="4826000" y="4807908"/>
            <a:ext cx="2159000" cy="33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mini-batch variance</a:t>
            </a:r>
            <a:endParaRPr lang="en-US" sz="1630" dirty="0"/>
          </a:p>
        </p:txBody>
      </p:sp>
      <p:sp>
        <p:nvSpPr>
          <p:cNvPr id="40" name="Text 31"/>
          <p:cNvSpPr/>
          <p:nvPr/>
        </p:nvSpPr>
        <p:spPr>
          <a:xfrm>
            <a:off x="4826000" y="5484818"/>
            <a:ext cx="2159000" cy="33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normalize</a:t>
            </a:r>
            <a:endParaRPr lang="en-US" sz="1630" dirty="0"/>
          </a:p>
        </p:txBody>
      </p:sp>
      <p:sp>
        <p:nvSpPr>
          <p:cNvPr id="41" name="Text 32"/>
          <p:cNvSpPr/>
          <p:nvPr/>
        </p:nvSpPr>
        <p:spPr>
          <a:xfrm>
            <a:off x="4826000" y="6029648"/>
            <a:ext cx="2159000" cy="33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scale and shift</a:t>
            </a:r>
            <a:endParaRPr lang="en-US" sz="1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2026-10-12T04:14:32Z</dcterms:created>
  <dcterms:modified xsi:type="dcterms:W3CDTF">2026-10-12T04:14:32Z</dcterms:modified>
</cp:coreProperties>
</file>