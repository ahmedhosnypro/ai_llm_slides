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84044" y="679420"/>
            <a:ext cx="9423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 FF NN  for Multiplication of Vector by a </a:t>
            </a:r>
            <a:pPr algn="ctr" indent="0" marL="0">
              <a:buNone/>
            </a:pPr>
            <a:r>
              <a:rPr lang="en-US" sz="2300" b="1" u="sng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Matrices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15834" y="985106"/>
            <a:ext cx="10922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Multiply Vector of Current Word by Multiple  (different) W</a:t>
            </a:r>
            <a:pPr algn="ctr" indent="0" marL="0">
              <a:buNone/>
            </a:pPr>
            <a:r>
              <a:rPr lang="en-US" sz="1200" b="1" i="1" baseline="-40000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185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</a:t>
            </a:r>
            <a:pPr algn="ctr" indent="0" marL="0">
              <a:buNone/>
            </a:pPr>
            <a:r>
              <a:rPr lang="en-US" sz="1850" b="1" i="1" u="sng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Queries of Multiple Heads</a:t>
            </a:r>
            <a:pPr algn="ctr" indent="0" marL="0">
              <a:buNone/>
            </a:pPr>
            <a:r>
              <a:rPr lang="en-US" sz="185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850" dirty="0"/>
          </a:p>
        </p:txBody>
      </p:sp>
      <p:sp>
        <p:nvSpPr>
          <p:cNvPr id="7" name="Shape 5"/>
          <p:cNvSpPr/>
          <p:nvPr/>
        </p:nvSpPr>
        <p:spPr>
          <a:xfrm>
            <a:off x="995831" y="1608174"/>
            <a:ext cx="8685338" cy="4432300"/>
          </a:xfrm>
          <a:prstGeom prst="roundRect">
            <a:avLst>
              <a:gd name="adj" fmla="val 165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277595" y="1682749"/>
            <a:ext cx="1524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Vector of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11534" y="1823188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Word </a:t>
            </a:r>
            <a:pPr algn="ctr" indent="0" marL="0">
              <a:buNone/>
            </a:pPr>
            <a:r>
              <a:rPr lang="en-US" sz="200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14741" y="2099929"/>
            <a:ext cx="1603592" cy="444500"/>
          </a:xfrm>
          <a:prstGeom prst="roundRect">
            <a:avLst>
              <a:gd name="adj" fmla="val 16457"/>
            </a:avLst>
          </a:prstGeom>
          <a:solidFill>
            <a:srgbClr val="FEE4F7"/>
          </a:solidFill>
          <a:ln/>
        </p:spPr>
      </p:sp>
      <p:sp>
        <p:nvSpPr>
          <p:cNvPr id="11" name="Shape 9"/>
          <p:cNvSpPr/>
          <p:nvPr/>
        </p:nvSpPr>
        <p:spPr>
          <a:xfrm>
            <a:off x="1220438" y="2139801"/>
            <a:ext cx="330200" cy="330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20438" y="2139801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643229" y="2139801"/>
            <a:ext cx="330200" cy="330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43229" y="2139801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072626" y="2139801"/>
            <a:ext cx="330200" cy="330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72626" y="2139801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502023" y="2139801"/>
            <a:ext cx="330200" cy="330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02023" y="2139801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030511" y="2086639"/>
            <a:ext cx="1682866" cy="2222500"/>
          </a:xfrm>
          <a:prstGeom prst="roundRect">
            <a:avLst>
              <a:gd name="adj" fmla="val 4347"/>
            </a:avLst>
          </a:prstGeom>
          <a:solidFill>
            <a:srgbClr val="D4FCE6"/>
          </a:solidFill>
          <a:ln/>
        </p:spPr>
      </p:sp>
      <p:sp>
        <p:nvSpPr>
          <p:cNvPr id="20" name="Text 18"/>
          <p:cNvSpPr/>
          <p:nvPr/>
        </p:nvSpPr>
        <p:spPr>
          <a:xfrm>
            <a:off x="3285852" y="1809306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1150" b="1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Head 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136209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6209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11849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11849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3913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3913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49916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49916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136209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36209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11849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11849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113913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3913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49916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49916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36209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136209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11849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11849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113913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3913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549916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49916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136209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136209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11849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11849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13913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13913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49916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49916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23738" y="2086639"/>
            <a:ext cx="1682866" cy="2222500"/>
          </a:xfrm>
          <a:prstGeom prst="roundRect">
            <a:avLst>
              <a:gd name="adj" fmla="val 4347"/>
            </a:avLst>
          </a:prstGeom>
          <a:solidFill>
            <a:srgbClr val="F8E6D0"/>
          </a:solidFill>
          <a:ln/>
        </p:spPr>
      </p:sp>
      <p:sp>
        <p:nvSpPr>
          <p:cNvPr id="54" name="Text 52"/>
          <p:cNvSpPr/>
          <p:nvPr/>
        </p:nvSpPr>
        <p:spPr>
          <a:xfrm>
            <a:off x="5393199" y="1809306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1150" b="1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Head 2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329436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29436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05076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05076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140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140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43143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43143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29436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29436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805076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805076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307140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07140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743143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743143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329436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329436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5805076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805076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6307140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307140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6743143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743143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5329436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329436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5805076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805076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6307140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307140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743143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743143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7324480" y="2086639"/>
            <a:ext cx="1709290" cy="2222500"/>
          </a:xfrm>
          <a:prstGeom prst="roundRect">
            <a:avLst>
              <a:gd name="adj" fmla="val 4280"/>
            </a:avLst>
          </a:prstGeom>
          <a:solidFill>
            <a:srgbClr val="D5D5FB"/>
          </a:solidFill>
          <a:ln/>
        </p:spPr>
      </p:sp>
      <p:sp>
        <p:nvSpPr>
          <p:cNvPr id="88" name="Text 86"/>
          <p:cNvSpPr/>
          <p:nvPr/>
        </p:nvSpPr>
        <p:spPr>
          <a:xfrm>
            <a:off x="7546790" y="1809306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1150" b="1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Head 3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430178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430178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7905817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905817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8407881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407881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8843884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843884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7430178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430178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7905817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905817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8407881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407881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8843884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843884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7430178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30178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7905817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905817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8407881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407881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8843884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843884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7430178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7430178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7905817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905817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8407881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407881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8843884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843884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121" name="Text 119"/>
          <p:cNvSpPr/>
          <p:nvPr/>
        </p:nvSpPr>
        <p:spPr>
          <a:xfrm>
            <a:off x="2416708" y="4772983"/>
            <a:ext cx="355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2800" dirty="0"/>
          </a:p>
        </p:txBody>
      </p:sp>
      <p:sp>
        <p:nvSpPr>
          <p:cNvPr id="122" name="Shape 120"/>
          <p:cNvSpPr/>
          <p:nvPr/>
        </p:nvSpPr>
        <p:spPr>
          <a:xfrm>
            <a:off x="3109785" y="4744777"/>
            <a:ext cx="1603592" cy="342900"/>
          </a:xfrm>
          <a:prstGeom prst="roundRect">
            <a:avLst>
              <a:gd name="adj" fmla="val 16000"/>
            </a:avLst>
          </a:prstGeom>
          <a:solidFill>
            <a:srgbClr val="D4FCE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162633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162633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5" name="Shape 123"/>
          <p:cNvSpPr/>
          <p:nvPr/>
        </p:nvSpPr>
        <p:spPr>
          <a:xfrm>
            <a:off x="3638273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638273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27" name="Shape 125"/>
          <p:cNvSpPr/>
          <p:nvPr/>
        </p:nvSpPr>
        <p:spPr>
          <a:xfrm>
            <a:off x="4113913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113913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29" name="Shape 127"/>
          <p:cNvSpPr/>
          <p:nvPr/>
        </p:nvSpPr>
        <p:spPr>
          <a:xfrm>
            <a:off x="4589552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589552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5250163" y="4744777"/>
            <a:ext cx="1643229" cy="342900"/>
          </a:xfrm>
          <a:prstGeom prst="roundRect">
            <a:avLst>
              <a:gd name="adj" fmla="val 16000"/>
            </a:avLst>
          </a:prstGeom>
          <a:solidFill>
            <a:srgbClr val="F8E6D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316224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316224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34" name="Shape 132"/>
          <p:cNvSpPr/>
          <p:nvPr/>
        </p:nvSpPr>
        <p:spPr>
          <a:xfrm>
            <a:off x="5791863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91863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6" name="Shape 134"/>
          <p:cNvSpPr/>
          <p:nvPr/>
        </p:nvSpPr>
        <p:spPr>
          <a:xfrm>
            <a:off x="6254291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6254291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6743143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6743143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40" name="Shape 138"/>
          <p:cNvSpPr/>
          <p:nvPr/>
        </p:nvSpPr>
        <p:spPr>
          <a:xfrm>
            <a:off x="7364116" y="4744777"/>
            <a:ext cx="1735715" cy="342900"/>
          </a:xfrm>
          <a:prstGeom prst="roundRect">
            <a:avLst>
              <a:gd name="adj" fmla="val 16000"/>
            </a:avLst>
          </a:prstGeom>
          <a:solidFill>
            <a:srgbClr val="D5D5F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456602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456602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43" name="Shape 141"/>
          <p:cNvSpPr/>
          <p:nvPr/>
        </p:nvSpPr>
        <p:spPr>
          <a:xfrm>
            <a:off x="7945454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7945454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5" name="Shape 143"/>
          <p:cNvSpPr/>
          <p:nvPr/>
        </p:nvSpPr>
        <p:spPr>
          <a:xfrm>
            <a:off x="8421093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8421093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7" name="Shape 145"/>
          <p:cNvSpPr/>
          <p:nvPr/>
        </p:nvSpPr>
        <p:spPr>
          <a:xfrm>
            <a:off x="8896733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6733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49" name="Text 147"/>
          <p:cNvSpPr/>
          <p:nvPr/>
        </p:nvSpPr>
        <p:spPr>
          <a:xfrm>
            <a:off x="3164381" y="5183370"/>
            <a:ext cx="139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Corresponding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at Head 1</a:t>
            </a:r>
            <a:endParaRPr lang="en-US" sz="1050" dirty="0"/>
          </a:p>
        </p:txBody>
      </p:sp>
      <p:sp>
        <p:nvSpPr>
          <p:cNvPr id="150" name="Text 148"/>
          <p:cNvSpPr/>
          <p:nvPr/>
        </p:nvSpPr>
        <p:spPr>
          <a:xfrm>
            <a:off x="5496336" y="5183370"/>
            <a:ext cx="139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Corresponding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at Head 2</a:t>
            </a:r>
            <a:endParaRPr lang="en-US" sz="1050" dirty="0"/>
          </a:p>
        </p:txBody>
      </p:sp>
      <p:sp>
        <p:nvSpPr>
          <p:cNvPr id="151" name="Text 149"/>
          <p:cNvSpPr/>
          <p:nvPr/>
        </p:nvSpPr>
        <p:spPr>
          <a:xfrm>
            <a:off x="7735806" y="5183370"/>
            <a:ext cx="139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Corresponding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at Head 3</a:t>
            </a:r>
            <a:endParaRPr lang="en-US" sz="1050" dirty="0"/>
          </a:p>
        </p:txBody>
      </p:sp>
      <p:sp>
        <p:nvSpPr>
          <p:cNvPr id="152" name="Text 150"/>
          <p:cNvSpPr/>
          <p:nvPr/>
        </p:nvSpPr>
        <p:spPr>
          <a:xfrm>
            <a:off x="3838045" y="5589769"/>
            <a:ext cx="40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50" b="1" baseline="-40000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850" b="1" baseline="30000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153" name="Text 151"/>
          <p:cNvSpPr/>
          <p:nvPr/>
        </p:nvSpPr>
        <p:spPr>
          <a:xfrm>
            <a:off x="6136970" y="5589769"/>
            <a:ext cx="40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50" b="1" baseline="-40000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850" b="1" baseline="30000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154" name="Text 152"/>
          <p:cNvSpPr/>
          <p:nvPr/>
        </p:nvSpPr>
        <p:spPr>
          <a:xfrm>
            <a:off x="8383046" y="5589769"/>
            <a:ext cx="40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50" b="1" baseline="-40000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850" b="1" baseline="30000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1300" dirty="0"/>
          </a:p>
        </p:txBody>
      </p:sp>
      <p:sp>
        <p:nvSpPr>
          <p:cNvPr id="155" name="Shape 153"/>
          <p:cNvSpPr/>
          <p:nvPr/>
        </p:nvSpPr>
        <p:spPr>
          <a:xfrm>
            <a:off x="6710112" y="3615068"/>
            <a:ext cx="0" cy="86389"/>
          </a:xfrm>
          <a:prstGeom prst="line">
            <a:avLst/>
          </a:prstGeom>
          <a:noFill/>
          <a:ln w="9525">
            <a:solidFill>
              <a:srgbClr val="CC00CC"/>
            </a:solidFill>
            <a:prstDash val="solid"/>
            <a:headEnd type="triangle"/>
          </a:ln>
        </p:spPr>
      </p:sp>
      <p:sp>
        <p:nvSpPr>
          <p:cNvPr id="156" name="Text 154"/>
          <p:cNvSpPr/>
          <p:nvPr/>
        </p:nvSpPr>
        <p:spPr>
          <a:xfrm>
            <a:off x="6582088" y="3691120"/>
            <a:ext cx="2032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500" b="1" baseline="-40000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50" dirty="0"/>
          </a:p>
        </p:txBody>
      </p:sp>
      <p:pic>
        <p:nvPicPr>
          <p:cNvPr id="157" name="Image 0" descr="/home/ahmed/Projects/ai_llm_slides/videos/deep-learning/002_transformers_part2/recreated_pptx/build/assets/s012_brace_tall_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1238" y="2020185"/>
            <a:ext cx="152430" cy="2360706"/>
          </a:xfrm>
          <a:prstGeom prst="rect">
            <a:avLst/>
          </a:prstGeom>
        </p:spPr>
      </p:pic>
      <p:pic>
        <p:nvPicPr>
          <p:cNvPr id="158" name="Image 1" descr="/home/ahmed/Projects/ai_llm_slides/videos/deep-learning/002_transformers_part2/recreated_pptx/build/assets/s012_brace_tall_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0614" y="2020185"/>
            <a:ext cx="176754" cy="2354580"/>
          </a:xfrm>
          <a:prstGeom prst="rect">
            <a:avLst/>
          </a:prstGeom>
        </p:spPr>
      </p:pic>
      <p:pic>
        <p:nvPicPr>
          <p:cNvPr id="159" name="Image 2" descr="/home/ahmed/Projects/ai_llm_slides/videos/deep-learning/002_transformers_part2/recreated_pptx/build/assets/s012_brace_short_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4450" y="4638451"/>
            <a:ext cx="141732" cy="512064"/>
          </a:xfrm>
          <a:prstGeom prst="rect">
            <a:avLst/>
          </a:prstGeom>
        </p:spPr>
      </p:pic>
      <p:pic>
        <p:nvPicPr>
          <p:cNvPr id="160" name="Image 3" descr="/home/ahmed/Projects/ai_llm_slides/videos/deep-learning/002_transformers_part2/recreated_pptx/build/assets/s012_brace_short_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6675" y="4638451"/>
            <a:ext cx="141732" cy="5120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ai_llm_slides</dc:creator>
  <cp:lastModifiedBy>ai_llm_slides</cp:lastModifiedBy>
  <cp:revision>1</cp:revision>
  <dcterms:created xsi:type="dcterms:W3CDTF">2026-10-12T15:06:28Z</dcterms:created>
  <dcterms:modified xsi:type="dcterms:W3CDTF">2026-10-12T15:06:28Z</dcterms:modified>
</cp:coreProperties>
</file>