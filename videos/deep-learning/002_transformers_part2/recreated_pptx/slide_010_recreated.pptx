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1.png"/><Relationship Id="rId4" Type="http://schemas.openxmlformats.org/officeDocument/2006/relationships/image" Target="../media/image-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84300" y="599440"/>
            <a:ext cx="942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 FF NN  for Multiplication of ONE Vector by a Matrix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2000" y="971550"/>
            <a:ext cx="1066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i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Multiply </a:t>
            </a:r>
            <a:pPr algn="ctr" indent="0" marL="0">
              <a:buNone/>
            </a:pPr>
            <a:r>
              <a:rPr lang="en-US" sz="1850" b="1" i="1" u="sng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of Current Word </a:t>
            </a:r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850" b="1" i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</a:t>
            </a:r>
            <a:pPr algn="ctr" indent="0" marL="0">
              <a:buNone/>
            </a:pPr>
            <a:r>
              <a:rPr lang="en-US" sz="185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850" b="1" i="1" dirty="0">
                <a:solidFill>
                  <a:srgbClr val="1F3E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(Query) </a:t>
            </a:r>
            <a:pPr algn="ctr" indent="0" marL="0">
              <a:buNone/>
            </a:pPr>
            <a:r>
              <a:rPr lang="en-US" sz="1850" b="1" i="1" dirty="0">
                <a:solidFill>
                  <a:srgbClr val="1E9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{Remember: W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1E9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850" b="1" i="1" dirty="0">
                <a:solidFill>
                  <a:srgbClr val="1E9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Squared Matrix}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824230" y="1342390"/>
            <a:ext cx="2609850" cy="5435600"/>
          </a:xfrm>
          <a:prstGeom prst="roundRect">
            <a:avLst>
              <a:gd name="adj" fmla="val 2102"/>
            </a:avLst>
          </a:prstGeom>
          <a:solidFill>
            <a:srgbClr val="FFFFFF"/>
          </a:solidFill>
          <a:ln w="19050">
            <a:solidFill>
              <a:srgbClr val="2216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7900" y="1450340"/>
            <a:ext cx="1676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Word </a:t>
            </a:r>
            <a:pPr algn="l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127760" y="2086610"/>
            <a:ext cx="1717040" cy="4699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7760" y="2086610"/>
            <a:ext cx="1729740" cy="141605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7760" y="2086610"/>
            <a:ext cx="1729740" cy="280416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7760" y="2086610"/>
            <a:ext cx="1676400" cy="413385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7760" y="3495040"/>
            <a:ext cx="1717040" cy="-136144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7760" y="3495040"/>
            <a:ext cx="1729740" cy="762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7760" y="3495040"/>
            <a:ext cx="1729740" cy="139573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7760" y="3495040"/>
            <a:ext cx="1676400" cy="272542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7760" y="4904740"/>
            <a:ext cx="1717040" cy="-277114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27760" y="4904740"/>
            <a:ext cx="1729740" cy="-140208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27760" y="4904740"/>
            <a:ext cx="1729740" cy="-1397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7760" y="4904740"/>
            <a:ext cx="1676400" cy="131572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27760" y="6220460"/>
            <a:ext cx="1717040" cy="-408686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7760" y="6220460"/>
            <a:ext cx="1729740" cy="-271780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27760" y="6220460"/>
            <a:ext cx="1729740" cy="-132969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7760" y="6220460"/>
            <a:ext cx="1676400" cy="0"/>
          </a:xfrm>
          <a:prstGeom prst="line">
            <a:avLst/>
          </a:prstGeom>
          <a:noFill/>
          <a:ln w="9525">
            <a:solidFill>
              <a:srgbClr val="D0CC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51280" y="1926590"/>
            <a:ext cx="396240" cy="1182370"/>
          </a:xfrm>
          <a:prstGeom prst="ellipse">
            <a:avLst/>
          </a:prstGeom>
          <a:solidFill>
            <a:srgbClr val="88FFFF"/>
          </a:solidFill>
          <a:ln w="12700">
            <a:solidFill>
              <a:srgbClr val="4AB8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51280" y="3149600"/>
            <a:ext cx="396240" cy="1117600"/>
          </a:xfrm>
          <a:prstGeom prst="ellipse">
            <a:avLst/>
          </a:prstGeom>
          <a:solidFill>
            <a:srgbClr val="F8D8F8"/>
          </a:solidFill>
          <a:ln w="12700">
            <a:solidFill>
              <a:srgbClr val="D888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51280" y="4318000"/>
            <a:ext cx="396240" cy="990600"/>
          </a:xfrm>
          <a:prstGeom prst="ellipse">
            <a:avLst/>
          </a:prstGeom>
          <a:solidFill>
            <a:srgbClr val="FFE4CC"/>
          </a:solidFill>
          <a:ln w="12700">
            <a:solidFill>
              <a:srgbClr val="E8B0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51280" y="5346700"/>
            <a:ext cx="396240" cy="1028700"/>
          </a:xfrm>
          <a:prstGeom prst="ellipse">
            <a:avLst/>
          </a:prstGeom>
          <a:solidFill>
            <a:srgbClr val="DFF8D8"/>
          </a:solidFill>
          <a:ln w="12700">
            <a:solidFill>
              <a:srgbClr val="98D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46200" y="202819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346200" y="234696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346200" y="266573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346200" y="290449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346200" y="318389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346200" y="346329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346200" y="375539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346200" y="398145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346200" y="43434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346200" y="46101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346200" y="48768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346200" y="511810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346200" y="533781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346200" y="565658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346200" y="594868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346200" y="6135370"/>
            <a:ext cx="406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69010" y="1927860"/>
            <a:ext cx="317500" cy="317500"/>
          </a:xfrm>
          <a:prstGeom prst="ellipse">
            <a:avLst/>
          </a:prstGeom>
          <a:solidFill>
            <a:srgbClr val="F5CCF6"/>
          </a:solidFill>
          <a:ln w="15875">
            <a:solidFill>
              <a:srgbClr val="D9A8D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9960" y="1972310"/>
            <a:ext cx="35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69010" y="3336290"/>
            <a:ext cx="317500" cy="317500"/>
          </a:xfrm>
          <a:prstGeom prst="ellipse">
            <a:avLst/>
          </a:prstGeom>
          <a:solidFill>
            <a:srgbClr val="F5CCF6"/>
          </a:solidFill>
          <a:ln w="15875">
            <a:solidFill>
              <a:srgbClr val="D9A8D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49960" y="3380740"/>
            <a:ext cx="35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69010" y="4745990"/>
            <a:ext cx="317500" cy="317500"/>
          </a:xfrm>
          <a:prstGeom prst="ellipse">
            <a:avLst/>
          </a:prstGeom>
          <a:solidFill>
            <a:srgbClr val="F5CCF6"/>
          </a:solidFill>
          <a:ln w="15875">
            <a:solidFill>
              <a:srgbClr val="D9A8D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49960" y="4790440"/>
            <a:ext cx="35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69010" y="6061710"/>
            <a:ext cx="317500" cy="317500"/>
          </a:xfrm>
          <a:prstGeom prst="ellipse">
            <a:avLst/>
          </a:prstGeom>
          <a:solidFill>
            <a:srgbClr val="F5CCF6"/>
          </a:solidFill>
          <a:ln w="15875">
            <a:solidFill>
              <a:srgbClr val="D9A8D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49960" y="6106160"/>
            <a:ext cx="35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625725" y="1914525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635250" y="2082800"/>
            <a:ext cx="101600" cy="101600"/>
          </a:xfrm>
          <a:prstGeom prst="pie">
            <a:avLst>
              <a:gd name="adj1" fmla="val 5400000"/>
              <a:gd name="adj2" fmla="val 12600000"/>
            </a:avLst>
          </a:prstGeom>
          <a:solidFill>
            <a:srgbClr val="2478D0"/>
          </a:solidFill>
          <a:ln/>
        </p:spPr>
      </p:sp>
      <p:sp>
        <p:nvSpPr>
          <p:cNvPr id="55" name="Shape 53"/>
          <p:cNvSpPr/>
          <p:nvPr/>
        </p:nvSpPr>
        <p:spPr>
          <a:xfrm>
            <a:off x="2635250" y="2082800"/>
            <a:ext cx="101600" cy="101600"/>
          </a:xfrm>
          <a:prstGeom prst="pie">
            <a:avLst>
              <a:gd name="adj1" fmla="val 12600000"/>
              <a:gd name="adj2" fmla="val 19800000"/>
            </a:avLst>
          </a:prstGeom>
          <a:solidFill>
            <a:srgbClr val="B04AC8"/>
          </a:solidFill>
          <a:ln/>
        </p:spPr>
      </p:sp>
      <p:sp>
        <p:nvSpPr>
          <p:cNvPr id="56" name="Shape 54"/>
          <p:cNvSpPr/>
          <p:nvPr/>
        </p:nvSpPr>
        <p:spPr>
          <a:xfrm>
            <a:off x="2635250" y="2082800"/>
            <a:ext cx="101600" cy="101600"/>
          </a:xfrm>
          <a:prstGeom prst="pie">
            <a:avLst>
              <a:gd name="adj1" fmla="val 19800000"/>
              <a:gd name="adj2" fmla="val 5400000"/>
            </a:avLst>
          </a:prstGeom>
          <a:solidFill>
            <a:srgbClr val="6CB86C"/>
          </a:solidFill>
          <a:ln/>
        </p:spPr>
      </p:sp>
      <p:sp>
        <p:nvSpPr>
          <p:cNvPr id="57" name="Shape 55"/>
          <p:cNvSpPr/>
          <p:nvPr/>
        </p:nvSpPr>
        <p:spPr>
          <a:xfrm>
            <a:off x="2747069" y="2035869"/>
            <a:ext cx="246262" cy="246262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80597" y="2069397"/>
            <a:ext cx="230007" cy="230007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821000" y="2109800"/>
            <a:ext cx="200000" cy="20000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872347" y="2161147"/>
            <a:ext cx="148106" cy="148106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946858" y="2235658"/>
            <a:ext cx="43533" cy="43533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844800" y="1955800"/>
            <a:ext cx="0" cy="355600"/>
          </a:xfrm>
          <a:prstGeom prst="line">
            <a:avLst/>
          </a:prstGeom>
          <a:noFill/>
          <a:ln w="12700">
            <a:solidFill>
              <a:srgbClr val="90909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654300" y="2006600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2753360" y="2327910"/>
            <a:ext cx="317500" cy="317500"/>
          </a:xfrm>
          <a:prstGeom prst="ellipse">
            <a:avLst/>
          </a:prstGeom>
          <a:solidFill>
            <a:srgbClr val="F2F2F2"/>
          </a:solidFill>
          <a:ln w="9525">
            <a:solidFill>
              <a:srgbClr val="C0C0C0"/>
            </a:solidFill>
            <a:prstDash val="sysDot"/>
          </a:ln>
        </p:spPr>
      </p:sp>
      <p:sp>
        <p:nvSpPr>
          <p:cNvPr id="65" name="Shape 63"/>
          <p:cNvSpPr/>
          <p:nvPr/>
        </p:nvSpPr>
        <p:spPr>
          <a:xfrm>
            <a:off x="2638425" y="3283585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647950" y="3451860"/>
            <a:ext cx="101600" cy="101600"/>
          </a:xfrm>
          <a:prstGeom prst="pie">
            <a:avLst>
              <a:gd name="adj1" fmla="val 5400000"/>
              <a:gd name="adj2" fmla="val 12600000"/>
            </a:avLst>
          </a:prstGeom>
          <a:solidFill>
            <a:srgbClr val="2478D0"/>
          </a:solidFill>
          <a:ln/>
        </p:spPr>
      </p:sp>
      <p:sp>
        <p:nvSpPr>
          <p:cNvPr id="67" name="Shape 65"/>
          <p:cNvSpPr/>
          <p:nvPr/>
        </p:nvSpPr>
        <p:spPr>
          <a:xfrm>
            <a:off x="2647950" y="3451860"/>
            <a:ext cx="101600" cy="101600"/>
          </a:xfrm>
          <a:prstGeom prst="pie">
            <a:avLst>
              <a:gd name="adj1" fmla="val 12600000"/>
              <a:gd name="adj2" fmla="val 19800000"/>
            </a:avLst>
          </a:prstGeom>
          <a:solidFill>
            <a:srgbClr val="B04AC8"/>
          </a:solidFill>
          <a:ln/>
        </p:spPr>
      </p:sp>
      <p:sp>
        <p:nvSpPr>
          <p:cNvPr id="68" name="Shape 66"/>
          <p:cNvSpPr/>
          <p:nvPr/>
        </p:nvSpPr>
        <p:spPr>
          <a:xfrm>
            <a:off x="2647950" y="3451860"/>
            <a:ext cx="101600" cy="101600"/>
          </a:xfrm>
          <a:prstGeom prst="pie">
            <a:avLst>
              <a:gd name="adj1" fmla="val 19800000"/>
              <a:gd name="adj2" fmla="val 5400000"/>
            </a:avLst>
          </a:prstGeom>
          <a:solidFill>
            <a:srgbClr val="6CB86C"/>
          </a:solidFill>
          <a:ln/>
        </p:spPr>
      </p:sp>
      <p:sp>
        <p:nvSpPr>
          <p:cNvPr id="69" name="Shape 67"/>
          <p:cNvSpPr/>
          <p:nvPr/>
        </p:nvSpPr>
        <p:spPr>
          <a:xfrm>
            <a:off x="2759769" y="3404929"/>
            <a:ext cx="246262" cy="246262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793297" y="3438457"/>
            <a:ext cx="230007" cy="230007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833700" y="3478860"/>
            <a:ext cx="200000" cy="20000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885047" y="3530207"/>
            <a:ext cx="148106" cy="148106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959558" y="3604718"/>
            <a:ext cx="43533" cy="43533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857500" y="3324860"/>
            <a:ext cx="0" cy="355600"/>
          </a:xfrm>
          <a:prstGeom prst="line">
            <a:avLst/>
          </a:prstGeom>
          <a:noFill/>
          <a:ln w="12700">
            <a:solidFill>
              <a:srgbClr val="90909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667000" y="3375660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2766060" y="3696970"/>
            <a:ext cx="317500" cy="317500"/>
          </a:xfrm>
          <a:prstGeom prst="ellipse">
            <a:avLst/>
          </a:prstGeom>
          <a:solidFill>
            <a:srgbClr val="F2F2F2"/>
          </a:solidFill>
          <a:ln w="9525">
            <a:solidFill>
              <a:srgbClr val="C0C0C0"/>
            </a:solidFill>
            <a:prstDash val="sysDot"/>
          </a:ln>
        </p:spPr>
      </p:sp>
      <p:sp>
        <p:nvSpPr>
          <p:cNvPr id="77" name="Shape 75"/>
          <p:cNvSpPr/>
          <p:nvPr/>
        </p:nvSpPr>
        <p:spPr>
          <a:xfrm>
            <a:off x="2638425" y="4671695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647950" y="4839970"/>
            <a:ext cx="101600" cy="101600"/>
          </a:xfrm>
          <a:prstGeom prst="pie">
            <a:avLst>
              <a:gd name="adj1" fmla="val 5400000"/>
              <a:gd name="adj2" fmla="val 12600000"/>
            </a:avLst>
          </a:prstGeom>
          <a:solidFill>
            <a:srgbClr val="2478D0"/>
          </a:solidFill>
          <a:ln/>
        </p:spPr>
      </p:sp>
      <p:sp>
        <p:nvSpPr>
          <p:cNvPr id="79" name="Shape 77"/>
          <p:cNvSpPr/>
          <p:nvPr/>
        </p:nvSpPr>
        <p:spPr>
          <a:xfrm>
            <a:off x="2647950" y="4839970"/>
            <a:ext cx="101600" cy="101600"/>
          </a:xfrm>
          <a:prstGeom prst="pie">
            <a:avLst>
              <a:gd name="adj1" fmla="val 12600000"/>
              <a:gd name="adj2" fmla="val 19800000"/>
            </a:avLst>
          </a:prstGeom>
          <a:solidFill>
            <a:srgbClr val="B04AC8"/>
          </a:solidFill>
          <a:ln/>
        </p:spPr>
      </p:sp>
      <p:sp>
        <p:nvSpPr>
          <p:cNvPr id="80" name="Shape 78"/>
          <p:cNvSpPr/>
          <p:nvPr/>
        </p:nvSpPr>
        <p:spPr>
          <a:xfrm>
            <a:off x="2647950" y="4839970"/>
            <a:ext cx="101600" cy="101600"/>
          </a:xfrm>
          <a:prstGeom prst="pie">
            <a:avLst>
              <a:gd name="adj1" fmla="val 19800000"/>
              <a:gd name="adj2" fmla="val 5400000"/>
            </a:avLst>
          </a:prstGeom>
          <a:solidFill>
            <a:srgbClr val="6CB86C"/>
          </a:solidFill>
          <a:ln/>
        </p:spPr>
      </p:sp>
      <p:sp>
        <p:nvSpPr>
          <p:cNvPr id="81" name="Shape 79"/>
          <p:cNvSpPr/>
          <p:nvPr/>
        </p:nvSpPr>
        <p:spPr>
          <a:xfrm>
            <a:off x="2759769" y="4793039"/>
            <a:ext cx="246262" cy="246262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93297" y="4826567"/>
            <a:ext cx="230007" cy="230007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833700" y="4866970"/>
            <a:ext cx="200000" cy="20000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85047" y="4918317"/>
            <a:ext cx="148106" cy="148106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959558" y="4992828"/>
            <a:ext cx="43533" cy="43533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857500" y="4712970"/>
            <a:ext cx="0" cy="355600"/>
          </a:xfrm>
          <a:prstGeom prst="line">
            <a:avLst/>
          </a:prstGeom>
          <a:noFill/>
          <a:ln w="12700">
            <a:solidFill>
              <a:srgbClr val="90909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667000" y="4763770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2766060" y="5085080"/>
            <a:ext cx="317500" cy="317500"/>
          </a:xfrm>
          <a:prstGeom prst="ellipse">
            <a:avLst/>
          </a:prstGeom>
          <a:solidFill>
            <a:srgbClr val="F2F2F2"/>
          </a:solidFill>
          <a:ln w="9525">
            <a:solidFill>
              <a:srgbClr val="C0C0C0"/>
            </a:solidFill>
            <a:prstDash val="sysDot"/>
          </a:ln>
        </p:spPr>
      </p:sp>
      <p:sp>
        <p:nvSpPr>
          <p:cNvPr id="89" name="Shape 87"/>
          <p:cNvSpPr/>
          <p:nvPr/>
        </p:nvSpPr>
        <p:spPr>
          <a:xfrm>
            <a:off x="2585085" y="6001385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594610" y="6169660"/>
            <a:ext cx="101600" cy="101600"/>
          </a:xfrm>
          <a:prstGeom prst="pie">
            <a:avLst>
              <a:gd name="adj1" fmla="val 5400000"/>
              <a:gd name="adj2" fmla="val 12600000"/>
            </a:avLst>
          </a:prstGeom>
          <a:solidFill>
            <a:srgbClr val="2478D0"/>
          </a:solidFill>
          <a:ln/>
        </p:spPr>
      </p:sp>
      <p:sp>
        <p:nvSpPr>
          <p:cNvPr id="91" name="Shape 89"/>
          <p:cNvSpPr/>
          <p:nvPr/>
        </p:nvSpPr>
        <p:spPr>
          <a:xfrm>
            <a:off x="2594610" y="6169660"/>
            <a:ext cx="101600" cy="101600"/>
          </a:xfrm>
          <a:prstGeom prst="pie">
            <a:avLst>
              <a:gd name="adj1" fmla="val 12600000"/>
              <a:gd name="adj2" fmla="val 19800000"/>
            </a:avLst>
          </a:prstGeom>
          <a:solidFill>
            <a:srgbClr val="B04AC8"/>
          </a:solidFill>
          <a:ln/>
        </p:spPr>
      </p:sp>
      <p:sp>
        <p:nvSpPr>
          <p:cNvPr id="92" name="Shape 90"/>
          <p:cNvSpPr/>
          <p:nvPr/>
        </p:nvSpPr>
        <p:spPr>
          <a:xfrm>
            <a:off x="2594610" y="6169660"/>
            <a:ext cx="101600" cy="101600"/>
          </a:xfrm>
          <a:prstGeom prst="pie">
            <a:avLst>
              <a:gd name="adj1" fmla="val 19800000"/>
              <a:gd name="adj2" fmla="val 5400000"/>
            </a:avLst>
          </a:prstGeom>
          <a:solidFill>
            <a:srgbClr val="6CB86C"/>
          </a:solidFill>
          <a:ln/>
        </p:spPr>
      </p:sp>
      <p:sp>
        <p:nvSpPr>
          <p:cNvPr id="93" name="Shape 91"/>
          <p:cNvSpPr/>
          <p:nvPr/>
        </p:nvSpPr>
        <p:spPr>
          <a:xfrm>
            <a:off x="2706429" y="6122729"/>
            <a:ext cx="246262" cy="246262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39957" y="6156257"/>
            <a:ext cx="230007" cy="230007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780360" y="6196660"/>
            <a:ext cx="200000" cy="20000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831707" y="6248007"/>
            <a:ext cx="148106" cy="148106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906218" y="6322518"/>
            <a:ext cx="43533" cy="43533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804160" y="6042660"/>
            <a:ext cx="0" cy="355600"/>
          </a:xfrm>
          <a:prstGeom prst="line">
            <a:avLst/>
          </a:prstGeom>
          <a:noFill/>
          <a:ln w="12700">
            <a:solidFill>
              <a:srgbClr val="90909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613660" y="6093460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400" dirty="0"/>
          </a:p>
        </p:txBody>
      </p:sp>
      <p:sp>
        <p:nvSpPr>
          <p:cNvPr id="100" name="Shape 98"/>
          <p:cNvSpPr/>
          <p:nvPr/>
        </p:nvSpPr>
        <p:spPr>
          <a:xfrm>
            <a:off x="2712720" y="6414770"/>
            <a:ext cx="317500" cy="317500"/>
          </a:xfrm>
          <a:prstGeom prst="ellipse">
            <a:avLst/>
          </a:prstGeom>
          <a:solidFill>
            <a:srgbClr val="F2F2F2"/>
          </a:solidFill>
          <a:ln w="9525">
            <a:solidFill>
              <a:srgbClr val="C0C0C0"/>
            </a:solidFill>
            <a:prstDash val="sysDot"/>
          </a:ln>
        </p:spPr>
      </p:sp>
      <p:sp>
        <p:nvSpPr>
          <p:cNvPr id="101" name="Shape 99"/>
          <p:cNvSpPr/>
          <p:nvPr/>
        </p:nvSpPr>
        <p:spPr>
          <a:xfrm>
            <a:off x="3073400" y="2133600"/>
            <a:ext cx="292100" cy="0"/>
          </a:xfrm>
          <a:prstGeom prst="line">
            <a:avLst/>
          </a:prstGeom>
          <a:noFill/>
          <a:ln w="22225">
            <a:solidFill>
              <a:srgbClr val="2E9C48"/>
            </a:solidFill>
            <a:prstDash val="solid"/>
            <a:tailEnd type="triangle"/>
          </a:ln>
        </p:spPr>
      </p:sp>
      <p:sp>
        <p:nvSpPr>
          <p:cNvPr id="102" name="Text 100"/>
          <p:cNvSpPr/>
          <p:nvPr/>
        </p:nvSpPr>
        <p:spPr>
          <a:xfrm>
            <a:off x="3073400" y="1797050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103" name="Shape 101"/>
          <p:cNvSpPr/>
          <p:nvPr/>
        </p:nvSpPr>
        <p:spPr>
          <a:xfrm>
            <a:off x="3086100" y="3502660"/>
            <a:ext cx="292100" cy="0"/>
          </a:xfrm>
          <a:prstGeom prst="line">
            <a:avLst/>
          </a:prstGeom>
          <a:noFill/>
          <a:ln w="22225">
            <a:solidFill>
              <a:srgbClr val="2E9C48"/>
            </a:solidFill>
            <a:prstDash val="solid"/>
            <a:tailEnd type="triangle"/>
          </a:ln>
        </p:spPr>
      </p:sp>
      <p:sp>
        <p:nvSpPr>
          <p:cNvPr id="104" name="Text 102"/>
          <p:cNvSpPr/>
          <p:nvPr/>
        </p:nvSpPr>
        <p:spPr>
          <a:xfrm>
            <a:off x="3086100" y="3166110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05" name="Shape 103"/>
          <p:cNvSpPr/>
          <p:nvPr/>
        </p:nvSpPr>
        <p:spPr>
          <a:xfrm>
            <a:off x="3086100" y="4890770"/>
            <a:ext cx="292100" cy="0"/>
          </a:xfrm>
          <a:prstGeom prst="line">
            <a:avLst/>
          </a:prstGeom>
          <a:noFill/>
          <a:ln w="22225">
            <a:solidFill>
              <a:srgbClr val="2E9C48"/>
            </a:solidFill>
            <a:prstDash val="solid"/>
            <a:tailEnd type="triangle"/>
          </a:ln>
        </p:spPr>
      </p:sp>
      <p:sp>
        <p:nvSpPr>
          <p:cNvPr id="106" name="Text 104"/>
          <p:cNvSpPr/>
          <p:nvPr/>
        </p:nvSpPr>
        <p:spPr>
          <a:xfrm>
            <a:off x="3086100" y="4554220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07" name="Shape 105"/>
          <p:cNvSpPr/>
          <p:nvPr/>
        </p:nvSpPr>
        <p:spPr>
          <a:xfrm>
            <a:off x="3032760" y="6220460"/>
            <a:ext cx="292100" cy="0"/>
          </a:xfrm>
          <a:prstGeom prst="line">
            <a:avLst/>
          </a:prstGeom>
          <a:noFill/>
          <a:ln w="22225">
            <a:solidFill>
              <a:srgbClr val="2E9C48"/>
            </a:solidFill>
            <a:prstDash val="solid"/>
            <a:tailEnd type="triangle"/>
          </a:ln>
        </p:spPr>
      </p:sp>
      <p:sp>
        <p:nvSpPr>
          <p:cNvPr id="108" name="Text 106"/>
          <p:cNvSpPr/>
          <p:nvPr/>
        </p:nvSpPr>
        <p:spPr>
          <a:xfrm>
            <a:off x="3032760" y="5883910"/>
            <a:ext cx="33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109" name="Shape 107"/>
          <p:cNvSpPr/>
          <p:nvPr/>
        </p:nvSpPr>
        <p:spPr>
          <a:xfrm>
            <a:off x="3554730" y="1303020"/>
            <a:ext cx="3041650" cy="2637790"/>
          </a:xfrm>
          <a:prstGeom prst="roundRect">
            <a:avLst>
              <a:gd name="adj" fmla="val 3467"/>
            </a:avLst>
          </a:prstGeom>
          <a:solidFill>
            <a:srgbClr val="F2F1EF"/>
          </a:solidFill>
          <a:ln w="15875">
            <a:solidFill>
              <a:srgbClr val="4A3EC4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554730" y="4152900"/>
            <a:ext cx="3041650" cy="2639060"/>
          </a:xfrm>
          <a:prstGeom prst="roundRect">
            <a:avLst>
              <a:gd name="adj" fmla="val 3465"/>
            </a:avLst>
          </a:prstGeom>
          <a:solidFill>
            <a:srgbClr val="F2F1EF"/>
          </a:solidFill>
          <a:ln w="15875">
            <a:solidFill>
              <a:srgbClr val="4A3EC4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681470" y="1289050"/>
            <a:ext cx="4946650" cy="2637790"/>
          </a:xfrm>
          <a:prstGeom prst="roundRect">
            <a:avLst>
              <a:gd name="adj" fmla="val 3467"/>
            </a:avLst>
          </a:prstGeom>
          <a:solidFill>
            <a:srgbClr val="F2F1EF"/>
          </a:solidFill>
          <a:ln w="15875">
            <a:solidFill>
              <a:srgbClr val="4A3EC4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681470" y="4140200"/>
            <a:ext cx="4946650" cy="2639060"/>
          </a:xfrm>
          <a:prstGeom prst="roundRect">
            <a:avLst>
              <a:gd name="adj" fmla="val 3465"/>
            </a:avLst>
          </a:prstGeom>
          <a:solidFill>
            <a:srgbClr val="F2F1EF"/>
          </a:solidFill>
          <a:ln w="15875">
            <a:solidFill>
              <a:srgbClr val="4A3EC4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470400" y="1993900"/>
            <a:ext cx="279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2200" dirty="0"/>
          </a:p>
        </p:txBody>
      </p:sp>
      <p:sp>
        <p:nvSpPr>
          <p:cNvPr id="114" name="Text 112"/>
          <p:cNvSpPr/>
          <p:nvPr/>
        </p:nvSpPr>
        <p:spPr>
          <a:xfrm>
            <a:off x="4730750" y="2037080"/>
            <a:ext cx="114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endParaRPr lang="en-US" sz="1100" dirty="0"/>
          </a:p>
        </p:txBody>
      </p:sp>
      <p:sp>
        <p:nvSpPr>
          <p:cNvPr id="115" name="Text 113"/>
          <p:cNvSpPr/>
          <p:nvPr/>
        </p:nvSpPr>
        <p:spPr>
          <a:xfrm>
            <a:off x="3619500" y="2266950"/>
            <a:ext cx="1524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endParaRPr lang="en-US" sz="4600" dirty="0"/>
          </a:p>
        </p:txBody>
      </p:sp>
      <p:sp>
        <p:nvSpPr>
          <p:cNvPr id="116" name="Text 114"/>
          <p:cNvSpPr/>
          <p:nvPr/>
        </p:nvSpPr>
        <p:spPr>
          <a:xfrm>
            <a:off x="5593080" y="2266950"/>
            <a:ext cx="1524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4600" dirty="0"/>
          </a:p>
        </p:txBody>
      </p:sp>
      <p:sp>
        <p:nvSpPr>
          <p:cNvPr id="117" name="Shape 115"/>
          <p:cNvSpPr/>
          <p:nvPr/>
        </p:nvSpPr>
        <p:spPr>
          <a:xfrm>
            <a:off x="3732530" y="2366010"/>
            <a:ext cx="1835150" cy="505460"/>
          </a:xfrm>
          <a:prstGeom prst="roundRect">
            <a:avLst>
              <a:gd name="adj" fmla="val 32563"/>
            </a:avLst>
          </a:prstGeom>
          <a:solidFill>
            <a:srgbClr val="FBCCEF"/>
          </a:solidFill>
          <a:ln w="12700">
            <a:solidFill>
              <a:srgbClr val="E8A8DC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884930" y="2524760"/>
            <a:ext cx="303530" cy="265430"/>
          </a:xfrm>
          <a:prstGeom prst="roundRect">
            <a:avLst>
              <a:gd name="adj" fmla="val 17225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884930" y="2524760"/>
            <a:ext cx="30353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20" name="Shape 118"/>
          <p:cNvSpPr/>
          <p:nvPr/>
        </p:nvSpPr>
        <p:spPr>
          <a:xfrm>
            <a:off x="4295140" y="2524760"/>
            <a:ext cx="303530" cy="265430"/>
          </a:xfrm>
          <a:prstGeom prst="roundRect">
            <a:avLst>
              <a:gd name="adj" fmla="val 17225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295140" y="2524760"/>
            <a:ext cx="30353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2" name="Shape 120"/>
          <p:cNvSpPr/>
          <p:nvPr/>
        </p:nvSpPr>
        <p:spPr>
          <a:xfrm>
            <a:off x="4705350" y="2524760"/>
            <a:ext cx="303530" cy="265430"/>
          </a:xfrm>
          <a:prstGeom prst="roundRect">
            <a:avLst>
              <a:gd name="adj" fmla="val 17225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705350" y="2524760"/>
            <a:ext cx="30353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24" name="Shape 122"/>
          <p:cNvSpPr/>
          <p:nvPr/>
        </p:nvSpPr>
        <p:spPr>
          <a:xfrm>
            <a:off x="5115560" y="2524760"/>
            <a:ext cx="303530" cy="265430"/>
          </a:xfrm>
          <a:prstGeom prst="roundRect">
            <a:avLst>
              <a:gd name="adj" fmla="val 17225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115560" y="2524760"/>
            <a:ext cx="30353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26" name="Text 124"/>
          <p:cNvSpPr/>
          <p:nvPr/>
        </p:nvSpPr>
        <p:spPr>
          <a:xfrm>
            <a:off x="5664200" y="2458720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43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=Sigmoid</a:t>
            </a:r>
            <a:endParaRPr lang="en-US" sz="1400" dirty="0"/>
          </a:p>
        </p:txBody>
      </p:sp>
      <p:sp>
        <p:nvSpPr>
          <p:cNvPr id="127" name="Text 125"/>
          <p:cNvSpPr/>
          <p:nvPr/>
        </p:nvSpPr>
        <p:spPr>
          <a:xfrm>
            <a:off x="4470400" y="4843780"/>
            <a:ext cx="279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2200" dirty="0"/>
          </a:p>
        </p:txBody>
      </p:sp>
      <p:sp>
        <p:nvSpPr>
          <p:cNvPr id="128" name="Text 126"/>
          <p:cNvSpPr/>
          <p:nvPr/>
        </p:nvSpPr>
        <p:spPr>
          <a:xfrm>
            <a:off x="4730750" y="4886960"/>
            <a:ext cx="114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endParaRPr lang="en-US" sz="1100" dirty="0"/>
          </a:p>
        </p:txBody>
      </p:sp>
      <p:sp>
        <p:nvSpPr>
          <p:cNvPr id="129" name="Text 127"/>
          <p:cNvSpPr/>
          <p:nvPr/>
        </p:nvSpPr>
        <p:spPr>
          <a:xfrm>
            <a:off x="3619500" y="5116830"/>
            <a:ext cx="1524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endParaRPr lang="en-US" sz="4600" dirty="0"/>
          </a:p>
        </p:txBody>
      </p:sp>
      <p:sp>
        <p:nvSpPr>
          <p:cNvPr id="130" name="Text 128"/>
          <p:cNvSpPr/>
          <p:nvPr/>
        </p:nvSpPr>
        <p:spPr>
          <a:xfrm>
            <a:off x="5593080" y="5116830"/>
            <a:ext cx="1524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4600" dirty="0"/>
          </a:p>
        </p:txBody>
      </p:sp>
      <p:sp>
        <p:nvSpPr>
          <p:cNvPr id="131" name="Shape 129"/>
          <p:cNvSpPr/>
          <p:nvPr/>
        </p:nvSpPr>
        <p:spPr>
          <a:xfrm>
            <a:off x="3732530" y="5215890"/>
            <a:ext cx="1835150" cy="505460"/>
          </a:xfrm>
          <a:prstGeom prst="roundRect">
            <a:avLst>
              <a:gd name="adj" fmla="val 32563"/>
            </a:avLst>
          </a:prstGeom>
          <a:solidFill>
            <a:srgbClr val="FBCCEF"/>
          </a:solidFill>
          <a:ln w="12700">
            <a:solidFill>
              <a:srgbClr val="E8A8DC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3884930" y="5374640"/>
            <a:ext cx="303530" cy="265430"/>
          </a:xfrm>
          <a:prstGeom prst="roundRect">
            <a:avLst>
              <a:gd name="adj" fmla="val 17225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3884930" y="5374640"/>
            <a:ext cx="30353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4" name="Shape 132"/>
          <p:cNvSpPr/>
          <p:nvPr/>
        </p:nvSpPr>
        <p:spPr>
          <a:xfrm>
            <a:off x="4295140" y="5374640"/>
            <a:ext cx="303530" cy="265430"/>
          </a:xfrm>
          <a:prstGeom prst="roundRect">
            <a:avLst>
              <a:gd name="adj" fmla="val 17225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4295140" y="5374640"/>
            <a:ext cx="30353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6" name="Shape 134"/>
          <p:cNvSpPr/>
          <p:nvPr/>
        </p:nvSpPr>
        <p:spPr>
          <a:xfrm>
            <a:off x="4705350" y="5374640"/>
            <a:ext cx="303530" cy="265430"/>
          </a:xfrm>
          <a:prstGeom prst="roundRect">
            <a:avLst>
              <a:gd name="adj" fmla="val 17225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705350" y="5374640"/>
            <a:ext cx="30353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38" name="Shape 136"/>
          <p:cNvSpPr/>
          <p:nvPr/>
        </p:nvSpPr>
        <p:spPr>
          <a:xfrm>
            <a:off x="5115560" y="5374640"/>
            <a:ext cx="303530" cy="265430"/>
          </a:xfrm>
          <a:prstGeom prst="roundRect">
            <a:avLst>
              <a:gd name="adj" fmla="val 17225"/>
            </a:avLst>
          </a:prstGeom>
          <a:solidFill>
            <a:srgbClr val="FFF7EC"/>
          </a:solidFill>
          <a:ln w="15875">
            <a:solidFill>
              <a:srgbClr val="9C3444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5115560" y="5374640"/>
            <a:ext cx="30353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40" name="Text 138"/>
          <p:cNvSpPr/>
          <p:nvPr/>
        </p:nvSpPr>
        <p:spPr>
          <a:xfrm>
            <a:off x="5664200" y="5300980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43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=Linear</a:t>
            </a:r>
            <a:endParaRPr lang="en-US" sz="1400" dirty="0"/>
          </a:p>
        </p:txBody>
      </p:sp>
      <p:pic>
        <p:nvPicPr>
          <p:cNvPr id="141" name="Image 0" descr="/home/ahmed/Projects/ai_llm_slides/videos/deep-learning/002_transformers_part2/recreated_pptx/build/assets/s010_brac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1310" y="1408430"/>
            <a:ext cx="190470" cy="2450592"/>
          </a:xfrm>
          <a:prstGeom prst="rect">
            <a:avLst/>
          </a:prstGeom>
        </p:spPr>
      </p:pic>
      <p:sp>
        <p:nvSpPr>
          <p:cNvPr id="142" name="Shape 139"/>
          <p:cNvSpPr/>
          <p:nvPr/>
        </p:nvSpPr>
        <p:spPr>
          <a:xfrm>
            <a:off x="6863080" y="1381760"/>
            <a:ext cx="1647190" cy="505460"/>
          </a:xfrm>
          <a:prstGeom prst="roundRect">
            <a:avLst>
              <a:gd name="adj" fmla="val 25327"/>
            </a:avLst>
          </a:prstGeom>
          <a:solidFill>
            <a:srgbClr val="FBCCEF"/>
          </a:solidFill>
          <a:ln w="12700">
            <a:solidFill>
              <a:srgbClr val="E8A8DC"/>
            </a:solidFill>
            <a:prstDash val="solid"/>
          </a:ln>
        </p:spPr>
      </p:sp>
      <p:sp>
        <p:nvSpPr>
          <p:cNvPr id="143" name="Text 140"/>
          <p:cNvSpPr/>
          <p:nvPr/>
        </p:nvSpPr>
        <p:spPr>
          <a:xfrm>
            <a:off x="6920230" y="1365250"/>
            <a:ext cx="127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endParaRPr lang="en-US" sz="3400" dirty="0"/>
          </a:p>
        </p:txBody>
      </p:sp>
      <p:sp>
        <p:nvSpPr>
          <p:cNvPr id="144" name="Text 141"/>
          <p:cNvSpPr/>
          <p:nvPr/>
        </p:nvSpPr>
        <p:spPr>
          <a:xfrm>
            <a:off x="8369300" y="1365250"/>
            <a:ext cx="127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3400" dirty="0"/>
          </a:p>
        </p:txBody>
      </p:sp>
      <p:sp>
        <p:nvSpPr>
          <p:cNvPr id="145" name="Shape 142"/>
          <p:cNvSpPr/>
          <p:nvPr/>
        </p:nvSpPr>
        <p:spPr>
          <a:xfrm>
            <a:off x="7059930" y="1501140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46" name="Text 143"/>
          <p:cNvSpPr/>
          <p:nvPr/>
        </p:nvSpPr>
        <p:spPr>
          <a:xfrm>
            <a:off x="7059930" y="150114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47" name="Shape 144"/>
          <p:cNvSpPr/>
          <p:nvPr/>
        </p:nvSpPr>
        <p:spPr>
          <a:xfrm>
            <a:off x="7390130" y="1501140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48" name="Text 145"/>
          <p:cNvSpPr/>
          <p:nvPr/>
        </p:nvSpPr>
        <p:spPr>
          <a:xfrm>
            <a:off x="7390130" y="150114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9" name="Shape 146"/>
          <p:cNvSpPr/>
          <p:nvPr/>
        </p:nvSpPr>
        <p:spPr>
          <a:xfrm>
            <a:off x="7719060" y="1501140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50" name="Text 147"/>
          <p:cNvSpPr/>
          <p:nvPr/>
        </p:nvSpPr>
        <p:spPr>
          <a:xfrm>
            <a:off x="7719060" y="150114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51" name="Shape 148"/>
          <p:cNvSpPr/>
          <p:nvPr/>
        </p:nvSpPr>
        <p:spPr>
          <a:xfrm>
            <a:off x="8049260" y="1501140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52" name="Text 149"/>
          <p:cNvSpPr/>
          <p:nvPr/>
        </p:nvSpPr>
        <p:spPr>
          <a:xfrm>
            <a:off x="8049260" y="150114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53" name="Text 150"/>
          <p:cNvSpPr/>
          <p:nvPr/>
        </p:nvSpPr>
        <p:spPr>
          <a:xfrm>
            <a:off x="7341870" y="198120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2200" dirty="0"/>
          </a:p>
        </p:txBody>
      </p:sp>
      <p:sp>
        <p:nvSpPr>
          <p:cNvPr id="154" name="Shape 151"/>
          <p:cNvSpPr/>
          <p:nvPr/>
        </p:nvSpPr>
        <p:spPr>
          <a:xfrm>
            <a:off x="8629650" y="1568450"/>
            <a:ext cx="1981200" cy="2159000"/>
          </a:xfrm>
          <a:prstGeom prst="roundRect">
            <a:avLst>
              <a:gd name="adj" fmla="val 3692"/>
            </a:avLst>
          </a:prstGeom>
          <a:solidFill>
            <a:srgbClr val="D8FFE6"/>
          </a:solidFill>
          <a:ln w="9525">
            <a:solidFill>
              <a:srgbClr val="9CD4AC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8629650" y="2193290"/>
            <a:ext cx="1981200" cy="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8629650" y="2645410"/>
            <a:ext cx="1981200" cy="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8629650" y="3097530"/>
            <a:ext cx="1981200" cy="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9197340" y="1568450"/>
            <a:ext cx="0" cy="215900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9626600" y="1568450"/>
            <a:ext cx="0" cy="215900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10054590" y="1568450"/>
            <a:ext cx="0" cy="215900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8780780" y="175133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62" name="Text 159"/>
          <p:cNvSpPr/>
          <p:nvPr/>
        </p:nvSpPr>
        <p:spPr>
          <a:xfrm>
            <a:off x="8780780" y="175133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163" name="Shape 160"/>
          <p:cNvSpPr/>
          <p:nvPr/>
        </p:nvSpPr>
        <p:spPr>
          <a:xfrm>
            <a:off x="9208770" y="175133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64" name="Text 161"/>
          <p:cNvSpPr/>
          <p:nvPr/>
        </p:nvSpPr>
        <p:spPr>
          <a:xfrm>
            <a:off x="9208770" y="175133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165" name="Shape 162"/>
          <p:cNvSpPr/>
          <p:nvPr/>
        </p:nvSpPr>
        <p:spPr>
          <a:xfrm>
            <a:off x="9638030" y="175133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66" name="Text 163"/>
          <p:cNvSpPr/>
          <p:nvPr/>
        </p:nvSpPr>
        <p:spPr>
          <a:xfrm>
            <a:off x="9638030" y="175133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167" name="Shape 164"/>
          <p:cNvSpPr/>
          <p:nvPr/>
        </p:nvSpPr>
        <p:spPr>
          <a:xfrm>
            <a:off x="10066020" y="175133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68" name="Text 165"/>
          <p:cNvSpPr/>
          <p:nvPr/>
        </p:nvSpPr>
        <p:spPr>
          <a:xfrm>
            <a:off x="10066020" y="175133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169" name="Shape 166"/>
          <p:cNvSpPr/>
          <p:nvPr/>
        </p:nvSpPr>
        <p:spPr>
          <a:xfrm>
            <a:off x="8780780" y="220345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70" name="Text 167"/>
          <p:cNvSpPr/>
          <p:nvPr/>
        </p:nvSpPr>
        <p:spPr>
          <a:xfrm>
            <a:off x="8780780" y="220345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171" name="Shape 168"/>
          <p:cNvSpPr/>
          <p:nvPr/>
        </p:nvSpPr>
        <p:spPr>
          <a:xfrm>
            <a:off x="9208770" y="220345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72" name="Text 169"/>
          <p:cNvSpPr/>
          <p:nvPr/>
        </p:nvSpPr>
        <p:spPr>
          <a:xfrm>
            <a:off x="9208770" y="220345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173" name="Shape 170"/>
          <p:cNvSpPr/>
          <p:nvPr/>
        </p:nvSpPr>
        <p:spPr>
          <a:xfrm>
            <a:off x="9638030" y="220345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74" name="Text 171"/>
          <p:cNvSpPr/>
          <p:nvPr/>
        </p:nvSpPr>
        <p:spPr>
          <a:xfrm>
            <a:off x="9638030" y="220345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175" name="Shape 172"/>
          <p:cNvSpPr/>
          <p:nvPr/>
        </p:nvSpPr>
        <p:spPr>
          <a:xfrm>
            <a:off x="10066020" y="220345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76" name="Text 173"/>
          <p:cNvSpPr/>
          <p:nvPr/>
        </p:nvSpPr>
        <p:spPr>
          <a:xfrm>
            <a:off x="10066020" y="220345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177" name="Shape 174"/>
          <p:cNvSpPr/>
          <p:nvPr/>
        </p:nvSpPr>
        <p:spPr>
          <a:xfrm>
            <a:off x="8780780" y="265557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78" name="Text 175"/>
          <p:cNvSpPr/>
          <p:nvPr/>
        </p:nvSpPr>
        <p:spPr>
          <a:xfrm>
            <a:off x="8780780" y="265557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179" name="Shape 176"/>
          <p:cNvSpPr/>
          <p:nvPr/>
        </p:nvSpPr>
        <p:spPr>
          <a:xfrm>
            <a:off x="9208770" y="265557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80" name="Text 177"/>
          <p:cNvSpPr/>
          <p:nvPr/>
        </p:nvSpPr>
        <p:spPr>
          <a:xfrm>
            <a:off x="9208770" y="265557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181" name="Shape 178"/>
          <p:cNvSpPr/>
          <p:nvPr/>
        </p:nvSpPr>
        <p:spPr>
          <a:xfrm>
            <a:off x="9638030" y="265557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82" name="Text 179"/>
          <p:cNvSpPr/>
          <p:nvPr/>
        </p:nvSpPr>
        <p:spPr>
          <a:xfrm>
            <a:off x="9638030" y="265557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183" name="Shape 180"/>
          <p:cNvSpPr/>
          <p:nvPr/>
        </p:nvSpPr>
        <p:spPr>
          <a:xfrm>
            <a:off x="10066020" y="265557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84" name="Text 181"/>
          <p:cNvSpPr/>
          <p:nvPr/>
        </p:nvSpPr>
        <p:spPr>
          <a:xfrm>
            <a:off x="10066020" y="265557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185" name="Shape 182"/>
          <p:cNvSpPr/>
          <p:nvPr/>
        </p:nvSpPr>
        <p:spPr>
          <a:xfrm>
            <a:off x="8780780" y="310769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86" name="Text 183"/>
          <p:cNvSpPr/>
          <p:nvPr/>
        </p:nvSpPr>
        <p:spPr>
          <a:xfrm>
            <a:off x="8780780" y="310769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187" name="Shape 184"/>
          <p:cNvSpPr/>
          <p:nvPr/>
        </p:nvSpPr>
        <p:spPr>
          <a:xfrm>
            <a:off x="9208770" y="310769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88" name="Text 185"/>
          <p:cNvSpPr/>
          <p:nvPr/>
        </p:nvSpPr>
        <p:spPr>
          <a:xfrm>
            <a:off x="9208770" y="310769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189" name="Shape 186"/>
          <p:cNvSpPr/>
          <p:nvPr/>
        </p:nvSpPr>
        <p:spPr>
          <a:xfrm>
            <a:off x="9638030" y="310769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90" name="Text 187"/>
          <p:cNvSpPr/>
          <p:nvPr/>
        </p:nvSpPr>
        <p:spPr>
          <a:xfrm>
            <a:off x="9638030" y="310769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191" name="Shape 188"/>
          <p:cNvSpPr/>
          <p:nvPr/>
        </p:nvSpPr>
        <p:spPr>
          <a:xfrm>
            <a:off x="10066020" y="310769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92" name="Text 189"/>
          <p:cNvSpPr/>
          <p:nvPr/>
        </p:nvSpPr>
        <p:spPr>
          <a:xfrm>
            <a:off x="10066020" y="310769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pic>
        <p:nvPicPr>
          <p:cNvPr id="193" name="Image 1" descr="/home/ahmed/Projects/ai_llm_slides/videos/deep-learning/002_transformers_part2/recreated_pptx/build/assets/s010_brac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8310" y="1408430"/>
            <a:ext cx="192024" cy="2450592"/>
          </a:xfrm>
          <a:prstGeom prst="rect">
            <a:avLst/>
          </a:prstGeom>
        </p:spPr>
      </p:pic>
      <p:sp>
        <p:nvSpPr>
          <p:cNvPr id="194" name="Text 190"/>
          <p:cNvSpPr/>
          <p:nvPr/>
        </p:nvSpPr>
        <p:spPr>
          <a:xfrm>
            <a:off x="10798810" y="2472690"/>
            <a:ext cx="25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195" name="Shape 191"/>
          <p:cNvSpPr/>
          <p:nvPr/>
        </p:nvSpPr>
        <p:spPr>
          <a:xfrm>
            <a:off x="10952480" y="1554480"/>
            <a:ext cx="114300" cy="2311400"/>
          </a:xfrm>
          <a:prstGeom prst="arc">
            <a:avLst>
              <a:gd name="adj1" fmla="val 5400000"/>
              <a:gd name="adj2" fmla="val 16200000"/>
            </a:avLst>
          </a:prstGeom>
          <a:ln w="25400">
            <a:solidFill>
              <a:srgbClr val="A23038"/>
            </a:solidFill>
            <a:prstDash val="solid"/>
          </a:ln>
        </p:spPr>
      </p:sp>
      <p:sp>
        <p:nvSpPr>
          <p:cNvPr id="196" name="Shape 192"/>
          <p:cNvSpPr/>
          <p:nvPr/>
        </p:nvSpPr>
        <p:spPr>
          <a:xfrm>
            <a:off x="11450320" y="1554480"/>
            <a:ext cx="114300" cy="2311400"/>
          </a:xfrm>
          <a:prstGeom prst="arc">
            <a:avLst>
              <a:gd name="adj1" fmla="val 16200000"/>
              <a:gd name="adj2" fmla="val 5400000"/>
            </a:avLst>
          </a:prstGeom>
          <a:ln w="25400">
            <a:solidFill>
              <a:srgbClr val="A23038"/>
            </a:solidFill>
            <a:prstDash val="solid"/>
          </a:ln>
        </p:spPr>
      </p:sp>
      <p:sp>
        <p:nvSpPr>
          <p:cNvPr id="197" name="Shape 193"/>
          <p:cNvSpPr/>
          <p:nvPr/>
        </p:nvSpPr>
        <p:spPr>
          <a:xfrm>
            <a:off x="11076940" y="1681480"/>
            <a:ext cx="393700" cy="279400"/>
          </a:xfrm>
          <a:prstGeom prst="roundRect">
            <a:avLst>
              <a:gd name="adj" fmla="val 16364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198" name="Text 194"/>
          <p:cNvSpPr/>
          <p:nvPr/>
        </p:nvSpPr>
        <p:spPr>
          <a:xfrm>
            <a:off x="11076940" y="1681480"/>
            <a:ext cx="393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99" name="Shape 195"/>
          <p:cNvSpPr/>
          <p:nvPr/>
        </p:nvSpPr>
        <p:spPr>
          <a:xfrm>
            <a:off x="11076940" y="2172970"/>
            <a:ext cx="393700" cy="279400"/>
          </a:xfrm>
          <a:prstGeom prst="roundRect">
            <a:avLst>
              <a:gd name="adj" fmla="val 16364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00" name="Text 196"/>
          <p:cNvSpPr/>
          <p:nvPr/>
        </p:nvSpPr>
        <p:spPr>
          <a:xfrm>
            <a:off x="11076940" y="2172970"/>
            <a:ext cx="393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01" name="Shape 197"/>
          <p:cNvSpPr/>
          <p:nvPr/>
        </p:nvSpPr>
        <p:spPr>
          <a:xfrm>
            <a:off x="11076940" y="2724150"/>
            <a:ext cx="393700" cy="279400"/>
          </a:xfrm>
          <a:prstGeom prst="roundRect">
            <a:avLst>
              <a:gd name="adj" fmla="val 16364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02" name="Text 198"/>
          <p:cNvSpPr/>
          <p:nvPr/>
        </p:nvSpPr>
        <p:spPr>
          <a:xfrm>
            <a:off x="11076940" y="2724150"/>
            <a:ext cx="393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3" name="Shape 199"/>
          <p:cNvSpPr/>
          <p:nvPr/>
        </p:nvSpPr>
        <p:spPr>
          <a:xfrm>
            <a:off x="11076940" y="3235960"/>
            <a:ext cx="393700" cy="279400"/>
          </a:xfrm>
          <a:prstGeom prst="roundRect">
            <a:avLst>
              <a:gd name="adj" fmla="val 16364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04" name="Text 200"/>
          <p:cNvSpPr/>
          <p:nvPr/>
        </p:nvSpPr>
        <p:spPr>
          <a:xfrm>
            <a:off x="11076940" y="3235960"/>
            <a:ext cx="393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ctr" indent="0" marL="0">
              <a:buNone/>
            </a:pPr>
            <a:r>
              <a:rPr lang="en-US" sz="800" b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pic>
        <p:nvPicPr>
          <p:cNvPr id="205" name="Image 2" descr="/home/ahmed/Projects/ai_llm_slides/videos/deep-learning/002_transformers_part2/recreated_pptx/build/assets/s010_brac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310" y="4258310"/>
            <a:ext cx="190470" cy="2450592"/>
          </a:xfrm>
          <a:prstGeom prst="rect">
            <a:avLst/>
          </a:prstGeom>
        </p:spPr>
      </p:pic>
      <p:sp>
        <p:nvSpPr>
          <p:cNvPr id="206" name="Shape 201"/>
          <p:cNvSpPr/>
          <p:nvPr/>
        </p:nvSpPr>
        <p:spPr>
          <a:xfrm>
            <a:off x="6863080" y="4231640"/>
            <a:ext cx="1647190" cy="505460"/>
          </a:xfrm>
          <a:prstGeom prst="roundRect">
            <a:avLst>
              <a:gd name="adj" fmla="val 25327"/>
            </a:avLst>
          </a:prstGeom>
          <a:solidFill>
            <a:srgbClr val="FBCCEF"/>
          </a:solidFill>
          <a:ln w="12700">
            <a:solidFill>
              <a:srgbClr val="E8A8DC"/>
            </a:solidFill>
            <a:prstDash val="solid"/>
          </a:ln>
        </p:spPr>
      </p:sp>
      <p:sp>
        <p:nvSpPr>
          <p:cNvPr id="207" name="Text 202"/>
          <p:cNvSpPr/>
          <p:nvPr/>
        </p:nvSpPr>
        <p:spPr>
          <a:xfrm>
            <a:off x="6920230" y="4215130"/>
            <a:ext cx="127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endParaRPr lang="en-US" sz="3400" dirty="0"/>
          </a:p>
        </p:txBody>
      </p:sp>
      <p:sp>
        <p:nvSpPr>
          <p:cNvPr id="208" name="Text 203"/>
          <p:cNvSpPr/>
          <p:nvPr/>
        </p:nvSpPr>
        <p:spPr>
          <a:xfrm>
            <a:off x="8369300" y="4215130"/>
            <a:ext cx="127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3400" dirty="0"/>
          </a:p>
        </p:txBody>
      </p:sp>
      <p:sp>
        <p:nvSpPr>
          <p:cNvPr id="209" name="Shape 204"/>
          <p:cNvSpPr/>
          <p:nvPr/>
        </p:nvSpPr>
        <p:spPr>
          <a:xfrm>
            <a:off x="7059930" y="4351020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10" name="Text 205"/>
          <p:cNvSpPr/>
          <p:nvPr/>
        </p:nvSpPr>
        <p:spPr>
          <a:xfrm>
            <a:off x="7059930" y="435102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11" name="Shape 206"/>
          <p:cNvSpPr/>
          <p:nvPr/>
        </p:nvSpPr>
        <p:spPr>
          <a:xfrm>
            <a:off x="7390130" y="4351020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12" name="Text 207"/>
          <p:cNvSpPr/>
          <p:nvPr/>
        </p:nvSpPr>
        <p:spPr>
          <a:xfrm>
            <a:off x="7390130" y="435102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13" name="Shape 208"/>
          <p:cNvSpPr/>
          <p:nvPr/>
        </p:nvSpPr>
        <p:spPr>
          <a:xfrm>
            <a:off x="7719060" y="4351020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14" name="Text 209"/>
          <p:cNvSpPr/>
          <p:nvPr/>
        </p:nvSpPr>
        <p:spPr>
          <a:xfrm>
            <a:off x="7719060" y="435102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15" name="Shape 210"/>
          <p:cNvSpPr/>
          <p:nvPr/>
        </p:nvSpPr>
        <p:spPr>
          <a:xfrm>
            <a:off x="8049260" y="4351020"/>
            <a:ext cx="266700" cy="266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216" name="Text 211"/>
          <p:cNvSpPr/>
          <p:nvPr/>
        </p:nvSpPr>
        <p:spPr>
          <a:xfrm>
            <a:off x="8049260" y="4351020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17" name="Text 212"/>
          <p:cNvSpPr/>
          <p:nvPr/>
        </p:nvSpPr>
        <p:spPr>
          <a:xfrm>
            <a:off x="7341870" y="4831080"/>
            <a:ext cx="50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2200" dirty="0"/>
          </a:p>
        </p:txBody>
      </p:sp>
      <p:sp>
        <p:nvSpPr>
          <p:cNvPr id="218" name="Shape 213"/>
          <p:cNvSpPr/>
          <p:nvPr/>
        </p:nvSpPr>
        <p:spPr>
          <a:xfrm>
            <a:off x="8629650" y="4418330"/>
            <a:ext cx="1981200" cy="2159000"/>
          </a:xfrm>
          <a:prstGeom prst="roundRect">
            <a:avLst>
              <a:gd name="adj" fmla="val 3692"/>
            </a:avLst>
          </a:prstGeom>
          <a:solidFill>
            <a:srgbClr val="D8FFE6"/>
          </a:solidFill>
          <a:ln w="9525">
            <a:solidFill>
              <a:srgbClr val="9CD4AC"/>
            </a:solidFill>
            <a:prstDash val="solid"/>
          </a:ln>
        </p:spPr>
      </p:sp>
      <p:sp>
        <p:nvSpPr>
          <p:cNvPr id="219" name="Shape 214"/>
          <p:cNvSpPr/>
          <p:nvPr/>
        </p:nvSpPr>
        <p:spPr>
          <a:xfrm>
            <a:off x="8629650" y="5043170"/>
            <a:ext cx="1981200" cy="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220" name="Shape 215"/>
          <p:cNvSpPr/>
          <p:nvPr/>
        </p:nvSpPr>
        <p:spPr>
          <a:xfrm>
            <a:off x="8629650" y="5495290"/>
            <a:ext cx="1981200" cy="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221" name="Shape 216"/>
          <p:cNvSpPr/>
          <p:nvPr/>
        </p:nvSpPr>
        <p:spPr>
          <a:xfrm>
            <a:off x="8629650" y="5947410"/>
            <a:ext cx="1981200" cy="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222" name="Shape 217"/>
          <p:cNvSpPr/>
          <p:nvPr/>
        </p:nvSpPr>
        <p:spPr>
          <a:xfrm>
            <a:off x="9197340" y="4418330"/>
            <a:ext cx="0" cy="215900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223" name="Shape 218"/>
          <p:cNvSpPr/>
          <p:nvPr/>
        </p:nvSpPr>
        <p:spPr>
          <a:xfrm>
            <a:off x="9626600" y="4418330"/>
            <a:ext cx="0" cy="215900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224" name="Shape 219"/>
          <p:cNvSpPr/>
          <p:nvPr/>
        </p:nvSpPr>
        <p:spPr>
          <a:xfrm>
            <a:off x="10054590" y="4418330"/>
            <a:ext cx="0" cy="2159000"/>
          </a:xfrm>
          <a:prstGeom prst="line">
            <a:avLst/>
          </a:prstGeom>
          <a:noFill/>
          <a:ln w="6350">
            <a:solidFill>
              <a:srgbClr val="9CD4AC"/>
            </a:solidFill>
            <a:prstDash val="solid"/>
          </a:ln>
        </p:spPr>
      </p:sp>
      <p:sp>
        <p:nvSpPr>
          <p:cNvPr id="225" name="Shape 220"/>
          <p:cNvSpPr/>
          <p:nvPr/>
        </p:nvSpPr>
        <p:spPr>
          <a:xfrm>
            <a:off x="8780780" y="460121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26" name="Text 221"/>
          <p:cNvSpPr/>
          <p:nvPr/>
        </p:nvSpPr>
        <p:spPr>
          <a:xfrm>
            <a:off x="8780780" y="460121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227" name="Shape 222"/>
          <p:cNvSpPr/>
          <p:nvPr/>
        </p:nvSpPr>
        <p:spPr>
          <a:xfrm>
            <a:off x="9208770" y="460121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28" name="Text 223"/>
          <p:cNvSpPr/>
          <p:nvPr/>
        </p:nvSpPr>
        <p:spPr>
          <a:xfrm>
            <a:off x="9208770" y="460121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229" name="Shape 224"/>
          <p:cNvSpPr/>
          <p:nvPr/>
        </p:nvSpPr>
        <p:spPr>
          <a:xfrm>
            <a:off x="9638030" y="460121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30" name="Text 225"/>
          <p:cNvSpPr/>
          <p:nvPr/>
        </p:nvSpPr>
        <p:spPr>
          <a:xfrm>
            <a:off x="9638030" y="460121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231" name="Shape 226"/>
          <p:cNvSpPr/>
          <p:nvPr/>
        </p:nvSpPr>
        <p:spPr>
          <a:xfrm>
            <a:off x="10066020" y="460121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32" name="Text 227"/>
          <p:cNvSpPr/>
          <p:nvPr/>
        </p:nvSpPr>
        <p:spPr>
          <a:xfrm>
            <a:off x="10066020" y="460121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247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233" name="Shape 228"/>
          <p:cNvSpPr/>
          <p:nvPr/>
        </p:nvSpPr>
        <p:spPr>
          <a:xfrm>
            <a:off x="8780780" y="505333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34" name="Text 229"/>
          <p:cNvSpPr/>
          <p:nvPr/>
        </p:nvSpPr>
        <p:spPr>
          <a:xfrm>
            <a:off x="8780780" y="505333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235" name="Shape 230"/>
          <p:cNvSpPr/>
          <p:nvPr/>
        </p:nvSpPr>
        <p:spPr>
          <a:xfrm>
            <a:off x="9208770" y="505333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36" name="Text 231"/>
          <p:cNvSpPr/>
          <p:nvPr/>
        </p:nvSpPr>
        <p:spPr>
          <a:xfrm>
            <a:off x="9208770" y="505333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237" name="Shape 232"/>
          <p:cNvSpPr/>
          <p:nvPr/>
        </p:nvSpPr>
        <p:spPr>
          <a:xfrm>
            <a:off x="9638030" y="505333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38" name="Text 233"/>
          <p:cNvSpPr/>
          <p:nvPr/>
        </p:nvSpPr>
        <p:spPr>
          <a:xfrm>
            <a:off x="9638030" y="505333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239" name="Shape 234"/>
          <p:cNvSpPr/>
          <p:nvPr/>
        </p:nvSpPr>
        <p:spPr>
          <a:xfrm>
            <a:off x="10066020" y="505333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40" name="Text 235"/>
          <p:cNvSpPr/>
          <p:nvPr/>
        </p:nvSpPr>
        <p:spPr>
          <a:xfrm>
            <a:off x="10066020" y="505333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B04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241" name="Shape 236"/>
          <p:cNvSpPr/>
          <p:nvPr/>
        </p:nvSpPr>
        <p:spPr>
          <a:xfrm>
            <a:off x="8780780" y="550545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42" name="Text 237"/>
          <p:cNvSpPr/>
          <p:nvPr/>
        </p:nvSpPr>
        <p:spPr>
          <a:xfrm>
            <a:off x="8780780" y="550545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243" name="Shape 238"/>
          <p:cNvSpPr/>
          <p:nvPr/>
        </p:nvSpPr>
        <p:spPr>
          <a:xfrm>
            <a:off x="9208770" y="550545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44" name="Text 239"/>
          <p:cNvSpPr/>
          <p:nvPr/>
        </p:nvSpPr>
        <p:spPr>
          <a:xfrm>
            <a:off x="9208770" y="550545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245" name="Shape 240"/>
          <p:cNvSpPr/>
          <p:nvPr/>
        </p:nvSpPr>
        <p:spPr>
          <a:xfrm>
            <a:off x="9638030" y="550545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46" name="Text 241"/>
          <p:cNvSpPr/>
          <p:nvPr/>
        </p:nvSpPr>
        <p:spPr>
          <a:xfrm>
            <a:off x="9638030" y="550545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247" name="Shape 242"/>
          <p:cNvSpPr/>
          <p:nvPr/>
        </p:nvSpPr>
        <p:spPr>
          <a:xfrm>
            <a:off x="10066020" y="550545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48" name="Text 243"/>
          <p:cNvSpPr/>
          <p:nvPr/>
        </p:nvSpPr>
        <p:spPr>
          <a:xfrm>
            <a:off x="10066020" y="550545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F09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249" name="Shape 244"/>
          <p:cNvSpPr/>
          <p:nvPr/>
        </p:nvSpPr>
        <p:spPr>
          <a:xfrm>
            <a:off x="8780780" y="595757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50" name="Text 245"/>
          <p:cNvSpPr/>
          <p:nvPr/>
        </p:nvSpPr>
        <p:spPr>
          <a:xfrm>
            <a:off x="8780780" y="595757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251" name="Shape 246"/>
          <p:cNvSpPr/>
          <p:nvPr/>
        </p:nvSpPr>
        <p:spPr>
          <a:xfrm>
            <a:off x="9208770" y="595757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52" name="Text 247"/>
          <p:cNvSpPr/>
          <p:nvPr/>
        </p:nvSpPr>
        <p:spPr>
          <a:xfrm>
            <a:off x="9208770" y="595757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253" name="Shape 248"/>
          <p:cNvSpPr/>
          <p:nvPr/>
        </p:nvSpPr>
        <p:spPr>
          <a:xfrm>
            <a:off x="9638030" y="595757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54" name="Text 249"/>
          <p:cNvSpPr/>
          <p:nvPr/>
        </p:nvSpPr>
        <p:spPr>
          <a:xfrm>
            <a:off x="9638030" y="595757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255" name="Shape 250"/>
          <p:cNvSpPr/>
          <p:nvPr/>
        </p:nvSpPr>
        <p:spPr>
          <a:xfrm>
            <a:off x="10066020" y="5957570"/>
            <a:ext cx="406400" cy="431800"/>
          </a:xfrm>
          <a:prstGeom prst="roundRect">
            <a:avLst>
              <a:gd name="adj" fmla="val 11250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56" name="Text 251"/>
          <p:cNvSpPr/>
          <p:nvPr/>
        </p:nvSpPr>
        <p:spPr>
          <a:xfrm>
            <a:off x="10066020" y="5957570"/>
            <a:ext cx="40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6CB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pic>
        <p:nvPicPr>
          <p:cNvPr id="257" name="Image 3" descr="/home/ahmed/Projects/ai_llm_slides/videos/deep-learning/002_transformers_part2/recreated_pptx/build/assets/s010_brac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8310" y="4258310"/>
            <a:ext cx="192024" cy="2450592"/>
          </a:xfrm>
          <a:prstGeom prst="rect">
            <a:avLst/>
          </a:prstGeom>
        </p:spPr>
      </p:pic>
      <p:sp>
        <p:nvSpPr>
          <p:cNvPr id="258" name="Text 252"/>
          <p:cNvSpPr/>
          <p:nvPr/>
        </p:nvSpPr>
        <p:spPr>
          <a:xfrm>
            <a:off x="10798810" y="5322570"/>
            <a:ext cx="25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259" name="Shape 253"/>
          <p:cNvSpPr/>
          <p:nvPr/>
        </p:nvSpPr>
        <p:spPr>
          <a:xfrm>
            <a:off x="10952480" y="4404360"/>
            <a:ext cx="114300" cy="2311400"/>
          </a:xfrm>
          <a:prstGeom prst="arc">
            <a:avLst>
              <a:gd name="adj1" fmla="val 5400000"/>
              <a:gd name="adj2" fmla="val 16200000"/>
            </a:avLst>
          </a:prstGeom>
          <a:ln w="25400">
            <a:solidFill>
              <a:srgbClr val="A23038"/>
            </a:solidFill>
            <a:prstDash val="solid"/>
          </a:ln>
        </p:spPr>
      </p:sp>
      <p:sp>
        <p:nvSpPr>
          <p:cNvPr id="260" name="Shape 254"/>
          <p:cNvSpPr/>
          <p:nvPr/>
        </p:nvSpPr>
        <p:spPr>
          <a:xfrm>
            <a:off x="11450320" y="4404360"/>
            <a:ext cx="114300" cy="2311400"/>
          </a:xfrm>
          <a:prstGeom prst="arc">
            <a:avLst>
              <a:gd name="adj1" fmla="val 16200000"/>
              <a:gd name="adj2" fmla="val 5400000"/>
            </a:avLst>
          </a:prstGeom>
          <a:ln w="25400">
            <a:solidFill>
              <a:srgbClr val="A23038"/>
            </a:solidFill>
            <a:prstDash val="solid"/>
          </a:ln>
        </p:spPr>
      </p:sp>
      <p:sp>
        <p:nvSpPr>
          <p:cNvPr id="261" name="Shape 255"/>
          <p:cNvSpPr/>
          <p:nvPr/>
        </p:nvSpPr>
        <p:spPr>
          <a:xfrm>
            <a:off x="11076940" y="4525010"/>
            <a:ext cx="393700" cy="279400"/>
          </a:xfrm>
          <a:prstGeom prst="roundRect">
            <a:avLst>
              <a:gd name="adj" fmla="val 16364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62" name="Text 256"/>
          <p:cNvSpPr/>
          <p:nvPr/>
        </p:nvSpPr>
        <p:spPr>
          <a:xfrm>
            <a:off x="11076940" y="4525010"/>
            <a:ext cx="393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263" name="Shape 257"/>
          <p:cNvSpPr/>
          <p:nvPr/>
        </p:nvSpPr>
        <p:spPr>
          <a:xfrm>
            <a:off x="11076940" y="5029200"/>
            <a:ext cx="393700" cy="279400"/>
          </a:xfrm>
          <a:prstGeom prst="roundRect">
            <a:avLst>
              <a:gd name="adj" fmla="val 16364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64" name="Text 258"/>
          <p:cNvSpPr/>
          <p:nvPr/>
        </p:nvSpPr>
        <p:spPr>
          <a:xfrm>
            <a:off x="11076940" y="5029200"/>
            <a:ext cx="393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265" name="Shape 259"/>
          <p:cNvSpPr/>
          <p:nvPr/>
        </p:nvSpPr>
        <p:spPr>
          <a:xfrm>
            <a:off x="11076940" y="5567680"/>
            <a:ext cx="393700" cy="279400"/>
          </a:xfrm>
          <a:prstGeom prst="roundRect">
            <a:avLst>
              <a:gd name="adj" fmla="val 16364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66" name="Text 260"/>
          <p:cNvSpPr/>
          <p:nvPr/>
        </p:nvSpPr>
        <p:spPr>
          <a:xfrm>
            <a:off x="11076940" y="5567680"/>
            <a:ext cx="393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267" name="Shape 261"/>
          <p:cNvSpPr/>
          <p:nvPr/>
        </p:nvSpPr>
        <p:spPr>
          <a:xfrm>
            <a:off x="11076940" y="6085840"/>
            <a:ext cx="393700" cy="279400"/>
          </a:xfrm>
          <a:prstGeom prst="roundRect">
            <a:avLst>
              <a:gd name="adj" fmla="val 16364"/>
            </a:avLst>
          </a:prstGeom>
          <a:solidFill>
            <a:srgbClr val="FCF9C8"/>
          </a:solidFill>
          <a:ln w="12700">
            <a:solidFill>
              <a:srgbClr val="8B7B3A"/>
            </a:solidFill>
            <a:prstDash val="solid"/>
          </a:ln>
        </p:spPr>
      </p:sp>
      <p:sp>
        <p:nvSpPr>
          <p:cNvPr id="268" name="Text 262"/>
          <p:cNvSpPr/>
          <p:nvPr/>
        </p:nvSpPr>
        <p:spPr>
          <a:xfrm>
            <a:off x="11076940" y="6085840"/>
            <a:ext cx="393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269" name="Shape 263"/>
          <p:cNvSpPr/>
          <p:nvPr/>
        </p:nvSpPr>
        <p:spPr>
          <a:xfrm>
            <a:off x="6036310" y="2791460"/>
            <a:ext cx="0" cy="2724150"/>
          </a:xfrm>
          <a:prstGeom prst="line">
            <a:avLst/>
          </a:prstGeom>
          <a:noFill/>
          <a:ln w="635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70" name="Shape 264"/>
          <p:cNvSpPr/>
          <p:nvPr/>
        </p:nvSpPr>
        <p:spPr>
          <a:xfrm>
            <a:off x="11236960" y="3548380"/>
            <a:ext cx="0" cy="996950"/>
          </a:xfrm>
          <a:prstGeom prst="line">
            <a:avLst/>
          </a:prstGeom>
          <a:noFill/>
          <a:ln w="508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71" name="Shape 265"/>
          <p:cNvSpPr/>
          <p:nvPr/>
        </p:nvSpPr>
        <p:spPr>
          <a:xfrm>
            <a:off x="5259070" y="3733800"/>
            <a:ext cx="1400810" cy="491490"/>
          </a:xfrm>
          <a:prstGeom prst="roundRect">
            <a:avLst>
              <a:gd name="adj" fmla="val 14884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72" name="Text 266"/>
          <p:cNvSpPr/>
          <p:nvPr/>
        </p:nvSpPr>
        <p:spPr>
          <a:xfrm>
            <a:off x="5259070" y="3733800"/>
            <a:ext cx="1400810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Non-linearity</a:t>
            </a:r>
            <a:endParaRPr lang="en-US" sz="1100" dirty="0"/>
          </a:p>
        </p:txBody>
      </p:sp>
      <p:sp>
        <p:nvSpPr>
          <p:cNvPr id="273" name="Shape 267"/>
          <p:cNvSpPr/>
          <p:nvPr/>
        </p:nvSpPr>
        <p:spPr>
          <a:xfrm>
            <a:off x="10229850" y="3893820"/>
            <a:ext cx="1176020" cy="279400"/>
          </a:xfrm>
          <a:prstGeom prst="roundRect">
            <a:avLst>
              <a:gd name="adj" fmla="val 26182"/>
            </a:avLst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74" name="Text 268"/>
          <p:cNvSpPr/>
          <p:nvPr/>
        </p:nvSpPr>
        <p:spPr>
          <a:xfrm>
            <a:off x="10229850" y="3893820"/>
            <a:ext cx="11760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 Bias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ai_llm_slides</dc:creator>
  <cp:lastModifiedBy>ai_llm_slides</cp:lastModifiedBy>
  <cp:revision>1</cp:revision>
  <dcterms:created xsi:type="dcterms:W3CDTF">2026-10-12T10:32:22Z</dcterms:created>
  <dcterms:modified xsi:type="dcterms:W3CDTF">2026-10-12T10:32:22Z</dcterms:modified>
</cp:coreProperties>
</file>