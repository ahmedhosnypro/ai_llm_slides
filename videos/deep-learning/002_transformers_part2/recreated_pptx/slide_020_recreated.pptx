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58450" y="714364"/>
            <a:ext cx="1092200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Pre-processing of Input Sequence</a:t>
            </a:r>
            <a:endParaRPr lang="en-US" sz="2450" dirty="0"/>
          </a:p>
        </p:txBody>
      </p:sp>
      <p:sp>
        <p:nvSpPr>
          <p:cNvPr id="6" name="Text 4"/>
          <p:cNvSpPr/>
          <p:nvPr/>
        </p:nvSpPr>
        <p:spPr>
          <a:xfrm>
            <a:off x="652826" y="1222744"/>
            <a:ext cx="1268374" cy="598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4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 of</a:t>
            </a:r>
            <a:endParaRPr lang="en-US" sz="1450" dirty="0"/>
          </a:p>
          <a:p>
            <a:pPr algn="l" indent="0" marL="0">
              <a:lnSpc>
                <a:spcPts val="1570"/>
              </a:lnSpc>
              <a:buNone/>
            </a:pPr>
            <a:r>
              <a:rPr lang="en-US" sz="14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words with</a:t>
            </a:r>
            <a:endParaRPr lang="en-US" sz="1450" dirty="0"/>
          </a:p>
          <a:p>
            <a:pPr algn="l" indent="0" marL="0">
              <a:lnSpc>
                <a:spcPts val="1570"/>
              </a:lnSpc>
              <a:buNone/>
            </a:pPr>
            <a:r>
              <a:rPr lang="en-US" sz="14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Length 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26402" y="2046766"/>
            <a:ext cx="1228737" cy="598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70"/>
              </a:lnSpc>
              <a:buNone/>
            </a:pPr>
            <a:r>
              <a:rPr lang="en-US" sz="1600" b="1" dirty="0">
                <a:solidFill>
                  <a:srgbClr val="00A5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</a:t>
            </a:r>
            <a:endParaRPr lang="en-US" sz="1600" dirty="0"/>
          </a:p>
          <a:p>
            <a:pPr algn="l" indent="0" marL="0">
              <a:lnSpc>
                <a:spcPts val="1670"/>
              </a:lnSpc>
              <a:buNone/>
            </a:pPr>
            <a:r>
              <a:rPr lang="en-US" sz="1600" b="1" dirty="0">
                <a:solidFill>
                  <a:srgbClr val="00A5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1600" dirty="0"/>
          </a:p>
          <a:p>
            <a:pPr algn="l" indent="0" marL="0">
              <a:lnSpc>
                <a:spcPts val="1670"/>
              </a:lnSpc>
              <a:buNone/>
            </a:pPr>
            <a:r>
              <a:rPr lang="en-US" sz="1150" dirty="0">
                <a:solidFill>
                  <a:srgbClr val="00A5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e.g. word2vec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2826" y="2963824"/>
            <a:ext cx="1070190" cy="345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1400" b="1" dirty="0">
                <a:solidFill>
                  <a:srgbClr val="33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400" dirty="0"/>
          </a:p>
          <a:p>
            <a:pPr algn="l" indent="0" marL="0">
              <a:lnSpc>
                <a:spcPts val="1460"/>
              </a:lnSpc>
              <a:buNone/>
            </a:pPr>
            <a:r>
              <a:rPr lang="en-US" sz="1400" b="1" dirty="0">
                <a:solidFill>
                  <a:srgbClr val="33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9614" y="3973917"/>
            <a:ext cx="1083402" cy="38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</a:t>
            </a:r>
            <a:endParaRPr lang="en-US" sz="1400" dirty="0"/>
          </a:p>
          <a:p>
            <a:pPr algn="l" indent="0" marL="0">
              <a:lnSpc>
                <a:spcPts val="157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947112" y="1275906"/>
            <a:ext cx="9473165" cy="558209"/>
          </a:xfrm>
          <a:prstGeom prst="roundRect">
            <a:avLst>
              <a:gd name="adj" fmla="val 9829"/>
            </a:avLst>
          </a:prstGeom>
          <a:ln w="12700">
            <a:solidFill>
              <a:srgbClr val="595959"/>
            </a:solidFill>
            <a:prstDash val="sysDash"/>
          </a:ln>
        </p:spPr>
      </p:sp>
      <p:sp>
        <p:nvSpPr>
          <p:cNvPr id="11" name="Shape 9"/>
          <p:cNvSpPr/>
          <p:nvPr/>
        </p:nvSpPr>
        <p:spPr>
          <a:xfrm>
            <a:off x="2131708" y="1408813"/>
            <a:ext cx="8331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31708" y="1408813"/>
            <a:ext cx="8331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0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3101486" y="1408813"/>
            <a:ext cx="8331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01486" y="1408813"/>
            <a:ext cx="8331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1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071263" y="1408813"/>
            <a:ext cx="8331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263" y="1408813"/>
            <a:ext cx="8331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2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041040" y="1408813"/>
            <a:ext cx="8331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41040" y="1408813"/>
            <a:ext cx="8331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3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10817" y="1408813"/>
            <a:ext cx="8331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10817" y="1408813"/>
            <a:ext cx="8331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4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980595" y="1408813"/>
            <a:ext cx="8331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80595" y="1408813"/>
            <a:ext cx="8331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5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9504130" y="1408813"/>
            <a:ext cx="8331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04130" y="1408813"/>
            <a:ext cx="8331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</a:t>
            </a:r>
            <a:pPr algn="ctr" indent="0" marL="0">
              <a:lnSpc>
                <a:spcPts val="1350"/>
              </a:lnSpc>
              <a:buNone/>
            </a:pPr>
            <a:r>
              <a:rPr lang="en-US" sz="8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N-2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10481834" y="1408813"/>
            <a:ext cx="8331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81834" y="1408813"/>
            <a:ext cx="8331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</a:t>
            </a:r>
            <a:pPr algn="ctr" indent="0" marL="0">
              <a:lnSpc>
                <a:spcPts val="1350"/>
              </a:lnSpc>
              <a:buNone/>
            </a:pPr>
            <a:r>
              <a:rPr lang="en-US" sz="8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N-1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8076458" y="1474455"/>
            <a:ext cx="107950" cy="107950"/>
          </a:xfrm>
          <a:prstGeom prst="ellipse">
            <a:avLst/>
          </a:prstGeom>
          <a:solidFill>
            <a:srgbClr val="7F7F7F"/>
          </a:solidFill>
          <a:ln w="3175">
            <a:solidFill>
              <a:srgbClr val="7F7F7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14278" y="1474455"/>
            <a:ext cx="107950" cy="107950"/>
          </a:xfrm>
          <a:prstGeom prst="ellipse">
            <a:avLst/>
          </a:prstGeom>
          <a:solidFill>
            <a:srgbClr val="7F7F7F"/>
          </a:solidFill>
          <a:ln w="3175">
            <a:solidFill>
              <a:srgbClr val="7F7F7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558704" y="1474455"/>
            <a:ext cx="107950" cy="107950"/>
          </a:xfrm>
          <a:prstGeom prst="ellipse">
            <a:avLst/>
          </a:prstGeom>
          <a:solidFill>
            <a:srgbClr val="7F7F7F"/>
          </a:solidFill>
          <a:ln w="3175">
            <a:solidFill>
              <a:srgbClr val="7F7F7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96524" y="1474455"/>
            <a:ext cx="107950" cy="107950"/>
          </a:xfrm>
          <a:prstGeom prst="ellipse">
            <a:avLst/>
          </a:prstGeom>
          <a:solidFill>
            <a:srgbClr val="7F7F7F"/>
          </a:solidFill>
          <a:ln w="3175">
            <a:solidFill>
              <a:srgbClr val="7F7F7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994708" y="1474455"/>
            <a:ext cx="107950" cy="107950"/>
          </a:xfrm>
          <a:prstGeom prst="ellipse">
            <a:avLst/>
          </a:prstGeom>
          <a:solidFill>
            <a:srgbClr val="7F7F7F"/>
          </a:solidFill>
          <a:ln w="3175">
            <a:solidFill>
              <a:srgbClr val="7F7F7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20688" y="2053412"/>
            <a:ext cx="9499590" cy="505046"/>
          </a:xfrm>
          <a:prstGeom prst="roundRect">
            <a:avLst>
              <a:gd name="adj" fmla="val 10863"/>
            </a:avLst>
          </a:prstGeom>
          <a:solidFill>
            <a:srgbClr val="E7FEE9"/>
          </a:solidFill>
          <a:ln w="12700">
            <a:solidFill>
              <a:srgbClr val="00A550"/>
            </a:solidFill>
            <a:prstDash val="sysDash"/>
          </a:ln>
        </p:spPr>
      </p:sp>
      <p:sp>
        <p:nvSpPr>
          <p:cNvPr id="33" name="Shape 31"/>
          <p:cNvSpPr/>
          <p:nvPr/>
        </p:nvSpPr>
        <p:spPr>
          <a:xfrm>
            <a:off x="2211356" y="2179673"/>
            <a:ext cx="132122" cy="239232"/>
          </a:xfrm>
          <a:prstGeom prst="rect">
            <a:avLst/>
          </a:prstGeom>
          <a:solidFill>
            <a:srgbClr val="EFE9B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43479" y="2179673"/>
            <a:ext cx="132122" cy="239232"/>
          </a:xfrm>
          <a:prstGeom prst="rect">
            <a:avLst/>
          </a:prstGeom>
          <a:solidFill>
            <a:srgbClr val="EAF8D8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475601" y="2179673"/>
            <a:ext cx="132122" cy="239232"/>
          </a:xfrm>
          <a:prstGeom prst="rect">
            <a:avLst/>
          </a:prstGeom>
          <a:solidFill>
            <a:srgbClr val="F2A7C3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07723" y="2179673"/>
            <a:ext cx="132122" cy="239232"/>
          </a:xfrm>
          <a:prstGeom prst="rect">
            <a:avLst/>
          </a:prstGeom>
          <a:solidFill>
            <a:srgbClr val="E9E7F4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739845" y="2179673"/>
            <a:ext cx="132122" cy="239232"/>
          </a:xfrm>
          <a:prstGeom prst="rect">
            <a:avLst/>
          </a:prstGeom>
          <a:solidFill>
            <a:srgbClr val="F2DEE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71968" y="2179673"/>
            <a:ext cx="132122" cy="239232"/>
          </a:xfrm>
          <a:prstGeom prst="rect">
            <a:avLst/>
          </a:prstGeom>
          <a:solidFill>
            <a:srgbClr val="E6DDDB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325762" y="2166973"/>
            <a:ext cx="431800" cy="2646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7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189061" y="2179673"/>
            <a:ext cx="132122" cy="239232"/>
          </a:xfrm>
          <a:prstGeom prst="rect">
            <a:avLst/>
          </a:prstGeom>
          <a:solidFill>
            <a:srgbClr val="EFE9B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21183" y="2179673"/>
            <a:ext cx="132122" cy="239232"/>
          </a:xfrm>
          <a:prstGeom prst="rect">
            <a:avLst/>
          </a:prstGeom>
          <a:solidFill>
            <a:srgbClr val="EAF8D8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53306" y="2179673"/>
            <a:ext cx="132122" cy="239232"/>
          </a:xfrm>
          <a:prstGeom prst="rect">
            <a:avLst/>
          </a:prstGeom>
          <a:solidFill>
            <a:srgbClr val="F2A7C3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85428" y="2179673"/>
            <a:ext cx="132122" cy="239232"/>
          </a:xfrm>
          <a:prstGeom prst="rect">
            <a:avLst/>
          </a:prstGeom>
          <a:solidFill>
            <a:srgbClr val="E9E7F4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717550" y="2179673"/>
            <a:ext cx="132122" cy="239232"/>
          </a:xfrm>
          <a:prstGeom prst="rect">
            <a:avLst/>
          </a:prstGeom>
          <a:solidFill>
            <a:srgbClr val="F2DEE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849672" y="2179673"/>
            <a:ext cx="132122" cy="239232"/>
          </a:xfrm>
          <a:prstGeom prst="rect">
            <a:avLst/>
          </a:prstGeom>
          <a:solidFill>
            <a:srgbClr val="E6DDDB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467" y="2166973"/>
            <a:ext cx="431800" cy="2646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7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140341" y="2179673"/>
            <a:ext cx="132122" cy="239232"/>
          </a:xfrm>
          <a:prstGeom prst="rect">
            <a:avLst/>
          </a:prstGeom>
          <a:solidFill>
            <a:srgbClr val="EFE9B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272464" y="2179673"/>
            <a:ext cx="132122" cy="239232"/>
          </a:xfrm>
          <a:prstGeom prst="rect">
            <a:avLst/>
          </a:prstGeom>
          <a:solidFill>
            <a:srgbClr val="EAF8D8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404586" y="2179673"/>
            <a:ext cx="132122" cy="239232"/>
          </a:xfrm>
          <a:prstGeom prst="rect">
            <a:avLst/>
          </a:prstGeom>
          <a:solidFill>
            <a:srgbClr val="F2A7C3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536708" y="2179673"/>
            <a:ext cx="132122" cy="239232"/>
          </a:xfrm>
          <a:prstGeom prst="rect">
            <a:avLst/>
          </a:prstGeom>
          <a:solidFill>
            <a:srgbClr val="E9E7F4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668830" y="2179673"/>
            <a:ext cx="132122" cy="239232"/>
          </a:xfrm>
          <a:prstGeom prst="rect">
            <a:avLst/>
          </a:prstGeom>
          <a:solidFill>
            <a:srgbClr val="F2DEE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800953" y="2179673"/>
            <a:ext cx="132122" cy="239232"/>
          </a:xfrm>
          <a:prstGeom prst="rect">
            <a:avLst/>
          </a:prstGeom>
          <a:solidFill>
            <a:srgbClr val="E6DDDB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254747" y="2166973"/>
            <a:ext cx="431800" cy="2646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7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118046" y="2179673"/>
            <a:ext cx="132122" cy="239232"/>
          </a:xfrm>
          <a:prstGeom prst="rect">
            <a:avLst/>
          </a:prstGeom>
          <a:solidFill>
            <a:srgbClr val="EFE9B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250168" y="2179673"/>
            <a:ext cx="132122" cy="239232"/>
          </a:xfrm>
          <a:prstGeom prst="rect">
            <a:avLst/>
          </a:prstGeom>
          <a:solidFill>
            <a:srgbClr val="EAF8D8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82290" y="2179673"/>
            <a:ext cx="132122" cy="239232"/>
          </a:xfrm>
          <a:prstGeom prst="rect">
            <a:avLst/>
          </a:prstGeom>
          <a:solidFill>
            <a:srgbClr val="F2A7C3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514413" y="2179673"/>
            <a:ext cx="132122" cy="239232"/>
          </a:xfrm>
          <a:prstGeom prst="rect">
            <a:avLst/>
          </a:prstGeom>
          <a:solidFill>
            <a:srgbClr val="E9E7F4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646535" y="2179673"/>
            <a:ext cx="132122" cy="239232"/>
          </a:xfrm>
          <a:prstGeom prst="rect">
            <a:avLst/>
          </a:prstGeom>
          <a:solidFill>
            <a:srgbClr val="F2DEE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778657" y="2179673"/>
            <a:ext cx="132122" cy="239232"/>
          </a:xfrm>
          <a:prstGeom prst="rect">
            <a:avLst/>
          </a:prstGeom>
          <a:solidFill>
            <a:srgbClr val="E6DDDB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32452" y="2166973"/>
            <a:ext cx="431800" cy="2646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7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082538" y="2179673"/>
            <a:ext cx="132122" cy="239232"/>
          </a:xfrm>
          <a:prstGeom prst="rect">
            <a:avLst/>
          </a:prstGeom>
          <a:solidFill>
            <a:srgbClr val="EFE9B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214661" y="2179673"/>
            <a:ext cx="132122" cy="239232"/>
          </a:xfrm>
          <a:prstGeom prst="rect">
            <a:avLst/>
          </a:prstGeom>
          <a:solidFill>
            <a:srgbClr val="EAF8D8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6783" y="2179673"/>
            <a:ext cx="132122" cy="239232"/>
          </a:xfrm>
          <a:prstGeom prst="rect">
            <a:avLst/>
          </a:prstGeom>
          <a:solidFill>
            <a:srgbClr val="F2A7C3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478905" y="2179673"/>
            <a:ext cx="132122" cy="239232"/>
          </a:xfrm>
          <a:prstGeom prst="rect">
            <a:avLst/>
          </a:prstGeom>
          <a:solidFill>
            <a:srgbClr val="E9E7F4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611027" y="2179673"/>
            <a:ext cx="132122" cy="239232"/>
          </a:xfrm>
          <a:prstGeom prst="rect">
            <a:avLst/>
          </a:prstGeom>
          <a:solidFill>
            <a:srgbClr val="F2DEE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743150" y="2179673"/>
            <a:ext cx="132122" cy="239232"/>
          </a:xfrm>
          <a:prstGeom prst="rect">
            <a:avLst/>
          </a:prstGeom>
          <a:solidFill>
            <a:srgbClr val="E6DDDB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196944" y="2166973"/>
            <a:ext cx="431800" cy="2646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7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033819" y="2179673"/>
            <a:ext cx="132122" cy="239232"/>
          </a:xfrm>
          <a:prstGeom prst="rect">
            <a:avLst/>
          </a:prstGeom>
          <a:solidFill>
            <a:srgbClr val="EFE9B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65941" y="2179673"/>
            <a:ext cx="132122" cy="239232"/>
          </a:xfrm>
          <a:prstGeom prst="rect">
            <a:avLst/>
          </a:prstGeom>
          <a:solidFill>
            <a:srgbClr val="EAF8D8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98063" y="2179673"/>
            <a:ext cx="132122" cy="239232"/>
          </a:xfrm>
          <a:prstGeom prst="rect">
            <a:avLst/>
          </a:prstGeom>
          <a:solidFill>
            <a:srgbClr val="F2A7C3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430185" y="2179673"/>
            <a:ext cx="132122" cy="239232"/>
          </a:xfrm>
          <a:prstGeom prst="rect">
            <a:avLst/>
          </a:prstGeom>
          <a:solidFill>
            <a:srgbClr val="E9E7F4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562307" y="2179673"/>
            <a:ext cx="132122" cy="239232"/>
          </a:xfrm>
          <a:prstGeom prst="rect">
            <a:avLst/>
          </a:prstGeom>
          <a:solidFill>
            <a:srgbClr val="F2DEE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694430" y="2179673"/>
            <a:ext cx="132122" cy="239232"/>
          </a:xfrm>
          <a:prstGeom prst="rect">
            <a:avLst/>
          </a:prstGeom>
          <a:solidFill>
            <a:srgbClr val="E6DDDB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148224" y="2166973"/>
            <a:ext cx="431800" cy="2646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7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9504505" y="2179673"/>
            <a:ext cx="132122" cy="239232"/>
          </a:xfrm>
          <a:prstGeom prst="rect">
            <a:avLst/>
          </a:prstGeom>
          <a:solidFill>
            <a:srgbClr val="EFE9B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636627" y="2179673"/>
            <a:ext cx="132122" cy="239232"/>
          </a:xfrm>
          <a:prstGeom prst="rect">
            <a:avLst/>
          </a:prstGeom>
          <a:solidFill>
            <a:srgbClr val="EAF8D8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768749" y="2179673"/>
            <a:ext cx="132122" cy="239232"/>
          </a:xfrm>
          <a:prstGeom prst="rect">
            <a:avLst/>
          </a:prstGeom>
          <a:solidFill>
            <a:srgbClr val="F2A7C3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900871" y="2179673"/>
            <a:ext cx="132122" cy="239232"/>
          </a:xfrm>
          <a:prstGeom prst="rect">
            <a:avLst/>
          </a:prstGeom>
          <a:solidFill>
            <a:srgbClr val="E9E7F4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032994" y="2179673"/>
            <a:ext cx="132122" cy="239232"/>
          </a:xfrm>
          <a:prstGeom prst="rect">
            <a:avLst/>
          </a:prstGeom>
          <a:solidFill>
            <a:srgbClr val="F2DEE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165116" y="2179673"/>
            <a:ext cx="132122" cy="239232"/>
          </a:xfrm>
          <a:prstGeom prst="rect">
            <a:avLst/>
          </a:prstGeom>
          <a:solidFill>
            <a:srgbClr val="E6DDDB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618910" y="2166973"/>
            <a:ext cx="431800" cy="2646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7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N-2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10535058" y="2179673"/>
            <a:ext cx="132122" cy="239232"/>
          </a:xfrm>
          <a:prstGeom prst="rect">
            <a:avLst/>
          </a:prstGeom>
          <a:solidFill>
            <a:srgbClr val="EFE9B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667180" y="2179673"/>
            <a:ext cx="132122" cy="239232"/>
          </a:xfrm>
          <a:prstGeom prst="rect">
            <a:avLst/>
          </a:prstGeom>
          <a:solidFill>
            <a:srgbClr val="EAF8D8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799303" y="2179673"/>
            <a:ext cx="132122" cy="239232"/>
          </a:xfrm>
          <a:prstGeom prst="rect">
            <a:avLst/>
          </a:prstGeom>
          <a:solidFill>
            <a:srgbClr val="F2A7C3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931425" y="2179673"/>
            <a:ext cx="132122" cy="239232"/>
          </a:xfrm>
          <a:prstGeom prst="rect">
            <a:avLst/>
          </a:prstGeom>
          <a:solidFill>
            <a:srgbClr val="E9E7F4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1063547" y="2179673"/>
            <a:ext cx="132122" cy="239232"/>
          </a:xfrm>
          <a:prstGeom prst="rect">
            <a:avLst/>
          </a:prstGeom>
          <a:solidFill>
            <a:srgbClr val="F2DEE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195669" y="2179673"/>
            <a:ext cx="132122" cy="239232"/>
          </a:xfrm>
          <a:prstGeom prst="rect">
            <a:avLst/>
          </a:prstGeom>
          <a:solidFill>
            <a:srgbClr val="E6DDDB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0649464" y="2166973"/>
            <a:ext cx="431800" cy="2646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7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N-1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8076458" y="2258605"/>
            <a:ext cx="107950" cy="107950"/>
          </a:xfrm>
          <a:prstGeom prst="ellipse">
            <a:avLst/>
          </a:prstGeom>
          <a:solidFill>
            <a:srgbClr val="00A550"/>
          </a:solidFill>
          <a:ln w="3175">
            <a:solidFill>
              <a:srgbClr val="00A55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314278" y="2258605"/>
            <a:ext cx="107950" cy="107950"/>
          </a:xfrm>
          <a:prstGeom prst="ellipse">
            <a:avLst/>
          </a:prstGeom>
          <a:solidFill>
            <a:srgbClr val="00A550"/>
          </a:solidFill>
          <a:ln w="3175">
            <a:solidFill>
              <a:srgbClr val="00A55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558704" y="2258605"/>
            <a:ext cx="107950" cy="107950"/>
          </a:xfrm>
          <a:prstGeom prst="ellipse">
            <a:avLst/>
          </a:prstGeom>
          <a:solidFill>
            <a:srgbClr val="00A550"/>
          </a:solidFill>
          <a:ln w="3175">
            <a:solidFill>
              <a:srgbClr val="00A55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796524" y="2258605"/>
            <a:ext cx="107950" cy="107950"/>
          </a:xfrm>
          <a:prstGeom prst="ellipse">
            <a:avLst/>
          </a:prstGeom>
          <a:solidFill>
            <a:srgbClr val="00A550"/>
          </a:solidFill>
          <a:ln w="3175">
            <a:solidFill>
              <a:srgbClr val="00A55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994708" y="2258605"/>
            <a:ext cx="107950" cy="107950"/>
          </a:xfrm>
          <a:prstGeom prst="ellipse">
            <a:avLst/>
          </a:prstGeom>
          <a:solidFill>
            <a:srgbClr val="00A550"/>
          </a:solidFill>
          <a:ln w="3175">
            <a:solidFill>
              <a:srgbClr val="00A55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920688" y="2884080"/>
            <a:ext cx="9499590" cy="518337"/>
          </a:xfrm>
          <a:prstGeom prst="roundRect">
            <a:avLst>
              <a:gd name="adj" fmla="val 10585"/>
            </a:avLst>
          </a:prstGeom>
          <a:solidFill>
            <a:srgbClr val="C9C7F6"/>
          </a:solidFill>
          <a:ln w="12700">
            <a:solidFill>
              <a:srgbClr val="3333CC"/>
            </a:solidFill>
            <a:prstDash val="sysDash"/>
          </a:ln>
        </p:spPr>
      </p:sp>
      <p:sp>
        <p:nvSpPr>
          <p:cNvPr id="95" name="Shape 93"/>
          <p:cNvSpPr/>
          <p:nvPr/>
        </p:nvSpPr>
        <p:spPr>
          <a:xfrm>
            <a:off x="2052810" y="2917307"/>
            <a:ext cx="753097" cy="465174"/>
          </a:xfrm>
          <a:prstGeom prst="rect">
            <a:avLst/>
          </a:prstGeom>
          <a:ln w="12700">
            <a:solidFill>
              <a:srgbClr val="3333CC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052810" y="2917307"/>
            <a:ext cx="753097" cy="4651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3333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 0</a:t>
            </a:r>
            <a:endParaRPr lang="en-US" sz="1350" dirty="0"/>
          </a:p>
        </p:txBody>
      </p:sp>
      <p:sp>
        <p:nvSpPr>
          <p:cNvPr id="97" name="Shape 95"/>
          <p:cNvSpPr/>
          <p:nvPr/>
        </p:nvSpPr>
        <p:spPr>
          <a:xfrm>
            <a:off x="3043727" y="2917307"/>
            <a:ext cx="792733" cy="465174"/>
          </a:xfrm>
          <a:prstGeom prst="rect">
            <a:avLst/>
          </a:prstGeom>
          <a:ln w="12700">
            <a:solidFill>
              <a:srgbClr val="3333CC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043727" y="2917307"/>
            <a:ext cx="792733" cy="4651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3333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 1</a:t>
            </a:r>
            <a:endParaRPr lang="en-US" sz="1350" dirty="0"/>
          </a:p>
        </p:txBody>
      </p:sp>
      <p:sp>
        <p:nvSpPr>
          <p:cNvPr id="99" name="Shape 97"/>
          <p:cNvSpPr/>
          <p:nvPr/>
        </p:nvSpPr>
        <p:spPr>
          <a:xfrm>
            <a:off x="4008219" y="2917307"/>
            <a:ext cx="805946" cy="465174"/>
          </a:xfrm>
          <a:prstGeom prst="rect">
            <a:avLst/>
          </a:prstGeom>
          <a:ln w="12700">
            <a:solidFill>
              <a:srgbClr val="3333CC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008219" y="2917307"/>
            <a:ext cx="805946" cy="4651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3333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 2</a:t>
            </a:r>
            <a:endParaRPr lang="en-US" sz="1350" dirty="0"/>
          </a:p>
        </p:txBody>
      </p:sp>
      <p:sp>
        <p:nvSpPr>
          <p:cNvPr id="101" name="Shape 99"/>
          <p:cNvSpPr/>
          <p:nvPr/>
        </p:nvSpPr>
        <p:spPr>
          <a:xfrm>
            <a:off x="4985924" y="2917307"/>
            <a:ext cx="673823" cy="465174"/>
          </a:xfrm>
          <a:prstGeom prst="rect">
            <a:avLst/>
          </a:prstGeom>
          <a:ln w="12700">
            <a:solidFill>
              <a:srgbClr val="3333CC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985924" y="2917307"/>
            <a:ext cx="673823" cy="4651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3333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 3</a:t>
            </a:r>
            <a:endParaRPr lang="en-US" sz="1350" dirty="0"/>
          </a:p>
        </p:txBody>
      </p:sp>
      <p:sp>
        <p:nvSpPr>
          <p:cNvPr id="103" name="Shape 101"/>
          <p:cNvSpPr/>
          <p:nvPr/>
        </p:nvSpPr>
        <p:spPr>
          <a:xfrm>
            <a:off x="6095751" y="2917307"/>
            <a:ext cx="660611" cy="465174"/>
          </a:xfrm>
          <a:prstGeom prst="rect">
            <a:avLst/>
          </a:prstGeom>
          <a:ln w="12700">
            <a:solidFill>
              <a:srgbClr val="3333CC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095751" y="2917307"/>
            <a:ext cx="660611" cy="4651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3333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 4</a:t>
            </a:r>
            <a:endParaRPr lang="en-US" sz="1350" dirty="0"/>
          </a:p>
        </p:txBody>
      </p:sp>
      <p:sp>
        <p:nvSpPr>
          <p:cNvPr id="105" name="Shape 103"/>
          <p:cNvSpPr/>
          <p:nvPr/>
        </p:nvSpPr>
        <p:spPr>
          <a:xfrm>
            <a:off x="6941333" y="2917307"/>
            <a:ext cx="779521" cy="465174"/>
          </a:xfrm>
          <a:prstGeom prst="rect">
            <a:avLst/>
          </a:prstGeom>
          <a:ln w="12700">
            <a:solidFill>
              <a:srgbClr val="3333CC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941333" y="2917307"/>
            <a:ext cx="779521" cy="4651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3333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 5</a:t>
            </a:r>
            <a:endParaRPr lang="en-US" sz="1350" dirty="0"/>
          </a:p>
        </p:txBody>
      </p:sp>
      <p:sp>
        <p:nvSpPr>
          <p:cNvPr id="107" name="Shape 105"/>
          <p:cNvSpPr/>
          <p:nvPr/>
        </p:nvSpPr>
        <p:spPr>
          <a:xfrm>
            <a:off x="9398807" y="2917307"/>
            <a:ext cx="872007" cy="465174"/>
          </a:xfrm>
          <a:prstGeom prst="rect">
            <a:avLst/>
          </a:prstGeom>
          <a:ln w="12700">
            <a:solidFill>
              <a:srgbClr val="3333CC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9398807" y="2917307"/>
            <a:ext cx="872007" cy="4651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3333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 </a:t>
            </a:r>
            <a:pPr algn="ctr" indent="0" marL="0">
              <a:lnSpc>
                <a:spcPts val="1350"/>
              </a:lnSpc>
              <a:buNone/>
            </a:pPr>
            <a:r>
              <a:rPr lang="en-US" sz="800" i="1" baseline="-40000" dirty="0">
                <a:solidFill>
                  <a:srgbClr val="3333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N-2</a:t>
            </a:r>
            <a:endParaRPr lang="en-US" sz="1350" dirty="0"/>
          </a:p>
        </p:txBody>
      </p:sp>
      <p:sp>
        <p:nvSpPr>
          <p:cNvPr id="109" name="Shape 107"/>
          <p:cNvSpPr/>
          <p:nvPr/>
        </p:nvSpPr>
        <p:spPr>
          <a:xfrm>
            <a:off x="10389724" y="2917307"/>
            <a:ext cx="872007" cy="465174"/>
          </a:xfrm>
          <a:prstGeom prst="rect">
            <a:avLst/>
          </a:prstGeom>
          <a:ln w="12700">
            <a:solidFill>
              <a:srgbClr val="3333CC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10389724" y="2917307"/>
            <a:ext cx="872007" cy="4651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3333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 </a:t>
            </a:r>
            <a:pPr algn="ctr" indent="0" marL="0">
              <a:lnSpc>
                <a:spcPts val="1350"/>
              </a:lnSpc>
              <a:buNone/>
            </a:pPr>
            <a:r>
              <a:rPr lang="en-US" sz="800" i="1" baseline="-40000" dirty="0">
                <a:solidFill>
                  <a:srgbClr val="3333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N-1</a:t>
            </a:r>
            <a:endParaRPr lang="en-US" sz="1350" dirty="0"/>
          </a:p>
        </p:txBody>
      </p:sp>
      <p:sp>
        <p:nvSpPr>
          <p:cNvPr id="111" name="Shape 109"/>
          <p:cNvSpPr/>
          <p:nvPr/>
        </p:nvSpPr>
        <p:spPr>
          <a:xfrm>
            <a:off x="8076458" y="3049401"/>
            <a:ext cx="107950" cy="107950"/>
          </a:xfrm>
          <a:prstGeom prst="ellipse">
            <a:avLst/>
          </a:prstGeom>
          <a:solidFill>
            <a:srgbClr val="3333CC"/>
          </a:solidFill>
          <a:ln w="3175">
            <a:solidFill>
              <a:srgbClr val="3333CC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14278" y="3049401"/>
            <a:ext cx="107950" cy="107950"/>
          </a:xfrm>
          <a:prstGeom prst="ellipse">
            <a:avLst/>
          </a:prstGeom>
          <a:solidFill>
            <a:srgbClr val="3333CC"/>
          </a:solidFill>
          <a:ln w="3175">
            <a:solidFill>
              <a:srgbClr val="3333CC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558704" y="3049401"/>
            <a:ext cx="107950" cy="107950"/>
          </a:xfrm>
          <a:prstGeom prst="ellipse">
            <a:avLst/>
          </a:prstGeom>
          <a:solidFill>
            <a:srgbClr val="3333CC"/>
          </a:solidFill>
          <a:ln w="3175">
            <a:solidFill>
              <a:srgbClr val="3333CC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796524" y="3049401"/>
            <a:ext cx="107950" cy="107950"/>
          </a:xfrm>
          <a:prstGeom prst="ellipse">
            <a:avLst/>
          </a:prstGeom>
          <a:solidFill>
            <a:srgbClr val="3333CC"/>
          </a:solidFill>
          <a:ln w="3175">
            <a:solidFill>
              <a:srgbClr val="3333CC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994708" y="3049401"/>
            <a:ext cx="107950" cy="107950"/>
          </a:xfrm>
          <a:prstGeom prst="ellipse">
            <a:avLst/>
          </a:prstGeom>
          <a:solidFill>
            <a:srgbClr val="3333CC"/>
          </a:solidFill>
          <a:ln w="3175">
            <a:solidFill>
              <a:srgbClr val="3333CC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3333013" y="3314625"/>
            <a:ext cx="95250" cy="82550"/>
          </a:xfrm>
          <a:prstGeom prst="triangle">
            <a:avLst/>
          </a:prstGeom>
          <a:solidFill>
            <a:srgbClr val="FFA500"/>
          </a:solidFill>
          <a:ln w="12700">
            <a:solidFill>
              <a:srgbClr val="FFA50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 flipV="1">
            <a:off x="4304112" y="3314625"/>
            <a:ext cx="95250" cy="82550"/>
          </a:xfrm>
          <a:prstGeom prst="triangle">
            <a:avLst/>
          </a:prstGeom>
          <a:solidFill>
            <a:srgbClr val="FFA500"/>
          </a:solidFill>
          <a:ln w="12700">
            <a:solidFill>
              <a:srgbClr val="FFA50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 flipV="1">
            <a:off x="5281817" y="3314625"/>
            <a:ext cx="95250" cy="82550"/>
          </a:xfrm>
          <a:prstGeom prst="triangle">
            <a:avLst/>
          </a:prstGeom>
          <a:solidFill>
            <a:srgbClr val="FFA500"/>
          </a:solidFill>
          <a:ln w="12700">
            <a:solidFill>
              <a:srgbClr val="FFA50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 flipV="1">
            <a:off x="6252915" y="3314625"/>
            <a:ext cx="95250" cy="82550"/>
          </a:xfrm>
          <a:prstGeom prst="triangle">
            <a:avLst/>
          </a:prstGeom>
          <a:solidFill>
            <a:srgbClr val="FFA500"/>
          </a:solidFill>
          <a:ln w="12700">
            <a:solidFill>
              <a:srgbClr val="FFA50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 flipV="1">
            <a:off x="7224014" y="3314625"/>
            <a:ext cx="95250" cy="82550"/>
          </a:xfrm>
          <a:prstGeom prst="triangle">
            <a:avLst/>
          </a:prstGeom>
          <a:solidFill>
            <a:srgbClr val="FFA500"/>
          </a:solidFill>
          <a:ln w="12700">
            <a:solidFill>
              <a:srgbClr val="FFA50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 flipV="1">
            <a:off x="10731859" y="3314625"/>
            <a:ext cx="95250" cy="82550"/>
          </a:xfrm>
          <a:prstGeom prst="triangle">
            <a:avLst/>
          </a:prstGeom>
          <a:solidFill>
            <a:srgbClr val="FFA500"/>
          </a:solidFill>
          <a:ln w="12700">
            <a:solidFill>
              <a:srgbClr val="FFA500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2617968" y="3502540"/>
            <a:ext cx="50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</a:t>
            </a:r>
            <a:pPr algn="ctr" indent="0" marL="0">
              <a:buNone/>
            </a:pPr>
            <a:r>
              <a:rPr lang="en-US" sz="20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δ</a:t>
            </a:r>
            <a:endParaRPr lang="en-US" sz="2000" dirty="0"/>
          </a:p>
        </p:txBody>
      </p:sp>
      <p:sp>
        <p:nvSpPr>
          <p:cNvPr id="123" name="Text 121"/>
          <p:cNvSpPr/>
          <p:nvPr/>
        </p:nvSpPr>
        <p:spPr>
          <a:xfrm>
            <a:off x="3622097" y="3502540"/>
            <a:ext cx="50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</a:t>
            </a:r>
            <a:pPr algn="ctr" indent="0" marL="0">
              <a:buNone/>
            </a:pPr>
            <a:r>
              <a:rPr lang="en-US" sz="20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δ</a:t>
            </a:r>
            <a:endParaRPr lang="en-US" sz="2000" dirty="0"/>
          </a:p>
        </p:txBody>
      </p:sp>
      <p:sp>
        <p:nvSpPr>
          <p:cNvPr id="124" name="Text 122"/>
          <p:cNvSpPr/>
          <p:nvPr/>
        </p:nvSpPr>
        <p:spPr>
          <a:xfrm>
            <a:off x="4613014" y="3502540"/>
            <a:ext cx="50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</a:t>
            </a:r>
            <a:pPr algn="ctr" indent="0" marL="0">
              <a:buNone/>
            </a:pPr>
            <a:r>
              <a:rPr lang="en-US" sz="20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δ</a:t>
            </a:r>
            <a:endParaRPr lang="en-US" sz="2000" dirty="0"/>
          </a:p>
        </p:txBody>
      </p:sp>
      <p:sp>
        <p:nvSpPr>
          <p:cNvPr id="125" name="Text 123"/>
          <p:cNvSpPr/>
          <p:nvPr/>
        </p:nvSpPr>
        <p:spPr>
          <a:xfrm>
            <a:off x="5617143" y="3502540"/>
            <a:ext cx="50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</a:t>
            </a:r>
            <a:pPr algn="ctr" indent="0" marL="0">
              <a:buNone/>
            </a:pPr>
            <a:r>
              <a:rPr lang="en-US" sz="20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δ</a:t>
            </a:r>
            <a:endParaRPr lang="en-US" sz="2000" dirty="0"/>
          </a:p>
        </p:txBody>
      </p:sp>
      <p:sp>
        <p:nvSpPr>
          <p:cNvPr id="126" name="Text 124"/>
          <p:cNvSpPr/>
          <p:nvPr/>
        </p:nvSpPr>
        <p:spPr>
          <a:xfrm>
            <a:off x="6568423" y="3502540"/>
            <a:ext cx="50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</a:t>
            </a:r>
            <a:pPr algn="ctr" indent="0" marL="0">
              <a:buNone/>
            </a:pPr>
            <a:r>
              <a:rPr lang="en-US" sz="20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δ</a:t>
            </a:r>
            <a:endParaRPr lang="en-US" sz="2000" dirty="0"/>
          </a:p>
        </p:txBody>
      </p:sp>
      <p:sp>
        <p:nvSpPr>
          <p:cNvPr id="127" name="Text 125"/>
          <p:cNvSpPr/>
          <p:nvPr/>
        </p:nvSpPr>
        <p:spPr>
          <a:xfrm>
            <a:off x="10069662" y="3502540"/>
            <a:ext cx="50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</a:t>
            </a:r>
            <a:pPr algn="ctr" indent="0" marL="0">
              <a:buNone/>
            </a:pPr>
            <a:r>
              <a:rPr lang="en-US" sz="20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δ</a:t>
            </a:r>
            <a:endParaRPr lang="en-US" sz="2000" dirty="0"/>
          </a:p>
        </p:txBody>
      </p:sp>
      <p:sp>
        <p:nvSpPr>
          <p:cNvPr id="128" name="Shape 126"/>
          <p:cNvSpPr/>
          <p:nvPr/>
        </p:nvSpPr>
        <p:spPr>
          <a:xfrm>
            <a:off x="1933900" y="3907463"/>
            <a:ext cx="9473165" cy="491756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1791633" y="3985165"/>
            <a:ext cx="9652000" cy="384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2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 </a:t>
            </a:r>
            <a:pPr algn="ctr" indent="0" marL="0">
              <a:buNone/>
            </a:pPr>
            <a:r>
              <a:rPr lang="en-US" sz="2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Encoding and Position Information (for Each Word)</a:t>
            </a:r>
            <a:endParaRPr lang="en-US" sz="2020" dirty="0"/>
          </a:p>
        </p:txBody>
      </p:sp>
      <p:sp>
        <p:nvSpPr>
          <p:cNvPr id="130" name="Shape 128"/>
          <p:cNvSpPr/>
          <p:nvPr/>
        </p:nvSpPr>
        <p:spPr>
          <a:xfrm>
            <a:off x="7820090" y="3508743"/>
            <a:ext cx="105410" cy="289589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7790245" y="3798332"/>
            <a:ext cx="165100" cy="82550"/>
          </a:xfrm>
          <a:prstGeom prst="triangl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213979" y="2604976"/>
            <a:ext cx="105410" cy="1219938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9184134" y="3824913"/>
            <a:ext cx="165100" cy="82550"/>
          </a:xfrm>
          <a:prstGeom prst="triangl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6564928" y="4399219"/>
            <a:ext cx="105410" cy="30288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6535083" y="4702099"/>
            <a:ext cx="165100" cy="82550"/>
          </a:xfrm>
          <a:prstGeom prst="triangl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6564928" y="5568800"/>
            <a:ext cx="105410" cy="276299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6535083" y="5845098"/>
            <a:ext cx="165100" cy="82550"/>
          </a:xfrm>
          <a:prstGeom prst="triangl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1894263" y="4758068"/>
            <a:ext cx="9526014" cy="531628"/>
          </a:xfrm>
          <a:prstGeom prst="roundRect">
            <a:avLst>
              <a:gd name="adj" fmla="val 10320"/>
            </a:avLst>
          </a:prstGeom>
          <a:solidFill>
            <a:srgbClr val="FFFFFF"/>
          </a:solidFill>
          <a:ln w="12700">
            <a:solidFill>
              <a:srgbClr val="C00000"/>
            </a:solidFill>
            <a:prstDash val="sysDash"/>
          </a:ln>
        </p:spPr>
      </p:sp>
      <p:sp>
        <p:nvSpPr>
          <p:cNvPr id="139" name="Shape 137"/>
          <p:cNvSpPr/>
          <p:nvPr/>
        </p:nvSpPr>
        <p:spPr>
          <a:xfrm>
            <a:off x="2131708" y="4797940"/>
            <a:ext cx="833120" cy="445238"/>
          </a:xfrm>
          <a:prstGeom prst="rect">
            <a:avLst/>
          </a:prstGeom>
          <a:solidFill>
            <a:srgbClr val="FAEEEE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2131708" y="4797940"/>
            <a:ext cx="833120" cy="4452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I/P 0</a:t>
            </a:r>
            <a:endParaRPr lang="en-US" sz="1350" dirty="0"/>
          </a:p>
        </p:txBody>
      </p:sp>
      <p:sp>
        <p:nvSpPr>
          <p:cNvPr id="141" name="Shape 139"/>
          <p:cNvSpPr/>
          <p:nvPr/>
        </p:nvSpPr>
        <p:spPr>
          <a:xfrm>
            <a:off x="3101486" y="4797940"/>
            <a:ext cx="833120" cy="445238"/>
          </a:xfrm>
          <a:prstGeom prst="rect">
            <a:avLst/>
          </a:prstGeom>
          <a:solidFill>
            <a:srgbClr val="FAEEEE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3101486" y="4797940"/>
            <a:ext cx="833120" cy="4452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I/P 1</a:t>
            </a:r>
            <a:endParaRPr lang="en-US" sz="1350" dirty="0"/>
          </a:p>
        </p:txBody>
      </p:sp>
      <p:sp>
        <p:nvSpPr>
          <p:cNvPr id="143" name="Shape 141"/>
          <p:cNvSpPr/>
          <p:nvPr/>
        </p:nvSpPr>
        <p:spPr>
          <a:xfrm>
            <a:off x="4071263" y="4797940"/>
            <a:ext cx="833120" cy="445238"/>
          </a:xfrm>
          <a:prstGeom prst="rect">
            <a:avLst/>
          </a:prstGeom>
          <a:solidFill>
            <a:srgbClr val="FAEEEE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4071263" y="4797940"/>
            <a:ext cx="833120" cy="4452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I/P 2</a:t>
            </a:r>
            <a:endParaRPr lang="en-US" sz="1350" dirty="0"/>
          </a:p>
        </p:txBody>
      </p:sp>
      <p:sp>
        <p:nvSpPr>
          <p:cNvPr id="145" name="Shape 143"/>
          <p:cNvSpPr/>
          <p:nvPr/>
        </p:nvSpPr>
        <p:spPr>
          <a:xfrm>
            <a:off x="5041040" y="4797940"/>
            <a:ext cx="833120" cy="445238"/>
          </a:xfrm>
          <a:prstGeom prst="rect">
            <a:avLst/>
          </a:prstGeom>
          <a:solidFill>
            <a:srgbClr val="FAEEEE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5041040" y="4797940"/>
            <a:ext cx="833120" cy="4452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I/P 3</a:t>
            </a:r>
            <a:endParaRPr lang="en-US" sz="1350" dirty="0"/>
          </a:p>
        </p:txBody>
      </p:sp>
      <p:sp>
        <p:nvSpPr>
          <p:cNvPr id="147" name="Shape 145"/>
          <p:cNvSpPr/>
          <p:nvPr/>
        </p:nvSpPr>
        <p:spPr>
          <a:xfrm>
            <a:off x="6010817" y="4797940"/>
            <a:ext cx="833120" cy="445238"/>
          </a:xfrm>
          <a:prstGeom prst="rect">
            <a:avLst/>
          </a:prstGeom>
          <a:solidFill>
            <a:srgbClr val="FAEEEE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6010817" y="4797940"/>
            <a:ext cx="833120" cy="4452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I/P 4</a:t>
            </a:r>
            <a:endParaRPr lang="en-US" sz="1350" dirty="0"/>
          </a:p>
        </p:txBody>
      </p:sp>
      <p:sp>
        <p:nvSpPr>
          <p:cNvPr id="149" name="Shape 147"/>
          <p:cNvSpPr/>
          <p:nvPr/>
        </p:nvSpPr>
        <p:spPr>
          <a:xfrm>
            <a:off x="6980595" y="4797940"/>
            <a:ext cx="833120" cy="445238"/>
          </a:xfrm>
          <a:prstGeom prst="rect">
            <a:avLst/>
          </a:prstGeom>
          <a:solidFill>
            <a:srgbClr val="FAEEEE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6980595" y="4797940"/>
            <a:ext cx="833120" cy="4452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I/P 5</a:t>
            </a:r>
            <a:endParaRPr lang="en-US" sz="1350" dirty="0"/>
          </a:p>
        </p:txBody>
      </p:sp>
      <p:sp>
        <p:nvSpPr>
          <p:cNvPr id="151" name="Shape 149"/>
          <p:cNvSpPr/>
          <p:nvPr/>
        </p:nvSpPr>
        <p:spPr>
          <a:xfrm>
            <a:off x="9504130" y="4797940"/>
            <a:ext cx="833120" cy="445238"/>
          </a:xfrm>
          <a:prstGeom prst="rect">
            <a:avLst/>
          </a:prstGeom>
          <a:solidFill>
            <a:srgbClr val="FAEEEE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9504130" y="4797940"/>
            <a:ext cx="833120" cy="4452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I/P </a:t>
            </a:r>
            <a:pPr algn="ctr" indent="0" marL="0">
              <a:lnSpc>
                <a:spcPts val="1350"/>
              </a:lnSpc>
              <a:buNone/>
            </a:pPr>
            <a:r>
              <a:rPr lang="en-US" sz="8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N-2</a:t>
            </a:r>
            <a:endParaRPr lang="en-US" sz="1350" dirty="0"/>
          </a:p>
        </p:txBody>
      </p:sp>
      <p:sp>
        <p:nvSpPr>
          <p:cNvPr id="153" name="Shape 151"/>
          <p:cNvSpPr/>
          <p:nvPr/>
        </p:nvSpPr>
        <p:spPr>
          <a:xfrm>
            <a:off x="10481834" y="4797940"/>
            <a:ext cx="833120" cy="445238"/>
          </a:xfrm>
          <a:prstGeom prst="rect">
            <a:avLst/>
          </a:prstGeom>
          <a:solidFill>
            <a:srgbClr val="FAEEEE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10481834" y="4797940"/>
            <a:ext cx="833120" cy="4452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I/P </a:t>
            </a:r>
            <a:pPr algn="ctr" indent="0" marL="0">
              <a:lnSpc>
                <a:spcPts val="1350"/>
              </a:lnSpc>
              <a:buNone/>
            </a:pPr>
            <a:r>
              <a:rPr lang="en-US" sz="8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N-1</a:t>
            </a:r>
            <a:endParaRPr lang="en-US" sz="1350" dirty="0"/>
          </a:p>
        </p:txBody>
      </p:sp>
      <p:pic>
        <p:nvPicPr>
          <p:cNvPr id="155" name="Image 0" descr="/home/ahmed/Projects/ai_llm_slides/videos/deep-learning/002_transformers_part2/recreated_pptx/build/assets/brace_0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9234" y="5316277"/>
            <a:ext cx="9076798" cy="279105"/>
          </a:xfrm>
          <a:prstGeom prst="rect">
            <a:avLst/>
          </a:prstGeom>
        </p:spPr>
      </p:pic>
      <p:sp>
        <p:nvSpPr>
          <p:cNvPr id="156" name="Text 153"/>
          <p:cNvSpPr/>
          <p:nvPr/>
        </p:nvSpPr>
        <p:spPr>
          <a:xfrm>
            <a:off x="2801027" y="6026373"/>
            <a:ext cx="7620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222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to first Self Attention Layer in Transformer</a:t>
            </a:r>
            <a:endParaRPr lang="en-US" sz="1400" dirty="0"/>
          </a:p>
        </p:txBody>
      </p:sp>
      <p:sp>
        <p:nvSpPr>
          <p:cNvPr id="157" name="Shape 154"/>
          <p:cNvSpPr/>
          <p:nvPr/>
        </p:nvSpPr>
        <p:spPr>
          <a:xfrm>
            <a:off x="625890" y="5515637"/>
            <a:ext cx="1770438" cy="1302488"/>
          </a:xfrm>
          <a:prstGeom prst="rect">
            <a:avLst/>
          </a:prstGeom>
          <a:solidFill>
            <a:srgbClr val="FFFFFF"/>
          </a:solidFill>
          <a:ln w="19050">
            <a:solidFill>
              <a:srgbClr val="008000"/>
            </a:solidFill>
            <a:prstDash val="solid"/>
          </a:ln>
        </p:spPr>
      </p:sp>
      <p:sp>
        <p:nvSpPr>
          <p:cNvPr id="158" name="Text 155"/>
          <p:cNvSpPr/>
          <p:nvPr/>
        </p:nvSpPr>
        <p:spPr>
          <a:xfrm>
            <a:off x="702090" y="5566437"/>
            <a:ext cx="787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Positional</a:t>
            </a:r>
            <a:endParaRPr lang="en-US" sz="900" dirty="0"/>
          </a:p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</a:t>
            </a:r>
            <a:endParaRPr lang="en-US" sz="900" dirty="0"/>
          </a:p>
        </p:txBody>
      </p:sp>
      <p:sp>
        <p:nvSpPr>
          <p:cNvPr id="159" name="Shape 156"/>
          <p:cNvSpPr/>
          <p:nvPr/>
        </p:nvSpPr>
        <p:spPr>
          <a:xfrm>
            <a:off x="2081310" y="5515637"/>
            <a:ext cx="0" cy="159385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0" name="Shape 157"/>
          <p:cNvSpPr/>
          <p:nvPr/>
        </p:nvSpPr>
        <p:spPr>
          <a:xfrm>
            <a:off x="1821595" y="5675022"/>
            <a:ext cx="158750" cy="1587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1" name="Text 158"/>
          <p:cNvSpPr/>
          <p:nvPr/>
        </p:nvSpPr>
        <p:spPr>
          <a:xfrm>
            <a:off x="1821595" y="5675022"/>
            <a:ext cx="158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~</a:t>
            </a:r>
            <a:endParaRPr lang="en-US" sz="1300" dirty="0"/>
          </a:p>
        </p:txBody>
      </p:sp>
      <p:sp>
        <p:nvSpPr>
          <p:cNvPr id="162" name="Shape 159"/>
          <p:cNvSpPr/>
          <p:nvPr/>
        </p:nvSpPr>
        <p:spPr>
          <a:xfrm>
            <a:off x="2001935" y="5675022"/>
            <a:ext cx="158750" cy="1587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3" name="Text 160"/>
          <p:cNvSpPr/>
          <p:nvPr/>
        </p:nvSpPr>
        <p:spPr>
          <a:xfrm>
            <a:off x="2001935" y="5675022"/>
            <a:ext cx="158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64" name="Shape 161"/>
          <p:cNvSpPr/>
          <p:nvPr/>
        </p:nvSpPr>
        <p:spPr>
          <a:xfrm>
            <a:off x="1980345" y="5754397"/>
            <a:ext cx="2159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1485680" y="5967757"/>
            <a:ext cx="910590" cy="345440"/>
          </a:xfrm>
          <a:prstGeom prst="rect">
            <a:avLst/>
          </a:prstGeom>
          <a:solidFill>
            <a:srgbClr val="F4B8D0"/>
          </a:solidFill>
          <a:ln w="9525">
            <a:solidFill>
              <a:srgbClr val="C88AA6"/>
            </a:solidFill>
            <a:prstDash val="solid"/>
          </a:ln>
        </p:spPr>
      </p:sp>
      <p:sp>
        <p:nvSpPr>
          <p:cNvPr id="166" name="Text 163"/>
          <p:cNvSpPr/>
          <p:nvPr/>
        </p:nvSpPr>
        <p:spPr>
          <a:xfrm>
            <a:off x="1485680" y="5967757"/>
            <a:ext cx="91059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80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800" dirty="0"/>
          </a:p>
        </p:txBody>
      </p:sp>
      <p:sp>
        <p:nvSpPr>
          <p:cNvPr id="167" name="Shape 164"/>
          <p:cNvSpPr/>
          <p:nvPr/>
        </p:nvSpPr>
        <p:spPr>
          <a:xfrm>
            <a:off x="1991775" y="5833772"/>
            <a:ext cx="0" cy="133985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68" name="Shape 165"/>
          <p:cNvSpPr/>
          <p:nvPr/>
        </p:nvSpPr>
        <p:spPr>
          <a:xfrm>
            <a:off x="1991775" y="6351297"/>
            <a:ext cx="0" cy="21590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headEnd type="triangle"/>
          </a:ln>
        </p:spPr>
      </p:sp>
      <p:sp>
        <p:nvSpPr>
          <p:cNvPr id="169" name="Text 166"/>
          <p:cNvSpPr/>
          <p:nvPr/>
        </p:nvSpPr>
        <p:spPr>
          <a:xfrm>
            <a:off x="1850170" y="6579897"/>
            <a:ext cx="5588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</a:t>
            </a:r>
            <a:endParaRPr lang="en-US" sz="800" dirty="0"/>
          </a:p>
        </p:txBody>
      </p:sp>
      <p:sp>
        <p:nvSpPr>
          <p:cNvPr id="170" name="Shape 167"/>
          <p:cNvSpPr/>
          <p:nvPr/>
        </p:nvSpPr>
        <p:spPr>
          <a:xfrm>
            <a:off x="11492944" y="1993604"/>
            <a:ext cx="0" cy="398721"/>
          </a:xfrm>
          <a:prstGeom prst="line">
            <a:avLst/>
          </a:prstGeom>
          <a:noFill/>
          <a:ln w="15875">
            <a:solidFill>
              <a:srgbClr val="C00000"/>
            </a:solidFill>
            <a:prstDash val="sysDash"/>
          </a:ln>
        </p:spPr>
      </p:sp>
      <p:sp>
        <p:nvSpPr>
          <p:cNvPr id="171" name="Shape 168"/>
          <p:cNvSpPr/>
          <p:nvPr/>
        </p:nvSpPr>
        <p:spPr>
          <a:xfrm>
            <a:off x="11492944" y="2458778"/>
            <a:ext cx="0" cy="1129709"/>
          </a:xfrm>
          <a:prstGeom prst="line">
            <a:avLst/>
          </a:prstGeom>
          <a:noFill/>
          <a:ln w="15875">
            <a:solidFill>
              <a:srgbClr val="C00000"/>
            </a:solidFill>
            <a:prstDash val="sysDash"/>
          </a:ln>
        </p:spPr>
      </p:sp>
      <p:sp>
        <p:nvSpPr>
          <p:cNvPr id="172" name="Text 169"/>
          <p:cNvSpPr/>
          <p:nvPr/>
        </p:nvSpPr>
        <p:spPr>
          <a:xfrm>
            <a:off x="2449177" y="6207934"/>
            <a:ext cx="971558" cy="474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400" b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to</a:t>
            </a:r>
            <a:endParaRPr lang="en-US" sz="1400" dirty="0"/>
          </a:p>
          <a:p>
            <a:pPr algn="l" indent="0" marL="0">
              <a:lnSpc>
                <a:spcPts val="1570"/>
              </a:lnSpc>
              <a:buNone/>
            </a:pPr>
            <a:r>
              <a:rPr lang="en-US" sz="1400" b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2026-10-11T23:37:27Z</dcterms:created>
  <dcterms:modified xsi:type="dcterms:W3CDTF">2026-10-11T23:37:27Z</dcterms:modified>
</cp:coreProperties>
</file>