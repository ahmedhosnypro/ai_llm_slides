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68107" y="635147"/>
            <a:ext cx="942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Multiple Vectors by a Matrix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009808" y="993405"/>
            <a:ext cx="1117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Multiply Vectors of </a:t>
            </a:r>
            <a:pPr algn="ctr" indent="0" marL="0">
              <a:buNone/>
            </a:pPr>
            <a:r>
              <a:rPr lang="en-US" sz="17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Words</a:t>
            </a:r>
            <a:pPr algn="ctr" indent="0" marL="0">
              <a:buNone/>
            </a:pPr>
            <a:r>
              <a:rPr lang="en-US" sz="17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</a:t>
            </a:r>
            <a:pPr algn="ctr" indent="0" marL="0">
              <a:buNone/>
            </a:pPr>
            <a:r>
              <a:rPr lang="en-US" sz="17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7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(Key) or </a:t>
            </a:r>
            <a:pPr algn="ctr" indent="0" marL="0">
              <a:buNone/>
            </a:pPr>
            <a:r>
              <a:rPr lang="en-US" sz="17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50" b="1" i="1" baseline="-40000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7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(Value)  </a:t>
            </a:r>
            <a:pPr algn="ctr" indent="0" marL="0">
              <a:buNone/>
            </a:pPr>
            <a:r>
              <a:rPr lang="en-US" sz="175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W</a:t>
            </a:r>
            <a:pPr algn="ctr" indent="0" marL="0">
              <a:buNone/>
            </a:pPr>
            <a:r>
              <a:rPr lang="en-US" sz="1050" b="1" i="1" baseline="-40000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75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</a:t>
            </a:r>
            <a:pPr algn="ctr" indent="0" marL="0">
              <a:buNone/>
            </a:pPr>
            <a:r>
              <a:rPr lang="en-US" sz="1050" b="1" i="1" baseline="-40000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750" b="1" i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Squared Matrix}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2313" y="1687918"/>
            <a:ext cx="2985960" cy="5103626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30758" y="3296091"/>
            <a:ext cx="7755568" cy="3482161"/>
          </a:xfrm>
          <a:prstGeom prst="roundRect">
            <a:avLst>
              <a:gd name="adj" fmla="val 2101"/>
            </a:avLst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9668" y="1820825"/>
            <a:ext cx="7715931" cy="1342360"/>
          </a:xfrm>
          <a:prstGeom prst="roundRect">
            <a:avLst>
              <a:gd name="adj" fmla="val 4087"/>
            </a:avLst>
          </a:prstGeom>
          <a:solidFill>
            <a:srgbClr val="F2DEB8"/>
          </a:solidFill>
          <a:ln w="19050">
            <a:solidFill>
              <a:srgbClr val="8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81790" y="1928922"/>
            <a:ext cx="711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FF NN with the following Considerations: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81790" y="2247899"/>
            <a:ext cx="711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35134" y="2247899"/>
            <a:ext cx="584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81790" y="2546939"/>
            <a:ext cx="711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69073" y="2546939"/>
            <a:ext cx="584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81790" y="2819399"/>
            <a:ext cx="711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012" y="2819399"/>
            <a:ext cx="5842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Words Within Same Paragraph 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X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X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X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X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445046" y="2119865"/>
            <a:ext cx="1387282" cy="6645"/>
          </a:xfrm>
          <a:prstGeom prst="line">
            <a:avLst/>
          </a:prstGeom>
          <a:noFill/>
          <a:ln w="9525">
            <a:solidFill>
              <a:srgbClr val="2478D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445046" y="2438842"/>
            <a:ext cx="1387282" cy="1063255"/>
          </a:xfrm>
          <a:prstGeom prst="line">
            <a:avLst/>
          </a:prstGeom>
          <a:noFill/>
          <a:ln w="9525">
            <a:solidFill>
              <a:srgbClr val="2478D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445046" y="2757818"/>
            <a:ext cx="1387282" cy="2133156"/>
          </a:xfrm>
          <a:prstGeom prst="line">
            <a:avLst/>
          </a:prstGeom>
          <a:noFill/>
          <a:ln w="9525">
            <a:solidFill>
              <a:srgbClr val="2478D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45046" y="2997051"/>
            <a:ext cx="1387282" cy="3209702"/>
          </a:xfrm>
          <a:prstGeom prst="line">
            <a:avLst/>
          </a:prstGeom>
          <a:noFill/>
          <a:ln w="9525">
            <a:solidFill>
              <a:srgbClr val="2478D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45046" y="3282801"/>
            <a:ext cx="1387282" cy="-1156290"/>
          </a:xfrm>
          <a:prstGeom prst="line">
            <a:avLst/>
          </a:prstGeom>
          <a:noFill/>
          <a:ln w="9525">
            <a:solidFill>
              <a:srgbClr val="B04AC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445046" y="3555260"/>
            <a:ext cx="1387282" cy="-53163"/>
          </a:xfrm>
          <a:prstGeom prst="line">
            <a:avLst/>
          </a:prstGeom>
          <a:noFill/>
          <a:ln w="9525">
            <a:solidFill>
              <a:srgbClr val="B04AC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45046" y="3841010"/>
            <a:ext cx="1387282" cy="1049965"/>
          </a:xfrm>
          <a:prstGeom prst="line">
            <a:avLst/>
          </a:prstGeom>
          <a:noFill/>
          <a:ln w="9525">
            <a:solidFill>
              <a:srgbClr val="B04AC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445046" y="4086888"/>
            <a:ext cx="1387282" cy="2119865"/>
          </a:xfrm>
          <a:prstGeom prst="line">
            <a:avLst/>
          </a:prstGeom>
          <a:noFill/>
          <a:ln w="9525">
            <a:solidFill>
              <a:srgbClr val="B04AC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445046" y="4425800"/>
            <a:ext cx="1387282" cy="-2299290"/>
          </a:xfrm>
          <a:prstGeom prst="line">
            <a:avLst/>
          </a:prstGeom>
          <a:noFill/>
          <a:ln w="9525">
            <a:solidFill>
              <a:srgbClr val="F0982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445046" y="4711550"/>
            <a:ext cx="1387282" cy="-1209453"/>
          </a:xfrm>
          <a:prstGeom prst="line">
            <a:avLst/>
          </a:prstGeom>
          <a:noFill/>
          <a:ln w="9525">
            <a:solidFill>
              <a:srgbClr val="F0982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445046" y="4950783"/>
            <a:ext cx="1387282" cy="-59808"/>
          </a:xfrm>
          <a:prstGeom prst="line">
            <a:avLst/>
          </a:prstGeom>
          <a:noFill/>
          <a:ln w="9525">
            <a:solidFill>
              <a:srgbClr val="F0982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445046" y="5183370"/>
            <a:ext cx="1387282" cy="1023383"/>
          </a:xfrm>
          <a:prstGeom prst="line">
            <a:avLst/>
          </a:prstGeom>
          <a:noFill/>
          <a:ln w="9525">
            <a:solidFill>
              <a:srgbClr val="F0982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445046" y="5449184"/>
            <a:ext cx="1387282" cy="-3322673"/>
          </a:xfrm>
          <a:prstGeom prst="line">
            <a:avLst/>
          </a:prstGeom>
          <a:noFill/>
          <a:ln w="9525">
            <a:solidFill>
              <a:srgbClr val="6CB86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445046" y="5768160"/>
            <a:ext cx="1387282" cy="-2266063"/>
          </a:xfrm>
          <a:prstGeom prst="line">
            <a:avLst/>
          </a:prstGeom>
          <a:noFill/>
          <a:ln w="9525">
            <a:solidFill>
              <a:srgbClr val="6CB86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445046" y="6047265"/>
            <a:ext cx="1387282" cy="-1156290"/>
          </a:xfrm>
          <a:prstGeom prst="line">
            <a:avLst/>
          </a:prstGeom>
          <a:noFill/>
          <a:ln w="9525">
            <a:solidFill>
              <a:srgbClr val="6CB86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445046" y="6246625"/>
            <a:ext cx="1387282" cy="-39872"/>
          </a:xfrm>
          <a:prstGeom prst="line">
            <a:avLst/>
          </a:prstGeom>
          <a:noFill/>
          <a:ln w="9525">
            <a:solidFill>
              <a:srgbClr val="6CB86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78738" y="1342360"/>
            <a:ext cx="436003" cy="305686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738" y="1342360"/>
            <a:ext cx="436003" cy="30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48680" y="1674627"/>
            <a:ext cx="290669" cy="179424"/>
          </a:xfrm>
          <a:prstGeom prst="rect">
            <a:avLst/>
          </a:prstGeom>
          <a:solidFill>
            <a:srgbClr val="F8D8F8"/>
          </a:solidFill>
          <a:ln w="6350">
            <a:solidFill>
              <a:srgbClr val="E8C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8680" y="1674627"/>
            <a:ext cx="290669" cy="17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207226" y="1873988"/>
            <a:ext cx="290669" cy="179424"/>
          </a:xfrm>
          <a:prstGeom prst="rect">
            <a:avLst/>
          </a:prstGeom>
          <a:solidFill>
            <a:srgbClr val="F8D8F8"/>
          </a:solidFill>
          <a:ln w="6350">
            <a:solidFill>
              <a:srgbClr val="E8C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226" y="1873988"/>
            <a:ext cx="290669" cy="17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365773" y="2060057"/>
            <a:ext cx="290669" cy="179424"/>
          </a:xfrm>
          <a:prstGeom prst="rect">
            <a:avLst/>
          </a:prstGeom>
          <a:solidFill>
            <a:srgbClr val="F8D8F8"/>
          </a:solidFill>
          <a:ln w="6350">
            <a:solidFill>
              <a:srgbClr val="E8C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65773" y="2060057"/>
            <a:ext cx="290669" cy="17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220438" y="3256219"/>
            <a:ext cx="687035" cy="358849"/>
          </a:xfrm>
          <a:prstGeom prst="roundRect">
            <a:avLst>
              <a:gd name="adj" fmla="val 12741"/>
            </a:avLst>
          </a:prstGeom>
          <a:solidFill>
            <a:srgbClr val="F8D8F8"/>
          </a:solidFill>
          <a:ln w="6350">
            <a:solidFill>
              <a:srgbClr val="E0B8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20438" y="3256219"/>
            <a:ext cx="687035" cy="358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630017" y="3747975"/>
            <a:ext cx="290669" cy="292395"/>
          </a:xfrm>
          <a:prstGeom prst="roundRect">
            <a:avLst>
              <a:gd name="adj" fmla="val 15729"/>
            </a:avLst>
          </a:prstGeom>
          <a:solidFill>
            <a:srgbClr val="F8D8F8"/>
          </a:solidFill>
          <a:ln w="6350">
            <a:solidFill>
              <a:srgbClr val="E0B8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30017" y="3747975"/>
            <a:ext cx="290669" cy="29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585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141165" y="4731486"/>
            <a:ext cx="383154" cy="318977"/>
          </a:xfrm>
          <a:prstGeom prst="roundRect">
            <a:avLst>
              <a:gd name="adj" fmla="val 14333"/>
            </a:avLst>
          </a:prstGeom>
          <a:solidFill>
            <a:srgbClr val="F8D8F8"/>
          </a:solidFill>
          <a:ln w="6350">
            <a:solidFill>
              <a:srgbClr val="E0B8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41165" y="4731486"/>
            <a:ext cx="383154" cy="318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18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141165" y="6060555"/>
            <a:ext cx="356730" cy="305686"/>
          </a:xfrm>
          <a:prstGeom prst="roundRect">
            <a:avLst>
              <a:gd name="adj" fmla="val 14957"/>
            </a:avLst>
          </a:prstGeom>
          <a:solidFill>
            <a:srgbClr val="F8D8F8"/>
          </a:solidFill>
          <a:ln w="6350">
            <a:solidFill>
              <a:srgbClr val="E0B8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1165" y="6060555"/>
            <a:ext cx="356730" cy="30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618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70315" y="2937243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0315" y="2937243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51" name="Shape 49"/>
          <p:cNvSpPr/>
          <p:nvPr/>
        </p:nvSpPr>
        <p:spPr>
          <a:xfrm>
            <a:off x="1002437" y="3056859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2437" y="3056859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53" name="Shape 51"/>
          <p:cNvSpPr/>
          <p:nvPr/>
        </p:nvSpPr>
        <p:spPr>
          <a:xfrm>
            <a:off x="1134559" y="3176475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34559" y="317647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55" name="Shape 53"/>
          <p:cNvSpPr/>
          <p:nvPr/>
        </p:nvSpPr>
        <p:spPr>
          <a:xfrm>
            <a:off x="1266681" y="3296091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66681" y="3296091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57" name="Shape 55"/>
          <p:cNvSpPr/>
          <p:nvPr/>
        </p:nvSpPr>
        <p:spPr>
          <a:xfrm>
            <a:off x="870315" y="3676205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0315" y="367620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59" name="Shape 57"/>
          <p:cNvSpPr/>
          <p:nvPr/>
        </p:nvSpPr>
        <p:spPr>
          <a:xfrm>
            <a:off x="1002437" y="3795821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2437" y="3795821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61" name="Shape 59"/>
          <p:cNvSpPr/>
          <p:nvPr/>
        </p:nvSpPr>
        <p:spPr>
          <a:xfrm>
            <a:off x="1134559" y="3915438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34559" y="3915438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63" name="Shape 61"/>
          <p:cNvSpPr/>
          <p:nvPr/>
        </p:nvSpPr>
        <p:spPr>
          <a:xfrm>
            <a:off x="1266681" y="4035054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66681" y="4035054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65" name="Shape 63"/>
          <p:cNvSpPr/>
          <p:nvPr/>
        </p:nvSpPr>
        <p:spPr>
          <a:xfrm>
            <a:off x="870315" y="4415168"/>
            <a:ext cx="114300" cy="114300"/>
          </a:xfrm>
          <a:prstGeom prst="ellipse">
            <a:avLst/>
          </a:prstGeom>
          <a:solidFill>
            <a:srgbClr val="F8D8F8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0315" y="4415168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67" name="Shape 65"/>
          <p:cNvSpPr/>
          <p:nvPr/>
        </p:nvSpPr>
        <p:spPr>
          <a:xfrm>
            <a:off x="1002437" y="4534784"/>
            <a:ext cx="114300" cy="114300"/>
          </a:xfrm>
          <a:prstGeom prst="ellipse">
            <a:avLst/>
          </a:prstGeom>
          <a:solidFill>
            <a:srgbClr val="F8D8F8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02437" y="4534784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69" name="Shape 67"/>
          <p:cNvSpPr/>
          <p:nvPr/>
        </p:nvSpPr>
        <p:spPr>
          <a:xfrm>
            <a:off x="1134559" y="4654400"/>
            <a:ext cx="114300" cy="114300"/>
          </a:xfrm>
          <a:prstGeom prst="ellipse">
            <a:avLst/>
          </a:prstGeom>
          <a:solidFill>
            <a:srgbClr val="F8D8F8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134559" y="4654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71" name="Shape 69"/>
          <p:cNvSpPr/>
          <p:nvPr/>
        </p:nvSpPr>
        <p:spPr>
          <a:xfrm>
            <a:off x="1266681" y="4774016"/>
            <a:ext cx="114300" cy="114300"/>
          </a:xfrm>
          <a:prstGeom prst="ellipse">
            <a:avLst/>
          </a:prstGeom>
          <a:solidFill>
            <a:srgbClr val="F8D8F8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266681" y="4774016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73" name="Shape 71"/>
          <p:cNvSpPr/>
          <p:nvPr/>
        </p:nvSpPr>
        <p:spPr>
          <a:xfrm>
            <a:off x="870315" y="5154130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70315" y="515413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75" name="Shape 73"/>
          <p:cNvSpPr/>
          <p:nvPr/>
        </p:nvSpPr>
        <p:spPr>
          <a:xfrm>
            <a:off x="1002437" y="5273746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02437" y="5273746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77" name="Shape 75"/>
          <p:cNvSpPr/>
          <p:nvPr/>
        </p:nvSpPr>
        <p:spPr>
          <a:xfrm>
            <a:off x="1134559" y="5393363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134559" y="5393363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79" name="Shape 77"/>
          <p:cNvSpPr/>
          <p:nvPr/>
        </p:nvSpPr>
        <p:spPr>
          <a:xfrm>
            <a:off x="1266681" y="5512979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266681" y="5512979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81" name="Shape 79"/>
          <p:cNvSpPr/>
          <p:nvPr/>
        </p:nvSpPr>
        <p:spPr>
          <a:xfrm>
            <a:off x="870315" y="5893093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0315" y="5893093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50" dirty="0"/>
          </a:p>
        </p:txBody>
      </p:sp>
      <p:sp>
        <p:nvSpPr>
          <p:cNvPr id="83" name="Shape 81"/>
          <p:cNvSpPr/>
          <p:nvPr/>
        </p:nvSpPr>
        <p:spPr>
          <a:xfrm>
            <a:off x="1002437" y="6012709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2437" y="6012709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50" dirty="0"/>
          </a:p>
        </p:txBody>
      </p:sp>
      <p:sp>
        <p:nvSpPr>
          <p:cNvPr id="85" name="Shape 83"/>
          <p:cNvSpPr/>
          <p:nvPr/>
        </p:nvSpPr>
        <p:spPr>
          <a:xfrm>
            <a:off x="1134559" y="6132325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134559" y="6132325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50" dirty="0"/>
          </a:p>
        </p:txBody>
      </p:sp>
      <p:sp>
        <p:nvSpPr>
          <p:cNvPr id="87" name="Shape 85"/>
          <p:cNvSpPr/>
          <p:nvPr/>
        </p:nvSpPr>
        <p:spPr>
          <a:xfrm>
            <a:off x="1266681" y="6251941"/>
            <a:ext cx="114300" cy="114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A4A4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266681" y="6251941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</a:t>
            </a:r>
            <a:pPr algn="ctr" indent="0" marL="0">
              <a:buNone/>
            </a:pPr>
            <a:r>
              <a:rPr lang="en-US" sz="300" b="1" baseline="-400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50" dirty="0"/>
          </a:p>
        </p:txBody>
      </p:sp>
      <p:sp>
        <p:nvSpPr>
          <p:cNvPr id="89" name="Text 87"/>
          <p:cNvSpPr/>
          <p:nvPr/>
        </p:nvSpPr>
        <p:spPr>
          <a:xfrm>
            <a:off x="1676260" y="2037315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676260" y="2356292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676260" y="2675268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676260" y="2914501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676260" y="3200251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676260" y="3472710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1676260" y="3758460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1676260" y="4004338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1676260" y="4343250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1676260" y="4629000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676260" y="4868233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676260" y="5100820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1676260" y="5366634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1676260" y="5685610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676260" y="5964715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676260" y="6164075"/>
            <a:ext cx="406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pic>
        <p:nvPicPr>
          <p:cNvPr id="105" name="Image 0" descr="/home/ahmed/Projects/ai_llm_slides/videos/deep-learning/002_transformers_part2/recreated_pptx/build/assets/s014_sigma_h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722" y="1920505"/>
            <a:ext cx="396210" cy="396210"/>
          </a:xfrm>
          <a:prstGeom prst="rect">
            <a:avLst/>
          </a:prstGeom>
        </p:spPr>
      </p:pic>
      <p:sp>
        <p:nvSpPr>
          <p:cNvPr id="106" name="Shape 103"/>
          <p:cNvSpPr/>
          <p:nvPr/>
        </p:nvSpPr>
        <p:spPr>
          <a:xfrm>
            <a:off x="2825722" y="1920505"/>
            <a:ext cx="393700" cy="393700"/>
          </a:xfrm>
          <a:prstGeom prst="ellipse">
            <a:avLst/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825722" y="1920505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200" dirty="0"/>
          </a:p>
        </p:txBody>
      </p:sp>
      <p:sp>
        <p:nvSpPr>
          <p:cNvPr id="108" name="Text 105"/>
          <p:cNvSpPr/>
          <p:nvPr/>
        </p:nvSpPr>
        <p:spPr>
          <a:xfrm>
            <a:off x="3387241" y="2037611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6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50" b="1" baseline="-40000" dirty="0">
                <a:solidFill>
                  <a:srgbClr val="146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2924814" y="2365743"/>
            <a:ext cx="203200" cy="203200"/>
          </a:xfrm>
          <a:prstGeom prst="ellipse">
            <a:avLst/>
          </a:prstGeom>
          <a:ln w="9525">
            <a:solidFill>
              <a:srgbClr val="A8A8A8"/>
            </a:solidFill>
            <a:prstDash val="sysDot"/>
          </a:ln>
        </p:spPr>
      </p:sp>
      <p:pic>
        <p:nvPicPr>
          <p:cNvPr id="110" name="Image 1" descr="/home/ahmed/Projects/ai_llm_slides/videos/deep-learning/002_transformers_part2/recreated_pptx/build/assets/s014_sigma_h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22" y="3296091"/>
            <a:ext cx="396210" cy="396210"/>
          </a:xfrm>
          <a:prstGeom prst="rect">
            <a:avLst/>
          </a:prstGeom>
        </p:spPr>
      </p:pic>
      <p:sp>
        <p:nvSpPr>
          <p:cNvPr id="111" name="Shape 107"/>
          <p:cNvSpPr/>
          <p:nvPr/>
        </p:nvSpPr>
        <p:spPr>
          <a:xfrm>
            <a:off x="2825722" y="3296091"/>
            <a:ext cx="393700" cy="393700"/>
          </a:xfrm>
          <a:prstGeom prst="ellipse">
            <a:avLst/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2825722" y="3296091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200" dirty="0"/>
          </a:p>
        </p:txBody>
      </p:sp>
      <p:sp>
        <p:nvSpPr>
          <p:cNvPr id="113" name="Text 109"/>
          <p:cNvSpPr/>
          <p:nvPr/>
        </p:nvSpPr>
        <p:spPr>
          <a:xfrm>
            <a:off x="3387241" y="3413197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46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50" b="1" baseline="-40000" dirty="0">
                <a:solidFill>
                  <a:srgbClr val="146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14" name="Shape 110"/>
          <p:cNvSpPr/>
          <p:nvPr/>
        </p:nvSpPr>
        <p:spPr>
          <a:xfrm>
            <a:off x="2924814" y="3741330"/>
            <a:ext cx="203200" cy="203200"/>
          </a:xfrm>
          <a:prstGeom prst="ellipse">
            <a:avLst/>
          </a:prstGeom>
          <a:ln w="9525">
            <a:solidFill>
              <a:srgbClr val="A8A8A8"/>
            </a:solidFill>
            <a:prstDash val="sysDot"/>
          </a:ln>
        </p:spPr>
      </p:sp>
      <p:pic>
        <p:nvPicPr>
          <p:cNvPr id="115" name="Image 2" descr="/home/ahmed/Projects/ai_llm_slides/videos/deep-learning/002_transformers_part2/recreated_pptx/build/assets/s014_sigma_h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22" y="4684969"/>
            <a:ext cx="396210" cy="396210"/>
          </a:xfrm>
          <a:prstGeom prst="rect">
            <a:avLst/>
          </a:prstGeom>
        </p:spPr>
      </p:pic>
      <p:sp>
        <p:nvSpPr>
          <p:cNvPr id="116" name="Shape 111"/>
          <p:cNvSpPr/>
          <p:nvPr/>
        </p:nvSpPr>
        <p:spPr>
          <a:xfrm>
            <a:off x="2825722" y="4684969"/>
            <a:ext cx="393700" cy="393700"/>
          </a:xfrm>
          <a:prstGeom prst="ellipse">
            <a:avLst/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117" name="Text 112"/>
          <p:cNvSpPr/>
          <p:nvPr/>
        </p:nvSpPr>
        <p:spPr>
          <a:xfrm>
            <a:off x="2825722" y="4684969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200" dirty="0"/>
          </a:p>
        </p:txBody>
      </p:sp>
      <p:sp>
        <p:nvSpPr>
          <p:cNvPr id="118" name="Text 113"/>
          <p:cNvSpPr/>
          <p:nvPr/>
        </p:nvSpPr>
        <p:spPr>
          <a:xfrm>
            <a:off x="3387241" y="4802074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50" b="1" baseline="-40000" dirty="0">
                <a:solidFill>
                  <a:srgbClr val="8A5A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19" name="Shape 114"/>
          <p:cNvSpPr/>
          <p:nvPr/>
        </p:nvSpPr>
        <p:spPr>
          <a:xfrm>
            <a:off x="2924814" y="5130207"/>
            <a:ext cx="203200" cy="203200"/>
          </a:xfrm>
          <a:prstGeom prst="ellipse">
            <a:avLst/>
          </a:prstGeom>
          <a:ln w="9525">
            <a:solidFill>
              <a:srgbClr val="A8A8A8"/>
            </a:solidFill>
            <a:prstDash val="sysDot"/>
          </a:ln>
        </p:spPr>
      </p:sp>
      <p:pic>
        <p:nvPicPr>
          <p:cNvPr id="120" name="Image 3" descr="/home/ahmed/Projects/ai_llm_slides/videos/deep-learning/002_transformers_part2/recreated_pptx/build/assets/s014_sigma_hat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722" y="6000747"/>
            <a:ext cx="396210" cy="396210"/>
          </a:xfrm>
          <a:prstGeom prst="rect">
            <a:avLst/>
          </a:prstGeom>
        </p:spPr>
      </p:pic>
      <p:sp>
        <p:nvSpPr>
          <p:cNvPr id="121" name="Shape 115"/>
          <p:cNvSpPr/>
          <p:nvPr/>
        </p:nvSpPr>
        <p:spPr>
          <a:xfrm>
            <a:off x="2825722" y="6000747"/>
            <a:ext cx="393700" cy="393700"/>
          </a:xfrm>
          <a:prstGeom prst="ellipse">
            <a:avLst/>
          </a:prstGeom>
          <a:ln w="19050">
            <a:solidFill>
              <a:srgbClr val="9B404D"/>
            </a:solidFill>
            <a:prstDash val="solid"/>
          </a:ln>
        </p:spPr>
      </p:sp>
      <p:sp>
        <p:nvSpPr>
          <p:cNvPr id="122" name="Text 116"/>
          <p:cNvSpPr/>
          <p:nvPr/>
        </p:nvSpPr>
        <p:spPr>
          <a:xfrm>
            <a:off x="2825722" y="6000747"/>
            <a:ext cx="3937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200" dirty="0"/>
          </a:p>
        </p:txBody>
      </p:sp>
      <p:sp>
        <p:nvSpPr>
          <p:cNvPr id="123" name="Text 117"/>
          <p:cNvSpPr/>
          <p:nvPr/>
        </p:nvSpPr>
        <p:spPr>
          <a:xfrm>
            <a:off x="3387241" y="6117853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3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50" b="1" baseline="-40000" dirty="0">
                <a:solidFill>
                  <a:srgbClr val="23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24" name="Shape 118"/>
          <p:cNvSpPr/>
          <p:nvPr/>
        </p:nvSpPr>
        <p:spPr>
          <a:xfrm>
            <a:off x="2924814" y="6445985"/>
            <a:ext cx="203200" cy="203200"/>
          </a:xfrm>
          <a:prstGeom prst="ellipse">
            <a:avLst/>
          </a:prstGeom>
          <a:ln w="9525">
            <a:solidFill>
              <a:srgbClr val="A8A8A8"/>
            </a:solidFill>
            <a:prstDash val="sysDot"/>
          </a:ln>
        </p:spPr>
      </p:sp>
      <p:sp>
        <p:nvSpPr>
          <p:cNvPr id="125" name="Shape 119"/>
          <p:cNvSpPr/>
          <p:nvPr/>
        </p:nvSpPr>
        <p:spPr>
          <a:xfrm>
            <a:off x="3796819" y="3561905"/>
            <a:ext cx="1823285" cy="385430"/>
          </a:xfrm>
          <a:prstGeom prst="roundRect">
            <a:avLst>
              <a:gd name="adj" fmla="val 11862"/>
            </a:avLst>
          </a:prstGeom>
          <a:solidFill>
            <a:srgbClr val="EAF6EA"/>
          </a:solidFill>
          <a:ln w="12700">
            <a:solidFill>
              <a:srgbClr val="9C3444"/>
            </a:solidFill>
            <a:prstDash val="solid"/>
          </a:ln>
        </p:spPr>
      </p:sp>
      <p:sp>
        <p:nvSpPr>
          <p:cNvPr id="126" name="Shape 120"/>
          <p:cNvSpPr/>
          <p:nvPr/>
        </p:nvSpPr>
        <p:spPr>
          <a:xfrm>
            <a:off x="4246035" y="3694812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27" name="Text 121"/>
          <p:cNvSpPr/>
          <p:nvPr/>
        </p:nvSpPr>
        <p:spPr>
          <a:xfrm>
            <a:off x="4246035" y="3694812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28" name="Shape 122"/>
          <p:cNvSpPr/>
          <p:nvPr/>
        </p:nvSpPr>
        <p:spPr>
          <a:xfrm>
            <a:off x="4642401" y="3694812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29" name="Text 123"/>
          <p:cNvSpPr/>
          <p:nvPr/>
        </p:nvSpPr>
        <p:spPr>
          <a:xfrm>
            <a:off x="4642401" y="3694812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30" name="Shape 124"/>
          <p:cNvSpPr/>
          <p:nvPr/>
        </p:nvSpPr>
        <p:spPr>
          <a:xfrm>
            <a:off x="5012343" y="3694812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31" name="Text 125"/>
          <p:cNvSpPr/>
          <p:nvPr/>
        </p:nvSpPr>
        <p:spPr>
          <a:xfrm>
            <a:off x="5012343" y="3694812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132" name="Shape 126"/>
          <p:cNvSpPr/>
          <p:nvPr/>
        </p:nvSpPr>
        <p:spPr>
          <a:xfrm>
            <a:off x="5395497" y="3694812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395497" y="3694812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134" name="Text 128"/>
          <p:cNvSpPr/>
          <p:nvPr/>
        </p:nvSpPr>
        <p:spPr>
          <a:xfrm>
            <a:off x="5633317" y="3548615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5" name="Shape 129"/>
          <p:cNvSpPr/>
          <p:nvPr/>
        </p:nvSpPr>
        <p:spPr>
          <a:xfrm>
            <a:off x="3796819" y="4191884"/>
            <a:ext cx="1823285" cy="385430"/>
          </a:xfrm>
          <a:prstGeom prst="roundRect">
            <a:avLst>
              <a:gd name="adj" fmla="val 11862"/>
            </a:avLst>
          </a:prstGeom>
          <a:solidFill>
            <a:srgbClr val="F8F6DC"/>
          </a:solidFill>
          <a:ln w="12700">
            <a:solidFill>
              <a:srgbClr val="9C3444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4246035" y="4324791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37" name="Text 131"/>
          <p:cNvSpPr/>
          <p:nvPr/>
        </p:nvSpPr>
        <p:spPr>
          <a:xfrm>
            <a:off x="4246035" y="4324791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38" name="Shape 132"/>
          <p:cNvSpPr/>
          <p:nvPr/>
        </p:nvSpPr>
        <p:spPr>
          <a:xfrm>
            <a:off x="4642401" y="4324791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39" name="Text 133"/>
          <p:cNvSpPr/>
          <p:nvPr/>
        </p:nvSpPr>
        <p:spPr>
          <a:xfrm>
            <a:off x="4642401" y="4324791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40" name="Shape 134"/>
          <p:cNvSpPr/>
          <p:nvPr/>
        </p:nvSpPr>
        <p:spPr>
          <a:xfrm>
            <a:off x="5012343" y="4324791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41" name="Text 135"/>
          <p:cNvSpPr/>
          <p:nvPr/>
        </p:nvSpPr>
        <p:spPr>
          <a:xfrm>
            <a:off x="5012343" y="4324791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142" name="Shape 136"/>
          <p:cNvSpPr/>
          <p:nvPr/>
        </p:nvSpPr>
        <p:spPr>
          <a:xfrm>
            <a:off x="5395497" y="4324791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43" name="Text 137"/>
          <p:cNvSpPr/>
          <p:nvPr/>
        </p:nvSpPr>
        <p:spPr>
          <a:xfrm>
            <a:off x="5395497" y="4324791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144" name="Text 138"/>
          <p:cNvSpPr/>
          <p:nvPr/>
        </p:nvSpPr>
        <p:spPr>
          <a:xfrm>
            <a:off x="5633317" y="4178593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5" name="Shape 139"/>
          <p:cNvSpPr/>
          <p:nvPr/>
        </p:nvSpPr>
        <p:spPr>
          <a:xfrm>
            <a:off x="3796819" y="4821863"/>
            <a:ext cx="1823285" cy="385430"/>
          </a:xfrm>
          <a:prstGeom prst="roundRect">
            <a:avLst>
              <a:gd name="adj" fmla="val 11862"/>
            </a:avLst>
          </a:prstGeom>
          <a:solidFill>
            <a:srgbClr val="EFEAF6"/>
          </a:solidFill>
          <a:ln w="12700">
            <a:solidFill>
              <a:srgbClr val="9C3444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4246035" y="4954770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4246035" y="4954770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48" name="Shape 142"/>
          <p:cNvSpPr/>
          <p:nvPr/>
        </p:nvSpPr>
        <p:spPr>
          <a:xfrm>
            <a:off x="4642401" y="4954770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49" name="Text 143"/>
          <p:cNvSpPr/>
          <p:nvPr/>
        </p:nvSpPr>
        <p:spPr>
          <a:xfrm>
            <a:off x="4642401" y="4954770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50" name="Shape 144"/>
          <p:cNvSpPr/>
          <p:nvPr/>
        </p:nvSpPr>
        <p:spPr>
          <a:xfrm>
            <a:off x="5012343" y="4954770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51" name="Text 145"/>
          <p:cNvSpPr/>
          <p:nvPr/>
        </p:nvSpPr>
        <p:spPr>
          <a:xfrm>
            <a:off x="5012343" y="4954770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152" name="Shape 146"/>
          <p:cNvSpPr/>
          <p:nvPr/>
        </p:nvSpPr>
        <p:spPr>
          <a:xfrm>
            <a:off x="5395497" y="4954770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5395497" y="4954770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154" name="Text 148"/>
          <p:cNvSpPr/>
          <p:nvPr/>
        </p:nvSpPr>
        <p:spPr>
          <a:xfrm>
            <a:off x="5633317" y="4808572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5" name="Shape 149"/>
          <p:cNvSpPr/>
          <p:nvPr/>
        </p:nvSpPr>
        <p:spPr>
          <a:xfrm>
            <a:off x="3796819" y="5451842"/>
            <a:ext cx="1823285" cy="385430"/>
          </a:xfrm>
          <a:prstGeom prst="roundRect">
            <a:avLst>
              <a:gd name="adj" fmla="val 11862"/>
            </a:avLst>
          </a:prstGeom>
          <a:solidFill>
            <a:srgbClr val="E2F0F6"/>
          </a:solidFill>
          <a:ln w="12700">
            <a:solidFill>
              <a:srgbClr val="9C3444"/>
            </a:solidFill>
            <a:prstDash val="solid"/>
          </a:ln>
        </p:spPr>
      </p:sp>
      <p:sp>
        <p:nvSpPr>
          <p:cNvPr id="156" name="Shape 150"/>
          <p:cNvSpPr/>
          <p:nvPr/>
        </p:nvSpPr>
        <p:spPr>
          <a:xfrm>
            <a:off x="4246035" y="5584749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57" name="Text 151"/>
          <p:cNvSpPr/>
          <p:nvPr/>
        </p:nvSpPr>
        <p:spPr>
          <a:xfrm>
            <a:off x="4246035" y="5584749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58" name="Shape 152"/>
          <p:cNvSpPr/>
          <p:nvPr/>
        </p:nvSpPr>
        <p:spPr>
          <a:xfrm>
            <a:off x="4642401" y="5584749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59" name="Text 153"/>
          <p:cNvSpPr/>
          <p:nvPr/>
        </p:nvSpPr>
        <p:spPr>
          <a:xfrm>
            <a:off x="4642401" y="5584749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60" name="Shape 154"/>
          <p:cNvSpPr/>
          <p:nvPr/>
        </p:nvSpPr>
        <p:spPr>
          <a:xfrm>
            <a:off x="5012343" y="5584749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61" name="Text 155"/>
          <p:cNvSpPr/>
          <p:nvPr/>
        </p:nvSpPr>
        <p:spPr>
          <a:xfrm>
            <a:off x="5012343" y="5584749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162" name="Shape 156"/>
          <p:cNvSpPr/>
          <p:nvPr/>
        </p:nvSpPr>
        <p:spPr>
          <a:xfrm>
            <a:off x="5395497" y="5584749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63" name="Text 157"/>
          <p:cNvSpPr/>
          <p:nvPr/>
        </p:nvSpPr>
        <p:spPr>
          <a:xfrm>
            <a:off x="5395497" y="5584749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164" name="Text 158"/>
          <p:cNvSpPr/>
          <p:nvPr/>
        </p:nvSpPr>
        <p:spPr>
          <a:xfrm>
            <a:off x="5633317" y="5438551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65" name="Shape 159"/>
          <p:cNvSpPr/>
          <p:nvPr/>
        </p:nvSpPr>
        <p:spPr>
          <a:xfrm>
            <a:off x="3796819" y="6081820"/>
            <a:ext cx="1823285" cy="385430"/>
          </a:xfrm>
          <a:prstGeom prst="roundRect">
            <a:avLst>
              <a:gd name="adj" fmla="val 11862"/>
            </a:avLst>
          </a:prstGeom>
          <a:solidFill>
            <a:srgbClr val="FAEADB"/>
          </a:solidFill>
          <a:ln w="12700">
            <a:solidFill>
              <a:srgbClr val="9C3444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4246035" y="6214727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67" name="Text 161"/>
          <p:cNvSpPr/>
          <p:nvPr/>
        </p:nvSpPr>
        <p:spPr>
          <a:xfrm>
            <a:off x="4246035" y="6214727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68" name="Shape 162"/>
          <p:cNvSpPr/>
          <p:nvPr/>
        </p:nvSpPr>
        <p:spPr>
          <a:xfrm>
            <a:off x="4642401" y="6214727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69" name="Text 163"/>
          <p:cNvSpPr/>
          <p:nvPr/>
        </p:nvSpPr>
        <p:spPr>
          <a:xfrm>
            <a:off x="4642401" y="6214727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70" name="Shape 164"/>
          <p:cNvSpPr/>
          <p:nvPr/>
        </p:nvSpPr>
        <p:spPr>
          <a:xfrm>
            <a:off x="5012343" y="6214727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71" name="Text 165"/>
          <p:cNvSpPr/>
          <p:nvPr/>
        </p:nvSpPr>
        <p:spPr>
          <a:xfrm>
            <a:off x="5012343" y="6214727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172" name="Shape 166"/>
          <p:cNvSpPr/>
          <p:nvPr/>
        </p:nvSpPr>
        <p:spPr>
          <a:xfrm>
            <a:off x="5395497" y="6214727"/>
            <a:ext cx="152400" cy="127000"/>
          </a:xfrm>
          <a:prstGeom prst="rect">
            <a:avLst/>
          </a:prstGeom>
          <a:solidFill>
            <a:srgbClr val="F5CBA7"/>
          </a:solidFill>
          <a:ln w="6350">
            <a:solidFill>
              <a:srgbClr val="C08040"/>
            </a:solidFill>
            <a:prstDash val="solid"/>
          </a:ln>
        </p:spPr>
      </p:sp>
      <p:sp>
        <p:nvSpPr>
          <p:cNvPr id="173" name="Text 167"/>
          <p:cNvSpPr/>
          <p:nvPr/>
        </p:nvSpPr>
        <p:spPr>
          <a:xfrm>
            <a:off x="5395497" y="6214727"/>
            <a:ext cx="152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174" name="Text 168"/>
          <p:cNvSpPr/>
          <p:nvPr/>
        </p:nvSpPr>
        <p:spPr>
          <a:xfrm>
            <a:off x="5633317" y="6068530"/>
            <a:ext cx="254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75" name="Text 169"/>
          <p:cNvSpPr/>
          <p:nvPr/>
        </p:nvSpPr>
        <p:spPr>
          <a:xfrm>
            <a:off x="5703476" y="4809901"/>
            <a:ext cx="20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" dirty="0"/>
          </a:p>
        </p:txBody>
      </p:sp>
      <p:sp>
        <p:nvSpPr>
          <p:cNvPr id="176" name="Text 170"/>
          <p:cNvSpPr/>
          <p:nvPr/>
        </p:nvSpPr>
        <p:spPr>
          <a:xfrm>
            <a:off x="5891060" y="4809311"/>
            <a:ext cx="66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250" dirty="0"/>
          </a:p>
        </p:txBody>
      </p:sp>
      <p:sp>
        <p:nvSpPr>
          <p:cNvPr id="177" name="Shape 171"/>
          <p:cNvSpPr/>
          <p:nvPr/>
        </p:nvSpPr>
        <p:spPr>
          <a:xfrm>
            <a:off x="5686166" y="3807783"/>
            <a:ext cx="1030552" cy="0"/>
          </a:xfrm>
          <a:prstGeom prst="line">
            <a:avLst/>
          </a:prstGeom>
          <a:noFill/>
          <a:ln w="12700">
            <a:solidFill>
              <a:srgbClr val="FF8C00"/>
            </a:solidFill>
            <a:prstDash val="sysDot"/>
            <a:headEnd type="triangle"/>
          </a:ln>
        </p:spPr>
      </p:sp>
      <p:sp>
        <p:nvSpPr>
          <p:cNvPr id="178" name="Shape 172"/>
          <p:cNvSpPr/>
          <p:nvPr/>
        </p:nvSpPr>
        <p:spPr>
          <a:xfrm>
            <a:off x="5686166" y="4437762"/>
            <a:ext cx="1030552" cy="0"/>
          </a:xfrm>
          <a:prstGeom prst="line">
            <a:avLst/>
          </a:prstGeom>
          <a:noFill/>
          <a:ln w="12700">
            <a:solidFill>
              <a:srgbClr val="FF8C00"/>
            </a:solidFill>
            <a:prstDash val="sysDot"/>
            <a:headEnd type="triangle"/>
          </a:ln>
        </p:spPr>
      </p:sp>
      <p:sp>
        <p:nvSpPr>
          <p:cNvPr id="179" name="Shape 173"/>
          <p:cNvSpPr/>
          <p:nvPr/>
        </p:nvSpPr>
        <p:spPr>
          <a:xfrm>
            <a:off x="5686166" y="5067741"/>
            <a:ext cx="1030552" cy="0"/>
          </a:xfrm>
          <a:prstGeom prst="line">
            <a:avLst/>
          </a:prstGeom>
          <a:noFill/>
          <a:ln w="12700">
            <a:solidFill>
              <a:srgbClr val="FF8C00"/>
            </a:solidFill>
            <a:prstDash val="sysDot"/>
            <a:headEnd type="triangle"/>
          </a:ln>
        </p:spPr>
      </p:sp>
      <p:sp>
        <p:nvSpPr>
          <p:cNvPr id="180" name="Shape 174"/>
          <p:cNvSpPr/>
          <p:nvPr/>
        </p:nvSpPr>
        <p:spPr>
          <a:xfrm>
            <a:off x="5686166" y="5697719"/>
            <a:ext cx="1030552" cy="0"/>
          </a:xfrm>
          <a:prstGeom prst="line">
            <a:avLst/>
          </a:prstGeom>
          <a:noFill/>
          <a:ln w="12700">
            <a:solidFill>
              <a:srgbClr val="FF8C00"/>
            </a:solidFill>
            <a:prstDash val="sysDot"/>
            <a:headEnd type="triangle"/>
          </a:ln>
        </p:spPr>
      </p:sp>
      <p:sp>
        <p:nvSpPr>
          <p:cNvPr id="181" name="Shape 175"/>
          <p:cNvSpPr/>
          <p:nvPr/>
        </p:nvSpPr>
        <p:spPr>
          <a:xfrm>
            <a:off x="5686166" y="6327698"/>
            <a:ext cx="1030552" cy="0"/>
          </a:xfrm>
          <a:prstGeom prst="line">
            <a:avLst/>
          </a:prstGeom>
          <a:noFill/>
          <a:ln w="12700">
            <a:solidFill>
              <a:srgbClr val="FF8C00"/>
            </a:solidFill>
            <a:prstDash val="sysDot"/>
            <a:headEnd type="triangle"/>
          </a:ln>
        </p:spPr>
      </p:sp>
      <p:sp>
        <p:nvSpPr>
          <p:cNvPr id="182" name="Text 176"/>
          <p:cNvSpPr/>
          <p:nvPr/>
        </p:nvSpPr>
        <p:spPr>
          <a:xfrm>
            <a:off x="6782779" y="3502097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3" name="Shape 177"/>
          <p:cNvSpPr/>
          <p:nvPr/>
        </p:nvSpPr>
        <p:spPr>
          <a:xfrm>
            <a:off x="7113084" y="3681522"/>
            <a:ext cx="1321221" cy="239232"/>
          </a:xfrm>
          <a:prstGeom prst="roundRect">
            <a:avLst>
              <a:gd name="adj" fmla="val 15289"/>
            </a:avLst>
          </a:prstGeom>
          <a:solidFill>
            <a:srgbClr val="E6D6F2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7284843" y="3708103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85" name="Text 179"/>
          <p:cNvSpPr/>
          <p:nvPr/>
        </p:nvSpPr>
        <p:spPr>
          <a:xfrm>
            <a:off x="7284843" y="3708103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86" name="Shape 180"/>
          <p:cNvSpPr/>
          <p:nvPr/>
        </p:nvSpPr>
        <p:spPr>
          <a:xfrm>
            <a:off x="7601936" y="3708103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87" name="Text 181"/>
          <p:cNvSpPr/>
          <p:nvPr/>
        </p:nvSpPr>
        <p:spPr>
          <a:xfrm>
            <a:off x="7601936" y="3708103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88" name="Shape 182"/>
          <p:cNvSpPr/>
          <p:nvPr/>
        </p:nvSpPr>
        <p:spPr>
          <a:xfrm>
            <a:off x="7919029" y="3708103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89" name="Text 183"/>
          <p:cNvSpPr/>
          <p:nvPr/>
        </p:nvSpPr>
        <p:spPr>
          <a:xfrm>
            <a:off x="7919029" y="3708103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190" name="Shape 184"/>
          <p:cNvSpPr/>
          <p:nvPr/>
        </p:nvSpPr>
        <p:spPr>
          <a:xfrm>
            <a:off x="8236122" y="3708103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91" name="Text 185"/>
          <p:cNvSpPr/>
          <p:nvPr/>
        </p:nvSpPr>
        <p:spPr>
          <a:xfrm>
            <a:off x="8236122" y="3708103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192" name="Text 186"/>
          <p:cNvSpPr/>
          <p:nvPr/>
        </p:nvSpPr>
        <p:spPr>
          <a:xfrm>
            <a:off x="6782779" y="4132076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3" name="Shape 187"/>
          <p:cNvSpPr/>
          <p:nvPr/>
        </p:nvSpPr>
        <p:spPr>
          <a:xfrm>
            <a:off x="7113084" y="4311500"/>
            <a:ext cx="1321221" cy="239232"/>
          </a:xfrm>
          <a:prstGeom prst="roundRect">
            <a:avLst>
              <a:gd name="adj" fmla="val 15289"/>
            </a:avLst>
          </a:prstGeom>
          <a:solidFill>
            <a:srgbClr val="F2ECC8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7284843" y="4338082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95" name="Text 189"/>
          <p:cNvSpPr/>
          <p:nvPr/>
        </p:nvSpPr>
        <p:spPr>
          <a:xfrm>
            <a:off x="7284843" y="4338082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196" name="Shape 190"/>
          <p:cNvSpPr/>
          <p:nvPr/>
        </p:nvSpPr>
        <p:spPr>
          <a:xfrm>
            <a:off x="7601936" y="4338082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97" name="Text 191"/>
          <p:cNvSpPr/>
          <p:nvPr/>
        </p:nvSpPr>
        <p:spPr>
          <a:xfrm>
            <a:off x="7601936" y="4338082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198" name="Shape 192"/>
          <p:cNvSpPr/>
          <p:nvPr/>
        </p:nvSpPr>
        <p:spPr>
          <a:xfrm>
            <a:off x="7919029" y="4338082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199" name="Text 193"/>
          <p:cNvSpPr/>
          <p:nvPr/>
        </p:nvSpPr>
        <p:spPr>
          <a:xfrm>
            <a:off x="7919029" y="4338082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200" name="Shape 194"/>
          <p:cNvSpPr/>
          <p:nvPr/>
        </p:nvSpPr>
        <p:spPr>
          <a:xfrm>
            <a:off x="8236122" y="4338082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01" name="Text 195"/>
          <p:cNvSpPr/>
          <p:nvPr/>
        </p:nvSpPr>
        <p:spPr>
          <a:xfrm>
            <a:off x="8236122" y="4338082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202" name="Text 196"/>
          <p:cNvSpPr/>
          <p:nvPr/>
        </p:nvSpPr>
        <p:spPr>
          <a:xfrm>
            <a:off x="6782779" y="4762055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3" name="Shape 197"/>
          <p:cNvSpPr/>
          <p:nvPr/>
        </p:nvSpPr>
        <p:spPr>
          <a:xfrm>
            <a:off x="7113084" y="4941479"/>
            <a:ext cx="1321221" cy="239232"/>
          </a:xfrm>
          <a:prstGeom prst="roundRect">
            <a:avLst>
              <a:gd name="adj" fmla="val 15289"/>
            </a:avLst>
          </a:prstGeom>
          <a:solidFill>
            <a:srgbClr val="C9C9EA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7284843" y="496806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05" name="Text 199"/>
          <p:cNvSpPr/>
          <p:nvPr/>
        </p:nvSpPr>
        <p:spPr>
          <a:xfrm>
            <a:off x="7284843" y="496806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206" name="Shape 200"/>
          <p:cNvSpPr/>
          <p:nvPr/>
        </p:nvSpPr>
        <p:spPr>
          <a:xfrm>
            <a:off x="7601936" y="496806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07" name="Text 201"/>
          <p:cNvSpPr/>
          <p:nvPr/>
        </p:nvSpPr>
        <p:spPr>
          <a:xfrm>
            <a:off x="7601936" y="496806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208" name="Shape 202"/>
          <p:cNvSpPr/>
          <p:nvPr/>
        </p:nvSpPr>
        <p:spPr>
          <a:xfrm>
            <a:off x="7919029" y="496806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09" name="Text 203"/>
          <p:cNvSpPr/>
          <p:nvPr/>
        </p:nvSpPr>
        <p:spPr>
          <a:xfrm>
            <a:off x="7919029" y="496806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210" name="Shape 204"/>
          <p:cNvSpPr/>
          <p:nvPr/>
        </p:nvSpPr>
        <p:spPr>
          <a:xfrm>
            <a:off x="8236122" y="496806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11" name="Text 205"/>
          <p:cNvSpPr/>
          <p:nvPr/>
        </p:nvSpPr>
        <p:spPr>
          <a:xfrm>
            <a:off x="8236122" y="4968060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212" name="Text 206"/>
          <p:cNvSpPr/>
          <p:nvPr/>
        </p:nvSpPr>
        <p:spPr>
          <a:xfrm>
            <a:off x="6782779" y="5392034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3" name="Shape 207"/>
          <p:cNvSpPr/>
          <p:nvPr/>
        </p:nvSpPr>
        <p:spPr>
          <a:xfrm>
            <a:off x="7113084" y="5571458"/>
            <a:ext cx="1321221" cy="239232"/>
          </a:xfrm>
          <a:prstGeom prst="roundRect">
            <a:avLst>
              <a:gd name="adj" fmla="val 15289"/>
            </a:avLst>
          </a:prstGeom>
          <a:solidFill>
            <a:srgbClr val="C9E5E9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214" name="Shape 208"/>
          <p:cNvSpPr/>
          <p:nvPr/>
        </p:nvSpPr>
        <p:spPr>
          <a:xfrm>
            <a:off x="7284843" y="5598039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15" name="Text 209"/>
          <p:cNvSpPr/>
          <p:nvPr/>
        </p:nvSpPr>
        <p:spPr>
          <a:xfrm>
            <a:off x="7284843" y="5598039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216" name="Shape 210"/>
          <p:cNvSpPr/>
          <p:nvPr/>
        </p:nvSpPr>
        <p:spPr>
          <a:xfrm>
            <a:off x="7601936" y="5598039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17" name="Text 211"/>
          <p:cNvSpPr/>
          <p:nvPr/>
        </p:nvSpPr>
        <p:spPr>
          <a:xfrm>
            <a:off x="7601936" y="5598039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218" name="Shape 212"/>
          <p:cNvSpPr/>
          <p:nvPr/>
        </p:nvSpPr>
        <p:spPr>
          <a:xfrm>
            <a:off x="7919029" y="5598039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19" name="Text 213"/>
          <p:cNvSpPr/>
          <p:nvPr/>
        </p:nvSpPr>
        <p:spPr>
          <a:xfrm>
            <a:off x="7919029" y="5598039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220" name="Shape 214"/>
          <p:cNvSpPr/>
          <p:nvPr/>
        </p:nvSpPr>
        <p:spPr>
          <a:xfrm>
            <a:off x="8236122" y="5598039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21" name="Text 215"/>
          <p:cNvSpPr/>
          <p:nvPr/>
        </p:nvSpPr>
        <p:spPr>
          <a:xfrm>
            <a:off x="8236122" y="5598039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222" name="Text 216"/>
          <p:cNvSpPr/>
          <p:nvPr/>
        </p:nvSpPr>
        <p:spPr>
          <a:xfrm>
            <a:off x="6782779" y="6022012"/>
            <a:ext cx="304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3" name="Shape 217"/>
          <p:cNvSpPr/>
          <p:nvPr/>
        </p:nvSpPr>
        <p:spPr>
          <a:xfrm>
            <a:off x="7113084" y="6201437"/>
            <a:ext cx="1321221" cy="239232"/>
          </a:xfrm>
          <a:prstGeom prst="roundRect">
            <a:avLst>
              <a:gd name="adj" fmla="val 15289"/>
            </a:avLst>
          </a:prstGeom>
          <a:solidFill>
            <a:srgbClr val="DDD2C6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7284843" y="6228018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25" name="Text 219"/>
          <p:cNvSpPr/>
          <p:nvPr/>
        </p:nvSpPr>
        <p:spPr>
          <a:xfrm>
            <a:off x="7284843" y="6228018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50" dirty="0"/>
          </a:p>
        </p:txBody>
      </p:sp>
      <p:sp>
        <p:nvSpPr>
          <p:cNvPr id="226" name="Shape 220"/>
          <p:cNvSpPr/>
          <p:nvPr/>
        </p:nvSpPr>
        <p:spPr>
          <a:xfrm>
            <a:off x="7601936" y="6228018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27" name="Text 221"/>
          <p:cNvSpPr/>
          <p:nvPr/>
        </p:nvSpPr>
        <p:spPr>
          <a:xfrm>
            <a:off x="7601936" y="6228018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 dirty="0"/>
          </a:p>
        </p:txBody>
      </p:sp>
      <p:sp>
        <p:nvSpPr>
          <p:cNvPr id="228" name="Shape 222"/>
          <p:cNvSpPr/>
          <p:nvPr/>
        </p:nvSpPr>
        <p:spPr>
          <a:xfrm>
            <a:off x="7919029" y="6228018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29" name="Text 223"/>
          <p:cNvSpPr/>
          <p:nvPr/>
        </p:nvSpPr>
        <p:spPr>
          <a:xfrm>
            <a:off x="7919029" y="6228018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 dirty="0"/>
          </a:p>
        </p:txBody>
      </p:sp>
      <p:sp>
        <p:nvSpPr>
          <p:cNvPr id="230" name="Shape 224"/>
          <p:cNvSpPr/>
          <p:nvPr/>
        </p:nvSpPr>
        <p:spPr>
          <a:xfrm>
            <a:off x="8236122" y="6228018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31" name="Text 225"/>
          <p:cNvSpPr/>
          <p:nvPr/>
        </p:nvSpPr>
        <p:spPr>
          <a:xfrm>
            <a:off x="8236122" y="6228018"/>
            <a:ext cx="177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 dirty="0"/>
          </a:p>
        </p:txBody>
      </p:sp>
      <p:sp>
        <p:nvSpPr>
          <p:cNvPr id="232" name="Shape 226"/>
          <p:cNvSpPr/>
          <p:nvPr/>
        </p:nvSpPr>
        <p:spPr>
          <a:xfrm>
            <a:off x="8553215" y="3801138"/>
            <a:ext cx="2298925" cy="2379034"/>
          </a:xfrm>
          <a:prstGeom prst="roundRect">
            <a:avLst>
              <a:gd name="adj" fmla="val 2387"/>
            </a:avLst>
          </a:prstGeom>
          <a:solidFill>
            <a:srgbClr val="D0F8E0"/>
          </a:solidFill>
          <a:ln/>
        </p:spPr>
      </p:sp>
      <p:sp>
        <p:nvSpPr>
          <p:cNvPr id="233" name="Shape 227"/>
          <p:cNvSpPr/>
          <p:nvPr/>
        </p:nvSpPr>
        <p:spPr>
          <a:xfrm>
            <a:off x="8738186" y="4199859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34" name="Text 228"/>
          <p:cNvSpPr/>
          <p:nvPr/>
        </p:nvSpPr>
        <p:spPr>
          <a:xfrm>
            <a:off x="8738186" y="4199859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235" name="Shape 229"/>
          <p:cNvSpPr/>
          <p:nvPr/>
        </p:nvSpPr>
        <p:spPr>
          <a:xfrm>
            <a:off x="9213826" y="4199859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36" name="Text 230"/>
          <p:cNvSpPr/>
          <p:nvPr/>
        </p:nvSpPr>
        <p:spPr>
          <a:xfrm>
            <a:off x="9213826" y="4199859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237" name="Shape 231"/>
          <p:cNvSpPr/>
          <p:nvPr/>
        </p:nvSpPr>
        <p:spPr>
          <a:xfrm>
            <a:off x="9715890" y="4199859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38" name="Text 232"/>
          <p:cNvSpPr/>
          <p:nvPr/>
        </p:nvSpPr>
        <p:spPr>
          <a:xfrm>
            <a:off x="9715890" y="4199859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00" dirty="0"/>
          </a:p>
        </p:txBody>
      </p:sp>
      <p:sp>
        <p:nvSpPr>
          <p:cNvPr id="239" name="Shape 233"/>
          <p:cNvSpPr/>
          <p:nvPr/>
        </p:nvSpPr>
        <p:spPr>
          <a:xfrm>
            <a:off x="10151893" y="4199859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0" name="Text 234"/>
          <p:cNvSpPr/>
          <p:nvPr/>
        </p:nvSpPr>
        <p:spPr>
          <a:xfrm>
            <a:off x="10151893" y="4199859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00" dirty="0"/>
          </a:p>
        </p:txBody>
      </p:sp>
      <p:sp>
        <p:nvSpPr>
          <p:cNvPr id="241" name="Shape 235"/>
          <p:cNvSpPr/>
          <p:nvPr/>
        </p:nvSpPr>
        <p:spPr>
          <a:xfrm>
            <a:off x="8738186" y="4665033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2" name="Text 236"/>
          <p:cNvSpPr/>
          <p:nvPr/>
        </p:nvSpPr>
        <p:spPr>
          <a:xfrm>
            <a:off x="8738186" y="4665033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243" name="Shape 237"/>
          <p:cNvSpPr/>
          <p:nvPr/>
        </p:nvSpPr>
        <p:spPr>
          <a:xfrm>
            <a:off x="9213826" y="4665033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4" name="Text 238"/>
          <p:cNvSpPr/>
          <p:nvPr/>
        </p:nvSpPr>
        <p:spPr>
          <a:xfrm>
            <a:off x="9213826" y="4665033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245" name="Shape 239"/>
          <p:cNvSpPr/>
          <p:nvPr/>
        </p:nvSpPr>
        <p:spPr>
          <a:xfrm>
            <a:off x="9715890" y="4665033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6" name="Text 240"/>
          <p:cNvSpPr/>
          <p:nvPr/>
        </p:nvSpPr>
        <p:spPr>
          <a:xfrm>
            <a:off x="9715890" y="4665033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  <p:sp>
        <p:nvSpPr>
          <p:cNvPr id="247" name="Shape 241"/>
          <p:cNvSpPr/>
          <p:nvPr/>
        </p:nvSpPr>
        <p:spPr>
          <a:xfrm>
            <a:off x="10151893" y="4665033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48" name="Text 242"/>
          <p:cNvSpPr/>
          <p:nvPr/>
        </p:nvSpPr>
        <p:spPr>
          <a:xfrm>
            <a:off x="10151893" y="4665033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00" dirty="0"/>
          </a:p>
        </p:txBody>
      </p:sp>
      <p:sp>
        <p:nvSpPr>
          <p:cNvPr id="249" name="Shape 243"/>
          <p:cNvSpPr/>
          <p:nvPr/>
        </p:nvSpPr>
        <p:spPr>
          <a:xfrm>
            <a:off x="8738186" y="5143498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50" name="Text 244"/>
          <p:cNvSpPr/>
          <p:nvPr/>
        </p:nvSpPr>
        <p:spPr>
          <a:xfrm>
            <a:off x="8738186" y="5143498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251" name="Shape 245"/>
          <p:cNvSpPr/>
          <p:nvPr/>
        </p:nvSpPr>
        <p:spPr>
          <a:xfrm>
            <a:off x="9213826" y="5143498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52" name="Text 246"/>
          <p:cNvSpPr/>
          <p:nvPr/>
        </p:nvSpPr>
        <p:spPr>
          <a:xfrm>
            <a:off x="9213826" y="5143498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253" name="Shape 247"/>
          <p:cNvSpPr/>
          <p:nvPr/>
        </p:nvSpPr>
        <p:spPr>
          <a:xfrm>
            <a:off x="9715890" y="5143498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54" name="Text 248"/>
          <p:cNvSpPr/>
          <p:nvPr/>
        </p:nvSpPr>
        <p:spPr>
          <a:xfrm>
            <a:off x="9715890" y="5143498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255" name="Shape 249"/>
          <p:cNvSpPr/>
          <p:nvPr/>
        </p:nvSpPr>
        <p:spPr>
          <a:xfrm>
            <a:off x="10151893" y="5143498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56" name="Text 250"/>
          <p:cNvSpPr/>
          <p:nvPr/>
        </p:nvSpPr>
        <p:spPr>
          <a:xfrm>
            <a:off x="10151893" y="5143498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00" dirty="0"/>
          </a:p>
        </p:txBody>
      </p:sp>
      <p:sp>
        <p:nvSpPr>
          <p:cNvPr id="257" name="Shape 251"/>
          <p:cNvSpPr/>
          <p:nvPr/>
        </p:nvSpPr>
        <p:spPr>
          <a:xfrm>
            <a:off x="8738186" y="5661835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58" name="Text 252"/>
          <p:cNvSpPr/>
          <p:nvPr/>
        </p:nvSpPr>
        <p:spPr>
          <a:xfrm>
            <a:off x="8738186" y="5661835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259" name="Shape 253"/>
          <p:cNvSpPr/>
          <p:nvPr/>
        </p:nvSpPr>
        <p:spPr>
          <a:xfrm>
            <a:off x="9213826" y="5661835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60" name="Text 254"/>
          <p:cNvSpPr/>
          <p:nvPr/>
        </p:nvSpPr>
        <p:spPr>
          <a:xfrm>
            <a:off x="9213826" y="5661835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  <p:sp>
        <p:nvSpPr>
          <p:cNvPr id="261" name="Shape 255"/>
          <p:cNvSpPr/>
          <p:nvPr/>
        </p:nvSpPr>
        <p:spPr>
          <a:xfrm>
            <a:off x="9715890" y="5661835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62" name="Text 256"/>
          <p:cNvSpPr/>
          <p:nvPr/>
        </p:nvSpPr>
        <p:spPr>
          <a:xfrm>
            <a:off x="9715890" y="5661835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00" dirty="0"/>
          </a:p>
        </p:txBody>
      </p:sp>
      <p:sp>
        <p:nvSpPr>
          <p:cNvPr id="263" name="Shape 257"/>
          <p:cNvSpPr/>
          <p:nvPr/>
        </p:nvSpPr>
        <p:spPr>
          <a:xfrm>
            <a:off x="10151893" y="5661835"/>
            <a:ext cx="419100" cy="203200"/>
          </a:xfrm>
          <a:prstGeom prst="rect">
            <a:avLst/>
          </a:prstGeom>
          <a:solidFill>
            <a:srgbClr val="FCF9C8"/>
          </a:solidFill>
          <a:ln w="9525">
            <a:solidFill>
              <a:srgbClr val="8B7B3A"/>
            </a:solidFill>
            <a:prstDash val="solid"/>
          </a:ln>
        </p:spPr>
      </p:sp>
      <p:sp>
        <p:nvSpPr>
          <p:cNvPr id="264" name="Text 258"/>
          <p:cNvSpPr/>
          <p:nvPr/>
        </p:nvSpPr>
        <p:spPr>
          <a:xfrm>
            <a:off x="10151893" y="5661835"/>
            <a:ext cx="419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00" dirty="0"/>
          </a:p>
        </p:txBody>
      </p:sp>
      <p:sp>
        <p:nvSpPr>
          <p:cNvPr id="265" name="Shape 259"/>
          <p:cNvSpPr/>
          <p:nvPr/>
        </p:nvSpPr>
        <p:spPr>
          <a:xfrm>
            <a:off x="10878565" y="3934045"/>
            <a:ext cx="528488" cy="2126511"/>
          </a:xfrm>
          <a:prstGeom prst="roundRect">
            <a:avLst>
              <a:gd name="adj" fmla="val 10381"/>
            </a:avLst>
          </a:prstGeom>
          <a:solidFill>
            <a:srgbClr val="D0F8E0"/>
          </a:solidFill>
          <a:ln/>
        </p:spPr>
      </p:sp>
      <p:sp>
        <p:nvSpPr>
          <p:cNvPr id="266" name="Shape 260"/>
          <p:cNvSpPr/>
          <p:nvPr/>
        </p:nvSpPr>
        <p:spPr>
          <a:xfrm>
            <a:off x="11076748" y="4199859"/>
            <a:ext cx="279400" cy="203200"/>
          </a:xfrm>
          <a:prstGeom prst="rect">
            <a:avLst/>
          </a:prstGeom>
          <a:solidFill>
            <a:srgbClr val="FCF9C8"/>
          </a:solidFill>
          <a:ln w="6350">
            <a:solidFill>
              <a:srgbClr val="8B7B3A"/>
            </a:solidFill>
            <a:prstDash val="solid"/>
          </a:ln>
        </p:spPr>
      </p:sp>
      <p:sp>
        <p:nvSpPr>
          <p:cNvPr id="267" name="Text 261"/>
          <p:cNvSpPr/>
          <p:nvPr/>
        </p:nvSpPr>
        <p:spPr>
          <a:xfrm>
            <a:off x="11076748" y="4199859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68" name="Shape 262"/>
          <p:cNvSpPr/>
          <p:nvPr/>
        </p:nvSpPr>
        <p:spPr>
          <a:xfrm>
            <a:off x="11076748" y="4665033"/>
            <a:ext cx="279400" cy="203200"/>
          </a:xfrm>
          <a:prstGeom prst="rect">
            <a:avLst/>
          </a:prstGeom>
          <a:solidFill>
            <a:srgbClr val="FCF9C8"/>
          </a:solidFill>
          <a:ln w="6350">
            <a:solidFill>
              <a:srgbClr val="8B7B3A"/>
            </a:solidFill>
            <a:prstDash val="solid"/>
          </a:ln>
        </p:spPr>
      </p:sp>
      <p:sp>
        <p:nvSpPr>
          <p:cNvPr id="269" name="Text 263"/>
          <p:cNvSpPr/>
          <p:nvPr/>
        </p:nvSpPr>
        <p:spPr>
          <a:xfrm>
            <a:off x="11076748" y="4665033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70" name="Shape 264"/>
          <p:cNvSpPr/>
          <p:nvPr/>
        </p:nvSpPr>
        <p:spPr>
          <a:xfrm>
            <a:off x="11076748" y="5143498"/>
            <a:ext cx="279400" cy="203200"/>
          </a:xfrm>
          <a:prstGeom prst="rect">
            <a:avLst/>
          </a:prstGeom>
          <a:solidFill>
            <a:srgbClr val="FCF9C8"/>
          </a:solidFill>
          <a:ln w="6350">
            <a:solidFill>
              <a:srgbClr val="8B7B3A"/>
            </a:solidFill>
            <a:prstDash val="solid"/>
          </a:ln>
        </p:spPr>
      </p:sp>
      <p:sp>
        <p:nvSpPr>
          <p:cNvPr id="271" name="Text 265"/>
          <p:cNvSpPr/>
          <p:nvPr/>
        </p:nvSpPr>
        <p:spPr>
          <a:xfrm>
            <a:off x="11076748" y="5143498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72" name="Shape 266"/>
          <p:cNvSpPr/>
          <p:nvPr/>
        </p:nvSpPr>
        <p:spPr>
          <a:xfrm>
            <a:off x="11076748" y="5661835"/>
            <a:ext cx="279400" cy="203200"/>
          </a:xfrm>
          <a:prstGeom prst="rect">
            <a:avLst/>
          </a:prstGeom>
          <a:solidFill>
            <a:srgbClr val="FCF9C8"/>
          </a:solidFill>
          <a:ln w="6350">
            <a:solidFill>
              <a:srgbClr val="8B7B3A"/>
            </a:solidFill>
            <a:prstDash val="solid"/>
          </a:ln>
        </p:spPr>
      </p:sp>
      <p:sp>
        <p:nvSpPr>
          <p:cNvPr id="273" name="Text 267"/>
          <p:cNvSpPr/>
          <p:nvPr/>
        </p:nvSpPr>
        <p:spPr>
          <a:xfrm>
            <a:off x="11076748" y="5661835"/>
            <a:ext cx="279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74" name="Text 268"/>
          <p:cNvSpPr/>
          <p:nvPr/>
        </p:nvSpPr>
        <p:spPr>
          <a:xfrm>
            <a:off x="10896387" y="5056960"/>
            <a:ext cx="228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pic>
        <p:nvPicPr>
          <p:cNvPr id="275" name="Image 4" descr="/home/ahmed/Projects/ai_llm_slides/videos/deep-learning/002_transformers_part2/recreated_pptx/build/assets/s014_brace_tall_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808" y="3296091"/>
            <a:ext cx="196596" cy="3486882"/>
          </a:xfrm>
          <a:prstGeom prst="rect">
            <a:avLst/>
          </a:prstGeom>
        </p:spPr>
      </p:pic>
      <p:pic>
        <p:nvPicPr>
          <p:cNvPr id="276" name="Image 5" descr="/home/ahmed/Projects/ai_llm_slides/videos/deep-learning/002_transformers_part2/recreated_pptx/build/assets/s014_brace_tall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3114" y="3389126"/>
            <a:ext cx="189006" cy="32872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ai_llm_slides</dc:creator>
  <cp:lastModifiedBy>ai_llm_slides</cp:lastModifiedBy>
  <cp:revision>1</cp:revision>
  <dcterms:created xsi:type="dcterms:W3CDTF">2026-10-12T22:44:34Z</dcterms:created>
  <dcterms:modified xsi:type="dcterms:W3CDTF">2026-10-12T22:44:34Z</dcterms:modified>
</cp:coreProperties>
</file>