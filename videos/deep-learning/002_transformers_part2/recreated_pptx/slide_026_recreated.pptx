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634150" y="2099920"/>
            <a:ext cx="8495469" cy="4159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065202" y="2485349"/>
            <a:ext cx="3382333" cy="3721378"/>
          </a:xfrm>
          <a:prstGeom prst="rect">
            <a:avLst/>
          </a:prstGeom>
          <a:solidFill>
            <a:srgbClr val="C4DCA0"/>
          </a:solidFill>
          <a:ln w="12700">
            <a:solidFill>
              <a:srgbClr val="6D775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258434" y="2538511"/>
            <a:ext cx="1268375" cy="2923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258434" y="2538511"/>
            <a:ext cx="1268375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TIDA-00176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61321" y="3495437"/>
            <a:ext cx="1070191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61321" y="4226422"/>
            <a:ext cx="1017342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triangl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761321" y="4997279"/>
            <a:ext cx="1043767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triangl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011531" y="3482147"/>
            <a:ext cx="0" cy="2432186"/>
          </a:xfrm>
          <a:prstGeom prst="line">
            <a:avLst/>
          </a:prstGeom>
          <a:noFill/>
          <a:ln w="22225">
            <a:solidFill>
              <a:srgbClr val="3E5425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403769" y="3495437"/>
            <a:ext cx="620975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3769" y="4226422"/>
            <a:ext cx="951281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98319" y="4625141"/>
            <a:ext cx="35673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29944" y="5914333"/>
            <a:ext cx="1744015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805910" y="3176462"/>
            <a:ext cx="1955411" cy="1967014"/>
          </a:xfrm>
          <a:prstGeom prst="rect">
            <a:avLst/>
          </a:prstGeom>
          <a:solidFill>
            <a:srgbClr val="0EBFEB"/>
          </a:solidFill>
          <a:ln w="12700">
            <a:solidFill>
              <a:srgbClr val="0D89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2334" y="3349240"/>
            <a:ext cx="1149465" cy="425300"/>
          </a:xfrm>
          <a:prstGeom prst="rect">
            <a:avLst/>
          </a:prstGeom>
          <a:solidFill>
            <a:srgbClr val="F5D5BC"/>
          </a:solidFill>
          <a:ln/>
        </p:spPr>
      </p:sp>
      <p:sp>
        <p:nvSpPr>
          <p:cNvPr id="19" name="Text 17"/>
          <p:cNvSpPr/>
          <p:nvPr/>
        </p:nvSpPr>
        <p:spPr>
          <a:xfrm>
            <a:off x="2858758" y="3322659"/>
            <a:ext cx="1096616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C00000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Fine Angle: </a:t>
            </a:r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1A1A1A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atan(A/B)</a:t>
            </a:r>
            <a:endParaRPr lang="en-US" sz="8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Option 1: 16 bit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32334" y="4066935"/>
            <a:ext cx="1149465" cy="398719"/>
          </a:xfrm>
          <a:prstGeom prst="rect">
            <a:avLst/>
          </a:prstGeom>
          <a:solidFill>
            <a:srgbClr val="D6E6BF"/>
          </a:solidFill>
          <a:ln/>
        </p:spPr>
      </p:sp>
      <p:sp>
        <p:nvSpPr>
          <p:cNvPr id="21" name="Text 19"/>
          <p:cNvSpPr/>
          <p:nvPr/>
        </p:nvSpPr>
        <p:spPr>
          <a:xfrm>
            <a:off x="2858758" y="4040353"/>
            <a:ext cx="1096616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C00000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Fine Angle: </a:t>
            </a:r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1A1A1A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atan(A/B)</a:t>
            </a:r>
            <a:endParaRPr lang="en-US" sz="8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Option 2: 12-bit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58758" y="4758048"/>
            <a:ext cx="1096616" cy="398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885183" y="4771338"/>
            <a:ext cx="1043767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1A1A1A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Coarse Angle</a:t>
            </a:r>
            <a:endParaRPr lang="en-US" sz="8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count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48109" y="3349240"/>
            <a:ext cx="158547" cy="14619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4533" y="3349240"/>
            <a:ext cx="0" cy="-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827382" y="3349240"/>
            <a:ext cx="0" cy="-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4880231" y="3349240"/>
            <a:ext cx="0" cy="-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774533" y="3495437"/>
            <a:ext cx="0" cy="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827382" y="3495437"/>
            <a:ext cx="0" cy="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4880231" y="3495437"/>
            <a:ext cx="0" cy="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4536713" y="3535309"/>
            <a:ext cx="44921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3864" y="4106806"/>
            <a:ext cx="449216" cy="4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12-bit</a:t>
            </a:r>
            <a:endParaRPr lang="en-US" sz="10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83864" y="4917535"/>
            <a:ext cx="475641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eQEP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72717" y="3375822"/>
            <a:ext cx="224608" cy="1741073"/>
          </a:xfrm>
          <a:prstGeom prst="rect">
            <a:avLst/>
          </a:prstGeom>
          <a:solidFill>
            <a:srgbClr val="D7D7D7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3262" y="3561890"/>
            <a:ext cx="277457" cy="13822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MCU Interface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10537" y="3189753"/>
            <a:ext cx="594551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210537" y="3987191"/>
            <a:ext cx="554914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10537" y="4678304"/>
            <a:ext cx="594551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B, R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78663" y="2923940"/>
            <a:ext cx="1744015" cy="305685"/>
          </a:xfrm>
          <a:prstGeom prst="rect">
            <a:avLst/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78663" y="2923940"/>
            <a:ext cx="1744015" cy="30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16-bit high-res path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857937" y="3203043"/>
            <a:ext cx="1677954" cy="611369"/>
          </a:xfrm>
          <a:prstGeom prst="roundRect">
            <a:avLst>
              <a:gd name="adj" fmla="val 8974"/>
            </a:avLst>
          </a:prstGeom>
          <a:solidFill>
            <a:srgbClr val="F6D7BC"/>
          </a:solidFill>
          <a:ln w="12700">
            <a:solidFill>
              <a:srgbClr val="6E6A28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976847" y="3296078"/>
            <a:ext cx="792734" cy="412010"/>
          </a:xfrm>
          <a:prstGeom prst="homePlate">
            <a:avLst/>
          </a:prstGeom>
          <a:solidFill>
            <a:srgbClr val="E99968"/>
          </a:solidFill>
          <a:ln/>
        </p:spPr>
      </p:sp>
      <p:sp>
        <p:nvSpPr>
          <p:cNvPr id="43" name="Text 41"/>
          <p:cNvSpPr/>
          <p:nvPr/>
        </p:nvSpPr>
        <p:spPr>
          <a:xfrm>
            <a:off x="6003271" y="3322659"/>
            <a:ext cx="528490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769581" y="3482147"/>
            <a:ext cx="158547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rot="16200000">
            <a:off x="6941340" y="3256206"/>
            <a:ext cx="462428" cy="451882"/>
          </a:xfrm>
          <a:prstGeom prst="triangle">
            <a:avLst/>
          </a:prstGeom>
          <a:solidFill>
            <a:srgbClr val="6CCE93"/>
          </a:solidFill>
          <a:ln/>
        </p:spPr>
      </p:sp>
      <p:sp>
        <p:nvSpPr>
          <p:cNvPr id="46" name="Text 44"/>
          <p:cNvSpPr/>
          <p:nvPr/>
        </p:nvSpPr>
        <p:spPr>
          <a:xfrm>
            <a:off x="7549103" y="3282787"/>
            <a:ext cx="79273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A+,A-,B+,B-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78663" y="3920738"/>
            <a:ext cx="1757228" cy="637951"/>
          </a:xfrm>
          <a:prstGeom prst="roundRect">
            <a:avLst>
              <a:gd name="adj" fmla="val 8600"/>
            </a:avLst>
          </a:prstGeom>
          <a:solidFill>
            <a:srgbClr val="C4DCA0"/>
          </a:solidFill>
          <a:ln w="12700">
            <a:solidFill>
              <a:srgbClr val="6E6A28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778663" y="3827703"/>
            <a:ext cx="1744015" cy="385428"/>
          </a:xfrm>
          <a:prstGeom prst="rect">
            <a:avLst/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78663" y="3827703"/>
            <a:ext cx="1744015" cy="38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path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 rot="16200000">
            <a:off x="6941340" y="4000481"/>
            <a:ext cx="462428" cy="465172"/>
          </a:xfrm>
          <a:prstGeom prst="triangle">
            <a:avLst/>
          </a:prstGeom>
          <a:solidFill>
            <a:srgbClr val="6CCE93"/>
          </a:solidFill>
          <a:ln/>
        </p:spPr>
      </p:sp>
      <p:sp>
        <p:nvSpPr>
          <p:cNvPr id="51" name="Text 49"/>
          <p:cNvSpPr/>
          <p:nvPr/>
        </p:nvSpPr>
        <p:spPr>
          <a:xfrm>
            <a:off x="7549103" y="4226422"/>
            <a:ext cx="79273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A+,A-,B+,B-,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549103" y="4372619"/>
            <a:ext cx="634187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R+,R-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84610" y="4983988"/>
            <a:ext cx="-132122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805088" y="4651723"/>
            <a:ext cx="1849713" cy="664532"/>
          </a:xfrm>
          <a:prstGeom prst="rect">
            <a:avLst/>
          </a:prstGeom>
          <a:solidFill>
            <a:srgbClr val="ECE9F0"/>
          </a:solidFill>
          <a:ln/>
        </p:spPr>
      </p:sp>
      <p:sp>
        <p:nvSpPr>
          <p:cNvPr id="55" name="Shape 53"/>
          <p:cNvSpPr/>
          <p:nvPr/>
        </p:nvSpPr>
        <p:spPr>
          <a:xfrm rot="16200000">
            <a:off x="6003271" y="4758048"/>
            <a:ext cx="436004" cy="478463"/>
          </a:xfrm>
          <a:prstGeom prst="triangle">
            <a:avLst/>
          </a:prstGeom>
          <a:solidFill>
            <a:srgbClr val="6CCE93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48606" y="4877663"/>
            <a:ext cx="145335" cy="2658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7" name="Shape 55"/>
          <p:cNvSpPr/>
          <p:nvPr/>
        </p:nvSpPr>
        <p:spPr>
          <a:xfrm>
            <a:off x="6148606" y="4877663"/>
            <a:ext cx="26424" cy="1594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8" name="Shape 56"/>
          <p:cNvSpPr/>
          <p:nvPr/>
        </p:nvSpPr>
        <p:spPr>
          <a:xfrm>
            <a:off x="6108969" y="5010570"/>
            <a:ext cx="66061" cy="2658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9" name="Shape 57"/>
          <p:cNvSpPr/>
          <p:nvPr/>
        </p:nvSpPr>
        <p:spPr>
          <a:xfrm>
            <a:off x="6267516" y="4877663"/>
            <a:ext cx="26424" cy="18606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0" name="Shape 58"/>
          <p:cNvSpPr/>
          <p:nvPr/>
        </p:nvSpPr>
        <p:spPr>
          <a:xfrm>
            <a:off x="6597822" y="5050442"/>
            <a:ext cx="1083404" cy="265813"/>
          </a:xfrm>
          <a:prstGeom prst="rect">
            <a:avLst/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97822" y="5050442"/>
            <a:ext cx="1083404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Comparators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510288" y="5648520"/>
            <a:ext cx="449216" cy="239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V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985929" y="5648520"/>
            <a:ext cx="237820" cy="239231"/>
          </a:xfrm>
          <a:prstGeom prst="rect">
            <a:avLst/>
          </a:prstGeom>
          <a:solidFill>
            <a:srgbClr val="D7D7D7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23749" y="5768136"/>
            <a:ext cx="607763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857937" y="5528905"/>
            <a:ext cx="845583" cy="531625"/>
          </a:xfrm>
          <a:prstGeom prst="rect">
            <a:avLst/>
          </a:prstGeom>
          <a:solidFill>
            <a:srgbClr val="D0BA6F"/>
          </a:solidFill>
          <a:ln/>
        </p:spPr>
      </p:sp>
      <p:sp>
        <p:nvSpPr>
          <p:cNvPr id="66" name="Text 64"/>
          <p:cNvSpPr/>
          <p:nvPr/>
        </p:nvSpPr>
        <p:spPr>
          <a:xfrm>
            <a:off x="5857937" y="5555486"/>
            <a:ext cx="845583" cy="47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729944" y="5741555"/>
            <a:ext cx="317094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7073463" y="5635230"/>
            <a:ext cx="422792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729944" y="5980786"/>
            <a:ext cx="317094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7073463" y="5874461"/>
            <a:ext cx="50206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V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654801" y="5940914"/>
            <a:ext cx="1321224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Supply: 5.25 V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328625" y="3721378"/>
            <a:ext cx="224608" cy="1236029"/>
          </a:xfrm>
          <a:prstGeom prst="rect">
            <a:avLst/>
          </a:prstGeom>
          <a:solidFill>
            <a:srgbClr val="D7D7D7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08807" y="3880866"/>
            <a:ext cx="264245" cy="93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connector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830690" y="2485349"/>
            <a:ext cx="2219656" cy="3694797"/>
          </a:xfrm>
          <a:prstGeom prst="roundRect">
            <a:avLst>
              <a:gd name="adj" fmla="val 4943"/>
            </a:avLst>
          </a:prstGeom>
          <a:solidFill>
            <a:srgbClr val="FFFFFF"/>
          </a:solidFill>
          <a:ln w="31750">
            <a:solidFill>
              <a:srgbClr val="1E753E"/>
            </a:solidFill>
            <a:prstDash val="solid"/>
          </a:ln>
        </p:spPr>
      </p:sp>
      <p:pic>
        <p:nvPicPr>
          <p:cNvPr id="75" name="Image 0" descr="/home/ahmed/Projects/ai_llm_slides/videos/deep-learning/002_transformers_part2/recreated_pptx/build/assets/slide026_wi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809" y="3269496"/>
            <a:ext cx="2589599" cy="2445477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8751417" y="4000481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</a:t>
            </a:r>
            <a:endParaRPr lang="en-US" sz="650" dirty="0"/>
          </a:p>
        </p:txBody>
      </p:sp>
      <p:sp>
        <p:nvSpPr>
          <p:cNvPr id="77" name="Text 74"/>
          <p:cNvSpPr/>
          <p:nvPr/>
        </p:nvSpPr>
        <p:spPr>
          <a:xfrm>
            <a:off x="8751417" y="4166614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A-,</a:t>
            </a:r>
            <a:endParaRPr lang="en-US" sz="650" dirty="0"/>
          </a:p>
        </p:txBody>
      </p:sp>
      <p:sp>
        <p:nvSpPr>
          <p:cNvPr id="78" name="Text 75"/>
          <p:cNvSpPr/>
          <p:nvPr/>
        </p:nvSpPr>
        <p:spPr>
          <a:xfrm>
            <a:off x="8751417" y="4332747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B+,</a:t>
            </a:r>
            <a:endParaRPr lang="en-US" sz="650" dirty="0"/>
          </a:p>
        </p:txBody>
      </p:sp>
      <p:sp>
        <p:nvSpPr>
          <p:cNvPr id="79" name="Text 76"/>
          <p:cNvSpPr/>
          <p:nvPr/>
        </p:nvSpPr>
        <p:spPr>
          <a:xfrm>
            <a:off x="8751417" y="4498880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B-,</a:t>
            </a:r>
            <a:endParaRPr lang="en-US" sz="650" dirty="0"/>
          </a:p>
        </p:txBody>
      </p:sp>
      <p:sp>
        <p:nvSpPr>
          <p:cNvPr id="80" name="Text 77"/>
          <p:cNvSpPr/>
          <p:nvPr/>
        </p:nvSpPr>
        <p:spPr>
          <a:xfrm>
            <a:off x="8751417" y="4665013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R+,</a:t>
            </a:r>
            <a:endParaRPr lang="en-US" sz="650" dirty="0"/>
          </a:p>
        </p:txBody>
      </p:sp>
      <p:sp>
        <p:nvSpPr>
          <p:cNvPr id="81" name="Text 78"/>
          <p:cNvSpPr/>
          <p:nvPr/>
        </p:nvSpPr>
        <p:spPr>
          <a:xfrm>
            <a:off x="8751417" y="4831146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R-,</a:t>
            </a:r>
            <a:endParaRPr lang="en-US" sz="650" dirty="0"/>
          </a:p>
        </p:txBody>
      </p:sp>
      <p:sp>
        <p:nvSpPr>
          <p:cNvPr id="82" name="Text 79"/>
          <p:cNvSpPr/>
          <p:nvPr/>
        </p:nvSpPr>
        <p:spPr>
          <a:xfrm>
            <a:off x="8751417" y="4997279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650" dirty="0"/>
          </a:p>
        </p:txBody>
      </p:sp>
      <p:sp>
        <p:nvSpPr>
          <p:cNvPr id="83" name="Text 80"/>
          <p:cNvSpPr/>
          <p:nvPr/>
        </p:nvSpPr>
        <p:spPr>
          <a:xfrm>
            <a:off x="8751417" y="5163412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8923176" y="3269496"/>
            <a:ext cx="1810077" cy="451882"/>
          </a:xfrm>
          <a:prstGeom prst="rect">
            <a:avLst/>
          </a:prstGeom>
          <a:solidFill>
            <a:srgbClr val="F1D3B2"/>
          </a:solidFill>
          <a:ln/>
        </p:spPr>
      </p:sp>
      <p:sp>
        <p:nvSpPr>
          <p:cNvPr id="85" name="Text 82"/>
          <p:cNvSpPr/>
          <p:nvPr/>
        </p:nvSpPr>
        <p:spPr>
          <a:xfrm>
            <a:off x="8949600" y="3242915"/>
            <a:ext cx="1757228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Sine and Cosine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 A-, B+, B- and Marker R+/R-</a:t>
            </a:r>
            <a:endParaRPr lang="en-US" sz="850" dirty="0"/>
          </a:p>
        </p:txBody>
      </p:sp>
      <p:sp>
        <p:nvSpPr>
          <p:cNvPr id="86" name="Text 83"/>
          <p:cNvSpPr/>
          <p:nvPr/>
        </p:nvSpPr>
        <p:spPr>
          <a:xfrm>
            <a:off x="9544151" y="4266294"/>
            <a:ext cx="1479771" cy="49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Shielded twisted</a:t>
            </a:r>
            <a:endParaRPr lang="en-US" sz="7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cable, up</a:t>
            </a:r>
            <a:endParaRPr lang="en-US" sz="7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50...150m</a:t>
            </a:r>
            <a:endParaRPr lang="en-US" sz="700" dirty="0"/>
          </a:p>
        </p:txBody>
      </p:sp>
      <p:pic>
        <p:nvPicPr>
          <p:cNvPr id="87" name="Image 1" descr="/home/ahmed/Projects/ai_llm_slides/videos/deep-learning/002_transformers_part2/recreated_pptx/build/assets/slide026_mo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061" y="4691594"/>
            <a:ext cx="1136253" cy="651241"/>
          </a:xfrm>
          <a:prstGeom prst="rect">
            <a:avLst/>
          </a:prstGeom>
        </p:spPr>
      </p:pic>
      <p:sp>
        <p:nvSpPr>
          <p:cNvPr id="88" name="Text 84"/>
          <p:cNvSpPr/>
          <p:nvPr/>
        </p:nvSpPr>
        <p:spPr>
          <a:xfrm>
            <a:off x="10165126" y="5289673"/>
            <a:ext cx="924857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Motor</a:t>
            </a:r>
            <a:endParaRPr lang="en-US" sz="700" dirty="0"/>
          </a:p>
        </p:txBody>
      </p:sp>
      <p:sp>
        <p:nvSpPr>
          <p:cNvPr id="89" name="Shape 85"/>
          <p:cNvSpPr/>
          <p:nvPr/>
        </p:nvSpPr>
        <p:spPr>
          <a:xfrm>
            <a:off x="9544151" y="5302964"/>
            <a:ext cx="766310" cy="345557"/>
          </a:xfrm>
          <a:prstGeom prst="rect">
            <a:avLst/>
          </a:prstGeom>
          <a:solidFill>
            <a:srgbClr val="F1D3B2"/>
          </a:solidFill>
          <a:ln/>
        </p:spPr>
      </p:sp>
      <p:sp>
        <p:nvSpPr>
          <p:cNvPr id="90" name="Text 86"/>
          <p:cNvSpPr/>
          <p:nvPr/>
        </p:nvSpPr>
        <p:spPr>
          <a:xfrm>
            <a:off x="9544151" y="5302964"/>
            <a:ext cx="766310" cy="345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A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A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050" dirty="0"/>
          </a:p>
        </p:txBody>
      </p:sp>
      <p:sp>
        <p:nvSpPr>
          <p:cNvPr id="91" name="Shape 87"/>
          <p:cNvSpPr/>
          <p:nvPr/>
        </p:nvSpPr>
        <p:spPr>
          <a:xfrm>
            <a:off x="1801779" y="3907447"/>
            <a:ext cx="938069" cy="332266"/>
          </a:xfrm>
          <a:prstGeom prst="leftArrow">
            <a:avLst/>
          </a:prstGeom>
          <a:solidFill>
            <a:srgbClr val="B00011"/>
          </a:solidFill>
          <a:ln/>
        </p:spPr>
      </p:sp>
      <p:sp>
        <p:nvSpPr>
          <p:cNvPr id="92" name="Text 88"/>
          <p:cNvSpPr/>
          <p:nvPr/>
        </p:nvSpPr>
        <p:spPr>
          <a:xfrm>
            <a:off x="1405412" y="4239713"/>
            <a:ext cx="1162677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3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(Angle)</a:t>
            </a:r>
            <a:endParaRPr lang="en-US" sz="1350" dirty="0"/>
          </a:p>
        </p:txBody>
      </p:sp>
      <p:sp>
        <p:nvSpPr>
          <p:cNvPr id="93" name="Text 89"/>
          <p:cNvSpPr/>
          <p:nvPr/>
        </p:nvSpPr>
        <p:spPr>
          <a:xfrm>
            <a:off x="524510" y="757566"/>
            <a:ext cx="10668000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Encoders</a:t>
            </a:r>
            <a:endParaRPr lang="en-US" sz="2200" dirty="0"/>
          </a:p>
        </p:txBody>
      </p:sp>
      <p:sp>
        <p:nvSpPr>
          <p:cNvPr id="94" name="Text 90"/>
          <p:cNvSpPr/>
          <p:nvPr/>
        </p:nvSpPr>
        <p:spPr>
          <a:xfrm>
            <a:off x="552450" y="1076542"/>
            <a:ext cx="10668000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 industrial application of Motor Control System)</a:t>
            </a:r>
            <a:endParaRPr lang="en-US" sz="2200" dirty="0"/>
          </a:p>
        </p:txBody>
      </p:sp>
      <p:sp>
        <p:nvSpPr>
          <p:cNvPr id="95" name="Text 91"/>
          <p:cNvSpPr/>
          <p:nvPr/>
        </p:nvSpPr>
        <p:spPr>
          <a:xfrm>
            <a:off x="2247900" y="6352924"/>
            <a:ext cx="9652000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EMC-compliant interface to Sin/Cos incremental position encoder switch</a:t>
            </a:r>
            <a:endParaRPr lang="en-US" sz="1350" dirty="0"/>
          </a:p>
        </p:txBody>
      </p:sp>
      <p:sp>
        <p:nvSpPr>
          <p:cNvPr id="96" name="Text 92"/>
          <p:cNvSpPr/>
          <p:nvPr/>
        </p:nvSpPr>
        <p:spPr>
          <a:xfrm>
            <a:off x="2247900" y="6552283"/>
            <a:ext cx="9652000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1-VPP  Differential analog output signals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2026-10-12T01:35:21Z</dcterms:created>
  <dcterms:modified xsi:type="dcterms:W3CDTF">2026-10-12T01:35:21Z</dcterms:modified>
</cp:coreProperties>
</file>