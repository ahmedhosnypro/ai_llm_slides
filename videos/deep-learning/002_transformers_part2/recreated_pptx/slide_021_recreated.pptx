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8167" y="1475267"/>
            <a:ext cx="10814206" cy="3262865"/>
          </a:xfrm>
          <a:prstGeom prst="rect">
            <a:avLst/>
          </a:prstGeom>
          <a:solidFill>
            <a:srgbClr val="FFFFFF"/>
          </a:solidFill>
          <a:ln w="15875">
            <a:solidFill>
              <a:srgbClr val="3529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5499" y="672438"/>
            <a:ext cx="990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AE1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Position </a:t>
            </a:r>
            <a:pPr algn="ctr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000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1920661" y="1800889"/>
            <a:ext cx="9532620" cy="531628"/>
          </a:xfrm>
          <a:prstGeom prst="roundRect">
            <a:avLst>
              <a:gd name="adj" fmla="val 10320"/>
            </a:avLst>
          </a:prstGeom>
          <a:solidFill>
            <a:srgbClr val="C8C5F6"/>
          </a:solidFill>
          <a:ln w="12700">
            <a:solidFill>
              <a:srgbClr val="2E2A62"/>
            </a:solidFill>
            <a:prstDash val="sysDash"/>
          </a:ln>
        </p:spPr>
      </p:sp>
      <p:sp>
        <p:nvSpPr>
          <p:cNvPr id="8" name="Shape 6"/>
          <p:cNvSpPr/>
          <p:nvPr/>
        </p:nvSpPr>
        <p:spPr>
          <a:xfrm>
            <a:off x="2099026" y="1907214"/>
            <a:ext cx="779521" cy="292395"/>
          </a:xfrm>
          <a:prstGeom prst="rect">
            <a:avLst/>
          </a:prstGeom>
          <a:solidFill>
            <a:srgbClr val="CFCEF8"/>
          </a:solidFill>
          <a:ln w="12700">
            <a:solidFill>
              <a:srgbClr val="2E2A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5269" y="1907214"/>
            <a:ext cx="779521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63519" y="1907214"/>
            <a:ext cx="779521" cy="292395"/>
          </a:xfrm>
          <a:prstGeom prst="rect">
            <a:avLst/>
          </a:prstGeom>
          <a:solidFill>
            <a:srgbClr val="CFCEF8"/>
          </a:solidFill>
          <a:ln w="12700">
            <a:solidFill>
              <a:srgbClr val="2E2A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9761" y="1907214"/>
            <a:ext cx="779521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41223" y="1907214"/>
            <a:ext cx="792733" cy="292395"/>
          </a:xfrm>
          <a:prstGeom prst="rect">
            <a:avLst/>
          </a:prstGeom>
          <a:solidFill>
            <a:srgbClr val="CFCEF8"/>
          </a:solidFill>
          <a:ln w="12700">
            <a:solidFill>
              <a:srgbClr val="2E2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87466" y="1907214"/>
            <a:ext cx="792733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05716" y="1907214"/>
            <a:ext cx="792733" cy="292395"/>
          </a:xfrm>
          <a:prstGeom prst="rect">
            <a:avLst/>
          </a:prstGeom>
          <a:solidFill>
            <a:srgbClr val="CFCEF8"/>
          </a:solidFill>
          <a:ln w="12700">
            <a:solidFill>
              <a:srgbClr val="2E2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51958" y="1907214"/>
            <a:ext cx="792733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83420" y="1907214"/>
            <a:ext cx="779521" cy="292395"/>
          </a:xfrm>
          <a:prstGeom prst="rect">
            <a:avLst/>
          </a:prstGeom>
          <a:solidFill>
            <a:srgbClr val="CFCEF8"/>
          </a:solidFill>
          <a:ln w="12700">
            <a:solidFill>
              <a:srgbClr val="2E2A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29663" y="1907214"/>
            <a:ext cx="779521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7913" y="1907214"/>
            <a:ext cx="792733" cy="292395"/>
          </a:xfrm>
          <a:prstGeom prst="rect">
            <a:avLst/>
          </a:prstGeom>
          <a:solidFill>
            <a:srgbClr val="CFCEF8"/>
          </a:solidFill>
          <a:ln w="12700">
            <a:solidFill>
              <a:srgbClr val="2E2A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4155" y="1907214"/>
            <a:ext cx="792733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431811" y="1907214"/>
            <a:ext cx="845582" cy="292395"/>
          </a:xfrm>
          <a:prstGeom prst="rect">
            <a:avLst/>
          </a:prstGeom>
          <a:solidFill>
            <a:srgbClr val="CFCEF8"/>
          </a:solidFill>
          <a:ln w="12700">
            <a:solidFill>
              <a:srgbClr val="2E2A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78054" y="1907214"/>
            <a:ext cx="845582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435940" y="1907214"/>
            <a:ext cx="845582" cy="292395"/>
          </a:xfrm>
          <a:prstGeom prst="rect">
            <a:avLst/>
          </a:prstGeom>
          <a:solidFill>
            <a:srgbClr val="CFCEF8"/>
          </a:solidFill>
          <a:ln w="12700">
            <a:solidFill>
              <a:srgbClr val="2E2A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82183" y="1907214"/>
            <a:ext cx="845582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06287" y="2016198"/>
            <a:ext cx="114300" cy="114300"/>
          </a:xfrm>
          <a:prstGeom prst="ellipse">
            <a:avLst/>
          </a:prstGeom>
          <a:solidFill>
            <a:srgbClr val="7A96C0"/>
          </a:solidFill>
          <a:ln w="3175">
            <a:solidFill>
              <a:srgbClr val="7A96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7501" y="2016198"/>
            <a:ext cx="114300" cy="114300"/>
          </a:xfrm>
          <a:prstGeom prst="ellipse">
            <a:avLst/>
          </a:prstGeom>
          <a:solidFill>
            <a:srgbClr val="7A96C0"/>
          </a:solidFill>
          <a:ln w="3175">
            <a:solidFill>
              <a:srgbClr val="7A96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88534" y="2016198"/>
            <a:ext cx="114300" cy="114300"/>
          </a:xfrm>
          <a:prstGeom prst="ellipse">
            <a:avLst/>
          </a:prstGeom>
          <a:solidFill>
            <a:srgbClr val="7A96C0"/>
          </a:solidFill>
          <a:ln w="3175">
            <a:solidFill>
              <a:srgbClr val="7A96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19747" y="2016198"/>
            <a:ext cx="114300" cy="114300"/>
          </a:xfrm>
          <a:prstGeom prst="ellipse">
            <a:avLst/>
          </a:prstGeom>
          <a:solidFill>
            <a:srgbClr val="7A96C0"/>
          </a:solidFill>
          <a:ln w="3175">
            <a:solidFill>
              <a:srgbClr val="7A96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17931" y="2016198"/>
            <a:ext cx="114300" cy="114300"/>
          </a:xfrm>
          <a:prstGeom prst="ellipse">
            <a:avLst/>
          </a:prstGeom>
          <a:solidFill>
            <a:srgbClr val="7A96C0"/>
          </a:solidFill>
          <a:ln w="3175">
            <a:solidFill>
              <a:srgbClr val="7A96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13050" y="2339162"/>
            <a:ext cx="101600" cy="434901"/>
          </a:xfrm>
          <a:prstGeom prst="rect">
            <a:avLst/>
          </a:prstGeom>
          <a:solidFill>
            <a:srgbClr val="E00000"/>
          </a:solidFill>
          <a:ln w="12700">
            <a:solidFill>
              <a:srgbClr val="E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6587650" y="2774063"/>
            <a:ext cx="152400" cy="63500"/>
          </a:xfrm>
          <a:prstGeom prst="triangle">
            <a:avLst/>
          </a:prstGeom>
          <a:solidFill>
            <a:srgbClr val="E00000"/>
          </a:solidFill>
          <a:ln w="12700">
            <a:solidFill>
              <a:srgbClr val="E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40479" y="2850853"/>
            <a:ext cx="9605287" cy="491756"/>
          </a:xfrm>
          <a:prstGeom prst="rect">
            <a:avLst/>
          </a:prstGeom>
          <a:solidFill>
            <a:srgbClr val="0000A6"/>
          </a:solidFill>
          <a:ln w="12700">
            <a:solidFill>
              <a:srgbClr val="0000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40479" y="2850853"/>
            <a:ext cx="9605287" cy="491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50" b="1" spc="170" kern="0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pPr algn="ctr" indent="0" marL="0">
              <a:buNone/>
            </a:pPr>
            <a:r>
              <a:rPr lang="en-US" sz="1850" b="1" spc="6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map the positions to real valued vectors</a:t>
            </a:r>
            <a:endParaRPr lang="en-US" sz="2050" dirty="0"/>
          </a:p>
        </p:txBody>
      </p:sp>
      <p:sp>
        <p:nvSpPr>
          <p:cNvPr id="33" name="Shape 31"/>
          <p:cNvSpPr/>
          <p:nvPr/>
        </p:nvSpPr>
        <p:spPr>
          <a:xfrm>
            <a:off x="6599581" y="3349254"/>
            <a:ext cx="88900" cy="434901"/>
          </a:xfrm>
          <a:prstGeom prst="rect">
            <a:avLst/>
          </a:prstGeom>
          <a:solidFill>
            <a:srgbClr val="E00000"/>
          </a:solidFill>
          <a:ln w="12700">
            <a:solidFill>
              <a:srgbClr val="E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6567831" y="3784155"/>
            <a:ext cx="152400" cy="63500"/>
          </a:xfrm>
          <a:prstGeom prst="triangle">
            <a:avLst/>
          </a:prstGeom>
          <a:solidFill>
            <a:srgbClr val="E00000"/>
          </a:solidFill>
          <a:ln w="12700">
            <a:solidFill>
              <a:srgbClr val="E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20661" y="3847655"/>
            <a:ext cx="9519408" cy="518337"/>
          </a:xfrm>
          <a:prstGeom prst="roundRect">
            <a:avLst>
              <a:gd name="adj" fmla="val 10585"/>
            </a:avLst>
          </a:prstGeom>
          <a:solidFill>
            <a:srgbClr val="EBFFD8"/>
          </a:solidFill>
          <a:ln w="12700">
            <a:solidFill>
              <a:srgbClr val="5A8568"/>
            </a:solidFill>
            <a:prstDash val="sysDash"/>
          </a:ln>
        </p:spPr>
      </p:sp>
      <p:sp>
        <p:nvSpPr>
          <p:cNvPr id="36" name="Shape 34"/>
          <p:cNvSpPr/>
          <p:nvPr/>
        </p:nvSpPr>
        <p:spPr>
          <a:xfrm>
            <a:off x="2099026" y="3980562"/>
            <a:ext cx="779521" cy="292395"/>
          </a:xfrm>
          <a:prstGeom prst="rect">
            <a:avLst/>
          </a:prstGeom>
          <a:ln w="12700">
            <a:solidFill>
              <a:srgbClr val="D1CB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59389" y="3987472"/>
            <a:ext cx="7795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72"/>
              </a:lnSpc>
              <a:buNone/>
            </a:pPr>
            <a:r>
              <a:rPr lang="en-US" sz="1560" b="1" i="1" dirty="0">
                <a:solidFill>
                  <a:srgbClr val="1418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lnSpc>
                <a:spcPts val="1872"/>
              </a:lnSpc>
              <a:buNone/>
            </a:pPr>
            <a:r>
              <a:rPr lang="en-US" sz="10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P0</a:t>
            </a:r>
            <a:endParaRPr lang="en-US" sz="1560" dirty="0"/>
          </a:p>
        </p:txBody>
      </p:sp>
      <p:sp>
        <p:nvSpPr>
          <p:cNvPr id="38" name="Shape 36"/>
          <p:cNvSpPr/>
          <p:nvPr/>
        </p:nvSpPr>
        <p:spPr>
          <a:xfrm>
            <a:off x="3063519" y="3980562"/>
            <a:ext cx="779521" cy="292395"/>
          </a:xfrm>
          <a:prstGeom prst="rect">
            <a:avLst/>
          </a:prstGeom>
          <a:ln w="12700">
            <a:solidFill>
              <a:srgbClr val="D1CB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23882" y="3987472"/>
            <a:ext cx="7795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72"/>
              </a:lnSpc>
              <a:buNone/>
            </a:pPr>
            <a:r>
              <a:rPr lang="en-US" sz="1560" b="1" i="1" dirty="0">
                <a:solidFill>
                  <a:srgbClr val="1418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lnSpc>
                <a:spcPts val="1872"/>
              </a:lnSpc>
              <a:buNone/>
            </a:pPr>
            <a:r>
              <a:rPr lang="en-US" sz="10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P1</a:t>
            </a:r>
            <a:endParaRPr lang="en-US" sz="1560" dirty="0"/>
          </a:p>
        </p:txBody>
      </p:sp>
      <p:sp>
        <p:nvSpPr>
          <p:cNvPr id="40" name="Shape 38"/>
          <p:cNvSpPr/>
          <p:nvPr/>
        </p:nvSpPr>
        <p:spPr>
          <a:xfrm>
            <a:off x="4041223" y="3980562"/>
            <a:ext cx="792733" cy="292395"/>
          </a:xfrm>
          <a:prstGeom prst="rect">
            <a:avLst/>
          </a:prstGeom>
          <a:ln w="12700">
            <a:solidFill>
              <a:srgbClr val="D1CB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01587" y="3987472"/>
            <a:ext cx="792733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72"/>
              </a:lnSpc>
              <a:buNone/>
            </a:pPr>
            <a:r>
              <a:rPr lang="en-US" sz="1560" b="1" i="1" dirty="0">
                <a:solidFill>
                  <a:srgbClr val="1418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lnSpc>
                <a:spcPts val="1872"/>
              </a:lnSpc>
              <a:buNone/>
            </a:pPr>
            <a:r>
              <a:rPr lang="en-US" sz="10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P2</a:t>
            </a:r>
            <a:endParaRPr lang="en-US" sz="1560" dirty="0"/>
          </a:p>
        </p:txBody>
      </p:sp>
      <p:sp>
        <p:nvSpPr>
          <p:cNvPr id="42" name="Shape 40"/>
          <p:cNvSpPr/>
          <p:nvPr/>
        </p:nvSpPr>
        <p:spPr>
          <a:xfrm>
            <a:off x="5005716" y="3980562"/>
            <a:ext cx="792733" cy="292395"/>
          </a:xfrm>
          <a:prstGeom prst="rect">
            <a:avLst/>
          </a:prstGeom>
          <a:ln w="12700">
            <a:solidFill>
              <a:srgbClr val="D1CB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66079" y="3987472"/>
            <a:ext cx="792733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72"/>
              </a:lnSpc>
              <a:buNone/>
            </a:pPr>
            <a:r>
              <a:rPr lang="en-US" sz="1560" b="1" i="1" dirty="0">
                <a:solidFill>
                  <a:srgbClr val="1418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lnSpc>
                <a:spcPts val="1872"/>
              </a:lnSpc>
              <a:buNone/>
            </a:pPr>
            <a:r>
              <a:rPr lang="en-US" sz="10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P3</a:t>
            </a:r>
            <a:endParaRPr lang="en-US" sz="1560" dirty="0"/>
          </a:p>
        </p:txBody>
      </p:sp>
      <p:sp>
        <p:nvSpPr>
          <p:cNvPr id="44" name="Shape 42"/>
          <p:cNvSpPr/>
          <p:nvPr/>
        </p:nvSpPr>
        <p:spPr>
          <a:xfrm>
            <a:off x="5983420" y="3980562"/>
            <a:ext cx="779521" cy="292395"/>
          </a:xfrm>
          <a:prstGeom prst="rect">
            <a:avLst/>
          </a:prstGeom>
          <a:ln w="12700">
            <a:solidFill>
              <a:srgbClr val="D1CB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784" y="3987472"/>
            <a:ext cx="7795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72"/>
              </a:lnSpc>
              <a:buNone/>
            </a:pPr>
            <a:r>
              <a:rPr lang="en-US" sz="1560" b="1" i="1" dirty="0">
                <a:solidFill>
                  <a:srgbClr val="1418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lnSpc>
                <a:spcPts val="1872"/>
              </a:lnSpc>
              <a:buNone/>
            </a:pPr>
            <a:r>
              <a:rPr lang="en-US" sz="10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P4</a:t>
            </a:r>
            <a:endParaRPr lang="en-US" sz="1560" dirty="0"/>
          </a:p>
        </p:txBody>
      </p:sp>
      <p:sp>
        <p:nvSpPr>
          <p:cNvPr id="46" name="Shape 44"/>
          <p:cNvSpPr/>
          <p:nvPr/>
        </p:nvSpPr>
        <p:spPr>
          <a:xfrm>
            <a:off x="6947913" y="3980562"/>
            <a:ext cx="792733" cy="292395"/>
          </a:xfrm>
          <a:prstGeom prst="rect">
            <a:avLst/>
          </a:prstGeom>
          <a:ln w="12700">
            <a:solidFill>
              <a:srgbClr val="D1CB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08276" y="3987472"/>
            <a:ext cx="792733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72"/>
              </a:lnSpc>
              <a:buNone/>
            </a:pPr>
            <a:r>
              <a:rPr lang="en-US" sz="1560" b="1" i="1" dirty="0">
                <a:solidFill>
                  <a:srgbClr val="1418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lnSpc>
                <a:spcPts val="1872"/>
              </a:lnSpc>
              <a:buNone/>
            </a:pPr>
            <a:r>
              <a:rPr lang="en-US" sz="10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P5</a:t>
            </a:r>
            <a:endParaRPr lang="en-US" sz="1560" dirty="0"/>
          </a:p>
        </p:txBody>
      </p:sp>
      <p:sp>
        <p:nvSpPr>
          <p:cNvPr id="48" name="Shape 46"/>
          <p:cNvSpPr/>
          <p:nvPr/>
        </p:nvSpPr>
        <p:spPr>
          <a:xfrm>
            <a:off x="9431811" y="3980562"/>
            <a:ext cx="845582" cy="292395"/>
          </a:xfrm>
          <a:prstGeom prst="rect">
            <a:avLst/>
          </a:prstGeom>
          <a:ln w="12700">
            <a:solidFill>
              <a:srgbClr val="D1CB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92174" y="3987472"/>
            <a:ext cx="84558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72"/>
              </a:lnSpc>
              <a:buNone/>
            </a:pPr>
            <a:r>
              <a:rPr lang="en-US" sz="1560" b="1" i="1" dirty="0">
                <a:solidFill>
                  <a:srgbClr val="1418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lnSpc>
                <a:spcPts val="1872"/>
              </a:lnSpc>
              <a:buNone/>
            </a:pPr>
            <a:r>
              <a:rPr lang="en-US" sz="10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PN-2</a:t>
            </a:r>
            <a:endParaRPr lang="en-US" sz="1560" dirty="0"/>
          </a:p>
        </p:txBody>
      </p:sp>
      <p:sp>
        <p:nvSpPr>
          <p:cNvPr id="50" name="Shape 48"/>
          <p:cNvSpPr/>
          <p:nvPr/>
        </p:nvSpPr>
        <p:spPr>
          <a:xfrm>
            <a:off x="10435940" y="3980562"/>
            <a:ext cx="845582" cy="292395"/>
          </a:xfrm>
          <a:prstGeom prst="rect">
            <a:avLst/>
          </a:prstGeom>
          <a:ln w="12700">
            <a:solidFill>
              <a:srgbClr val="D1CB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396303" y="3987472"/>
            <a:ext cx="84558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72"/>
              </a:lnSpc>
              <a:buNone/>
            </a:pPr>
            <a:r>
              <a:rPr lang="en-US" sz="1560" b="1" i="1" dirty="0">
                <a:solidFill>
                  <a:srgbClr val="1418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lnSpc>
                <a:spcPts val="1872"/>
              </a:lnSpc>
              <a:buNone/>
            </a:pPr>
            <a:r>
              <a:rPr lang="en-US" sz="10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PN-1</a:t>
            </a:r>
            <a:endParaRPr lang="en-US" sz="1560" dirty="0"/>
          </a:p>
        </p:txBody>
      </p:sp>
      <p:sp>
        <p:nvSpPr>
          <p:cNvPr id="52" name="Shape 50"/>
          <p:cNvSpPr/>
          <p:nvPr/>
        </p:nvSpPr>
        <p:spPr>
          <a:xfrm flipH="1">
            <a:off x="3750554" y="3335964"/>
            <a:ext cx="290669" cy="1714499"/>
          </a:xfrm>
          <a:prstGeom prst="line">
            <a:avLst/>
          </a:prstGeom>
          <a:noFill/>
          <a:ln w="12700">
            <a:solidFill>
              <a:srgbClr val="D4C8A8"/>
            </a:solidFill>
            <a:prstDash val="solid"/>
          </a:ln>
        </p:spPr>
      </p:sp>
      <p:pic>
        <p:nvPicPr>
          <p:cNvPr id="53" name="Image 0" descr="/home/ahmed/Projects/ai_llm_slides/videos/deep-learning/002_transformers_part2/recreated_pptx/build/assets/brace_0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5814" y="4465672"/>
            <a:ext cx="9116435" cy="206006"/>
          </a:xfrm>
          <a:prstGeom prst="rect">
            <a:avLst/>
          </a:prstGeom>
        </p:spPr>
      </p:pic>
      <p:sp>
        <p:nvSpPr>
          <p:cNvPr id="54" name="Shape 51"/>
          <p:cNvSpPr/>
          <p:nvPr/>
        </p:nvSpPr>
        <p:spPr>
          <a:xfrm>
            <a:off x="738167" y="5057108"/>
            <a:ext cx="2536747" cy="1528430"/>
          </a:xfrm>
          <a:prstGeom prst="rect">
            <a:avLst/>
          </a:prstGeom>
          <a:solidFill>
            <a:srgbClr val="F8FCE0"/>
          </a:solidFill>
          <a:ln w="12700">
            <a:solidFill>
              <a:srgbClr val="DCD0B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70289" y="5248392"/>
            <a:ext cx="2435147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610" b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</a:t>
            </a:r>
            <a:pPr algn="l" indent="0" marL="0">
              <a:lnSpc>
                <a:spcPts val="1932"/>
              </a:lnSpc>
              <a:buNone/>
            </a:pPr>
            <a:r>
              <a:rPr lang="en-US" sz="1610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with</a:t>
            </a:r>
            <a:endParaRPr lang="en-US" sz="1610" dirty="0"/>
          </a:p>
        </p:txBody>
      </p:sp>
      <p:sp>
        <p:nvSpPr>
          <p:cNvPr id="56" name="Text 53"/>
          <p:cNvSpPr/>
          <p:nvPr/>
        </p:nvSpPr>
        <p:spPr>
          <a:xfrm>
            <a:off x="870289" y="5487625"/>
            <a:ext cx="2435147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610" b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</a:t>
            </a:r>
            <a:pPr algn="l" indent="0" marL="0">
              <a:lnSpc>
                <a:spcPts val="1932"/>
              </a:lnSpc>
              <a:buNone/>
            </a:pPr>
            <a:r>
              <a:rPr lang="en-US" sz="1610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610" dirty="0"/>
          </a:p>
        </p:txBody>
      </p:sp>
      <p:sp>
        <p:nvSpPr>
          <p:cNvPr id="57" name="Text 54"/>
          <p:cNvSpPr/>
          <p:nvPr/>
        </p:nvSpPr>
        <p:spPr>
          <a:xfrm>
            <a:off x="870289" y="5946154"/>
            <a:ext cx="2435147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610" b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</a:t>
            </a:r>
            <a:pPr algn="l" indent="0" marL="0">
              <a:lnSpc>
                <a:spcPts val="1932"/>
              </a:lnSpc>
              <a:buNone/>
            </a:pPr>
            <a:r>
              <a:rPr lang="en-US" sz="1610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with</a:t>
            </a:r>
            <a:endParaRPr lang="en-US" sz="1610" dirty="0"/>
          </a:p>
        </p:txBody>
      </p:sp>
      <p:sp>
        <p:nvSpPr>
          <p:cNvPr id="58" name="Text 55"/>
          <p:cNvSpPr/>
          <p:nvPr/>
        </p:nvSpPr>
        <p:spPr>
          <a:xfrm>
            <a:off x="870289" y="6165450"/>
            <a:ext cx="2435147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610" b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TRAINABLE </a:t>
            </a:r>
            <a:pPr algn="l" indent="0" marL="0">
              <a:lnSpc>
                <a:spcPts val="1932"/>
              </a:lnSpc>
              <a:buNone/>
            </a:pPr>
            <a:r>
              <a:rPr lang="en-US" sz="1610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610" dirty="0"/>
          </a:p>
        </p:txBody>
      </p:sp>
      <p:sp>
        <p:nvSpPr>
          <p:cNvPr id="59" name="Shape 56"/>
          <p:cNvSpPr/>
          <p:nvPr/>
        </p:nvSpPr>
        <p:spPr>
          <a:xfrm>
            <a:off x="3909101" y="4924201"/>
            <a:ext cx="5892652" cy="1581592"/>
          </a:xfrm>
          <a:prstGeom prst="rect">
            <a:avLst/>
          </a:prstGeom>
          <a:solidFill>
            <a:srgbClr val="FFFFFF"/>
          </a:solidFill>
          <a:ln w="15875">
            <a:solidFill>
              <a:srgbClr val="478345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2791427" y="4996275"/>
            <a:ext cx="8128000" cy="379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88"/>
              </a:lnSpc>
              <a:buNone/>
            </a:pPr>
            <a:r>
              <a:rPr lang="en-US" sz="1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valued vectors representing  positions</a:t>
            </a:r>
            <a:endParaRPr lang="en-US" sz="1990" dirty="0"/>
          </a:p>
        </p:txBody>
      </p:sp>
      <p:sp>
        <p:nvSpPr>
          <p:cNvPr id="61" name="Text 58"/>
          <p:cNvSpPr/>
          <p:nvPr/>
        </p:nvSpPr>
        <p:spPr>
          <a:xfrm>
            <a:off x="2791427" y="5275379"/>
            <a:ext cx="8128000" cy="379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88"/>
              </a:lnSpc>
              <a:buNone/>
            </a:pPr>
            <a:r>
              <a:rPr lang="en-US" sz="1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(Vector for each position)</a:t>
            </a:r>
            <a:endParaRPr lang="en-US" sz="1990" dirty="0"/>
          </a:p>
        </p:txBody>
      </p:sp>
      <p:sp>
        <p:nvSpPr>
          <p:cNvPr id="62" name="Text 59"/>
          <p:cNvSpPr/>
          <p:nvPr/>
        </p:nvSpPr>
        <p:spPr>
          <a:xfrm>
            <a:off x="2791427" y="5846879"/>
            <a:ext cx="8128000" cy="379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88"/>
              </a:lnSpc>
              <a:buNone/>
            </a:pPr>
            <a:r>
              <a:rPr lang="en-US" sz="1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Length  = Word Embedding length</a:t>
            </a:r>
            <a:endParaRPr lang="en-US" sz="1990" dirty="0"/>
          </a:p>
        </p:txBody>
      </p:sp>
      <p:sp>
        <p:nvSpPr>
          <p:cNvPr id="63" name="Text 60"/>
          <p:cNvSpPr/>
          <p:nvPr/>
        </p:nvSpPr>
        <p:spPr>
          <a:xfrm>
            <a:off x="857077" y="1825159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440" b="1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440" dirty="0"/>
          </a:p>
        </p:txBody>
      </p:sp>
      <p:sp>
        <p:nvSpPr>
          <p:cNvPr id="64" name="Text 61"/>
          <p:cNvSpPr/>
          <p:nvPr/>
        </p:nvSpPr>
        <p:spPr>
          <a:xfrm>
            <a:off x="857077" y="203781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440" b="1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1440" dirty="0"/>
          </a:p>
        </p:txBody>
      </p:sp>
      <p:sp>
        <p:nvSpPr>
          <p:cNvPr id="65" name="Text 62"/>
          <p:cNvSpPr/>
          <p:nvPr/>
        </p:nvSpPr>
        <p:spPr>
          <a:xfrm>
            <a:off x="857077" y="2875123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44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1440" dirty="0"/>
          </a:p>
        </p:txBody>
      </p:sp>
      <p:sp>
        <p:nvSpPr>
          <p:cNvPr id="66" name="Text 63"/>
          <p:cNvSpPr/>
          <p:nvPr/>
        </p:nvSpPr>
        <p:spPr>
          <a:xfrm>
            <a:off x="857077" y="308777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44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2026-10-12T05:26:10Z</dcterms:created>
  <dcterms:modified xsi:type="dcterms:W3CDTF">2026-10-12T05:26:10Z</dcterms:modified>
</cp:coreProperties>
</file>