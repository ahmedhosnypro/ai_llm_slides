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11462" y="1475267"/>
            <a:ext cx="10952934" cy="3070150"/>
          </a:xfrm>
          <a:prstGeom prst="rect">
            <a:avLst/>
          </a:prstGeom>
          <a:solidFill>
            <a:srgbClr val="FFFFFF"/>
          </a:solidFill>
          <a:ln w="19050">
            <a:solidFill>
              <a:srgbClr val="2C24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3963" y="715043"/>
            <a:ext cx="9906000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16"/>
              </a:lnSpc>
              <a:buNone/>
            </a:pPr>
            <a:r>
              <a:rPr lang="en-US" sz="2430" b="1" dirty="0">
                <a:solidFill>
                  <a:srgbClr val="90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Positional Encoders</a:t>
            </a:r>
            <a:endParaRPr lang="en-US" sz="2430" dirty="0"/>
          </a:p>
        </p:txBody>
      </p:sp>
      <p:sp>
        <p:nvSpPr>
          <p:cNvPr id="7" name="Text 5"/>
          <p:cNvSpPr/>
          <p:nvPr/>
        </p:nvSpPr>
        <p:spPr>
          <a:xfrm>
            <a:off x="2445236" y="1120545"/>
            <a:ext cx="8382000" cy="42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76"/>
              </a:lnSpc>
              <a:buNone/>
            </a:pPr>
            <a:r>
              <a:rPr lang="en-US" sz="2230" b="1" dirty="0">
                <a:solidFill>
                  <a:srgbClr val="000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(Use </a:t>
            </a:r>
            <a:pPr algn="ctr" indent="0" marL="0">
              <a:lnSpc>
                <a:spcPts val="2676"/>
              </a:lnSpc>
              <a:buNone/>
            </a:pPr>
            <a:r>
              <a:rPr lang="en-US" sz="2230" b="1" u="sng" dirty="0">
                <a:solidFill>
                  <a:srgbClr val="000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Index</a:t>
            </a:r>
            <a:pPr algn="ctr" indent="0" marL="0">
              <a:lnSpc>
                <a:spcPts val="2676"/>
              </a:lnSpc>
              <a:buNone/>
            </a:pPr>
            <a:r>
              <a:rPr lang="en-US" sz="2230" b="1" dirty="0">
                <a:solidFill>
                  <a:srgbClr val="000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Position Encoding)</a:t>
            </a:r>
            <a:endParaRPr lang="en-US" sz="2230" dirty="0"/>
          </a:p>
        </p:txBody>
      </p:sp>
      <p:sp>
        <p:nvSpPr>
          <p:cNvPr id="8" name="Shape 6"/>
          <p:cNvSpPr/>
          <p:nvPr/>
        </p:nvSpPr>
        <p:spPr>
          <a:xfrm>
            <a:off x="1985533" y="1568302"/>
            <a:ext cx="9486377" cy="518337"/>
          </a:xfrm>
          <a:prstGeom prst="roundRect">
            <a:avLst>
              <a:gd name="adj" fmla="val 10585"/>
            </a:avLst>
          </a:prstGeom>
          <a:solidFill>
            <a:srgbClr val="E5E8E4"/>
          </a:solidFill>
          <a:ln w="12700">
            <a:solidFill>
              <a:srgbClr val="565652"/>
            </a:solidFill>
            <a:prstDash val="sysDash"/>
          </a:ln>
        </p:spPr>
      </p:sp>
      <p:sp>
        <p:nvSpPr>
          <p:cNvPr id="9" name="Shape 7"/>
          <p:cNvSpPr/>
          <p:nvPr/>
        </p:nvSpPr>
        <p:spPr>
          <a:xfrm>
            <a:off x="2170504" y="1674627"/>
            <a:ext cx="779521" cy="292395"/>
          </a:xfrm>
          <a:prstGeom prst="rect">
            <a:avLst/>
          </a:prstGeom>
          <a:solidFill>
            <a:srgbClr val="F2EEDD"/>
          </a:solidFill>
          <a:ln w="12700">
            <a:solidFill>
              <a:srgbClr val="BFA9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70504" y="1674627"/>
            <a:ext cx="779521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0" b="1" i="1" dirty="0">
                <a:solidFill>
                  <a:srgbClr val="7A2C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0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3148209" y="1674627"/>
            <a:ext cx="779521" cy="292395"/>
          </a:xfrm>
          <a:prstGeom prst="rect">
            <a:avLst/>
          </a:prstGeom>
          <a:solidFill>
            <a:srgbClr val="F2EEDD"/>
          </a:solidFill>
          <a:ln w="12700">
            <a:solidFill>
              <a:srgbClr val="BFA9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48209" y="1674627"/>
            <a:ext cx="779521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0" b="1" i="1" dirty="0">
                <a:solidFill>
                  <a:srgbClr val="7A2C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1</a:t>
            </a:r>
            <a:endParaRPr lang="en-US" sz="1520" dirty="0"/>
          </a:p>
        </p:txBody>
      </p:sp>
      <p:sp>
        <p:nvSpPr>
          <p:cNvPr id="13" name="Shape 11"/>
          <p:cNvSpPr/>
          <p:nvPr/>
        </p:nvSpPr>
        <p:spPr>
          <a:xfrm>
            <a:off x="4112701" y="1674627"/>
            <a:ext cx="779521" cy="292395"/>
          </a:xfrm>
          <a:prstGeom prst="rect">
            <a:avLst/>
          </a:prstGeom>
          <a:solidFill>
            <a:srgbClr val="F2EEDD"/>
          </a:solidFill>
          <a:ln w="12700">
            <a:solidFill>
              <a:srgbClr val="BFA9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2701" y="1674627"/>
            <a:ext cx="779521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0" b="1" i="1" dirty="0">
                <a:solidFill>
                  <a:srgbClr val="7A2C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2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5103618" y="1674627"/>
            <a:ext cx="766309" cy="292395"/>
          </a:xfrm>
          <a:prstGeom prst="rect">
            <a:avLst/>
          </a:prstGeom>
          <a:solidFill>
            <a:srgbClr val="F2EEDD"/>
          </a:solidFill>
          <a:ln w="12700">
            <a:solidFill>
              <a:srgbClr val="BFA9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03618" y="1674627"/>
            <a:ext cx="766309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0" b="1" i="1" dirty="0">
                <a:solidFill>
                  <a:srgbClr val="7A2C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3</a:t>
            </a:r>
            <a:endParaRPr lang="en-US" sz="1520" dirty="0"/>
          </a:p>
        </p:txBody>
      </p:sp>
      <p:sp>
        <p:nvSpPr>
          <p:cNvPr id="17" name="Shape 15"/>
          <p:cNvSpPr/>
          <p:nvPr/>
        </p:nvSpPr>
        <p:spPr>
          <a:xfrm>
            <a:off x="6068111" y="1674627"/>
            <a:ext cx="766309" cy="292395"/>
          </a:xfrm>
          <a:prstGeom prst="rect">
            <a:avLst/>
          </a:prstGeom>
          <a:solidFill>
            <a:srgbClr val="F2EEDD"/>
          </a:solidFill>
          <a:ln w="12700">
            <a:solidFill>
              <a:srgbClr val="BFA9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68111" y="1674627"/>
            <a:ext cx="766309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0" b="1" i="1" dirty="0">
                <a:solidFill>
                  <a:srgbClr val="7A2C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4</a:t>
            </a:r>
            <a:endParaRPr lang="en-US" sz="1520" dirty="0"/>
          </a:p>
        </p:txBody>
      </p:sp>
      <p:sp>
        <p:nvSpPr>
          <p:cNvPr id="19" name="Shape 17"/>
          <p:cNvSpPr/>
          <p:nvPr/>
        </p:nvSpPr>
        <p:spPr>
          <a:xfrm>
            <a:off x="7032603" y="1674627"/>
            <a:ext cx="779521" cy="292395"/>
          </a:xfrm>
          <a:prstGeom prst="rect">
            <a:avLst/>
          </a:prstGeom>
          <a:solidFill>
            <a:srgbClr val="F2EEDD"/>
          </a:solidFill>
          <a:ln w="12700">
            <a:solidFill>
              <a:srgbClr val="BFA9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32603" y="1674627"/>
            <a:ext cx="779521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0" b="1" i="1" dirty="0">
                <a:solidFill>
                  <a:srgbClr val="7A2C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5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9516501" y="1674627"/>
            <a:ext cx="845582" cy="292395"/>
          </a:xfrm>
          <a:prstGeom prst="rect">
            <a:avLst/>
          </a:prstGeom>
          <a:solidFill>
            <a:srgbClr val="F2EEDD"/>
          </a:solidFill>
          <a:ln w="12700">
            <a:solidFill>
              <a:srgbClr val="BFA9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16501" y="1674627"/>
            <a:ext cx="845582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0" b="1" i="1" dirty="0">
                <a:solidFill>
                  <a:srgbClr val="7A2C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</a:t>
            </a:r>
            <a:pPr algn="ctr" indent="0" marL="0">
              <a:buNone/>
            </a:pPr>
            <a:r>
              <a:rPr lang="en-US" sz="1200" b="1" i="1" dirty="0">
                <a:solidFill>
                  <a:srgbClr val="7A2C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N-2</a:t>
            </a:r>
            <a:endParaRPr lang="en-US" sz="1520" dirty="0"/>
          </a:p>
        </p:txBody>
      </p:sp>
      <p:sp>
        <p:nvSpPr>
          <p:cNvPr id="23" name="Shape 21"/>
          <p:cNvSpPr/>
          <p:nvPr/>
        </p:nvSpPr>
        <p:spPr>
          <a:xfrm>
            <a:off x="10507418" y="1674627"/>
            <a:ext cx="845582" cy="292395"/>
          </a:xfrm>
          <a:prstGeom prst="rect">
            <a:avLst/>
          </a:prstGeom>
          <a:solidFill>
            <a:srgbClr val="F2EEDD"/>
          </a:solidFill>
          <a:ln w="12700">
            <a:solidFill>
              <a:srgbClr val="BFA9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07418" y="1674627"/>
            <a:ext cx="845582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0" b="1" i="1" dirty="0">
                <a:solidFill>
                  <a:srgbClr val="7A2C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</a:t>
            </a:r>
            <a:pPr algn="ctr" indent="0" marL="0">
              <a:buNone/>
            </a:pPr>
            <a:r>
              <a:rPr lang="en-US" sz="1200" b="1" i="1" dirty="0">
                <a:solidFill>
                  <a:srgbClr val="7A2C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N-1</a:t>
            </a:r>
            <a:endParaRPr lang="en-US" sz="1520" dirty="0"/>
          </a:p>
        </p:txBody>
      </p:sp>
      <p:sp>
        <p:nvSpPr>
          <p:cNvPr id="25" name="Shape 23"/>
          <p:cNvSpPr/>
          <p:nvPr/>
        </p:nvSpPr>
        <p:spPr>
          <a:xfrm>
            <a:off x="8124917" y="1776965"/>
            <a:ext cx="114300" cy="114300"/>
          </a:xfrm>
          <a:prstGeom prst="ellipse">
            <a:avLst/>
          </a:prstGeom>
          <a:solidFill>
            <a:srgbClr val="A6AAA6"/>
          </a:solidFill>
          <a:ln w="3175">
            <a:solidFill>
              <a:srgbClr val="A6AA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62737" y="1776965"/>
            <a:ext cx="114300" cy="114300"/>
          </a:xfrm>
          <a:prstGeom prst="ellipse">
            <a:avLst/>
          </a:prstGeom>
          <a:solidFill>
            <a:srgbClr val="A6AAA6"/>
          </a:solidFill>
          <a:ln w="3175">
            <a:solidFill>
              <a:srgbClr val="A6AA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00557" y="1776965"/>
            <a:ext cx="114300" cy="114300"/>
          </a:xfrm>
          <a:prstGeom prst="ellipse">
            <a:avLst/>
          </a:prstGeom>
          <a:solidFill>
            <a:srgbClr val="A6AAA6"/>
          </a:solidFill>
          <a:ln w="3175">
            <a:solidFill>
              <a:srgbClr val="A6AAA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44983" y="1776965"/>
            <a:ext cx="114300" cy="114300"/>
          </a:xfrm>
          <a:prstGeom prst="ellipse">
            <a:avLst/>
          </a:prstGeom>
          <a:solidFill>
            <a:srgbClr val="A6AAA6"/>
          </a:solidFill>
          <a:ln w="3175">
            <a:solidFill>
              <a:srgbClr val="A6AA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43166" y="1776965"/>
            <a:ext cx="114300" cy="114300"/>
          </a:xfrm>
          <a:prstGeom prst="ellipse">
            <a:avLst/>
          </a:prstGeom>
          <a:solidFill>
            <a:srgbClr val="A6AAA6"/>
          </a:solidFill>
          <a:ln w="3175">
            <a:solidFill>
              <a:srgbClr val="A6AAA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59109" y="2472069"/>
            <a:ext cx="9473165" cy="518337"/>
          </a:xfrm>
          <a:prstGeom prst="roundRect">
            <a:avLst>
              <a:gd name="adj" fmla="val 10585"/>
            </a:avLst>
          </a:prstGeom>
          <a:solidFill>
            <a:srgbClr val="C8C6F8"/>
          </a:solidFill>
          <a:ln w="12700">
            <a:solidFill>
              <a:srgbClr val="241F58"/>
            </a:solidFill>
            <a:prstDash val="sysDash"/>
          </a:ln>
        </p:spPr>
      </p:sp>
      <p:sp>
        <p:nvSpPr>
          <p:cNvPr id="31" name="Shape 29"/>
          <p:cNvSpPr/>
          <p:nvPr/>
        </p:nvSpPr>
        <p:spPr>
          <a:xfrm>
            <a:off x="2130868" y="2591685"/>
            <a:ext cx="766309" cy="285750"/>
          </a:xfrm>
          <a:prstGeom prst="rect">
            <a:avLst/>
          </a:prstGeom>
          <a:ln w="12700">
            <a:solidFill>
              <a:srgbClr val="8482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30868" y="2591685"/>
            <a:ext cx="76630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40" b="1" i="1" dirty="0">
                <a:solidFill>
                  <a:srgbClr val="1008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0</a:t>
            </a:r>
            <a:endParaRPr lang="en-US" sz="1940" dirty="0"/>
          </a:p>
        </p:txBody>
      </p:sp>
      <p:sp>
        <p:nvSpPr>
          <p:cNvPr id="33" name="Shape 31"/>
          <p:cNvSpPr/>
          <p:nvPr/>
        </p:nvSpPr>
        <p:spPr>
          <a:xfrm>
            <a:off x="3095360" y="2591685"/>
            <a:ext cx="779521" cy="285750"/>
          </a:xfrm>
          <a:prstGeom prst="rect">
            <a:avLst/>
          </a:prstGeom>
          <a:ln w="12700">
            <a:solidFill>
              <a:srgbClr val="8482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95360" y="2591685"/>
            <a:ext cx="77952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40" b="1" i="1" dirty="0">
                <a:solidFill>
                  <a:srgbClr val="1008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1</a:t>
            </a:r>
            <a:endParaRPr lang="en-US" sz="1940" dirty="0"/>
          </a:p>
        </p:txBody>
      </p:sp>
      <p:sp>
        <p:nvSpPr>
          <p:cNvPr id="35" name="Shape 33"/>
          <p:cNvSpPr/>
          <p:nvPr/>
        </p:nvSpPr>
        <p:spPr>
          <a:xfrm>
            <a:off x="4073065" y="2591685"/>
            <a:ext cx="779521" cy="285750"/>
          </a:xfrm>
          <a:prstGeom prst="rect">
            <a:avLst/>
          </a:prstGeom>
          <a:ln w="12700">
            <a:solidFill>
              <a:srgbClr val="8482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73065" y="2591685"/>
            <a:ext cx="77952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40" b="1" i="1" dirty="0">
                <a:solidFill>
                  <a:srgbClr val="1008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2</a:t>
            </a:r>
            <a:endParaRPr lang="en-US" sz="1940" dirty="0"/>
          </a:p>
        </p:txBody>
      </p:sp>
      <p:sp>
        <p:nvSpPr>
          <p:cNvPr id="37" name="Shape 35"/>
          <p:cNvSpPr/>
          <p:nvPr/>
        </p:nvSpPr>
        <p:spPr>
          <a:xfrm>
            <a:off x="5050769" y="2591685"/>
            <a:ext cx="766309" cy="285750"/>
          </a:xfrm>
          <a:prstGeom prst="rect">
            <a:avLst/>
          </a:prstGeom>
          <a:ln w="12700">
            <a:solidFill>
              <a:srgbClr val="8482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50769" y="2591685"/>
            <a:ext cx="76630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40" b="1" i="1" dirty="0">
                <a:solidFill>
                  <a:srgbClr val="1008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3</a:t>
            </a:r>
            <a:endParaRPr lang="en-US" sz="1940" dirty="0"/>
          </a:p>
        </p:txBody>
      </p:sp>
      <p:sp>
        <p:nvSpPr>
          <p:cNvPr id="39" name="Shape 37"/>
          <p:cNvSpPr/>
          <p:nvPr/>
        </p:nvSpPr>
        <p:spPr>
          <a:xfrm>
            <a:off x="6015262" y="2591685"/>
            <a:ext cx="779521" cy="285750"/>
          </a:xfrm>
          <a:prstGeom prst="rect">
            <a:avLst/>
          </a:prstGeom>
          <a:ln w="12700">
            <a:solidFill>
              <a:srgbClr val="8482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15262" y="2591685"/>
            <a:ext cx="77952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40" b="1" i="1" dirty="0">
                <a:solidFill>
                  <a:srgbClr val="1008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4</a:t>
            </a:r>
            <a:endParaRPr lang="en-US" sz="1940" dirty="0"/>
          </a:p>
        </p:txBody>
      </p:sp>
      <p:sp>
        <p:nvSpPr>
          <p:cNvPr id="41" name="Shape 39"/>
          <p:cNvSpPr/>
          <p:nvPr/>
        </p:nvSpPr>
        <p:spPr>
          <a:xfrm>
            <a:off x="6992966" y="2591685"/>
            <a:ext cx="766309" cy="285750"/>
          </a:xfrm>
          <a:prstGeom prst="rect">
            <a:avLst/>
          </a:prstGeom>
          <a:ln w="12700">
            <a:solidFill>
              <a:srgbClr val="8482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92966" y="2591685"/>
            <a:ext cx="76630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40" b="1" i="1" dirty="0">
                <a:solidFill>
                  <a:srgbClr val="1008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5</a:t>
            </a:r>
            <a:endParaRPr lang="en-US" sz="1940" dirty="0"/>
          </a:p>
        </p:txBody>
      </p:sp>
      <p:sp>
        <p:nvSpPr>
          <p:cNvPr id="43" name="Shape 41"/>
          <p:cNvSpPr/>
          <p:nvPr/>
        </p:nvSpPr>
        <p:spPr>
          <a:xfrm>
            <a:off x="9463652" y="2591685"/>
            <a:ext cx="845582" cy="285750"/>
          </a:xfrm>
          <a:prstGeom prst="rect">
            <a:avLst/>
          </a:prstGeom>
          <a:ln w="12700">
            <a:solidFill>
              <a:srgbClr val="8482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463652" y="2591685"/>
            <a:ext cx="84558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40" b="1" i="1" dirty="0">
                <a:solidFill>
                  <a:srgbClr val="1008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</a:t>
            </a:r>
            <a:pPr algn="ctr" indent="0" marL="0">
              <a:buNone/>
            </a:pPr>
            <a:r>
              <a:rPr lang="en-US" sz="1600" b="1" i="1" dirty="0">
                <a:solidFill>
                  <a:srgbClr val="1008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N-2</a:t>
            </a:r>
            <a:endParaRPr lang="en-US" sz="1940" dirty="0"/>
          </a:p>
        </p:txBody>
      </p:sp>
      <p:sp>
        <p:nvSpPr>
          <p:cNvPr id="45" name="Shape 43"/>
          <p:cNvSpPr/>
          <p:nvPr/>
        </p:nvSpPr>
        <p:spPr>
          <a:xfrm>
            <a:off x="10454569" y="2591685"/>
            <a:ext cx="845582" cy="285750"/>
          </a:xfrm>
          <a:prstGeom prst="rect">
            <a:avLst/>
          </a:prstGeom>
          <a:ln w="12700">
            <a:solidFill>
              <a:srgbClr val="8482C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454569" y="2591685"/>
            <a:ext cx="84558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40" b="1" i="1" dirty="0">
                <a:solidFill>
                  <a:srgbClr val="1008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</a:t>
            </a:r>
            <a:pPr algn="ctr" indent="0" marL="0">
              <a:buNone/>
            </a:pPr>
            <a:r>
              <a:rPr lang="en-US" sz="1600" b="1" i="1" dirty="0">
                <a:solidFill>
                  <a:srgbClr val="1008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N-1</a:t>
            </a:r>
            <a:endParaRPr lang="en-US" sz="1940" dirty="0"/>
          </a:p>
        </p:txBody>
      </p:sp>
      <p:sp>
        <p:nvSpPr>
          <p:cNvPr id="47" name="Shape 45"/>
          <p:cNvSpPr/>
          <p:nvPr/>
        </p:nvSpPr>
        <p:spPr>
          <a:xfrm>
            <a:off x="8131267" y="2707018"/>
            <a:ext cx="101600" cy="101600"/>
          </a:xfrm>
          <a:prstGeom prst="ellipse">
            <a:avLst/>
          </a:prstGeom>
          <a:solidFill>
            <a:srgbClr val="7A98C2"/>
          </a:solidFill>
          <a:ln w="3175">
            <a:solidFill>
              <a:srgbClr val="7A98C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369087" y="2707018"/>
            <a:ext cx="101600" cy="101600"/>
          </a:xfrm>
          <a:prstGeom prst="ellipse">
            <a:avLst/>
          </a:prstGeom>
          <a:solidFill>
            <a:srgbClr val="7A98C2"/>
          </a:solidFill>
          <a:ln w="3175">
            <a:solidFill>
              <a:srgbClr val="7A98C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606907" y="2707018"/>
            <a:ext cx="101600" cy="101600"/>
          </a:xfrm>
          <a:prstGeom prst="ellipse">
            <a:avLst/>
          </a:prstGeom>
          <a:solidFill>
            <a:srgbClr val="7A98C2"/>
          </a:solidFill>
          <a:ln w="3175">
            <a:solidFill>
              <a:srgbClr val="7A98C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51333" y="2707018"/>
            <a:ext cx="101600" cy="101600"/>
          </a:xfrm>
          <a:prstGeom prst="ellipse">
            <a:avLst/>
          </a:prstGeom>
          <a:solidFill>
            <a:srgbClr val="7A98C2"/>
          </a:solidFill>
          <a:ln w="3175">
            <a:solidFill>
              <a:srgbClr val="7A98C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049516" y="2707018"/>
            <a:ext cx="101600" cy="101600"/>
          </a:xfrm>
          <a:prstGeom prst="ellipse">
            <a:avLst/>
          </a:prstGeom>
          <a:solidFill>
            <a:srgbClr val="7A98C2"/>
          </a:solidFill>
          <a:ln w="3175">
            <a:solidFill>
              <a:srgbClr val="7A98C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59109" y="3482161"/>
            <a:ext cx="9459953" cy="531628"/>
          </a:xfrm>
          <a:prstGeom prst="roundRect">
            <a:avLst>
              <a:gd name="adj" fmla="val 10320"/>
            </a:avLst>
          </a:prstGeom>
          <a:solidFill>
            <a:srgbClr val="F9EDEF"/>
          </a:solidFill>
          <a:ln w="12700">
            <a:solidFill>
              <a:srgbClr val="782C3C"/>
            </a:solidFill>
            <a:prstDash val="sysDash"/>
          </a:ln>
        </p:spPr>
      </p:sp>
      <p:sp>
        <p:nvSpPr>
          <p:cNvPr id="53" name="Shape 51"/>
          <p:cNvSpPr/>
          <p:nvPr/>
        </p:nvSpPr>
        <p:spPr>
          <a:xfrm>
            <a:off x="2104443" y="3615068"/>
            <a:ext cx="792733" cy="285750"/>
          </a:xfrm>
          <a:prstGeom prst="rect">
            <a:avLst/>
          </a:prstGeom>
          <a:solidFill>
            <a:srgbClr val="F7F1E2"/>
          </a:solidFill>
          <a:ln w="12700">
            <a:solidFill>
              <a:srgbClr val="C4A09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104443" y="3615068"/>
            <a:ext cx="79273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4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50" dirty="0"/>
          </a:p>
        </p:txBody>
      </p:sp>
      <p:sp>
        <p:nvSpPr>
          <p:cNvPr id="55" name="Shape 53"/>
          <p:cNvSpPr/>
          <p:nvPr/>
        </p:nvSpPr>
        <p:spPr>
          <a:xfrm>
            <a:off x="3055723" y="3615068"/>
            <a:ext cx="792733" cy="285750"/>
          </a:xfrm>
          <a:prstGeom prst="rect">
            <a:avLst/>
          </a:prstGeom>
          <a:solidFill>
            <a:srgbClr val="F7F1E2"/>
          </a:solidFill>
          <a:ln w="12700">
            <a:solidFill>
              <a:srgbClr val="C4A09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55723" y="3615068"/>
            <a:ext cx="79273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4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50" dirty="0"/>
          </a:p>
        </p:txBody>
      </p:sp>
      <p:sp>
        <p:nvSpPr>
          <p:cNvPr id="57" name="Shape 55"/>
          <p:cNvSpPr/>
          <p:nvPr/>
        </p:nvSpPr>
        <p:spPr>
          <a:xfrm>
            <a:off x="4046640" y="3615068"/>
            <a:ext cx="805946" cy="285750"/>
          </a:xfrm>
          <a:prstGeom prst="rect">
            <a:avLst/>
          </a:prstGeom>
          <a:solidFill>
            <a:srgbClr val="F7F1E2"/>
          </a:solidFill>
          <a:ln w="12700">
            <a:solidFill>
              <a:srgbClr val="C4A09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46640" y="3615068"/>
            <a:ext cx="80594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4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50" dirty="0"/>
          </a:p>
        </p:txBody>
      </p:sp>
      <p:sp>
        <p:nvSpPr>
          <p:cNvPr id="59" name="Shape 57"/>
          <p:cNvSpPr/>
          <p:nvPr/>
        </p:nvSpPr>
        <p:spPr>
          <a:xfrm>
            <a:off x="5011133" y="3615068"/>
            <a:ext cx="792733" cy="285750"/>
          </a:xfrm>
          <a:prstGeom prst="rect">
            <a:avLst/>
          </a:prstGeom>
          <a:solidFill>
            <a:srgbClr val="F7F1E2"/>
          </a:solidFill>
          <a:ln w="12700">
            <a:solidFill>
              <a:srgbClr val="C4A09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11133" y="3615068"/>
            <a:ext cx="79273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4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50" dirty="0"/>
          </a:p>
        </p:txBody>
      </p:sp>
      <p:sp>
        <p:nvSpPr>
          <p:cNvPr id="61" name="Shape 59"/>
          <p:cNvSpPr/>
          <p:nvPr/>
        </p:nvSpPr>
        <p:spPr>
          <a:xfrm>
            <a:off x="6002049" y="3615068"/>
            <a:ext cx="805946" cy="285750"/>
          </a:xfrm>
          <a:prstGeom prst="rect">
            <a:avLst/>
          </a:prstGeom>
          <a:solidFill>
            <a:srgbClr val="F7F1E2"/>
          </a:solidFill>
          <a:ln w="12700">
            <a:solidFill>
              <a:srgbClr val="C4A09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02049" y="3615068"/>
            <a:ext cx="80594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4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50" dirty="0"/>
          </a:p>
        </p:txBody>
      </p:sp>
      <p:sp>
        <p:nvSpPr>
          <p:cNvPr id="63" name="Shape 61"/>
          <p:cNvSpPr/>
          <p:nvPr/>
        </p:nvSpPr>
        <p:spPr>
          <a:xfrm>
            <a:off x="6966542" y="3615068"/>
            <a:ext cx="779521" cy="285750"/>
          </a:xfrm>
          <a:prstGeom prst="rect">
            <a:avLst/>
          </a:prstGeom>
          <a:solidFill>
            <a:srgbClr val="F7F1E2"/>
          </a:solidFill>
          <a:ln w="12700">
            <a:solidFill>
              <a:srgbClr val="C4A09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66542" y="3615068"/>
            <a:ext cx="77952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4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50" dirty="0"/>
          </a:p>
        </p:txBody>
      </p:sp>
      <p:sp>
        <p:nvSpPr>
          <p:cNvPr id="65" name="Shape 63"/>
          <p:cNvSpPr/>
          <p:nvPr/>
        </p:nvSpPr>
        <p:spPr>
          <a:xfrm>
            <a:off x="9437228" y="3615068"/>
            <a:ext cx="858795" cy="285750"/>
          </a:xfrm>
          <a:prstGeom prst="rect">
            <a:avLst/>
          </a:prstGeom>
          <a:solidFill>
            <a:srgbClr val="F7F1E2"/>
          </a:solidFill>
          <a:ln w="12700">
            <a:solidFill>
              <a:srgbClr val="C4A09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437228" y="3615068"/>
            <a:ext cx="85879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4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850" dirty="0"/>
          </a:p>
        </p:txBody>
      </p:sp>
      <p:sp>
        <p:nvSpPr>
          <p:cNvPr id="67" name="Shape 65"/>
          <p:cNvSpPr/>
          <p:nvPr/>
        </p:nvSpPr>
        <p:spPr>
          <a:xfrm>
            <a:off x="10428145" y="3615068"/>
            <a:ext cx="872007" cy="285750"/>
          </a:xfrm>
          <a:prstGeom prst="rect">
            <a:avLst/>
          </a:prstGeom>
          <a:solidFill>
            <a:srgbClr val="F7F1E2"/>
          </a:solidFill>
          <a:ln w="12700">
            <a:solidFill>
              <a:srgbClr val="C4A09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428145" y="3615068"/>
            <a:ext cx="87200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4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850" dirty="0"/>
          </a:p>
        </p:txBody>
      </p:sp>
      <p:sp>
        <p:nvSpPr>
          <p:cNvPr id="69" name="Shape 67"/>
          <p:cNvSpPr/>
          <p:nvPr/>
        </p:nvSpPr>
        <p:spPr>
          <a:xfrm flipV="1">
            <a:off x="3346392" y="4033725"/>
            <a:ext cx="184971" cy="-106326"/>
          </a:xfrm>
          <a:prstGeom prst="line">
            <a:avLst/>
          </a:prstGeom>
          <a:noFill/>
          <a:ln w="25400">
            <a:solidFill>
              <a:srgbClr val="BC621E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 flipV="1">
            <a:off x="4337309" y="4033725"/>
            <a:ext cx="132122" cy="-106326"/>
          </a:xfrm>
          <a:prstGeom prst="line">
            <a:avLst/>
          </a:prstGeom>
          <a:noFill/>
          <a:ln w="25400">
            <a:solidFill>
              <a:srgbClr val="BC621E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 flipV="1">
            <a:off x="5288589" y="4033725"/>
            <a:ext cx="158547" cy="-106326"/>
          </a:xfrm>
          <a:prstGeom prst="line">
            <a:avLst/>
          </a:prstGeom>
          <a:noFill/>
          <a:ln w="25400">
            <a:solidFill>
              <a:srgbClr val="BC621E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 flipV="1">
            <a:off x="6292718" y="4033725"/>
            <a:ext cx="105698" cy="-106326"/>
          </a:xfrm>
          <a:prstGeom prst="line">
            <a:avLst/>
          </a:prstGeom>
          <a:noFill/>
          <a:ln w="25400">
            <a:solidFill>
              <a:srgbClr val="BC621E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 flipV="1">
            <a:off x="7257211" y="4033725"/>
            <a:ext cx="105698" cy="-106326"/>
          </a:xfrm>
          <a:prstGeom prst="line">
            <a:avLst/>
          </a:prstGeom>
          <a:noFill/>
          <a:ln w="25400">
            <a:solidFill>
              <a:srgbClr val="BC621E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 flipV="1">
            <a:off x="10758450" y="4033725"/>
            <a:ext cx="118910" cy="-106326"/>
          </a:xfrm>
          <a:prstGeom prst="line">
            <a:avLst/>
          </a:prstGeom>
          <a:noFill/>
          <a:ln w="25400">
            <a:solidFill>
              <a:srgbClr val="BC621E"/>
            </a:solidFill>
            <a:prstDash val="solid"/>
            <a:tailEnd type="triangle"/>
          </a:ln>
        </p:spPr>
      </p:sp>
      <p:sp>
        <p:nvSpPr>
          <p:cNvPr id="75" name="Text 73"/>
          <p:cNvSpPr/>
          <p:nvPr/>
        </p:nvSpPr>
        <p:spPr>
          <a:xfrm>
            <a:off x="2504448" y="4132177"/>
            <a:ext cx="50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8A24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8A24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3422698" y="4132177"/>
            <a:ext cx="50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8A24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8A24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endParaRPr lang="en-US" sz="1800" dirty="0"/>
          </a:p>
        </p:txBody>
      </p:sp>
      <p:sp>
        <p:nvSpPr>
          <p:cNvPr id="77" name="Text 75"/>
          <p:cNvSpPr/>
          <p:nvPr/>
        </p:nvSpPr>
        <p:spPr>
          <a:xfrm>
            <a:off x="4506100" y="4132177"/>
            <a:ext cx="50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8A24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8A24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5497017" y="4132177"/>
            <a:ext cx="50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8A24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8A24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endParaRPr lang="en-US" sz="1800" dirty="0"/>
          </a:p>
        </p:txBody>
      </p:sp>
      <p:sp>
        <p:nvSpPr>
          <p:cNvPr id="79" name="Text 77"/>
          <p:cNvSpPr/>
          <p:nvPr/>
        </p:nvSpPr>
        <p:spPr>
          <a:xfrm>
            <a:off x="6448297" y="4132177"/>
            <a:ext cx="50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8A24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8A24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endParaRPr lang="en-US" sz="1800" dirty="0"/>
          </a:p>
        </p:txBody>
      </p:sp>
      <p:sp>
        <p:nvSpPr>
          <p:cNvPr id="80" name="Text 78"/>
          <p:cNvSpPr/>
          <p:nvPr/>
        </p:nvSpPr>
        <p:spPr>
          <a:xfrm>
            <a:off x="9995780" y="4132177"/>
            <a:ext cx="50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8A24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8A24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624674" y="4625161"/>
            <a:ext cx="10926510" cy="2060057"/>
          </a:xfrm>
          <a:prstGeom prst="roundRect">
            <a:avLst>
              <a:gd name="adj" fmla="val 3995"/>
            </a:avLst>
          </a:prstGeom>
          <a:solidFill>
            <a:srgbClr val="E8FBF8"/>
          </a:solidFill>
          <a:ln w="19050">
            <a:solidFill>
              <a:srgbClr val="1C1C7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22857" y="4822751"/>
            <a:ext cx="190500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4"/>
              </a:lnSpc>
              <a:buNone/>
            </a:pPr>
            <a:r>
              <a:rPr lang="en-US" sz="1620" i="1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algn="l" indent="0" marL="0">
              <a:lnSpc>
                <a:spcPts val="1944"/>
              </a:lnSpc>
              <a:buNone/>
            </a:pPr>
            <a:r>
              <a:rPr lang="en-US" sz="1620" b="1" i="1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pPr algn="l" indent="0" marL="0">
              <a:lnSpc>
                <a:spcPts val="1944"/>
              </a:lnSpc>
              <a:buNone/>
            </a:pPr>
            <a:r>
              <a:rPr lang="en-US" sz="1620" i="1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</a:t>
            </a:r>
            <a:endParaRPr lang="en-US" sz="1620" dirty="0"/>
          </a:p>
        </p:txBody>
      </p:sp>
      <p:sp>
        <p:nvSpPr>
          <p:cNvPr id="83" name="Text 81"/>
          <p:cNvSpPr/>
          <p:nvPr/>
        </p:nvSpPr>
        <p:spPr>
          <a:xfrm>
            <a:off x="2236565" y="4817326"/>
            <a:ext cx="8382000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6"/>
              </a:lnSpc>
              <a:buNone/>
            </a:pPr>
            <a:r>
              <a:rPr lang="en-US" sz="1780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position Encoding =</a:t>
            </a:r>
            <a:pPr algn="l" indent="0" marL="0">
              <a:lnSpc>
                <a:spcPts val="2136"/>
              </a:lnSpc>
              <a:buNone/>
            </a:pPr>
            <a:r>
              <a:rPr lang="en-US" sz="1780" b="1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algn="l" indent="0" marL="0">
              <a:lnSpc>
                <a:spcPts val="2136"/>
              </a:lnSpc>
              <a:buNone/>
            </a:pPr>
            <a:r>
              <a:rPr lang="en-US" sz="1780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Last Position Encoding = </a:t>
            </a:r>
            <a:pPr algn="l" indent="0" marL="0">
              <a:lnSpc>
                <a:spcPts val="2136"/>
              </a:lnSpc>
              <a:buNone/>
            </a:pPr>
            <a:r>
              <a:rPr lang="en-US" sz="1780" b="1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pPr algn="l" indent="0" marL="0">
              <a:lnSpc>
                <a:spcPts val="2136"/>
              </a:lnSpc>
              <a:buNone/>
            </a:pPr>
            <a:r>
              <a:rPr lang="en-US" sz="1780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lnSpc>
                <a:spcPts val="2136"/>
              </a:lnSpc>
              <a:buNone/>
            </a:pPr>
            <a:r>
              <a:rPr lang="en-US" sz="1780" u="sng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(Depends on Seq. Length)</a:t>
            </a:r>
            <a:endParaRPr lang="en-US" sz="1780" dirty="0"/>
          </a:p>
        </p:txBody>
      </p:sp>
      <p:sp>
        <p:nvSpPr>
          <p:cNvPr id="84" name="Text 82"/>
          <p:cNvSpPr/>
          <p:nvPr/>
        </p:nvSpPr>
        <p:spPr>
          <a:xfrm>
            <a:off x="822857" y="5122333"/>
            <a:ext cx="2540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8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Problems: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1060677" y="5402455"/>
            <a:ext cx="10414000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770" b="1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 is large</a:t>
            </a:r>
            <a:pPr algn="l" indent="0" marL="0">
              <a:lnSpc>
                <a:spcPts val="2124"/>
              </a:lnSpc>
              <a:buNone/>
            </a:pPr>
            <a:r>
              <a:rPr lang="en-US" sz="1770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 e.g. seq. Length = 1024 ) </a:t>
            </a:r>
            <a:pPr algn="l" indent="0" marL="0">
              <a:lnSpc>
                <a:spcPts val="2124"/>
              </a:lnSpc>
              <a:buNone/>
            </a:pPr>
            <a:r>
              <a:rPr lang="en-US" sz="1770" b="1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position Values will dominate</a:t>
            </a:r>
            <a:pPr algn="l" indent="0" marL="0">
              <a:lnSpc>
                <a:spcPts val="2124"/>
              </a:lnSpc>
              <a:buNone/>
            </a:pPr>
            <a:r>
              <a:rPr lang="en-US" sz="1770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Combine Position</a:t>
            </a:r>
            <a:endParaRPr lang="en-US" sz="1770" dirty="0"/>
          </a:p>
        </p:txBody>
      </p:sp>
      <p:sp>
        <p:nvSpPr>
          <p:cNvPr id="86" name="Text 84"/>
          <p:cNvSpPr/>
          <p:nvPr/>
        </p:nvSpPr>
        <p:spPr>
          <a:xfrm>
            <a:off x="1060677" y="5694850"/>
            <a:ext cx="5080000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770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to Word Embedding</a:t>
            </a:r>
            <a:endParaRPr lang="en-US" sz="1770" dirty="0"/>
          </a:p>
        </p:txBody>
      </p:sp>
      <p:sp>
        <p:nvSpPr>
          <p:cNvPr id="87" name="Text 85"/>
          <p:cNvSpPr/>
          <p:nvPr/>
        </p:nvSpPr>
        <p:spPr>
          <a:xfrm>
            <a:off x="1047465" y="5987246"/>
            <a:ext cx="10414000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770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System is trained with Max seq length =256 </a:t>
            </a:r>
            <a:pPr algn="l" indent="0" marL="0">
              <a:lnSpc>
                <a:spcPts val="2124"/>
              </a:lnSpc>
              <a:buNone/>
            </a:pPr>
            <a:r>
              <a:rPr lang="en-US" sz="1770" b="1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the system deal with Larger sequence values</a:t>
            </a:r>
            <a:endParaRPr lang="en-US" sz="1770" dirty="0"/>
          </a:p>
        </p:txBody>
      </p:sp>
      <p:sp>
        <p:nvSpPr>
          <p:cNvPr id="88" name="Text 86"/>
          <p:cNvSpPr/>
          <p:nvPr/>
        </p:nvSpPr>
        <p:spPr>
          <a:xfrm>
            <a:off x="1047465" y="6266350"/>
            <a:ext cx="8890000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770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Encoding is </a:t>
            </a:r>
            <a:pPr algn="l" indent="0" marL="0">
              <a:lnSpc>
                <a:spcPts val="2124"/>
              </a:lnSpc>
              <a:buNone/>
            </a:pPr>
            <a:r>
              <a:rPr lang="en-US" sz="1770" b="1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scalar</a:t>
            </a:r>
            <a:pPr algn="l" indent="0" marL="0">
              <a:lnSpc>
                <a:spcPts val="2124"/>
              </a:lnSpc>
              <a:buNone/>
            </a:pPr>
            <a:r>
              <a:rPr lang="en-US" sz="1770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Word embedding is </a:t>
            </a:r>
            <a:pPr algn="l" indent="0" marL="0">
              <a:lnSpc>
                <a:spcPts val="2124"/>
              </a:lnSpc>
              <a:buNone/>
            </a:pPr>
            <a:r>
              <a:rPr lang="en-US" sz="1770" b="1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pPr algn="l" indent="0" marL="0">
              <a:lnSpc>
                <a:spcPts val="2124"/>
              </a:lnSpc>
              <a:buNone/>
            </a:pPr>
            <a:r>
              <a:rPr lang="en-US" sz="1770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(how to Combine them ?)</a:t>
            </a:r>
            <a:endParaRPr lang="en-US" sz="1770" dirty="0"/>
          </a:p>
        </p:txBody>
      </p:sp>
      <p:sp>
        <p:nvSpPr>
          <p:cNvPr id="89" name="Shape 87"/>
          <p:cNvSpPr/>
          <p:nvPr/>
        </p:nvSpPr>
        <p:spPr>
          <a:xfrm>
            <a:off x="814101" y="5507293"/>
            <a:ext cx="57150" cy="6985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14101" y="6078793"/>
            <a:ext cx="57150" cy="6985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14101" y="6371188"/>
            <a:ext cx="57150" cy="6985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09645" y="1487739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i="1" dirty="0">
                <a:solidFill>
                  <a:srgbClr val="909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of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809645" y="1687099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i="1" dirty="0">
                <a:solidFill>
                  <a:srgbClr val="909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with</a:t>
            </a:r>
            <a:endParaRPr lang="en-US" sz="1200" dirty="0"/>
          </a:p>
        </p:txBody>
      </p:sp>
      <p:sp>
        <p:nvSpPr>
          <p:cNvPr id="94" name="Text 92"/>
          <p:cNvSpPr/>
          <p:nvPr/>
        </p:nvSpPr>
        <p:spPr>
          <a:xfrm>
            <a:off x="809645" y="1899750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i="1" dirty="0">
                <a:solidFill>
                  <a:srgbClr val="909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N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796433" y="2513835"/>
            <a:ext cx="127000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120" b="1" dirty="0">
                <a:solidFill>
                  <a:srgbClr val="1A1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120" dirty="0"/>
          </a:p>
        </p:txBody>
      </p:sp>
      <p:sp>
        <p:nvSpPr>
          <p:cNvPr id="96" name="Text 94"/>
          <p:cNvSpPr/>
          <p:nvPr/>
        </p:nvSpPr>
        <p:spPr>
          <a:xfrm>
            <a:off x="796433" y="2693259"/>
            <a:ext cx="127000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120" b="1" dirty="0">
                <a:solidFill>
                  <a:srgbClr val="1A1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120" dirty="0"/>
          </a:p>
        </p:txBody>
      </p:sp>
      <p:sp>
        <p:nvSpPr>
          <p:cNvPr id="97" name="Text 95"/>
          <p:cNvSpPr/>
          <p:nvPr/>
        </p:nvSpPr>
        <p:spPr>
          <a:xfrm>
            <a:off x="770008" y="3468052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i="1" dirty="0">
                <a:solidFill>
                  <a:srgbClr val="7C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Position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770008" y="3707284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i="1" dirty="0">
                <a:solidFill>
                  <a:srgbClr val="7C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2026-10-12T09:24:04Z</dcterms:created>
  <dcterms:modified xsi:type="dcterms:W3CDTF">2026-10-12T09:24:04Z</dcterms:modified>
</cp:coreProperties>
</file>