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21630" y="1342390"/>
            <a:ext cx="4373880" cy="2485390"/>
          </a:xfrm>
          <a:prstGeom prst="rect">
            <a:avLst/>
          </a:prstGeom>
          <a:solidFill>
            <a:srgbClr val="FCFF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20300" y="1342390"/>
            <a:ext cx="1452880" cy="2471420"/>
          </a:xfrm>
          <a:prstGeom prst="rect">
            <a:avLst/>
          </a:prstGeom>
          <a:solidFill>
            <a:srgbClr val="FCFF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13450" y="3949700"/>
            <a:ext cx="5327650" cy="2832100"/>
          </a:xfrm>
          <a:prstGeom prst="rect">
            <a:avLst/>
          </a:prstGeom>
          <a:solidFill>
            <a:srgbClr val="E9FEF9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21140" y="4598670"/>
            <a:ext cx="2061210" cy="651510"/>
          </a:xfrm>
          <a:prstGeom prst="roundRect">
            <a:avLst>
              <a:gd name="adj" fmla="val 7018"/>
            </a:avLst>
          </a:prstGeom>
          <a:solidFill>
            <a:srgbClr val="FDFDF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140" y="3017520"/>
            <a:ext cx="1955800" cy="1262380"/>
          </a:xfrm>
          <a:prstGeom prst="rect">
            <a:avLst/>
          </a:prstGeom>
          <a:solidFill>
            <a:srgbClr val="E0F8E8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7870" y="1621790"/>
            <a:ext cx="530860" cy="5182870"/>
          </a:xfrm>
          <a:prstGeom prst="rect">
            <a:avLst/>
          </a:prstGeom>
          <a:solidFill>
            <a:srgbClr val="FCFEE9"/>
          </a:solidFill>
          <a:ln w="12700">
            <a:solidFill>
              <a:srgbClr val="FCF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0760" y="1692910"/>
            <a:ext cx="1216660" cy="1144270"/>
          </a:xfrm>
          <a:prstGeom prst="roundRect">
            <a:avLst>
              <a:gd name="adj" fmla="val 4795"/>
            </a:avLst>
          </a:prstGeom>
          <a:solidFill>
            <a:srgbClr val="655241"/>
          </a:solidFill>
          <a:ln w="12700">
            <a:solidFill>
              <a:srgbClr val="6552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010" y="1661160"/>
            <a:ext cx="1216660" cy="1144270"/>
          </a:xfrm>
          <a:prstGeom prst="roundRect">
            <a:avLst>
              <a:gd name="adj" fmla="val 4795"/>
            </a:avLst>
          </a:prstGeom>
          <a:solidFill>
            <a:srgbClr val="E1E0D6"/>
          </a:solidFill>
          <a:ln w="25400">
            <a:solidFill>
              <a:srgbClr val="7F6B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1290" y="1661160"/>
            <a:ext cx="373380" cy="758190"/>
          </a:xfrm>
          <a:prstGeom prst="roundRect">
            <a:avLst>
              <a:gd name="adj" fmla="val 12245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1290" y="2578100"/>
            <a:ext cx="373380" cy="759460"/>
          </a:xfrm>
          <a:prstGeom prst="roundRect">
            <a:avLst>
              <a:gd name="adj" fmla="val 12245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01290" y="3429000"/>
            <a:ext cx="373380" cy="797560"/>
          </a:xfrm>
          <a:prstGeom prst="roundRect">
            <a:avLst>
              <a:gd name="adj" fmla="val 12245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01290" y="4705350"/>
            <a:ext cx="373380" cy="798830"/>
          </a:xfrm>
          <a:prstGeom prst="roundRect">
            <a:avLst>
              <a:gd name="adj" fmla="val 12245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980" y="5980430"/>
            <a:ext cx="608330" cy="797560"/>
          </a:xfrm>
          <a:prstGeom prst="roundRect">
            <a:avLst>
              <a:gd name="adj" fmla="val 7516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11930" y="1661160"/>
            <a:ext cx="1093470" cy="784860"/>
          </a:xfrm>
          <a:prstGeom prst="roundRect">
            <a:avLst>
              <a:gd name="adj" fmla="val 5825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11930" y="2578100"/>
            <a:ext cx="1093470" cy="744220"/>
          </a:xfrm>
          <a:prstGeom prst="roundRect">
            <a:avLst>
              <a:gd name="adj" fmla="val 6143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11930" y="3429000"/>
            <a:ext cx="1093470" cy="797560"/>
          </a:xfrm>
          <a:prstGeom prst="roundRect">
            <a:avLst>
              <a:gd name="adj" fmla="val 5732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11930" y="4705350"/>
            <a:ext cx="1093470" cy="770890"/>
          </a:xfrm>
          <a:prstGeom prst="roundRect">
            <a:avLst>
              <a:gd name="adj" fmla="val 5931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1930" y="5980430"/>
            <a:ext cx="1093470" cy="797560"/>
          </a:xfrm>
          <a:prstGeom prst="roundRect">
            <a:avLst>
              <a:gd name="adj" fmla="val 5732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7440" y="1780540"/>
            <a:ext cx="27940" cy="9042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7440" y="17805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7440" y="26568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28190" y="1780540"/>
            <a:ext cx="27940" cy="9042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92630" y="17805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92630" y="26568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51910" y="1621790"/>
            <a:ext cx="27940" cy="518287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16350" y="162179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6350" y="677672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22240" y="1595120"/>
            <a:ext cx="27940" cy="5196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86680" y="159512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86680" y="676402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5110" y="43027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5110" y="44551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85110" y="46075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85110" y="55473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85110" y="56997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85110" y="58521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34899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36423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37947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48742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50266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51790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41220" y="540385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8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Sin/Cos Positional Encoder</a:t>
            </a:r>
            <a:endParaRPr lang="en-US" sz="1880" dirty="0"/>
          </a:p>
        </p:txBody>
      </p:sp>
      <p:sp>
        <p:nvSpPr>
          <p:cNvPr id="48" name="Text 46"/>
          <p:cNvSpPr/>
          <p:nvPr/>
        </p:nvSpPr>
        <p:spPr>
          <a:xfrm>
            <a:off x="1539240" y="843915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2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Vector with Same dimension as Embedding dimension</a:t>
            </a:r>
            <a:endParaRPr lang="en-US" sz="2220" dirty="0"/>
          </a:p>
        </p:txBody>
      </p:sp>
      <p:sp>
        <p:nvSpPr>
          <p:cNvPr id="49" name="Text 47"/>
          <p:cNvSpPr/>
          <p:nvPr/>
        </p:nvSpPr>
        <p:spPr>
          <a:xfrm>
            <a:off x="2032000" y="1234675"/>
            <a:ext cx="1524000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032000" y="1435335"/>
            <a:ext cx="1524000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“K”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813050" y="1468971"/>
            <a:ext cx="1524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“i”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506980" y="199409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506980" y="287166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2506980" y="377590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2506980" y="502431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2367280" y="6366707"/>
            <a:ext cx="1143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[d/2]-1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2921000" y="168356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921000" y="218775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921000" y="257383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921000" y="306532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921000" y="347680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921000" y="394289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921000" y="439628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921000" y="474045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921000" y="519130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2k+1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921000" y="601553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d-1-1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921000" y="646765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999490" y="1804600"/>
            <a:ext cx="1143000" cy="39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sin(ωt)</a:t>
            </a:r>
            <a:endParaRPr lang="en-US" sz="1850" dirty="0"/>
          </a:p>
        </p:txBody>
      </p:sp>
      <p:sp>
        <p:nvSpPr>
          <p:cNvPr id="69" name="Text 67"/>
          <p:cNvSpPr/>
          <p:nvPr/>
        </p:nvSpPr>
        <p:spPr>
          <a:xfrm>
            <a:off x="999490" y="2324030"/>
            <a:ext cx="1143000" cy="39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cos(ωt)</a:t>
            </a:r>
            <a:endParaRPr lang="en-US" sz="1850" dirty="0"/>
          </a:p>
        </p:txBody>
      </p:sp>
      <p:pic>
        <p:nvPicPr>
          <p:cNvPr id="70" name="Image 0" descr="/home/ahmed/Projects/ai_llm_slides/videos/deep-learning/002_transformers_part2/recreated_pptx/build/assets/p33_s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0416" y="1774953"/>
            <a:ext cx="810768" cy="216408"/>
          </a:xfrm>
          <a:prstGeom prst="rect">
            <a:avLst/>
          </a:prstGeom>
        </p:spPr>
      </p:pic>
      <p:pic>
        <p:nvPicPr>
          <p:cNvPr id="71" name="Image 1" descr="/home/ahmed/Projects/ai_llm_slides/videos/deep-learning/002_transformers_part2/recreated_pptx/build/assets/p33_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70" y="2206753"/>
            <a:ext cx="861060" cy="216408"/>
          </a:xfrm>
          <a:prstGeom prst="rect">
            <a:avLst/>
          </a:prstGeom>
        </p:spPr>
      </p:pic>
      <p:pic>
        <p:nvPicPr>
          <p:cNvPr id="72" name="Image 2" descr="/home/ahmed/Projects/ai_llm_slides/videos/deep-learning/002_transformers_part2/recreated_pptx/build/assets/p33_s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416" y="2619501"/>
            <a:ext cx="810768" cy="214884"/>
          </a:xfrm>
          <a:prstGeom prst="rect">
            <a:avLst/>
          </a:prstGeom>
        </p:spPr>
      </p:pic>
      <p:pic>
        <p:nvPicPr>
          <p:cNvPr id="73" name="Image 3" descr="/home/ahmed/Projects/ai_llm_slides/videos/deep-learning/002_transformers_part2/recreated_pptx/build/assets/p33_c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270" y="3090671"/>
            <a:ext cx="861060" cy="214884"/>
          </a:xfrm>
          <a:prstGeom prst="rect">
            <a:avLst/>
          </a:prstGeom>
        </p:spPr>
      </p:pic>
      <p:pic>
        <p:nvPicPr>
          <p:cNvPr id="74" name="Image 4" descr="/home/ahmed/Projects/ai_llm_slides/videos/deep-learning/002_transformers_part2/recreated_pptx/build/assets/p33_s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748" y="3516121"/>
            <a:ext cx="832104" cy="214884"/>
          </a:xfrm>
          <a:prstGeom prst="rect">
            <a:avLst/>
          </a:prstGeom>
        </p:spPr>
      </p:pic>
      <p:pic>
        <p:nvPicPr>
          <p:cNvPr id="75" name="Image 5" descr="/home/ahmed/Projects/ai_llm_slides/videos/deep-learning/002_transformers_part2/recreated_pptx/build/assets/p33_c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270" y="3968241"/>
            <a:ext cx="861060" cy="214884"/>
          </a:xfrm>
          <a:prstGeom prst="rect">
            <a:avLst/>
          </a:prstGeom>
        </p:spPr>
      </p:pic>
      <p:pic>
        <p:nvPicPr>
          <p:cNvPr id="76" name="Image 6" descr="/home/ahmed/Projects/ai_llm_slides/videos/deep-learning/002_transformers_part2/recreated_pptx/build/assets/p33_s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4988" y="4786121"/>
            <a:ext cx="801624" cy="214884"/>
          </a:xfrm>
          <a:prstGeom prst="rect">
            <a:avLst/>
          </a:prstGeom>
        </p:spPr>
      </p:pic>
      <p:pic>
        <p:nvPicPr>
          <p:cNvPr id="77" name="Image 7" descr="/home/ahmed/Projects/ai_llm_slides/videos/deep-learning/002_transformers_part2/recreated_pptx/build/assets/p33_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9080" y="5224271"/>
            <a:ext cx="853440" cy="214884"/>
          </a:xfrm>
          <a:prstGeom prst="rect">
            <a:avLst/>
          </a:prstGeom>
        </p:spPr>
      </p:pic>
      <p:pic>
        <p:nvPicPr>
          <p:cNvPr id="78" name="Image 8" descr="/home/ahmed/Projects/ai_llm_slides/videos/deep-learning/002_transformers_part2/recreated_pptx/build/assets/p33_sd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9550" y="6048501"/>
            <a:ext cx="952500" cy="228600"/>
          </a:xfrm>
          <a:prstGeom prst="rect">
            <a:avLst/>
          </a:prstGeom>
        </p:spPr>
      </p:pic>
      <p:pic>
        <p:nvPicPr>
          <p:cNvPr id="79" name="Image 9" descr="/home/ahmed/Projects/ai_llm_slides/videos/deep-learning/002_transformers_part2/recreated_pptx/build/assets/p33_cd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3642" y="6513321"/>
            <a:ext cx="1004316" cy="228600"/>
          </a:xfrm>
          <a:prstGeom prst="rect">
            <a:avLst/>
          </a:prstGeom>
        </p:spPr>
      </p:pic>
      <p:sp>
        <p:nvSpPr>
          <p:cNvPr id="80" name="Text 68"/>
          <p:cNvSpPr/>
          <p:nvPr/>
        </p:nvSpPr>
        <p:spPr>
          <a:xfrm>
            <a:off x="508000" y="3078563"/>
            <a:ext cx="2159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pairs</a:t>
            </a:r>
            <a:endParaRPr lang="en-US" sz="1450" dirty="0"/>
          </a:p>
        </p:txBody>
      </p:sp>
      <p:sp>
        <p:nvSpPr>
          <p:cNvPr id="81" name="Text 69"/>
          <p:cNvSpPr/>
          <p:nvPr/>
        </p:nvSpPr>
        <p:spPr>
          <a:xfrm>
            <a:off x="508000" y="3291923"/>
            <a:ext cx="2159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Represents</a:t>
            </a:r>
            <a:endParaRPr lang="en-US" sz="1450" dirty="0"/>
          </a:p>
        </p:txBody>
      </p:sp>
      <p:sp>
        <p:nvSpPr>
          <p:cNvPr id="82" name="Text 70"/>
          <p:cNvSpPr/>
          <p:nvPr/>
        </p:nvSpPr>
        <p:spPr>
          <a:xfrm>
            <a:off x="508000" y="3488773"/>
            <a:ext cx="2159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</a:t>
            </a:r>
            <a:pPr algn="ctr"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“t”</a:t>
            </a:r>
            <a:endParaRPr lang="en-US" sz="1450" dirty="0"/>
          </a:p>
        </p:txBody>
      </p:sp>
      <p:sp>
        <p:nvSpPr>
          <p:cNvPr id="83" name="Text 71"/>
          <p:cNvSpPr/>
          <p:nvPr/>
        </p:nvSpPr>
        <p:spPr>
          <a:xfrm>
            <a:off x="381000" y="3933273"/>
            <a:ext cx="2413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“</a:t>
            </a:r>
            <a:pPr algn="ctr" indent="0" marL="0">
              <a:buNone/>
            </a:pPr>
            <a:r>
              <a:rPr lang="en-US" sz="14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ctr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is accepted</a:t>
            </a:r>
            <a:endParaRPr lang="en-US" sz="1450" dirty="0"/>
          </a:p>
        </p:txBody>
      </p:sp>
      <p:sp>
        <p:nvSpPr>
          <p:cNvPr id="84" name="Text 72"/>
          <p:cNvSpPr/>
          <p:nvPr/>
        </p:nvSpPr>
        <p:spPr>
          <a:xfrm>
            <a:off x="5527040" y="150495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Word 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Embedding Dimension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“d”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indent="0" marL="0">
              <a:buNone/>
            </a:pPr>
            <a:r>
              <a:rPr lang="en-US" sz="1300" b="1" i="1" dirty="0">
                <a:solidFill>
                  <a:srgbClr val="00B0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[Even Num]</a:t>
            </a:r>
            <a:endParaRPr lang="en-US" sz="1300" dirty="0"/>
          </a:p>
        </p:txBody>
      </p:sp>
      <p:sp>
        <p:nvSpPr>
          <p:cNvPr id="85" name="Text 73"/>
          <p:cNvSpPr/>
          <p:nvPr/>
        </p:nvSpPr>
        <p:spPr>
          <a:xfrm>
            <a:off x="5527040" y="186309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Position 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Encoding Dimension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“d”</a:t>
            </a:r>
            <a:endParaRPr lang="en-US" sz="1300" dirty="0"/>
          </a:p>
        </p:txBody>
      </p:sp>
      <p:sp>
        <p:nvSpPr>
          <p:cNvPr id="86" name="Text 74"/>
          <p:cNvSpPr/>
          <p:nvPr/>
        </p:nvSpPr>
        <p:spPr>
          <a:xfrm>
            <a:off x="5527040" y="237363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Number of Vector Pairs “</a:t>
            </a:r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K”=d/2</a:t>
            </a:r>
            <a:pPr indent="0" marL="0">
              <a:buNone/>
            </a:pPr>
            <a:r>
              <a:rPr lang="en-US" sz="8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[0, 1, 2,... d/2-1]</a:t>
            </a:r>
            <a:endParaRPr lang="en-US" sz="1300" dirty="0"/>
          </a:p>
        </p:txBody>
      </p:sp>
      <p:sp>
        <p:nvSpPr>
          <p:cNvPr id="87" name="Text 75"/>
          <p:cNvSpPr/>
          <p:nvPr/>
        </p:nvSpPr>
        <p:spPr>
          <a:xfrm>
            <a:off x="5527040" y="286385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Elements Index </a:t>
            </a:r>
            <a:pPr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“i”</a:t>
            </a:r>
            <a:pPr indent="0" marL="0">
              <a:buNone/>
            </a:pPr>
            <a:r>
              <a:rPr lang="en-US" sz="8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[0, 1, 2, ..., d-1]</a:t>
            </a:r>
            <a:endParaRPr lang="en-US" sz="1300" dirty="0"/>
          </a:p>
        </p:txBody>
      </p:sp>
      <p:sp>
        <p:nvSpPr>
          <p:cNvPr id="88" name="Text 76"/>
          <p:cNvSpPr/>
          <p:nvPr/>
        </p:nvSpPr>
        <p:spPr>
          <a:xfrm>
            <a:off x="5527040" y="321056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Even 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Index </a:t>
            </a:r>
            <a:pPr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“i”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is </a:t>
            </a:r>
            <a:pPr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Sine Term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, 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i=2*k</a:t>
            </a:r>
            <a:endParaRPr lang="en-US" sz="1300" dirty="0"/>
          </a:p>
        </p:txBody>
      </p:sp>
      <p:sp>
        <p:nvSpPr>
          <p:cNvPr id="89" name="Text 77"/>
          <p:cNvSpPr/>
          <p:nvPr/>
        </p:nvSpPr>
        <p:spPr>
          <a:xfrm>
            <a:off x="5527040" y="356997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Odd 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Index </a:t>
            </a:r>
            <a:pPr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“i”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is </a:t>
            </a:r>
            <a:pPr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Cosine Term,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i=2*k+1</a:t>
            </a:r>
            <a:endParaRPr lang="en-US" sz="1300" dirty="0"/>
          </a:p>
        </p:txBody>
      </p:sp>
      <p:sp>
        <p:nvSpPr>
          <p:cNvPr id="90" name="Text 78"/>
          <p:cNvSpPr/>
          <p:nvPr/>
        </p:nvSpPr>
        <p:spPr>
          <a:xfrm>
            <a:off x="10111740" y="151072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500" dirty="0"/>
          </a:p>
        </p:txBody>
      </p:sp>
      <p:sp>
        <p:nvSpPr>
          <p:cNvPr id="91" name="Text 79"/>
          <p:cNvSpPr/>
          <p:nvPr/>
        </p:nvSpPr>
        <p:spPr>
          <a:xfrm>
            <a:off x="10111740" y="187521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indent="0" marL="0">
              <a:buNone/>
            </a:pPr>
            <a:r>
              <a:rPr lang="en-US" sz="150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=100</a:t>
            </a:r>
            <a:endParaRPr lang="en-US" sz="1500" dirty="0"/>
          </a:p>
        </p:txBody>
      </p:sp>
      <p:sp>
        <p:nvSpPr>
          <p:cNvPr id="92" name="Text 80"/>
          <p:cNvSpPr/>
          <p:nvPr/>
        </p:nvSpPr>
        <p:spPr>
          <a:xfrm>
            <a:off x="10111740" y="238067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indent="0" marL="0">
              <a:buNone/>
            </a:pPr>
            <a:r>
              <a:rPr lang="en-US" sz="15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=[0 ..49]</a:t>
            </a:r>
            <a:endParaRPr lang="en-US" sz="1500" dirty="0"/>
          </a:p>
        </p:txBody>
      </p:sp>
      <p:sp>
        <p:nvSpPr>
          <p:cNvPr id="93" name="Text 81"/>
          <p:cNvSpPr/>
          <p:nvPr/>
        </p:nvSpPr>
        <p:spPr>
          <a:xfrm>
            <a:off x="10111740" y="285692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=[0 .. 99]</a:t>
            </a:r>
            <a:endParaRPr lang="en-US" sz="1500" dirty="0"/>
          </a:p>
        </p:txBody>
      </p:sp>
      <p:sp>
        <p:nvSpPr>
          <p:cNvPr id="94" name="Text 82"/>
          <p:cNvSpPr/>
          <p:nvPr/>
        </p:nvSpPr>
        <p:spPr>
          <a:xfrm>
            <a:off x="10111740" y="320363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50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[0,2,4,...]</a:t>
            </a:r>
            <a:endParaRPr lang="en-US" sz="1500" dirty="0"/>
          </a:p>
        </p:txBody>
      </p:sp>
      <p:sp>
        <p:nvSpPr>
          <p:cNvPr id="95" name="Text 83"/>
          <p:cNvSpPr/>
          <p:nvPr/>
        </p:nvSpPr>
        <p:spPr>
          <a:xfrm>
            <a:off x="10111740" y="356304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50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[1,3,5,...]</a:t>
            </a:r>
            <a:endParaRPr lang="en-US" sz="1500" dirty="0"/>
          </a:p>
        </p:txBody>
      </p:sp>
      <p:sp>
        <p:nvSpPr>
          <p:cNvPr id="96" name="Text 84"/>
          <p:cNvSpPr/>
          <p:nvPr/>
        </p:nvSpPr>
        <p:spPr>
          <a:xfrm>
            <a:off x="6122670" y="4027170"/>
            <a:ext cx="3937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different “</a:t>
            </a:r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values for different “</a:t>
            </a:r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Pairs</a:t>
            </a:r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</a:t>
            </a:r>
            <a:endParaRPr lang="en-US" sz="1100" dirty="0"/>
          </a:p>
        </p:txBody>
      </p:sp>
      <p:sp>
        <p:nvSpPr>
          <p:cNvPr id="97" name="Text 85"/>
          <p:cNvSpPr/>
          <p:nvPr/>
        </p:nvSpPr>
        <p:spPr>
          <a:xfrm>
            <a:off x="6122670" y="4248150"/>
            <a:ext cx="39370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Select “</a:t>
            </a:r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25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Based on “</a:t>
            </a:r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</a:t>
            </a:r>
            <a:pPr indent="0" marL="0">
              <a:buNone/>
            </a:pPr>
            <a:r>
              <a:rPr lang="en-US" sz="125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index </a:t>
            </a:r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</a:t>
            </a:r>
            <a:endParaRPr lang="en-US" sz="1250" dirty="0"/>
          </a:p>
        </p:txBody>
      </p:sp>
      <p:sp>
        <p:nvSpPr>
          <p:cNvPr id="98" name="Text 86"/>
          <p:cNvSpPr/>
          <p:nvPr/>
        </p:nvSpPr>
        <p:spPr>
          <a:xfrm>
            <a:off x="6201410" y="5359400"/>
            <a:ext cx="2794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Largest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= 1</a:t>
            </a:r>
            <a:endParaRPr lang="en-US" sz="1300" dirty="0"/>
          </a:p>
        </p:txBody>
      </p:sp>
      <p:sp>
        <p:nvSpPr>
          <p:cNvPr id="99" name="Text 87"/>
          <p:cNvSpPr/>
          <p:nvPr/>
        </p:nvSpPr>
        <p:spPr>
          <a:xfrm>
            <a:off x="9358630" y="5384800"/>
            <a:ext cx="177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(Used in First Pair)</a:t>
            </a:r>
            <a:endParaRPr lang="en-US" sz="1100" dirty="0"/>
          </a:p>
        </p:txBody>
      </p:sp>
      <p:sp>
        <p:nvSpPr>
          <p:cNvPr id="100" name="Text 88"/>
          <p:cNvSpPr/>
          <p:nvPr/>
        </p:nvSpPr>
        <p:spPr>
          <a:xfrm>
            <a:off x="6201410" y="5600700"/>
            <a:ext cx="2794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Smallest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≈  1/10000</a:t>
            </a:r>
            <a:endParaRPr lang="en-US" sz="1300" dirty="0"/>
          </a:p>
        </p:txBody>
      </p:sp>
      <p:sp>
        <p:nvSpPr>
          <p:cNvPr id="101" name="Text 89"/>
          <p:cNvSpPr/>
          <p:nvPr/>
        </p:nvSpPr>
        <p:spPr>
          <a:xfrm>
            <a:off x="9240520" y="5626100"/>
            <a:ext cx="177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(Used in Last Pair)</a:t>
            </a:r>
            <a:endParaRPr lang="en-US" sz="1100" dirty="0"/>
          </a:p>
        </p:txBody>
      </p:sp>
      <p:sp>
        <p:nvSpPr>
          <p:cNvPr id="102" name="Text 90"/>
          <p:cNvSpPr/>
          <p:nvPr/>
        </p:nvSpPr>
        <p:spPr>
          <a:xfrm>
            <a:off x="6188710" y="5975350"/>
            <a:ext cx="1270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u="sng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Note:</a:t>
            </a:r>
            <a:endParaRPr lang="en-US" sz="1200" dirty="0"/>
          </a:p>
        </p:txBody>
      </p:sp>
      <p:sp>
        <p:nvSpPr>
          <p:cNvPr id="103" name="Text 91"/>
          <p:cNvSpPr/>
          <p:nvPr/>
        </p:nvSpPr>
        <p:spPr>
          <a:xfrm>
            <a:off x="6240780" y="6223000"/>
            <a:ext cx="5080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depends on Embedding Dimension 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</a:t>
            </a:r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ONLY</a:t>
            </a:r>
            <a:endParaRPr lang="en-US" sz="1300" dirty="0"/>
          </a:p>
        </p:txBody>
      </p:sp>
      <p:sp>
        <p:nvSpPr>
          <p:cNvPr id="104" name="Text 92"/>
          <p:cNvSpPr/>
          <p:nvPr/>
        </p:nvSpPr>
        <p:spPr>
          <a:xfrm>
            <a:off x="6240780" y="6463030"/>
            <a:ext cx="5080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does </a:t>
            </a:r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depend on Sequence Length</a:t>
            </a:r>
            <a:endParaRPr lang="en-US" sz="1300" dirty="0"/>
          </a:p>
        </p:txBody>
      </p:sp>
      <p:sp>
        <p:nvSpPr>
          <p:cNvPr id="105" name="Text 93"/>
          <p:cNvSpPr/>
          <p:nvPr/>
        </p:nvSpPr>
        <p:spPr>
          <a:xfrm>
            <a:off x="9283700" y="4675188"/>
            <a:ext cx="5080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endParaRPr lang="en-US" sz="2500" dirty="0"/>
          </a:p>
        </p:txBody>
      </p:sp>
      <p:sp>
        <p:nvSpPr>
          <p:cNvPr id="106" name="Text 94"/>
          <p:cNvSpPr/>
          <p:nvPr/>
        </p:nvSpPr>
        <p:spPr>
          <a:xfrm>
            <a:off x="9525000" y="4959045"/>
            <a:ext cx="25400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00" dirty="0"/>
          </a:p>
        </p:txBody>
      </p:sp>
      <p:sp>
        <p:nvSpPr>
          <p:cNvPr id="107" name="Shape 95"/>
          <p:cNvSpPr/>
          <p:nvPr/>
        </p:nvSpPr>
        <p:spPr>
          <a:xfrm>
            <a:off x="9742170" y="4856480"/>
            <a:ext cx="105410" cy="1524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08" name="Shape 96"/>
          <p:cNvSpPr/>
          <p:nvPr/>
        </p:nvSpPr>
        <p:spPr>
          <a:xfrm>
            <a:off x="9742170" y="4926330"/>
            <a:ext cx="105410" cy="1524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09" name="Shape 97"/>
          <p:cNvSpPr/>
          <p:nvPr/>
        </p:nvSpPr>
        <p:spPr>
          <a:xfrm>
            <a:off x="9979660" y="4888230"/>
            <a:ext cx="977900" cy="1778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10" name="Text 98"/>
          <p:cNvSpPr/>
          <p:nvPr/>
        </p:nvSpPr>
        <p:spPr>
          <a:xfrm>
            <a:off x="10375900" y="4612030"/>
            <a:ext cx="254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1" name="Text 99"/>
          <p:cNvSpPr/>
          <p:nvPr/>
        </p:nvSpPr>
        <p:spPr>
          <a:xfrm>
            <a:off x="9982200" y="4961858"/>
            <a:ext cx="1016000" cy="37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750" dirty="0"/>
          </a:p>
        </p:txBody>
      </p:sp>
      <p:sp>
        <p:nvSpPr>
          <p:cNvPr id="112" name="Text 100"/>
          <p:cNvSpPr/>
          <p:nvPr/>
        </p:nvSpPr>
        <p:spPr>
          <a:xfrm>
            <a:off x="10674350" y="4944269"/>
            <a:ext cx="5080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2k/d</a:t>
            </a:r>
            <a:endParaRPr lang="en-US" sz="1250" dirty="0"/>
          </a:p>
        </p:txBody>
      </p:sp>
      <p:sp>
        <p:nvSpPr>
          <p:cNvPr id="113" name="Text 101"/>
          <p:cNvSpPr/>
          <p:nvPr/>
        </p:nvSpPr>
        <p:spPr>
          <a:xfrm>
            <a:off x="5273040" y="6642875"/>
            <a:ext cx="762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2026-10-12T05:12:23Z</dcterms:created>
  <dcterms:modified xsi:type="dcterms:W3CDTF">2026-10-12T05:12:23Z</dcterms:modified>
</cp:coreProperties>
</file>