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png"/><Relationship Id="rId46" Type="http://schemas.openxmlformats.org/officeDocument/2006/relationships/image" Target="../media/image-1-46.png"/><Relationship Id="rId47" Type="http://schemas.openxmlformats.org/officeDocument/2006/relationships/image" Target="../media/image-1-47.png"/><Relationship Id="rId48" Type="http://schemas.openxmlformats.org/officeDocument/2006/relationships/image" Target="../media/image-1-48.png"/><Relationship Id="rId49" Type="http://schemas.openxmlformats.org/officeDocument/2006/relationships/image" Target="../media/image-1-49.png"/><Relationship Id="rId50" Type="http://schemas.openxmlformats.org/officeDocument/2006/relationships/image" Target="../media/image-1-50.png"/><Relationship Id="rId51" Type="http://schemas.openxmlformats.org/officeDocument/2006/relationships/image" Target="../media/image-1-51.png"/><Relationship Id="rId52" Type="http://schemas.openxmlformats.org/officeDocument/2006/relationships/image" Target="../media/image-1-52.png"/><Relationship Id="rId53" Type="http://schemas.openxmlformats.org/officeDocument/2006/relationships/image" Target="../media/image-1-53.png"/><Relationship Id="rId54" Type="http://schemas.openxmlformats.org/officeDocument/2006/relationships/image" Target="../media/image-1-54.png"/><Relationship Id="rId55" Type="http://schemas.openxmlformats.org/officeDocument/2006/relationships/image" Target="../media/image-1-54.png"/><Relationship Id="rId56" Type="http://schemas.openxmlformats.org/officeDocument/2006/relationships/image" Target="../media/image-1-54.png"/><Relationship Id="rId57" Type="http://schemas.openxmlformats.org/officeDocument/2006/relationships/image" Target="../media/image-1-54.png"/><Relationship Id="rId58" Type="http://schemas.openxmlformats.org/officeDocument/2006/relationships/image" Target="../media/image-1-54.png"/><Relationship Id="rId59" Type="http://schemas.openxmlformats.org/officeDocument/2006/relationships/image" Target="../media/image-1-59.png"/><Relationship Id="rId60" Type="http://schemas.openxmlformats.org/officeDocument/2006/relationships/slideLayout" Target="../slideLayouts/slideLayout1.xml"/><Relationship Id="rId61" Type="http://schemas.openxmlformats.org/officeDocument/2006/relationships/notesSlide" Target="../notesSlides/notesSlide1.xml"/></Relationships>
</file>

<file path=ppt/slides/slide1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38200" y="584200"/>
            <a:ext cx="1752600" cy="2159000"/>
          </a:xfrm>
          <a:prstGeom prst="rect">
            <a:avLst/>
          </a:prstGeom>
          <a:solidFill>
            <a:srgbClr val="CEFFE3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90800" y="584200"/>
            <a:ext cx="6070600" cy="2159000"/>
          </a:xfrm>
          <a:prstGeom prst="rect">
            <a:avLst/>
          </a:prstGeom>
          <a:solidFill>
            <a:srgbClr val="FEFFE6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584200"/>
            <a:ext cx="1752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at Pos “t”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743200" y="596900"/>
            <a:ext cx="2349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at Pos “t+δ”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7400" y="3213100"/>
            <a:ext cx="10096500" cy="33147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1879600"/>
            <a:ext cx="7493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2311400"/>
            <a:ext cx="812800" cy="2794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7500" y="3378200"/>
            <a:ext cx="5588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59800" y="3378200"/>
            <a:ext cx="5969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7900" y="5994400"/>
            <a:ext cx="685800" cy="279400"/>
          </a:xfrm>
          <a:prstGeom prst="rect">
            <a:avLst/>
          </a:prstGeom>
          <a:solidFill>
            <a:srgbClr val="1CFBE1"/>
          </a:solidFill>
          <a:ln w="12700">
            <a:solidFill>
              <a:srgbClr val="1CFB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5000" y="5994400"/>
            <a:ext cx="647700" cy="279400"/>
          </a:xfrm>
          <a:prstGeom prst="rect">
            <a:avLst/>
          </a:prstGeom>
          <a:solidFill>
            <a:srgbClr val="1CFBE1"/>
          </a:solidFill>
          <a:ln w="12700">
            <a:solidFill>
              <a:srgbClr val="1CF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7600" y="901700"/>
            <a:ext cx="27940" cy="8001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17600" y="9017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7600" y="16738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09800" y="901700"/>
            <a:ext cx="27940" cy="8001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6140" y="9017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6140" y="16738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7600" y="1828800"/>
            <a:ext cx="27940" cy="8509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7600" y="18288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7600" y="26517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1828800"/>
            <a:ext cx="27940" cy="8509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74240" y="18288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74240" y="26517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05100" y="9398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05100" y="9398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05100" y="1750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54500" y="9398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80840" y="9398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80840" y="1750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22800" y="9144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22800" y="9144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22800" y="17246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56600" y="9144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82940" y="9144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82940" y="17246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75200" y="1905000"/>
            <a:ext cx="27940" cy="762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75200" y="19050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75200" y="2639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8000" y="1905000"/>
            <a:ext cx="27940" cy="762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54340" y="19050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54340" y="2639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12900" y="1612900"/>
            <a:ext cx="152400" cy="330200"/>
          </a:xfrm>
          <a:prstGeom prst="downArrow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26200" y="1676400"/>
            <a:ext cx="139700" cy="317500"/>
          </a:xfrm>
          <a:prstGeom prst="downArrow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788400" y="1587500"/>
            <a:ext cx="2171700" cy="393700"/>
          </a:xfrm>
          <a:prstGeom prst="rect">
            <a:avLst/>
          </a:prstGeom>
          <a:solidFill>
            <a:srgbClr val="FCFEE0"/>
          </a:solidFill>
          <a:ln w="9525">
            <a:solidFill>
              <a:srgbClr val="98DD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801100" y="2159000"/>
            <a:ext cx="2159000" cy="393700"/>
          </a:xfrm>
          <a:prstGeom prst="rect">
            <a:avLst/>
          </a:prstGeom>
          <a:solidFill>
            <a:srgbClr val="FAFDD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" y="2819400"/>
            <a:ext cx="10248900" cy="342900"/>
          </a:xfrm>
          <a:prstGeom prst="rect">
            <a:avLst/>
          </a:prstGeom>
          <a:solidFill>
            <a:srgbClr val="EBFFD5"/>
          </a:solidFill>
          <a:ln w="25400">
            <a:solidFill>
              <a:srgbClr val="46865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4400" y="2844800"/>
            <a:ext cx="348932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 Between</a:t>
            </a:r>
            <a:endParaRPr lang="en-US" sz="1620" dirty="0"/>
          </a:p>
        </p:txBody>
      </p:sp>
      <p:sp>
        <p:nvSpPr>
          <p:cNvPr id="52" name="Text 50"/>
          <p:cNvSpPr/>
          <p:nvPr/>
        </p:nvSpPr>
        <p:spPr>
          <a:xfrm>
            <a:off x="3619500" y="2844800"/>
            <a:ext cx="2520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8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“t+δ”</a:t>
            </a:r>
            <a:endParaRPr lang="en-US" sz="1588" dirty="0"/>
          </a:p>
        </p:txBody>
      </p:sp>
      <p:sp>
        <p:nvSpPr>
          <p:cNvPr id="53" name="Text 51"/>
          <p:cNvSpPr/>
          <p:nvPr/>
        </p:nvSpPr>
        <p:spPr>
          <a:xfrm>
            <a:off x="5549900" y="2844800"/>
            <a:ext cx="63182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18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endParaRPr lang="en-US" sz="1518" dirty="0"/>
          </a:p>
        </p:txBody>
      </p:sp>
      <p:sp>
        <p:nvSpPr>
          <p:cNvPr id="54" name="Text 52"/>
          <p:cNvSpPr/>
          <p:nvPr/>
        </p:nvSpPr>
        <p:spPr>
          <a:xfrm>
            <a:off x="6019800" y="2844800"/>
            <a:ext cx="22034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“t”</a:t>
            </a:r>
            <a:endParaRPr lang="en-US" sz="1575" dirty="0"/>
          </a:p>
        </p:txBody>
      </p:sp>
      <p:sp>
        <p:nvSpPr>
          <p:cNvPr id="55" name="Text 53"/>
          <p:cNvSpPr/>
          <p:nvPr/>
        </p:nvSpPr>
        <p:spPr>
          <a:xfrm>
            <a:off x="7988300" y="2844800"/>
            <a:ext cx="37750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Two Consecutive Positions ]</a:t>
            </a:r>
            <a:endParaRPr lang="en-US" sz="1590" dirty="0"/>
          </a:p>
        </p:txBody>
      </p:sp>
      <mc:AlternateContent>
        <mc:Choice xmlns:a14="http://schemas.microsoft.com/office/drawing/2010/main" Requires="a14">
          <p:sp>
            <p:nvSpPr>
              <p:cNvPr id="56" name="Equation OMML" descr="\mathrm{sin}(\omega t)"/>
              <p:cNvSpPr txBox="1"/>
              <p:nvPr/>
            </p:nvSpPr>
            <p:spPr>
              <a:xfrm>
                <a:off x="1257808" y="953008"/>
                <a:ext cx="734568" cy="2164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9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9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6" name="Image 0" descr="/home/ahmed/Projects/ai_llm_slides/videos/deep-learning/002_transformers_part2/recreated_pptx/build/assets/lv1_r1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808" y="953008"/>
                <a:ext cx="734568" cy="2164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7" name="Equation OMML" descr="\mathrm{cos}(\omega t)"/>
              <p:cNvSpPr txBox="1"/>
              <p:nvPr/>
            </p:nvSpPr>
            <p:spPr>
              <a:xfrm>
                <a:off x="1257808" y="1384808"/>
                <a:ext cx="774192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7" name="Image 1" descr="/home/ahmed/Projects/ai_llm_slides/videos/deep-learning/002_transformers_part2/recreated_pptx/build/assets/lv1_r2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808" y="1384808"/>
                <a:ext cx="774192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8" name="Equation OMML" descr="\mathrm{sin}(a)"/>
              <p:cNvSpPr txBox="1"/>
              <p:nvPr/>
            </p:nvSpPr>
            <p:spPr>
              <a:xfrm>
                <a:off x="1410208" y="1892808"/>
                <a:ext cx="557784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8" name="Image 2" descr="/home/ahmed/Projects/ai_llm_slides/videos/deep-learning/002_transformers_part2/recreated_pptx/build/assets/lv2_r1.png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0208" y="1892808"/>
                <a:ext cx="557784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9" name="Equation OMML" descr="\mathrm{cos}(a)"/>
              <p:cNvSpPr txBox="1"/>
              <p:nvPr/>
            </p:nvSpPr>
            <p:spPr>
              <a:xfrm>
                <a:off x="1410208" y="2350008"/>
                <a:ext cx="615696" cy="20421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8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8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9" name="Image 3" descr="/home/ahmed/Projects/ai_llm_slides/videos/deep-learning/002_transformers_part2/recreated_pptx/build/assets/lv2_r2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10208" y="2350008"/>
                <a:ext cx="615696" cy="20421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0" name="Equation OMML" descr="\mathrm{Sin}\;(\omega(t{+}\delta))"/>
              <p:cNvSpPr txBox="1"/>
              <p:nvPr/>
            </p:nvSpPr>
            <p:spPr>
              <a:xfrm>
                <a:off x="2858008" y="978408"/>
                <a:ext cx="1246632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 (ω(t+δ))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0" name="Image 4" descr="/home/ahmed/Projects/ai_llm_slides/videos/deep-learning/002_transformers_part2/recreated_pptx/build/assets/mva_r1.png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58008" y="978408"/>
                <a:ext cx="1246632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1" name="Equation OMML" descr="\mathrm{cos}\,(\omega(t{+}\delta))"/>
              <p:cNvSpPr txBox="1"/>
              <p:nvPr/>
            </p:nvSpPr>
            <p:spPr>
              <a:xfrm>
                <a:off x="2858008" y="1410208"/>
                <a:ext cx="1211580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7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(ω(t+δ))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1" name="Image 5" descr="/home/ahmed/Projects/ai_llm_slides/videos/deep-learning/002_transformers_part2/recreated_pptx/build/assets/mva_r2.png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58008" y="1410208"/>
                <a:ext cx="1211580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2" name="Equation OMML" descr="="/>
              <p:cNvSpPr txBox="1"/>
              <p:nvPr/>
            </p:nvSpPr>
            <p:spPr>
              <a:xfrm>
                <a:off x="4407408" y="1397508"/>
                <a:ext cx="201168" cy="1036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21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2" name="Image 6" descr="/home/ahmed/Projects/ai_llm_slides/videos/deep-learning/002_transformers_part2/recreated_pptx/build/assets/dEqMid.png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408" y="1397508"/>
                <a:ext cx="201168" cy="1036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3" name="Equation OMML" descr="\mathrm{sin}(\omega t)"/>
              <p:cNvSpPr txBox="1"/>
              <p:nvPr/>
            </p:nvSpPr>
            <p:spPr>
              <a:xfrm>
                <a:off x="4699508" y="1016508"/>
                <a:ext cx="710184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3" name="Image 7" descr="/home/ahmed/Projects/ai_llm_slides/videos/deep-learning/002_transformers_part2/recreated_pptx/build/assets/mvb1_s1.png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99508" y="1016508"/>
                <a:ext cx="710184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4" name="Equation OMML" descr="\mathrm{cos}(\omega \delta)"/>
              <p:cNvSpPr txBox="1"/>
              <p:nvPr/>
            </p:nvSpPr>
            <p:spPr>
              <a:xfrm>
                <a:off x="5499608" y="1016508"/>
                <a:ext cx="829056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7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4" name="Image 8" descr="/home/ahmed/Projects/ai_llm_slides/videos/deep-learning/002_transformers_part2/recreated_pptx/build/assets/mvb1_s2.png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99608" y="1016508"/>
                <a:ext cx="829056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5" name="Equation OMML" descr="+"/>
              <p:cNvSpPr txBox="1"/>
              <p:nvPr/>
            </p:nvSpPr>
            <p:spPr>
              <a:xfrm>
                <a:off x="6426708" y="1054608"/>
                <a:ext cx="124968" cy="1264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6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5" name="Image 9" descr="/home/ahmed/Projects/ai_llm_slides/videos/deep-learning/002_transformers_part2/recreated_pptx/build/assets/mvb1_s3.png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26708" y="1054608"/>
                <a:ext cx="124968" cy="1264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6" name="Equation OMML" descr="\mathrm{cos}(\omega t)"/>
              <p:cNvSpPr txBox="1"/>
              <p:nvPr/>
            </p:nvSpPr>
            <p:spPr>
              <a:xfrm>
                <a:off x="6642608" y="1016508"/>
                <a:ext cx="774192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6" name="Image 10" descr="/home/ahmed/Projects/ai_llm_slides/videos/deep-learning/002_transformers_part2/recreated_pptx/build/assets/mvb1_s4.png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42608" y="1016508"/>
                <a:ext cx="774192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7" name="Equation OMML" descr="\mathrm{sin}(\omega \delta)"/>
              <p:cNvSpPr txBox="1"/>
              <p:nvPr/>
            </p:nvSpPr>
            <p:spPr>
              <a:xfrm>
                <a:off x="7506208" y="1016508"/>
                <a:ext cx="774192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7" name="Image 11" descr="/home/ahmed/Projects/ai_llm_slides/videos/deep-learning/002_transformers_part2/recreated_pptx/build/assets/mvb1_s5.png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506208" y="1016508"/>
                <a:ext cx="774192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8" name="Equation OMML" descr="\mathrm{cos}(\omega t)"/>
              <p:cNvSpPr txBox="1"/>
              <p:nvPr/>
            </p:nvSpPr>
            <p:spPr>
              <a:xfrm>
                <a:off x="4737608" y="1448308"/>
                <a:ext cx="728472" cy="2011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6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8" name="Image 12" descr="/home/ahmed/Projects/ai_llm_slides/videos/deep-learning/002_transformers_part2/recreated_pptx/build/assets/mvb2_s1.png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37608" y="1448308"/>
                <a:ext cx="728472" cy="20116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9" name="Equation OMML" descr="\mathrm{cos}(\omega \delta)"/>
              <p:cNvSpPr txBox="1"/>
              <p:nvPr/>
            </p:nvSpPr>
            <p:spPr>
              <a:xfrm>
                <a:off x="5563108" y="1448308"/>
                <a:ext cx="841248" cy="2179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0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0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9" name="Image 13" descr="/home/ahmed/Projects/ai_llm_slides/videos/deep-learning/002_transformers_part2/recreated_pptx/build/assets/mvb2_s2.png">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63108" y="1448308"/>
                <a:ext cx="841248" cy="2179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0" name="Equation OMML" descr="-"/>
              <p:cNvSpPr txBox="1"/>
              <p:nvPr/>
            </p:nvSpPr>
            <p:spPr>
              <a:xfrm>
                <a:off x="6490208" y="1511808"/>
                <a:ext cx="77724" cy="304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678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0" name="Image 14" descr="/home/ahmed/Projects/ai_llm_slides/videos/deep-learning/002_transformers_part2/recreated_pptx/build/assets/mvb2_s3.png">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90208" y="1511808"/>
                <a:ext cx="77724" cy="304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1" name="Equation OMML" descr="\mathrm{sin}(\omega t)"/>
              <p:cNvSpPr txBox="1"/>
              <p:nvPr/>
            </p:nvSpPr>
            <p:spPr>
              <a:xfrm>
                <a:off x="6642608" y="1448308"/>
                <a:ext cx="710184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1" name="Image 15" descr="/home/ahmed/Projects/ai_llm_slides/videos/deep-learning/002_transformers_part2/recreated_pptx/build/assets/mvb2_s4.png">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642608" y="1448308"/>
                <a:ext cx="710184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2" name="Equation OMML" descr="\mathrm{sin}(\omega \delta)"/>
              <p:cNvSpPr txBox="1"/>
              <p:nvPr/>
            </p:nvSpPr>
            <p:spPr>
              <a:xfrm>
                <a:off x="7442708" y="1448308"/>
                <a:ext cx="774192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2" name="Image 16" descr="/home/ahmed/Projects/ai_llm_slides/videos/deep-learning/002_transformers_part2/recreated_pptx/build/assets/mvb2_s5.png">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442708" y="1448308"/>
                <a:ext cx="774192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3" name="Equation OMML" descr="\mathrm{sin}(a)"/>
              <p:cNvSpPr txBox="1"/>
              <p:nvPr/>
            </p:nvSpPr>
            <p:spPr>
              <a:xfrm>
                <a:off x="5017008" y="1981708"/>
                <a:ext cx="585216" cy="21031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3" name="Image 17" descr="/home/ahmed/Projects/ai_llm_slides/videos/deep-learning/002_transformers_part2/recreated_pptx/build/assets/mvr1_s1.png">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17008" y="1981708"/>
                <a:ext cx="585216" cy="21031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4" name="Equation OMML" descr="\mathrm{cos}(b)"/>
              <p:cNvSpPr txBox="1"/>
              <p:nvPr/>
            </p:nvSpPr>
            <p:spPr>
              <a:xfrm>
                <a:off x="5690108" y="1981708"/>
                <a:ext cx="710184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2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82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4" name="Image 18" descr="/home/ahmed/Projects/ai_llm_slides/videos/deep-learning/002_transformers_part2/recreated_pptx/build/assets/mvr1_s2.png">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690108" y="1981708"/>
                <a:ext cx="710184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5" name="Equation OMML" descr="+"/>
              <p:cNvSpPr txBox="1"/>
              <p:nvPr/>
            </p:nvSpPr>
            <p:spPr>
              <a:xfrm>
                <a:off x="6439408" y="2019808"/>
                <a:ext cx="124968" cy="1264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6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5" name="Image 19" descr="/home/ahmed/Projects/ai_llm_slides/videos/deep-learning/002_transformers_part2/recreated_pptx/build/assets/mvr1_s3.png">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439408" y="2019808"/>
                <a:ext cx="124968" cy="1264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6" name="Equation OMML" descr="\mathrm{cos}(a)"/>
              <p:cNvSpPr txBox="1"/>
              <p:nvPr/>
            </p:nvSpPr>
            <p:spPr>
              <a:xfrm>
                <a:off x="6642608" y="1981708"/>
                <a:ext cx="658368" cy="2179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0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0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6" name="Image 20" descr="/home/ahmed/Projects/ai_llm_slides/videos/deep-learning/002_transformers_part2/recreated_pptx/build/assets/mvr1_s4.png">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42608" y="1981708"/>
                <a:ext cx="658368" cy="2179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7" name="Equation OMML" descr="\mathrm{sin}(b)"/>
              <p:cNvSpPr txBox="1"/>
              <p:nvPr/>
            </p:nvSpPr>
            <p:spPr>
              <a:xfrm>
                <a:off x="7379208" y="1981708"/>
                <a:ext cx="594360" cy="21183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6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7" name="Image 21" descr="/home/ahmed/Projects/ai_llm_slides/videos/deep-learning/002_transformers_part2/recreated_pptx/build/assets/mvr1_s5.png">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379208" y="1981708"/>
                <a:ext cx="594360" cy="21183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8" name="Equation OMML" descr="\mathrm{cos}(a)"/>
              <p:cNvSpPr txBox="1"/>
              <p:nvPr/>
            </p:nvSpPr>
            <p:spPr>
              <a:xfrm>
                <a:off x="4966208" y="2388108"/>
                <a:ext cx="647700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7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8" name="Image 22" descr="/home/ahmed/Projects/ai_llm_slides/videos/deep-learning/002_transformers_part2/recreated_pptx/build/assets/mvr2_s1.png">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966208" y="2388108"/>
                <a:ext cx="647700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9" name="Equation OMML" descr="\mathrm{cos}(b)"/>
              <p:cNvSpPr txBox="1"/>
              <p:nvPr/>
            </p:nvSpPr>
            <p:spPr>
              <a:xfrm>
                <a:off x="5702808" y="2388108"/>
                <a:ext cx="658368" cy="2164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9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9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9" name="Image 23" descr="/home/ahmed/Projects/ai_llm_slides/videos/deep-learning/002_transformers_part2/recreated_pptx/build/assets/mvr2_s2.png">    </p:cNvPr>
              <p:cNvPicPr>
                <a:picLocks noChangeAspect="1"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702808" y="2388108"/>
                <a:ext cx="658368" cy="2164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0" name="Equation OMML" descr="-"/>
              <p:cNvSpPr txBox="1"/>
              <p:nvPr/>
            </p:nvSpPr>
            <p:spPr>
              <a:xfrm>
                <a:off x="6515608" y="2451608"/>
                <a:ext cx="77724" cy="304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678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0" name="Image 24" descr="/home/ahmed/Projects/ai_llm_slides/videos/deep-learning/002_transformers_part2/recreated_pptx/build/assets/mvr2_s3.png">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515608" y="2451608"/>
                <a:ext cx="77724" cy="304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1" name="Equation OMML" descr="\mathrm{sin}(a)"/>
              <p:cNvSpPr txBox="1"/>
              <p:nvPr/>
            </p:nvSpPr>
            <p:spPr>
              <a:xfrm>
                <a:off x="6668008" y="2388108"/>
                <a:ext cx="585216" cy="21031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1" name="Image 25" descr="/home/ahmed/Projects/ai_llm_slides/videos/deep-learning/002_transformers_part2/recreated_pptx/build/assets/mvr2_s4.png">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68008" y="2388108"/>
                <a:ext cx="585216" cy="21031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2" name="Equation OMML" descr="\mathrm{sin}(b)"/>
              <p:cNvSpPr txBox="1"/>
              <p:nvPr/>
            </p:nvSpPr>
            <p:spPr>
              <a:xfrm>
                <a:off x="7341108" y="2388108"/>
                <a:ext cx="585216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2" name="Image 26" descr="/home/ahmed/Projects/ai_llm_slides/videos/deep-learning/002_transformers_part2/recreated_pptx/build/assets/mvr2_s5.png">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341108" y="2388108"/>
                <a:ext cx="585216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3" name="Equation OMML" descr="\mathrm{Let}"/>
              <p:cNvSpPr txBox="1"/>
              <p:nvPr/>
            </p:nvSpPr>
            <p:spPr>
              <a:xfrm>
                <a:off x="8915908" y="1689608"/>
                <a:ext cx="291084" cy="1645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Let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3" name="Image 27" descr="/home/ahmed/Projects/ai_llm_slides/videos/deep-learning/002_transformers_part2/recreated_pptx/build/assets/db1_let.png">    </p:cNvPr>
              <p:cNvPicPr>
                <a:picLocks noChangeAspect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915908" y="1689608"/>
                <a:ext cx="291084" cy="1645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4" name="Equation OMML" descr="\omega t=a\;,"/>
              <p:cNvSpPr txBox="1"/>
              <p:nvPr/>
            </p:nvSpPr>
            <p:spPr>
              <a:xfrm>
                <a:off x="9322308" y="1689608"/>
                <a:ext cx="582168" cy="1539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5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ωt=a ,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4" name="Image 28" descr="/home/ahmed/Projects/ai_llm_slides/videos/deep-learning/002_transformers_part2/recreated_pptx/build/assets/db1_a.png">    </p:cNvPr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322308" y="1689608"/>
                <a:ext cx="582168" cy="1539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5" name="Equation OMML" descr="\omega \delta=b"/>
              <p:cNvSpPr txBox="1"/>
              <p:nvPr/>
            </p:nvSpPr>
            <p:spPr>
              <a:xfrm>
                <a:off x="9982708" y="1689608"/>
                <a:ext cx="519684" cy="1432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ωδ=b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5" name="Image 29" descr="/home/ahmed/Projects/ai_llm_slides/videos/deep-learning/002_transformers_part2/recreated_pptx/build/assets/db1_b.png">    </p:cNvPr>
              <p:cNvPicPr>
                <a:picLocks noChangeAspect="1"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982708" y="1689608"/>
                <a:ext cx="519684" cy="1432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6" name="Equation OMML" descr="\mathrm{sin}^{2}(a)+\mathrm{cos}^{2}(a)=1"/>
              <p:cNvSpPr txBox="1"/>
              <p:nvPr/>
            </p:nvSpPr>
            <p:spPr>
              <a:xfrm>
                <a:off x="8776208" y="2223008"/>
                <a:ext cx="1874520" cy="2255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48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(a)+</m:t>
                      </m:r>
                      <m:sSup>
                        <m:sSupPr>
                          <m:ctrlP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48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6" name="Image 30" descr="/home/ahmed/Projects/ai_llm_slides/videos/deep-learning/002_transformers_part2/recreated_pptx/build/assets/db2.png">    </p:cNvPr>
              <p:cNvPicPr>
                <a:picLocks noChangeAspect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6208" y="2223008"/>
                <a:ext cx="1874520" cy="22555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7" name="Equation OMML" descr="[\,\mathrm{sin}(a)\,(\mathrm{cos}(b)-1)+\mathrm{cos}(a)\,\mathrm{sin}(b)\,]^{2}+\,[\,-\mathrm{sin}(a)\,\mathrm{sin}(b)+\mathrm{cos}(a)\,(\mathrm{cos}(b)-1)\,]^{2}"/>
              <p:cNvSpPr txBox="1"/>
              <p:nvPr/>
            </p:nvSpPr>
            <p:spPr>
              <a:xfrm>
                <a:off x="1067308" y="3785108"/>
                <a:ext cx="8394192" cy="26060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(b)-1)+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</m:t>
                      </m:r>
                      <m:sSup>
                        <m:sSupPr>
                          <m:ctrlP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 [ -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</m:t>
                      </m:r>
                      <m:sSup>
                        <m:sSupPr>
                          <m:ctrlP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7" name="Image 31" descr="/home/ahmed/Projects/ai_llm_slides/videos/deep-learning/002_transformers_part2/recreated_pptx/build/assets/dR2.png">    </p:cNvPr>
              <p:cNvPicPr>
                <a:picLocks noChangeAspect="1"/>
              </p:cNvPicPr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067308" y="3785108"/>
                <a:ext cx="8394192" cy="26060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8" name="Equation OMML" descr="[\,\mathrm{sin}(a)^{2}(\mathrm{cos}(b)-1)^{2}+\mathrm{cos}^{2}(a)\,\mathrm{sin}^{2}(b)+\,2\,\mathrm{sin}(a)\,\mathrm{cos}(a)\,\mathrm{sin}(b)\,(\mathrm{cos}(b)-1)\,]\,+"/>
              <p:cNvSpPr txBox="1"/>
              <p:nvPr/>
            </p:nvSpPr>
            <p:spPr>
              <a:xfrm>
                <a:off x="1105408" y="4280408"/>
                <a:ext cx="7706868" cy="2453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(b)+ 2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(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]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8" name="Image 32" descr="/home/ahmed/Projects/ai_llm_slides/videos/deep-learning/002_transformers_part2/recreated_pptx/build/assets/dR3.png">    </p:cNvPr>
              <p:cNvPicPr>
                <a:picLocks noChangeAspect="1"/>
              </p:cNvPicPr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105408" y="4280408"/>
                <a:ext cx="7706868" cy="24536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9" name="Equation OMML" descr="[\,\mathrm{sin}^{2}(a)\,\mathrm{sin}^{2}(b)+\mathrm{cos}^{2}(a)\,(\mathrm{cos}(b)-1)^{2}-\,2\,\mathrm{sin}(a)\,\mathrm{cos}(a)\,\mathrm{sin}(b)\,(\mathrm{cos}(b)-1)\,]"/>
              <p:cNvSpPr txBox="1"/>
              <p:nvPr/>
            </p:nvSpPr>
            <p:spPr>
              <a:xfrm>
                <a:off x="1105408" y="4572508"/>
                <a:ext cx="7240524" cy="23622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- 2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(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9" name="Image 33" descr="/home/ahmed/Projects/ai_llm_slides/videos/deep-learning/002_transformers_part2/recreated_pptx/build/assets/dR4.png">    </p:cNvPr>
              <p:cNvPicPr>
                <a:picLocks noChangeAspect="1"/>
              </p:cNvPicPr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105408" y="4572508"/>
                <a:ext cx="7240524" cy="23622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0" name="Equation OMML" descr="\mathrm{sin}(a)^{2}\,(\mathrm{cos}(b)-1)^{2}+\mathrm{cos}^{2}(a)\,\mathrm{sin}^{2}(b)+\mathrm{sin}^{2}(a)\,\mathrm{sin}^{2}(b)+\mathrm{cos}^{2}(a)\,(\mathrm{cos}(b)-1)^{2}"/>
              <p:cNvSpPr txBox="1"/>
              <p:nvPr/>
            </p:nvSpPr>
            <p:spPr>
              <a:xfrm>
                <a:off x="1118108" y="5029708"/>
                <a:ext cx="7554468" cy="2407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(</m:t>
                      </m:r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0" name="Image 34" descr="/home/ahmed/Projects/ai_llm_slides/videos/deep-learning/002_transformers_part2/recreated_pptx/build/assets/dR5.png">    </p:cNvPr>
              <p:cNvPicPr>
                <a:picLocks noChangeAspect="1"/>
              </p:cNvPicPr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118108" y="5029708"/>
                <a:ext cx="7554468" cy="2407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1" name="Equation OMML" descr="[\,\mathrm{sin}(a)^{2}+\mathrm{cos}^{2}(a)\,]\,(\mathrm{cos}(b)-1)^{2}+\,[\,\mathrm{sin}(a)^{2}+\mathrm{cos}^{2}(a)\,]\,(\mathrm{sin}^{2}(b)\,)=(\mathrm{cos}(b)-1)^{2}+\mathrm{sin}^{2}(b)"/>
              <p:cNvSpPr txBox="1"/>
              <p:nvPr/>
            </p:nvSpPr>
            <p:spPr>
              <a:xfrm>
                <a:off x="1041908" y="5461508"/>
                <a:ext cx="8269224" cy="2301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] (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 [ 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] (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)=(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1" name="Image 35" descr="/home/ahmed/Projects/ai_llm_slides/videos/deep-learning/002_transformers_part2/recreated_pptx/build/assets/dR6.png">    </p:cNvPr>
              <p:cNvPicPr>
                <a:picLocks noChangeAspect="1"/>
              </p:cNvPicPr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041908" y="5461508"/>
                <a:ext cx="8269224" cy="2301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2" name="Equation OMML" descr="["/>
              <p:cNvSpPr txBox="1"/>
              <p:nvPr/>
            </p:nvSpPr>
            <p:spPr>
              <a:xfrm>
                <a:off x="1067308" y="3366008"/>
                <a:ext cx="82296" cy="27584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22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[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2" name="Image 36" descr="/home/ahmed/Projects/ai_llm_slides/videos/deep-learning/002_transformers_part2/recreated_pptx/build/assets/r1_s01.png">    </p:cNvPr>
              <p:cNvPicPr>
                <a:picLocks noChangeAspect="1"/>
              </p:cNvPicPr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067308" y="3366008"/>
                <a:ext cx="82296" cy="27584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3" name="Equation OMML" descr="\mathrm{sin}(a)"/>
              <p:cNvSpPr txBox="1"/>
              <p:nvPr/>
            </p:nvSpPr>
            <p:spPr>
              <a:xfrm>
                <a:off x="1207008" y="3378708"/>
                <a:ext cx="53340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3" name="Image 37" descr="/home/ahmed/Projects/ai_llm_slides/videos/deep-learning/002_transformers_part2/recreated_pptx/build/assets/r1_s02.png">    </p:cNvPr>
              <p:cNvPicPr>
                <a:picLocks noChangeAspect="1"/>
              </p:cNvPicPr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207008" y="3378708"/>
                <a:ext cx="53340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4" name="Equation OMML" descr="\mathrm{cos}(b)\,+"/>
              <p:cNvSpPr txBox="1"/>
              <p:nvPr/>
            </p:nvSpPr>
            <p:spPr>
              <a:xfrm>
                <a:off x="1816608" y="3378708"/>
                <a:ext cx="781812" cy="1874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4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4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4" name="Image 38" descr="/home/ahmed/Projects/ai_llm_slides/videos/deep-learning/002_transformers_part2/recreated_pptx/build/assets/r1_s03.png">    </p:cNvPr>
              <p:cNvPicPr>
                <a:picLocks noChangeAspect="1"/>
              </p:cNvPicPr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816608" y="3378708"/>
                <a:ext cx="781812" cy="18745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5" name="Equation OMML" descr="\mathrm{cos}(a)"/>
              <p:cNvSpPr txBox="1"/>
              <p:nvPr/>
            </p:nvSpPr>
            <p:spPr>
              <a:xfrm>
                <a:off x="2680208" y="3378708"/>
                <a:ext cx="57912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8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8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5" name="Image 39" descr="/home/ahmed/Projects/ai_llm_slides/videos/deep-learning/002_transformers_part2/recreated_pptx/build/assets/r1_s04.png">    </p:cNvPr>
              <p:cNvPicPr>
                <a:picLocks noChangeAspect="1"/>
              </p:cNvPicPr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680208" y="3378708"/>
                <a:ext cx="57912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6" name="Equation OMML" descr="\mathrm{sin}(b)\,-"/>
              <p:cNvSpPr txBox="1"/>
              <p:nvPr/>
            </p:nvSpPr>
            <p:spPr>
              <a:xfrm>
                <a:off x="3340608" y="3378708"/>
                <a:ext cx="694944" cy="1783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36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36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6" name="Image 40" descr="/home/ahmed/Projects/ai_llm_slides/videos/deep-learning/002_transformers_part2/recreated_pptx/build/assets/r1_s05.png">    </p:cNvPr>
              <p:cNvPicPr>
                <a:picLocks noChangeAspect="1"/>
              </p:cNvPicPr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40608" y="3378708"/>
                <a:ext cx="694944" cy="1783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7" name="Equation OMML" descr="\mathrm{sin}(a)"/>
              <p:cNvSpPr txBox="1"/>
              <p:nvPr/>
            </p:nvSpPr>
            <p:spPr>
              <a:xfrm>
                <a:off x="4115308" y="3378708"/>
                <a:ext cx="557784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7" name="Image 41" descr="/home/ahmed/Projects/ai_llm_slides/videos/deep-learning/002_transformers_part2/recreated_pptx/build/assets/r1_s06.png">    </p:cNvPr>
              <p:cNvPicPr>
                <a:picLocks noChangeAspect="1"/>
              </p:cNvPicPr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115308" y="3378708"/>
                <a:ext cx="557784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8" name="Equation OMML" descr="]^{2}\,+\,[\,-"/>
              <p:cNvSpPr txBox="1"/>
              <p:nvPr/>
            </p:nvSpPr>
            <p:spPr>
              <a:xfrm>
                <a:off x="4737608" y="3378708"/>
                <a:ext cx="888492" cy="2682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79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 + [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8" name="Image 42" descr="/home/ahmed/Projects/ai_llm_slides/videos/deep-learning/002_transformers_part2/recreated_pptx/build/assets/r1_s07.png">    </p:cNvPr>
              <p:cNvPicPr>
                <a:picLocks noChangeAspect="1"/>
              </p:cNvPicPr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737608" y="3378708"/>
                <a:ext cx="888492" cy="2682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9" name="Equation OMML" descr="\mathrm{sin}(a)"/>
              <p:cNvSpPr txBox="1"/>
              <p:nvPr/>
            </p:nvSpPr>
            <p:spPr>
              <a:xfrm>
                <a:off x="5639308" y="3378708"/>
                <a:ext cx="53340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9" name="Image 43" descr="/home/ahmed/Projects/ai_llm_slides/videos/deep-learning/002_transformers_part2/recreated_pptx/build/assets/r1_s08.png">    </p:cNvPr>
              <p:cNvPicPr>
                <a:picLocks noChangeAspect="1"/>
              </p:cNvPicPr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5639308" y="3378708"/>
                <a:ext cx="53340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0" name="Equation OMML" descr="\mathrm{sin}(b)\,+"/>
              <p:cNvSpPr txBox="1"/>
              <p:nvPr/>
            </p:nvSpPr>
            <p:spPr>
              <a:xfrm>
                <a:off x="6248908" y="3378708"/>
                <a:ext cx="743712" cy="1905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6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6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0" name="Image 44" descr="/home/ahmed/Projects/ai_llm_slides/videos/deep-learning/002_transformers_part2/recreated_pptx/build/assets/r1_s09.png">    </p:cNvPr>
              <p:cNvPicPr>
                <a:picLocks noChangeAspect="1"/>
              </p:cNvPicPr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48908" y="3378708"/>
                <a:ext cx="743712" cy="19050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1" name="Equation OMML" descr="\mathrm{cos}(a)"/>
              <p:cNvSpPr txBox="1"/>
              <p:nvPr/>
            </p:nvSpPr>
            <p:spPr>
              <a:xfrm>
                <a:off x="7087108" y="3378708"/>
                <a:ext cx="566928" cy="18897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5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5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1" name="Image 45" descr="/home/ahmed/Projects/ai_llm_slides/videos/deep-learning/002_transformers_part2/recreated_pptx/build/assets/r1_s10.png">    </p:cNvPr>
              <p:cNvPicPr>
                <a:picLocks noChangeAspect="1"/>
              </p:cNvPicPr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7087108" y="3378708"/>
                <a:ext cx="566928" cy="18897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2" name="Equation OMML" descr="\mathrm{cos}(b)\,-"/>
              <p:cNvSpPr txBox="1"/>
              <p:nvPr/>
            </p:nvSpPr>
            <p:spPr>
              <a:xfrm>
                <a:off x="7734808" y="3378708"/>
                <a:ext cx="733044" cy="1783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35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5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2" name="Image 46" descr="/home/ahmed/Projects/ai_llm_slides/videos/deep-learning/002_transformers_part2/recreated_pptx/build/assets/r1_s11.png">    </p:cNvPr>
              <p:cNvPicPr>
                <a:picLocks noChangeAspect="1"/>
              </p:cNvPicPr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734808" y="3378708"/>
                <a:ext cx="733044" cy="1783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3" name="Equation OMML" descr="\mathrm{cos}(a)"/>
              <p:cNvSpPr txBox="1"/>
              <p:nvPr/>
            </p:nvSpPr>
            <p:spPr>
              <a:xfrm>
                <a:off x="8547608" y="3378708"/>
                <a:ext cx="589788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2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2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3" name="Image 47" descr="/home/ahmed/Projects/ai_llm_slides/videos/deep-learning/002_transformers_part2/recreated_pptx/build/assets/r1_s12.png">    </p:cNvPr>
              <p:cNvPicPr>
                <a:picLocks noChangeAspect="1"/>
              </p:cNvPicPr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547608" y="3378708"/>
                <a:ext cx="589788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4" name="Equation OMML" descr="]^{2}"/>
              <p:cNvSpPr txBox="1"/>
              <p:nvPr/>
            </p:nvSpPr>
            <p:spPr>
              <a:xfrm>
                <a:off x="9169908" y="3378708"/>
                <a:ext cx="179832" cy="2727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4" name="Image 48" descr="/home/ahmed/Projects/ai_llm_slides/videos/deep-learning/002_transformers_part2/recreated_pptx/build/assets/r1_s13.png">    </p:cNvPr>
              <p:cNvPicPr>
                <a:picLocks noChangeAspect="1"/>
              </p:cNvPicPr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169908" y="3378708"/>
                <a:ext cx="179832" cy="2727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5" name="Equation OMML" descr="\mathrm{cos}^{2}(b)"/>
              <p:cNvSpPr txBox="1"/>
              <p:nvPr/>
            </p:nvSpPr>
            <p:spPr>
              <a:xfrm>
                <a:off x="965708" y="5994908"/>
                <a:ext cx="679704" cy="2286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5" name="Image 49" descr="/home/ahmed/Projects/ai_llm_slides/videos/deep-learning/002_transformers_part2/recreated_pptx/build/assets/dR7_s1.png">    </p:cNvPr>
              <p:cNvPicPr>
                <a:picLocks noChangeAspect="1"/>
              </p:cNvPicPr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965708" y="5994908"/>
                <a:ext cx="679704" cy="22860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6" name="Equation OMML" descr="-2\,\mathrm{cos}(b)\,+1\,+"/>
              <p:cNvSpPr txBox="1"/>
              <p:nvPr/>
            </p:nvSpPr>
            <p:spPr>
              <a:xfrm>
                <a:off x="1715008" y="5994908"/>
                <a:ext cx="1507236" cy="19507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-2 </m:t>
                      </m:r>
                      <m:r>
                        <m:rPr>
                          <m:sty m:val="p"/>
                        </m:rPr>
                        <a:rPr lang="en-US" i="0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+1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6" name="Image 50" descr="/home/ahmed/Projects/ai_llm_slides/videos/deep-learning/002_transformers_part2/recreated_pptx/build/assets/dR7_s2.png">    </p:cNvPr>
              <p:cNvPicPr>
                <a:picLocks noChangeAspect="1"/>
              </p:cNvPicPr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715008" y="5994908"/>
                <a:ext cx="1507236" cy="19507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7" name="Equation OMML" descr="\mathrm{sin}^{2}(b)"/>
              <p:cNvSpPr txBox="1"/>
              <p:nvPr/>
            </p:nvSpPr>
            <p:spPr>
              <a:xfrm>
                <a:off x="3162808" y="5994908"/>
                <a:ext cx="640080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22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7" name="Image 51" descr="/home/ahmed/Projects/ai_llm_slides/videos/deep-learning/002_transformers_part2/recreated_pptx/build/assets/dR7_s3.png">    </p:cNvPr>
              <p:cNvPicPr>
                <a:picLocks noChangeAspect="1"/>
              </p:cNvPicPr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3162808" y="5994908"/>
                <a:ext cx="640080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8" name="Equation OMML" descr="=\,2\,-2\,\mathrm{cos}(b)\,=\,2(1-\mathrm{cos}(b)\,)"/>
              <p:cNvSpPr txBox="1"/>
              <p:nvPr/>
            </p:nvSpPr>
            <p:spPr>
              <a:xfrm>
                <a:off x="3874008" y="5994908"/>
                <a:ext cx="2674620" cy="1813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 2 -2 </m:t>
                      </m:r>
                      <m:r>
                        <m:rPr>
                          <m:sty m:val="p"/>
                        </m:rPr>
                        <a:rPr lang="en-US" i="0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= 2(1-</m:t>
                      </m:r>
                      <m:r>
                        <m:rPr>
                          <m:sty m:val="p"/>
                        </m:rPr>
                        <a:rPr lang="en-US" i="0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8" name="Image 52" descr="/home/ahmed/Projects/ai_llm_slides/videos/deep-learning/002_transformers_part2/recreated_pptx/build/assets/dR7_s4.png">    </p:cNvPr>
              <p:cNvPicPr>
                <a:picLocks noChangeAspect="1"/>
              </p:cNvPicPr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874008" y="5994908"/>
                <a:ext cx="2674620" cy="1813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9" name="Equation OMML" descr="="/>
              <p:cNvSpPr txBox="1"/>
              <p:nvPr/>
            </p:nvSpPr>
            <p:spPr>
              <a:xfrm>
                <a:off x="9728708" y="34295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9" name="Image 53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728708" y="34295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0" name="Equation OMML" descr="="/>
              <p:cNvSpPr txBox="1"/>
              <p:nvPr/>
            </p:nvSpPr>
            <p:spPr>
              <a:xfrm>
                <a:off x="9741408" y="38613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0" name="Image 54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741408" y="38613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1" name="Equation OMML" descr="="/>
              <p:cNvSpPr txBox="1"/>
              <p:nvPr/>
            </p:nvSpPr>
            <p:spPr>
              <a:xfrm>
                <a:off x="9792208" y="46360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1" name="Image 55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792208" y="46360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2" name="Equation OMML" descr="="/>
              <p:cNvSpPr txBox="1"/>
              <p:nvPr/>
            </p:nvSpPr>
            <p:spPr>
              <a:xfrm>
                <a:off x="9817608" y="51059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2" name="Image 56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817608" y="51059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3" name="Equation OMML" descr="="/>
              <p:cNvSpPr txBox="1"/>
              <p:nvPr/>
            </p:nvSpPr>
            <p:spPr>
              <a:xfrm>
                <a:off x="9830308" y="55377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3" name="Image 57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830308" y="5537708"/>
                <a:ext cx="150876" cy="82296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Shape 54"/>
          <p:cNvSpPr/>
          <p:nvPr/>
        </p:nvSpPr>
        <p:spPr>
          <a:xfrm>
            <a:off x="7289800" y="5956300"/>
            <a:ext cx="2044700" cy="419100"/>
          </a:xfrm>
          <a:prstGeom prst="rect">
            <a:avLst/>
          </a:prstGeom>
          <a:solidFill>
            <a:srgbClr val="E9FFD7"/>
          </a:solidFill>
          <a:ln w="19050">
            <a:solidFill>
              <a:srgbClr val="00CC0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15" name="Equation OMML" descr="\mathbf{=2}\,(\mathbf{1-cos}(\omega\delta))"/>
              <p:cNvSpPr txBox="1"/>
              <p:nvPr/>
            </p:nvSpPr>
            <p:spPr>
              <a:xfrm>
                <a:off x="7404608" y="6045708"/>
                <a:ext cx="1706880" cy="2011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b"/>
                        </m:rPr>
                        <a:rPr lang="en-US" i="0" smtClean="0" sz="1559" b="1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=2</m:t>
                      </m:r>
                      <m:r>
                        <a:rPr lang="en-US" i="1" smtClean="0" sz="1559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 (</m:t>
                      </m:r>
                      <m:r>
                        <m:rPr>
                          <m:sty m:val="b"/>
                        </m:rPr>
                        <a:rPr lang="en-US" i="0" smtClean="0" sz="1559" b="1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1-cos</m:t>
                      </m:r>
                      <m:r>
                        <a:rPr lang="en-US" i="1" smtClean="0" sz="1559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(ωδ))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5" name="Image 58" descr="/home/ahmed/Projects/ai_llm_slides/videos/deep-learning/002_transformers_part2/recreated_pptx/build/assets/callout.png">    </p:cNvPr>
              <p:cNvPicPr>
                <a:picLocks noChangeAspect="1"/>
              </p:cNvPicPr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404608" y="6045708"/>
                <a:ext cx="1706880" cy="201168"/>
              </a:xfrm>
              <a:prstGeom prst="rect">
                <a:avLst/>
              </a:prstGeom>
            </p:spPr>
          </p:pic>
        </mc:Fallback>
      </mc:AlternateContent>
      <p:sp>
        <p:nvSpPr>
          <p:cNvPr id="116" name="Text 55"/>
          <p:cNvSpPr/>
          <p:nvPr/>
        </p:nvSpPr>
        <p:spPr>
          <a:xfrm rot="-2880000">
            <a:off x="9271000" y="5626100"/>
            <a:ext cx="1727200" cy="330200"/>
          </a:xfrm>
          <a:prstGeom prst="rect">
            <a:avLst/>
          </a:prstGeom>
          <a:solidFill>
            <a:srgbClr val="FBFDD2"/>
          </a:solidFill>
          <a:ln>
            <a:solidFill>
              <a:srgbClr val="FBFDD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Irrespective of Position “t”</a:t>
            </a:r>
            <a:endParaRPr lang="en-US" sz="1100" dirty="0"/>
          </a:p>
        </p:txBody>
      </p:sp>
      <p:sp>
        <p:nvSpPr>
          <p:cNvPr id="117" name="Shape 56"/>
          <p:cNvSpPr/>
          <p:nvPr/>
        </p:nvSpPr>
        <p:spPr>
          <a:xfrm>
            <a:off x="469900" y="6578600"/>
            <a:ext cx="11239500" cy="2794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2026-10-11T20:33:26Z</dcterms:created>
  <dcterms:modified xsi:type="dcterms:W3CDTF">2026-10-11T20:33:26Z</dcterms:modified>
</cp:coreProperties>
</file>