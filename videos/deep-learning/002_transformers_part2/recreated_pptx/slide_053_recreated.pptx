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62250" y="714781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Look Ahead Mask</a:t>
            </a:r>
            <a:endParaRPr lang="en-US" sz="2430" dirty="0"/>
          </a:p>
        </p:txBody>
      </p:sp>
      <p:sp>
        <p:nvSpPr>
          <p:cNvPr id="6" name="Text 4"/>
          <p:cNvSpPr/>
          <p:nvPr/>
        </p:nvSpPr>
        <p:spPr>
          <a:xfrm>
            <a:off x="2622550" y="106720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(Used in  Decoder </a:t>
            </a:r>
            <a:pPr algn="ctr" indent="0" marL="0">
              <a:buNone/>
            </a:pPr>
            <a:r>
              <a:rPr lang="en-US" sz="243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Block </a:t>
            </a:r>
            <a:pPr algn="ctr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430" dirty="0"/>
          </a:p>
        </p:txBody>
      </p:sp>
      <p:sp>
        <p:nvSpPr>
          <p:cNvPr id="7" name="Text 5"/>
          <p:cNvSpPr/>
          <p:nvPr/>
        </p:nvSpPr>
        <p:spPr>
          <a:xfrm>
            <a:off x="9441180" y="142570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361170" y="1664970"/>
            <a:ext cx="2077720" cy="95631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9" name="Equation OMML" descr="\sigma(x_j)=\frac{e^{x_j}}{\sum_i e^{x_i}}"/>
              <p:cNvSpPr txBox="1"/>
              <p:nvPr/>
            </p:nvSpPr>
            <p:spPr>
              <a:xfrm>
                <a:off x="9534401" y="1784861"/>
                <a:ext cx="1525521" cy="591315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07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σ(</m:t>
                      </m:r>
                      <m:sSub>
                        <m:sSubPr>
                          <m:ctrlPr>
                            <a:rPr lang="en-US" i="1" smtClean="0" sz="207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07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07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j</m:t>
                          </m:r>
                        </m:sub>
                      </m:sSub>
                      <m:r>
                        <a:rPr lang="en-US" i="1" smtClean="0" sz="207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)=</m:t>
                      </m:r>
                      <m:f>
                        <m:fPr>
                          <m:ctrlPr>
                            <a:rPr lang="en-US" i="1" smtClean="0" sz="207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 smtClean="0" sz="207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 sz="207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e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 smtClean="0" sz="207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 sz="207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x</m:t>
                                  </m:r>
                                </m:e>
                                <m:sub>
                                  <m:r>
                                    <a:rPr lang="en-US" i="1" smtClean="0" sz="207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j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 smtClean="0" sz="207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smtClean="0" sz="207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i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i="1" smtClean="0" sz="207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smtClean="0" sz="207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e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i="1" smtClean="0" sz="207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mtClean="0" sz="207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 xml:space="preserve">x</m:t>
                                      </m:r>
                                    </m:e>
                                    <m:sub>
                                      <m:r>
                                        <a:rPr lang="en-US" i="1" smtClean="0" sz="207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 xml:space="preserve">i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" name="Image 0" descr="/home/ahmed/Projects/ai_llm_slides/videos/deep-learning/002_transformers_part2/recreated_pptx/build/assets/eq_053_softmax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534401" y="1784861"/>
                <a:ext cx="1525521" cy="591315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Shape 7"/>
          <p:cNvSpPr/>
          <p:nvPr/>
        </p:nvSpPr>
        <p:spPr>
          <a:xfrm>
            <a:off x="4147820" y="1465580"/>
            <a:ext cx="4883150" cy="3997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2700000">
            <a:off x="5201920" y="2076450"/>
            <a:ext cx="1066800" cy="228600"/>
          </a:xfrm>
          <a:prstGeom prst="rect">
            <a:avLst/>
          </a:prstGeom>
          <a:solidFill>
            <a:srgbClr val="DCF5DC"/>
          </a:solidFill>
          <a:ln/>
        </p:spPr>
      </p:sp>
      <p:sp>
        <p:nvSpPr>
          <p:cNvPr id="12" name="Text 9"/>
          <p:cNvSpPr/>
          <p:nvPr/>
        </p:nvSpPr>
        <p:spPr>
          <a:xfrm rot="2700000">
            <a:off x="5201920" y="207645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 rot="2700000">
            <a:off x="5761990" y="2076450"/>
            <a:ext cx="1066800" cy="228600"/>
          </a:xfrm>
          <a:prstGeom prst="rect">
            <a:avLst/>
          </a:prstGeom>
          <a:solidFill>
            <a:srgbClr val="DCF5DC"/>
          </a:solidFill>
          <a:ln/>
        </p:spPr>
      </p:sp>
      <p:sp>
        <p:nvSpPr>
          <p:cNvPr id="14" name="Text 11"/>
          <p:cNvSpPr/>
          <p:nvPr/>
        </p:nvSpPr>
        <p:spPr>
          <a:xfrm rot="2700000">
            <a:off x="5761990" y="207645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 rot="2700000">
            <a:off x="6352540" y="2076450"/>
            <a:ext cx="1066800" cy="228600"/>
          </a:xfrm>
          <a:prstGeom prst="rect">
            <a:avLst/>
          </a:prstGeom>
          <a:solidFill>
            <a:srgbClr val="DCF5DC"/>
          </a:solidFill>
          <a:ln/>
        </p:spPr>
      </p:sp>
      <p:sp>
        <p:nvSpPr>
          <p:cNvPr id="16" name="Text 13"/>
          <p:cNvSpPr/>
          <p:nvPr/>
        </p:nvSpPr>
        <p:spPr>
          <a:xfrm rot="2700000">
            <a:off x="6352540" y="207645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 rot="2700000">
            <a:off x="6992620" y="2076450"/>
            <a:ext cx="1066800" cy="228600"/>
          </a:xfrm>
          <a:prstGeom prst="rect">
            <a:avLst/>
          </a:prstGeom>
          <a:solidFill>
            <a:srgbClr val="DCF5DC"/>
          </a:solidFill>
          <a:ln/>
        </p:spPr>
      </p:sp>
      <p:sp>
        <p:nvSpPr>
          <p:cNvPr id="18" name="Text 15"/>
          <p:cNvSpPr/>
          <p:nvPr/>
        </p:nvSpPr>
        <p:spPr>
          <a:xfrm rot="2700000">
            <a:off x="6992620" y="207645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 rot="2700000">
            <a:off x="7551420" y="2076450"/>
            <a:ext cx="1066800" cy="228600"/>
          </a:xfrm>
          <a:prstGeom prst="rect">
            <a:avLst/>
          </a:prstGeom>
          <a:solidFill>
            <a:srgbClr val="DCF5DC"/>
          </a:solidFill>
          <a:ln/>
        </p:spPr>
      </p:sp>
      <p:sp>
        <p:nvSpPr>
          <p:cNvPr id="20" name="Text 17"/>
          <p:cNvSpPr/>
          <p:nvPr/>
        </p:nvSpPr>
        <p:spPr>
          <a:xfrm rot="2700000">
            <a:off x="7551420" y="207645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malade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413250" y="2753360"/>
            <a:ext cx="1101090" cy="332740"/>
          </a:xfrm>
          <a:prstGeom prst="roundRect">
            <a:avLst>
              <a:gd name="adj" fmla="val 21985"/>
            </a:avLst>
          </a:prstGeom>
          <a:solidFill>
            <a:srgbClr val="DCF5DC"/>
          </a:solidFill>
          <a:ln/>
        </p:spPr>
      </p:sp>
      <p:sp>
        <p:nvSpPr>
          <p:cNvPr id="22" name="Text 19"/>
          <p:cNvSpPr/>
          <p:nvPr/>
        </p:nvSpPr>
        <p:spPr>
          <a:xfrm>
            <a:off x="4413250" y="2753360"/>
            <a:ext cx="1101090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413250" y="3271520"/>
            <a:ext cx="1101090" cy="332740"/>
          </a:xfrm>
          <a:prstGeom prst="roundRect">
            <a:avLst>
              <a:gd name="adj" fmla="val 21985"/>
            </a:avLst>
          </a:prstGeom>
          <a:solidFill>
            <a:srgbClr val="DCF5DC"/>
          </a:solidFill>
          <a:ln/>
        </p:spPr>
      </p:sp>
      <p:sp>
        <p:nvSpPr>
          <p:cNvPr id="24" name="Text 21"/>
          <p:cNvSpPr/>
          <p:nvPr/>
        </p:nvSpPr>
        <p:spPr>
          <a:xfrm>
            <a:off x="4413250" y="3271520"/>
            <a:ext cx="1101090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413250" y="3763010"/>
            <a:ext cx="1101090" cy="332740"/>
          </a:xfrm>
          <a:prstGeom prst="roundRect">
            <a:avLst>
              <a:gd name="adj" fmla="val 21985"/>
            </a:avLst>
          </a:prstGeom>
          <a:solidFill>
            <a:srgbClr val="DCF5DC"/>
          </a:solidFill>
          <a:ln/>
        </p:spPr>
      </p:sp>
      <p:sp>
        <p:nvSpPr>
          <p:cNvPr id="26" name="Text 23"/>
          <p:cNvSpPr/>
          <p:nvPr/>
        </p:nvSpPr>
        <p:spPr>
          <a:xfrm>
            <a:off x="4413250" y="3763010"/>
            <a:ext cx="1101090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413250" y="4301490"/>
            <a:ext cx="1101090" cy="332740"/>
          </a:xfrm>
          <a:prstGeom prst="roundRect">
            <a:avLst>
              <a:gd name="adj" fmla="val 21985"/>
            </a:avLst>
          </a:prstGeom>
          <a:solidFill>
            <a:srgbClr val="DCF5DC"/>
          </a:solidFill>
          <a:ln/>
        </p:spPr>
      </p:sp>
      <p:sp>
        <p:nvSpPr>
          <p:cNvPr id="28" name="Text 25"/>
          <p:cNvSpPr/>
          <p:nvPr/>
        </p:nvSpPr>
        <p:spPr>
          <a:xfrm>
            <a:off x="4413250" y="4301490"/>
            <a:ext cx="1101090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413250" y="4812665"/>
            <a:ext cx="1101090" cy="332740"/>
          </a:xfrm>
          <a:prstGeom prst="roundRect">
            <a:avLst>
              <a:gd name="adj" fmla="val 21985"/>
            </a:avLst>
          </a:prstGeom>
          <a:solidFill>
            <a:srgbClr val="DCF5DC"/>
          </a:solidFill>
          <a:ln/>
        </p:spPr>
      </p:sp>
      <p:sp>
        <p:nvSpPr>
          <p:cNvPr id="30" name="Text 27"/>
          <p:cNvSpPr/>
          <p:nvPr/>
        </p:nvSpPr>
        <p:spPr>
          <a:xfrm>
            <a:off x="4413250" y="4812665"/>
            <a:ext cx="1101090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malade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656580" y="2678430"/>
            <a:ext cx="3063240" cy="2604770"/>
          </a:xfrm>
          <a:prstGeom prst="roundRect">
            <a:avLst>
              <a:gd name="adj" fmla="val 2808"/>
            </a:avLst>
          </a:prstGeom>
          <a:solidFill>
            <a:srgbClr val="FFFFFF"/>
          </a:solidFill>
          <a:ln/>
        </p:spPr>
      </p:sp>
      <p:sp>
        <p:nvSpPr>
          <p:cNvPr id="32" name="Shape 29"/>
          <p:cNvSpPr/>
          <p:nvPr/>
        </p:nvSpPr>
        <p:spPr>
          <a:xfrm>
            <a:off x="5656580" y="2678430"/>
            <a:ext cx="344170" cy="2604770"/>
          </a:xfrm>
          <a:prstGeom prst="rect">
            <a:avLst/>
          </a:prstGeom>
          <a:solidFill>
            <a:srgbClr val="DCF5DC"/>
          </a:solidFill>
          <a:ln/>
        </p:spPr>
      </p:sp>
      <p:sp>
        <p:nvSpPr>
          <p:cNvPr id="33" name="Shape 30"/>
          <p:cNvSpPr/>
          <p:nvPr/>
        </p:nvSpPr>
        <p:spPr>
          <a:xfrm>
            <a:off x="6000750" y="2678430"/>
            <a:ext cx="2706370" cy="2604770"/>
          </a:xfrm>
          <a:prstGeom prst="rtTriangle">
            <a:avLst/>
          </a:prstGeom>
          <a:solidFill>
            <a:srgbClr val="DCF5DC"/>
          </a:solidFill>
          <a:ln/>
        </p:spPr>
      </p:sp>
      <p:sp>
        <p:nvSpPr>
          <p:cNvPr id="34" name="Shape 31"/>
          <p:cNvSpPr/>
          <p:nvPr/>
        </p:nvSpPr>
        <p:spPr>
          <a:xfrm flipH="1" flipV="1">
            <a:off x="6000750" y="2678430"/>
            <a:ext cx="2719070" cy="2604770"/>
          </a:xfrm>
          <a:prstGeom prst="rtTriangle">
            <a:avLst/>
          </a:prstGeom>
          <a:solidFill>
            <a:srgbClr val="C4ACA0"/>
          </a:solidFill>
          <a:ln/>
        </p:spPr>
      </p:sp>
      <p:sp>
        <p:nvSpPr>
          <p:cNvPr id="35" name="Shape 32"/>
          <p:cNvSpPr/>
          <p:nvPr/>
        </p:nvSpPr>
        <p:spPr>
          <a:xfrm>
            <a:off x="6000750" y="2678430"/>
            <a:ext cx="2706370" cy="260477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656580" y="2678430"/>
            <a:ext cx="3063240" cy="2604770"/>
          </a:xfrm>
          <a:prstGeom prst="roundRect">
            <a:avLst>
              <a:gd name="adj" fmla="val 2808"/>
            </a:avLst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830570" y="28524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734050" y="28257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6428740" y="2825750"/>
            <a:ext cx="292100" cy="226060"/>
          </a:xfrm>
          <a:prstGeom prst="roundRect">
            <a:avLst>
              <a:gd name="adj" fmla="val 14562"/>
            </a:avLst>
          </a:prstGeom>
          <a:solidFill>
            <a:srgbClr val="E3AA8A"/>
          </a:solidFill>
          <a:ln w="12700">
            <a:solidFill>
              <a:srgbClr val="7E402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447790" y="284099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4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−∞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7040880" y="2825750"/>
            <a:ext cx="292100" cy="226060"/>
          </a:xfrm>
          <a:prstGeom prst="roundRect">
            <a:avLst>
              <a:gd name="adj" fmla="val 14562"/>
            </a:avLst>
          </a:prstGeom>
          <a:solidFill>
            <a:srgbClr val="E3AA8A"/>
          </a:solidFill>
          <a:ln w="12700">
            <a:solidFill>
              <a:srgbClr val="7E402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059930" y="284099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4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−∞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7653020" y="2825750"/>
            <a:ext cx="292100" cy="226060"/>
          </a:xfrm>
          <a:prstGeom prst="roundRect">
            <a:avLst>
              <a:gd name="adj" fmla="val 14562"/>
            </a:avLst>
          </a:prstGeom>
          <a:solidFill>
            <a:srgbClr val="E3AA8A"/>
          </a:solidFill>
          <a:ln w="12700">
            <a:solidFill>
              <a:srgbClr val="7E4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672070" y="284099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4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−∞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8265160" y="2825750"/>
            <a:ext cx="292100" cy="226060"/>
          </a:xfrm>
          <a:prstGeom prst="roundRect">
            <a:avLst>
              <a:gd name="adj" fmla="val 14562"/>
            </a:avLst>
          </a:prstGeom>
          <a:solidFill>
            <a:srgbClr val="E3AA8A"/>
          </a:solidFill>
          <a:ln w="12700">
            <a:solidFill>
              <a:srgbClr val="7E402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284210" y="284099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4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−∞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5830570" y="33731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734050" y="33464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6442710" y="33731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346190" y="33464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7040880" y="3346450"/>
            <a:ext cx="292100" cy="226060"/>
          </a:xfrm>
          <a:prstGeom prst="roundRect">
            <a:avLst>
              <a:gd name="adj" fmla="val 14562"/>
            </a:avLst>
          </a:prstGeom>
          <a:solidFill>
            <a:srgbClr val="E3AA8A"/>
          </a:solidFill>
          <a:ln w="12700">
            <a:solidFill>
              <a:srgbClr val="7E402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059930" y="336169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4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−∞</a:t>
            </a:r>
            <a:endParaRPr lang="en-US" sz="1150" dirty="0"/>
          </a:p>
        </p:txBody>
      </p:sp>
      <p:sp>
        <p:nvSpPr>
          <p:cNvPr id="53" name="Shape 50"/>
          <p:cNvSpPr/>
          <p:nvPr/>
        </p:nvSpPr>
        <p:spPr>
          <a:xfrm>
            <a:off x="7653020" y="3346450"/>
            <a:ext cx="292100" cy="226060"/>
          </a:xfrm>
          <a:prstGeom prst="roundRect">
            <a:avLst>
              <a:gd name="adj" fmla="val 14562"/>
            </a:avLst>
          </a:prstGeom>
          <a:solidFill>
            <a:srgbClr val="E3AA8A"/>
          </a:solidFill>
          <a:ln w="12700">
            <a:solidFill>
              <a:srgbClr val="7E4027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672070" y="336169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4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−∞</a:t>
            </a:r>
            <a:endParaRPr lang="en-US" sz="1150" dirty="0"/>
          </a:p>
        </p:txBody>
      </p:sp>
      <p:sp>
        <p:nvSpPr>
          <p:cNvPr id="55" name="Shape 52"/>
          <p:cNvSpPr/>
          <p:nvPr/>
        </p:nvSpPr>
        <p:spPr>
          <a:xfrm>
            <a:off x="8265160" y="3346450"/>
            <a:ext cx="292100" cy="226060"/>
          </a:xfrm>
          <a:prstGeom prst="roundRect">
            <a:avLst>
              <a:gd name="adj" fmla="val 14562"/>
            </a:avLst>
          </a:prstGeom>
          <a:solidFill>
            <a:srgbClr val="E3AA8A"/>
          </a:solidFill>
          <a:ln w="12700">
            <a:solidFill>
              <a:srgbClr val="7E4027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284210" y="336169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4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−∞</a:t>
            </a:r>
            <a:endParaRPr lang="en-US" sz="1150" dirty="0"/>
          </a:p>
        </p:txBody>
      </p:sp>
      <p:sp>
        <p:nvSpPr>
          <p:cNvPr id="57" name="Shape 54"/>
          <p:cNvSpPr/>
          <p:nvPr/>
        </p:nvSpPr>
        <p:spPr>
          <a:xfrm>
            <a:off x="5830570" y="38938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734050" y="38671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59" name="Shape 56"/>
          <p:cNvSpPr/>
          <p:nvPr/>
        </p:nvSpPr>
        <p:spPr>
          <a:xfrm>
            <a:off x="6442710" y="38938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346190" y="38671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7054850" y="38938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958330" y="38671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63" name="Shape 60"/>
          <p:cNvSpPr/>
          <p:nvPr/>
        </p:nvSpPr>
        <p:spPr>
          <a:xfrm>
            <a:off x="7653020" y="3867150"/>
            <a:ext cx="292100" cy="226060"/>
          </a:xfrm>
          <a:prstGeom prst="roundRect">
            <a:avLst>
              <a:gd name="adj" fmla="val 14562"/>
            </a:avLst>
          </a:prstGeom>
          <a:solidFill>
            <a:srgbClr val="E3AA8A"/>
          </a:solidFill>
          <a:ln w="12700">
            <a:solidFill>
              <a:srgbClr val="7E4027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7672070" y="388239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4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−∞</a:t>
            </a:r>
            <a:endParaRPr lang="en-US" sz="1150" dirty="0"/>
          </a:p>
        </p:txBody>
      </p:sp>
      <p:sp>
        <p:nvSpPr>
          <p:cNvPr id="65" name="Shape 62"/>
          <p:cNvSpPr/>
          <p:nvPr/>
        </p:nvSpPr>
        <p:spPr>
          <a:xfrm>
            <a:off x="8265160" y="3867150"/>
            <a:ext cx="292100" cy="226060"/>
          </a:xfrm>
          <a:prstGeom prst="roundRect">
            <a:avLst>
              <a:gd name="adj" fmla="val 14562"/>
            </a:avLst>
          </a:prstGeom>
          <a:solidFill>
            <a:srgbClr val="E3AA8A"/>
          </a:solidFill>
          <a:ln w="12700">
            <a:solidFill>
              <a:srgbClr val="7E4027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8284210" y="388239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4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−∞</a:t>
            </a:r>
            <a:endParaRPr lang="en-US" sz="1150" dirty="0"/>
          </a:p>
        </p:txBody>
      </p:sp>
      <p:sp>
        <p:nvSpPr>
          <p:cNvPr id="67" name="Shape 64"/>
          <p:cNvSpPr/>
          <p:nvPr/>
        </p:nvSpPr>
        <p:spPr>
          <a:xfrm>
            <a:off x="5830570" y="44145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734050" y="43878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69" name="Shape 66"/>
          <p:cNvSpPr/>
          <p:nvPr/>
        </p:nvSpPr>
        <p:spPr>
          <a:xfrm>
            <a:off x="6442710" y="44145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346190" y="43878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71" name="Shape 68"/>
          <p:cNvSpPr/>
          <p:nvPr/>
        </p:nvSpPr>
        <p:spPr>
          <a:xfrm>
            <a:off x="7054850" y="44145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6958330" y="43878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73" name="Shape 70"/>
          <p:cNvSpPr/>
          <p:nvPr/>
        </p:nvSpPr>
        <p:spPr>
          <a:xfrm>
            <a:off x="7666990" y="44145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570470" y="43878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75" name="Shape 72"/>
          <p:cNvSpPr/>
          <p:nvPr/>
        </p:nvSpPr>
        <p:spPr>
          <a:xfrm>
            <a:off x="8265160" y="4387850"/>
            <a:ext cx="292100" cy="226060"/>
          </a:xfrm>
          <a:prstGeom prst="roundRect">
            <a:avLst>
              <a:gd name="adj" fmla="val 14562"/>
            </a:avLst>
          </a:prstGeom>
          <a:solidFill>
            <a:srgbClr val="E3AA8A"/>
          </a:solidFill>
          <a:ln w="12700">
            <a:solidFill>
              <a:srgbClr val="7E4027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8284210" y="440309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4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−∞</a:t>
            </a:r>
            <a:endParaRPr lang="en-US" sz="1150" dirty="0"/>
          </a:p>
        </p:txBody>
      </p:sp>
      <p:sp>
        <p:nvSpPr>
          <p:cNvPr id="77" name="Shape 74"/>
          <p:cNvSpPr/>
          <p:nvPr/>
        </p:nvSpPr>
        <p:spPr>
          <a:xfrm>
            <a:off x="5830570" y="49352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5734050" y="49085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79" name="Shape 76"/>
          <p:cNvSpPr/>
          <p:nvPr/>
        </p:nvSpPr>
        <p:spPr>
          <a:xfrm>
            <a:off x="6442710" y="49352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6346190" y="49085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81" name="Shape 78"/>
          <p:cNvSpPr/>
          <p:nvPr/>
        </p:nvSpPr>
        <p:spPr>
          <a:xfrm>
            <a:off x="7054850" y="49352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6958330" y="49085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83" name="Shape 80"/>
          <p:cNvSpPr/>
          <p:nvPr/>
        </p:nvSpPr>
        <p:spPr>
          <a:xfrm>
            <a:off x="7666990" y="49352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7570470" y="49085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85" name="Shape 82"/>
          <p:cNvSpPr/>
          <p:nvPr/>
        </p:nvSpPr>
        <p:spPr>
          <a:xfrm>
            <a:off x="8279130" y="49352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8182610" y="49085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87" name="Shape 84"/>
          <p:cNvSpPr/>
          <p:nvPr/>
        </p:nvSpPr>
        <p:spPr>
          <a:xfrm>
            <a:off x="3738880" y="3882390"/>
            <a:ext cx="251460" cy="153670"/>
          </a:xfrm>
          <a:prstGeom prst="rect">
            <a:avLst/>
          </a:prstGeom>
          <a:solidFill>
            <a:srgbClr val="0000CC"/>
          </a:solidFill>
          <a:ln/>
        </p:spPr>
      </p:sp>
      <p:sp>
        <p:nvSpPr>
          <p:cNvPr id="88" name="Shape 85"/>
          <p:cNvSpPr/>
          <p:nvPr/>
        </p:nvSpPr>
        <p:spPr>
          <a:xfrm rot="5400000">
            <a:off x="3958590" y="3874770"/>
            <a:ext cx="243840" cy="180340"/>
          </a:xfrm>
          <a:prstGeom prst="triangle">
            <a:avLst/>
          </a:prstGeom>
          <a:solidFill>
            <a:srgbClr val="0000CC"/>
          </a:solidFill>
          <a:ln/>
        </p:spPr>
      </p:sp>
      <p:sp>
        <p:nvSpPr>
          <p:cNvPr id="89" name="Shape 86"/>
          <p:cNvSpPr/>
          <p:nvPr/>
        </p:nvSpPr>
        <p:spPr>
          <a:xfrm>
            <a:off x="603250" y="5543550"/>
            <a:ext cx="10768330" cy="11988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CC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815340" y="56108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Values are </a:t>
            </a:r>
            <a:pPr algn="l" indent="0" marL="0">
              <a:buNone/>
            </a:pPr>
            <a:r>
              <a:rPr lang="en-US" sz="2000" b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</a:t>
            </a:r>
            <a:pPr algn="l" indent="0" marL="0"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Masked (Scaled) Values</a:t>
            </a:r>
            <a:endParaRPr lang="en-US" sz="2000" dirty="0"/>
          </a:p>
        </p:txBody>
      </p:sp>
      <p:sp>
        <p:nvSpPr>
          <p:cNvPr id="91" name="Text 88"/>
          <p:cNvSpPr/>
          <p:nvPr/>
        </p:nvSpPr>
        <p:spPr>
          <a:xfrm>
            <a:off x="833120" y="6179287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7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 of “0” </a:t>
            </a:r>
            <a:pPr algn="l" indent="0" marL="0">
              <a:buNone/>
            </a:pPr>
            <a:r>
              <a:rPr lang="en-US" sz="167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change the original values, consequently </a:t>
            </a:r>
            <a:pPr algn="l" indent="0" marL="0">
              <a:buNone/>
            </a:pPr>
            <a:r>
              <a:rPr lang="en-US" sz="167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effect on Softmax output</a:t>
            </a:r>
            <a:endParaRPr lang="en-US" sz="1670" dirty="0"/>
          </a:p>
        </p:txBody>
      </p:sp>
      <p:sp>
        <p:nvSpPr>
          <p:cNvPr id="92" name="Text 89"/>
          <p:cNvSpPr/>
          <p:nvPr/>
        </p:nvSpPr>
        <p:spPr>
          <a:xfrm>
            <a:off x="833120" y="6458687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7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 of “-inf” </a:t>
            </a:r>
            <a:pPr algn="l" indent="0" marL="0">
              <a:buNone/>
            </a:pPr>
            <a:r>
              <a:rPr lang="en-US" sz="167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“Zero” output of Softmax, </a:t>
            </a:r>
            <a:pPr algn="l" indent="0" marL="0">
              <a:buNone/>
            </a:pPr>
            <a:r>
              <a:rPr lang="en-US" sz="167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leaving zero attention scores for </a:t>
            </a:r>
            <a:pPr algn="l" indent="0" marL="0">
              <a:buNone/>
            </a:pPr>
            <a:r>
              <a:rPr lang="en-US" sz="1670" b="1" u="sng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pPr algn="l" indent="0" marL="0">
              <a:buNone/>
            </a:pPr>
            <a:r>
              <a:rPr lang="en-US" sz="167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Words.</a:t>
            </a:r>
            <a:endParaRPr lang="en-US" sz="16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2026-10-12T00:34:53Z</dcterms:created>
  <dcterms:modified xsi:type="dcterms:W3CDTF">2026-10-12T00:34:53Z</dcterms:modified>
</cp:coreProperties>
</file>