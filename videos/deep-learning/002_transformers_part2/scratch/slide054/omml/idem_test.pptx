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35050" y="77851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for Decoder  (Adding Mask)</a:t>
            </a:r>
            <a:endParaRPr lang="en-US" sz="1960" dirty="0"/>
          </a:p>
        </p:txBody>
      </p:sp>
      <p:sp>
        <p:nvSpPr>
          <p:cNvPr id="6" name="Shape 4"/>
          <p:cNvSpPr/>
          <p:nvPr/>
        </p:nvSpPr>
        <p:spPr>
          <a:xfrm>
            <a:off x="9412002" y="850601"/>
            <a:ext cx="422792" cy="265813"/>
          </a:xfrm>
          <a:prstGeom prst="rect">
            <a:avLst/>
          </a:prstGeom>
          <a:solidFill>
            <a:srgbClr val="FAFAB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2002" y="850601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72614" y="877182"/>
            <a:ext cx="277457" cy="225941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72614" y="877182"/>
            <a:ext cx="277457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02920" y="784148"/>
            <a:ext cx="422792" cy="212650"/>
          </a:xfrm>
          <a:prstGeom prst="rect">
            <a:avLst/>
          </a:prstGeom>
          <a:solidFill>
            <a:srgbClr val="FAFAB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925" y="1395517"/>
            <a:ext cx="10279122" cy="5249801"/>
          </a:xfrm>
          <a:prstGeom prst="roundRect">
            <a:avLst>
              <a:gd name="adj" fmla="val 1451"/>
            </a:avLst>
          </a:prstGeom>
          <a:solidFill>
            <a:srgbClr val="F5CF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84411" y="2910649"/>
            <a:ext cx="990918" cy="2126502"/>
          </a:xfrm>
          <a:prstGeom prst="roundRect">
            <a:avLst>
              <a:gd name="adj" fmla="val 6408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03321" y="3070137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1868" y="305684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65749" y="307013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577145" y="307013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03321" y="3588472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8" name="Text 16"/>
          <p:cNvSpPr/>
          <p:nvPr/>
        </p:nvSpPr>
        <p:spPr>
          <a:xfrm>
            <a:off x="1061868" y="3575181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65749" y="3588472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577145" y="3588472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3321" y="4120097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1868" y="410680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65749" y="412009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7145" y="412009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3321" y="4678304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868" y="4665013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65749" y="4678304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7145" y="4678304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065998" y="3030265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0" name="Text 28"/>
          <p:cNvSpPr/>
          <p:nvPr/>
        </p:nvSpPr>
        <p:spPr>
          <a:xfrm>
            <a:off x="2085816" y="3030265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65998" y="3548600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2" name="Text 30"/>
          <p:cNvSpPr/>
          <p:nvPr/>
        </p:nvSpPr>
        <p:spPr>
          <a:xfrm>
            <a:off x="2085816" y="3548600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65998" y="4066935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4" name="Text 32"/>
          <p:cNvSpPr/>
          <p:nvPr/>
        </p:nvSpPr>
        <p:spPr>
          <a:xfrm>
            <a:off x="2085816" y="4066935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65998" y="4625141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6" name="Text 34"/>
          <p:cNvSpPr/>
          <p:nvPr/>
        </p:nvSpPr>
        <p:spPr>
          <a:xfrm>
            <a:off x="2085816" y="4625141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34124" y="3083428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38" name="Shape 36"/>
          <p:cNvSpPr/>
          <p:nvPr/>
        </p:nvSpPr>
        <p:spPr>
          <a:xfrm>
            <a:off x="2713397" y="3083428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39" name="Text 37"/>
          <p:cNvSpPr/>
          <p:nvPr/>
        </p:nvSpPr>
        <p:spPr>
          <a:xfrm>
            <a:off x="3004067" y="305020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34124" y="3615053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1" name="Shape 39"/>
          <p:cNvSpPr/>
          <p:nvPr/>
        </p:nvSpPr>
        <p:spPr>
          <a:xfrm>
            <a:off x="2713397" y="3615053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2" name="Text 40"/>
          <p:cNvSpPr/>
          <p:nvPr/>
        </p:nvSpPr>
        <p:spPr>
          <a:xfrm>
            <a:off x="3004067" y="358182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34124" y="4133388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4" name="Shape 42"/>
          <p:cNvSpPr/>
          <p:nvPr/>
        </p:nvSpPr>
        <p:spPr>
          <a:xfrm>
            <a:off x="2713397" y="4133388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5" name="Text 43"/>
          <p:cNvSpPr/>
          <p:nvPr/>
        </p:nvSpPr>
        <p:spPr>
          <a:xfrm>
            <a:off x="3004067" y="410016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34124" y="4691594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7" name="Shape 45"/>
          <p:cNvSpPr/>
          <p:nvPr/>
        </p:nvSpPr>
        <p:spPr>
          <a:xfrm>
            <a:off x="2713397" y="4691594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8" name="Text 46"/>
          <p:cNvSpPr/>
          <p:nvPr/>
        </p:nvSpPr>
        <p:spPr>
          <a:xfrm>
            <a:off x="3004067" y="4658368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5099" y="2511930"/>
            <a:ext cx="1083404" cy="2604965"/>
          </a:xfrm>
          <a:prstGeom prst="rect">
            <a:avLst/>
          </a:prstGeom>
          <a:solidFill>
            <a:srgbClr val="D8C8B9"/>
          </a:solidFill>
          <a:ln/>
        </p:spPr>
      </p:sp>
      <p:sp>
        <p:nvSpPr>
          <p:cNvPr id="50" name="Text 48"/>
          <p:cNvSpPr/>
          <p:nvPr/>
        </p:nvSpPr>
        <p:spPr>
          <a:xfrm>
            <a:off x="3347585" y="2618255"/>
            <a:ext cx="819159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46925" y="3103363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2" name="Shape 50"/>
          <p:cNvSpPr/>
          <p:nvPr/>
        </p:nvSpPr>
        <p:spPr>
          <a:xfrm>
            <a:off x="3948742" y="3621698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3" name="Shape 51"/>
          <p:cNvSpPr/>
          <p:nvPr/>
        </p:nvSpPr>
        <p:spPr>
          <a:xfrm>
            <a:off x="3710921" y="4140033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4" name="Shape 52"/>
          <p:cNvSpPr/>
          <p:nvPr/>
        </p:nvSpPr>
        <p:spPr>
          <a:xfrm>
            <a:off x="3459889" y="4698240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5" name="Text 53"/>
          <p:cNvSpPr/>
          <p:nvPr/>
        </p:nvSpPr>
        <p:spPr>
          <a:xfrm>
            <a:off x="4378139" y="2538511"/>
            <a:ext cx="34351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79707" y="2113211"/>
            <a:ext cx="805947" cy="225941"/>
          </a:xfrm>
          <a:prstGeom prst="roundRect">
            <a:avLst>
              <a:gd name="adj" fmla="val 44967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9707" y="2113211"/>
            <a:ext cx="805947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27356" y="2538511"/>
            <a:ext cx="369943" cy="2565093"/>
          </a:xfrm>
          <a:prstGeom prst="rect">
            <a:avLst/>
          </a:prstGeom>
          <a:solidFill>
            <a:srgbClr val="F7D3D6"/>
          </a:solidFill>
          <a:ln/>
        </p:spPr>
      </p:sp>
      <p:sp>
        <p:nvSpPr>
          <p:cNvPr id="59" name="Text 57"/>
          <p:cNvSpPr/>
          <p:nvPr/>
        </p:nvSpPr>
        <p:spPr>
          <a:xfrm rot="5400000">
            <a:off x="3742327" y="3742347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2100" dirty="0"/>
          </a:p>
        </p:txBody>
      </p:sp>
      <mc:AlternateContent>
        <mc:Choice xmlns:a14="http://schemas.microsoft.com/office/drawing/2010/main" Requires="a14">
          <p:sp>
            <p:nvSpPr>
              <p:cNvPr id="60" name="Equation OMML" descr="\dfrac{K\cdot q}{\sqrt{d}}"/>
              <p:cNvSpPr txBox="1"/>
              <p:nvPr/>
            </p:nvSpPr>
            <p:spPr>
              <a:xfrm>
                <a:off x="5330825" y="2495550"/>
                <a:ext cx="327660" cy="4191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K⋅q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0" descr="/home/ahmed/Projects/ai_llm_slides/videos/deep-learning/002_transformers_part2/recreated_pptx/build/assets/eq_Kcdotq_over_sqrt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330825" y="2495550"/>
                <a:ext cx="327660" cy="41910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Shape 58"/>
          <p:cNvSpPr/>
          <p:nvPr/>
        </p:nvSpPr>
        <p:spPr>
          <a:xfrm>
            <a:off x="5778637" y="2538511"/>
            <a:ext cx="369943" cy="2578383"/>
          </a:xfrm>
          <a:prstGeom prst="rect">
            <a:avLst/>
          </a:prstGeom>
          <a:solidFill>
            <a:srgbClr val="B9E8C6"/>
          </a:solidFill>
          <a:ln w="12700">
            <a:solidFill>
              <a:srgbClr val="3E7A3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 rot="16200000">
            <a:off x="5455608" y="2657388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8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818273" y="3096718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818273" y="3096718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818273" y="3615053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18273" y="3615053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5818273" y="4106806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818273" y="4106806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5818273" y="4665013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818273" y="4665013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5461543" y="5183348"/>
            <a:ext cx="977706" cy="5847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69"/>
          <p:cNvSpPr/>
          <p:nvPr/>
        </p:nvSpPr>
        <p:spPr>
          <a:xfrm>
            <a:off x="5514392" y="5289673"/>
            <a:ext cx="87200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518522" y="2525221"/>
            <a:ext cx="290669" cy="2604965"/>
          </a:xfrm>
          <a:prstGeom prst="rect">
            <a:avLst/>
          </a:prstGeom>
          <a:solidFill>
            <a:srgbClr val="F7DCF9"/>
          </a:solidFill>
          <a:ln w="9525">
            <a:solidFill>
              <a:srgbClr val="E3BE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 rot="16200000">
            <a:off x="5748432" y="3448772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6492098" y="3787831"/>
            <a:ext cx="211396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ς</a:t>
            </a:r>
            <a:endParaRPr lang="en-US" sz="2000" dirty="0"/>
          </a:p>
        </p:txBody>
      </p:sp>
      <p:sp>
        <p:nvSpPr>
          <p:cNvPr id="76" name="Shape 73"/>
          <p:cNvSpPr/>
          <p:nvPr/>
        </p:nvSpPr>
        <p:spPr>
          <a:xfrm>
            <a:off x="5990033" y="2086630"/>
            <a:ext cx="1056979" cy="265813"/>
          </a:xfrm>
          <a:prstGeom prst="roundRect">
            <a:avLst>
              <a:gd name="adj" fmla="val 43000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990033" y="2086630"/>
            <a:ext cx="105697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6769555" y="2977102"/>
            <a:ext cx="184971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6914889" y="2511930"/>
            <a:ext cx="1691167" cy="279103"/>
          </a:xfrm>
          <a:prstGeom prst="rect">
            <a:avLst/>
          </a:prstGeom>
          <a:solidFill>
            <a:srgbClr val="E1F3F8"/>
          </a:solidFill>
          <a:ln/>
        </p:spPr>
      </p:sp>
      <p:sp>
        <p:nvSpPr>
          <p:cNvPr id="80" name="Text 77"/>
          <p:cNvSpPr/>
          <p:nvPr/>
        </p:nvSpPr>
        <p:spPr>
          <a:xfrm>
            <a:off x="6914889" y="2511930"/>
            <a:ext cx="169116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800" dirty="0"/>
          </a:p>
        </p:txBody>
      </p:sp>
      <p:sp>
        <p:nvSpPr>
          <p:cNvPr id="81" name="Shape 78"/>
          <p:cNvSpPr/>
          <p:nvPr/>
        </p:nvSpPr>
        <p:spPr>
          <a:xfrm>
            <a:off x="7932232" y="2086630"/>
            <a:ext cx="1175889" cy="265813"/>
          </a:xfrm>
          <a:prstGeom prst="roundRect">
            <a:avLst>
              <a:gd name="adj" fmla="val 43000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932232" y="2086630"/>
            <a:ext cx="117588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 rot="1140000">
            <a:off x="7535864" y="1940433"/>
            <a:ext cx="211396" cy="558207"/>
          </a:xfrm>
          <a:prstGeom prst="upArrow">
            <a:avLst/>
          </a:prstGeom>
          <a:solidFill>
            <a:srgbClr val="00B050"/>
          </a:solidFill>
          <a:ln/>
        </p:spPr>
      </p:sp>
      <p:sp>
        <p:nvSpPr>
          <p:cNvPr id="84" name="Shape 81"/>
          <p:cNvSpPr/>
          <p:nvPr/>
        </p:nvSpPr>
        <p:spPr>
          <a:xfrm>
            <a:off x="7284832" y="1515132"/>
            <a:ext cx="766310" cy="332266"/>
          </a:xfrm>
          <a:prstGeom prst="roundRect">
            <a:avLst>
              <a:gd name="adj" fmla="val 15289"/>
            </a:avLst>
          </a:prstGeom>
          <a:solidFill>
            <a:srgbClr val="A4C6A2"/>
          </a:solidFill>
          <a:ln w="12700">
            <a:solidFill>
              <a:srgbClr val="3C8C3C"/>
            </a:solidFill>
            <a:prstDash val="dash"/>
          </a:ln>
        </p:spPr>
      </p:sp>
      <p:sp>
        <p:nvSpPr>
          <p:cNvPr id="85" name="Shape 82"/>
          <p:cNvSpPr/>
          <p:nvPr/>
        </p:nvSpPr>
        <p:spPr>
          <a:xfrm>
            <a:off x="7456591" y="1674620"/>
            <a:ext cx="85880" cy="159488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86" name="Text 83"/>
          <p:cNvSpPr/>
          <p:nvPr/>
        </p:nvSpPr>
        <p:spPr>
          <a:xfrm>
            <a:off x="7555683" y="1654684"/>
            <a:ext cx="132122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770101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8" name="Shape 85"/>
          <p:cNvSpPr/>
          <p:nvPr/>
        </p:nvSpPr>
        <p:spPr>
          <a:xfrm>
            <a:off x="778689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9" name="Shape 86"/>
          <p:cNvSpPr/>
          <p:nvPr/>
        </p:nvSpPr>
        <p:spPr>
          <a:xfrm>
            <a:off x="787277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90" name="Shape 87"/>
          <p:cNvSpPr/>
          <p:nvPr/>
        </p:nvSpPr>
        <p:spPr>
          <a:xfrm>
            <a:off x="7020587" y="3056846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7020587" y="3056846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416954" y="3548600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416954" y="3548600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7813321" y="4040353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813321" y="404035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8209689" y="4532107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209689" y="4532107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8" name="Text 95"/>
          <p:cNvSpPr/>
          <p:nvPr/>
        </p:nvSpPr>
        <p:spPr>
          <a:xfrm>
            <a:off x="8421084" y="3050201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8685329" y="3076782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0" name="Shape 97"/>
          <p:cNvSpPr/>
          <p:nvPr/>
        </p:nvSpPr>
        <p:spPr>
          <a:xfrm>
            <a:off x="8817452" y="3076782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1" name="Text 98"/>
          <p:cNvSpPr/>
          <p:nvPr/>
        </p:nvSpPr>
        <p:spPr>
          <a:xfrm>
            <a:off x="8421084" y="3581826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8685329" y="3608408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8817452" y="3608408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4" name="Text 101"/>
          <p:cNvSpPr/>
          <p:nvPr/>
        </p:nvSpPr>
        <p:spPr>
          <a:xfrm>
            <a:off x="8421084" y="4100161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8685329" y="4126742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817452" y="4126742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7" name="Text 104"/>
          <p:cNvSpPr/>
          <p:nvPr/>
        </p:nvSpPr>
        <p:spPr>
          <a:xfrm>
            <a:off x="8421084" y="4658368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8685329" y="4684949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817452" y="4684949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10" name="Shape 107"/>
          <p:cNvSpPr/>
          <p:nvPr/>
        </p:nvSpPr>
        <p:spPr>
          <a:xfrm>
            <a:off x="9081696" y="3003684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9114727" y="3003684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9081696" y="3535309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9114727" y="3535309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4" name="Shape 111"/>
          <p:cNvSpPr/>
          <p:nvPr/>
        </p:nvSpPr>
        <p:spPr>
          <a:xfrm>
            <a:off x="9081696" y="4053644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114727" y="4053644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9081696" y="4611851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9114727" y="4611851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8" name="Shape 115"/>
          <p:cNvSpPr/>
          <p:nvPr/>
        </p:nvSpPr>
        <p:spPr>
          <a:xfrm>
            <a:off x="9689459" y="2923940"/>
            <a:ext cx="990918" cy="2113211"/>
          </a:xfrm>
          <a:prstGeom prst="roundRect">
            <a:avLst>
              <a:gd name="adj" fmla="val 6408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19" name="Shape 116"/>
          <p:cNvSpPr/>
          <p:nvPr/>
        </p:nvSpPr>
        <p:spPr>
          <a:xfrm>
            <a:off x="9781945" y="3070137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0" name="Text 117"/>
          <p:cNvSpPr/>
          <p:nvPr/>
        </p:nvSpPr>
        <p:spPr>
          <a:xfrm>
            <a:off x="9940492" y="305684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10257586" y="307013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0468981" y="307013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3" name="Shape 120"/>
          <p:cNvSpPr/>
          <p:nvPr/>
        </p:nvSpPr>
        <p:spPr>
          <a:xfrm>
            <a:off x="9781945" y="35884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4" name="Text 121"/>
          <p:cNvSpPr/>
          <p:nvPr/>
        </p:nvSpPr>
        <p:spPr>
          <a:xfrm>
            <a:off x="9940492" y="3575181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10257586" y="3588472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6" name="Shape 123"/>
          <p:cNvSpPr/>
          <p:nvPr/>
        </p:nvSpPr>
        <p:spPr>
          <a:xfrm>
            <a:off x="10468981" y="3588472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7" name="Shape 124"/>
          <p:cNvSpPr/>
          <p:nvPr/>
        </p:nvSpPr>
        <p:spPr>
          <a:xfrm>
            <a:off x="9781945" y="4120097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8" name="Text 125"/>
          <p:cNvSpPr/>
          <p:nvPr/>
        </p:nvSpPr>
        <p:spPr>
          <a:xfrm>
            <a:off x="9940492" y="410680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257586" y="412009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468981" y="412009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1" name="Shape 128"/>
          <p:cNvSpPr/>
          <p:nvPr/>
        </p:nvSpPr>
        <p:spPr>
          <a:xfrm>
            <a:off x="9781945" y="4678304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32" name="Text 129"/>
          <p:cNvSpPr/>
          <p:nvPr/>
        </p:nvSpPr>
        <p:spPr>
          <a:xfrm>
            <a:off x="9940492" y="4665013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3" name="Shape 130"/>
          <p:cNvSpPr/>
          <p:nvPr/>
        </p:nvSpPr>
        <p:spPr>
          <a:xfrm>
            <a:off x="10257586" y="4678304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4" name="Shape 131"/>
          <p:cNvSpPr/>
          <p:nvPr/>
        </p:nvSpPr>
        <p:spPr>
          <a:xfrm>
            <a:off x="10468981" y="4678304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5" name="Shape 132"/>
          <p:cNvSpPr/>
          <p:nvPr/>
        </p:nvSpPr>
        <p:spPr>
          <a:xfrm>
            <a:off x="2303818" y="6073821"/>
            <a:ext cx="3924035" cy="505044"/>
          </a:xfrm>
          <a:prstGeom prst="roundRect">
            <a:avLst>
              <a:gd name="adj" fmla="val 12573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36" name="Shape 133"/>
          <p:cNvSpPr/>
          <p:nvPr/>
        </p:nvSpPr>
        <p:spPr>
          <a:xfrm>
            <a:off x="2462365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37" name="Shape 134"/>
          <p:cNvSpPr/>
          <p:nvPr/>
        </p:nvSpPr>
        <p:spPr>
          <a:xfrm>
            <a:off x="2601093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8" name="Shape 135"/>
          <p:cNvSpPr/>
          <p:nvPr/>
        </p:nvSpPr>
        <p:spPr>
          <a:xfrm>
            <a:off x="2733216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9" name="Text 136"/>
          <p:cNvSpPr/>
          <p:nvPr/>
        </p:nvSpPr>
        <p:spPr>
          <a:xfrm>
            <a:off x="2739822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3413646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1" name="Shape 138"/>
          <p:cNvSpPr/>
          <p:nvPr/>
        </p:nvSpPr>
        <p:spPr>
          <a:xfrm>
            <a:off x="3605224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2" name="Shape 139"/>
          <p:cNvSpPr/>
          <p:nvPr/>
        </p:nvSpPr>
        <p:spPr>
          <a:xfrm>
            <a:off x="3796801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3" name="Shape 140"/>
          <p:cNvSpPr/>
          <p:nvPr/>
        </p:nvSpPr>
        <p:spPr>
          <a:xfrm>
            <a:off x="3988378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4" name="Text 141"/>
          <p:cNvSpPr/>
          <p:nvPr/>
        </p:nvSpPr>
        <p:spPr>
          <a:xfrm>
            <a:off x="3558981" y="6193436"/>
            <a:ext cx="317094" cy="2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38503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46" name="Shape 143"/>
          <p:cNvSpPr/>
          <p:nvPr/>
        </p:nvSpPr>
        <p:spPr>
          <a:xfrm>
            <a:off x="4477231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47" name="Shape 144"/>
          <p:cNvSpPr/>
          <p:nvPr/>
        </p:nvSpPr>
        <p:spPr>
          <a:xfrm>
            <a:off x="4609354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48" name="Text 145"/>
          <p:cNvSpPr/>
          <p:nvPr/>
        </p:nvSpPr>
        <p:spPr>
          <a:xfrm>
            <a:off x="4615960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5302996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50" name="Shape 147"/>
          <p:cNvSpPr/>
          <p:nvPr/>
        </p:nvSpPr>
        <p:spPr>
          <a:xfrm>
            <a:off x="5441725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1" name="Shape 148"/>
          <p:cNvSpPr/>
          <p:nvPr/>
        </p:nvSpPr>
        <p:spPr>
          <a:xfrm>
            <a:off x="5573847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2" name="Text 149"/>
          <p:cNvSpPr/>
          <p:nvPr/>
        </p:nvSpPr>
        <p:spPr>
          <a:xfrm>
            <a:off x="5580453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3440071" y="6532348"/>
            <a:ext cx="198184" cy="192714"/>
          </a:xfrm>
          <a:prstGeom prst="upArrow">
            <a:avLst/>
          </a:prstGeom>
          <a:solidFill>
            <a:srgbClr val="C00000"/>
          </a:solidFill>
          <a:ln/>
        </p:spPr>
      </p:sp>
      <p:sp>
        <p:nvSpPr>
          <p:cNvPr id="154" name="Shape 151"/>
          <p:cNvSpPr/>
          <p:nvPr/>
        </p:nvSpPr>
        <p:spPr>
          <a:xfrm>
            <a:off x="3426858" y="5528905"/>
            <a:ext cx="515277" cy="425300"/>
          </a:xfrm>
          <a:prstGeom prst="rect">
            <a:avLst/>
          </a:prstGeom>
          <a:solidFill>
            <a:srgbClr val="F2BCD8"/>
          </a:solidFill>
          <a:ln/>
        </p:spPr>
      </p:sp>
      <p:sp>
        <p:nvSpPr>
          <p:cNvPr id="155" name="Text 152"/>
          <p:cNvSpPr/>
          <p:nvPr/>
        </p:nvSpPr>
        <p:spPr>
          <a:xfrm>
            <a:off x="3426858" y="5528905"/>
            <a:ext cx="515277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85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50" dirty="0"/>
          </a:p>
        </p:txBody>
      </p:sp>
      <p:sp>
        <p:nvSpPr>
          <p:cNvPr id="156" name="Text 153"/>
          <p:cNvSpPr/>
          <p:nvPr/>
        </p:nvSpPr>
        <p:spPr>
          <a:xfrm>
            <a:off x="3532556" y="5276382"/>
            <a:ext cx="211396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57" name="Shape 154"/>
          <p:cNvSpPr/>
          <p:nvPr/>
        </p:nvSpPr>
        <p:spPr>
          <a:xfrm>
            <a:off x="3757164" y="5302964"/>
            <a:ext cx="105698" cy="159488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58" name="Shape 155"/>
          <p:cNvSpPr/>
          <p:nvPr/>
        </p:nvSpPr>
        <p:spPr>
          <a:xfrm>
            <a:off x="3876074" y="5302964"/>
            <a:ext cx="211396" cy="159488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9" name="Shape 156"/>
          <p:cNvSpPr/>
          <p:nvPr/>
        </p:nvSpPr>
        <p:spPr>
          <a:xfrm>
            <a:off x="9332729" y="5954205"/>
            <a:ext cx="2140383" cy="850601"/>
          </a:xfrm>
          <a:prstGeom prst="roundRect">
            <a:avLst>
              <a:gd name="adj" fmla="val 7465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60" name="Text 157"/>
          <p:cNvSpPr/>
          <p:nvPr/>
        </p:nvSpPr>
        <p:spPr>
          <a:xfrm>
            <a:off x="9557337" y="6007367"/>
            <a:ext cx="502065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61" name="Shape 158"/>
          <p:cNvSpPr/>
          <p:nvPr/>
        </p:nvSpPr>
        <p:spPr>
          <a:xfrm>
            <a:off x="9583761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2" name="Shape 159"/>
          <p:cNvSpPr/>
          <p:nvPr/>
        </p:nvSpPr>
        <p:spPr>
          <a:xfrm>
            <a:off x="9696065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3" name="Shape 160"/>
          <p:cNvSpPr/>
          <p:nvPr/>
        </p:nvSpPr>
        <p:spPr>
          <a:xfrm>
            <a:off x="9808369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4" name="Shape 161"/>
          <p:cNvSpPr/>
          <p:nvPr/>
        </p:nvSpPr>
        <p:spPr>
          <a:xfrm>
            <a:off x="9920674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5" name="Shape 162"/>
          <p:cNvSpPr/>
          <p:nvPr/>
        </p:nvSpPr>
        <p:spPr>
          <a:xfrm>
            <a:off x="10112251" y="6047239"/>
            <a:ext cx="369943" cy="372138"/>
          </a:xfrm>
          <a:prstGeom prst="rect">
            <a:avLst/>
          </a:prstGeom>
          <a:solidFill>
            <a:srgbClr val="F6F0BE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10112251" y="6047239"/>
            <a:ext cx="369943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167" name="Text 164"/>
          <p:cNvSpPr/>
          <p:nvPr/>
        </p:nvSpPr>
        <p:spPr>
          <a:xfrm>
            <a:off x="10112251" y="6439313"/>
            <a:ext cx="396367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587892" y="6140274"/>
            <a:ext cx="21139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10891773" y="6193436"/>
            <a:ext cx="105698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70" name="Shape 167"/>
          <p:cNvSpPr/>
          <p:nvPr/>
        </p:nvSpPr>
        <p:spPr>
          <a:xfrm>
            <a:off x="11010683" y="6193436"/>
            <a:ext cx="105698" cy="146197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1" name="Shape 168"/>
          <p:cNvSpPr/>
          <p:nvPr/>
        </p:nvSpPr>
        <p:spPr>
          <a:xfrm>
            <a:off x="11129593" y="6193436"/>
            <a:ext cx="105698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72" name="Shape 169"/>
          <p:cNvSpPr/>
          <p:nvPr/>
        </p:nvSpPr>
        <p:spPr>
          <a:xfrm>
            <a:off x="11248503" y="6193436"/>
            <a:ext cx="105698" cy="146197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3" name="Text 170"/>
          <p:cNvSpPr/>
          <p:nvPr/>
        </p:nvSpPr>
        <p:spPr>
          <a:xfrm>
            <a:off x="10852136" y="6366215"/>
            <a:ext cx="502065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9953704" y="6598801"/>
            <a:ext cx="113625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800" dirty="0"/>
          </a:p>
        </p:txBody>
      </p:sp>
      <p:sp>
        <p:nvSpPr>
          <p:cNvPr id="175" name="Shape 172"/>
          <p:cNvSpPr/>
          <p:nvPr/>
        </p:nvSpPr>
        <p:spPr>
          <a:xfrm>
            <a:off x="1801753" y="3156526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 rot="5400000">
            <a:off x="1920663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7" name="Shape 174"/>
          <p:cNvSpPr/>
          <p:nvPr/>
        </p:nvSpPr>
        <p:spPr>
          <a:xfrm>
            <a:off x="1801753" y="3681506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rot="5400000">
            <a:off x="1920663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9" name="Shape 176"/>
          <p:cNvSpPr/>
          <p:nvPr/>
        </p:nvSpPr>
        <p:spPr>
          <a:xfrm>
            <a:off x="1801753" y="4199841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 rot="5400000">
            <a:off x="1920663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1" name="Shape 178"/>
          <p:cNvSpPr/>
          <p:nvPr/>
        </p:nvSpPr>
        <p:spPr>
          <a:xfrm>
            <a:off x="1801753" y="4758048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 rot="5400000">
            <a:off x="1920663" y="469824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3" name="Shape 180"/>
          <p:cNvSpPr/>
          <p:nvPr/>
        </p:nvSpPr>
        <p:spPr>
          <a:xfrm>
            <a:off x="3268311" y="3163171"/>
            <a:ext cx="76631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 rot="5400000">
            <a:off x="4047834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5" name="Shape 182"/>
          <p:cNvSpPr/>
          <p:nvPr/>
        </p:nvSpPr>
        <p:spPr>
          <a:xfrm>
            <a:off x="3268311" y="3681506"/>
            <a:ext cx="568126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 rot="5400000">
            <a:off x="3849650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7" name="Shape 184"/>
          <p:cNvSpPr/>
          <p:nvPr/>
        </p:nvSpPr>
        <p:spPr>
          <a:xfrm>
            <a:off x="3268311" y="4199841"/>
            <a:ext cx="330306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rot="5400000">
            <a:off x="3611830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9" name="Shape 186"/>
          <p:cNvSpPr/>
          <p:nvPr/>
        </p:nvSpPr>
        <p:spPr>
          <a:xfrm>
            <a:off x="3268311" y="4758048"/>
            <a:ext cx="79273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 rot="5400000">
            <a:off x="3360797" y="469824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1" name="Shape 188"/>
          <p:cNvSpPr/>
          <p:nvPr/>
        </p:nvSpPr>
        <p:spPr>
          <a:xfrm flipH="1">
            <a:off x="3928923" y="3216334"/>
            <a:ext cx="198184" cy="41201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 flipH="1">
            <a:off x="3691103" y="3734669"/>
            <a:ext cx="237820" cy="41201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 flipH="1">
            <a:off x="3440071" y="4253003"/>
            <a:ext cx="251033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 rot="5400000">
            <a:off x="4695233" y="312994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5" name="Shape 192"/>
          <p:cNvSpPr/>
          <p:nvPr/>
        </p:nvSpPr>
        <p:spPr>
          <a:xfrm>
            <a:off x="5210510" y="315652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 rot="5400000">
            <a:off x="5639908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7" name="Shape 194"/>
          <p:cNvSpPr/>
          <p:nvPr/>
        </p:nvSpPr>
        <p:spPr>
          <a:xfrm>
            <a:off x="5210510" y="368150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 rot="5400000">
            <a:off x="5639908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9" name="Shape 196"/>
          <p:cNvSpPr/>
          <p:nvPr/>
        </p:nvSpPr>
        <p:spPr>
          <a:xfrm>
            <a:off x="5210510" y="420648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 rot="5400000">
            <a:off x="5639908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1" name="Shape 198"/>
          <p:cNvSpPr/>
          <p:nvPr/>
        </p:nvSpPr>
        <p:spPr>
          <a:xfrm>
            <a:off x="5210510" y="4744757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 rot="5400000">
            <a:off x="5639908" y="4684949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3" name="Shape 200"/>
          <p:cNvSpPr/>
          <p:nvPr/>
        </p:nvSpPr>
        <p:spPr>
          <a:xfrm>
            <a:off x="6227853" y="3156526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 rot="5400000">
            <a:off x="6366581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5" name="Shape 202"/>
          <p:cNvSpPr/>
          <p:nvPr/>
        </p:nvSpPr>
        <p:spPr>
          <a:xfrm>
            <a:off x="6227853" y="3688151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 rot="5400000">
            <a:off x="6366581" y="362834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7" name="Shape 204"/>
          <p:cNvSpPr/>
          <p:nvPr/>
        </p:nvSpPr>
        <p:spPr>
          <a:xfrm>
            <a:off x="6227853" y="4206486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 rot="5400000">
            <a:off x="636658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9" name="Shape 206"/>
          <p:cNvSpPr/>
          <p:nvPr/>
        </p:nvSpPr>
        <p:spPr>
          <a:xfrm>
            <a:off x="6227853" y="4764693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 rot="5400000">
            <a:off x="6366581" y="470488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1" name="Shape 208"/>
          <p:cNvSpPr/>
          <p:nvPr/>
        </p:nvSpPr>
        <p:spPr>
          <a:xfrm rot="5400000">
            <a:off x="6908283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2" name="Shape 209"/>
          <p:cNvSpPr/>
          <p:nvPr/>
        </p:nvSpPr>
        <p:spPr>
          <a:xfrm rot="5400000">
            <a:off x="7304650" y="3595117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3" name="Shape 210"/>
          <p:cNvSpPr/>
          <p:nvPr/>
        </p:nvSpPr>
        <p:spPr>
          <a:xfrm rot="5400000">
            <a:off x="7701017" y="4086871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4" name="Shape 211"/>
          <p:cNvSpPr/>
          <p:nvPr/>
        </p:nvSpPr>
        <p:spPr>
          <a:xfrm rot="5400000">
            <a:off x="8097385" y="457862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5" name="Shape 212"/>
          <p:cNvSpPr/>
          <p:nvPr/>
        </p:nvSpPr>
        <p:spPr>
          <a:xfrm>
            <a:off x="7053618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6" name="Shape 213"/>
          <p:cNvSpPr/>
          <p:nvPr/>
        </p:nvSpPr>
        <p:spPr>
          <a:xfrm>
            <a:off x="7449985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7" name="Shape 214"/>
          <p:cNvSpPr/>
          <p:nvPr/>
        </p:nvSpPr>
        <p:spPr>
          <a:xfrm>
            <a:off x="7846352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8" name="Shape 215"/>
          <p:cNvSpPr/>
          <p:nvPr/>
        </p:nvSpPr>
        <p:spPr>
          <a:xfrm>
            <a:off x="8242719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9" name="Shape 216"/>
          <p:cNvSpPr/>
          <p:nvPr/>
        </p:nvSpPr>
        <p:spPr>
          <a:xfrm rot="16200000">
            <a:off x="7271620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0" name="Shape 217"/>
          <p:cNvSpPr/>
          <p:nvPr/>
        </p:nvSpPr>
        <p:spPr>
          <a:xfrm rot="16200000">
            <a:off x="7667987" y="3595117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1" name="Shape 218"/>
          <p:cNvSpPr/>
          <p:nvPr/>
        </p:nvSpPr>
        <p:spPr>
          <a:xfrm rot="16200000">
            <a:off x="8064354" y="4086871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2" name="Shape 219"/>
          <p:cNvSpPr/>
          <p:nvPr/>
        </p:nvSpPr>
        <p:spPr>
          <a:xfrm rot="16200000">
            <a:off x="8460721" y="457862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3" name="Shape 220"/>
          <p:cNvSpPr/>
          <p:nvPr/>
        </p:nvSpPr>
        <p:spPr>
          <a:xfrm rot="16200000">
            <a:off x="9550731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4" name="Shape 221"/>
          <p:cNvSpPr/>
          <p:nvPr/>
        </p:nvSpPr>
        <p:spPr>
          <a:xfrm rot="16200000">
            <a:off x="9550731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5" name="Shape 222"/>
          <p:cNvSpPr/>
          <p:nvPr/>
        </p:nvSpPr>
        <p:spPr>
          <a:xfrm rot="16200000">
            <a:off x="955073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6" name="Shape 223"/>
          <p:cNvSpPr/>
          <p:nvPr/>
        </p:nvSpPr>
        <p:spPr>
          <a:xfrm rot="16200000">
            <a:off x="9550731" y="470488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7" name="Shape 224"/>
          <p:cNvSpPr/>
          <p:nvPr/>
        </p:nvSpPr>
        <p:spPr>
          <a:xfrm>
            <a:off x="3757164" y="5901042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8" name="Shape 225"/>
          <p:cNvSpPr/>
          <p:nvPr/>
        </p:nvSpPr>
        <p:spPr>
          <a:xfrm>
            <a:off x="3803407" y="6027303"/>
            <a:ext cx="0" cy="46517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3757164" y="535612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30" name="Shape 227"/>
          <p:cNvSpPr/>
          <p:nvPr/>
        </p:nvSpPr>
        <p:spPr>
          <a:xfrm>
            <a:off x="3757164" y="5163412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pic>
        <p:nvPicPr>
          <p:cNvPr id="231" name="Image 1" descr="/home/ahmed/Projects/ai_llm_slides/videos/deep-learning/002_transformers_part2/recreated_pptx/build/assets/conn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82" y="5063744"/>
            <a:ext cx="905256" cy="1293876"/>
          </a:xfrm>
          <a:prstGeom prst="rect">
            <a:avLst/>
          </a:prstGeom>
        </p:spPr>
      </p:pic>
      <p:pic>
        <p:nvPicPr>
          <p:cNvPr id="232" name="Image 2" descr="/home/ahmed/Projects/ai_llm_slides/videos/deep-learning/002_transformers_part2/recreated_pptx/build/assets/con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26" y="5063744"/>
            <a:ext cx="3701796" cy="1299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2026-10-12T06:06:26Z</dcterms:created>
  <dcterms:modified xsi:type="dcterms:W3CDTF">2026-10-12T06:06:26Z</dcterms:modified>
</cp:coreProperties>
</file>