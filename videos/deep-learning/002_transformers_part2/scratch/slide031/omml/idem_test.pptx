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4.png"/><Relationship Id="rId56" Type="http://schemas.openxmlformats.org/officeDocument/2006/relationships/image" Target="../media/image-1-54.png"/><Relationship Id="rId57" Type="http://schemas.openxmlformats.org/officeDocument/2006/relationships/image" Target="../media/image-1-54.png"/><Relationship Id="rId58" Type="http://schemas.openxmlformats.org/officeDocument/2006/relationships/image" Target="../media/image-1-54.png"/><Relationship Id="rId59" Type="http://schemas.openxmlformats.org/officeDocument/2006/relationships/image" Target="../media/image-1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" y="584200"/>
            <a:ext cx="1752600" cy="2159000"/>
          </a:xfrm>
          <a:prstGeom prst="rect">
            <a:avLst/>
          </a:prstGeom>
          <a:solidFill>
            <a:srgbClr val="CEFFE3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90800" y="584200"/>
            <a:ext cx="6070600" cy="2159000"/>
          </a:xfrm>
          <a:prstGeom prst="rect">
            <a:avLst/>
          </a:prstGeom>
          <a:solidFill>
            <a:srgbClr val="FEFFE6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584200"/>
            <a:ext cx="1752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596900"/>
            <a:ext cx="2349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“t+δ”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7400" y="3213100"/>
            <a:ext cx="10096500" cy="3314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1879600"/>
            <a:ext cx="7493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2311400"/>
            <a:ext cx="812800" cy="2794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7500" y="3378200"/>
            <a:ext cx="5588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59800" y="3378200"/>
            <a:ext cx="5969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7900" y="5994400"/>
            <a:ext cx="6858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5000" y="5994400"/>
            <a:ext cx="6477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76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60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760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98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614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614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76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60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60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424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7424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51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510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0510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45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084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084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28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280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280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66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294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294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52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520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520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80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434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434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12900" y="1612900"/>
            <a:ext cx="152400" cy="3302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6200" y="1676400"/>
            <a:ext cx="139700" cy="3175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88400" y="1587500"/>
            <a:ext cx="2171700" cy="393700"/>
          </a:xfrm>
          <a:prstGeom prst="rect">
            <a:avLst/>
          </a:prstGeom>
          <a:solidFill>
            <a:srgbClr val="FCFEE0"/>
          </a:solidFill>
          <a:ln w="9525">
            <a:solidFill>
              <a:srgbClr val="98DD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1100" y="2159000"/>
            <a:ext cx="2159000" cy="393700"/>
          </a:xfrm>
          <a:prstGeom prst="rect">
            <a:avLst/>
          </a:prstGeom>
          <a:solidFill>
            <a:srgbClr val="FAFDD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" y="2819400"/>
            <a:ext cx="10248900" cy="342900"/>
          </a:xfrm>
          <a:prstGeom prst="rect">
            <a:avLst/>
          </a:prstGeom>
          <a:solidFill>
            <a:srgbClr val="EBFFD5"/>
          </a:solidFill>
          <a:ln w="25400">
            <a:solidFill>
              <a:srgbClr val="4686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2844800"/>
            <a:ext cx="34893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</a:t>
            </a:r>
            <a:endParaRPr lang="en-US" sz="1620" dirty="0"/>
          </a:p>
        </p:txBody>
      </p:sp>
      <p:sp>
        <p:nvSpPr>
          <p:cNvPr id="52" name="Text 50"/>
          <p:cNvSpPr/>
          <p:nvPr/>
        </p:nvSpPr>
        <p:spPr>
          <a:xfrm>
            <a:off x="3619500" y="2844800"/>
            <a:ext cx="25209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88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88" dirty="0"/>
          </a:p>
        </p:txBody>
      </p:sp>
      <p:sp>
        <p:nvSpPr>
          <p:cNvPr id="53" name="Text 51"/>
          <p:cNvSpPr/>
          <p:nvPr/>
        </p:nvSpPr>
        <p:spPr>
          <a:xfrm>
            <a:off x="5549900" y="2844800"/>
            <a:ext cx="6318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18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518" dirty="0"/>
          </a:p>
        </p:txBody>
      </p:sp>
      <p:sp>
        <p:nvSpPr>
          <p:cNvPr id="54" name="Text 52"/>
          <p:cNvSpPr/>
          <p:nvPr/>
        </p:nvSpPr>
        <p:spPr>
          <a:xfrm>
            <a:off x="6019800" y="2844800"/>
            <a:ext cx="2203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7988300" y="2844800"/>
            <a:ext cx="37750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Two Consecutive Positions ]</a:t>
            </a:r>
            <a:endParaRPr lang="en-US" sz="1590" dirty="0"/>
          </a:p>
        </p:txBody>
      </p:sp>
      <mc:AlternateContent>
        <mc:Choice xmlns:a14="http://schemas.microsoft.com/office/drawing/2010/main" Requires="a14">
          <p:sp>
            <p:nvSpPr>
              <p:cNvPr id="56" name="Equation OMML" descr="\mathrm{sin}(\omega t)"/>
              <p:cNvSpPr txBox="1"/>
              <p:nvPr/>
            </p:nvSpPr>
            <p:spPr>
              <a:xfrm>
                <a:off x="1257808" y="953008"/>
                <a:ext cx="734568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9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9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0" descr="/home/ahmed/Projects/ai_llm_slides/videos/deep-learning/002_transformers_part2/recreated_pptx/build/assets/lv1_r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57808" y="953008"/>
                <a:ext cx="734568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7" name="Equation OMML" descr="\mathrm{cos}(\omega t)"/>
              <p:cNvSpPr txBox="1"/>
              <p:nvPr/>
            </p:nvSpPr>
            <p:spPr>
              <a:xfrm>
                <a:off x="1257808" y="1384808"/>
                <a:ext cx="774192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7" name="Image 1" descr="/home/ahmed/Projects/ai_llm_slides/videos/deep-learning/002_transformers_part2/recreated_pptx/build/assets/lv1_r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7808" y="1384808"/>
                <a:ext cx="774192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8" name="Equation OMML" descr="\mathrm{sin}(a)"/>
              <p:cNvSpPr txBox="1"/>
              <p:nvPr/>
            </p:nvSpPr>
            <p:spPr>
              <a:xfrm>
                <a:off x="1410208" y="1892808"/>
                <a:ext cx="557784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2" descr="/home/ahmed/Projects/ai_llm_slides/videos/deep-learning/002_transformers_part2/recreated_pptx/build/assets/lv2_r1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0208" y="1892808"/>
                <a:ext cx="557784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9" name="Equation OMML" descr="\mathrm{cos}(a)"/>
              <p:cNvSpPr txBox="1"/>
              <p:nvPr/>
            </p:nvSpPr>
            <p:spPr>
              <a:xfrm>
                <a:off x="1410208" y="2350008"/>
                <a:ext cx="615696" cy="2042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8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8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3" descr="/home/ahmed/Projects/ai_llm_slides/videos/deep-learning/002_transformers_part2/recreated_pptx/build/assets/lv2_r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208" y="2350008"/>
                <a:ext cx="615696" cy="2042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\mathrm{Sin}\;(\omega(t{+}\delta))"/>
              <p:cNvSpPr txBox="1"/>
              <p:nvPr/>
            </p:nvSpPr>
            <p:spPr>
              <a:xfrm>
                <a:off x="2858008" y="978408"/>
                <a:ext cx="1246632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4" descr="/home/ahmed/Projects/ai_llm_slides/videos/deep-learning/002_transformers_part2/recreated_pptx/build/assets/mva_r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8008" y="978408"/>
                <a:ext cx="1246632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\mathrm{cos}\,(\omega(t{+}\delta))"/>
              <p:cNvSpPr txBox="1"/>
              <p:nvPr/>
            </p:nvSpPr>
            <p:spPr>
              <a:xfrm>
                <a:off x="2858008" y="1410208"/>
                <a:ext cx="1211580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7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(ω(t+δ))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5" descr="/home/ahmed/Projects/ai_llm_slides/videos/deep-learning/002_transformers_part2/recreated_pptx/build/assets/mva_r2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58008" y="1410208"/>
                <a:ext cx="1211580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="/>
              <p:cNvSpPr txBox="1"/>
              <p:nvPr/>
            </p:nvSpPr>
            <p:spPr>
              <a:xfrm>
                <a:off x="4407408" y="1397508"/>
                <a:ext cx="201168" cy="1036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6" descr="/home/ahmed/Projects/ai_llm_slides/videos/deep-learning/002_transformers_part2/recreated_pptx/build/assets/dEqMid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7408" y="1397508"/>
                <a:ext cx="201168" cy="1036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\mathrm{sin}(\omega t)"/>
              <p:cNvSpPr txBox="1"/>
              <p:nvPr/>
            </p:nvSpPr>
            <p:spPr>
              <a:xfrm>
                <a:off x="4699508" y="1016508"/>
                <a:ext cx="710184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7" descr="/home/ahmed/Projects/ai_llm_slides/videos/deep-learning/002_transformers_part2/recreated_pptx/build/assets/mvb1_s1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99508" y="1016508"/>
                <a:ext cx="710184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\mathrm{cos}(\omega \delta)"/>
              <p:cNvSpPr txBox="1"/>
              <p:nvPr/>
            </p:nvSpPr>
            <p:spPr>
              <a:xfrm>
                <a:off x="5499608" y="1016508"/>
                <a:ext cx="829056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7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8" descr="/home/ahmed/Projects/ai_llm_slides/videos/deep-learning/002_transformers_part2/recreated_pptx/build/assets/mvb1_s2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99608" y="1016508"/>
                <a:ext cx="829056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+"/>
              <p:cNvSpPr txBox="1"/>
              <p:nvPr/>
            </p:nvSpPr>
            <p:spPr>
              <a:xfrm>
                <a:off x="6426708" y="1054608"/>
                <a:ext cx="124968" cy="1264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6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9" descr="/home/ahmed/Projects/ai_llm_slides/videos/deep-learning/002_transformers_part2/recreated_pptx/build/assets/mvb1_s3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6708" y="1054608"/>
                <a:ext cx="124968" cy="1264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\mathrm{cos}(\omega t)"/>
              <p:cNvSpPr txBox="1"/>
              <p:nvPr/>
            </p:nvSpPr>
            <p:spPr>
              <a:xfrm>
                <a:off x="6642608" y="1016508"/>
                <a:ext cx="774192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10" descr="/home/ahmed/Projects/ai_llm_slides/videos/deep-learning/002_transformers_part2/recreated_pptx/build/assets/mvb1_s4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2608" y="1016508"/>
                <a:ext cx="774192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\mathrm{sin}(\omega \delta)"/>
              <p:cNvSpPr txBox="1"/>
              <p:nvPr/>
            </p:nvSpPr>
            <p:spPr>
              <a:xfrm>
                <a:off x="7506208" y="1016508"/>
                <a:ext cx="77419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11" descr="/home/ahmed/Projects/ai_llm_slides/videos/deep-learning/002_transformers_part2/recreated_pptx/build/assets/mvb1_s5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06208" y="1016508"/>
                <a:ext cx="77419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\mathrm{cos}(\omega t)"/>
              <p:cNvSpPr txBox="1"/>
              <p:nvPr/>
            </p:nvSpPr>
            <p:spPr>
              <a:xfrm>
                <a:off x="4737608" y="1448308"/>
                <a:ext cx="728472" cy="2011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6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6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12" descr="/home/ahmed/Projects/ai_llm_slides/videos/deep-learning/002_transformers_part2/recreated_pptx/build/assets/mvb2_s1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37608" y="1448308"/>
                <a:ext cx="728472" cy="2011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mathrm{cos}(\omega \delta)"/>
              <p:cNvSpPr txBox="1"/>
              <p:nvPr/>
            </p:nvSpPr>
            <p:spPr>
              <a:xfrm>
                <a:off x="5563108" y="1448308"/>
                <a:ext cx="841248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0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0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13" descr="/home/ahmed/Projects/ai_llm_slides/videos/deep-learning/002_transformers_part2/recreated_pptx/build/assets/mvb2_s2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63108" y="1448308"/>
                <a:ext cx="841248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-"/>
              <p:cNvSpPr txBox="1"/>
              <p:nvPr/>
            </p:nvSpPr>
            <p:spPr>
              <a:xfrm>
                <a:off x="6490208" y="1511808"/>
                <a:ext cx="77724" cy="304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678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14" descr="/home/ahmed/Projects/ai_llm_slides/videos/deep-learning/002_transformers_part2/recreated_pptx/build/assets/mvb2_s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90208" y="1511808"/>
                <a:ext cx="77724" cy="304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\mathrm{sin}(\omega t)"/>
              <p:cNvSpPr txBox="1"/>
              <p:nvPr/>
            </p:nvSpPr>
            <p:spPr>
              <a:xfrm>
                <a:off x="6642608" y="1448308"/>
                <a:ext cx="710184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15" descr="/home/ahmed/Projects/ai_llm_slides/videos/deep-learning/002_transformers_part2/recreated_pptx/build/assets/mvb2_s4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2608" y="1448308"/>
                <a:ext cx="710184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\mathrm{sin}(\omega \delta)"/>
              <p:cNvSpPr txBox="1"/>
              <p:nvPr/>
            </p:nvSpPr>
            <p:spPr>
              <a:xfrm>
                <a:off x="7442708" y="1448308"/>
                <a:ext cx="77419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16" descr="/home/ahmed/Projects/ai_llm_slides/videos/deep-learning/002_transformers_part2/recreated_pptx/build/assets/mvb2_s5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42708" y="1448308"/>
                <a:ext cx="77419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\mathrm{sin}(a)"/>
              <p:cNvSpPr txBox="1"/>
              <p:nvPr/>
            </p:nvSpPr>
            <p:spPr>
              <a:xfrm>
                <a:off x="5017008" y="1981708"/>
                <a:ext cx="58521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17" descr="/home/ahmed/Projects/ai_llm_slides/videos/deep-learning/002_transformers_part2/recreated_pptx/build/assets/mvr1_s1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17008" y="1981708"/>
                <a:ext cx="585216" cy="2103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\mathrm{cos}(b)"/>
              <p:cNvSpPr txBox="1"/>
              <p:nvPr/>
            </p:nvSpPr>
            <p:spPr>
              <a:xfrm>
                <a:off x="5690108" y="1981708"/>
                <a:ext cx="710184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2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2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18" descr="/home/ahmed/Projects/ai_llm_slides/videos/deep-learning/002_transformers_part2/recreated_pptx/build/assets/mvr1_s2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90108" y="1981708"/>
                <a:ext cx="710184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+"/>
              <p:cNvSpPr txBox="1"/>
              <p:nvPr/>
            </p:nvSpPr>
            <p:spPr>
              <a:xfrm>
                <a:off x="6439408" y="2019808"/>
                <a:ext cx="124968" cy="1264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6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19" descr="/home/ahmed/Projects/ai_llm_slides/videos/deep-learning/002_transformers_part2/recreated_pptx/build/assets/mvr1_s3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39408" y="2019808"/>
                <a:ext cx="124968" cy="1264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cos}(a)"/>
              <p:cNvSpPr txBox="1"/>
              <p:nvPr/>
            </p:nvSpPr>
            <p:spPr>
              <a:xfrm>
                <a:off x="6642608" y="1981708"/>
                <a:ext cx="658368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0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0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20" descr="/home/ahmed/Projects/ai_llm_slides/videos/deep-learning/002_transformers_part2/recreated_pptx/build/assets/mvr1_s4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42608" y="1981708"/>
                <a:ext cx="658368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\mathrm{sin}(b)"/>
              <p:cNvSpPr txBox="1"/>
              <p:nvPr/>
            </p:nvSpPr>
            <p:spPr>
              <a:xfrm>
                <a:off x="7379208" y="1981708"/>
                <a:ext cx="594360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6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6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21" descr="/home/ahmed/Projects/ai_llm_slides/videos/deep-learning/002_transformers_part2/recreated_pptx/build/assets/mvr1_s5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79208" y="1981708"/>
                <a:ext cx="594360" cy="2118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\mathrm{cos}(a)"/>
              <p:cNvSpPr txBox="1"/>
              <p:nvPr/>
            </p:nvSpPr>
            <p:spPr>
              <a:xfrm>
                <a:off x="4966208" y="2388108"/>
                <a:ext cx="647700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7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22" descr="/home/ahmed/Projects/ai_llm_slides/videos/deep-learning/002_transformers_part2/recreated_pptx/build/assets/mvr2_s1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66208" y="2388108"/>
                <a:ext cx="647700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\mathrm{cos}(b)"/>
              <p:cNvSpPr txBox="1"/>
              <p:nvPr/>
            </p:nvSpPr>
            <p:spPr>
              <a:xfrm>
                <a:off x="5702808" y="2388108"/>
                <a:ext cx="658368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9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9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23" descr="/home/ahmed/Projects/ai_llm_slides/videos/deep-learning/002_transformers_part2/recreated_pptx/build/assets/mvr2_s2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02808" y="2388108"/>
                <a:ext cx="658368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-"/>
              <p:cNvSpPr txBox="1"/>
              <p:nvPr/>
            </p:nvSpPr>
            <p:spPr>
              <a:xfrm>
                <a:off x="6515608" y="2451608"/>
                <a:ext cx="77724" cy="304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678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24" descr="/home/ahmed/Projects/ai_llm_slides/videos/deep-learning/002_transformers_part2/recreated_pptx/build/assets/mvr2_s3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15608" y="2451608"/>
                <a:ext cx="77724" cy="304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1" name="Equation OMML" descr="\mathrm{sin}(a)"/>
              <p:cNvSpPr txBox="1"/>
              <p:nvPr/>
            </p:nvSpPr>
            <p:spPr>
              <a:xfrm>
                <a:off x="6668008" y="2388108"/>
                <a:ext cx="58521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1" name="Image 25" descr="/home/ahmed/Projects/ai_llm_slides/videos/deep-learning/002_transformers_part2/recreated_pptx/build/assets/mvr2_s4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68008" y="2388108"/>
                <a:ext cx="585216" cy="2103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2" name="Equation OMML" descr="\mathrm{sin}(b)"/>
              <p:cNvSpPr txBox="1"/>
              <p:nvPr/>
            </p:nvSpPr>
            <p:spPr>
              <a:xfrm>
                <a:off x="7341108" y="2388108"/>
                <a:ext cx="585216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26" descr="/home/ahmed/Projects/ai_llm_slides/videos/deep-learning/002_transformers_part2/recreated_pptx/build/assets/mvr2_s5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41108" y="2388108"/>
                <a:ext cx="585216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3" name="Equation OMML" descr="\mathrm{Let}"/>
              <p:cNvSpPr txBox="1"/>
              <p:nvPr/>
            </p:nvSpPr>
            <p:spPr>
              <a:xfrm>
                <a:off x="8915908" y="1689608"/>
                <a:ext cx="291084" cy="1645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Let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27" descr="/home/ahmed/Projects/ai_llm_slides/videos/deep-learning/002_transformers_part2/recreated_pptx/build/assets/db1_let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15908" y="1689608"/>
                <a:ext cx="291084" cy="1645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\omega t=a\;,"/>
              <p:cNvSpPr txBox="1"/>
              <p:nvPr/>
            </p:nvSpPr>
            <p:spPr>
              <a:xfrm>
                <a:off x="9322308" y="1689608"/>
                <a:ext cx="582168" cy="1539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ωt=a ,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28" descr="/home/ahmed/Projects/ai_llm_slides/videos/deep-learning/002_transformers_part2/recreated_pptx/build/assets/db1_a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22308" y="1689608"/>
                <a:ext cx="582168" cy="1539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\omega \delta=b"/>
              <p:cNvSpPr txBox="1"/>
              <p:nvPr/>
            </p:nvSpPr>
            <p:spPr>
              <a:xfrm>
                <a:off x="9982708" y="1689608"/>
                <a:ext cx="519684" cy="1432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1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ωδ=b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29" descr="/home/ahmed/Projects/ai_llm_slides/videos/deep-learning/002_transformers_part2/recreated_pptx/build/assets/db1_b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82708" y="1689608"/>
                <a:ext cx="519684" cy="1432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\mathrm{sin}^{2}(a)+\mathrm{cos}^{2}(a)=1"/>
              <p:cNvSpPr txBox="1"/>
              <p:nvPr/>
            </p:nvSpPr>
            <p:spPr>
              <a:xfrm>
                <a:off x="8776208" y="2223008"/>
                <a:ext cx="1874520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48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(a)+</m:t>
                      </m:r>
                      <m:sSup>
                        <m:sSupPr>
                          <m:ctrlP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48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30" descr="/home/ahmed/Projects/ai_llm_slides/videos/deep-learning/002_transformers_part2/recreated_pptx/build/assets/db2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76208" y="2223008"/>
                <a:ext cx="1874520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[\,\mathrm{sin}(a)\,(\mathrm{cos}(b)-1)+\mathrm{cos}(a)\,\mathrm{sin}(b)\,]^{2}+\,[\,-\mathrm{sin}(a)\,\mathrm{sin}(b)+\mathrm{cos}(a)\,(\mathrm{cos}(b)-1)\,]^{2}"/>
              <p:cNvSpPr txBox="1"/>
              <p:nvPr/>
            </p:nvSpPr>
            <p:spPr>
              <a:xfrm>
                <a:off x="1067308" y="3785108"/>
                <a:ext cx="8394192" cy="2606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(b)-1)+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</m:t>
                      </m:r>
                      <m:sSup>
                        <m:sSupPr>
                          <m:ctrlP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 [ -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 </m:t>
                      </m:r>
                      <m:sSup>
                        <m:sSupPr>
                          <m:ctrlP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31" descr="/home/ahmed/Projects/ai_llm_slides/videos/deep-learning/002_transformers_part2/recreated_pptx/build/assets/dR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67308" y="3785108"/>
                <a:ext cx="8394192" cy="2606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[\,\mathrm{sin}(a)^{2}(\mathrm{cos}(b)-1)^{2}+\mathrm{cos}^{2}(a)\,\mathrm{sin}^{2}(b)+\,2\,\mathrm{sin}(a)\,\mathrm{cos}(a)\,\mathrm{sin}(b)\,(\mathrm{cos}(b)-1)\,]\,+"/>
              <p:cNvSpPr txBox="1"/>
              <p:nvPr/>
            </p:nvSpPr>
            <p:spPr>
              <a:xfrm>
                <a:off x="1105408" y="4280408"/>
                <a:ext cx="770686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(b)+ 2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(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 ]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32" descr="/home/ahmed/Projects/ai_llm_slides/videos/deep-learning/002_transformers_part2/recreated_pptx/build/assets/dR3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05408" y="4280408"/>
                <a:ext cx="770686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[\,\mathrm{sin}^{2}(a)\,\mathrm{sin}^{2}(b)+\mathrm{cos}^{2}(a)\,(\mathrm{cos}(b)-1)^{2}-\,2\,\mathrm{sin}(a)\,\mathrm{cos}(a)\,\mathrm{sin}(b)\,(\mathrm{cos}(b)-1)\,]"/>
              <p:cNvSpPr txBox="1"/>
              <p:nvPr/>
            </p:nvSpPr>
            <p:spPr>
              <a:xfrm>
                <a:off x="1105408" y="4572508"/>
                <a:ext cx="7240524" cy="2362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- 2 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(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33" descr="/home/ahmed/Projects/ai_llm_slides/videos/deep-learning/002_transformers_part2/recreated_pptx/build/assets/dR4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05408" y="4572508"/>
                <a:ext cx="7240524" cy="2362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\mathrm{sin}(a)^{2}\,(\mathrm{cos}(b)-1)^{2}+\mathrm{cos}^{2}(a)\,\mathrm{sin}^{2}(b)+\mathrm{sin}^{2}(a)\,\mathrm{sin}^{2}(b)+\mathrm{cos}^{2}(a)\,(\mathrm{cos}(b)-1)^{2}"/>
              <p:cNvSpPr txBox="1"/>
              <p:nvPr/>
            </p:nvSpPr>
            <p:spPr>
              <a:xfrm>
                <a:off x="1118108" y="5029708"/>
                <a:ext cx="7554468" cy="2407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(</m:t>
                      </m:r>
                      <m:r>
                        <m:rPr>
                          <m:sty m:val="p"/>
                        </m:rPr>
                        <a:rPr lang="en-US" i="0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34" descr="/home/ahmed/Projects/ai_llm_slides/videos/deep-learning/002_transformers_part2/recreated_pptx/build/assets/dR5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18108" y="5029708"/>
                <a:ext cx="7554468" cy="2407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[\,\mathrm{sin}(a)^{2}+\mathrm{cos}^{2}(a)\,]\,(\mathrm{cos}(b)-1)^{2}+\,[\,\mathrm{sin}(a)^{2}+\mathrm{cos}^{2}(a)\,]\,(\mathrm{sin}^{2}(b)\,)=(\mathrm{cos}(b)-1)^{2}+\mathrm{sin}^{2}(b)"/>
              <p:cNvSpPr txBox="1"/>
              <p:nvPr/>
            </p:nvSpPr>
            <p:spPr>
              <a:xfrm>
                <a:off x="1041908" y="5461508"/>
                <a:ext cx="8269224" cy="2301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] (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 [ 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] (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)=(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35" descr="/home/ahmed/Projects/ai_llm_slides/videos/deep-learning/002_transformers_part2/recreated_pptx/build/assets/dR6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41908" y="5461508"/>
                <a:ext cx="8269224" cy="2301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["/>
              <p:cNvSpPr txBox="1"/>
              <p:nvPr/>
            </p:nvSpPr>
            <p:spPr>
              <a:xfrm>
                <a:off x="1067308" y="3366008"/>
                <a:ext cx="82296" cy="2758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2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[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36" descr="/home/ahmed/Projects/ai_llm_slides/videos/deep-learning/002_transformers_part2/recreated_pptx/build/assets/r1_s0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7308" y="3366008"/>
                <a:ext cx="82296" cy="2758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\mathrm{sin}(a)"/>
              <p:cNvSpPr txBox="1"/>
              <p:nvPr/>
            </p:nvSpPr>
            <p:spPr>
              <a:xfrm>
                <a:off x="1207008" y="3378708"/>
                <a:ext cx="533400" cy="1935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37" descr="/home/ahmed/Projects/ai_llm_slides/videos/deep-learning/002_transformers_part2/recreated_pptx/build/assets/r1_s0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207008" y="3378708"/>
                <a:ext cx="533400" cy="1935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mathrm{cos}(b)\,+"/>
              <p:cNvSpPr txBox="1"/>
              <p:nvPr/>
            </p:nvSpPr>
            <p:spPr>
              <a:xfrm>
                <a:off x="1816608" y="3378708"/>
                <a:ext cx="781812" cy="1874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4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44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38" descr="/home/ahmed/Projects/ai_llm_slides/videos/deep-learning/002_transformers_part2/recreated_pptx/build/assets/r1_s03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16608" y="3378708"/>
                <a:ext cx="781812" cy="1874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\mathrm{cos}(a)"/>
              <p:cNvSpPr txBox="1"/>
              <p:nvPr/>
            </p:nvSpPr>
            <p:spPr>
              <a:xfrm>
                <a:off x="2680208" y="3378708"/>
                <a:ext cx="579120" cy="1935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8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48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39" descr="/home/ahmed/Projects/ai_llm_slides/videos/deep-learning/002_transformers_part2/recreated_pptx/build/assets/r1_s04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680208" y="3378708"/>
                <a:ext cx="579120" cy="1935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\mathrm{sin}(b)\,-"/>
              <p:cNvSpPr txBox="1"/>
              <p:nvPr/>
            </p:nvSpPr>
            <p:spPr>
              <a:xfrm>
                <a:off x="3340608" y="3378708"/>
                <a:ext cx="6949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36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36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40" descr="/home/ahmed/Projects/ai_llm_slides/videos/deep-learning/002_transformers_part2/recreated_pptx/build/assets/r1_s05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40608" y="3378708"/>
                <a:ext cx="69494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\mathrm{sin}(a)"/>
              <p:cNvSpPr txBox="1"/>
              <p:nvPr/>
            </p:nvSpPr>
            <p:spPr>
              <a:xfrm>
                <a:off x="4115308" y="3378708"/>
                <a:ext cx="557784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41" descr="/home/ahmed/Projects/ai_llm_slides/videos/deep-learning/002_transformers_part2/recreated_pptx/build/assets/r1_s06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115308" y="3378708"/>
                <a:ext cx="557784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]^{2}\,+\,[\,-"/>
              <p:cNvSpPr txBox="1"/>
              <p:nvPr/>
            </p:nvSpPr>
            <p:spPr>
              <a:xfrm>
                <a:off x="4737608" y="3378708"/>
                <a:ext cx="888492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79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9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79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79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 + [ 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42" descr="/home/ahmed/Projects/ai_llm_slides/videos/deep-learning/002_transformers_part2/recreated_pptx/build/assets/r1_s07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37608" y="3378708"/>
                <a:ext cx="888492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mathrm{sin}(a)"/>
              <p:cNvSpPr txBox="1"/>
              <p:nvPr/>
            </p:nvSpPr>
            <p:spPr>
              <a:xfrm>
                <a:off x="5639308" y="3378708"/>
                <a:ext cx="533400" cy="1935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43" descr="/home/ahmed/Projects/ai_llm_slides/videos/deep-learning/002_transformers_part2/recreated_pptx/build/assets/r1_s08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639308" y="3378708"/>
                <a:ext cx="533400" cy="1935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\mathrm{sin}(b)\,+"/>
              <p:cNvSpPr txBox="1"/>
              <p:nvPr/>
            </p:nvSpPr>
            <p:spPr>
              <a:xfrm>
                <a:off x="6248908" y="3378708"/>
                <a:ext cx="743712" cy="1905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6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46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44" descr="/home/ahmed/Projects/ai_llm_slides/videos/deep-learning/002_transformers_part2/recreated_pptx/build/assets/r1_s09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48908" y="3378708"/>
                <a:ext cx="743712" cy="1905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\mathrm{cos}(a)"/>
              <p:cNvSpPr txBox="1"/>
              <p:nvPr/>
            </p:nvSpPr>
            <p:spPr>
              <a:xfrm>
                <a:off x="7087108" y="3378708"/>
                <a:ext cx="566928" cy="1889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5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45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45" descr="/home/ahmed/Projects/ai_llm_slides/videos/deep-learning/002_transformers_part2/recreated_pptx/build/assets/r1_s10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087108" y="3378708"/>
                <a:ext cx="566928" cy="1889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\mathrm{cos}(b)\,-"/>
              <p:cNvSpPr txBox="1"/>
              <p:nvPr/>
            </p:nvSpPr>
            <p:spPr>
              <a:xfrm>
                <a:off x="7734808" y="3378708"/>
                <a:ext cx="7330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35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35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46" descr="/home/ahmed/Projects/ai_llm_slides/videos/deep-learning/002_transformers_part2/recreated_pptx/build/assets/r1_s11.png">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34808" y="3378708"/>
                <a:ext cx="73304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\mathrm{cos}(a)"/>
              <p:cNvSpPr txBox="1"/>
              <p:nvPr/>
            </p:nvSpPr>
            <p:spPr>
              <a:xfrm>
                <a:off x="8547608" y="3378708"/>
                <a:ext cx="589788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2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2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47" descr="/home/ahmed/Projects/ai_llm_slides/videos/deep-learning/002_transformers_part2/recreated_pptx/build/assets/r1_s12.png">    </p:cNvPr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547608" y="3378708"/>
                <a:ext cx="589788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]^{2}"/>
              <p:cNvSpPr txBox="1"/>
              <p:nvPr/>
            </p:nvSpPr>
            <p:spPr>
              <a:xfrm>
                <a:off x="9169908" y="3378708"/>
                <a:ext cx="179832" cy="2727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2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82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82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48" descr="/home/ahmed/Projects/ai_llm_slides/videos/deep-learning/002_transformers_part2/recreated_pptx/build/assets/r1_s13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69908" y="3378708"/>
                <a:ext cx="179832" cy="2727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5" name="Equation OMML" descr="\mathrm{cos}^{2}(b)"/>
              <p:cNvSpPr txBox="1"/>
              <p:nvPr/>
            </p:nvSpPr>
            <p:spPr>
              <a:xfrm>
                <a:off x="965708" y="5994908"/>
                <a:ext cx="679704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5" name="Image 49" descr="/home/ahmed/Projects/ai_llm_slides/videos/deep-learning/002_transformers_part2/recreated_pptx/build/assets/dR7_s1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65708" y="5994908"/>
                <a:ext cx="679704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6" name="Equation OMML" descr="-2\,\mathrm{cos}(b)\,+1\,+"/>
              <p:cNvSpPr txBox="1"/>
              <p:nvPr/>
            </p:nvSpPr>
            <p:spPr>
              <a:xfrm>
                <a:off x="1715008" y="5994908"/>
                <a:ext cx="1507236" cy="1950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0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-2 </m:t>
                      </m:r>
                      <m:r>
                        <m:rPr>
                          <m:sty m:val="p"/>
                        </m:rPr>
                        <a:rPr lang="en-US" i="0" smtClean="0" sz="150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0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+1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6" name="Image 50" descr="/home/ahmed/Projects/ai_llm_slides/videos/deep-learning/002_transformers_part2/recreated_pptx/build/assets/dR7_s2.png">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15008" y="5994908"/>
                <a:ext cx="1507236" cy="1950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7" name="Equation OMML" descr="\mathrm{sin}^{2}(b)"/>
              <p:cNvSpPr txBox="1"/>
              <p:nvPr/>
            </p:nvSpPr>
            <p:spPr>
              <a:xfrm>
                <a:off x="3162808" y="5994908"/>
                <a:ext cx="640080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522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22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22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2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7" name="Image 51" descr="/home/ahmed/Projects/ai_llm_slides/videos/deep-learning/002_transformers_part2/recreated_pptx/build/assets/dR7_s3.png">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162808" y="5994908"/>
                <a:ext cx="640080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8" name="Equation OMML" descr="=\,2\,-2\,\mathrm{cos}(b)\,=\,2(1-\mathrm{cos}(b)\,)"/>
              <p:cNvSpPr txBox="1"/>
              <p:nvPr/>
            </p:nvSpPr>
            <p:spPr>
              <a:xfrm>
                <a:off x="3874008" y="5994908"/>
                <a:ext cx="2674620" cy="1813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 2 -2 </m:t>
                      </m:r>
                      <m:r>
                        <m:rPr>
                          <m:sty m:val="p"/>
                        </m:rPr>
                        <a:rPr lang="en-US" i="0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= 2(1-</m:t>
                      </m:r>
                      <m:r>
                        <m:rPr>
                          <m:sty m:val="p"/>
                        </m:rPr>
                        <a:rPr lang="en-US" i="0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8" name="Image 52" descr="/home/ahmed/Projects/ai_llm_slides/videos/deep-learning/002_transformers_part2/recreated_pptx/build/assets/dR7_s4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74008" y="5994908"/>
                <a:ext cx="2674620" cy="1813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9" name="Equation OMML" descr="="/>
              <p:cNvSpPr txBox="1"/>
              <p:nvPr/>
            </p:nvSpPr>
            <p:spPr>
              <a:xfrm>
                <a:off x="9728708" y="34295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9" name="Image 53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728708" y="34295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0" name="Equation OMML" descr="="/>
              <p:cNvSpPr txBox="1"/>
              <p:nvPr/>
            </p:nvSpPr>
            <p:spPr>
              <a:xfrm>
                <a:off x="9741408" y="38613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0" name="Image 54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41408" y="38613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1" name="Equation OMML" descr="="/>
              <p:cNvSpPr txBox="1"/>
              <p:nvPr/>
            </p:nvSpPr>
            <p:spPr>
              <a:xfrm>
                <a:off x="9792208" y="46360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1" name="Image 55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792208" y="46360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2" name="Equation OMML" descr="="/>
              <p:cNvSpPr txBox="1"/>
              <p:nvPr/>
            </p:nvSpPr>
            <p:spPr>
              <a:xfrm>
                <a:off x="9817608" y="51059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2" name="Image 56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817608" y="51059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3" name="Equation OMML" descr="="/>
              <p:cNvSpPr txBox="1"/>
              <p:nvPr/>
            </p:nvSpPr>
            <p:spPr>
              <a:xfrm>
                <a:off x="9830308" y="55377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3" name="Image 57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30308" y="5537708"/>
                <a:ext cx="150876" cy="82296"/>
              </a:xfrm>
              <a:prstGeom prst="rect">
                <a:avLst/>
              </a:prstGeom>
            </p:spPr>
          </p:pic>
        </mc:Fallback>
      </mc:AlternateContent>
      <p:sp>
        <p:nvSpPr>
          <p:cNvPr id="114" name="Shape 54"/>
          <p:cNvSpPr/>
          <p:nvPr/>
        </p:nvSpPr>
        <p:spPr>
          <a:xfrm>
            <a:off x="7289800" y="5956300"/>
            <a:ext cx="2044700" cy="419100"/>
          </a:xfrm>
          <a:prstGeom prst="rect">
            <a:avLst/>
          </a:prstGeom>
          <a:solidFill>
            <a:srgbClr val="E9FFD7"/>
          </a:solidFill>
          <a:ln w="19050">
            <a:solidFill>
              <a:srgbClr val="00CC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15" name="Equation OMML" descr="\mathbf{=2}\,(\mathbf{1-cos}(\omega\delta))"/>
              <p:cNvSpPr txBox="1"/>
              <p:nvPr/>
            </p:nvSpPr>
            <p:spPr>
              <a:xfrm>
                <a:off x="7404608" y="6045708"/>
                <a:ext cx="1706880" cy="2011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559" b="1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=2</m:t>
                      </m:r>
                      <m:r>
                        <a:rPr lang="en-US" i="1" smtClean="0" sz="1559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 (</m:t>
                      </m:r>
                      <m:r>
                        <m:rPr>
                          <m:sty m:val="b"/>
                        </m:rPr>
                        <a:rPr lang="en-US" i="0" smtClean="0" sz="1559" b="1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1-cos</m:t>
                      </m:r>
                      <m:r>
                        <a:rPr lang="en-US" i="1" smtClean="0" sz="1559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(ωδ))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5" name="Image 58" descr="/home/ahmed/Projects/ai_llm_slides/videos/deep-learning/002_transformers_part2/recreated_pptx/build/assets/callout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04608" y="6045708"/>
                <a:ext cx="1706880" cy="201168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Text 55"/>
          <p:cNvSpPr/>
          <p:nvPr/>
        </p:nvSpPr>
        <p:spPr>
          <a:xfrm rot="-2880000">
            <a:off x="9271000" y="5626100"/>
            <a:ext cx="1727200" cy="330200"/>
          </a:xfrm>
          <a:prstGeom prst="rect">
            <a:avLst/>
          </a:prstGeom>
          <a:solidFill>
            <a:srgbClr val="FBFDD2"/>
          </a:solidFill>
          <a:ln>
            <a:solidFill>
              <a:srgbClr val="FBF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Position “t”</a:t>
            </a:r>
            <a:endParaRPr lang="en-US" sz="1100" dirty="0"/>
          </a:p>
        </p:txBody>
      </p:sp>
      <p:sp>
        <p:nvSpPr>
          <p:cNvPr id="117" name="Shape 56"/>
          <p:cNvSpPr/>
          <p:nvPr/>
        </p:nvSpPr>
        <p:spPr>
          <a:xfrm>
            <a:off x="469900" y="6578600"/>
            <a:ext cx="11239500" cy="279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2026-10-11T20:33:26Z</dcterms:created>
  <dcterms:modified xsi:type="dcterms:W3CDTF">2026-10-11T20:33:26Z</dcterms:modified>
</cp:coreProperties>
</file>