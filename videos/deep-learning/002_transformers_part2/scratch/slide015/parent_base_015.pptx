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0000" y="6096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40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50000" y="9779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pPr algn="ctr" indent="0" marL="0">
              <a:buNone/>
            </a:pPr>
            <a:r>
              <a:rPr lang="en-US" sz="2000" b="1" dirty="0">
                <a:solidFill>
                  <a:srgbClr val="1F1F8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Wide</a:t>
            </a:r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” Architecture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80000" y="635000"/>
            <a:ext cx="889000" cy="279400"/>
          </a:xfrm>
          <a:prstGeom prst="roundRect">
            <a:avLst>
              <a:gd name="adj" fmla="val 13091"/>
            </a:avLst>
          </a:prstGeom>
          <a:solidFill>
            <a:srgbClr val="FFFFFF"/>
          </a:solidFill>
          <a:ln w="15875">
            <a:solidFill>
              <a:srgbClr val="2222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5400" y="666750"/>
            <a:ext cx="165100" cy="215900"/>
          </a:xfrm>
          <a:prstGeom prst="rect">
            <a:avLst/>
          </a:prstGeom>
          <a:solidFill>
            <a:srgbClr val="FCFFC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5580" y="666750"/>
            <a:ext cx="165100" cy="215900"/>
          </a:xfrm>
          <a:prstGeom prst="rect">
            <a:avLst/>
          </a:prstGeom>
          <a:solidFill>
            <a:srgbClr val="F1FFDB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5760" y="666750"/>
            <a:ext cx="165100" cy="215900"/>
          </a:xfrm>
          <a:prstGeom prst="rect">
            <a:avLst/>
          </a:prstGeom>
          <a:solidFill>
            <a:srgbClr val="DFF0C8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15940" y="666750"/>
            <a:ext cx="165100" cy="2159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6120" y="666750"/>
            <a:ext cx="165100" cy="2159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84800" y="6858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600" b="1" baseline="-40000" dirty="0">
                <a:solidFill>
                  <a:srgbClr val="00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07100" y="762000"/>
            <a:ext cx="330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778500" y="946150"/>
            <a:ext cx="0" cy="184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" name="Shape 14"/>
          <p:cNvSpPr/>
          <p:nvPr/>
        </p:nvSpPr>
        <p:spPr>
          <a:xfrm>
            <a:off x="5930900" y="1466850"/>
            <a:ext cx="0" cy="1460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" name="Shape 15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solidFill>
            <a:srgbClr val="F6FAD5"/>
          </a:solidFill>
          <a:ln w="19050">
            <a:solidFill>
              <a:srgbClr val="D269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87800" y="1143000"/>
            <a:ext cx="30480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    [ T ] 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50" b="1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pPr algn="ctr" indent="0" marL="0">
              <a:buNone/>
            </a:pPr>
            <a:r>
              <a:rPr lang="en-US" sz="7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solidFill>
            <a:srgbClr val="F9FBBD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62400" y="1644650"/>
            <a:ext cx="914400" cy="260350"/>
          </a:xfrm>
          <a:prstGeom prst="rect">
            <a:avLst/>
          </a:prstGeom>
          <a:solidFill>
            <a:srgbClr val="BB4F07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02200" y="1644650"/>
            <a:ext cx="927100" cy="260350"/>
          </a:xfrm>
          <a:prstGeom prst="rect">
            <a:avLst/>
          </a:prstGeom>
          <a:solidFill>
            <a:srgbClr val="777C5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4700" y="1644650"/>
            <a:ext cx="914400" cy="260350"/>
          </a:xfrm>
          <a:prstGeom prst="rect">
            <a:avLst/>
          </a:prstGeom>
          <a:solidFill>
            <a:srgbClr val="F2F208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4500" y="1644650"/>
            <a:ext cx="914400" cy="260350"/>
          </a:xfrm>
          <a:prstGeom prst="rect">
            <a:avLst/>
          </a:prstGeom>
          <a:solidFill>
            <a:srgbClr val="AAFF71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34300" y="1644650"/>
            <a:ext cx="939800" cy="260350"/>
          </a:xfrm>
          <a:prstGeom prst="rect">
            <a:avLst/>
          </a:prstGeom>
          <a:solidFill>
            <a:srgbClr val="F3DEBC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solidFill>
            <a:srgbClr val="FFFFFF"/>
          </a:solidFill>
          <a:ln w="6350">
            <a:solidFill>
              <a:srgbClr val="B0B0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80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26415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2103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1501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102600" y="1695450"/>
            <a:ext cx="2032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349500" y="1625600"/>
            <a:ext cx="6337300" cy="298450"/>
          </a:xfrm>
          <a:prstGeom prst="roundRect">
            <a:avLst>
              <a:gd name="adj" fmla="val 49940"/>
            </a:avLst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87600" y="1651000"/>
            <a:ext cx="1498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Concatenated Vector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149600" y="1790700"/>
            <a:ext cx="736600" cy="1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pPr algn="l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219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5473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5727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1" name="Shape 39"/>
          <p:cNvSpPr/>
          <p:nvPr/>
        </p:nvSpPr>
        <p:spPr>
          <a:xfrm>
            <a:off x="5981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2" name="Shape 40"/>
          <p:cNvSpPr/>
          <p:nvPr/>
        </p:nvSpPr>
        <p:spPr>
          <a:xfrm>
            <a:off x="6235700" y="1936750"/>
            <a:ext cx="0" cy="48260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2971800" y="2438400"/>
            <a:ext cx="6959600" cy="3048000"/>
          </a:xfrm>
          <a:prstGeom prst="roundRect">
            <a:avLst>
              <a:gd name="adj" fmla="val 1800"/>
            </a:avLst>
          </a:prstGeom>
          <a:solidFill>
            <a:srgbClr val="F7E2CD"/>
          </a:solidFill>
          <a:ln/>
        </p:spPr>
      </p:sp>
      <p:sp>
        <p:nvSpPr>
          <p:cNvPr id="44" name="Shape 42"/>
          <p:cNvSpPr/>
          <p:nvPr/>
        </p:nvSpPr>
        <p:spPr>
          <a:xfrm>
            <a:off x="2400300" y="2641600"/>
            <a:ext cx="6959600" cy="3136900"/>
          </a:xfrm>
          <a:prstGeom prst="roundRect">
            <a:avLst>
              <a:gd name="adj" fmla="val 1749"/>
            </a:avLst>
          </a:prstGeom>
          <a:solidFill>
            <a:srgbClr val="D4FFE5"/>
          </a:solidFill>
          <a:ln/>
        </p:spPr>
      </p:sp>
      <p:sp>
        <p:nvSpPr>
          <p:cNvPr id="45" name="Shape 43"/>
          <p:cNvSpPr/>
          <p:nvPr/>
        </p:nvSpPr>
        <p:spPr>
          <a:xfrm>
            <a:off x="1930400" y="2946400"/>
            <a:ext cx="6959600" cy="3175000"/>
          </a:xfrm>
          <a:prstGeom prst="roundRect">
            <a:avLst>
              <a:gd name="adj" fmla="val 1728"/>
            </a:avLst>
          </a:prstGeom>
          <a:solidFill>
            <a:srgbClr val="F8FF9A"/>
          </a:solidFill>
          <a:ln/>
        </p:spPr>
      </p:sp>
      <p:sp>
        <p:nvSpPr>
          <p:cNvPr id="46" name="Shape 44"/>
          <p:cNvSpPr/>
          <p:nvPr/>
        </p:nvSpPr>
        <p:spPr>
          <a:xfrm>
            <a:off x="1320800" y="3200400"/>
            <a:ext cx="6959600" cy="3251200"/>
          </a:xfrm>
          <a:prstGeom prst="roundRect">
            <a:avLst>
              <a:gd name="adj" fmla="val 1688"/>
            </a:avLst>
          </a:prstGeom>
          <a:solidFill>
            <a:srgbClr val="C5C1F4"/>
          </a:solidFill>
          <a:ln/>
        </p:spPr>
      </p:sp>
      <p:sp>
        <p:nvSpPr>
          <p:cNvPr id="47" name="Shape 45"/>
          <p:cNvSpPr/>
          <p:nvPr/>
        </p:nvSpPr>
        <p:spPr>
          <a:xfrm>
            <a:off x="711200" y="3479800"/>
            <a:ext cx="6959600" cy="3200400"/>
          </a:xfrm>
          <a:prstGeom prst="roundRect">
            <a:avLst>
              <a:gd name="adj" fmla="val 1714"/>
            </a:avLst>
          </a:prstGeom>
          <a:solidFill>
            <a:srgbClr val="EF8C96"/>
          </a:solidFill>
          <a:ln/>
        </p:spPr>
      </p:sp>
      <p:sp>
        <p:nvSpPr>
          <p:cNvPr id="48" name="Shape 46"/>
          <p:cNvSpPr/>
          <p:nvPr/>
        </p:nvSpPr>
        <p:spPr>
          <a:xfrm>
            <a:off x="2616200" y="35369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16200" y="35369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5435600" y="35369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35600" y="35369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solidFill>
            <a:srgbClr val="E4E0BC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962400" y="3530600"/>
            <a:ext cx="787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7150100" y="35560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55" name="Text 53"/>
          <p:cNvSpPr/>
          <p:nvPr/>
        </p:nvSpPr>
        <p:spPr>
          <a:xfrm>
            <a:off x="7150100" y="35560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h=1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175000" y="32766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75000" y="32766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5994400" y="32766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94400" y="32766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solidFill>
            <a:srgbClr val="9A86C8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4965700" y="33274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734300" y="32956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63" name="Text 61"/>
          <p:cNvSpPr/>
          <p:nvPr/>
        </p:nvSpPr>
        <p:spPr>
          <a:xfrm>
            <a:off x="7734300" y="32956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h=2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733800" y="30162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33800" y="30162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6553200" y="30162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3200" y="30162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solidFill>
            <a:srgbClr val="A0400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5245100" y="30734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70" name="Shape 68"/>
          <p:cNvSpPr/>
          <p:nvPr/>
        </p:nvSpPr>
        <p:spPr>
          <a:xfrm>
            <a:off x="8318500" y="30353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1" name="Text 69"/>
          <p:cNvSpPr/>
          <p:nvPr/>
        </p:nvSpPr>
        <p:spPr>
          <a:xfrm>
            <a:off x="8318500" y="30353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292600" y="275590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2600" y="275590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7112000" y="275590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12000" y="275590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solidFill>
            <a:srgbClr val="4A4A4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77" name="Text 75"/>
          <p:cNvSpPr/>
          <p:nvPr/>
        </p:nvSpPr>
        <p:spPr>
          <a:xfrm>
            <a:off x="5651500" y="27559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8902700" y="277495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79" name="Text 77"/>
          <p:cNvSpPr/>
          <p:nvPr/>
        </p:nvSpPr>
        <p:spPr>
          <a:xfrm>
            <a:off x="8902700" y="277495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851400" y="2495550"/>
            <a:ext cx="5588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51400" y="24955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7670800" y="2495550"/>
            <a:ext cx="800100" cy="177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9A9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70800" y="2495550"/>
            <a:ext cx="800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4A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solidFill>
            <a:srgbClr val="E0DC1E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5969000" y="2501900"/>
            <a:ext cx="50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9486900" y="2514600"/>
            <a:ext cx="381000" cy="184150"/>
          </a:xfrm>
          <a:prstGeom prst="ellipse">
            <a:avLst/>
          </a:prstGeom>
          <a:solidFill>
            <a:srgbClr val="141405"/>
          </a:solidFill>
          <a:ln/>
        </p:spPr>
      </p:sp>
      <p:sp>
        <p:nvSpPr>
          <p:cNvPr id="87" name="Text 85"/>
          <p:cNvSpPr/>
          <p:nvPr/>
        </p:nvSpPr>
        <p:spPr>
          <a:xfrm>
            <a:off x="9486900" y="2514600"/>
            <a:ext cx="38100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E9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h=5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733800" y="3175000"/>
            <a:ext cx="1016000" cy="355600"/>
          </a:xfrm>
          <a:prstGeom prst="ellipse">
            <a:avLst/>
          </a:prstGeom>
          <a:solidFill>
            <a:srgbClr val="FDF3EE"/>
          </a:solidFill>
          <a:ln w="9525">
            <a:solidFill>
              <a:srgbClr val="C9B8B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33800" y="31750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solidFill>
            <a:srgbClr val="8ED08A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6172200" y="2247900"/>
            <a:ext cx="55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buNone/>
            </a:pPr>
            <a:r>
              <a:rPr lang="en-US" sz="450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1168400" y="4038600"/>
            <a:ext cx="457200" cy="1574800"/>
          </a:xfrm>
          <a:prstGeom prst="roundRect">
            <a:avLst>
              <a:gd name="adj" fmla="val 10000"/>
            </a:avLst>
          </a:prstGeom>
          <a:solidFill>
            <a:srgbClr val="F3F3F0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19200" y="41148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95" name="Shape 93"/>
          <p:cNvSpPr/>
          <p:nvPr/>
        </p:nvSpPr>
        <p:spPr>
          <a:xfrm>
            <a:off x="1587500" y="42545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25600" y="41338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1981200" y="41592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101850" y="41592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222500" y="41592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247900" y="40005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2362200" y="42545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19200" y="44704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105" name="Shape 103"/>
          <p:cNvSpPr/>
          <p:nvPr/>
        </p:nvSpPr>
        <p:spPr>
          <a:xfrm>
            <a:off x="1587500" y="46101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625600" y="44894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1981200" y="45148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101850" y="45148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222500" y="45148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247900" y="43561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00" dirty="0"/>
          </a:p>
        </p:txBody>
      </p:sp>
      <p:sp>
        <p:nvSpPr>
          <p:cNvPr id="112" name="Shape 110"/>
          <p:cNvSpPr/>
          <p:nvPr/>
        </p:nvSpPr>
        <p:spPr>
          <a:xfrm>
            <a:off x="2362200" y="46101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219200" y="48260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15" name="Shape 113"/>
          <p:cNvSpPr/>
          <p:nvPr/>
        </p:nvSpPr>
        <p:spPr>
          <a:xfrm>
            <a:off x="1587500" y="49657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25600" y="48450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18" name="Shape 116"/>
          <p:cNvSpPr/>
          <p:nvPr/>
        </p:nvSpPr>
        <p:spPr>
          <a:xfrm>
            <a:off x="1981200" y="48704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101850" y="48704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222500" y="48704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247900" y="47117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" dirty="0"/>
          </a:p>
        </p:txBody>
      </p:sp>
      <p:sp>
        <p:nvSpPr>
          <p:cNvPr id="122" name="Shape 120"/>
          <p:cNvSpPr/>
          <p:nvPr/>
        </p:nvSpPr>
        <p:spPr>
          <a:xfrm>
            <a:off x="2362200" y="49657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219200" y="5181600"/>
            <a:ext cx="355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25" name="Shape 123"/>
          <p:cNvSpPr/>
          <p:nvPr/>
        </p:nvSpPr>
        <p:spPr>
          <a:xfrm>
            <a:off x="1587500" y="5321300"/>
            <a:ext cx="114300" cy="0"/>
          </a:xfrm>
          <a:prstGeom prst="line">
            <a:avLst/>
          </a:prstGeom>
          <a:noFill/>
          <a:ln w="12700">
            <a:solidFill>
              <a:srgbClr val="8B1A10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solidFill>
            <a:srgbClr val="F0FFF0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25600" y="5200650"/>
            <a:ext cx="3048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128" name="Shape 126"/>
          <p:cNvSpPr/>
          <p:nvPr/>
        </p:nvSpPr>
        <p:spPr>
          <a:xfrm>
            <a:off x="1981200" y="5226050"/>
            <a:ext cx="120650" cy="1905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101850" y="5226050"/>
            <a:ext cx="120650" cy="1905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222500" y="5226050"/>
            <a:ext cx="120650" cy="1905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47900" y="5067300"/>
            <a:ext cx="2032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450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2362200" y="5321300"/>
            <a:ext cx="1143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2476500" y="3822700"/>
            <a:ext cx="736600" cy="1778000"/>
          </a:xfrm>
          <a:prstGeom prst="rect">
            <a:avLst/>
          </a:prstGeom>
          <a:solidFill>
            <a:srgbClr val="D8C0A8"/>
          </a:solidFill>
          <a:ln w="12700">
            <a:solidFill>
              <a:srgbClr val="8A6A48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476500" y="3848100"/>
            <a:ext cx="7366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C2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2844800" y="5562600"/>
            <a:ext cx="-203200" cy="-1905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578100" y="52578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16200" y="52959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844800" y="5562600"/>
            <a:ext cx="-101600" cy="-5461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79700" y="49022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717800" y="49403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844800" y="5562600"/>
            <a:ext cx="25400" cy="-9017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806700" y="45466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844800" y="45847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844800" y="5562600"/>
            <a:ext cx="177800" cy="-1257300"/>
          </a:xfrm>
          <a:prstGeom prst="line">
            <a:avLst/>
          </a:prstGeom>
          <a:noFill/>
          <a:ln w="11430">
            <a:solidFill>
              <a:srgbClr val="8B1A1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959100" y="4191000"/>
            <a:ext cx="127000" cy="127000"/>
          </a:xfrm>
          <a:prstGeom prst="ellipse">
            <a:avLst/>
          </a:prstGeom>
          <a:solidFill>
            <a:srgbClr val="BFE0F0"/>
          </a:solidFill>
          <a:ln w="12700">
            <a:solidFill>
              <a:srgbClr val="5A8AC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997200" y="4229100"/>
            <a:ext cx="50800" cy="50800"/>
          </a:xfrm>
          <a:prstGeom prst="ellipse">
            <a:avLst/>
          </a:prstGeom>
          <a:solidFill>
            <a:srgbClr val="1F2A5C"/>
          </a:solidFill>
          <a:ln/>
        </p:spPr>
      </p:sp>
      <p:sp>
        <p:nvSpPr>
          <p:cNvPr id="147" name="Shape 145"/>
          <p:cNvSpPr/>
          <p:nvPr/>
        </p:nvSpPr>
        <p:spPr>
          <a:xfrm>
            <a:off x="2844800" y="5626100"/>
            <a:ext cx="0" cy="2540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8" name="Shape 146"/>
          <p:cNvSpPr/>
          <p:nvPr/>
        </p:nvSpPr>
        <p:spPr>
          <a:xfrm>
            <a:off x="3251200" y="42545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>
            <a:off x="3251200" y="46101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>
            <a:off x="3251200" y="49657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1" name="Shape 149"/>
          <p:cNvSpPr/>
          <p:nvPr/>
        </p:nvSpPr>
        <p:spPr>
          <a:xfrm>
            <a:off x="3251200" y="5321300"/>
            <a:ext cx="2006600" cy="0"/>
          </a:xfrm>
          <a:prstGeom prst="line">
            <a:avLst/>
          </a:prstGeom>
          <a:noFill/>
          <a:ln w="12700">
            <a:solidFill>
              <a:srgbClr val="A0400E"/>
            </a:solidFill>
            <a:prstDash val="dash"/>
          </a:ln>
        </p:spPr>
      </p:sp>
      <p:sp>
        <p:nvSpPr>
          <p:cNvPr id="152" name="Text 150"/>
          <p:cNvSpPr/>
          <p:nvPr/>
        </p:nvSpPr>
        <p:spPr>
          <a:xfrm>
            <a:off x="3238500" y="3835400"/>
            <a:ext cx="304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K,q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3530600" y="3822700"/>
            <a:ext cx="279400" cy="1778000"/>
          </a:xfrm>
          <a:prstGeom prst="roundRect">
            <a:avLst>
              <a:gd name="adj" fmla="val 29455"/>
            </a:avLst>
          </a:prstGeom>
          <a:solidFill>
            <a:srgbClr val="FBD8E8"/>
          </a:solidFill>
          <a:ln w="9525">
            <a:solidFill>
              <a:srgbClr val="E8A8C8"/>
            </a:solidFill>
            <a:prstDash val="solid"/>
          </a:ln>
        </p:spPr>
      </p:sp>
      <p:pic>
        <p:nvPicPr>
          <p:cNvPr id="154" name="Image 0" descr="/home/ahmed/Projects/ai_llm_slides/videos/deep-learning/001_transformers_part1/recreated_pptx/build/assets/eq_scaling_pill_r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50" y="4038600"/>
            <a:ext cx="236217" cy="1126239"/>
          </a:xfrm>
          <a:prstGeom prst="rect">
            <a:avLst/>
          </a:prstGeom>
        </p:spPr>
      </p:pic>
      <p:pic>
        <p:nvPicPr>
          <p:cNvPr id="155" name="Image 1" descr="/home/ahmed/Projects/ai_llm_slides/videos/deep-learning/001_transformers_part1/recreated_pptx/build/assets/eq_kq_sqrt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0" y="3733800"/>
            <a:ext cx="205740" cy="289563"/>
          </a:xfrm>
          <a:prstGeom prst="rect">
            <a:avLst/>
          </a:prstGeom>
        </p:spPr>
      </p:pic>
      <p:sp>
        <p:nvSpPr>
          <p:cNvPr id="156" name="Shape 152"/>
          <p:cNvSpPr/>
          <p:nvPr/>
        </p:nvSpPr>
        <p:spPr>
          <a:xfrm>
            <a:off x="4216400" y="3822700"/>
            <a:ext cx="292100" cy="1778000"/>
          </a:xfrm>
          <a:prstGeom prst="roundRect">
            <a:avLst>
              <a:gd name="adj" fmla="val 28174"/>
            </a:avLst>
          </a:prstGeom>
          <a:solidFill>
            <a:srgbClr val="E4D8F4"/>
          </a:solidFill>
          <a:ln w="9525">
            <a:solidFill>
              <a:srgbClr val="C8B8E8"/>
            </a:solidFill>
            <a:prstDash val="solid"/>
          </a:ln>
        </p:spPr>
      </p:sp>
      <p:pic>
        <p:nvPicPr>
          <p:cNvPr id="157" name="Image 2" descr="/home/ahmed/Projects/ai_llm_slides/videos/deep-learning/001_transformers_part1/recreated_pptx/build/assets/eq_softmax_pill_r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470400"/>
            <a:ext cx="111255" cy="524253"/>
          </a:xfrm>
          <a:prstGeom prst="rect">
            <a:avLst/>
          </a:prstGeom>
        </p:spPr>
      </p:pic>
      <p:sp>
        <p:nvSpPr>
          <p:cNvPr id="158" name="Shape 153"/>
          <p:cNvSpPr/>
          <p:nvPr/>
        </p:nvSpPr>
        <p:spPr>
          <a:xfrm>
            <a:off x="4800600" y="3517900"/>
            <a:ext cx="406400" cy="-76200"/>
          </a:xfrm>
          <a:prstGeom prst="line">
            <a:avLst/>
          </a:prstGeom>
          <a:noFill/>
          <a:ln w="31750">
            <a:solidFill>
              <a:srgbClr val="00AA00"/>
            </a:solidFill>
            <a:prstDash val="solid"/>
            <a:tailEnd type="triangle"/>
          </a:ln>
        </p:spPr>
      </p:sp>
      <p:sp>
        <p:nvSpPr>
          <p:cNvPr id="159" name="Shape 154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160" name="Text 155"/>
          <p:cNvSpPr/>
          <p:nvPr/>
        </p:nvSpPr>
        <p:spPr>
          <a:xfrm>
            <a:off x="4495800" y="3759200"/>
            <a:ext cx="76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2000" dirty="0"/>
          </a:p>
        </p:txBody>
      </p:sp>
      <p:sp>
        <p:nvSpPr>
          <p:cNvPr id="161" name="Shape 156"/>
          <p:cNvSpPr/>
          <p:nvPr/>
        </p:nvSpPr>
        <p:spPr>
          <a:xfrm>
            <a:off x="5486400" y="41592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62" name="Text 157"/>
          <p:cNvSpPr/>
          <p:nvPr/>
        </p:nvSpPr>
        <p:spPr>
          <a:xfrm>
            <a:off x="5486400" y="41592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63" name="Shape 158"/>
          <p:cNvSpPr/>
          <p:nvPr/>
        </p:nvSpPr>
        <p:spPr>
          <a:xfrm>
            <a:off x="5308600" y="4013200"/>
            <a:ext cx="127000" cy="1460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64" name="Text 159"/>
          <p:cNvSpPr/>
          <p:nvPr/>
        </p:nvSpPr>
        <p:spPr>
          <a:xfrm>
            <a:off x="5740400" y="41402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50" dirty="0"/>
          </a:p>
        </p:txBody>
      </p:sp>
      <p:sp>
        <p:nvSpPr>
          <p:cNvPr id="165" name="Shape 160"/>
          <p:cNvSpPr/>
          <p:nvPr/>
        </p:nvSpPr>
        <p:spPr>
          <a:xfrm>
            <a:off x="5943600" y="41656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6057900" y="41656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6172200" y="41656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8" name="Shape 163"/>
          <p:cNvSpPr/>
          <p:nvPr/>
        </p:nvSpPr>
        <p:spPr>
          <a:xfrm>
            <a:off x="6286500" y="41656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69" name="Shape 164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70" name="Text 165"/>
          <p:cNvSpPr/>
          <p:nvPr/>
        </p:nvSpPr>
        <p:spPr>
          <a:xfrm>
            <a:off x="6477000" y="4114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550" dirty="0"/>
          </a:p>
        </p:txBody>
      </p:sp>
      <p:sp>
        <p:nvSpPr>
          <p:cNvPr id="171" name="Shape 166"/>
          <p:cNvSpPr/>
          <p:nvPr/>
        </p:nvSpPr>
        <p:spPr>
          <a:xfrm>
            <a:off x="5486400" y="45148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72" name="Text 167"/>
          <p:cNvSpPr/>
          <p:nvPr/>
        </p:nvSpPr>
        <p:spPr>
          <a:xfrm>
            <a:off x="5486400" y="45148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73" name="Shape 168"/>
          <p:cNvSpPr/>
          <p:nvPr/>
        </p:nvSpPr>
        <p:spPr>
          <a:xfrm>
            <a:off x="5308600" y="4064000"/>
            <a:ext cx="127000" cy="4508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74" name="Text 169"/>
          <p:cNvSpPr/>
          <p:nvPr/>
        </p:nvSpPr>
        <p:spPr>
          <a:xfrm>
            <a:off x="5740400" y="44958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50" dirty="0"/>
          </a:p>
        </p:txBody>
      </p:sp>
      <p:sp>
        <p:nvSpPr>
          <p:cNvPr id="175" name="Shape 170"/>
          <p:cNvSpPr/>
          <p:nvPr/>
        </p:nvSpPr>
        <p:spPr>
          <a:xfrm>
            <a:off x="5943600" y="45212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6" name="Shape 171"/>
          <p:cNvSpPr/>
          <p:nvPr/>
        </p:nvSpPr>
        <p:spPr>
          <a:xfrm>
            <a:off x="6057900" y="45212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7" name="Shape 172"/>
          <p:cNvSpPr/>
          <p:nvPr/>
        </p:nvSpPr>
        <p:spPr>
          <a:xfrm>
            <a:off x="6172200" y="45212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8" name="Shape 173"/>
          <p:cNvSpPr/>
          <p:nvPr/>
        </p:nvSpPr>
        <p:spPr>
          <a:xfrm>
            <a:off x="6286500" y="45212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79" name="Shape 174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80" name="Text 175"/>
          <p:cNvSpPr/>
          <p:nvPr/>
        </p:nvSpPr>
        <p:spPr>
          <a:xfrm>
            <a:off x="6477000" y="4470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550" dirty="0"/>
          </a:p>
        </p:txBody>
      </p:sp>
      <p:sp>
        <p:nvSpPr>
          <p:cNvPr id="181" name="Shape 176"/>
          <p:cNvSpPr/>
          <p:nvPr/>
        </p:nvSpPr>
        <p:spPr>
          <a:xfrm>
            <a:off x="5486400" y="48704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82" name="Text 177"/>
          <p:cNvSpPr/>
          <p:nvPr/>
        </p:nvSpPr>
        <p:spPr>
          <a:xfrm>
            <a:off x="5486400" y="48704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83" name="Shape 178"/>
          <p:cNvSpPr/>
          <p:nvPr/>
        </p:nvSpPr>
        <p:spPr>
          <a:xfrm>
            <a:off x="5308600" y="4114800"/>
            <a:ext cx="127000" cy="7556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84" name="Text 179"/>
          <p:cNvSpPr/>
          <p:nvPr/>
        </p:nvSpPr>
        <p:spPr>
          <a:xfrm>
            <a:off x="5740400" y="48514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50" dirty="0"/>
          </a:p>
        </p:txBody>
      </p:sp>
      <p:sp>
        <p:nvSpPr>
          <p:cNvPr id="185" name="Shape 180"/>
          <p:cNvSpPr/>
          <p:nvPr/>
        </p:nvSpPr>
        <p:spPr>
          <a:xfrm>
            <a:off x="5943600" y="48768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6" name="Shape 181"/>
          <p:cNvSpPr/>
          <p:nvPr/>
        </p:nvSpPr>
        <p:spPr>
          <a:xfrm>
            <a:off x="6057900" y="48768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7" name="Shape 182"/>
          <p:cNvSpPr/>
          <p:nvPr/>
        </p:nvSpPr>
        <p:spPr>
          <a:xfrm>
            <a:off x="6172200" y="48768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8" name="Shape 183"/>
          <p:cNvSpPr/>
          <p:nvPr/>
        </p:nvSpPr>
        <p:spPr>
          <a:xfrm>
            <a:off x="6286500" y="48768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89" name="Shape 184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6477000" y="4826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191" name="Shape 186"/>
          <p:cNvSpPr/>
          <p:nvPr/>
        </p:nvSpPr>
        <p:spPr>
          <a:xfrm>
            <a:off x="5486400" y="5226050"/>
            <a:ext cx="190500" cy="190500"/>
          </a:xfrm>
          <a:prstGeom prst="ellipse">
            <a:avLst/>
          </a:prstGeom>
          <a:solidFill>
            <a:srgbClr val="FCE8E8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192" name="Text 187"/>
          <p:cNvSpPr/>
          <p:nvPr/>
        </p:nvSpPr>
        <p:spPr>
          <a:xfrm>
            <a:off x="5486400" y="5226050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800" dirty="0"/>
          </a:p>
        </p:txBody>
      </p:sp>
      <p:sp>
        <p:nvSpPr>
          <p:cNvPr id="193" name="Shape 188"/>
          <p:cNvSpPr/>
          <p:nvPr/>
        </p:nvSpPr>
        <p:spPr>
          <a:xfrm>
            <a:off x="5308600" y="4165600"/>
            <a:ext cx="127000" cy="1060450"/>
          </a:xfrm>
          <a:prstGeom prst="line">
            <a:avLst/>
          </a:prstGeom>
          <a:noFill/>
          <a:ln w="11430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94" name="Text 189"/>
          <p:cNvSpPr/>
          <p:nvPr/>
        </p:nvSpPr>
        <p:spPr>
          <a:xfrm>
            <a:off x="5740400" y="5207000"/>
            <a:ext cx="1905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413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50" dirty="0"/>
          </a:p>
        </p:txBody>
      </p:sp>
      <p:sp>
        <p:nvSpPr>
          <p:cNvPr id="195" name="Shape 190"/>
          <p:cNvSpPr/>
          <p:nvPr/>
        </p:nvSpPr>
        <p:spPr>
          <a:xfrm>
            <a:off x="5943600" y="5232400"/>
            <a:ext cx="114300" cy="177800"/>
          </a:xfrm>
          <a:prstGeom prst="rect">
            <a:avLst/>
          </a:prstGeom>
          <a:solidFill>
            <a:srgbClr val="F9FF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6" name="Shape 191"/>
          <p:cNvSpPr/>
          <p:nvPr/>
        </p:nvSpPr>
        <p:spPr>
          <a:xfrm>
            <a:off x="6057900" y="5232400"/>
            <a:ext cx="114300" cy="177800"/>
          </a:xfrm>
          <a:prstGeom prst="rect">
            <a:avLst/>
          </a:prstGeom>
          <a:solidFill>
            <a:srgbClr val="FFFFFF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7" name="Shape 192"/>
          <p:cNvSpPr/>
          <p:nvPr/>
        </p:nvSpPr>
        <p:spPr>
          <a:xfrm>
            <a:off x="6172200" y="5232400"/>
            <a:ext cx="114300" cy="177800"/>
          </a:xfrm>
          <a:prstGeom prst="rect">
            <a:avLst/>
          </a:prstGeom>
          <a:solidFill>
            <a:srgbClr val="F08B96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8" name="Shape 193"/>
          <p:cNvSpPr/>
          <p:nvPr/>
        </p:nvSpPr>
        <p:spPr>
          <a:xfrm>
            <a:off x="6286500" y="5232400"/>
            <a:ext cx="114300" cy="177800"/>
          </a:xfrm>
          <a:prstGeom prst="rect">
            <a:avLst/>
          </a:prstGeom>
          <a:solidFill>
            <a:srgbClr val="EAE4EE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199" name="Shape 194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C8"/>
            </a:solidFill>
            <a:prstDash val="solid"/>
          </a:ln>
        </p:spPr>
      </p:sp>
      <p:sp>
        <p:nvSpPr>
          <p:cNvPr id="200" name="Text 195"/>
          <p:cNvSpPr/>
          <p:nvPr/>
        </p:nvSpPr>
        <p:spPr>
          <a:xfrm>
            <a:off x="6477000" y="5181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201" name="Shape 196"/>
          <p:cNvSpPr/>
          <p:nvPr/>
        </p:nvSpPr>
        <p:spPr>
          <a:xfrm>
            <a:off x="7086600" y="4064000"/>
            <a:ext cx="584200" cy="14224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02" name="Text 197"/>
          <p:cNvSpPr/>
          <p:nvPr/>
        </p:nvSpPr>
        <p:spPr>
          <a:xfrm>
            <a:off x="7124700" y="41402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03" name="Shape 198"/>
          <p:cNvSpPr/>
          <p:nvPr/>
        </p:nvSpPr>
        <p:spPr>
          <a:xfrm>
            <a:off x="7289800" y="41402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4" name="Shape 199"/>
          <p:cNvSpPr/>
          <p:nvPr/>
        </p:nvSpPr>
        <p:spPr>
          <a:xfrm>
            <a:off x="7410450" y="41402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5" name="Shape 200"/>
          <p:cNvSpPr/>
          <p:nvPr/>
        </p:nvSpPr>
        <p:spPr>
          <a:xfrm>
            <a:off x="7531100" y="41402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6" name="Text 201"/>
          <p:cNvSpPr/>
          <p:nvPr/>
        </p:nvSpPr>
        <p:spPr>
          <a:xfrm>
            <a:off x="7124700" y="44831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07" name="Shape 202"/>
          <p:cNvSpPr/>
          <p:nvPr/>
        </p:nvSpPr>
        <p:spPr>
          <a:xfrm>
            <a:off x="7289800" y="44831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8" name="Shape 203"/>
          <p:cNvSpPr/>
          <p:nvPr/>
        </p:nvSpPr>
        <p:spPr>
          <a:xfrm>
            <a:off x="7410450" y="44831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09" name="Shape 204"/>
          <p:cNvSpPr/>
          <p:nvPr/>
        </p:nvSpPr>
        <p:spPr>
          <a:xfrm>
            <a:off x="7531100" y="44831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0" name="Text 205"/>
          <p:cNvSpPr/>
          <p:nvPr/>
        </p:nvSpPr>
        <p:spPr>
          <a:xfrm>
            <a:off x="7124700" y="4826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1" name="Shape 206"/>
          <p:cNvSpPr/>
          <p:nvPr/>
        </p:nvSpPr>
        <p:spPr>
          <a:xfrm>
            <a:off x="7289800" y="48260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2" name="Shape 207"/>
          <p:cNvSpPr/>
          <p:nvPr/>
        </p:nvSpPr>
        <p:spPr>
          <a:xfrm>
            <a:off x="7410450" y="48260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3" name="Shape 208"/>
          <p:cNvSpPr/>
          <p:nvPr/>
        </p:nvSpPr>
        <p:spPr>
          <a:xfrm>
            <a:off x="7531100" y="4826000"/>
            <a:ext cx="1206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7124700" y="51689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15" name="Shape 210"/>
          <p:cNvSpPr/>
          <p:nvPr/>
        </p:nvSpPr>
        <p:spPr>
          <a:xfrm>
            <a:off x="7289800" y="5168900"/>
            <a:ext cx="1206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6" name="Shape 211"/>
          <p:cNvSpPr/>
          <p:nvPr/>
        </p:nvSpPr>
        <p:spPr>
          <a:xfrm>
            <a:off x="7410450" y="5168900"/>
            <a:ext cx="1206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7" name="Shape 212"/>
          <p:cNvSpPr/>
          <p:nvPr/>
        </p:nvSpPr>
        <p:spPr>
          <a:xfrm>
            <a:off x="7531100" y="5168900"/>
            <a:ext cx="1206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18" name="Shape 213"/>
          <p:cNvSpPr/>
          <p:nvPr/>
        </p:nvSpPr>
        <p:spPr>
          <a:xfrm>
            <a:off x="2603500" y="5930900"/>
            <a:ext cx="584200" cy="1524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9" name="Text 214"/>
          <p:cNvSpPr/>
          <p:nvPr/>
        </p:nvSpPr>
        <p:spPr>
          <a:xfrm>
            <a:off x="2400300" y="5918200"/>
            <a:ext cx="1905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525" b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220" name="Shape 215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221" name="Text 216"/>
          <p:cNvSpPr/>
          <p:nvPr/>
        </p:nvSpPr>
        <p:spPr>
          <a:xfrm>
            <a:off x="3276600" y="56896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553" b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520" b="1" baseline="3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(0)</a:t>
            </a:r>
            <a:endParaRPr lang="en-US" sz="650" dirty="0"/>
          </a:p>
        </p:txBody>
      </p:sp>
      <p:sp>
        <p:nvSpPr>
          <p:cNvPr id="222" name="Shape 217"/>
          <p:cNvSpPr/>
          <p:nvPr/>
        </p:nvSpPr>
        <p:spPr>
          <a:xfrm>
            <a:off x="3556000" y="6019800"/>
            <a:ext cx="0" cy="1524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23" name="Shape 218"/>
          <p:cNvSpPr/>
          <p:nvPr/>
        </p:nvSpPr>
        <p:spPr>
          <a:xfrm>
            <a:off x="1930400" y="6248400"/>
            <a:ext cx="2413000" cy="368300"/>
          </a:xfrm>
          <a:prstGeom prst="roundRect">
            <a:avLst>
              <a:gd name="adj" fmla="val 12414"/>
            </a:avLst>
          </a:prstGeom>
          <a:solidFill>
            <a:srgbClr val="E8FCE8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224" name="Shape 219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5" name="Text 220"/>
          <p:cNvSpPr/>
          <p:nvPr/>
        </p:nvSpPr>
        <p:spPr>
          <a:xfrm>
            <a:off x="2006600" y="6299200"/>
            <a:ext cx="71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26" name="Shape 221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solidFill>
            <a:srgbClr val="F2C8F0"/>
          </a:solidFill>
          <a:ln w="19050">
            <a:solidFill>
              <a:srgbClr val="FF69B4"/>
            </a:solidFill>
            <a:prstDash val="solid"/>
          </a:ln>
        </p:spPr>
      </p:sp>
      <p:sp>
        <p:nvSpPr>
          <p:cNvPr id="227" name="Text 222"/>
          <p:cNvSpPr/>
          <p:nvPr/>
        </p:nvSpPr>
        <p:spPr>
          <a:xfrm>
            <a:off x="2819400" y="62992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28" name="Shape 223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29" name="Text 224"/>
          <p:cNvSpPr/>
          <p:nvPr/>
        </p:nvSpPr>
        <p:spPr>
          <a:xfrm>
            <a:off x="3302000" y="6299200"/>
            <a:ext cx="58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30" name="Shape 225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solidFill>
            <a:srgbClr val="F7F3D8"/>
          </a:solidFill>
          <a:ln w="6350">
            <a:solidFill>
              <a:srgbClr val="B8B8B8"/>
            </a:solidFill>
            <a:prstDash val="solid"/>
          </a:ln>
        </p:spPr>
      </p:sp>
      <p:sp>
        <p:nvSpPr>
          <p:cNvPr id="231" name="Text 226"/>
          <p:cNvSpPr/>
          <p:nvPr/>
        </p:nvSpPr>
        <p:spPr>
          <a:xfrm>
            <a:off x="3937000" y="6299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32" name="Shape 227"/>
          <p:cNvSpPr/>
          <p:nvPr/>
        </p:nvSpPr>
        <p:spPr>
          <a:xfrm>
            <a:off x="3086100" y="6515100"/>
            <a:ext cx="127000" cy="-1651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triangle"/>
          </a:ln>
        </p:spPr>
      </p:sp>
      <p:pic>
        <p:nvPicPr>
          <p:cNvPr id="233" name="Image 3" descr="/home/ahmed/Projects/ai_llm_slides/videos/deep-learning/001_transformers_part1/recreated_pptx/build/assets/bottom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1000" y="5740400"/>
            <a:ext cx="4762497" cy="1041401"/>
          </a:xfrm>
          <a:prstGeom prst="rect">
            <a:avLst/>
          </a:prstGeom>
        </p:spPr>
      </p:pic>
      <p:sp>
        <p:nvSpPr>
          <p:cNvPr id="234" name="Shape 228"/>
          <p:cNvSpPr/>
          <p:nvPr/>
        </p:nvSpPr>
        <p:spPr>
          <a:xfrm>
            <a:off x="7823200" y="40894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35" name="Text 229"/>
          <p:cNvSpPr/>
          <p:nvPr/>
        </p:nvSpPr>
        <p:spPr>
          <a:xfrm>
            <a:off x="7861300" y="4191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36" name="Shape 230"/>
          <p:cNvSpPr/>
          <p:nvPr/>
        </p:nvSpPr>
        <p:spPr>
          <a:xfrm>
            <a:off x="8013700" y="4191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7" name="Shape 231"/>
          <p:cNvSpPr/>
          <p:nvPr/>
        </p:nvSpPr>
        <p:spPr>
          <a:xfrm>
            <a:off x="8121650" y="4191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8" name="Shape 232"/>
          <p:cNvSpPr/>
          <p:nvPr/>
        </p:nvSpPr>
        <p:spPr>
          <a:xfrm>
            <a:off x="8229600" y="4191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39" name="Text 233"/>
          <p:cNvSpPr/>
          <p:nvPr/>
        </p:nvSpPr>
        <p:spPr>
          <a:xfrm>
            <a:off x="7861300" y="4572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0" name="Shape 234"/>
          <p:cNvSpPr/>
          <p:nvPr/>
        </p:nvSpPr>
        <p:spPr>
          <a:xfrm>
            <a:off x="8013700" y="4572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1" name="Shape 235"/>
          <p:cNvSpPr/>
          <p:nvPr/>
        </p:nvSpPr>
        <p:spPr>
          <a:xfrm>
            <a:off x="8121650" y="4572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2" name="Shape 236"/>
          <p:cNvSpPr/>
          <p:nvPr/>
        </p:nvSpPr>
        <p:spPr>
          <a:xfrm>
            <a:off x="8229600" y="4572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3" name="Text 237"/>
          <p:cNvSpPr/>
          <p:nvPr/>
        </p:nvSpPr>
        <p:spPr>
          <a:xfrm>
            <a:off x="7861300" y="4953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44" name="Shape 238"/>
          <p:cNvSpPr/>
          <p:nvPr/>
        </p:nvSpPr>
        <p:spPr>
          <a:xfrm>
            <a:off x="8013700" y="4953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5" name="Shape 239"/>
          <p:cNvSpPr/>
          <p:nvPr/>
        </p:nvSpPr>
        <p:spPr>
          <a:xfrm>
            <a:off x="8121650" y="4953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6" name="Shape 240"/>
          <p:cNvSpPr/>
          <p:nvPr/>
        </p:nvSpPr>
        <p:spPr>
          <a:xfrm>
            <a:off x="8229600" y="49530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7" name="Text 241"/>
          <p:cNvSpPr/>
          <p:nvPr/>
        </p:nvSpPr>
        <p:spPr>
          <a:xfrm>
            <a:off x="7861300" y="53340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48" name="Shape 242"/>
          <p:cNvSpPr/>
          <p:nvPr/>
        </p:nvSpPr>
        <p:spPr>
          <a:xfrm>
            <a:off x="8013700" y="53340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49" name="Shape 243"/>
          <p:cNvSpPr/>
          <p:nvPr/>
        </p:nvSpPr>
        <p:spPr>
          <a:xfrm>
            <a:off x="8121650" y="53340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0" name="Shape 244"/>
          <p:cNvSpPr/>
          <p:nvPr/>
        </p:nvSpPr>
        <p:spPr>
          <a:xfrm>
            <a:off x="8229600" y="53340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1" name="Shape 245"/>
          <p:cNvSpPr/>
          <p:nvPr/>
        </p:nvSpPr>
        <p:spPr>
          <a:xfrm>
            <a:off x="8089900" y="55626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52" name="Shape 246"/>
          <p:cNvSpPr/>
          <p:nvPr/>
        </p:nvSpPr>
        <p:spPr>
          <a:xfrm>
            <a:off x="8382000" y="37592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53" name="Text 247"/>
          <p:cNvSpPr/>
          <p:nvPr/>
        </p:nvSpPr>
        <p:spPr>
          <a:xfrm>
            <a:off x="8420100" y="3860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54" name="Shape 248"/>
          <p:cNvSpPr/>
          <p:nvPr/>
        </p:nvSpPr>
        <p:spPr>
          <a:xfrm>
            <a:off x="8572500" y="3860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5" name="Shape 249"/>
          <p:cNvSpPr/>
          <p:nvPr/>
        </p:nvSpPr>
        <p:spPr>
          <a:xfrm>
            <a:off x="8680450" y="3860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6" name="Shape 250"/>
          <p:cNvSpPr/>
          <p:nvPr/>
        </p:nvSpPr>
        <p:spPr>
          <a:xfrm>
            <a:off x="8788400" y="3860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7" name="Text 251"/>
          <p:cNvSpPr/>
          <p:nvPr/>
        </p:nvSpPr>
        <p:spPr>
          <a:xfrm>
            <a:off x="8420100" y="4241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58" name="Shape 252"/>
          <p:cNvSpPr/>
          <p:nvPr/>
        </p:nvSpPr>
        <p:spPr>
          <a:xfrm>
            <a:off x="8572500" y="4241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59" name="Shape 253"/>
          <p:cNvSpPr/>
          <p:nvPr/>
        </p:nvSpPr>
        <p:spPr>
          <a:xfrm>
            <a:off x="8680450" y="4241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0" name="Shape 254"/>
          <p:cNvSpPr/>
          <p:nvPr/>
        </p:nvSpPr>
        <p:spPr>
          <a:xfrm>
            <a:off x="8788400" y="4241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1" name="Text 255"/>
          <p:cNvSpPr/>
          <p:nvPr/>
        </p:nvSpPr>
        <p:spPr>
          <a:xfrm>
            <a:off x="8420100" y="4622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62" name="Shape 256"/>
          <p:cNvSpPr/>
          <p:nvPr/>
        </p:nvSpPr>
        <p:spPr>
          <a:xfrm>
            <a:off x="8572500" y="4622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3" name="Shape 257"/>
          <p:cNvSpPr/>
          <p:nvPr/>
        </p:nvSpPr>
        <p:spPr>
          <a:xfrm>
            <a:off x="8680450" y="4622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4" name="Shape 258"/>
          <p:cNvSpPr/>
          <p:nvPr/>
        </p:nvSpPr>
        <p:spPr>
          <a:xfrm>
            <a:off x="8788400" y="46228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5" name="Text 259"/>
          <p:cNvSpPr/>
          <p:nvPr/>
        </p:nvSpPr>
        <p:spPr>
          <a:xfrm>
            <a:off x="8420100" y="50038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66" name="Shape 260"/>
          <p:cNvSpPr/>
          <p:nvPr/>
        </p:nvSpPr>
        <p:spPr>
          <a:xfrm>
            <a:off x="8572500" y="50038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7" name="Shape 261"/>
          <p:cNvSpPr/>
          <p:nvPr/>
        </p:nvSpPr>
        <p:spPr>
          <a:xfrm>
            <a:off x="8680450" y="50038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8" name="Shape 262"/>
          <p:cNvSpPr/>
          <p:nvPr/>
        </p:nvSpPr>
        <p:spPr>
          <a:xfrm>
            <a:off x="8788400" y="50038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69" name="Shape 263"/>
          <p:cNvSpPr/>
          <p:nvPr/>
        </p:nvSpPr>
        <p:spPr>
          <a:xfrm>
            <a:off x="8648700" y="52324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70" name="Shape 264"/>
          <p:cNvSpPr/>
          <p:nvPr/>
        </p:nvSpPr>
        <p:spPr>
          <a:xfrm>
            <a:off x="8940800" y="34290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71" name="Text 265"/>
          <p:cNvSpPr/>
          <p:nvPr/>
        </p:nvSpPr>
        <p:spPr>
          <a:xfrm>
            <a:off x="8978900" y="3530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72" name="Shape 266"/>
          <p:cNvSpPr/>
          <p:nvPr/>
        </p:nvSpPr>
        <p:spPr>
          <a:xfrm>
            <a:off x="9131300" y="3530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3" name="Shape 267"/>
          <p:cNvSpPr/>
          <p:nvPr/>
        </p:nvSpPr>
        <p:spPr>
          <a:xfrm>
            <a:off x="9239250" y="3530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4" name="Shape 268"/>
          <p:cNvSpPr/>
          <p:nvPr/>
        </p:nvSpPr>
        <p:spPr>
          <a:xfrm>
            <a:off x="9347200" y="3530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5" name="Text 269"/>
          <p:cNvSpPr/>
          <p:nvPr/>
        </p:nvSpPr>
        <p:spPr>
          <a:xfrm>
            <a:off x="8978900" y="3911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76" name="Shape 270"/>
          <p:cNvSpPr/>
          <p:nvPr/>
        </p:nvSpPr>
        <p:spPr>
          <a:xfrm>
            <a:off x="9131300" y="3911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7" name="Shape 271"/>
          <p:cNvSpPr/>
          <p:nvPr/>
        </p:nvSpPr>
        <p:spPr>
          <a:xfrm>
            <a:off x="9239250" y="3911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8" name="Shape 272"/>
          <p:cNvSpPr/>
          <p:nvPr/>
        </p:nvSpPr>
        <p:spPr>
          <a:xfrm>
            <a:off x="9347200" y="3911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79" name="Text 273"/>
          <p:cNvSpPr/>
          <p:nvPr/>
        </p:nvSpPr>
        <p:spPr>
          <a:xfrm>
            <a:off x="8978900" y="4292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80" name="Shape 274"/>
          <p:cNvSpPr/>
          <p:nvPr/>
        </p:nvSpPr>
        <p:spPr>
          <a:xfrm>
            <a:off x="9131300" y="4292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1" name="Shape 275"/>
          <p:cNvSpPr/>
          <p:nvPr/>
        </p:nvSpPr>
        <p:spPr>
          <a:xfrm>
            <a:off x="9239250" y="4292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2" name="Shape 276"/>
          <p:cNvSpPr/>
          <p:nvPr/>
        </p:nvSpPr>
        <p:spPr>
          <a:xfrm>
            <a:off x="9347200" y="42926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3" name="Text 277"/>
          <p:cNvSpPr/>
          <p:nvPr/>
        </p:nvSpPr>
        <p:spPr>
          <a:xfrm>
            <a:off x="8978900" y="46736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284" name="Shape 278"/>
          <p:cNvSpPr/>
          <p:nvPr/>
        </p:nvSpPr>
        <p:spPr>
          <a:xfrm>
            <a:off x="9131300" y="46736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5" name="Shape 279"/>
          <p:cNvSpPr/>
          <p:nvPr/>
        </p:nvSpPr>
        <p:spPr>
          <a:xfrm>
            <a:off x="9239250" y="46736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6" name="Shape 280"/>
          <p:cNvSpPr/>
          <p:nvPr/>
        </p:nvSpPr>
        <p:spPr>
          <a:xfrm>
            <a:off x="9347200" y="46736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87" name="Shape 281"/>
          <p:cNvSpPr/>
          <p:nvPr/>
        </p:nvSpPr>
        <p:spPr>
          <a:xfrm>
            <a:off x="9207500" y="49022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288" name="Shape 282"/>
          <p:cNvSpPr/>
          <p:nvPr/>
        </p:nvSpPr>
        <p:spPr>
          <a:xfrm>
            <a:off x="9499600" y="3098800"/>
            <a:ext cx="533400" cy="15494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2E8B57"/>
            </a:solidFill>
            <a:prstDash val="dash"/>
          </a:ln>
        </p:spPr>
      </p:sp>
      <p:sp>
        <p:nvSpPr>
          <p:cNvPr id="289" name="Text 283"/>
          <p:cNvSpPr/>
          <p:nvPr/>
        </p:nvSpPr>
        <p:spPr>
          <a:xfrm>
            <a:off x="9537700" y="3200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290" name="Shape 284"/>
          <p:cNvSpPr/>
          <p:nvPr/>
        </p:nvSpPr>
        <p:spPr>
          <a:xfrm>
            <a:off x="9690100" y="3200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1" name="Shape 285"/>
          <p:cNvSpPr/>
          <p:nvPr/>
        </p:nvSpPr>
        <p:spPr>
          <a:xfrm>
            <a:off x="9798050" y="3200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2" name="Shape 286"/>
          <p:cNvSpPr/>
          <p:nvPr/>
        </p:nvSpPr>
        <p:spPr>
          <a:xfrm>
            <a:off x="9906000" y="3200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3" name="Text 287"/>
          <p:cNvSpPr/>
          <p:nvPr/>
        </p:nvSpPr>
        <p:spPr>
          <a:xfrm>
            <a:off x="9537700" y="3581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94" name="Shape 288"/>
          <p:cNvSpPr/>
          <p:nvPr/>
        </p:nvSpPr>
        <p:spPr>
          <a:xfrm>
            <a:off x="9690100" y="3581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5" name="Shape 289"/>
          <p:cNvSpPr/>
          <p:nvPr/>
        </p:nvSpPr>
        <p:spPr>
          <a:xfrm>
            <a:off x="9798050" y="3581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6" name="Shape 290"/>
          <p:cNvSpPr/>
          <p:nvPr/>
        </p:nvSpPr>
        <p:spPr>
          <a:xfrm>
            <a:off x="9906000" y="3581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7" name="Text 291"/>
          <p:cNvSpPr/>
          <p:nvPr/>
        </p:nvSpPr>
        <p:spPr>
          <a:xfrm>
            <a:off x="9537700" y="3962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98" name="Shape 292"/>
          <p:cNvSpPr/>
          <p:nvPr/>
        </p:nvSpPr>
        <p:spPr>
          <a:xfrm>
            <a:off x="9690100" y="3962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299" name="Shape 293"/>
          <p:cNvSpPr/>
          <p:nvPr/>
        </p:nvSpPr>
        <p:spPr>
          <a:xfrm>
            <a:off x="9798050" y="3962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0" name="Shape 294"/>
          <p:cNvSpPr/>
          <p:nvPr/>
        </p:nvSpPr>
        <p:spPr>
          <a:xfrm>
            <a:off x="9906000" y="3962400"/>
            <a:ext cx="107950" cy="2032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1" name="Text 295"/>
          <p:cNvSpPr/>
          <p:nvPr/>
        </p:nvSpPr>
        <p:spPr>
          <a:xfrm>
            <a:off x="9537700" y="4343400"/>
            <a:ext cx="152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375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2" name="Shape 296"/>
          <p:cNvSpPr/>
          <p:nvPr/>
        </p:nvSpPr>
        <p:spPr>
          <a:xfrm>
            <a:off x="9690100" y="4343400"/>
            <a:ext cx="107950" cy="203200"/>
          </a:xfrm>
          <a:prstGeom prst="rect">
            <a:avLst/>
          </a:prstGeom>
          <a:solidFill>
            <a:srgbClr val="FFFFF0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3" name="Shape 297"/>
          <p:cNvSpPr/>
          <p:nvPr/>
        </p:nvSpPr>
        <p:spPr>
          <a:xfrm>
            <a:off x="9798050" y="4343400"/>
            <a:ext cx="107950" cy="2032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4" name="Shape 298"/>
          <p:cNvSpPr/>
          <p:nvPr/>
        </p:nvSpPr>
        <p:spPr>
          <a:xfrm>
            <a:off x="9906000" y="4343400"/>
            <a:ext cx="107950" cy="2032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05" name="Shape 299"/>
          <p:cNvSpPr/>
          <p:nvPr/>
        </p:nvSpPr>
        <p:spPr>
          <a:xfrm>
            <a:off x="9766300" y="4572000"/>
            <a:ext cx="0" cy="114300"/>
          </a:xfrm>
          <a:prstGeom prst="line">
            <a:avLst/>
          </a:prstGeom>
          <a:noFill/>
          <a:ln w="15875">
            <a:solidFill>
              <a:srgbClr val="00AA00"/>
            </a:solidFill>
            <a:prstDash val="solid"/>
            <a:headEnd type="triangle"/>
          </a:ln>
        </p:spPr>
      </p:sp>
      <p:sp>
        <p:nvSpPr>
          <p:cNvPr id="306" name="Shape 300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07" name="Text 301"/>
          <p:cNvSpPr/>
          <p:nvPr/>
        </p:nvSpPr>
        <p:spPr>
          <a:xfrm>
            <a:off x="7823200" y="5664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08" name="Shape 302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09" name="Text 303"/>
          <p:cNvSpPr/>
          <p:nvPr/>
        </p:nvSpPr>
        <p:spPr>
          <a:xfrm>
            <a:off x="7823200" y="5969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0" name="Shape 304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1" name="Text 305"/>
          <p:cNvSpPr/>
          <p:nvPr/>
        </p:nvSpPr>
        <p:spPr>
          <a:xfrm>
            <a:off x="7823200" y="627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550" dirty="0"/>
          </a:p>
        </p:txBody>
      </p:sp>
      <p:sp>
        <p:nvSpPr>
          <p:cNvPr id="312" name="Shape 306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3" name="Text 307"/>
          <p:cNvSpPr/>
          <p:nvPr/>
        </p:nvSpPr>
        <p:spPr>
          <a:xfrm>
            <a:off x="8382000" y="53340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4" name="Shape 308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15" name="Text 309"/>
          <p:cNvSpPr/>
          <p:nvPr/>
        </p:nvSpPr>
        <p:spPr>
          <a:xfrm>
            <a:off x="8382000" y="5638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6" name="Shape 310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17" name="Text 311"/>
          <p:cNvSpPr/>
          <p:nvPr/>
        </p:nvSpPr>
        <p:spPr>
          <a:xfrm>
            <a:off x="8382000" y="594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</a:t>
            </a:r>
            <a:endParaRPr lang="en-US" sz="550" dirty="0"/>
          </a:p>
        </p:txBody>
      </p:sp>
      <p:sp>
        <p:nvSpPr>
          <p:cNvPr id="318" name="Shape 312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19" name="Text 313"/>
          <p:cNvSpPr/>
          <p:nvPr/>
        </p:nvSpPr>
        <p:spPr>
          <a:xfrm>
            <a:off x="8940800" y="50038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0" name="Shape 314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1" name="Text 315"/>
          <p:cNvSpPr/>
          <p:nvPr/>
        </p:nvSpPr>
        <p:spPr>
          <a:xfrm>
            <a:off x="8940800" y="5308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2" name="Shape 316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3" name="Text 317"/>
          <p:cNvSpPr/>
          <p:nvPr/>
        </p:nvSpPr>
        <p:spPr>
          <a:xfrm>
            <a:off x="8940800" y="5613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550" dirty="0"/>
          </a:p>
        </p:txBody>
      </p:sp>
      <p:sp>
        <p:nvSpPr>
          <p:cNvPr id="324" name="Shape 318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CC2222"/>
            </a:solidFill>
            <a:prstDash val="solid"/>
          </a:ln>
        </p:spPr>
      </p:sp>
      <p:sp>
        <p:nvSpPr>
          <p:cNvPr id="325" name="Text 319"/>
          <p:cNvSpPr/>
          <p:nvPr/>
        </p:nvSpPr>
        <p:spPr>
          <a:xfrm>
            <a:off x="9499600" y="46736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6" name="Shape 320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327" name="Text 321"/>
          <p:cNvSpPr/>
          <p:nvPr/>
        </p:nvSpPr>
        <p:spPr>
          <a:xfrm>
            <a:off x="9499600" y="49784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sp>
        <p:nvSpPr>
          <p:cNvPr id="328" name="Shape 322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F55C8"/>
            </a:solidFill>
            <a:prstDash val="solid"/>
          </a:ln>
        </p:spPr>
      </p:sp>
      <p:sp>
        <p:nvSpPr>
          <p:cNvPr id="329" name="Text 323"/>
          <p:cNvSpPr/>
          <p:nvPr/>
        </p:nvSpPr>
        <p:spPr>
          <a:xfrm>
            <a:off x="9499600" y="5283200"/>
            <a:ext cx="5334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468" b="1" baseline="-4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440" b="1" baseline="30000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550" dirty="0"/>
          </a:p>
        </p:txBody>
      </p:sp>
      <p:pic>
        <p:nvPicPr>
          <p:cNvPr id="330" name="Image 4" descr="/home/ahmed/Projects/ai_llm_slides/videos/deep-learning/001_transformers_part1/recreated_pptx/build/assets/swoo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127500"/>
            <a:ext cx="2222504" cy="1904997"/>
          </a:xfrm>
          <a:prstGeom prst="rect">
            <a:avLst/>
          </a:prstGeom>
        </p:spPr>
      </p:pic>
      <p:sp>
        <p:nvSpPr>
          <p:cNvPr id="331" name="Text 324"/>
          <p:cNvSpPr/>
          <p:nvPr/>
        </p:nvSpPr>
        <p:spPr>
          <a:xfrm rot="19320000">
            <a:off x="7772400" y="4978400"/>
            <a:ext cx="1219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00" b="1" i="1" baseline="30000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pPr algn="ctr" indent="0" marL="0">
              <a:buNone/>
            </a:pPr>
            <a:r>
              <a:rPr lang="en-US" sz="1000" b="1" i="1" dirty="0">
                <a:solidFill>
                  <a:srgbClr val="003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Heads</a:t>
            </a:r>
            <a:endParaRPr lang="en-US" sz="1000" dirty="0"/>
          </a:p>
        </p:txBody>
      </p:sp>
      <p:sp>
        <p:nvSpPr>
          <p:cNvPr id="332" name="Shape 325"/>
          <p:cNvSpPr/>
          <p:nvPr/>
        </p:nvSpPr>
        <p:spPr>
          <a:xfrm>
            <a:off x="9347200" y="5943600"/>
            <a:ext cx="2159000" cy="812800"/>
          </a:xfrm>
          <a:prstGeom prst="roundRect">
            <a:avLst>
              <a:gd name="adj" fmla="val 6750"/>
            </a:avLst>
          </a:prstGeom>
          <a:solidFill>
            <a:srgbClr val="E6FCE6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333" name="Shape 326"/>
          <p:cNvSpPr/>
          <p:nvPr/>
        </p:nvSpPr>
        <p:spPr>
          <a:xfrm>
            <a:off x="944880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4" name="Shape 327"/>
          <p:cNvSpPr/>
          <p:nvPr/>
        </p:nvSpPr>
        <p:spPr>
          <a:xfrm>
            <a:off x="951992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5" name="Shape 328"/>
          <p:cNvSpPr/>
          <p:nvPr/>
        </p:nvSpPr>
        <p:spPr>
          <a:xfrm>
            <a:off x="959104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6" name="Shape 329"/>
          <p:cNvSpPr/>
          <p:nvPr/>
        </p:nvSpPr>
        <p:spPr>
          <a:xfrm>
            <a:off x="966216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7" name="Shape 330"/>
          <p:cNvSpPr/>
          <p:nvPr/>
        </p:nvSpPr>
        <p:spPr>
          <a:xfrm>
            <a:off x="9733280" y="5994400"/>
            <a:ext cx="71120" cy="139700"/>
          </a:xfrm>
          <a:prstGeom prst="rect">
            <a:avLst/>
          </a:prstGeom>
          <a:solidFill>
            <a:srgbClr val="F9FF96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8" name="Shape 331"/>
          <p:cNvSpPr/>
          <p:nvPr/>
        </p:nvSpPr>
        <p:spPr>
          <a:xfrm>
            <a:off x="9804400" y="5994400"/>
            <a:ext cx="71120" cy="1397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39" name="Shape 332"/>
          <p:cNvSpPr/>
          <p:nvPr/>
        </p:nvSpPr>
        <p:spPr>
          <a:xfrm>
            <a:off x="9875520" y="5994400"/>
            <a:ext cx="71120" cy="139700"/>
          </a:xfrm>
          <a:prstGeom prst="rect">
            <a:avLst/>
          </a:prstGeom>
          <a:solidFill>
            <a:srgbClr val="F6DAF3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0" name="Shape 333"/>
          <p:cNvSpPr/>
          <p:nvPr/>
        </p:nvSpPr>
        <p:spPr>
          <a:xfrm>
            <a:off x="9946640" y="5994400"/>
            <a:ext cx="71120" cy="139700"/>
          </a:xfrm>
          <a:prstGeom prst="rect">
            <a:avLst/>
          </a:prstGeom>
          <a:solidFill>
            <a:srgbClr val="EAE4EE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341" name="Text 334"/>
          <p:cNvSpPr/>
          <p:nvPr/>
        </p:nvSpPr>
        <p:spPr>
          <a:xfrm>
            <a:off x="9448800" y="6172200"/>
            <a:ext cx="5588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1×d</a:t>
            </a:r>
            <a:endParaRPr lang="en-US" sz="600" dirty="0"/>
          </a:p>
        </p:txBody>
      </p:sp>
      <p:sp>
        <p:nvSpPr>
          <p:cNvPr id="342" name="Shape 335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solidFill>
            <a:srgbClr val="FBE8B8"/>
          </a:solidFill>
          <a:ln w="15875">
            <a:solidFill>
              <a:srgbClr val="333333"/>
            </a:solidFill>
            <a:prstDash val="solid"/>
          </a:ln>
        </p:spPr>
      </p:sp>
      <p:sp>
        <p:nvSpPr>
          <p:cNvPr id="343" name="Text 336"/>
          <p:cNvSpPr/>
          <p:nvPr/>
        </p:nvSpPr>
        <p:spPr>
          <a:xfrm>
            <a:off x="10134600" y="5994400"/>
            <a:ext cx="330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200" dirty="0"/>
          </a:p>
        </p:txBody>
      </p:sp>
      <p:sp>
        <p:nvSpPr>
          <p:cNvPr id="344" name="Text 337"/>
          <p:cNvSpPr/>
          <p:nvPr/>
        </p:nvSpPr>
        <p:spPr>
          <a:xfrm>
            <a:off x="10515600" y="6070600"/>
            <a:ext cx="17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200" dirty="0"/>
          </a:p>
        </p:txBody>
      </p:sp>
      <p:sp>
        <p:nvSpPr>
          <p:cNvPr id="345" name="Shape 338"/>
          <p:cNvSpPr/>
          <p:nvPr/>
        </p:nvSpPr>
        <p:spPr>
          <a:xfrm>
            <a:off x="10744200" y="5994400"/>
            <a:ext cx="330200" cy="33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Shape 339"/>
          <p:cNvSpPr/>
          <p:nvPr/>
        </p:nvSpPr>
        <p:spPr>
          <a:xfrm>
            <a:off x="108267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7" name="Shape 340"/>
          <p:cNvSpPr/>
          <p:nvPr/>
        </p:nvSpPr>
        <p:spPr>
          <a:xfrm>
            <a:off x="10744200" y="60769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8" name="Shape 341"/>
          <p:cNvSpPr/>
          <p:nvPr/>
        </p:nvSpPr>
        <p:spPr>
          <a:xfrm>
            <a:off x="1090930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49" name="Shape 342"/>
          <p:cNvSpPr/>
          <p:nvPr/>
        </p:nvSpPr>
        <p:spPr>
          <a:xfrm>
            <a:off x="10744200" y="615950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0" name="Shape 343"/>
          <p:cNvSpPr/>
          <p:nvPr/>
        </p:nvSpPr>
        <p:spPr>
          <a:xfrm>
            <a:off x="10991850" y="5994400"/>
            <a:ext cx="0" cy="33020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1" name="Shape 344"/>
          <p:cNvSpPr/>
          <p:nvPr/>
        </p:nvSpPr>
        <p:spPr>
          <a:xfrm>
            <a:off x="10744200" y="6242050"/>
            <a:ext cx="330200" cy="0"/>
          </a:xfrm>
          <a:prstGeom prst="line">
            <a:avLst/>
          </a:prstGeom>
          <a:noFill/>
          <a:ln w="6350">
            <a:solidFill>
              <a:srgbClr val="8A8A8A"/>
            </a:solidFill>
            <a:prstDash val="solid"/>
          </a:ln>
        </p:spPr>
      </p:sp>
      <p:sp>
        <p:nvSpPr>
          <p:cNvPr id="352" name="Text 345"/>
          <p:cNvSpPr/>
          <p:nvPr/>
        </p:nvSpPr>
        <p:spPr>
          <a:xfrm>
            <a:off x="10668000" y="6350000"/>
            <a:ext cx="4826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0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d×d</a:t>
            </a:r>
            <a:endParaRPr lang="en-US" sz="600" dirty="0"/>
          </a:p>
        </p:txBody>
      </p:sp>
      <p:sp>
        <p:nvSpPr>
          <p:cNvPr id="353" name="Text 346"/>
          <p:cNvSpPr/>
          <p:nvPr/>
        </p:nvSpPr>
        <p:spPr>
          <a:xfrm>
            <a:off x="9398000" y="6527800"/>
            <a:ext cx="2057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2026-10-11T22:20:08Z</dcterms:created>
  <dcterms:modified xsi:type="dcterms:W3CDTF">2026-10-11T22:20:08Z</dcterms:modified>
</cp:coreProperties>
</file>