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4100" y="665093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55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</a:t>
            </a:r>
            <a:pPr algn="ctr" indent="0" marL="0">
              <a:lnSpc>
                <a:spcPts val="4300"/>
              </a:lnSpc>
              <a:buNone/>
            </a:pPr>
            <a:r>
              <a:rPr lang="en-US" sz="35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Convolution</a:t>
            </a:r>
            <a:pPr algn="ctr" indent="0" marL="0">
              <a:lnSpc>
                <a:spcPts val="4300"/>
              </a:lnSpc>
              <a:buNone/>
            </a:pPr>
            <a:r>
              <a:rPr lang="en-US" sz="355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 a </a:t>
            </a:r>
            <a:pPr algn="ctr" indent="0" marL="0">
              <a:lnSpc>
                <a:spcPts val="4300"/>
              </a:lnSpc>
              <a:buNone/>
            </a:pPr>
            <a:r>
              <a:rPr lang="en-US" sz="3550" u="sng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MODULE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889000" y="1447800"/>
            <a:ext cx="10433050" cy="121285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1495920"/>
            <a:ext cx="10236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Since Convolution is a DOT product (between filter values and corresponding image values),</a:t>
            </a:r>
            <a:endParaRPr lang="en-US" sz="21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be applied as if it is a NN Layer</a:t>
            </a:r>
            <a:endParaRPr lang="en-US" sz="21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image values, </a:t>
            </a:r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 filter values, </a:t>
            </a:r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Activation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Linear, </a:t>
            </a:r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:0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89000" y="2901950"/>
            <a:ext cx="10331450" cy="6032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300" y="2871680"/>
            <a:ext cx="10134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8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Remember</a:t>
            </a:r>
            <a:pPr algn="l" indent="0" marL="0">
              <a:lnSpc>
                <a:spcPts val="2050"/>
              </a:lnSpc>
              <a:buNone/>
            </a:pPr>
            <a:r>
              <a:rPr lang="en-US" sz="18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for training, it is required to have the gradient of Output w.r.t both Input and</a:t>
            </a:r>
            <a:endParaRPr lang="en-US" sz="18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8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01700" y="4495800"/>
            <a:ext cx="2419350" cy="1028700"/>
          </a:xfrm>
          <a:prstGeom prst="rect">
            <a:avLst/>
          </a:prstGeom>
          <a:solidFill>
            <a:srgbClr val="E9F4F2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5200" y="4503865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pPr algn="l" indent="0" marL="0">
              <a:lnSpc>
                <a:spcPts val="2200"/>
              </a:lnSpc>
              <a:buNone/>
            </a:pPr>
            <a:r>
              <a:rPr lang="en-US" sz="1500" b="1" baseline="-40000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57300" y="4503865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Filter weights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5200" y="4757865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r, 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57300" y="4757865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row, column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5200" y="5011864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lnSpc>
                <a:spcPts val="2200"/>
              </a:lnSpc>
              <a:buNone/>
            </a:pPr>
            <a:r>
              <a:rPr lang="en-US" sz="1500" b="1" baseline="-40000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57300" y="5011864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Activation value = 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5200" y="5265865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57300" y="5265865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Vevtor of all weights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708400" y="3695700"/>
            <a:ext cx="5175250" cy="266065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0950" y="3797300"/>
            <a:ext cx="1270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0950" y="4794250"/>
            <a:ext cx="1270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0950" y="5378450"/>
            <a:ext cx="1270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13200" y="3697414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Activation function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13200" y="470071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Essentially a dot product, similar to linear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13200" y="5320817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w.r.t. the parameters</a:t>
            </a:r>
            <a:endParaRPr lang="en-US" sz="1800" dirty="0"/>
          </a:p>
        </p:txBody>
      </p:sp>
      <p:pic>
        <p:nvPicPr>
          <p:cNvPr id="24" name="Image 0" descr="/home/ahmed/Projects/ai_llm_slides/videos/deep-learning/001_introduction/recreated_pptx/build/assets/eq_045_a_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508" y="4248658"/>
            <a:ext cx="330711" cy="176781"/>
          </a:xfrm>
          <a:prstGeom prst="rect">
            <a:avLst/>
          </a:prstGeom>
        </p:spPr>
      </p:pic>
      <p:pic>
        <p:nvPicPr>
          <p:cNvPr id="25" name="Image 1" descr="/home/ahmed/Projects/ai_llm_slides/videos/deep-learning/001_introduction/recreated_pptx/build/assets/eq_045_eq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558" y="4267708"/>
            <a:ext cx="164592" cy="86868"/>
          </a:xfrm>
          <a:prstGeom prst="rect">
            <a:avLst/>
          </a:prstGeom>
        </p:spPr>
      </p:pic>
      <p:pic>
        <p:nvPicPr>
          <p:cNvPr id="26" name="Image 2" descr="/home/ahmed/Projects/ai_llm_slides/videos/deep-learning/001_introduction/recreated_pptx/build/assets/eq_045_sum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608" y="4102608"/>
            <a:ext cx="310896" cy="432813"/>
          </a:xfrm>
          <a:prstGeom prst="rect">
            <a:avLst/>
          </a:prstGeom>
        </p:spPr>
      </p:pic>
      <p:pic>
        <p:nvPicPr>
          <p:cNvPr id="27" name="Image 3" descr="/home/ahmed/Projects/ai_llm_slides/videos/deep-learning/001_introduction/recreated_pptx/build/assets/eq_045_lim1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258" y="3950208"/>
            <a:ext cx="102111" cy="112773"/>
          </a:xfrm>
          <a:prstGeom prst="rect">
            <a:avLst/>
          </a:prstGeom>
        </p:spPr>
      </p:pic>
      <p:pic>
        <p:nvPicPr>
          <p:cNvPr id="28" name="Image 4" descr="/home/ahmed/Projects/ai_llm_slides/videos/deep-learning/001_introduction/recreated_pptx/build/assets/eq_045_lim1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208" y="4509008"/>
            <a:ext cx="423669" cy="132588"/>
          </a:xfrm>
          <a:prstGeom prst="rect">
            <a:avLst/>
          </a:prstGeom>
        </p:spPr>
      </p:pic>
      <p:pic>
        <p:nvPicPr>
          <p:cNvPr id="29" name="Image 5" descr="/home/ahmed/Projects/ai_llm_slides/videos/deep-learning/001_introduction/recreated_pptx/build/assets/eq_045_sum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258" y="4102608"/>
            <a:ext cx="310896" cy="432813"/>
          </a:xfrm>
          <a:prstGeom prst="rect">
            <a:avLst/>
          </a:prstGeom>
        </p:spPr>
      </p:pic>
      <p:pic>
        <p:nvPicPr>
          <p:cNvPr id="30" name="Image 6" descr="/home/ahmed/Projects/ai_llm_slides/videos/deep-learning/001_introduction/recreated_pptx/build/assets/eq_045_lim2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5858" y="3950208"/>
            <a:ext cx="88395" cy="114300"/>
          </a:xfrm>
          <a:prstGeom prst="rect">
            <a:avLst/>
          </a:prstGeom>
        </p:spPr>
      </p:pic>
      <p:pic>
        <p:nvPicPr>
          <p:cNvPr id="31" name="Image 7" descr="/home/ahmed/Projects/ai_llm_slides/videos/deep-learning/001_introduction/recreated_pptx/build/assets/eq_045_lim2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6958" y="4521708"/>
            <a:ext cx="394719" cy="143259"/>
          </a:xfrm>
          <a:prstGeom prst="rect">
            <a:avLst/>
          </a:prstGeom>
        </p:spPr>
      </p:pic>
      <p:pic>
        <p:nvPicPr>
          <p:cNvPr id="32" name="Image 8" descr="/home/ahmed/Projects/ai_llm_slides/videos/deep-learning/001_introduction/recreated_pptx/build/assets/eq_045_x_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4308" y="4248658"/>
            <a:ext cx="182880" cy="163065"/>
          </a:xfrm>
          <a:prstGeom prst="rect">
            <a:avLst/>
          </a:prstGeom>
        </p:spPr>
      </p:pic>
      <p:pic>
        <p:nvPicPr>
          <p:cNvPr id="33" name="Image 9" descr="/home/ahmed/Projects/ai_llm_slides/videos/deep-learning/001_introduction/recreated_pptx/build/assets/eq_045_sub_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6708" y="4388358"/>
            <a:ext cx="480060" cy="120399"/>
          </a:xfrm>
          <a:prstGeom prst="rect">
            <a:avLst/>
          </a:prstGeom>
        </p:spPr>
      </p:pic>
      <p:pic>
        <p:nvPicPr>
          <p:cNvPr id="34" name="Image 10" descr="/home/ahmed/Projects/ai_llm_slides/videos/deep-learning/001_introduction/recreated_pptx/build/assets/eq_045_dot_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8358" y="4324858"/>
            <a:ext cx="102111" cy="102111"/>
          </a:xfrm>
          <a:prstGeom prst="rect">
            <a:avLst/>
          </a:prstGeom>
        </p:spPr>
      </p:pic>
      <p:pic>
        <p:nvPicPr>
          <p:cNvPr id="35" name="Image 11" descr="/home/ahmed/Projects/ai_llm_slides/videos/deep-learning/001_introduction/recreated_pptx/build/assets/eq_045_theta_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1558" y="4197858"/>
            <a:ext cx="155448" cy="216411"/>
          </a:xfrm>
          <a:prstGeom prst="rect">
            <a:avLst/>
          </a:prstGeom>
        </p:spPr>
      </p:pic>
      <p:pic>
        <p:nvPicPr>
          <p:cNvPr id="36" name="Image 12" descr="/home/ahmed/Projects/ai_llm_slides/videos/deep-learning/001_introduction/recreated_pptx/build/assets/eq_045_ij_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47608" y="4375658"/>
            <a:ext cx="88395" cy="143259"/>
          </a:xfrm>
          <a:prstGeom prst="rect">
            <a:avLst/>
          </a:prstGeom>
        </p:spPr>
      </p:pic>
      <p:pic>
        <p:nvPicPr>
          <p:cNvPr id="37" name="Image 13" descr="/home/ahmed/Projects/ai_llm_slides/videos/deep-learning/001_introduction/recreated_pptx/build/assets/eq_045_a_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7208" y="5036058"/>
            <a:ext cx="124971" cy="138687"/>
          </a:xfrm>
          <a:prstGeom prst="rect">
            <a:avLst/>
          </a:prstGeom>
        </p:spPr>
      </p:pic>
      <p:pic>
        <p:nvPicPr>
          <p:cNvPr id="38" name="Image 14" descr="/home/ahmed/Projects/ai_llm_slides/videos/deep-learning/001_introduction/recreated_pptx/build/assets/eq_045_rc_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7858" y="5144008"/>
            <a:ext cx="211839" cy="114300"/>
          </a:xfrm>
          <a:prstGeom prst="rect">
            <a:avLst/>
          </a:prstGeom>
        </p:spPr>
      </p:pic>
      <p:pic>
        <p:nvPicPr>
          <p:cNvPr id="39" name="Image 15" descr="/home/ahmed/Projects/ai_llm_slides/videos/deep-learning/001_introduction/recreated_pptx/build/assets/eq_045_sim_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1058" y="5105908"/>
            <a:ext cx="190497" cy="68580"/>
          </a:xfrm>
          <a:prstGeom prst="rect">
            <a:avLst/>
          </a:prstGeom>
        </p:spPr>
      </p:pic>
      <p:pic>
        <p:nvPicPr>
          <p:cNvPr id="40" name="Image 16" descr="/home/ahmed/Projects/ai_llm_slides/videos/deep-learning/001_introduction/recreated_pptx/build/assets/eq_045_x_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31558" y="5036058"/>
            <a:ext cx="211839" cy="188979"/>
          </a:xfrm>
          <a:prstGeom prst="rect">
            <a:avLst/>
          </a:prstGeom>
        </p:spPr>
      </p:pic>
      <p:pic>
        <p:nvPicPr>
          <p:cNvPr id="41" name="Image 17" descr="/home/ahmed/Projects/ai_llm_slides/videos/deep-learning/001_introduction/recreated_pptx/build/assets/eq_045_region_b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96658" y="5137658"/>
            <a:ext cx="458727" cy="160020"/>
          </a:xfrm>
          <a:prstGeom prst="rect">
            <a:avLst/>
          </a:prstGeom>
        </p:spPr>
      </p:pic>
      <p:pic>
        <p:nvPicPr>
          <p:cNvPr id="42" name="Image 18" descr="/home/ahmed/Projects/ai_llm_slides/videos/deep-learning/001_introduction/recreated_pptx/build/assets/eq_045_T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0458" y="4959858"/>
            <a:ext cx="79251" cy="88395"/>
          </a:xfrm>
          <a:prstGeom prst="rect">
            <a:avLst/>
          </a:prstGeom>
        </p:spPr>
      </p:pic>
      <p:pic>
        <p:nvPicPr>
          <p:cNvPr id="43" name="Image 19" descr="/home/ahmed/Projects/ai_llm_slides/videos/deep-learning/001_introduction/recreated_pptx/build/assets/eq_045_dot_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79258" y="5093208"/>
            <a:ext cx="102111" cy="102111"/>
          </a:xfrm>
          <a:prstGeom prst="rect">
            <a:avLst/>
          </a:prstGeom>
        </p:spPr>
      </p:pic>
      <p:pic>
        <p:nvPicPr>
          <p:cNvPr id="44" name="Image 20" descr="/home/ahmed/Projects/ai_llm_slides/videos/deep-learning/001_introduction/recreated_pptx/build/assets/eq_045_theta_b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63408" y="5010658"/>
            <a:ext cx="146304" cy="204213"/>
          </a:xfrm>
          <a:prstGeom prst="rect">
            <a:avLst/>
          </a:prstGeom>
        </p:spPr>
      </p:pic>
      <p:pic>
        <p:nvPicPr>
          <p:cNvPr id="45" name="Image 21" descr="/home/ahmed/Projects/ai_llm_slides/videos/deep-learning/001_introduction/recreated_pptx/build/assets/eq_045_frac_c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77458" y="5639308"/>
            <a:ext cx="536451" cy="545595"/>
          </a:xfrm>
          <a:prstGeom prst="rect">
            <a:avLst/>
          </a:prstGeom>
        </p:spPr>
      </p:pic>
      <p:pic>
        <p:nvPicPr>
          <p:cNvPr id="46" name="Image 22" descr="/home/ahmed/Projects/ai_llm_slides/videos/deep-learning/001_introduction/recreated_pptx/build/assets/eq_045_eq_c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23558" y="5848858"/>
            <a:ext cx="193551" cy="102111"/>
          </a:xfrm>
          <a:prstGeom prst="rect">
            <a:avLst/>
          </a:prstGeom>
        </p:spPr>
      </p:pic>
      <p:pic>
        <p:nvPicPr>
          <p:cNvPr id="47" name="Image 23" descr="/home/ahmed/Projects/ai_llm_slides/videos/deep-learning/001_introduction/recreated_pptx/build/assets/eq_045_sum3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22008" y="5677408"/>
            <a:ext cx="320040" cy="443484"/>
          </a:xfrm>
          <a:prstGeom prst="rect">
            <a:avLst/>
          </a:prstGeom>
        </p:spPr>
      </p:pic>
      <p:pic>
        <p:nvPicPr>
          <p:cNvPr id="48" name="Image 24" descr="/home/ahmed/Projects/ai_llm_slides/videos/deep-learning/001_introduction/recreated_pptx/build/assets/eq_045_lim3u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28358" y="5544058"/>
            <a:ext cx="365760" cy="106683"/>
          </a:xfrm>
          <a:prstGeom prst="rect">
            <a:avLst/>
          </a:prstGeom>
        </p:spPr>
      </p:pic>
      <p:pic>
        <p:nvPicPr>
          <p:cNvPr id="49" name="Image 25" descr="/home/ahmed/Projects/ai_llm_slides/videos/deep-learning/001_introduction/recreated_pptx/build/assets/eq_045_lim3l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34708" y="6109208"/>
            <a:ext cx="341373" cy="135633"/>
          </a:xfrm>
          <a:prstGeom prst="rect">
            <a:avLst/>
          </a:prstGeom>
        </p:spPr>
      </p:pic>
      <p:pic>
        <p:nvPicPr>
          <p:cNvPr id="50" name="Image 26" descr="/home/ahmed/Projects/ai_llm_slides/videos/deep-learning/001_introduction/recreated_pptx/build/assets/eq_045_sum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04608" y="5677408"/>
            <a:ext cx="320040" cy="443484"/>
          </a:xfrm>
          <a:prstGeom prst="rect">
            <a:avLst/>
          </a:prstGeom>
        </p:spPr>
      </p:pic>
      <p:pic>
        <p:nvPicPr>
          <p:cNvPr id="51" name="Image 27" descr="/home/ahmed/Projects/ai_llm_slides/videos/deep-learning/001_introduction/recreated_pptx/build/assets/eq_045_lim4u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98258" y="5544058"/>
            <a:ext cx="394719" cy="115827"/>
          </a:xfrm>
          <a:prstGeom prst="rect">
            <a:avLst/>
          </a:prstGeom>
        </p:spPr>
      </p:pic>
      <p:pic>
        <p:nvPicPr>
          <p:cNvPr id="52" name="Image 28" descr="/home/ahmed/Projects/ai_llm_slides/videos/deep-learning/001_introduction/recreated_pptx/build/assets/eq_045_lim4l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04608" y="6109208"/>
            <a:ext cx="330711" cy="124971"/>
          </a:xfrm>
          <a:prstGeom prst="rect">
            <a:avLst/>
          </a:prstGeom>
        </p:spPr>
      </p:pic>
      <p:pic>
        <p:nvPicPr>
          <p:cNvPr id="53" name="Image 29" descr="/home/ahmed/Projects/ai_llm_slides/videos/deep-learning/001_introduction/recreated_pptx/build/assets/eq_045_x_c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74508" y="5848858"/>
            <a:ext cx="211839" cy="188979"/>
          </a:xfrm>
          <a:prstGeom prst="rect">
            <a:avLst/>
          </a:prstGeom>
        </p:spPr>
      </p:pic>
      <p:pic>
        <p:nvPicPr>
          <p:cNvPr id="54" name="Image 30" descr="/home/ahmed/Projects/ai_llm_slides/videos/deep-learning/001_introduction/recreated_pptx/build/assets/eq_045_sub_c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03108" y="5886958"/>
            <a:ext cx="502920" cy="124971"/>
          </a:xfrm>
          <a:prstGeom prst="rect">
            <a:avLst/>
          </a:prstGeom>
        </p:spPr>
      </p:pic>
      <p:sp>
        <p:nvSpPr>
          <p:cNvPr id="55" name="Shape 22"/>
          <p:cNvSpPr/>
          <p:nvPr/>
        </p:nvSpPr>
        <p:spPr>
          <a:xfrm>
            <a:off x="9347200" y="4622800"/>
            <a:ext cx="2019300" cy="355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99"/>
            </a:solidFill>
            <a:prstDash val="solid"/>
          </a:ln>
        </p:spPr>
      </p:sp>
      <p:sp>
        <p:nvSpPr>
          <p:cNvPr id="56" name="Text 23"/>
          <p:cNvSpPr/>
          <p:nvPr/>
        </p:nvSpPr>
        <p:spPr>
          <a:xfrm>
            <a:off x="9347200" y="4622800"/>
            <a:ext cx="201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</a:t>
            </a:r>
            <a:pPr algn="ctr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filter values</a:t>
            </a:r>
            <a:endParaRPr lang="en-US" sz="1600" dirty="0"/>
          </a:p>
        </p:txBody>
      </p:sp>
      <p:sp>
        <p:nvSpPr>
          <p:cNvPr id="57" name="Shape 24"/>
          <p:cNvSpPr/>
          <p:nvPr/>
        </p:nvSpPr>
        <p:spPr>
          <a:xfrm>
            <a:off x="9334500" y="5359400"/>
            <a:ext cx="1816100" cy="355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99"/>
            </a:solidFill>
            <a:prstDash val="solid"/>
          </a:ln>
        </p:spPr>
      </p:sp>
      <p:sp>
        <p:nvSpPr>
          <p:cNvPr id="58" name="Text 25"/>
          <p:cNvSpPr/>
          <p:nvPr/>
        </p:nvSpPr>
        <p:spPr>
          <a:xfrm>
            <a:off x="9334500" y="5359400"/>
            <a:ext cx="181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pixel values</a:t>
            </a:r>
            <a:endParaRPr lang="en-US" sz="1500" dirty="0"/>
          </a:p>
        </p:txBody>
      </p:sp>
      <p:sp>
        <p:nvSpPr>
          <p:cNvPr id="59" name="Shape 26"/>
          <p:cNvSpPr/>
          <p:nvPr/>
        </p:nvSpPr>
        <p:spPr>
          <a:xfrm>
            <a:off x="7886700" y="4451350"/>
            <a:ext cx="10922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60" name="Shape 27"/>
          <p:cNvSpPr/>
          <p:nvPr/>
        </p:nvSpPr>
        <p:spPr>
          <a:xfrm rot="16200000">
            <a:off x="7734300" y="4381500"/>
            <a:ext cx="152400" cy="1524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61" name="Shape 28"/>
          <p:cNvSpPr/>
          <p:nvPr/>
        </p:nvSpPr>
        <p:spPr>
          <a:xfrm flipV="1">
            <a:off x="9004300" y="4476750"/>
            <a:ext cx="342900" cy="14605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62" name="Shape 29"/>
          <p:cNvSpPr/>
          <p:nvPr/>
        </p:nvSpPr>
        <p:spPr>
          <a:xfrm>
            <a:off x="9931400" y="609600"/>
            <a:ext cx="1422400" cy="1320800"/>
          </a:xfrm>
          <a:prstGeom prst="star16">
            <a:avLst/>
          </a:prstGeom>
          <a:solidFill>
            <a:srgbClr val="F0F6CE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3" name="Text 30"/>
          <p:cNvSpPr/>
          <p:nvPr/>
        </p:nvSpPr>
        <p:spPr>
          <a:xfrm rot="20880000">
            <a:off x="9880600" y="1117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</a:t>
            </a:r>
            <a:endParaRPr lang="en-US" sz="1700" dirty="0"/>
          </a:p>
        </p:txBody>
      </p:sp>
      <p:sp>
        <p:nvSpPr>
          <p:cNvPr id="64" name="Shape 3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65" name="Text 3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2026-10-12T12:52:11Z</dcterms:created>
  <dcterms:modified xsi:type="dcterms:W3CDTF">2026-10-12T12:52:11Z</dcterms:modified>
</cp:coreProperties>
</file>