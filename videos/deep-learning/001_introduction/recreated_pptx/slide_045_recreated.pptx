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slideLayout" Target="../slideLayouts/slideLayout1.xml"/><Relationship Id="rId3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4100" y="665093"/>
            <a:ext cx="1016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355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Apply </a:t>
            </a:r>
            <a:pPr algn="ctr" indent="0" marL="0">
              <a:lnSpc>
                <a:spcPts val="4300"/>
              </a:lnSpc>
              <a:buNone/>
            </a:pPr>
            <a:r>
              <a:rPr lang="en-US" sz="3550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Convolution</a:t>
            </a:r>
            <a:pPr algn="ctr" indent="0" marL="0">
              <a:lnSpc>
                <a:spcPts val="4300"/>
              </a:lnSpc>
              <a:buNone/>
            </a:pPr>
            <a:r>
              <a:rPr lang="en-US" sz="355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as a </a:t>
            </a:r>
            <a:pPr algn="ctr" indent="0" marL="0">
              <a:lnSpc>
                <a:spcPts val="4300"/>
              </a:lnSpc>
              <a:buNone/>
            </a:pPr>
            <a:r>
              <a:rPr lang="en-US" sz="3550" u="sng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MODULE</a:t>
            </a:r>
            <a:endParaRPr lang="en-US" sz="3550" dirty="0"/>
          </a:p>
        </p:txBody>
      </p:sp>
      <p:sp>
        <p:nvSpPr>
          <p:cNvPr id="4" name="Shape 2"/>
          <p:cNvSpPr/>
          <p:nvPr/>
        </p:nvSpPr>
        <p:spPr>
          <a:xfrm>
            <a:off x="889000" y="1447800"/>
            <a:ext cx="10433050" cy="121285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901950"/>
            <a:ext cx="10331450" cy="60325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3300" y="2871680"/>
            <a:ext cx="10134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85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Remember</a:t>
            </a:r>
            <a:pPr algn="l" indent="0" marL="0">
              <a:lnSpc>
                <a:spcPts val="2050"/>
              </a:lnSpc>
              <a:buNone/>
            </a:pPr>
            <a:r>
              <a:rPr lang="en-US" sz="18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for training, it is required to have the gradient of Output w.r.t both Input and</a:t>
            </a:r>
            <a:endParaRPr lang="en-US" sz="1850" dirty="0"/>
          </a:p>
          <a:p>
            <a:pPr algn="l" indent="0" marL="0">
              <a:lnSpc>
                <a:spcPts val="2050"/>
              </a:lnSpc>
              <a:buNone/>
            </a:pPr>
            <a:r>
              <a:rPr lang="en-US" sz="18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weights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901700" y="4495800"/>
            <a:ext cx="2419350" cy="1028700"/>
          </a:xfrm>
          <a:prstGeom prst="rect">
            <a:avLst/>
          </a:prstGeom>
          <a:solidFill>
            <a:srgbClr val="E9F4F2"/>
          </a:solidFill>
          <a:ln w="15875">
            <a:solidFill>
              <a:srgbClr val="333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5200" y="4503865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B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pPr algn="l" indent="0" marL="0">
              <a:lnSpc>
                <a:spcPts val="2200"/>
              </a:lnSpc>
              <a:buNone/>
            </a:pPr>
            <a:r>
              <a:rPr lang="en-US" sz="1500" b="1" baseline="-40000" dirty="0">
                <a:solidFill>
                  <a:srgbClr val="8B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ij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57300" y="4503865"/>
            <a:ext cx="2057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Filter weights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5200" y="4757865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B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r, 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57300" y="4757865"/>
            <a:ext cx="2057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row, column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5200" y="5011864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B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l" indent="0" marL="0">
              <a:lnSpc>
                <a:spcPts val="2200"/>
              </a:lnSpc>
              <a:buNone/>
            </a:pPr>
            <a:r>
              <a:rPr lang="en-US" sz="1500" b="1" baseline="-40000" dirty="0">
                <a:solidFill>
                  <a:srgbClr val="8B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rc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57300" y="5011864"/>
            <a:ext cx="2057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Activation value = 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5200" y="5265865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B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57300" y="5265865"/>
            <a:ext cx="2057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Vevtor of all weights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708400" y="3695700"/>
            <a:ext cx="5175250" cy="266065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90950" y="3797300"/>
            <a:ext cx="127000" cy="127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90950" y="4794250"/>
            <a:ext cx="127000" cy="127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0950" y="5378450"/>
            <a:ext cx="127000" cy="127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13200" y="3697414"/>
            <a:ext cx="203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Activation function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013200" y="4700715"/>
            <a:ext cx="457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Essentially a dot product, similar to linear layer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013200" y="5320817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Gradient w.r.t. the parameters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635750" y="5524500"/>
            <a:ext cx="50800" cy="44450"/>
          </a:xfrm>
          <a:prstGeom prst="line">
            <a:avLst/>
          </a:prstGeom>
          <a:noFill/>
          <a:ln w="31750">
            <a:solidFill>
              <a:srgbClr val="4541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67500" y="5556250"/>
            <a:ext cx="101600" cy="133350"/>
          </a:xfrm>
          <a:prstGeom prst="line">
            <a:avLst/>
          </a:prstGeom>
          <a:noFill/>
          <a:ln w="15875">
            <a:solidFill>
              <a:srgbClr val="454140"/>
            </a:solidFill>
            <a:prstDash val="solid"/>
          </a:ln>
        </p:spPr>
      </p:sp>
      <p:pic>
        <p:nvPicPr>
          <p:cNvPr id="25" name="Image 0" descr="/home/ahmed/Projects/ai_llm_slides/videos/deep-learning/001_introduction/recreated_pptx/build/assets/eq_045_a_r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9508" y="4248658"/>
            <a:ext cx="330711" cy="176781"/>
          </a:xfrm>
          <a:prstGeom prst="rect">
            <a:avLst/>
          </a:prstGeom>
        </p:spPr>
      </p:pic>
      <p:pic>
        <p:nvPicPr>
          <p:cNvPr id="26" name="Image 1" descr="/home/ahmed/Projects/ai_llm_slides/videos/deep-learning/001_introduction/recreated_pptx/build/assets/eq_045_eq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9558" y="4267708"/>
            <a:ext cx="164592" cy="86868"/>
          </a:xfrm>
          <a:prstGeom prst="rect">
            <a:avLst/>
          </a:prstGeom>
        </p:spPr>
      </p:pic>
      <p:pic>
        <p:nvPicPr>
          <p:cNvPr id="27" name="Image 2" descr="/home/ahmed/Projects/ai_llm_slides/videos/deep-learning/001_introduction/recreated_pptx/build/assets/eq_045_sum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608" y="4102608"/>
            <a:ext cx="310896" cy="432813"/>
          </a:xfrm>
          <a:prstGeom prst="rect">
            <a:avLst/>
          </a:prstGeom>
        </p:spPr>
      </p:pic>
      <p:pic>
        <p:nvPicPr>
          <p:cNvPr id="28" name="Image 3" descr="/home/ahmed/Projects/ai_llm_slides/videos/deep-learning/001_introduction/recreated_pptx/build/assets/eq_045_lim1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3258" y="3950208"/>
            <a:ext cx="102111" cy="112773"/>
          </a:xfrm>
          <a:prstGeom prst="rect">
            <a:avLst/>
          </a:prstGeom>
        </p:spPr>
      </p:pic>
      <p:pic>
        <p:nvPicPr>
          <p:cNvPr id="29" name="Image 4" descr="/home/ahmed/Projects/ai_llm_slides/videos/deep-learning/001_introduction/recreated_pptx/build/assets/eq_045_lim1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7208" y="4509008"/>
            <a:ext cx="423669" cy="132588"/>
          </a:xfrm>
          <a:prstGeom prst="rect">
            <a:avLst/>
          </a:prstGeom>
        </p:spPr>
      </p:pic>
      <p:pic>
        <p:nvPicPr>
          <p:cNvPr id="30" name="Image 5" descr="/home/ahmed/Projects/ai_llm_slides/videos/deep-learning/001_introduction/recreated_pptx/build/assets/eq_045_sum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4258" y="4102608"/>
            <a:ext cx="310896" cy="432813"/>
          </a:xfrm>
          <a:prstGeom prst="rect">
            <a:avLst/>
          </a:prstGeom>
        </p:spPr>
      </p:pic>
      <p:pic>
        <p:nvPicPr>
          <p:cNvPr id="31" name="Image 6" descr="/home/ahmed/Projects/ai_llm_slides/videos/deep-learning/001_introduction/recreated_pptx/build/assets/eq_045_lim2u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5858" y="3950208"/>
            <a:ext cx="88395" cy="114300"/>
          </a:xfrm>
          <a:prstGeom prst="rect">
            <a:avLst/>
          </a:prstGeom>
        </p:spPr>
      </p:pic>
      <p:pic>
        <p:nvPicPr>
          <p:cNvPr id="32" name="Image 7" descr="/home/ahmed/Projects/ai_llm_slides/videos/deep-learning/001_introduction/recreated_pptx/build/assets/eq_045_lim2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6958" y="4521708"/>
            <a:ext cx="394719" cy="143259"/>
          </a:xfrm>
          <a:prstGeom prst="rect">
            <a:avLst/>
          </a:prstGeom>
        </p:spPr>
      </p:pic>
      <p:pic>
        <p:nvPicPr>
          <p:cNvPr id="33" name="Image 8" descr="/home/ahmed/Projects/ai_llm_slides/videos/deep-learning/001_introduction/recreated_pptx/build/assets/eq_045_x_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44308" y="4248658"/>
            <a:ext cx="182880" cy="163065"/>
          </a:xfrm>
          <a:prstGeom prst="rect">
            <a:avLst/>
          </a:prstGeom>
        </p:spPr>
      </p:pic>
      <p:pic>
        <p:nvPicPr>
          <p:cNvPr id="34" name="Image 9" descr="/home/ahmed/Projects/ai_llm_slides/videos/deep-learning/001_introduction/recreated_pptx/build/assets/eq_045_sub_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5758" y="4296283"/>
            <a:ext cx="556257" cy="137160"/>
          </a:xfrm>
          <a:prstGeom prst="rect">
            <a:avLst/>
          </a:prstGeom>
        </p:spPr>
      </p:pic>
      <p:pic>
        <p:nvPicPr>
          <p:cNvPr id="35" name="Image 10" descr="/home/ahmed/Projects/ai_llm_slides/videos/deep-learning/001_introduction/recreated_pptx/build/assets/eq_045_dot_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57108" y="4280408"/>
            <a:ext cx="64008" cy="62481"/>
          </a:xfrm>
          <a:prstGeom prst="rect">
            <a:avLst/>
          </a:prstGeom>
        </p:spPr>
      </p:pic>
      <p:pic>
        <p:nvPicPr>
          <p:cNvPr id="36" name="Image 11" descr="/home/ahmed/Projects/ai_llm_slides/videos/deep-learning/001_introduction/recreated_pptx/build/assets/eq_045_theta_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4583" y="4213733"/>
            <a:ext cx="118872" cy="164592"/>
          </a:xfrm>
          <a:prstGeom prst="rect">
            <a:avLst/>
          </a:prstGeom>
        </p:spPr>
      </p:pic>
      <p:pic>
        <p:nvPicPr>
          <p:cNvPr id="37" name="Image 12" descr="/home/ahmed/Projects/ai_llm_slides/videos/deep-learning/001_introduction/recreated_pptx/build/assets/eq_045_ij_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17458" y="4293108"/>
            <a:ext cx="112773" cy="150876"/>
          </a:xfrm>
          <a:prstGeom prst="rect">
            <a:avLst/>
          </a:prstGeom>
        </p:spPr>
      </p:pic>
      <p:pic>
        <p:nvPicPr>
          <p:cNvPr id="38" name="Image 13" descr="/home/ahmed/Projects/ai_llm_slides/videos/deep-learning/001_introduction/recreated_pptx/build/assets/eq_045_a_b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17208" y="5036058"/>
            <a:ext cx="124971" cy="138687"/>
          </a:xfrm>
          <a:prstGeom prst="rect">
            <a:avLst/>
          </a:prstGeom>
        </p:spPr>
      </p:pic>
      <p:pic>
        <p:nvPicPr>
          <p:cNvPr id="39" name="Image 14" descr="/home/ahmed/Projects/ai_llm_slides/videos/deep-learning/001_introduction/recreated_pptx/build/assets/eq_045_rc_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37858" y="5144008"/>
            <a:ext cx="211839" cy="114300"/>
          </a:xfrm>
          <a:prstGeom prst="rect">
            <a:avLst/>
          </a:prstGeom>
        </p:spPr>
      </p:pic>
      <p:pic>
        <p:nvPicPr>
          <p:cNvPr id="40" name="Image 15" descr="/home/ahmed/Projects/ai_llm_slides/videos/deep-learning/001_introduction/recreated_pptx/build/assets/eq_045_sim_b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1058" y="5077333"/>
            <a:ext cx="190497" cy="68580"/>
          </a:xfrm>
          <a:prstGeom prst="rect">
            <a:avLst/>
          </a:prstGeom>
        </p:spPr>
      </p:pic>
      <p:pic>
        <p:nvPicPr>
          <p:cNvPr id="41" name="Image 16" descr="/home/ahmed/Projects/ai_llm_slides/videos/deep-learning/001_introduction/recreated_pptx/build/assets/eq_045_x_b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93458" y="5039233"/>
            <a:ext cx="161547" cy="144777"/>
          </a:xfrm>
          <a:prstGeom prst="rect">
            <a:avLst/>
          </a:prstGeom>
        </p:spPr>
      </p:pic>
      <p:pic>
        <p:nvPicPr>
          <p:cNvPr id="42" name="Image 17" descr="/home/ahmed/Projects/ai_llm_slides/videos/deep-learning/001_introduction/recreated_pptx/build/assets/eq_045_region_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77608" y="5124958"/>
            <a:ext cx="387093" cy="138687"/>
          </a:xfrm>
          <a:prstGeom prst="rect">
            <a:avLst/>
          </a:prstGeom>
        </p:spPr>
      </p:pic>
      <p:pic>
        <p:nvPicPr>
          <p:cNvPr id="43" name="Image 18" descr="/home/ahmed/Projects/ai_llm_slides/videos/deep-learning/001_introduction/recreated_pptx/build/assets/eq_045_T_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21728" y="4978908"/>
            <a:ext cx="150876" cy="169164"/>
          </a:xfrm>
          <a:prstGeom prst="rect">
            <a:avLst/>
          </a:prstGeom>
        </p:spPr>
      </p:pic>
      <p:pic>
        <p:nvPicPr>
          <p:cNvPr id="44" name="Image 19" descr="/home/ahmed/Projects/ai_llm_slides/videos/deep-learning/001_introduction/recreated_pptx/build/assets/eq_045_dot_b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108" y="5080508"/>
            <a:ext cx="64008" cy="62481"/>
          </a:xfrm>
          <a:prstGeom prst="rect">
            <a:avLst/>
          </a:prstGeom>
        </p:spPr>
      </p:pic>
      <p:pic>
        <p:nvPicPr>
          <p:cNvPr id="45" name="Image 20" descr="/home/ahmed/Projects/ai_llm_slides/videos/deep-learning/001_introduction/recreated_pptx/build/assets/eq_045_theta_b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976108" y="5013833"/>
            <a:ext cx="128016" cy="176781"/>
          </a:xfrm>
          <a:prstGeom prst="rect">
            <a:avLst/>
          </a:prstGeom>
        </p:spPr>
      </p:pic>
      <p:pic>
        <p:nvPicPr>
          <p:cNvPr id="46" name="Image 21" descr="/home/ahmed/Projects/ai_llm_slides/videos/deep-learning/001_introduction/recreated_pptx/build/assets/eq_045_frac_c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77458" y="5639308"/>
            <a:ext cx="536451" cy="545595"/>
          </a:xfrm>
          <a:prstGeom prst="rect">
            <a:avLst/>
          </a:prstGeom>
        </p:spPr>
      </p:pic>
      <p:pic>
        <p:nvPicPr>
          <p:cNvPr id="47" name="Image 22" descr="/home/ahmed/Projects/ai_llm_slides/videos/deep-learning/001_introduction/recreated_pptx/build/assets/eq_045_eq_c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23558" y="5848858"/>
            <a:ext cx="193551" cy="102111"/>
          </a:xfrm>
          <a:prstGeom prst="rect">
            <a:avLst/>
          </a:prstGeom>
        </p:spPr>
      </p:pic>
      <p:pic>
        <p:nvPicPr>
          <p:cNvPr id="48" name="Image 23" descr="/home/ahmed/Projects/ai_llm_slides/videos/deep-learning/001_introduction/recreated_pptx/build/assets/eq_045_sum3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22008" y="5677408"/>
            <a:ext cx="320040" cy="443484"/>
          </a:xfrm>
          <a:prstGeom prst="rect">
            <a:avLst/>
          </a:prstGeom>
        </p:spPr>
      </p:pic>
      <p:pic>
        <p:nvPicPr>
          <p:cNvPr id="49" name="Image 24" descr="/home/ahmed/Projects/ai_llm_slides/videos/deep-learning/001_introduction/recreated_pptx/build/assets/eq_045_lim3u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28358" y="5544058"/>
            <a:ext cx="365760" cy="106683"/>
          </a:xfrm>
          <a:prstGeom prst="rect">
            <a:avLst/>
          </a:prstGeom>
        </p:spPr>
      </p:pic>
      <p:pic>
        <p:nvPicPr>
          <p:cNvPr id="50" name="Image 25" descr="/home/ahmed/Projects/ai_llm_slides/videos/deep-learning/001_introduction/recreated_pptx/build/assets/eq_045_lim3l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4708" y="6109208"/>
            <a:ext cx="341373" cy="135633"/>
          </a:xfrm>
          <a:prstGeom prst="rect">
            <a:avLst/>
          </a:prstGeom>
        </p:spPr>
      </p:pic>
      <p:pic>
        <p:nvPicPr>
          <p:cNvPr id="51" name="Image 26" descr="/home/ahmed/Projects/ai_llm_slides/videos/deep-learning/001_introduction/recreated_pptx/build/assets/eq_045_sum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404608" y="5677408"/>
            <a:ext cx="320040" cy="443484"/>
          </a:xfrm>
          <a:prstGeom prst="rect">
            <a:avLst/>
          </a:prstGeom>
        </p:spPr>
      </p:pic>
      <p:pic>
        <p:nvPicPr>
          <p:cNvPr id="52" name="Image 27" descr="/home/ahmed/Projects/ai_llm_slides/videos/deep-learning/001_introduction/recreated_pptx/build/assets/eq_045_lim4u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398258" y="5544058"/>
            <a:ext cx="394719" cy="115827"/>
          </a:xfrm>
          <a:prstGeom prst="rect">
            <a:avLst/>
          </a:prstGeom>
        </p:spPr>
      </p:pic>
      <p:pic>
        <p:nvPicPr>
          <p:cNvPr id="53" name="Image 28" descr="/home/ahmed/Projects/ai_llm_slides/videos/deep-learning/001_introduction/recreated_pptx/build/assets/eq_045_lim4l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404608" y="6109208"/>
            <a:ext cx="330711" cy="124971"/>
          </a:xfrm>
          <a:prstGeom prst="rect">
            <a:avLst/>
          </a:prstGeom>
        </p:spPr>
      </p:pic>
      <p:pic>
        <p:nvPicPr>
          <p:cNvPr id="54" name="Image 29" descr="/home/ahmed/Projects/ai_llm_slides/videos/deep-learning/001_introduction/recreated_pptx/build/assets/eq_045_x_c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874508" y="5848858"/>
            <a:ext cx="211839" cy="188979"/>
          </a:xfrm>
          <a:prstGeom prst="rect">
            <a:avLst/>
          </a:prstGeom>
        </p:spPr>
      </p:pic>
      <p:pic>
        <p:nvPicPr>
          <p:cNvPr id="55" name="Image 30" descr="/home/ahmed/Projects/ai_llm_slides/videos/deep-learning/001_introduction/recreated_pptx/build/assets/eq_045_sub_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103108" y="5886958"/>
            <a:ext cx="502920" cy="124971"/>
          </a:xfrm>
          <a:prstGeom prst="rect">
            <a:avLst/>
          </a:prstGeom>
        </p:spPr>
      </p:pic>
      <p:sp>
        <p:nvSpPr>
          <p:cNvPr id="56" name="Shape 23"/>
          <p:cNvSpPr/>
          <p:nvPr/>
        </p:nvSpPr>
        <p:spPr>
          <a:xfrm>
            <a:off x="9347200" y="4622800"/>
            <a:ext cx="2019300" cy="355600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99"/>
            </a:solidFill>
            <a:prstDash val="solid"/>
          </a:ln>
        </p:spPr>
      </p:sp>
      <p:sp>
        <p:nvSpPr>
          <p:cNvPr id="57" name="Text 24"/>
          <p:cNvSpPr/>
          <p:nvPr/>
        </p:nvSpPr>
        <p:spPr>
          <a:xfrm>
            <a:off x="9347200" y="4622800"/>
            <a:ext cx="2019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Weights</a:t>
            </a:r>
            <a:pPr algn="ctr"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filter values</a:t>
            </a:r>
            <a:endParaRPr lang="en-US" sz="1600" dirty="0"/>
          </a:p>
        </p:txBody>
      </p:sp>
      <p:sp>
        <p:nvSpPr>
          <p:cNvPr id="58" name="Shape 25"/>
          <p:cNvSpPr/>
          <p:nvPr/>
        </p:nvSpPr>
        <p:spPr>
          <a:xfrm>
            <a:off x="9334500" y="5359400"/>
            <a:ext cx="1816100" cy="355600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99"/>
            </a:solidFill>
            <a:prstDash val="solid"/>
          </a:ln>
        </p:spPr>
      </p:sp>
      <p:sp>
        <p:nvSpPr>
          <p:cNvPr id="59" name="Text 26"/>
          <p:cNvSpPr/>
          <p:nvPr/>
        </p:nvSpPr>
        <p:spPr>
          <a:xfrm>
            <a:off x="9334500" y="5359400"/>
            <a:ext cx="1816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</a:t>
            </a:r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pixel values</a:t>
            </a:r>
            <a:endParaRPr lang="en-US" sz="1500" dirty="0"/>
          </a:p>
        </p:txBody>
      </p:sp>
      <p:sp>
        <p:nvSpPr>
          <p:cNvPr id="60" name="Shape 27"/>
          <p:cNvSpPr/>
          <p:nvPr/>
        </p:nvSpPr>
        <p:spPr>
          <a:xfrm>
            <a:off x="7708900" y="4356100"/>
            <a:ext cx="177800" cy="165100"/>
          </a:xfrm>
          <a:prstGeom prst="line">
            <a:avLst/>
          </a:prstGeom>
          <a:noFill/>
          <a:ln w="6350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1" name="Shape 28"/>
          <p:cNvSpPr/>
          <p:nvPr/>
        </p:nvSpPr>
        <p:spPr>
          <a:xfrm>
            <a:off x="8813800" y="4406900"/>
            <a:ext cx="139700" cy="88900"/>
          </a:xfrm>
          <a:prstGeom prst="line">
            <a:avLst/>
          </a:prstGeom>
          <a:noFill/>
          <a:ln w="38100">
            <a:solidFill>
              <a:srgbClr val="C00000"/>
            </a:solidFill>
            <a:prstDash val="solid"/>
          </a:ln>
        </p:spPr>
      </p:sp>
      <p:sp>
        <p:nvSpPr>
          <p:cNvPr id="62" name="Shape 29"/>
          <p:cNvSpPr/>
          <p:nvPr/>
        </p:nvSpPr>
        <p:spPr>
          <a:xfrm>
            <a:off x="8991600" y="4533900"/>
            <a:ext cx="349250" cy="247650"/>
          </a:xfrm>
          <a:prstGeom prst="line">
            <a:avLst/>
          </a:prstGeom>
          <a:noFill/>
          <a:ln w="12700">
            <a:solidFill>
              <a:srgbClr val="BFBBB8"/>
            </a:solidFill>
            <a:prstDash val="solid"/>
          </a:ln>
        </p:spPr>
      </p:sp>
      <p:sp>
        <p:nvSpPr>
          <p:cNvPr id="63" name="Shape 30"/>
          <p:cNvSpPr/>
          <p:nvPr/>
        </p:nvSpPr>
        <p:spPr>
          <a:xfrm>
            <a:off x="8915400" y="5194300"/>
            <a:ext cx="425450" cy="279400"/>
          </a:xfrm>
          <a:prstGeom prst="line">
            <a:avLst/>
          </a:prstGeom>
          <a:noFill/>
          <a:ln w="12700">
            <a:solidFill>
              <a:srgbClr val="BFBBB8"/>
            </a:solidFill>
            <a:prstDash val="solid"/>
          </a:ln>
        </p:spPr>
      </p:sp>
      <p:sp>
        <p:nvSpPr>
          <p:cNvPr id="64" name="Shape 31"/>
          <p:cNvSpPr/>
          <p:nvPr/>
        </p:nvSpPr>
        <p:spPr>
          <a:xfrm>
            <a:off x="9931400" y="609600"/>
            <a:ext cx="1422400" cy="1320800"/>
          </a:xfrm>
          <a:prstGeom prst="star16">
            <a:avLst/>
          </a:prstGeom>
          <a:solidFill>
            <a:srgbClr val="C00000"/>
          </a:solidFill>
          <a:ln/>
        </p:spPr>
      </p:sp>
      <p:sp>
        <p:nvSpPr>
          <p:cNvPr id="65" name="Shape 32"/>
          <p:cNvSpPr/>
          <p:nvPr/>
        </p:nvSpPr>
        <p:spPr>
          <a:xfrm>
            <a:off x="9950450" y="628650"/>
            <a:ext cx="1384300" cy="1282700"/>
          </a:xfrm>
          <a:prstGeom prst="star16">
            <a:avLst/>
          </a:prstGeom>
          <a:solidFill>
            <a:srgbClr val="FFFFFF"/>
          </a:solidFill>
          <a:ln/>
        </p:spPr>
      </p:sp>
      <p:sp>
        <p:nvSpPr>
          <p:cNvPr id="66" name="Shape 33"/>
          <p:cNvSpPr/>
          <p:nvPr/>
        </p:nvSpPr>
        <p:spPr>
          <a:xfrm>
            <a:off x="9969500" y="647700"/>
            <a:ext cx="1346200" cy="1244600"/>
          </a:xfrm>
          <a:prstGeom prst="star16">
            <a:avLst/>
          </a:prstGeom>
          <a:solidFill>
            <a:srgbClr val="F0F6CE"/>
          </a:solidFill>
          <a:ln/>
        </p:spPr>
      </p:sp>
      <p:sp>
        <p:nvSpPr>
          <p:cNvPr id="67" name="Text 34"/>
          <p:cNvSpPr/>
          <p:nvPr/>
        </p:nvSpPr>
        <p:spPr>
          <a:xfrm rot="20880000">
            <a:off x="9890125" y="111760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68" name="Text 35"/>
          <p:cNvSpPr/>
          <p:nvPr/>
        </p:nvSpPr>
        <p:spPr>
          <a:xfrm rot="20880000">
            <a:off x="9899650" y="111760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69" name="Text 36"/>
          <p:cNvSpPr/>
          <p:nvPr/>
        </p:nvSpPr>
        <p:spPr>
          <a:xfrm rot="20880000">
            <a:off x="9887335" y="1124335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70" name="Text 37"/>
          <p:cNvSpPr/>
          <p:nvPr/>
        </p:nvSpPr>
        <p:spPr>
          <a:xfrm rot="20880000">
            <a:off x="9894070" y="113107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71" name="Text 38"/>
          <p:cNvSpPr/>
          <p:nvPr/>
        </p:nvSpPr>
        <p:spPr>
          <a:xfrm rot="20880000">
            <a:off x="9880600" y="1127125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72" name="Text 39"/>
          <p:cNvSpPr/>
          <p:nvPr/>
        </p:nvSpPr>
        <p:spPr>
          <a:xfrm rot="20880000">
            <a:off x="9880600" y="113665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73" name="Text 40"/>
          <p:cNvSpPr/>
          <p:nvPr/>
        </p:nvSpPr>
        <p:spPr>
          <a:xfrm rot="20880000">
            <a:off x="9873865" y="1124335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74" name="Text 41"/>
          <p:cNvSpPr/>
          <p:nvPr/>
        </p:nvSpPr>
        <p:spPr>
          <a:xfrm rot="20880000">
            <a:off x="9867130" y="113107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75" name="Text 42"/>
          <p:cNvSpPr/>
          <p:nvPr/>
        </p:nvSpPr>
        <p:spPr>
          <a:xfrm rot="20880000">
            <a:off x="9871075" y="111760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76" name="Text 43"/>
          <p:cNvSpPr/>
          <p:nvPr/>
        </p:nvSpPr>
        <p:spPr>
          <a:xfrm rot="20880000">
            <a:off x="9861550" y="111760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77" name="Text 44"/>
          <p:cNvSpPr/>
          <p:nvPr/>
        </p:nvSpPr>
        <p:spPr>
          <a:xfrm rot="20880000">
            <a:off x="9873865" y="1110865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78" name="Text 45"/>
          <p:cNvSpPr/>
          <p:nvPr/>
        </p:nvSpPr>
        <p:spPr>
          <a:xfrm rot="20880000">
            <a:off x="9867130" y="110413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79" name="Text 46"/>
          <p:cNvSpPr/>
          <p:nvPr/>
        </p:nvSpPr>
        <p:spPr>
          <a:xfrm rot="20880000">
            <a:off x="9880600" y="1108075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80" name="Text 47"/>
          <p:cNvSpPr/>
          <p:nvPr/>
        </p:nvSpPr>
        <p:spPr>
          <a:xfrm rot="20880000">
            <a:off x="9880600" y="109855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81" name="Text 48"/>
          <p:cNvSpPr/>
          <p:nvPr/>
        </p:nvSpPr>
        <p:spPr>
          <a:xfrm rot="20880000">
            <a:off x="9887335" y="1110865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82" name="Text 49"/>
          <p:cNvSpPr/>
          <p:nvPr/>
        </p:nvSpPr>
        <p:spPr>
          <a:xfrm rot="20880000">
            <a:off x="9894070" y="110413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83" name="Text 50"/>
          <p:cNvSpPr/>
          <p:nvPr/>
        </p:nvSpPr>
        <p:spPr>
          <a:xfrm rot="20880000">
            <a:off x="9880600" y="111760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</a:t>
            </a:r>
            <a:endParaRPr lang="en-US" sz="1700" dirty="0"/>
          </a:p>
        </p:txBody>
      </p:sp>
      <p:sp>
        <p:nvSpPr>
          <p:cNvPr id="84" name="Text 51"/>
          <p:cNvSpPr/>
          <p:nvPr/>
        </p:nvSpPr>
        <p:spPr>
          <a:xfrm>
            <a:off x="990600" y="1495920"/>
            <a:ext cx="10236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100" dirty="0">
                <a:solidFill>
                  <a:srgbClr val="1A1A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Since Convolution is a DOT product (between filter values and corresponding image values),</a:t>
            </a:r>
            <a:endParaRPr lang="en-US" sz="210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2100" dirty="0">
                <a:solidFill>
                  <a:srgbClr val="1A1A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can be applied as if it is a NN Layer</a:t>
            </a:r>
            <a:endParaRPr lang="en-US" sz="210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1A1A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</a:t>
            </a:r>
            <a:pPr algn="l" indent="0" marL="0">
              <a:lnSpc>
                <a:spcPts val="2700"/>
              </a:lnSpc>
              <a:buNone/>
            </a:pPr>
            <a:r>
              <a:rPr lang="en-US" sz="2100" dirty="0">
                <a:solidFill>
                  <a:srgbClr val="1A1A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image values, </a:t>
            </a:r>
            <a:pPr algn="l"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1A1A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Weights</a:t>
            </a:r>
            <a:pPr algn="l" indent="0" marL="0">
              <a:lnSpc>
                <a:spcPts val="2700"/>
              </a:lnSpc>
              <a:buNone/>
            </a:pPr>
            <a:r>
              <a:rPr lang="en-US" sz="2100" dirty="0">
                <a:solidFill>
                  <a:srgbClr val="1A1A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: filter values, </a:t>
            </a:r>
            <a:pPr algn="l"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1A1A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Activation</a:t>
            </a:r>
            <a:pPr algn="l" indent="0" marL="0">
              <a:lnSpc>
                <a:spcPts val="2700"/>
              </a:lnSpc>
              <a:buNone/>
            </a:pPr>
            <a:r>
              <a:rPr lang="en-US" sz="2100" dirty="0">
                <a:solidFill>
                  <a:srgbClr val="1A1A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Linear, </a:t>
            </a:r>
            <a:pPr algn="l"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1A1A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Bias</a:t>
            </a:r>
            <a:pPr algn="l" indent="0" marL="0">
              <a:lnSpc>
                <a:spcPts val="2700"/>
              </a:lnSpc>
              <a:buNone/>
            </a:pPr>
            <a:r>
              <a:rPr lang="en-US" sz="2100" dirty="0">
                <a:solidFill>
                  <a:srgbClr val="1A1A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:0</a:t>
            </a:r>
            <a:endParaRPr lang="en-US" sz="2100" dirty="0"/>
          </a:p>
        </p:txBody>
      </p:sp>
      <p:sp>
        <p:nvSpPr>
          <p:cNvPr id="85" name="Shape 52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86" name="Text 53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2026-10-12T20:23:13Z</dcterms:created>
  <dcterms:modified xsi:type="dcterms:W3CDTF">2026-10-12T20:23:13Z</dcterms:modified>
</cp:coreProperties>
</file>