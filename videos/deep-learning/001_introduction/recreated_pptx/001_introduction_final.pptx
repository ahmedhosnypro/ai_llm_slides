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g001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g007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g009_image-1-1.png"/><Relationship Id="rId2" Type="http://schemas.openxmlformats.org/officeDocument/2006/relationships/image" Target="../media/img009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g016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g017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g018_image-1-1.png"/><Relationship Id="rId2" Type="http://schemas.openxmlformats.org/officeDocument/2006/relationships/image" Target="../media/img018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g019_image-1-1.png"/><Relationship Id="rId2" Type="http://schemas.openxmlformats.org/officeDocument/2006/relationships/image" Target="../media/img019_image-1-2.png"/><Relationship Id="rId3" Type="http://schemas.openxmlformats.org/officeDocument/2006/relationships/image" Target="../media/img019_image-1-3.png"/><Relationship Id="rId4" Type="http://schemas.openxmlformats.org/officeDocument/2006/relationships/image" Target="../media/img019_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g020_image-1-1.png"/><Relationship Id="rId2" Type="http://schemas.openxmlformats.org/officeDocument/2006/relationships/image" Target="../media/img020_image-1-2.png"/><Relationship Id="rId3" Type="http://schemas.openxmlformats.org/officeDocument/2006/relationships/image" Target="../media/img020_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g022_image-1-1.png"/><Relationship Id="rId2" Type="http://schemas.openxmlformats.org/officeDocument/2006/relationships/image" Target="../media/img022_image-1-2.png"/><Relationship Id="rId3" Type="http://schemas.openxmlformats.org/officeDocument/2006/relationships/image" Target="../media/img022_image-1-3.png"/><Relationship Id="rId4" Type="http://schemas.openxmlformats.org/officeDocument/2006/relationships/image" Target="../media/img022_image-1-4.png"/><Relationship Id="rId5" Type="http://schemas.openxmlformats.org/officeDocument/2006/relationships/image" Target="../media/img022_image-1-5.png"/><Relationship Id="rId6" Type="http://schemas.openxmlformats.org/officeDocument/2006/relationships/image" Target="../media/img022_image-1-6.png"/><Relationship Id="rId7" Type="http://schemas.openxmlformats.org/officeDocument/2006/relationships/image" Target="../media/img022_image-1-7.png"/><Relationship Id="rId8" Type="http://schemas.openxmlformats.org/officeDocument/2006/relationships/image" Target="../media/img022_image-1-8.png"/><Relationship Id="rId9" Type="http://schemas.openxmlformats.org/officeDocument/2006/relationships/image" Target="../media/img022_image-1-9.png"/><Relationship Id="rId10" Type="http://schemas.openxmlformats.org/officeDocument/2006/relationships/image" Target="../media/img022_image-1-10.png"/><Relationship Id="rId11" Type="http://schemas.openxmlformats.org/officeDocument/2006/relationships/image" Target="../media/img022_image-1-11.png"/><Relationship Id="rId12" Type="http://schemas.openxmlformats.org/officeDocument/2006/relationships/image" Target="../media/img022_image-1-12.png"/><Relationship Id="rId13" Type="http://schemas.openxmlformats.org/officeDocument/2006/relationships/image" Target="../media/img022_image-1-13.png"/><Relationship Id="rId14" Type="http://schemas.openxmlformats.org/officeDocument/2006/relationships/image" Target="../media/img022_image-1-14.png"/><Relationship Id="rId15" Type="http://schemas.openxmlformats.org/officeDocument/2006/relationships/image" Target="../media/img022_image-1-15.png"/><Relationship Id="rId16" Type="http://schemas.openxmlformats.org/officeDocument/2006/relationships/image" Target="../media/img022_image-1-16.png"/><Relationship Id="rId17" Type="http://schemas.openxmlformats.org/officeDocument/2006/relationships/image" Target="../media/img022_image-1-17.png"/><Relationship Id="rId18" Type="http://schemas.openxmlformats.org/officeDocument/2006/relationships/image" Target="../media/img022_image-1-18.png"/><Relationship Id="rId19" Type="http://schemas.openxmlformats.org/officeDocument/2006/relationships/image" Target="../media/img022_image-1-19.png"/><Relationship Id="rId20" Type="http://schemas.openxmlformats.org/officeDocument/2006/relationships/image" Target="../media/img022_image-1-20.png"/><Relationship Id="rId21" Type="http://schemas.openxmlformats.org/officeDocument/2006/relationships/image" Target="../media/img022_image-1-21.png"/><Relationship Id="rId22" Type="http://schemas.openxmlformats.org/officeDocument/2006/relationships/image" Target="../media/img022_image-1-22.png"/><Relationship Id="rId23" Type="http://schemas.openxmlformats.org/officeDocument/2006/relationships/image" Target="../media/img022_image-1-23.png"/><Relationship Id="rId24" Type="http://schemas.openxmlformats.org/officeDocument/2006/relationships/image" Target="../media/img022_image-1-24.png"/><Relationship Id="rId25" Type="http://schemas.openxmlformats.org/officeDocument/2006/relationships/image" Target="../media/img022_image-1-25.png"/><Relationship Id="rId26" Type="http://schemas.openxmlformats.org/officeDocument/2006/relationships/image" Target="../media/img022_image-1-26.png"/><Relationship Id="rId27" Type="http://schemas.openxmlformats.org/officeDocument/2006/relationships/image" Target="../media/img022_image-1-27.png"/><Relationship Id="rId28" Type="http://schemas.openxmlformats.org/officeDocument/2006/relationships/image" Target="../media/img022_image-1-28.png"/><Relationship Id="rId29" Type="http://schemas.openxmlformats.org/officeDocument/2006/relationships/image" Target="../media/img022_image-1-29.png"/><Relationship Id="rId30" Type="http://schemas.openxmlformats.org/officeDocument/2006/relationships/image" Target="../media/img022_image-1-30.png"/><Relationship Id="rId31" Type="http://schemas.openxmlformats.org/officeDocument/2006/relationships/image" Target="../media/img022_image-1-31.png"/><Relationship Id="rId32" Type="http://schemas.openxmlformats.org/officeDocument/2006/relationships/image" Target="../media/img022_image-1-32.png"/><Relationship Id="rId33" Type="http://schemas.openxmlformats.org/officeDocument/2006/relationships/image" Target="../media/img022_image-1-33.png"/><Relationship Id="rId34" Type="http://schemas.openxmlformats.org/officeDocument/2006/relationships/image" Target="../media/img022_image-1-34.png"/><Relationship Id="rId35" Type="http://schemas.openxmlformats.org/officeDocument/2006/relationships/image" Target="../media/img022_image-1-35.png"/><Relationship Id="rId36" Type="http://schemas.openxmlformats.org/officeDocument/2006/relationships/image" Target="../media/img022_image-1-36.png"/><Relationship Id="rId37" Type="http://schemas.openxmlformats.org/officeDocument/2006/relationships/image" Target="../media/img022_image-1-37.png"/><Relationship Id="rId38" Type="http://schemas.openxmlformats.org/officeDocument/2006/relationships/image" Target="../media/img022_image-1-38.png"/><Relationship Id="rId39" Type="http://schemas.openxmlformats.org/officeDocument/2006/relationships/image" Target="../media/img022_image-1-39.png"/><Relationship Id="rId40" Type="http://schemas.openxmlformats.org/officeDocument/2006/relationships/image" Target="../media/img022_image-1-40.png"/><Relationship Id="rId41" Type="http://schemas.openxmlformats.org/officeDocument/2006/relationships/image" Target="../media/img022_image-1-41.png"/><Relationship Id="rId42" Type="http://schemas.openxmlformats.org/officeDocument/2006/relationships/image" Target="../media/img022_image-1-42.png"/><Relationship Id="rId43" Type="http://schemas.openxmlformats.org/officeDocument/2006/relationships/image" Target="../media/img022_image-1-43.png"/><Relationship Id="rId44" Type="http://schemas.openxmlformats.org/officeDocument/2006/relationships/image" Target="../media/img022_image-1-44.png"/><Relationship Id="rId45" Type="http://schemas.openxmlformats.org/officeDocument/2006/relationships/image" Target="../media/img022_image-1-45.png"/><Relationship Id="rId46" Type="http://schemas.openxmlformats.org/officeDocument/2006/relationships/image" Target="../media/img022_image-1-46.png"/><Relationship Id="rId47" Type="http://schemas.openxmlformats.org/officeDocument/2006/relationships/image" Target="../media/img022_image-1-47.png"/><Relationship Id="rId48" Type="http://schemas.openxmlformats.org/officeDocument/2006/relationships/image" Target="../media/img022_image-1-48.png"/><Relationship Id="rId49" Type="http://schemas.openxmlformats.org/officeDocument/2006/relationships/image" Target="../media/img022_image-1-49.png"/><Relationship Id="rId50" Type="http://schemas.openxmlformats.org/officeDocument/2006/relationships/image" Target="../media/img022_image-1-50.png"/><Relationship Id="rId51" Type="http://schemas.openxmlformats.org/officeDocument/2006/relationships/image" Target="../media/img022_image-1-51.png"/><Relationship Id="rId52" Type="http://schemas.openxmlformats.org/officeDocument/2006/relationships/image" Target="../media/img022_image-1-52.png"/><Relationship Id="rId53" Type="http://schemas.openxmlformats.org/officeDocument/2006/relationships/image" Target="../media/img022_image-1-53.png"/><Relationship Id="rId54" Type="http://schemas.openxmlformats.org/officeDocument/2006/relationships/image" Target="../media/img022_image-1-54.png"/><Relationship Id="rId55" Type="http://schemas.openxmlformats.org/officeDocument/2006/relationships/image" Target="../media/img022_image-1-55.png"/><Relationship Id="rId56" Type="http://schemas.openxmlformats.org/officeDocument/2006/relationships/image" Target="../media/img022_image-1-56.png"/><Relationship Id="rId57" Type="http://schemas.openxmlformats.org/officeDocument/2006/relationships/image" Target="../media/img022_image-1-57.png"/><Relationship Id="rId58" Type="http://schemas.openxmlformats.org/officeDocument/2006/relationships/image" Target="../media/img022_image-1-58.png"/><Relationship Id="rId59" Type="http://schemas.openxmlformats.org/officeDocument/2006/relationships/image" Target="../media/img022_image-1-59.png"/><Relationship Id="rId60" Type="http://schemas.openxmlformats.org/officeDocument/2006/relationships/image" Target="../media/img022_image-1-60.png"/><Relationship Id="rId61" Type="http://schemas.openxmlformats.org/officeDocument/2006/relationships/image" Target="../media/img022_image-1-61.png"/><Relationship Id="rId62" Type="http://schemas.openxmlformats.org/officeDocument/2006/relationships/image" Target="../media/img022_image-1-62.png"/><Relationship Id="rId63" Type="http://schemas.openxmlformats.org/officeDocument/2006/relationships/image" Target="../media/img022_image-1-63.png"/><Relationship Id="rId64" Type="http://schemas.openxmlformats.org/officeDocument/2006/relationships/slideLayout" Target="../slideLayouts/slideLayout1.xml"/><Relationship Id="rId6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g023_image-1-1.png"/><Relationship Id="rId2" Type="http://schemas.openxmlformats.org/officeDocument/2006/relationships/image" Target="../media/img023_image-1-2.png"/><Relationship Id="rId3" Type="http://schemas.openxmlformats.org/officeDocument/2006/relationships/image" Target="../media/img023_image-1-3.png"/><Relationship Id="rId4" Type="http://schemas.openxmlformats.org/officeDocument/2006/relationships/image" Target="../media/img023_image-1-4.png"/><Relationship Id="rId5" Type="http://schemas.openxmlformats.org/officeDocument/2006/relationships/image" Target="../media/img023_image-1-5.png"/><Relationship Id="rId6" Type="http://schemas.openxmlformats.org/officeDocument/2006/relationships/image" Target="../media/img023_image-1-6.png"/><Relationship Id="rId7" Type="http://schemas.openxmlformats.org/officeDocument/2006/relationships/image" Target="../media/img023_image-1-7.png"/><Relationship Id="rId8" Type="http://schemas.openxmlformats.org/officeDocument/2006/relationships/image" Target="../media/img023_image-1-8.png"/><Relationship Id="rId9" Type="http://schemas.openxmlformats.org/officeDocument/2006/relationships/image" Target="../media/img023_image-1-9.png"/><Relationship Id="rId10" Type="http://schemas.openxmlformats.org/officeDocument/2006/relationships/image" Target="../media/img023_image-1-10.png"/><Relationship Id="rId11" Type="http://schemas.openxmlformats.org/officeDocument/2006/relationships/image" Target="../media/img023_image-1-11.png"/><Relationship Id="rId12" Type="http://schemas.openxmlformats.org/officeDocument/2006/relationships/image" Target="../media/img023_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g024_image-1-1.png"/><Relationship Id="rId2" Type="http://schemas.openxmlformats.org/officeDocument/2006/relationships/image" Target="../media/img024_image-1-1.png"/><Relationship Id="rId3" Type="http://schemas.openxmlformats.org/officeDocument/2006/relationships/image" Target="../media/img024_image-1-1.png"/><Relationship Id="rId4" Type="http://schemas.openxmlformats.org/officeDocument/2006/relationships/image" Target="../media/img024_image-1-1.png"/><Relationship Id="rId5" Type="http://schemas.openxmlformats.org/officeDocument/2006/relationships/image" Target="../media/img024_image-1-1.png"/><Relationship Id="rId6" Type="http://schemas.openxmlformats.org/officeDocument/2006/relationships/image" Target="../media/img024_image-1-1.png"/><Relationship Id="rId7" Type="http://schemas.openxmlformats.org/officeDocument/2006/relationships/image" Target="../media/img024_image-1-1.png"/><Relationship Id="rId8" Type="http://schemas.openxmlformats.org/officeDocument/2006/relationships/image" Target="../media/img024_image-1-1.png"/><Relationship Id="rId9" Type="http://schemas.openxmlformats.org/officeDocument/2006/relationships/image" Target="../media/img024_image-1-1.png"/><Relationship Id="rId10" Type="http://schemas.openxmlformats.org/officeDocument/2006/relationships/image" Target="../media/img024_image-1-1.png"/><Relationship Id="rId11" Type="http://schemas.openxmlformats.org/officeDocument/2006/relationships/image" Target="../media/img024_image-1-1.png"/><Relationship Id="rId12" Type="http://schemas.openxmlformats.org/officeDocument/2006/relationships/image" Target="../media/img024_image-1-1.png"/><Relationship Id="rId13" Type="http://schemas.openxmlformats.org/officeDocument/2006/relationships/image" Target="../media/img024_image-1-1.png"/><Relationship Id="rId14" Type="http://schemas.openxmlformats.org/officeDocument/2006/relationships/image" Target="../media/img024_image-1-1.png"/><Relationship Id="rId15" Type="http://schemas.openxmlformats.org/officeDocument/2006/relationships/image" Target="../media/img024_image-1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g025_image-1-1.png"/><Relationship Id="rId2" Type="http://schemas.openxmlformats.org/officeDocument/2006/relationships/image" Target="../media/img025_image-1-1.png"/><Relationship Id="rId3" Type="http://schemas.openxmlformats.org/officeDocument/2006/relationships/image" Target="../media/img025_image-1-1.png"/><Relationship Id="rId4" Type="http://schemas.openxmlformats.org/officeDocument/2006/relationships/image" Target="../media/img025_image-1-1.png"/><Relationship Id="rId5" Type="http://schemas.openxmlformats.org/officeDocument/2006/relationships/image" Target="../media/img025_image-1-1.png"/><Relationship Id="rId6" Type="http://schemas.openxmlformats.org/officeDocument/2006/relationships/image" Target="../media/img025_image-1-1.png"/><Relationship Id="rId7" Type="http://schemas.openxmlformats.org/officeDocument/2006/relationships/image" Target="../media/img025_image-1-1.png"/><Relationship Id="rId8" Type="http://schemas.openxmlformats.org/officeDocument/2006/relationships/image" Target="../media/img025_image-1-1.png"/><Relationship Id="rId9" Type="http://schemas.openxmlformats.org/officeDocument/2006/relationships/image" Target="../media/img025_image-1-1.png"/><Relationship Id="rId10" Type="http://schemas.openxmlformats.org/officeDocument/2006/relationships/image" Target="../media/img025_image-1-10.png"/><Relationship Id="rId11" Type="http://schemas.openxmlformats.org/officeDocument/2006/relationships/image" Target="../media/img025_image-1-11.png"/><Relationship Id="rId12" Type="http://schemas.openxmlformats.org/officeDocument/2006/relationships/image" Target="../media/img025_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g026_image-1-1.png"/><Relationship Id="rId2" Type="http://schemas.openxmlformats.org/officeDocument/2006/relationships/image" Target="../media/img026_image-1-2.png"/><Relationship Id="rId3" Type="http://schemas.openxmlformats.org/officeDocument/2006/relationships/image" Target="../media/img026_image-1-3.png"/><Relationship Id="rId4" Type="http://schemas.openxmlformats.org/officeDocument/2006/relationships/image" Target="../media/img026_image-1-4.png"/><Relationship Id="rId5" Type="http://schemas.openxmlformats.org/officeDocument/2006/relationships/image" Target="../media/img026_image-1-5.png"/><Relationship Id="rId6" Type="http://schemas.openxmlformats.org/officeDocument/2006/relationships/image" Target="../media/img026_image-1-6.png"/><Relationship Id="rId7" Type="http://schemas.openxmlformats.org/officeDocument/2006/relationships/image" Target="../media/img026_image-1-7.png"/><Relationship Id="rId8" Type="http://schemas.openxmlformats.org/officeDocument/2006/relationships/image" Target="../media/img026_image-1-8.png"/><Relationship Id="rId9" Type="http://schemas.openxmlformats.org/officeDocument/2006/relationships/image" Target="../media/img026_image-1-9.png"/><Relationship Id="rId10" Type="http://schemas.openxmlformats.org/officeDocument/2006/relationships/image" Target="../media/img026_image-1-10.png"/><Relationship Id="rId11" Type="http://schemas.openxmlformats.org/officeDocument/2006/relationships/image" Target="../media/img026_image-1-11.png"/><Relationship Id="rId12" Type="http://schemas.openxmlformats.org/officeDocument/2006/relationships/image" Target="../media/img026_image-1-12.png"/><Relationship Id="rId13" Type="http://schemas.openxmlformats.org/officeDocument/2006/relationships/image" Target="../media/img026_image-1-13.png"/><Relationship Id="rId14" Type="http://schemas.openxmlformats.org/officeDocument/2006/relationships/image" Target="../media/img026_image-1-14.png"/><Relationship Id="rId15" Type="http://schemas.openxmlformats.org/officeDocument/2006/relationships/image" Target="../media/img026_image-1-15.png"/><Relationship Id="rId16" Type="http://schemas.openxmlformats.org/officeDocument/2006/relationships/image" Target="../media/img026_image-1-16.png"/><Relationship Id="rId17" Type="http://schemas.openxmlformats.org/officeDocument/2006/relationships/image" Target="../media/img026_image-1-17.png"/><Relationship Id="rId18" Type="http://schemas.openxmlformats.org/officeDocument/2006/relationships/image" Target="../media/img026_image-1-18.png"/><Relationship Id="rId19" Type="http://schemas.openxmlformats.org/officeDocument/2006/relationships/image" Target="../media/img026_image-1-19.png"/><Relationship Id="rId20" Type="http://schemas.openxmlformats.org/officeDocument/2006/relationships/image" Target="../media/img026_image-1-20.png"/><Relationship Id="rId21" Type="http://schemas.openxmlformats.org/officeDocument/2006/relationships/image" Target="../media/img026_image-1-21.png"/><Relationship Id="rId22" Type="http://schemas.openxmlformats.org/officeDocument/2006/relationships/image" Target="../media/img026_image-1-22.png"/><Relationship Id="rId23" Type="http://schemas.openxmlformats.org/officeDocument/2006/relationships/image" Target="../media/img026_image-1-23.png"/><Relationship Id="rId24" Type="http://schemas.openxmlformats.org/officeDocument/2006/relationships/image" Target="../media/img026_image-1-24.png"/><Relationship Id="rId25" Type="http://schemas.openxmlformats.org/officeDocument/2006/relationships/image" Target="../media/img026_image-1-25.png"/><Relationship Id="rId26" Type="http://schemas.openxmlformats.org/officeDocument/2006/relationships/image" Target="../media/img026_image-1-26.png"/><Relationship Id="rId27" Type="http://schemas.openxmlformats.org/officeDocument/2006/relationships/image" Target="../media/img026_image-1-27.png"/><Relationship Id="rId28" Type="http://schemas.openxmlformats.org/officeDocument/2006/relationships/image" Target="../media/img026_image-1-28.png"/><Relationship Id="rId29" Type="http://schemas.openxmlformats.org/officeDocument/2006/relationships/image" Target="../media/img026_image-1-29.png"/><Relationship Id="rId30" Type="http://schemas.openxmlformats.org/officeDocument/2006/relationships/image" Target="../media/img026_image-1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g029_image-1-1.png"/><Relationship Id="rId2" Type="http://schemas.openxmlformats.org/officeDocument/2006/relationships/image" Target="../media/img029_image-1-2.png"/><Relationship Id="rId3" Type="http://schemas.openxmlformats.org/officeDocument/2006/relationships/image" Target="../media/img029_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g030_image-1-1.png"/><Relationship Id="rId2" Type="http://schemas.openxmlformats.org/officeDocument/2006/relationships/image" Target="../media/img030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g031_image-1-1.png"/><Relationship Id="rId2" Type="http://schemas.openxmlformats.org/officeDocument/2006/relationships/image" Target="../media/img031_image-1-2.png"/><Relationship Id="rId3" Type="http://schemas.openxmlformats.org/officeDocument/2006/relationships/image" Target="../media/img031_image-1-3.png"/><Relationship Id="rId4" Type="http://schemas.openxmlformats.org/officeDocument/2006/relationships/image" Target="../media/img031_image-1-4.png"/><Relationship Id="rId5" Type="http://schemas.openxmlformats.org/officeDocument/2006/relationships/image" Target="../media/img031_image-1-5.png"/><Relationship Id="rId6" Type="http://schemas.openxmlformats.org/officeDocument/2006/relationships/image" Target="../media/img031_image-1-6.png"/><Relationship Id="rId7" Type="http://schemas.openxmlformats.org/officeDocument/2006/relationships/image" Target="../media/img031_image-1-7.png"/><Relationship Id="rId8" Type="http://schemas.openxmlformats.org/officeDocument/2006/relationships/image" Target="../media/img031_image-1-8.png"/><Relationship Id="rId9" Type="http://schemas.openxmlformats.org/officeDocument/2006/relationships/image" Target="../media/img031_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g032_image-1-1.png"/><Relationship Id="rId2" Type="http://schemas.openxmlformats.org/officeDocument/2006/relationships/image" Target="../media/img032_image-1-2.png"/><Relationship Id="rId3" Type="http://schemas.openxmlformats.org/officeDocument/2006/relationships/image" Target="../media/img032_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g033_image-1-1.png"/><Relationship Id="rId2" Type="http://schemas.openxmlformats.org/officeDocument/2006/relationships/image" Target="../media/img033_image-1-2.png"/><Relationship Id="rId3" Type="http://schemas.openxmlformats.org/officeDocument/2006/relationships/image" Target="../media/img033_image-1-3.png"/><Relationship Id="rId4" Type="http://schemas.openxmlformats.org/officeDocument/2006/relationships/image" Target="../media/img033_image-1-4.png"/><Relationship Id="rId5" Type="http://schemas.openxmlformats.org/officeDocument/2006/relationships/image" Target="../media/img033_image-1-5.png"/><Relationship Id="rId6" Type="http://schemas.openxmlformats.org/officeDocument/2006/relationships/image" Target="../media/img033_image-1-6.png"/><Relationship Id="rId7" Type="http://schemas.openxmlformats.org/officeDocument/2006/relationships/image" Target="../media/img033_image-1-7.png"/><Relationship Id="rId8" Type="http://schemas.openxmlformats.org/officeDocument/2006/relationships/image" Target="../media/img033_image-1-8.png"/><Relationship Id="rId9" Type="http://schemas.openxmlformats.org/officeDocument/2006/relationships/image" Target="../media/img033_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g034_image-1-1.png"/><Relationship Id="rId2" Type="http://schemas.openxmlformats.org/officeDocument/2006/relationships/image" Target="../media/img034_image-1-2.png"/><Relationship Id="rId3" Type="http://schemas.openxmlformats.org/officeDocument/2006/relationships/image" Target="../media/img034_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g035_image-1-1.png"/><Relationship Id="rId2" Type="http://schemas.openxmlformats.org/officeDocument/2006/relationships/image" Target="../media/img035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g036_image-1-1.png"/><Relationship Id="rId2" Type="http://schemas.openxmlformats.org/officeDocument/2006/relationships/image" Target="../media/img036_image-1-2.png"/><Relationship Id="rId3" Type="http://schemas.openxmlformats.org/officeDocument/2006/relationships/image" Target="../media/img036_image-1-3.png"/><Relationship Id="rId4" Type="http://schemas.openxmlformats.org/officeDocument/2006/relationships/image" Target="../media/img036_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g037_image-1-1.png"/><Relationship Id="rId2" Type="http://schemas.openxmlformats.org/officeDocument/2006/relationships/image" Target="../media/img037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g038_image-1-1.png"/><Relationship Id="rId2" Type="http://schemas.openxmlformats.org/officeDocument/2006/relationships/image" Target="../media/img038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g039_image-1-1.png"/><Relationship Id="rId2" Type="http://schemas.openxmlformats.org/officeDocument/2006/relationships/image" Target="../media/img039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g040_image-1-1.png"/><Relationship Id="rId2" Type="http://schemas.openxmlformats.org/officeDocument/2006/relationships/image" Target="../media/img040_image-1-2.png"/><Relationship Id="rId3" Type="http://schemas.openxmlformats.org/officeDocument/2006/relationships/image" Target="../media/img040_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g041_image-1-1.png"/><Relationship Id="rId2" Type="http://schemas.openxmlformats.org/officeDocument/2006/relationships/image" Target="../media/img041_image-1-2.png"/><Relationship Id="rId3" Type="http://schemas.openxmlformats.org/officeDocument/2006/relationships/image" Target="../media/img041_image-1-3.png"/><Relationship Id="rId4" Type="http://schemas.openxmlformats.org/officeDocument/2006/relationships/image" Target="../media/img041_image-1-4.png"/><Relationship Id="rId5" Type="http://schemas.openxmlformats.org/officeDocument/2006/relationships/image" Target="../media/img041_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g042_image-1-1.png"/><Relationship Id="rId2" Type="http://schemas.openxmlformats.org/officeDocument/2006/relationships/image" Target="../media/img042_image-1-2.png"/><Relationship Id="rId3" Type="http://schemas.openxmlformats.org/officeDocument/2006/relationships/image" Target="../media/img042_image-1-3.png"/><Relationship Id="rId4" Type="http://schemas.openxmlformats.org/officeDocument/2006/relationships/image" Target="../media/img042_image-1-4.png"/><Relationship Id="rId5" Type="http://schemas.openxmlformats.org/officeDocument/2006/relationships/image" Target="../media/img042_image-1-5.png"/><Relationship Id="rId6" Type="http://schemas.openxmlformats.org/officeDocument/2006/relationships/image" Target="../media/img042_image-1-6.png"/><Relationship Id="rId7" Type="http://schemas.openxmlformats.org/officeDocument/2006/relationships/image" Target="../media/img042_image-1-7.png"/><Relationship Id="rId8" Type="http://schemas.openxmlformats.org/officeDocument/2006/relationships/image" Target="../media/img042_image-1-8.png"/><Relationship Id="rId9" Type="http://schemas.openxmlformats.org/officeDocument/2006/relationships/image" Target="../media/img042_image-1-9.png"/><Relationship Id="rId10" Type="http://schemas.openxmlformats.org/officeDocument/2006/relationships/image" Target="../media/img042_image-1-10.png"/><Relationship Id="rId11" Type="http://schemas.openxmlformats.org/officeDocument/2006/relationships/image" Target="../media/img042_image-1-11.png"/><Relationship Id="rId12" Type="http://schemas.openxmlformats.org/officeDocument/2006/relationships/image" Target="../media/img042_image-1-12.png"/><Relationship Id="rId13" Type="http://schemas.openxmlformats.org/officeDocument/2006/relationships/image" Target="../media/img042_image-1-13.png"/><Relationship Id="rId14" Type="http://schemas.openxmlformats.org/officeDocument/2006/relationships/image" Target="../media/img042_image-1-14.png"/><Relationship Id="rId15" Type="http://schemas.openxmlformats.org/officeDocument/2006/relationships/image" Target="../media/img042_image-1-15.png"/><Relationship Id="rId16" Type="http://schemas.openxmlformats.org/officeDocument/2006/relationships/image" Target="../media/img042_image-1-16.png"/><Relationship Id="rId17" Type="http://schemas.openxmlformats.org/officeDocument/2006/relationships/image" Target="../media/img042_image-1-17.png"/><Relationship Id="rId18" Type="http://schemas.openxmlformats.org/officeDocument/2006/relationships/image" Target="../media/img042_image-1-18.png"/><Relationship Id="rId19" Type="http://schemas.openxmlformats.org/officeDocument/2006/relationships/image" Target="../media/img042_image-1-19.png"/><Relationship Id="rId20" Type="http://schemas.openxmlformats.org/officeDocument/2006/relationships/image" Target="../media/img042_image-1-20.png"/><Relationship Id="rId21" Type="http://schemas.openxmlformats.org/officeDocument/2006/relationships/image" Target="../media/img042_image-1-21.png"/><Relationship Id="rId22" Type="http://schemas.openxmlformats.org/officeDocument/2006/relationships/image" Target="../media/img042_image-1-22.png"/><Relationship Id="rId23" Type="http://schemas.openxmlformats.org/officeDocument/2006/relationships/image" Target="../media/img042_image-1-23.png"/><Relationship Id="rId24" Type="http://schemas.openxmlformats.org/officeDocument/2006/relationships/image" Target="../media/img042_image-1-24.png"/><Relationship Id="rId25" Type="http://schemas.openxmlformats.org/officeDocument/2006/relationships/image" Target="../media/img042_image-1-25.png"/><Relationship Id="rId26" Type="http://schemas.openxmlformats.org/officeDocument/2006/relationships/image" Target="../media/img042_image-1-26.png"/><Relationship Id="rId27" Type="http://schemas.openxmlformats.org/officeDocument/2006/relationships/image" Target="../media/img042_image-1-27.png"/><Relationship Id="rId28" Type="http://schemas.openxmlformats.org/officeDocument/2006/relationships/image" Target="../media/img042_image-1-28.png"/><Relationship Id="rId29" Type="http://schemas.openxmlformats.org/officeDocument/2006/relationships/image" Target="../media/img042_image-1-29.png"/><Relationship Id="rId30" Type="http://schemas.openxmlformats.org/officeDocument/2006/relationships/image" Target="../media/img042_image-1-30.png"/><Relationship Id="rId31" Type="http://schemas.openxmlformats.org/officeDocument/2006/relationships/image" Target="../media/img042_image-1-31.png"/><Relationship Id="rId32" Type="http://schemas.openxmlformats.org/officeDocument/2006/relationships/image" Target="../media/img042_image-1-32.png"/><Relationship Id="rId33" Type="http://schemas.openxmlformats.org/officeDocument/2006/relationships/image" Target="../media/img042_image-1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g044_image-1-1.png"/><Relationship Id="rId2" Type="http://schemas.openxmlformats.org/officeDocument/2006/relationships/image" Target="../media/img044_image-1-2.png"/><Relationship Id="rId3" Type="http://schemas.openxmlformats.org/officeDocument/2006/relationships/image" Target="../media/img044_image-1-3.png"/><Relationship Id="rId4" Type="http://schemas.openxmlformats.org/officeDocument/2006/relationships/image" Target="../media/img044_image-1-4.png"/><Relationship Id="rId5" Type="http://schemas.openxmlformats.org/officeDocument/2006/relationships/image" Target="../media/img044_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g045_image-1-1.png"/><Relationship Id="rId2" Type="http://schemas.openxmlformats.org/officeDocument/2006/relationships/image" Target="../media/img045_image-1-2.png"/><Relationship Id="rId3" Type="http://schemas.openxmlformats.org/officeDocument/2006/relationships/image" Target="../media/img045_image-1-3.png"/><Relationship Id="rId4" Type="http://schemas.openxmlformats.org/officeDocument/2006/relationships/image" Target="../media/img045_image-1-4.png"/><Relationship Id="rId5" Type="http://schemas.openxmlformats.org/officeDocument/2006/relationships/image" Target="../media/img045_image-1-5.png"/><Relationship Id="rId6" Type="http://schemas.openxmlformats.org/officeDocument/2006/relationships/image" Target="../media/img045_image-1-6.png"/><Relationship Id="rId7" Type="http://schemas.openxmlformats.org/officeDocument/2006/relationships/image" Target="../media/img045_image-1-7.png"/><Relationship Id="rId8" Type="http://schemas.openxmlformats.org/officeDocument/2006/relationships/image" Target="../media/img045_image-1-8.png"/><Relationship Id="rId9" Type="http://schemas.openxmlformats.org/officeDocument/2006/relationships/image" Target="../media/img045_image-1-9.png"/><Relationship Id="rId10" Type="http://schemas.openxmlformats.org/officeDocument/2006/relationships/image" Target="../media/img045_image-1-10.png"/><Relationship Id="rId11" Type="http://schemas.openxmlformats.org/officeDocument/2006/relationships/image" Target="../media/img045_image-1-11.png"/><Relationship Id="rId12" Type="http://schemas.openxmlformats.org/officeDocument/2006/relationships/image" Target="../media/img045_image-1-12.png"/><Relationship Id="rId13" Type="http://schemas.openxmlformats.org/officeDocument/2006/relationships/image" Target="../media/img045_image-1-13.png"/><Relationship Id="rId14" Type="http://schemas.openxmlformats.org/officeDocument/2006/relationships/image" Target="../media/img045_image-1-14.png"/><Relationship Id="rId15" Type="http://schemas.openxmlformats.org/officeDocument/2006/relationships/image" Target="../media/img045_image-1-15.png"/><Relationship Id="rId16" Type="http://schemas.openxmlformats.org/officeDocument/2006/relationships/image" Target="../media/img045_image-1-16.png"/><Relationship Id="rId17" Type="http://schemas.openxmlformats.org/officeDocument/2006/relationships/image" Target="../media/img045_image-1-17.png"/><Relationship Id="rId18" Type="http://schemas.openxmlformats.org/officeDocument/2006/relationships/image" Target="../media/img045_image-1-18.png"/><Relationship Id="rId19" Type="http://schemas.openxmlformats.org/officeDocument/2006/relationships/image" Target="../media/img045_image-1-19.png"/><Relationship Id="rId20" Type="http://schemas.openxmlformats.org/officeDocument/2006/relationships/image" Target="../media/img045_image-1-20.png"/><Relationship Id="rId21" Type="http://schemas.openxmlformats.org/officeDocument/2006/relationships/image" Target="../media/img045_image-1-21.png"/><Relationship Id="rId22" Type="http://schemas.openxmlformats.org/officeDocument/2006/relationships/image" Target="../media/img045_image-1-22.png"/><Relationship Id="rId23" Type="http://schemas.openxmlformats.org/officeDocument/2006/relationships/image" Target="../media/img045_image-1-23.png"/><Relationship Id="rId24" Type="http://schemas.openxmlformats.org/officeDocument/2006/relationships/image" Target="../media/img045_image-1-24.png"/><Relationship Id="rId25" Type="http://schemas.openxmlformats.org/officeDocument/2006/relationships/image" Target="../media/img045_image-1-25.png"/><Relationship Id="rId26" Type="http://schemas.openxmlformats.org/officeDocument/2006/relationships/image" Target="../media/img045_image-1-26.png"/><Relationship Id="rId27" Type="http://schemas.openxmlformats.org/officeDocument/2006/relationships/image" Target="../media/img045_image-1-27.png"/><Relationship Id="rId28" Type="http://schemas.openxmlformats.org/officeDocument/2006/relationships/image" Target="../media/img045_image-1-28.png"/><Relationship Id="rId29" Type="http://schemas.openxmlformats.org/officeDocument/2006/relationships/image" Target="../media/img045_image-1-29.png"/><Relationship Id="rId30" Type="http://schemas.openxmlformats.org/officeDocument/2006/relationships/image" Target="../media/img045_image-1-30.png"/><Relationship Id="rId31" Type="http://schemas.openxmlformats.org/officeDocument/2006/relationships/image" Target="../media/img045_image-1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g046_image-1-1.png"/><Relationship Id="rId2" Type="http://schemas.openxmlformats.org/officeDocument/2006/relationships/image" Target="../media/img046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g047_image-1-1.png"/><Relationship Id="rId2" Type="http://schemas.openxmlformats.org/officeDocument/2006/relationships/image" Target="../media/img047_image-1-2.png"/><Relationship Id="rId3" Type="http://schemas.openxmlformats.org/officeDocument/2006/relationships/image" Target="../media/img047_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g048_image-1-1.png"/><Relationship Id="rId2" Type="http://schemas.openxmlformats.org/officeDocument/2006/relationships/image" Target="../media/img048_image-1-2.png"/><Relationship Id="rId3" Type="http://schemas.openxmlformats.org/officeDocument/2006/relationships/image" Target="../media/img048_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305" y="1474013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0"/>
              </a:lnSpc>
              <a:buNone/>
            </a:pPr>
            <a:r>
              <a:rPr lang="en-US" sz="6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 Learning</a:t>
            </a:r>
            <a:endParaRPr lang="en-US" sz="6300" dirty="0"/>
          </a:p>
          <a:p>
            <a:pPr algn="ctr" indent="0" marL="0">
              <a:lnSpc>
                <a:spcPts val="7000"/>
              </a:lnSpc>
              <a:buNone/>
            </a:pPr>
            <a:r>
              <a:rPr lang="en-US" sz="6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DSAI 308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4242816" y="3639861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42816" y="394536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i="1" dirty="0">
                <a:solidFill>
                  <a:srgbClr val="141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Khaled Mostafa ElSayed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4242816" y="431395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1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41832" y="496976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i="1" spc="110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Instructors: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88643" y="533461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i="1" dirty="0">
                <a:solidFill>
                  <a:srgbClr val="141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Khaled Mostafa ElSayed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88643" y="56855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F1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88643" y="5931713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i="1" dirty="0">
                <a:solidFill>
                  <a:srgbClr val="141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Mohamed Maher Ata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488643" y="6257239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1F1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momaher@zewailcity.edu.eg</a:t>
            </a:r>
            <a:endParaRPr lang="en-US" sz="1650" dirty="0"/>
          </a:p>
        </p:txBody>
      </p:sp>
      <p:pic>
        <p:nvPicPr>
          <p:cNvPr id="14" name="Image 0" descr="/home/ahmed/Projects/ai_llm_slides/videos/deep-learning/001_introduction/recreated_pptx/build/assets/zewail_logo_001intro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8190" y="5435559"/>
            <a:ext cx="4279941" cy="10921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6200" y="1752600"/>
            <a:ext cx="9512300" cy="41402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3700" y="85471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700"/>
              </a:lnSpc>
              <a:buNone/>
            </a:pPr>
            <a:r>
              <a:rPr lang="en-US" sz="4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1501775" y="2428875"/>
            <a:ext cx="95250" cy="952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1775" y="3292475"/>
            <a:ext cx="95250" cy="952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1775" y="4156075"/>
            <a:ext cx="95250" cy="952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1775" y="5019675"/>
            <a:ext cx="95250" cy="952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21925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60" b="1" dirty="0">
                <a:solidFill>
                  <a:srgbClr val="00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revision of Machine Learning</a:t>
            </a:r>
            <a:endParaRPr lang="en-US" sz="3060" dirty="0"/>
          </a:p>
        </p:txBody>
      </p:sp>
      <p:sp>
        <p:nvSpPr>
          <p:cNvPr id="13" name="Text 11"/>
          <p:cNvSpPr/>
          <p:nvPr/>
        </p:nvSpPr>
        <p:spPr>
          <a:xfrm>
            <a:off x="1737360" y="30561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60" b="1" dirty="0">
                <a:solidFill>
                  <a:srgbClr val="00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vs Machine Learning</a:t>
            </a:r>
            <a:endParaRPr lang="en-US" sz="3060" dirty="0"/>
          </a:p>
        </p:txBody>
      </p:sp>
      <p:sp>
        <p:nvSpPr>
          <p:cNvPr id="14" name="Text 12"/>
          <p:cNvSpPr/>
          <p:nvPr/>
        </p:nvSpPr>
        <p:spPr>
          <a:xfrm>
            <a:off x="1737360" y="39324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60" b="1" dirty="0">
                <a:solidFill>
                  <a:srgbClr val="00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revision of Neural Network</a:t>
            </a:r>
            <a:endParaRPr lang="en-US" sz="3060" dirty="0"/>
          </a:p>
        </p:txBody>
      </p:sp>
      <p:sp>
        <p:nvSpPr>
          <p:cNvPr id="15" name="Text 13"/>
          <p:cNvSpPr/>
          <p:nvPr/>
        </p:nvSpPr>
        <p:spPr>
          <a:xfrm>
            <a:off x="1737360" y="47960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60" b="1" dirty="0">
                <a:solidFill>
                  <a:srgbClr val="00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Convolutional Neural Network</a:t>
            </a:r>
            <a:endParaRPr lang="en-US" sz="30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1701800"/>
            <a:ext cx="1066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600"/>
              </a:lnSpc>
              <a:buNone/>
            </a:pPr>
            <a:r>
              <a:rPr lang="en-US" sz="6350" b="1" dirty="0">
                <a:solidFill>
                  <a:srgbClr val="BA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Revision of</a:t>
            </a:r>
            <a:endParaRPr lang="en-US" sz="6350" dirty="0"/>
          </a:p>
        </p:txBody>
      </p:sp>
      <p:sp>
        <p:nvSpPr>
          <p:cNvPr id="7" name="Text 5"/>
          <p:cNvSpPr/>
          <p:nvPr/>
        </p:nvSpPr>
        <p:spPr>
          <a:xfrm>
            <a:off x="762000" y="3048000"/>
            <a:ext cx="1066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600"/>
              </a:lnSpc>
              <a:buNone/>
            </a:pPr>
            <a:r>
              <a:rPr lang="en-US" sz="6350" b="1" dirty="0">
                <a:solidFill>
                  <a:srgbClr val="BA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6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0" y="1536700"/>
            <a:ext cx="4838700" cy="939800"/>
          </a:xfrm>
          <a:prstGeom prst="rect">
            <a:avLst/>
          </a:prstGeom>
          <a:solidFill>
            <a:srgbClr val="9F0000"/>
          </a:solidFill>
          <a:ln w="12700">
            <a:solidFill>
              <a:srgbClr val="9F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36700" y="3492500"/>
            <a:ext cx="3632200" cy="965200"/>
          </a:xfrm>
          <a:prstGeom prst="rect">
            <a:avLst/>
          </a:prstGeom>
          <a:solidFill>
            <a:srgbClr val="0200A7"/>
          </a:solidFill>
          <a:ln w="12700">
            <a:solidFill>
              <a:srgbClr val="0200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48400" y="3492500"/>
            <a:ext cx="3543300" cy="965200"/>
          </a:xfrm>
          <a:prstGeom prst="rect">
            <a:avLst/>
          </a:prstGeom>
          <a:solidFill>
            <a:srgbClr val="0A873B"/>
          </a:solidFill>
          <a:ln w="12700">
            <a:solidFill>
              <a:srgbClr val="0A87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5842000" y="2470150"/>
                </a:moveTo>
                <a:cubicBezTo>
                  <a:pt x="5760339" y="3273806"/>
                  <a:pt x="3645916" y="2815844"/>
                  <a:pt x="3368675" y="3327400"/>
                </a:cubicBezTo>
              </a:path>
            </a:pathLst>
          </a:custGeom>
          <a:noFill/>
          <a:ln w="31750">
            <a:solidFill>
              <a:srgbClr val="7B2B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5842000" y="2470150"/>
                </a:moveTo>
                <a:cubicBezTo>
                  <a:pt x="5903087" y="3290824"/>
                  <a:pt x="7721600" y="2805303"/>
                  <a:pt x="7997825" y="3327400"/>
                </a:cubicBezTo>
              </a:path>
            </a:pathLst>
          </a:custGeom>
          <a:noFill/>
          <a:ln w="31750">
            <a:solidFill>
              <a:srgbClr val="7B2B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308350" y="3321050"/>
            <a:ext cx="120650" cy="165100"/>
          </a:xfrm>
          <a:prstGeom prst="triangle">
            <a:avLst/>
          </a:prstGeom>
          <a:solidFill>
            <a:srgbClr val="7B2B34"/>
          </a:solidFill>
          <a:ln w="12700">
            <a:solidFill>
              <a:srgbClr val="7B2B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7937500" y="3321050"/>
            <a:ext cx="114300" cy="165100"/>
          </a:xfrm>
          <a:prstGeom prst="triangle">
            <a:avLst/>
          </a:prstGeom>
          <a:solidFill>
            <a:srgbClr val="7B2B34"/>
          </a:solidFill>
          <a:ln w="12700">
            <a:solidFill>
              <a:srgbClr val="7B2B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2450" y="17145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spc="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04950" y="354761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5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Based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1511300" y="391591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500" b="1" spc="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(Expert Systems)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178550" y="354761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5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Based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184900" y="391591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500" b="1" spc="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(Machine Learning)</a:t>
            </a:r>
            <a:endParaRPr lang="en-US" sz="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30300" y="1752600"/>
            <a:ext cx="9982200" cy="463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90805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Machine Learning?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1282700" y="1905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Learning: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790700" y="2393950"/>
            <a:ext cx="932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spc="2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algorithms that can </a:t>
            </a:r>
            <a:pPr algn="l" indent="0" marL="0">
              <a:lnSpc>
                <a:spcPts val="3000"/>
              </a:lnSpc>
              <a:buNone/>
            </a:pPr>
            <a:r>
              <a:rPr lang="en-US" sz="2500" spc="22" kern="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patterns from data</a:t>
            </a:r>
            <a:pPr algn="l" indent="0" marL="0">
              <a:lnSpc>
                <a:spcPts val="3000"/>
              </a:lnSpc>
              <a:buNone/>
            </a:pPr>
            <a:r>
              <a:rPr lang="en-US" sz="2500" spc="2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(and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790700" y="2749550"/>
            <a:ext cx="932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them)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790700" y="3257550"/>
            <a:ext cx="932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spc="42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</a:t>
            </a:r>
            <a:pPr algn="l" indent="0" marL="0">
              <a:lnSpc>
                <a:spcPts val="3000"/>
              </a:lnSpc>
              <a:buNone/>
            </a:pPr>
            <a:r>
              <a:rPr lang="en-US" sz="2500" spc="4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human supplies training examples, the machine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790700" y="3625850"/>
            <a:ext cx="932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790700" y="4121150"/>
            <a:ext cx="932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spc="38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lnSpc>
                <a:spcPts val="3000"/>
              </a:lnSpc>
              <a:buNone/>
            </a:pPr>
            <a:r>
              <a:rPr lang="en-US" sz="2500" spc="3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 the machine a bunch of spam and legitimate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790700" y="4489450"/>
            <a:ext cx="932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spc="2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 and </a:t>
            </a:r>
            <a:pPr algn="l" indent="0" marL="0">
              <a:lnSpc>
                <a:spcPts val="3000"/>
              </a:lnSpc>
              <a:buNone/>
            </a:pPr>
            <a:r>
              <a:rPr lang="en-US" sz="2500" spc="23" kern="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it learn to predict if a new email is spam or not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1397000" y="2578100"/>
            <a:ext cx="88900" cy="889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97000" y="3441700"/>
            <a:ext cx="88900" cy="889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97000" y="4318000"/>
            <a:ext cx="88900" cy="889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3950" y="1695450"/>
            <a:ext cx="9575800" cy="4699000"/>
          </a:xfrm>
          <a:prstGeom prst="rect">
            <a:avLst/>
          </a:prstGeom>
          <a:solidFill>
            <a:srgbClr val="FFFFFF"/>
          </a:solidFill>
          <a:ln w="28575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850" y="848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55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in the real-world</a:t>
            </a:r>
            <a:endParaRPr lang="en-US" sz="4550" dirty="0"/>
          </a:p>
        </p:txBody>
      </p:sp>
      <p:sp>
        <p:nvSpPr>
          <p:cNvPr id="8" name="Text 6"/>
          <p:cNvSpPr/>
          <p:nvPr/>
        </p:nvSpPr>
        <p:spPr>
          <a:xfrm>
            <a:off x="1181100" y="163703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9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Broadly applicable in many domains</a:t>
            </a:r>
            <a:pPr algn="l" indent="0" marL="0">
              <a:lnSpc>
                <a:spcPts val="2800"/>
              </a:lnSpc>
              <a:buNone/>
            </a:pPr>
            <a:r>
              <a:rPr lang="en-US" sz="239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(e.g., finance, robotics,</a:t>
            </a:r>
            <a:endParaRPr lang="en-US" sz="2390" dirty="0"/>
          </a:p>
        </p:txBody>
      </p:sp>
      <p:sp>
        <p:nvSpPr>
          <p:cNvPr id="9" name="Text 7"/>
          <p:cNvSpPr/>
          <p:nvPr/>
        </p:nvSpPr>
        <p:spPr>
          <a:xfrm>
            <a:off x="1193800" y="197993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9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bioinformatics, vision, natural language, etc.). Some applications:</a:t>
            </a:r>
            <a:endParaRPr lang="en-US" sz="2390" dirty="0"/>
          </a:p>
        </p:txBody>
      </p:sp>
      <p:sp>
        <p:nvSpPr>
          <p:cNvPr id="10" name="Text 8"/>
          <p:cNvSpPr/>
          <p:nvPr/>
        </p:nvSpPr>
        <p:spPr>
          <a:xfrm>
            <a:off x="2603500" y="23550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filtering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2603500" y="26852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Machine Translation (e.g.,  Google Translate)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2603500" y="30154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Speech/handwriting recognition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2603500" y="33583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detection/recognition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2603500" y="36885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prediction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2603500" y="40187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Classifying DNA sequences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2603500" y="43489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market analysis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2603500" y="46791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vehicle navigation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2603500" y="50093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engines (e.g., Google)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2603500" y="53395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Credit-card fraud detection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2603500" y="56824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A1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Webpage clustering (e.g., Google News)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2603500" y="60126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 and many more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2279650" y="25463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79650" y="28765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79650" y="32194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79650" y="35369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79650" y="38798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79650" y="42100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79650" y="45402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79650" y="48704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79650" y="52006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79650" y="55435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79650" y="58737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79650" y="62039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3900" y="546100"/>
            <a:ext cx="10750550" cy="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600" y="539750"/>
            <a:ext cx="0" cy="602615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000" y="1511300"/>
            <a:ext cx="10471150" cy="462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600" y="6591300"/>
            <a:ext cx="1122045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59200" y="1727200"/>
            <a:ext cx="4845050" cy="144145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5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Domains</a:t>
            </a:r>
            <a:endParaRPr lang="en-US" sz="2500" dirty="0"/>
          </a:p>
          <a:p>
            <a:pPr algn="ctr" indent="0" marL="0">
              <a:lnSpc>
                <a:spcPts val="2850"/>
              </a:lnSpc>
              <a:buNone/>
            </a:pPr>
            <a:r>
              <a:rPr lang="en-US" sz="25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2500" dirty="0"/>
          </a:p>
          <a:p>
            <a:pPr algn="ctr" indent="0" marL="0">
              <a:lnSpc>
                <a:spcPts val="2850"/>
              </a:lnSpc>
              <a:buNone/>
            </a:pPr>
            <a:r>
              <a:rPr lang="en-US" sz="25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Machine/Deep  Learning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143000" y="4191000"/>
            <a:ext cx="2286000" cy="1422400"/>
          </a:xfrm>
          <a:prstGeom prst="rect">
            <a:avLst/>
          </a:prstGeom>
          <a:solidFill>
            <a:srgbClr val="0200A7"/>
          </a:solidFill>
          <a:ln>
            <a:solidFill>
              <a:srgbClr val="0200A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797300" y="4191000"/>
            <a:ext cx="2222500" cy="1422400"/>
          </a:xfrm>
          <a:prstGeom prst="rect">
            <a:avLst/>
          </a:prstGeom>
          <a:solidFill>
            <a:srgbClr val="0A873B"/>
          </a:solidFill>
          <a:ln>
            <a:solidFill>
              <a:srgbClr val="0A87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</a:t>
            </a:r>
            <a:endParaRPr lang="en-US" sz="2500" dirty="0"/>
          </a:p>
          <a:p>
            <a:pPr algn="ctr" indent="0" marL="0">
              <a:lnSpc>
                <a:spcPts val="28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400800" y="4191000"/>
            <a:ext cx="2222500" cy="1422400"/>
          </a:xfrm>
          <a:prstGeom prst="rect">
            <a:avLst/>
          </a:prstGeom>
          <a:solidFill>
            <a:srgbClr val="6F3B02"/>
          </a:solidFill>
          <a:ln>
            <a:solidFill>
              <a:srgbClr val="6F3B0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9004300" y="4191000"/>
            <a:ext cx="2209800" cy="1422400"/>
          </a:xfrm>
          <a:prstGeom prst="rect">
            <a:avLst/>
          </a:prstGeom>
          <a:solidFill>
            <a:srgbClr val="9F0000"/>
          </a:solidFill>
          <a:ln>
            <a:solidFill>
              <a:srgbClr val="9F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</a:t>
            </a:r>
            <a:endParaRPr lang="en-US" sz="2500" dirty="0"/>
          </a:p>
          <a:p>
            <a:pPr algn="ctr" indent="0" marL="0">
              <a:lnSpc>
                <a:spcPts val="28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2500" dirty="0"/>
          </a:p>
          <a:p>
            <a:pPr algn="ctr" indent="0" marL="0">
              <a:lnSpc>
                <a:spcPts val="28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2500" dirty="0"/>
          </a:p>
        </p:txBody>
      </p:sp>
      <p:pic>
        <p:nvPicPr>
          <p:cNvPr id="14" name="Image 0" descr="/home/ahmed/Projects/ai_llm_slides/videos/deep-learning/001_introduction/recreated_pptx/build/assets/arrows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500" y="3111500"/>
            <a:ext cx="7937504" cy="10795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7075" y="546100"/>
            <a:ext cx="19050" cy="60071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1700" y="1943100"/>
            <a:ext cx="4940300" cy="45339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1200" y="671830"/>
            <a:ext cx="10972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700"/>
              </a:lnSpc>
              <a:buNone/>
            </a:pPr>
            <a:r>
              <a:rPr lang="en-US" sz="4200" b="1" spc="10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Languages, Platforms,</a:t>
            </a:r>
            <a:endParaRPr lang="en-US" sz="4200" dirty="0"/>
          </a:p>
          <a:p>
            <a:pPr algn="ctr" indent="0" marL="0">
              <a:lnSpc>
                <a:spcPts val="4700"/>
              </a:lnSpc>
              <a:buNone/>
            </a:pPr>
            <a:r>
              <a:rPr lang="en-US" sz="4200" b="1" spc="10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Libraries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219200" y="189865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Languages for ML/DL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219200" y="313055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Platforms for ML/DL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219200" y="404495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Libraries (for python)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2311400" y="22186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11400" y="25361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11400" y="28663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11400" y="34505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 Flow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11400" y="37680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311400" y="43649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 Learn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11400" y="46824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SciPy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311400" y="50126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NLTK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311400" y="53428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311400" y="56603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Gensim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311400" y="599059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073275" y="24225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73275" y="27400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73275" y="30702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73275" y="36544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73275" y="39719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73275" y="45688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73275" y="48863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73275" y="52165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73275" y="55467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73275" y="58642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73275" y="6194425"/>
            <a:ext cx="57150" cy="571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ML Classification Process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89000" y="1270000"/>
            <a:ext cx="10477500" cy="464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0600" y="1739900"/>
            <a:ext cx="1663700" cy="736600"/>
          </a:xfrm>
          <a:prstGeom prst="ellipse">
            <a:avLst/>
          </a:prstGeom>
          <a:solidFill>
            <a:srgbClr val="F6DEC2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600" y="1863090"/>
            <a:ext cx="140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8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847850" y="2641600"/>
            <a:ext cx="1333500" cy="723900"/>
          </a:xfrm>
          <a:prstGeom prst="rect">
            <a:avLst/>
          </a:prstGeom>
          <a:solidFill>
            <a:srgbClr val="FAFED8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47850" y="2763520"/>
            <a:ext cx="1333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708400" y="2641600"/>
            <a:ext cx="1485900" cy="723900"/>
          </a:xfrm>
          <a:prstGeom prst="rect">
            <a:avLst/>
          </a:prstGeom>
          <a:solidFill>
            <a:srgbClr val="E2FEFC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8400" y="2763520"/>
            <a:ext cx="1485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00700" y="2641600"/>
            <a:ext cx="1511300" cy="723900"/>
          </a:xfrm>
          <a:prstGeom prst="rect">
            <a:avLst/>
          </a:prstGeom>
          <a:solidFill>
            <a:srgbClr val="F2FEEA"/>
          </a:solidFill>
          <a:ln w="25400">
            <a:solidFill>
              <a:srgbClr val="4478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00700" y="2763520"/>
            <a:ext cx="1511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67600" y="2654300"/>
            <a:ext cx="1701800" cy="711200"/>
          </a:xfrm>
          <a:prstGeom prst="rect">
            <a:avLst/>
          </a:prstGeom>
          <a:solidFill>
            <a:srgbClr val="A00000"/>
          </a:solidFill>
          <a:ln w="25400">
            <a:solidFill>
              <a:srgbClr val="7204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67600" y="2865120"/>
            <a:ext cx="170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499600" y="2641600"/>
            <a:ext cx="1460500" cy="723900"/>
          </a:xfrm>
          <a:prstGeom prst="rect">
            <a:avLst/>
          </a:prstGeom>
          <a:solidFill>
            <a:srgbClr val="EABEF4"/>
          </a:solidFill>
          <a:ln w="25400">
            <a:solidFill>
              <a:srgbClr val="711E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99600" y="2763520"/>
            <a:ext cx="1460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175000" y="3003550"/>
            <a:ext cx="5461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94300" y="3003550"/>
            <a:ext cx="3810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37400" y="3003550"/>
            <a:ext cx="3302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82100" y="3003550"/>
            <a:ext cx="3302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24" name="Image 0" descr="/home/ahmed/Projects/ai_llm_slides/videos/deep-learning/001_introduction/recreated_pptx/build/assets/curve1_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24100"/>
            <a:ext cx="736600" cy="812800"/>
          </a:xfrm>
          <a:prstGeom prst="rect">
            <a:avLst/>
          </a:prstGeom>
        </p:spPr>
      </p:pic>
      <p:pic>
        <p:nvPicPr>
          <p:cNvPr id="25" name="Image 1" descr="/home/ahmed/Projects/ai_llm_slides/videos/deep-learning/001_introduction/recreated_pptx/build/assets/curve2_0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800" y="2921000"/>
            <a:ext cx="838200" cy="104140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3060700" y="3695700"/>
            <a:ext cx="1117600" cy="520700"/>
          </a:xfrm>
          <a:prstGeom prst="roundRect">
            <a:avLst>
              <a:gd name="adj" fmla="val 1229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073400" y="3743960"/>
            <a:ext cx="109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4902200" y="3695700"/>
            <a:ext cx="1117600" cy="520700"/>
          </a:xfrm>
          <a:prstGeom prst="roundRect">
            <a:avLst>
              <a:gd name="adj" fmla="val 1229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914900" y="3743960"/>
            <a:ext cx="109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6819900" y="3695700"/>
            <a:ext cx="1117600" cy="520700"/>
          </a:xfrm>
          <a:prstGeom prst="roundRect">
            <a:avLst>
              <a:gd name="adj" fmla="val 1229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832600" y="3743960"/>
            <a:ext cx="109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8813800" y="3695700"/>
            <a:ext cx="1117600" cy="520700"/>
          </a:xfrm>
          <a:prstGeom prst="roundRect">
            <a:avLst>
              <a:gd name="adj" fmla="val 1229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826500" y="3743960"/>
            <a:ext cx="109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9982200" y="3937000"/>
            <a:ext cx="1206500" cy="508000"/>
          </a:xfrm>
          <a:prstGeom prst="ellipse">
            <a:avLst/>
          </a:prstGeom>
          <a:solidFill>
            <a:srgbClr val="D8E80C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0077450" y="3967480"/>
            <a:ext cx="101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46200" y="774700"/>
            <a:ext cx="2781300" cy="723900"/>
          </a:xfrm>
          <a:prstGeom prst="rect">
            <a:avLst/>
          </a:prstGeom>
          <a:solidFill>
            <a:srgbClr val="FAFED9"/>
          </a:solidFill>
          <a:ln w="19050">
            <a:solidFill>
              <a:srgbClr val="000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6500" y="1612900"/>
            <a:ext cx="9994900" cy="4902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5250" y="892429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500" b="1" spc="3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 processing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591310" y="1598813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pPr algn="l" indent="0" marL="0">
              <a:lnSpc>
                <a:spcPts val="25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</a:t>
            </a:r>
            <a:pPr algn="l" indent="0" marL="0">
              <a:lnSpc>
                <a:spcPts val="2500"/>
              </a:lnSpc>
              <a:buNone/>
            </a:pPr>
            <a:r>
              <a:rPr lang="en-US" sz="210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dependent and data dependent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591310" y="218936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may include: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50390" y="249295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4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filling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50390" y="290062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4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Thinning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50390" y="330956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4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Contour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50390" y="371850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4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Binarization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50390" y="412617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4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Removal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50390" y="453511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4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to Gray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50390" y="494405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4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touched points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850390" y="535172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4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Resizing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850390" y="576066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4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850390" y="604895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4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606550" y="26860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6550" y="30924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6550" y="350520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6550" y="39179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6550" y="43243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06550" y="47307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06550" y="51371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06550" y="55435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06550" y="59499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06550" y="62547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1360" y="539750"/>
            <a:ext cx="30480" cy="6032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3800" y="774700"/>
            <a:ext cx="3441700" cy="749300"/>
          </a:xfrm>
          <a:prstGeom prst="rect">
            <a:avLst/>
          </a:prstGeom>
          <a:solidFill>
            <a:srgbClr val="E0FFFF"/>
          </a:solidFill>
          <a:ln w="19050">
            <a:solidFill>
              <a:srgbClr val="000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6500" y="1625600"/>
            <a:ext cx="9982200" cy="47117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250" y="898845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400" b="1" spc="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04010" y="161475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spc="25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Types are </a:t>
            </a:r>
            <a:pPr algn="l" indent="0" marL="0">
              <a:lnSpc>
                <a:spcPts val="2500"/>
              </a:lnSpc>
              <a:buNone/>
            </a:pPr>
            <a:r>
              <a:rPr lang="en-US" sz="2000" spc="2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</a:t>
            </a:r>
            <a:pPr algn="l" indent="0" marL="0">
              <a:lnSpc>
                <a:spcPts val="2500"/>
              </a:lnSpc>
              <a:buNone/>
            </a:pPr>
            <a:r>
              <a:rPr lang="en-US" sz="2000" b="1" i="1" u="sng" spc="2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dependent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91310" y="219952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may include: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847850" y="261862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spc="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of Gravity location,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847850" y="302502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spc="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 Ratio,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847850" y="343142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spc="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and Width,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847850" y="384290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spc="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intersections,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847850" y="424930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spc="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Moments,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847850" y="466205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spc="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Geometrical Features ,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847850" y="506845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spc="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Colors,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847850" y="547231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spc="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860550" y="5891479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………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606550" y="28130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6550" y="32194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6550" y="36258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6550" y="403860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6550" y="444500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06550" y="48577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06550" y="52641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06550" y="56705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06550" y="60769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93800" y="1028700"/>
            <a:ext cx="3429000" cy="723900"/>
          </a:xfrm>
          <a:prstGeom prst="rect">
            <a:avLst/>
          </a:prstGeom>
          <a:solidFill>
            <a:srgbClr val="E4FEFB"/>
          </a:solidFill>
          <a:ln w="19050">
            <a:solidFill>
              <a:srgbClr val="000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6500" y="2000250"/>
            <a:ext cx="9982200" cy="295275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36700" y="1133795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400" b="1" spc="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Invariants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00200" y="1979813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Invariants are </a:t>
            </a:r>
            <a:pPr algn="l" indent="0" marL="0">
              <a:lnSpc>
                <a:spcPts val="25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</a:t>
            </a:r>
            <a:pPr algn="l" indent="0" marL="0">
              <a:lnSpc>
                <a:spcPts val="2500"/>
              </a:lnSpc>
              <a:buNone/>
            </a:pPr>
            <a:r>
              <a:rPr lang="en-US" sz="210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dependent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595120" y="283198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Invariant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95120" y="339078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Invariant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95120" y="394958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invariant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95120" y="450838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Mirroring Invariant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340485" y="3025775"/>
            <a:ext cx="69850" cy="698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40485" y="3584575"/>
            <a:ext cx="69850" cy="698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40485" y="4143375"/>
            <a:ext cx="69850" cy="698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40485" y="4702175"/>
            <a:ext cx="69850" cy="698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6500" y="1993900"/>
            <a:ext cx="9010650" cy="4343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3049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1003300"/>
            <a:ext cx="3403600" cy="723900"/>
          </a:xfrm>
          <a:prstGeom prst="rect">
            <a:avLst/>
          </a:prstGeom>
          <a:solidFill>
            <a:srgbClr val="9F0000"/>
          </a:solidFill>
          <a:ln w="12700">
            <a:solidFill>
              <a:srgbClr val="9F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9200" y="1013460"/>
            <a:ext cx="3403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12900" y="203454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7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of Commonly used classifiers:</a:t>
            </a:r>
            <a:endParaRPr lang="en-US" sz="2070" dirty="0"/>
          </a:p>
        </p:txBody>
      </p:sp>
      <p:sp>
        <p:nvSpPr>
          <p:cNvPr id="10" name="Text 8"/>
          <p:cNvSpPr/>
          <p:nvPr/>
        </p:nvSpPr>
        <p:spPr>
          <a:xfrm>
            <a:off x="2095500" y="260223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847850" y="27241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95500" y="315468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 Regression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847850" y="327660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95500" y="370713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847850" y="38290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95500" y="426593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 Machine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847850" y="43878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95500" y="482473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Markov Model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847850" y="49466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95500" y="538353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847850" y="55054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3900" y="546100"/>
            <a:ext cx="10693400" cy="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600" y="539750"/>
            <a:ext cx="0" cy="602615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600" y="6591300"/>
            <a:ext cx="112141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9800" y="1701800"/>
            <a:ext cx="10325100" cy="3035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7300" y="2838450"/>
            <a:ext cx="2082800" cy="736600"/>
          </a:xfrm>
          <a:prstGeom prst="rect">
            <a:avLst/>
          </a:prstGeom>
          <a:solidFill>
            <a:srgbClr val="09863A"/>
          </a:solidFill>
          <a:ln>
            <a:solidFill>
              <a:srgbClr val="0986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Sample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860800" y="2482850"/>
            <a:ext cx="2762250" cy="1435100"/>
          </a:xfrm>
          <a:prstGeom prst="rect">
            <a:avLst/>
          </a:prstGeom>
          <a:solidFill>
            <a:srgbClr val="9F0000"/>
          </a:solidFill>
          <a:ln w="12700">
            <a:solidFill>
              <a:srgbClr val="9F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60800" y="2514600"/>
            <a:ext cx="2762250" cy="140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2050" dirty="0"/>
          </a:p>
          <a:p>
            <a:pPr algn="ctr" indent="0" marL="0">
              <a:lnSpc>
                <a:spcPts val="225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2050" dirty="0"/>
          </a:p>
          <a:p>
            <a:pPr algn="ctr" indent="0" marL="0">
              <a:lnSpc>
                <a:spcPts val="2250"/>
              </a:lnSpc>
              <a:buNone/>
            </a:pPr>
            <a:r>
              <a:rPr lang="en-US" sz="17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(with  Model Parameters)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7105650" y="2724150"/>
            <a:ext cx="1231900" cy="990600"/>
          </a:xfrm>
          <a:prstGeom prst="rect">
            <a:avLst/>
          </a:prstGeom>
          <a:solidFill>
            <a:srgbClr val="E2FFFB"/>
          </a:solidFill>
          <a:ln w="15875">
            <a:solidFill>
              <a:srgbClr val="0000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</a:t>
            </a:r>
            <a:endParaRPr lang="en-US" sz="1600" dirty="0"/>
          </a:p>
          <a:p>
            <a:pPr algn="ctr" indent="0" marL="0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1600" dirty="0"/>
          </a:p>
          <a:p>
            <a:pPr algn="ctr" indent="0" marL="0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(Label)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75700" y="2019300"/>
            <a:ext cx="450850" cy="2393950"/>
          </a:xfrm>
          <a:prstGeom prst="rect">
            <a:avLst/>
          </a:prstGeom>
          <a:solidFill>
            <a:srgbClr val="F6DEC2"/>
          </a:solidFill>
          <a:ln w="15875">
            <a:solidFill>
              <a:srgbClr val="A69C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 rot="16200000">
            <a:off x="8553450" y="30734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9613900" y="2857500"/>
            <a:ext cx="1333500" cy="723900"/>
          </a:xfrm>
          <a:prstGeom prst="rect">
            <a:avLst/>
          </a:prstGeom>
          <a:solidFill>
            <a:srgbClr val="FAFED9"/>
          </a:solidFill>
          <a:ln w="15875">
            <a:solidFill>
              <a:srgbClr val="0000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Label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403600" y="3203575"/>
            <a:ext cx="292100" cy="1905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3708400" y="3140075"/>
            <a:ext cx="120650" cy="14605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9400" y="3203575"/>
            <a:ext cx="317500" cy="1905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6959600" y="3140075"/>
            <a:ext cx="120650" cy="14605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3203575"/>
            <a:ext cx="139700" cy="1905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5400000">
            <a:off x="8604250" y="3140075"/>
            <a:ext cx="120650" cy="14605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23400" y="3203575"/>
            <a:ext cx="139700" cy="1905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6200000">
            <a:off x="9283700" y="3140075"/>
            <a:ext cx="120650" cy="14605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600" y="933450"/>
            <a:ext cx="1069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Training Takes Place to learn the model ?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39750" y="5454650"/>
            <a:ext cx="1066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to update model parameters (Iteratively) to minimize error  (Loss Function)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4050" y="2253374"/>
            <a:ext cx="11125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600"/>
              </a:lnSpc>
              <a:buNone/>
            </a:pPr>
            <a:r>
              <a:rPr lang="en-US" sz="5900" b="1" dirty="0">
                <a:solidFill>
                  <a:srgbClr val="B300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Machine Learning</a:t>
            </a:r>
            <a:endParaRPr lang="en-US" sz="5900" dirty="0"/>
          </a:p>
        </p:txBody>
      </p:sp>
      <p:sp>
        <p:nvSpPr>
          <p:cNvPr id="6" name="Text 4"/>
          <p:cNvSpPr/>
          <p:nvPr/>
        </p:nvSpPr>
        <p:spPr>
          <a:xfrm>
            <a:off x="654050" y="3190767"/>
            <a:ext cx="111252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4350" b="1" dirty="0">
                <a:solidFill>
                  <a:srgbClr val="B300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654050" y="3904374"/>
            <a:ext cx="11125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600"/>
              </a:lnSpc>
              <a:buNone/>
            </a:pPr>
            <a:r>
              <a:rPr lang="en-US" sz="5900" b="1" dirty="0">
                <a:solidFill>
                  <a:srgbClr val="B300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</a:t>
            </a:r>
            <a:endParaRPr lang="en-US" sz="5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ML Classification Process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89000" y="1270000"/>
            <a:ext cx="10477500" cy="464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8400" y="2641600"/>
            <a:ext cx="1485900" cy="723900"/>
          </a:xfrm>
          <a:prstGeom prst="rect">
            <a:avLst/>
          </a:prstGeom>
          <a:solidFill>
            <a:srgbClr val="E2FEFC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8400" y="2763520"/>
            <a:ext cx="1485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00700" y="2641600"/>
            <a:ext cx="1511300" cy="723900"/>
          </a:xfrm>
          <a:prstGeom prst="rect">
            <a:avLst/>
          </a:prstGeom>
          <a:solidFill>
            <a:srgbClr val="F2FEEA"/>
          </a:solidFill>
          <a:ln w="25400">
            <a:solidFill>
              <a:srgbClr val="4478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00700" y="2763520"/>
            <a:ext cx="1511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67600" y="2654300"/>
            <a:ext cx="1701800" cy="711200"/>
          </a:xfrm>
          <a:prstGeom prst="rect">
            <a:avLst/>
          </a:prstGeom>
          <a:solidFill>
            <a:srgbClr val="A00000"/>
          </a:solidFill>
          <a:ln w="25400">
            <a:solidFill>
              <a:srgbClr val="7204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67600" y="2865120"/>
            <a:ext cx="170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94300" y="3003550"/>
            <a:ext cx="3810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37400" y="3003550"/>
            <a:ext cx="3302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82100" y="3003550"/>
            <a:ext cx="3302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90600" y="1625600"/>
            <a:ext cx="1663700" cy="736600"/>
          </a:xfrm>
          <a:prstGeom prst="ellipse">
            <a:avLst/>
          </a:prstGeom>
          <a:solidFill>
            <a:srgbClr val="F6DEC2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7600" y="1748790"/>
            <a:ext cx="140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8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657350" y="2641600"/>
            <a:ext cx="1333500" cy="723900"/>
          </a:xfrm>
          <a:prstGeom prst="rect">
            <a:avLst/>
          </a:prstGeom>
          <a:solidFill>
            <a:srgbClr val="FAFED8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57350" y="2763520"/>
            <a:ext cx="1333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997200" y="3003550"/>
            <a:ext cx="7239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22" name="Image 0" descr="/home/ahmed/Projects/ai_llm_slides/videos/deep-learning/001_introduction/recreated_pptx/build/assets/curve1_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0" y="2222500"/>
            <a:ext cx="533400" cy="8890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9499600" y="2641600"/>
            <a:ext cx="1460500" cy="723900"/>
          </a:xfrm>
          <a:prstGeom prst="rect">
            <a:avLst/>
          </a:prstGeom>
          <a:solidFill>
            <a:srgbClr val="DCBFA1"/>
          </a:solidFill>
          <a:ln w="25400">
            <a:solidFill>
              <a:srgbClr val="55281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99600" y="2763520"/>
            <a:ext cx="1460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1079500" y="3695700"/>
            <a:ext cx="2463800" cy="520700"/>
          </a:xfrm>
          <a:prstGeom prst="roundRect">
            <a:avLst>
              <a:gd name="adj" fmla="val 1229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92200" y="3743960"/>
            <a:ext cx="2438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your inspection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select the techniques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556000" y="4267200"/>
            <a:ext cx="1955800" cy="762000"/>
          </a:xfrm>
          <a:prstGeom prst="roundRect">
            <a:avLst>
              <a:gd name="adj" fmla="val 8400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68700" y="4438650"/>
            <a:ext cx="1930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Handcrafted features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(by You)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524500" y="3581400"/>
            <a:ext cx="1778000" cy="762000"/>
          </a:xfrm>
          <a:prstGeom prst="roundRect">
            <a:avLst>
              <a:gd name="adj" fmla="val 8400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7200" y="3657600"/>
            <a:ext cx="1752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decision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using which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772400" y="3581400"/>
            <a:ext cx="1130300" cy="520700"/>
          </a:xfrm>
          <a:prstGeom prst="roundRect">
            <a:avLst>
              <a:gd name="adj" fmla="val 1229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85100" y="3629660"/>
            <a:ext cx="1104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0477500" cy="464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08400" y="2641600"/>
            <a:ext cx="1485900" cy="723900"/>
          </a:xfrm>
          <a:prstGeom prst="rect">
            <a:avLst/>
          </a:prstGeom>
          <a:solidFill>
            <a:srgbClr val="E2FEFC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8400" y="2763520"/>
            <a:ext cx="1485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00700" y="2641600"/>
            <a:ext cx="1511300" cy="723900"/>
          </a:xfrm>
          <a:prstGeom prst="rect">
            <a:avLst/>
          </a:prstGeom>
          <a:solidFill>
            <a:srgbClr val="F2FEEA"/>
          </a:solidFill>
          <a:ln w="25400">
            <a:solidFill>
              <a:srgbClr val="4478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00700" y="2763520"/>
            <a:ext cx="1511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67600" y="2654300"/>
            <a:ext cx="1701800" cy="711200"/>
          </a:xfrm>
          <a:prstGeom prst="rect">
            <a:avLst/>
          </a:prstGeom>
          <a:solidFill>
            <a:srgbClr val="A00000"/>
          </a:solidFill>
          <a:ln w="25400">
            <a:solidFill>
              <a:srgbClr val="7204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67600" y="2865120"/>
            <a:ext cx="170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194300" y="3003550"/>
            <a:ext cx="3810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37400" y="3003550"/>
            <a:ext cx="3302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82100" y="3003550"/>
            <a:ext cx="3302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90600" y="1625600"/>
            <a:ext cx="1663700" cy="736600"/>
          </a:xfrm>
          <a:prstGeom prst="ellipse">
            <a:avLst/>
          </a:prstGeom>
          <a:solidFill>
            <a:srgbClr val="F6DEC2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7600" y="1748790"/>
            <a:ext cx="140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8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657350" y="2641600"/>
            <a:ext cx="1333500" cy="723900"/>
          </a:xfrm>
          <a:prstGeom prst="rect">
            <a:avLst/>
          </a:prstGeom>
          <a:solidFill>
            <a:srgbClr val="FAFED8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57350" y="2763520"/>
            <a:ext cx="1333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2997200" y="3003550"/>
            <a:ext cx="7239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21" name="Image 0" descr="/home/ahmed/Projects/ai_llm_slides/videos/deep-learning/001_introduction/recreated_pptx/build/assets/curve1_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0" y="2222500"/>
            <a:ext cx="533400" cy="8890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9499600" y="2641600"/>
            <a:ext cx="1460500" cy="723900"/>
          </a:xfrm>
          <a:prstGeom prst="rect">
            <a:avLst/>
          </a:prstGeom>
          <a:solidFill>
            <a:srgbClr val="DCBFA1"/>
          </a:solidFill>
          <a:ln w="25400">
            <a:solidFill>
              <a:srgbClr val="55281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99600" y="2763520"/>
            <a:ext cx="1460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485900" y="74295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</a:t>
            </a:r>
            <a:pPr algn="ctr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pPr algn="ctr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Classification Process</a:t>
            </a:r>
            <a:endParaRPr lang="en-US" sz="2600" dirty="0"/>
          </a:p>
        </p:txBody>
      </p:sp>
      <p:sp>
        <p:nvSpPr>
          <p:cNvPr id="25" name="Shape 22"/>
          <p:cNvSpPr/>
          <p:nvPr/>
        </p:nvSpPr>
        <p:spPr>
          <a:xfrm>
            <a:off x="1079500" y="4508500"/>
            <a:ext cx="2463800" cy="495300"/>
          </a:xfrm>
          <a:prstGeom prst="roundRect">
            <a:avLst>
              <a:gd name="adj" fmla="val 1292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92200" y="4556760"/>
            <a:ext cx="2438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your inspection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select the techniques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568700" y="5080000"/>
            <a:ext cx="1930400" cy="736600"/>
          </a:xfrm>
          <a:prstGeom prst="roundRect">
            <a:avLst>
              <a:gd name="adj" fmla="val 8690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81400" y="52451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Handcrafted features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(by You)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524500" y="4394200"/>
            <a:ext cx="1778000" cy="736600"/>
          </a:xfrm>
          <a:prstGeom prst="roundRect">
            <a:avLst>
              <a:gd name="adj" fmla="val 8690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7200" y="4470400"/>
            <a:ext cx="1752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decision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using which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785100" y="3594100"/>
            <a:ext cx="1092200" cy="495300"/>
          </a:xfrm>
          <a:prstGeom prst="roundRect">
            <a:avLst>
              <a:gd name="adj" fmla="val 1292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97800" y="3644900"/>
            <a:ext cx="1066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Model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9004300" y="3365500"/>
            <a:ext cx="2108200" cy="939800"/>
          </a:xfrm>
          <a:prstGeom prst="star16">
            <a:avLst/>
          </a:prstGeom>
          <a:solidFill>
            <a:srgbClr val="FAFEDB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436100" y="36449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Model!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924800" y="4546600"/>
            <a:ext cx="2540000" cy="723900"/>
          </a:xfrm>
          <a:prstGeom prst="star16">
            <a:avLst/>
          </a:prstGeom>
          <a:solidFill>
            <a:srgbClr val="FFFFFF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80400" y="4724400"/>
            <a:ext cx="1574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</a:t>
            </a:r>
            <a:endParaRPr lang="en-US" sz="12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Experience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977900" y="4241800"/>
            <a:ext cx="99187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0477500" cy="464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08400" y="2641600"/>
            <a:ext cx="1485900" cy="723900"/>
          </a:xfrm>
          <a:prstGeom prst="rect">
            <a:avLst/>
          </a:prstGeom>
          <a:solidFill>
            <a:srgbClr val="E2FEFC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8400" y="2763520"/>
            <a:ext cx="1485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00700" y="2641600"/>
            <a:ext cx="1511300" cy="723900"/>
          </a:xfrm>
          <a:prstGeom prst="rect">
            <a:avLst/>
          </a:prstGeom>
          <a:solidFill>
            <a:srgbClr val="F2FEEA"/>
          </a:solidFill>
          <a:ln w="25400">
            <a:solidFill>
              <a:srgbClr val="4478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00700" y="2763520"/>
            <a:ext cx="1511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67600" y="2654300"/>
            <a:ext cx="1701800" cy="711200"/>
          </a:xfrm>
          <a:prstGeom prst="rect">
            <a:avLst/>
          </a:prstGeom>
          <a:solidFill>
            <a:srgbClr val="A00000"/>
          </a:solidFill>
          <a:ln w="25400">
            <a:solidFill>
              <a:srgbClr val="7204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67600" y="2865120"/>
            <a:ext cx="170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23950" y="74295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Deep Learning Model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990600" y="1625600"/>
            <a:ext cx="1663700" cy="1016000"/>
          </a:xfrm>
          <a:prstGeom prst="ellipse">
            <a:avLst/>
          </a:prstGeom>
          <a:solidFill>
            <a:srgbClr val="F6DEC2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7600" y="1748790"/>
            <a:ext cx="140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8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85900" y="2495550"/>
            <a:ext cx="7727950" cy="914400"/>
          </a:xfrm>
          <a:prstGeom prst="roundRect">
            <a:avLst>
              <a:gd name="adj" fmla="val 8000"/>
            </a:avLst>
          </a:prstGeom>
          <a:ln w="19050">
            <a:solidFill>
              <a:srgbClr val="C0000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651000" y="2641600"/>
            <a:ext cx="1358900" cy="723900"/>
          </a:xfrm>
          <a:prstGeom prst="rect">
            <a:avLst/>
          </a:prstGeom>
          <a:solidFill>
            <a:srgbClr val="FAFED8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51000" y="2763520"/>
            <a:ext cx="1358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499600" y="2641600"/>
            <a:ext cx="1460500" cy="723900"/>
          </a:xfrm>
          <a:prstGeom prst="rect">
            <a:avLst/>
          </a:prstGeom>
          <a:solidFill>
            <a:srgbClr val="DABFA1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48800" y="2865120"/>
            <a:ext cx="177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Output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035300" y="3003550"/>
            <a:ext cx="6604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232400" y="3003550"/>
            <a:ext cx="3683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137400" y="3003550"/>
            <a:ext cx="2921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69400" y="3003550"/>
            <a:ext cx="3048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356100" y="1689100"/>
            <a:ext cx="2717800" cy="342900"/>
          </a:xfrm>
          <a:prstGeom prst="roundRect">
            <a:avLst>
              <a:gd name="adj" fmla="val 18667"/>
            </a:avLst>
          </a:prstGeom>
          <a:solidFill>
            <a:srgbClr val="E2FEFC"/>
          </a:solidFill>
          <a:ln w="12700">
            <a:solidFill>
              <a:srgbClr val="70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56100" y="1727200"/>
            <a:ext cx="271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model</a:t>
            </a:r>
            <a:endParaRPr lang="en-US" sz="1600" dirty="0"/>
          </a:p>
        </p:txBody>
      </p:sp>
      <p:pic>
        <p:nvPicPr>
          <p:cNvPr id="27" name="Image 0" descr="/home/ahmed/Projects/ai_llm_slides/videos/deep-learning/001_introduction/recreated_pptx/build/assets/arc_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1600" y="1892300"/>
            <a:ext cx="7607259" cy="800100"/>
          </a:xfrm>
          <a:prstGeom prst="rect">
            <a:avLst/>
          </a:prstGeom>
        </p:spPr>
      </p:pic>
      <p:pic>
        <p:nvPicPr>
          <p:cNvPr id="28" name="Image 1" descr="/home/ahmed/Projects/ai_llm_slides/videos/deep-learning/001_introduction/recreated_pptx/build/assets/curve1_0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324100"/>
            <a:ext cx="558790" cy="81281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1498600" y="3454400"/>
            <a:ext cx="769620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headEnd type="triangle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3860800" y="3568700"/>
            <a:ext cx="2705100" cy="254000"/>
          </a:xfrm>
          <a:prstGeom prst="roundRect">
            <a:avLst>
              <a:gd name="adj" fmla="val 18000"/>
            </a:avLst>
          </a:prstGeom>
          <a:solidFill>
            <a:srgbClr val="ECFBDE"/>
          </a:solidFill>
          <a:ln w="12700">
            <a:solidFill>
              <a:srgbClr val="CDCDB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860800" y="3587750"/>
            <a:ext cx="27051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Deeeeeeep Model</a:t>
            </a:r>
            <a:endParaRPr lang="en-US" sz="1550" dirty="0"/>
          </a:p>
        </p:txBody>
      </p:sp>
      <p:sp>
        <p:nvSpPr>
          <p:cNvPr id="32" name="Shape 28"/>
          <p:cNvSpPr/>
          <p:nvPr/>
        </p:nvSpPr>
        <p:spPr>
          <a:xfrm>
            <a:off x="1092200" y="3962400"/>
            <a:ext cx="2311400" cy="508000"/>
          </a:xfrm>
          <a:prstGeom prst="rect">
            <a:avLst/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104900" y="3975100"/>
            <a:ext cx="228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Training Data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(Model Choice)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3632200" y="3911600"/>
            <a:ext cx="1930400" cy="736600"/>
          </a:xfrm>
          <a:prstGeom prst="rect">
            <a:avLst/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644900" y="3924300"/>
            <a:ext cx="1905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choose Best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for given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5753100" y="3911600"/>
            <a:ext cx="1536700" cy="736600"/>
          </a:xfrm>
          <a:prstGeom prst="rect">
            <a:avLst/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765800" y="3924300"/>
            <a:ext cx="15113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Reduces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features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(if required)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7632700" y="4051300"/>
            <a:ext cx="1460500" cy="406400"/>
          </a:xfrm>
          <a:prstGeom prst="rect">
            <a:avLst/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645400" y="4064000"/>
            <a:ext cx="1435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using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Model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9334500" y="3746500"/>
            <a:ext cx="1765300" cy="609600"/>
          </a:xfrm>
          <a:prstGeom prst="star16">
            <a:avLst/>
          </a:prstGeom>
          <a:solidFill>
            <a:srgbClr val="F9FFD9"/>
          </a:solidFill>
          <a:ln/>
        </p:spPr>
      </p:sp>
      <p:sp>
        <p:nvSpPr>
          <p:cNvPr id="41" name="Text 37"/>
          <p:cNvSpPr/>
          <p:nvPr/>
        </p:nvSpPr>
        <p:spPr>
          <a:xfrm>
            <a:off x="9652000" y="3873500"/>
            <a:ext cx="121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Model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3556000" y="4965700"/>
            <a:ext cx="3644900" cy="685800"/>
          </a:xfrm>
          <a:prstGeom prst="rect">
            <a:avLst/>
          </a:prstGeom>
          <a:solidFill>
            <a:srgbClr val="FFFFE6"/>
          </a:solidFill>
          <a:ln w="12700">
            <a:solidFill>
              <a:srgbClr val="0C05A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581400" y="4991100"/>
            <a:ext cx="3594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Interaction from Human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Based on Training Data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0477500" cy="464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0" descr="/home/ahmed/Projects/ai_llm_slides/videos/deep-learning/001_introduction/recreated_pptx/build/assets/container_v3_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5700" y="2451100"/>
            <a:ext cx="5613400" cy="10541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43400" y="1257300"/>
            <a:ext cx="2006600" cy="762000"/>
          </a:xfrm>
          <a:prstGeom prst="ellipse">
            <a:avLst/>
          </a:prstGeom>
          <a:solidFill>
            <a:srgbClr val="F6DEC2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11700" y="1473200"/>
            <a:ext cx="127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16000" y="2692400"/>
            <a:ext cx="977900" cy="584200"/>
          </a:xfrm>
          <a:prstGeom prst="rect">
            <a:avLst/>
          </a:prstGeom>
          <a:solidFill>
            <a:srgbClr val="D9C0A1"/>
          </a:solidFill>
          <a:ln w="25400">
            <a:solidFill>
              <a:srgbClr val="7652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16000" y="2806700"/>
            <a:ext cx="977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5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236200" y="2692400"/>
            <a:ext cx="990600" cy="584200"/>
          </a:xfrm>
          <a:prstGeom prst="rect">
            <a:avLst/>
          </a:prstGeom>
          <a:solidFill>
            <a:srgbClr val="D9C0A1"/>
          </a:solidFill>
          <a:ln w="25400">
            <a:solidFill>
              <a:srgbClr val="7652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36200" y="2806700"/>
            <a:ext cx="990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</a:t>
            </a:r>
            <a:endParaRPr lang="en-US" sz="15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590800" y="2603500"/>
            <a:ext cx="965200" cy="876300"/>
          </a:xfrm>
          <a:prstGeom prst="rect">
            <a:avLst/>
          </a:prstGeom>
          <a:solidFill>
            <a:srgbClr val="FAFED8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90800" y="2794000"/>
            <a:ext cx="96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076700" y="2603500"/>
            <a:ext cx="1054100" cy="876300"/>
          </a:xfrm>
          <a:prstGeom prst="rect">
            <a:avLst/>
          </a:prstGeom>
          <a:solidFill>
            <a:srgbClr val="E2FEFC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76700" y="2794000"/>
            <a:ext cx="105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5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10200" y="2603500"/>
            <a:ext cx="1117600" cy="876300"/>
          </a:xfrm>
          <a:prstGeom prst="rect">
            <a:avLst/>
          </a:prstGeom>
          <a:solidFill>
            <a:srgbClr val="F2FEEA"/>
          </a:solidFill>
          <a:ln w="25400">
            <a:solidFill>
              <a:srgbClr val="4478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10200" y="2794000"/>
            <a:ext cx="111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5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756400" y="2603500"/>
            <a:ext cx="1244600" cy="876300"/>
          </a:xfrm>
          <a:prstGeom prst="rect">
            <a:avLst/>
          </a:prstGeom>
          <a:solidFill>
            <a:srgbClr val="A00000"/>
          </a:solidFill>
          <a:ln w="25400">
            <a:solidFill>
              <a:srgbClr val="72041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56400" y="2857500"/>
            <a:ext cx="124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356600" y="2692400"/>
            <a:ext cx="1003300" cy="596900"/>
          </a:xfrm>
          <a:prstGeom prst="rect">
            <a:avLst/>
          </a:prstGeom>
          <a:solidFill>
            <a:srgbClr val="FFCCFF"/>
          </a:solidFill>
          <a:ln w="25400">
            <a:solidFill>
              <a:srgbClr val="711E7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56600" y="2806700"/>
            <a:ext cx="1003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</a:t>
            </a:r>
            <a:endParaRPr lang="en-US" sz="15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2032000" y="2984500"/>
            <a:ext cx="4191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594100" y="2984500"/>
            <a:ext cx="4445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5181600" y="2984500"/>
            <a:ext cx="2159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565900" y="2984500"/>
            <a:ext cx="1778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026400" y="2984500"/>
            <a:ext cx="2921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398000" y="2984500"/>
            <a:ext cx="1397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033000" y="2984500"/>
            <a:ext cx="1651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pic>
        <p:nvPicPr>
          <p:cNvPr id="31" name="Image 1" descr="/home/ahmed/Projects/ai_llm_slides/videos/deep-learning/001_introduction/recreated_pptx/build/assets/bluefan_0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00" y="1600200"/>
            <a:ext cx="9588500" cy="11303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9550400" y="2171700"/>
            <a:ext cx="469900" cy="1612900"/>
          </a:xfrm>
          <a:prstGeom prst="roundRect">
            <a:avLst>
              <a:gd name="adj" fmla="val 15568"/>
            </a:avLst>
          </a:prstGeom>
          <a:solidFill>
            <a:srgbClr val="F5B4B8"/>
          </a:solidFill>
          <a:ln w="12700">
            <a:solidFill>
              <a:srgbClr val="F5B4B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 rot="16200000">
            <a:off x="8870950" y="2876550"/>
            <a:ext cx="165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9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Error</a:t>
            </a:r>
            <a:endParaRPr lang="en-US" sz="1350" dirty="0"/>
          </a:p>
        </p:txBody>
      </p:sp>
      <p:sp>
        <p:nvSpPr>
          <p:cNvPr id="34" name="Text 30"/>
          <p:cNvSpPr/>
          <p:nvPr/>
        </p:nvSpPr>
        <p:spPr>
          <a:xfrm rot="16200000">
            <a:off x="9080500" y="2876550"/>
            <a:ext cx="165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90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(Loss Function)</a:t>
            </a:r>
            <a:endParaRPr lang="en-US" sz="1350" dirty="0"/>
          </a:p>
        </p:txBody>
      </p:sp>
      <p:sp>
        <p:nvSpPr>
          <p:cNvPr id="35" name="Shape 31"/>
          <p:cNvSpPr/>
          <p:nvPr/>
        </p:nvSpPr>
        <p:spPr>
          <a:xfrm>
            <a:off x="4603750" y="1657350"/>
            <a:ext cx="114300" cy="114300"/>
          </a:xfrm>
          <a:prstGeom prst="ellipse">
            <a:avLst/>
          </a:prstGeom>
          <a:solidFill>
            <a:srgbClr val="1A1078"/>
          </a:solidFill>
          <a:ln w="12700">
            <a:solidFill>
              <a:srgbClr val="1A1078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930900" y="1651000"/>
            <a:ext cx="114300" cy="114300"/>
          </a:xfrm>
          <a:prstGeom prst="ellipse">
            <a:avLst/>
          </a:prstGeom>
          <a:solidFill>
            <a:srgbClr val="1A1078"/>
          </a:solidFill>
          <a:ln w="12700">
            <a:solidFill>
              <a:srgbClr val="1A1078"/>
            </a:solidFill>
            <a:prstDash val="solid"/>
          </a:ln>
        </p:spPr>
      </p:sp>
      <p:pic>
        <p:nvPicPr>
          <p:cNvPr id="37" name="Image 2" descr="/home/ahmed/Projects/ai_llm_slides/videos/deep-learning/001_introduction/recreated_pptx/build/assets/greenfan_0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00" y="3213100"/>
            <a:ext cx="7429500" cy="977900"/>
          </a:xfrm>
          <a:prstGeom prst="rect">
            <a:avLst/>
          </a:prstGeom>
        </p:spPr>
      </p:pic>
      <p:pic>
        <p:nvPicPr>
          <p:cNvPr id="38" name="Image 3" descr="/home/ahmed/Projects/ai_llm_slides/videos/deep-learning/001_introduction/recreated_pptx/build/assets/pencil_crop2_01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8800" y="2692400"/>
            <a:ext cx="254000" cy="2794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111250" y="762000"/>
            <a:ext cx="889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550" b="1" dirty="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Deep Learning Model</a:t>
            </a:r>
            <a:endParaRPr lang="en-US" sz="2550" dirty="0"/>
          </a:p>
        </p:txBody>
      </p:sp>
      <p:sp>
        <p:nvSpPr>
          <p:cNvPr id="40" name="Shape 34"/>
          <p:cNvSpPr/>
          <p:nvPr/>
        </p:nvSpPr>
        <p:spPr>
          <a:xfrm>
            <a:off x="3327400" y="4318000"/>
            <a:ext cx="6083300" cy="469900"/>
          </a:xfrm>
          <a:prstGeom prst="roundRect">
            <a:avLst>
              <a:gd name="adj" fmla="val 13622"/>
            </a:avLst>
          </a:prstGeom>
          <a:solidFill>
            <a:srgbClr val="ECFBDE"/>
          </a:solidFill>
          <a:ln w="9525">
            <a:solidFill>
              <a:srgbClr val="B8C8B0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3378200" y="4343400"/>
            <a:ext cx="5981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50" dirty="0">
                <a:solidFill>
                  <a:srgbClr val="205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Model Parameters in order to </a:t>
            </a:r>
            <a:pPr algn="ctr"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205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</a:t>
            </a:r>
            <a:pPr algn="ctr" indent="0" marL="0">
              <a:lnSpc>
                <a:spcPts val="1800"/>
              </a:lnSpc>
              <a:buNone/>
            </a:pPr>
            <a:r>
              <a:rPr lang="en-US" sz="1650" dirty="0">
                <a:solidFill>
                  <a:srgbClr val="205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error</a:t>
            </a:r>
            <a:endParaRPr lang="en-US" sz="16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650" dirty="0">
                <a:solidFill>
                  <a:srgbClr val="205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(difference between model prediction and Actual labels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0477500" cy="464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4900" y="7239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Deep Learning Model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463800" y="2476500"/>
            <a:ext cx="5626100" cy="990600"/>
          </a:xfrm>
          <a:prstGeom prst="roundRect">
            <a:avLst>
              <a:gd name="adj" fmla="val 12000"/>
            </a:avLst>
          </a:prstGeom>
          <a:solidFill>
            <a:srgbClr val="FDE9D9"/>
          </a:solidFill>
          <a:ln w="22225">
            <a:solidFill>
              <a:srgbClr val="C0000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009650" y="2692400"/>
            <a:ext cx="1003300" cy="584200"/>
          </a:xfrm>
          <a:prstGeom prst="rect">
            <a:avLst/>
          </a:prstGeom>
          <a:solidFill>
            <a:srgbClr val="DBBFA1"/>
          </a:solidFill>
          <a:ln w="22225">
            <a:solidFill>
              <a:srgbClr val="7354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9650" y="2819400"/>
            <a:ext cx="1003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590800" y="2616200"/>
            <a:ext cx="977900" cy="736600"/>
          </a:xfrm>
          <a:prstGeom prst="rect">
            <a:avLst/>
          </a:prstGeom>
          <a:solidFill>
            <a:srgbClr val="FAFED8"/>
          </a:solidFill>
          <a:ln w="22225">
            <a:solidFill>
              <a:srgbClr val="000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0800" y="2819400"/>
            <a:ext cx="97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</a:t>
            </a:r>
            <a:endParaRPr lang="en-US" sz="13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191000" y="2616200"/>
            <a:ext cx="939800" cy="736600"/>
          </a:xfrm>
          <a:prstGeom prst="rect">
            <a:avLst/>
          </a:prstGeom>
          <a:solidFill>
            <a:srgbClr val="E2FEFC"/>
          </a:solidFill>
          <a:ln w="22225">
            <a:solidFill>
              <a:srgbClr val="000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91000" y="2819400"/>
            <a:ext cx="93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3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900" y="2616200"/>
            <a:ext cx="1104900" cy="736600"/>
          </a:xfrm>
          <a:prstGeom prst="rect">
            <a:avLst/>
          </a:prstGeom>
          <a:solidFill>
            <a:srgbClr val="F2FEEA"/>
          </a:solidFill>
          <a:ln w="22225">
            <a:solidFill>
              <a:srgbClr val="3975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2900" y="2819400"/>
            <a:ext cx="1104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3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775450" y="2635250"/>
            <a:ext cx="1225550" cy="711200"/>
          </a:xfrm>
          <a:prstGeom prst="rect">
            <a:avLst/>
          </a:prstGeom>
          <a:solidFill>
            <a:srgbClr val="A00000"/>
          </a:solidFill>
          <a:ln w="25400">
            <a:solidFill>
              <a:srgbClr val="7204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75450" y="2870200"/>
            <a:ext cx="12255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337550" y="2686050"/>
            <a:ext cx="1079500" cy="628650"/>
          </a:xfrm>
          <a:prstGeom prst="rect">
            <a:avLst/>
          </a:prstGeom>
          <a:solidFill>
            <a:srgbClr val="F5DBF5"/>
          </a:solidFill>
          <a:ln w="22225">
            <a:solidFill>
              <a:srgbClr val="8E2F9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7550" y="2819400"/>
            <a:ext cx="107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</a:t>
            </a:r>
            <a:endParaRPr lang="en-US" sz="13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0248900" y="2692400"/>
            <a:ext cx="1022350" cy="584200"/>
          </a:xfrm>
          <a:prstGeom prst="rect">
            <a:avLst/>
          </a:prstGeom>
          <a:solidFill>
            <a:srgbClr val="DBBFA1"/>
          </a:solidFill>
          <a:ln w="22225">
            <a:solidFill>
              <a:srgbClr val="7354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8900" y="2819400"/>
            <a:ext cx="10223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</a:t>
            </a:r>
            <a:endParaRPr lang="en-US" sz="13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749800" y="1397000"/>
            <a:ext cx="1155700" cy="622300"/>
          </a:xfrm>
          <a:prstGeom prst="ellipse">
            <a:avLst/>
          </a:prstGeom>
          <a:solidFill>
            <a:srgbClr val="F6DEC2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9800" y="1520825"/>
            <a:ext cx="1155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97400" y="1644650"/>
            <a:ext cx="139700" cy="139700"/>
          </a:xfrm>
          <a:prstGeom prst="ellipse">
            <a:avLst/>
          </a:prstGeom>
          <a:solidFill>
            <a:srgbClr val="0C05A8"/>
          </a:solidFill>
          <a:ln w="6350">
            <a:solidFill>
              <a:srgbClr val="0C05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56300" y="1644650"/>
            <a:ext cx="139700" cy="139700"/>
          </a:xfrm>
          <a:prstGeom prst="ellipse">
            <a:avLst/>
          </a:prstGeom>
          <a:solidFill>
            <a:srgbClr val="0C05A8"/>
          </a:solidFill>
          <a:ln w="6350">
            <a:solidFill>
              <a:srgbClr val="0C05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50400" y="2159000"/>
            <a:ext cx="495300" cy="1625600"/>
          </a:xfrm>
          <a:prstGeom prst="rect">
            <a:avLst/>
          </a:prstGeom>
          <a:solidFill>
            <a:srgbClr val="F6B3B8"/>
          </a:solidFill>
          <a:ln w="12700">
            <a:solidFill>
              <a:srgbClr val="C0A4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50400" y="2159000"/>
            <a:ext cx="4953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Error</a:t>
            </a:r>
            <a:endParaRPr lang="en-US" sz="14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(Loss Function)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019300" y="2984500"/>
            <a:ext cx="4318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581400" y="2984500"/>
            <a:ext cx="4826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156200" y="2984500"/>
            <a:ext cx="2921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527800" y="2984500"/>
            <a:ext cx="2032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064500" y="2984500"/>
            <a:ext cx="2794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398000" y="2984500"/>
            <a:ext cx="1270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058400" y="2984500"/>
            <a:ext cx="1778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headEnd type="triangle"/>
          </a:ln>
        </p:spPr>
      </p:sp>
      <p:pic>
        <p:nvPicPr>
          <p:cNvPr id="36" name="Image 0" descr="/home/ahmed/Projects/ai_llm_slides/videos/deep-learning/001_introduction/recreated_pptx/build/assets/arc_left_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625600"/>
            <a:ext cx="3378159" cy="1117580"/>
          </a:xfrm>
          <a:prstGeom prst="rect">
            <a:avLst/>
          </a:prstGeom>
        </p:spPr>
      </p:pic>
      <p:pic>
        <p:nvPicPr>
          <p:cNvPr id="37" name="Image 1" descr="/home/ahmed/Projects/ai_llm_slides/videos/deep-learning/001_introduction/recreated_pptx/build/assets/arc_right_0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25600"/>
            <a:ext cx="4927610" cy="1117580"/>
          </a:xfrm>
          <a:prstGeom prst="rect">
            <a:avLst/>
          </a:prstGeom>
        </p:spPr>
      </p:pic>
      <p:pic>
        <p:nvPicPr>
          <p:cNvPr id="38" name="Image 2" descr="/home/ahmed/Projects/ai_llm_slides/videos/deep-learning/001_introduction/recreated_pptx/build/assets/green_fan_02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400" y="3251200"/>
            <a:ext cx="6985010" cy="939820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7531100" y="4889500"/>
            <a:ext cx="279400" cy="520700"/>
          </a:xfrm>
          <a:prstGeom prst="upArrow">
            <a:avLst/>
          </a:prstGeom>
          <a:solidFill>
            <a:srgbClr val="BD3F4B"/>
          </a:solidFill>
          <a:ln w="6350">
            <a:solidFill>
              <a:srgbClr val="BD3F4B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9753600" y="3924300"/>
            <a:ext cx="279400" cy="520700"/>
          </a:xfrm>
          <a:prstGeom prst="upArrow">
            <a:avLst/>
          </a:prstGeom>
          <a:solidFill>
            <a:srgbClr val="BD3F4B"/>
          </a:solidFill>
          <a:ln w="6350">
            <a:solidFill>
              <a:srgbClr val="BD3F4B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3314700" y="4292600"/>
            <a:ext cx="6121400" cy="520700"/>
          </a:xfrm>
          <a:prstGeom prst="roundRect">
            <a:avLst>
              <a:gd name="adj" fmla="val 10537"/>
            </a:avLst>
          </a:prstGeom>
          <a:solidFill>
            <a:srgbClr val="EEFADA"/>
          </a:solidFill>
          <a:ln w="12700">
            <a:solidFill>
              <a:srgbClr val="C9C9B7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3340100" y="4324350"/>
            <a:ext cx="607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50" dirty="0">
                <a:solidFill>
                  <a:srgbClr val="33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Model Parameters in order to </a:t>
            </a:r>
            <a:pPr algn="ctr"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33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</a:t>
            </a:r>
            <a:pPr algn="ctr" indent="0" marL="0">
              <a:lnSpc>
                <a:spcPts val="1900"/>
              </a:lnSpc>
              <a:buNone/>
            </a:pPr>
            <a:r>
              <a:rPr lang="en-US" sz="1650" dirty="0">
                <a:solidFill>
                  <a:srgbClr val="33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error</a:t>
            </a:r>
            <a:endParaRPr lang="en-US" sz="16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650" dirty="0">
                <a:solidFill>
                  <a:srgbClr val="33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(difference between model prediction and Actual labels</a:t>
            </a:r>
            <a:endParaRPr lang="en-US" sz="1650" dirty="0"/>
          </a:p>
        </p:txBody>
      </p:sp>
      <p:sp>
        <p:nvSpPr>
          <p:cNvPr id="43" name="Shape 38"/>
          <p:cNvSpPr/>
          <p:nvPr/>
        </p:nvSpPr>
        <p:spPr>
          <a:xfrm>
            <a:off x="9004300" y="4800600"/>
            <a:ext cx="2184400" cy="736600"/>
          </a:xfrm>
          <a:prstGeom prst="star16">
            <a:avLst/>
          </a:prstGeom>
          <a:solidFill>
            <a:srgbClr val="FFFFC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9340850" y="5016500"/>
            <a:ext cx="134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</a:t>
            </a:r>
            <a:endParaRPr lang="en-US" sz="12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4000" y="2268934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800"/>
              </a:lnSpc>
              <a:buNone/>
            </a:pPr>
            <a:r>
              <a:rPr lang="en-US" sz="5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Quick revision of</a:t>
            </a:r>
            <a:endParaRPr lang="en-US" sz="5650" dirty="0"/>
          </a:p>
        </p:txBody>
      </p:sp>
      <p:sp>
        <p:nvSpPr>
          <p:cNvPr id="7" name="Text 5"/>
          <p:cNvSpPr/>
          <p:nvPr/>
        </p:nvSpPr>
        <p:spPr>
          <a:xfrm>
            <a:off x="1524000" y="3879294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800"/>
              </a:lnSpc>
              <a:buNone/>
            </a:pPr>
            <a:r>
              <a:rPr lang="en-US" sz="5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Netwok (NN)</a:t>
            </a:r>
            <a:endParaRPr lang="en-US" sz="5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7750" y="1123950"/>
            <a:ext cx="4267200" cy="2006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11950" y="1123950"/>
            <a:ext cx="3352800" cy="19939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5050" y="3244850"/>
            <a:ext cx="8699500" cy="1104900"/>
          </a:xfrm>
          <a:prstGeom prst="rect">
            <a:avLst/>
          </a:prstGeom>
          <a:solidFill>
            <a:srgbClr val="FAFEED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01950" y="4451350"/>
            <a:ext cx="4876800" cy="200025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26050" y="5105400"/>
            <a:ext cx="482600" cy="482600"/>
          </a:xfrm>
          <a:prstGeom prst="ellipse">
            <a:avLst/>
          </a:prstGeom>
          <a:solidFill>
            <a:srgbClr val="CC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5850" y="635381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Visualization of Single Perceptron</a:t>
            </a:r>
            <a:endParaRPr lang="en-US" sz="3400" dirty="0"/>
          </a:p>
        </p:txBody>
      </p:sp>
      <p:pic>
        <p:nvPicPr>
          <p:cNvPr id="11" name="Image 0" descr="/home/ahmed/Projects/ai_llm_slides/videos/deep-learning/001_introduction/recreated_pptx/build/assets/eq_022_augX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408" y="2040890"/>
            <a:ext cx="371856" cy="193548"/>
          </a:xfrm>
          <a:prstGeom prst="rect">
            <a:avLst/>
          </a:prstGeom>
        </p:spPr>
      </p:pic>
      <p:pic>
        <p:nvPicPr>
          <p:cNvPr id="12" name="Image 1" descr="/home/ahmed/Projects/ai_llm_slides/videos/deep-learning/001_introduction/recreated_pptx/build/assets/eq_022_v1_x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496" y="1548892"/>
            <a:ext cx="178308" cy="144780"/>
          </a:xfrm>
          <a:prstGeom prst="rect">
            <a:avLst/>
          </a:prstGeom>
        </p:spPr>
      </p:pic>
      <p:pic>
        <p:nvPicPr>
          <p:cNvPr id="13" name="Image 2" descr="/home/ahmed/Projects/ai_llm_slides/videos/deep-learning/001_introduction/recreated_pptx/build/assets/eq_022_v1_x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00" y="1840992"/>
            <a:ext cx="190500" cy="144780"/>
          </a:xfrm>
          <a:prstGeom prst="rect">
            <a:avLst/>
          </a:prstGeom>
        </p:spPr>
      </p:pic>
      <p:pic>
        <p:nvPicPr>
          <p:cNvPr id="14" name="Image 3" descr="/home/ahmed/Projects/ai_llm_slides/videos/deep-learning/001_introduction/recreated_pptx/build/assets/eq_022_v1_d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068" y="2159000"/>
            <a:ext cx="169164" cy="50292"/>
          </a:xfrm>
          <a:prstGeom prst="rect">
            <a:avLst/>
          </a:prstGeom>
        </p:spPr>
      </p:pic>
      <p:pic>
        <p:nvPicPr>
          <p:cNvPr id="15" name="Image 4" descr="/home/ahmed/Projects/ai_llm_slides/videos/deep-learning/001_introduction/recreated_pptx/build/assets/eq_022_v1_d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0068" y="2432050"/>
            <a:ext cx="169164" cy="50292"/>
          </a:xfrm>
          <a:prstGeom prst="rect">
            <a:avLst/>
          </a:prstGeom>
        </p:spPr>
      </p:pic>
      <p:pic>
        <p:nvPicPr>
          <p:cNvPr id="16" name="Image 5" descr="/home/ahmed/Projects/ai_llm_slides/videos/deep-learning/001_introduction/recreated_pptx/build/assets/eq_022_v1_x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0162" y="2691892"/>
            <a:ext cx="188976" cy="146304"/>
          </a:xfrm>
          <a:prstGeom prst="rect">
            <a:avLst/>
          </a:prstGeom>
        </p:spPr>
      </p:pic>
      <p:pic>
        <p:nvPicPr>
          <p:cNvPr id="17" name="Image 6" descr="/home/ahmed/Projects/ai_llm_slides/videos/deep-learning/001_introduction/recreated_pptx/build/assets/eq_022_aug_ar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4062" y="2016506"/>
            <a:ext cx="188976" cy="144780"/>
          </a:xfrm>
          <a:prstGeom prst="rect">
            <a:avLst/>
          </a:prstGeom>
        </p:spPr>
      </p:pic>
      <p:pic>
        <p:nvPicPr>
          <p:cNvPr id="18" name="Image 7" descr="/home/ahmed/Projects/ai_llm_slides/videos/deep-learning/001_introduction/recreated_pptx/build/assets/eq_022_augX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7208" y="2040890"/>
            <a:ext cx="371856" cy="193548"/>
          </a:xfrm>
          <a:prstGeom prst="rect">
            <a:avLst/>
          </a:prstGeom>
        </p:spPr>
      </p:pic>
      <p:pic>
        <p:nvPicPr>
          <p:cNvPr id="19" name="Image 8" descr="/home/ahmed/Projects/ai_llm_slides/videos/deep-learning/001_introduction/recreated_pptx/build/assets/eq_022_v2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1868" y="1325118"/>
            <a:ext cx="92964" cy="192024"/>
          </a:xfrm>
          <a:prstGeom prst="rect">
            <a:avLst/>
          </a:prstGeom>
        </p:spPr>
      </p:pic>
      <p:pic>
        <p:nvPicPr>
          <p:cNvPr id="20" name="Image 9" descr="/home/ahmed/Projects/ai_llm_slides/videos/deep-learning/001_introduction/recreated_pptx/build/assets/eq_022_v2_x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19196" y="1688592"/>
            <a:ext cx="178308" cy="144780"/>
          </a:xfrm>
          <a:prstGeom prst="rect">
            <a:avLst/>
          </a:prstGeom>
        </p:spPr>
      </p:pic>
      <p:pic>
        <p:nvPicPr>
          <p:cNvPr id="21" name="Image 10" descr="/home/ahmed/Projects/ai_llm_slides/videos/deep-learning/001_introduction/recreated_pptx/build/assets/eq_022_v2_x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13100" y="1999742"/>
            <a:ext cx="190500" cy="144780"/>
          </a:xfrm>
          <a:prstGeom prst="rect">
            <a:avLst/>
          </a:prstGeom>
        </p:spPr>
      </p:pic>
      <p:pic>
        <p:nvPicPr>
          <p:cNvPr id="22" name="Image 11" descr="/home/ahmed/Projects/ai_llm_slides/videos/deep-learning/001_introduction/recreated_pptx/build/assets/eq_022_v2_d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23768" y="2305050"/>
            <a:ext cx="169164" cy="50292"/>
          </a:xfrm>
          <a:prstGeom prst="rect">
            <a:avLst/>
          </a:prstGeom>
        </p:spPr>
      </p:pic>
      <p:pic>
        <p:nvPicPr>
          <p:cNvPr id="23" name="Image 12" descr="/home/ahmed/Projects/ai_llm_slides/videos/deep-learning/001_introduction/recreated_pptx/build/assets/eq_022_v2_d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23768" y="2565400"/>
            <a:ext cx="169164" cy="50292"/>
          </a:xfrm>
          <a:prstGeom prst="rect">
            <a:avLst/>
          </a:prstGeom>
        </p:spPr>
      </p:pic>
      <p:pic>
        <p:nvPicPr>
          <p:cNvPr id="24" name="Image 13" descr="/home/ahmed/Projects/ai_llm_slides/videos/deep-learning/001_introduction/recreated_pptx/build/assets/eq_022_v2_x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13862" y="2812542"/>
            <a:ext cx="188976" cy="146304"/>
          </a:xfrm>
          <a:prstGeom prst="rect">
            <a:avLst/>
          </a:prstGeom>
        </p:spPr>
      </p:pic>
      <p:pic>
        <p:nvPicPr>
          <p:cNvPr id="25" name="Image 14" descr="/home/ahmed/Projects/ai_llm_slides/videos/deep-learning/001_introduction/recreated_pptx/build/assets/eq_022_wtsW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12508" y="2025650"/>
            <a:ext cx="227076" cy="217932"/>
          </a:xfrm>
          <a:prstGeom prst="rect">
            <a:avLst/>
          </a:prstGeom>
        </p:spPr>
      </p:pic>
      <p:pic>
        <p:nvPicPr>
          <p:cNvPr id="26" name="Image 15" descr="/home/ahmed/Projects/ai_llm_slides/videos/deep-learning/001_introduction/recreated_pptx/build/assets/eq_022_wtsEq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82764" y="2027682"/>
            <a:ext cx="195072" cy="102108"/>
          </a:xfrm>
          <a:prstGeom prst="rect">
            <a:avLst/>
          </a:prstGeom>
        </p:spPr>
      </p:pic>
      <p:pic>
        <p:nvPicPr>
          <p:cNvPr id="27" name="Image 16" descr="/home/ahmed/Projects/ai_llm_slides/videos/deep-learning/001_introduction/recreated_pptx/build/assets/eq_022_wv_b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37526" y="1281939"/>
            <a:ext cx="155448" cy="225552"/>
          </a:xfrm>
          <a:prstGeom prst="rect">
            <a:avLst/>
          </a:prstGeom>
        </p:spPr>
      </p:pic>
      <p:pic>
        <p:nvPicPr>
          <p:cNvPr id="28" name="Image 17" descr="/home/ahmed/Projects/ai_llm_slides/videos/deep-learning/001_introduction/recreated_pptx/build/assets/eq_022_wv_w1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7620" y="1700530"/>
            <a:ext cx="175260" cy="120396"/>
          </a:xfrm>
          <a:prstGeom prst="rect">
            <a:avLst/>
          </a:prstGeom>
        </p:spPr>
      </p:pic>
      <p:pic>
        <p:nvPicPr>
          <p:cNvPr id="29" name="Image 18" descr="/home/ahmed/Projects/ai_llm_slides/videos/deep-learning/001_introduction/recreated_pptx/build/assets/eq_022_wv_w2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3810" y="2018030"/>
            <a:ext cx="182880" cy="120396"/>
          </a:xfrm>
          <a:prstGeom prst="rect">
            <a:avLst/>
          </a:prstGeom>
        </p:spPr>
      </p:pic>
      <p:pic>
        <p:nvPicPr>
          <p:cNvPr id="30" name="Image 19" descr="/home/ahmed/Projects/ai_llm_slides/videos/deep-learning/001_introduction/recreated_pptx/build/assets/eq_022_wv_d1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30668" y="2305050"/>
            <a:ext cx="169164" cy="50292"/>
          </a:xfrm>
          <a:prstGeom prst="rect">
            <a:avLst/>
          </a:prstGeom>
        </p:spPr>
      </p:pic>
      <p:pic>
        <p:nvPicPr>
          <p:cNvPr id="31" name="Image 20" descr="/home/ahmed/Projects/ai_llm_slides/videos/deep-learning/001_introduction/recreated_pptx/build/assets/eq_022_wv_d2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30668" y="2565400"/>
            <a:ext cx="169164" cy="50292"/>
          </a:xfrm>
          <a:prstGeom prst="rect">
            <a:avLst/>
          </a:prstGeom>
        </p:spPr>
      </p:pic>
      <p:pic>
        <p:nvPicPr>
          <p:cNvPr id="32" name="Image 21" descr="/home/ahmed/Projects/ai_llm_slides/videos/deep-learning/001_introduction/recreated_pptx/build/assets/eq_022_wv_wn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23810" y="2830830"/>
            <a:ext cx="182880" cy="121920"/>
          </a:xfrm>
          <a:prstGeom prst="rect">
            <a:avLst/>
          </a:prstGeom>
        </p:spPr>
      </p:pic>
      <p:pic>
        <p:nvPicPr>
          <p:cNvPr id="33" name="Image 22" descr="/home/ahmed/Projects/ai_llm_slides/videos/deep-learning/001_introduction/recreated_pptx/build/assets/eq_022_dec_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92708" y="3628135"/>
            <a:ext cx="202692" cy="220980"/>
          </a:xfrm>
          <a:prstGeom prst="rect">
            <a:avLst/>
          </a:prstGeom>
        </p:spPr>
      </p:pic>
      <p:pic>
        <p:nvPicPr>
          <p:cNvPr id="34" name="Image 23" descr="/home/ahmed/Projects/ai_llm_slides/videos/deep-learning/001_introduction/recreated_pptx/build/assets/eq_022_dec_X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84808" y="3623818"/>
            <a:ext cx="192024" cy="192024"/>
          </a:xfrm>
          <a:prstGeom prst="rect">
            <a:avLst/>
          </a:prstGeom>
        </p:spPr>
      </p:pic>
      <p:pic>
        <p:nvPicPr>
          <p:cNvPr id="35" name="Image 24" descr="/home/ahmed/Projects/ai_llm_slides/videos/deep-learning/001_introduction/recreated_pptx/build/assets/eq_022_dec_rp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49908" y="3617468"/>
            <a:ext cx="86868" cy="236220"/>
          </a:xfrm>
          <a:prstGeom prst="rect">
            <a:avLst/>
          </a:prstGeom>
        </p:spPr>
      </p:pic>
      <p:pic>
        <p:nvPicPr>
          <p:cNvPr id="36" name="Image 25" descr="/home/ahmed/Projects/ai_llm_slides/videos/deep-learning/001_introduction/recreated_pptx/build/assets/eq_022_dec_e1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740408" y="3722624"/>
            <a:ext cx="120396" cy="65532"/>
          </a:xfrm>
          <a:prstGeom prst="rect">
            <a:avLst/>
          </a:prstGeom>
        </p:spPr>
      </p:pic>
      <p:pic>
        <p:nvPicPr>
          <p:cNvPr id="37" name="Image 26" descr="/home/ahmed/Projects/ai_llm_slides/videos/deep-learning/001_introduction/recreated_pptx/build/assets/eq_022_dec_WT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969008" y="3606799"/>
            <a:ext cx="321564" cy="256032"/>
          </a:xfrm>
          <a:prstGeom prst="rect">
            <a:avLst/>
          </a:prstGeom>
        </p:spPr>
      </p:pic>
      <p:pic>
        <p:nvPicPr>
          <p:cNvPr id="38" name="Image 27" descr="/home/ahmed/Projects/ai_llm_slides/videos/deep-learning/001_introduction/recreated_pptx/build/assets/eq_022_dec_X2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438908" y="3644900"/>
            <a:ext cx="169164" cy="214884"/>
          </a:xfrm>
          <a:prstGeom prst="rect">
            <a:avLst/>
          </a:prstGeom>
        </p:spPr>
      </p:pic>
      <p:pic>
        <p:nvPicPr>
          <p:cNvPr id="39" name="Image 28" descr="/home/ahmed/Projects/ai_llm_slides/videos/deep-learning/001_introduction/recreated_pptx/build/assets/eq_022_dec_e2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731008" y="3722624"/>
            <a:ext cx="120396" cy="65532"/>
          </a:xfrm>
          <a:prstGeom prst="rect">
            <a:avLst/>
          </a:prstGeom>
        </p:spPr>
      </p:pic>
      <p:pic>
        <p:nvPicPr>
          <p:cNvPr id="40" name="Image 29" descr="/home/ahmed/Projects/ai_llm_slides/videos/deep-learning/001_introduction/recreated_pptx/build/assets/eq_022_dec_w1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946908" y="3699764"/>
            <a:ext cx="367284" cy="138684"/>
          </a:xfrm>
          <a:prstGeom prst="rect">
            <a:avLst/>
          </a:prstGeom>
        </p:spPr>
      </p:pic>
      <p:pic>
        <p:nvPicPr>
          <p:cNvPr id="41" name="Image 30" descr="/home/ahmed/Projects/ai_llm_slides/videos/deep-learning/001_introduction/recreated_pptx/build/assets/eq_022_dec_p1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442208" y="3696716"/>
            <a:ext cx="118872" cy="120396"/>
          </a:xfrm>
          <a:prstGeom prst="rect">
            <a:avLst/>
          </a:prstGeom>
        </p:spPr>
      </p:pic>
      <p:pic>
        <p:nvPicPr>
          <p:cNvPr id="42" name="Image 31" descr="/home/ahmed/Projects/ai_llm_slides/videos/deep-learning/001_introduction/recreated_pptx/build/assets/eq_022_dec_w2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607308" y="3704336"/>
            <a:ext cx="358140" cy="132588"/>
          </a:xfrm>
          <a:prstGeom prst="rect">
            <a:avLst/>
          </a:prstGeom>
        </p:spPr>
      </p:pic>
      <p:pic>
        <p:nvPicPr>
          <p:cNvPr id="43" name="Image 32" descr="/home/ahmed/Projects/ai_llm_slides/videos/deep-learning/001_introduction/recreated_pptx/build/assets/eq_022_dec_p2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102608" y="3696716"/>
            <a:ext cx="118872" cy="120396"/>
          </a:xfrm>
          <a:prstGeom prst="rect">
            <a:avLst/>
          </a:prstGeom>
        </p:spPr>
      </p:pic>
      <p:pic>
        <p:nvPicPr>
          <p:cNvPr id="44" name="Image 33" descr="/home/ahmed/Projects/ai_llm_slides/videos/deep-learning/001_introduction/recreated_pptx/build/assets/eq_022_dec_dots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267708" y="3777742"/>
            <a:ext cx="291084" cy="39624"/>
          </a:xfrm>
          <a:prstGeom prst="rect">
            <a:avLst/>
          </a:prstGeom>
        </p:spPr>
      </p:pic>
      <p:pic>
        <p:nvPicPr>
          <p:cNvPr id="45" name="Image 34" descr="/home/ahmed/Projects/ai_llm_slides/videos/deep-learning/001_introduction/recreated_pptx/build/assets/eq_022_dec_p3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585208" y="3696716"/>
            <a:ext cx="118872" cy="120396"/>
          </a:xfrm>
          <a:prstGeom prst="rect">
            <a:avLst/>
          </a:prstGeom>
        </p:spPr>
      </p:pic>
      <p:pic>
        <p:nvPicPr>
          <p:cNvPr id="46" name="Image 35" descr="/home/ahmed/Projects/ai_llm_slides/videos/deep-learning/001_introduction/recreated_pptx/build/assets/eq_022_dec_wn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750308" y="3704336"/>
            <a:ext cx="358140" cy="134112"/>
          </a:xfrm>
          <a:prstGeom prst="rect">
            <a:avLst/>
          </a:prstGeom>
        </p:spPr>
      </p:pic>
      <p:pic>
        <p:nvPicPr>
          <p:cNvPr id="47" name="Image 36" descr="/home/ahmed/Projects/ai_llm_slides/videos/deep-learning/001_introduction/recreated_pptx/build/assets/eq_022_dec_p4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245608" y="3696716"/>
            <a:ext cx="118872" cy="120396"/>
          </a:xfrm>
          <a:prstGeom prst="rect">
            <a:avLst/>
          </a:prstGeom>
        </p:spPr>
      </p:pic>
      <p:pic>
        <p:nvPicPr>
          <p:cNvPr id="48" name="Image 37" descr="/home/ahmed/Projects/ai_llm_slides/videos/deep-learning/001_introduction/recreated_pptx/build/assets/eq_022_dec_b1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410708" y="3652520"/>
            <a:ext cx="368808" cy="158496"/>
          </a:xfrm>
          <a:prstGeom prst="rect">
            <a:avLst/>
          </a:prstGeom>
        </p:spPr>
      </p:pic>
      <p:pic>
        <p:nvPicPr>
          <p:cNvPr id="49" name="Image 38" descr="/home/ahmed/Projects/ai_llm_slides/videos/deep-learning/001_introduction/recreated_pptx/build/assets/eq_022_dec_arr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337808" y="3671570"/>
            <a:ext cx="277368" cy="126492"/>
          </a:xfrm>
          <a:prstGeom prst="rect">
            <a:avLst/>
          </a:prstGeom>
        </p:spPr>
      </p:pic>
      <p:pic>
        <p:nvPicPr>
          <p:cNvPr id="50" name="Image 39" descr="/home/ahmed/Projects/ai_llm_slides/videos/deep-learning/001_introduction/recreated_pptx/build/assets/eq_022_case1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036308" y="3393441"/>
            <a:ext cx="1478280" cy="196596"/>
          </a:xfrm>
          <a:prstGeom prst="rect">
            <a:avLst/>
          </a:prstGeom>
        </p:spPr>
      </p:pic>
      <p:pic>
        <p:nvPicPr>
          <p:cNvPr id="51" name="Image 40" descr="/home/ahmed/Projects/ai_llm_slides/videos/deep-learning/001_introduction/recreated_pptx/build/assets/eq_022_case2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036308" y="3681984"/>
            <a:ext cx="1472184" cy="187452"/>
          </a:xfrm>
          <a:prstGeom prst="rect">
            <a:avLst/>
          </a:prstGeom>
        </p:spPr>
      </p:pic>
      <p:pic>
        <p:nvPicPr>
          <p:cNvPr id="52" name="Image 41" descr="/home/ahmed/Projects/ai_llm_slides/videos/deep-learning/001_introduction/recreated_pptx/build/assets/eq_022_case3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036308" y="3956812"/>
            <a:ext cx="2340864" cy="193548"/>
          </a:xfrm>
          <a:prstGeom prst="rect">
            <a:avLst/>
          </a:prstGeom>
        </p:spPr>
      </p:pic>
      <p:pic>
        <p:nvPicPr>
          <p:cNvPr id="53" name="Image 42" descr="/home/ahmed/Projects/ai_llm_slides/videos/deep-learning/001_introduction/recreated_pptx/build/assets/eq_022_sigma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347208" y="5227828"/>
            <a:ext cx="214884" cy="245364"/>
          </a:xfrm>
          <a:prstGeom prst="rect">
            <a:avLst/>
          </a:prstGeom>
        </p:spPr>
      </p:pic>
      <p:pic>
        <p:nvPicPr>
          <p:cNvPr id="54" name="Image 43" descr="/home/ahmed/Projects/ai_llm_slides/videos/deep-learning/001_introduction/recreated_pptx/build/assets/eq_022_d_x1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188208" y="4526280"/>
            <a:ext cx="146304" cy="120396"/>
          </a:xfrm>
          <a:prstGeom prst="rect">
            <a:avLst/>
          </a:prstGeom>
        </p:spPr>
      </p:pic>
      <p:pic>
        <p:nvPicPr>
          <p:cNvPr id="55" name="Image 44" descr="/home/ahmed/Projects/ai_llm_slides/videos/deep-learning/001_introduction/recreated_pptx/build/assets/eq_022_d_x2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188208" y="4805680"/>
            <a:ext cx="153924" cy="120396"/>
          </a:xfrm>
          <a:prstGeom prst="rect">
            <a:avLst/>
          </a:prstGeom>
        </p:spPr>
      </p:pic>
      <p:pic>
        <p:nvPicPr>
          <p:cNvPr id="56" name="Image 45" descr="/home/ahmed/Projects/ai_llm_slides/videos/deep-learning/001_introduction/recreated_pptx/build/assets/eq_022_d_x3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188208" y="5085080"/>
            <a:ext cx="149352" cy="121920"/>
          </a:xfrm>
          <a:prstGeom prst="rect">
            <a:avLst/>
          </a:prstGeom>
        </p:spPr>
      </p:pic>
      <p:pic>
        <p:nvPicPr>
          <p:cNvPr id="57" name="Image 46" descr="/home/ahmed/Projects/ai_llm_slides/videos/deep-learning/001_introduction/recreated_pptx/build/assets/eq_022_d_d1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199638" y="5403596"/>
            <a:ext cx="153924" cy="47244"/>
          </a:xfrm>
          <a:prstGeom prst="rect">
            <a:avLst/>
          </a:prstGeom>
        </p:spPr>
      </p:pic>
      <p:pic>
        <p:nvPicPr>
          <p:cNvPr id="58" name="Image 47" descr="/home/ahmed/Projects/ai_llm_slides/videos/deep-learning/001_introduction/recreated_pptx/build/assets/eq_022_d_d2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199638" y="5682996"/>
            <a:ext cx="153924" cy="47244"/>
          </a:xfrm>
          <a:prstGeom prst="rect">
            <a:avLst/>
          </a:prstGeom>
        </p:spPr>
      </p:pic>
      <p:pic>
        <p:nvPicPr>
          <p:cNvPr id="59" name="Image 48" descr="/home/ahmed/Projects/ai_llm_slides/videos/deep-learning/001_introduction/recreated_pptx/build/assets/eq_022_d_xn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188208" y="5961380"/>
            <a:ext cx="153924" cy="121920"/>
          </a:xfrm>
          <a:prstGeom prst="rect">
            <a:avLst/>
          </a:prstGeom>
        </p:spPr>
      </p:pic>
      <p:pic>
        <p:nvPicPr>
          <p:cNvPr id="60" name="Image 49" descr="/home/ahmed/Projects/ai_llm_slides/videos/deep-learning/001_introduction/recreated_pptx/build/assets/eq_022_d_1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226308" y="6138418"/>
            <a:ext cx="92964" cy="192024"/>
          </a:xfrm>
          <a:prstGeom prst="rect">
            <a:avLst/>
          </a:prstGeom>
        </p:spPr>
      </p:pic>
      <p:pic>
        <p:nvPicPr>
          <p:cNvPr id="61" name="Image 50" descr="/home/ahmed/Projects/ai_llm_slides/videos/deep-learning/001_introduction/recreated_pptx/build/assets/eq_022_d_w1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658108" y="4539742"/>
            <a:ext cx="214884" cy="144780"/>
          </a:xfrm>
          <a:prstGeom prst="rect">
            <a:avLst/>
          </a:prstGeom>
        </p:spPr>
      </p:pic>
      <p:pic>
        <p:nvPicPr>
          <p:cNvPr id="62" name="Image 51" descr="/home/ahmed/Projects/ai_llm_slides/videos/deep-learning/001_introduction/recreated_pptx/build/assets/eq_022_d_w2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58108" y="4761992"/>
            <a:ext cx="227076" cy="144780"/>
          </a:xfrm>
          <a:prstGeom prst="rect">
            <a:avLst/>
          </a:prstGeom>
        </p:spPr>
      </p:pic>
      <p:pic>
        <p:nvPicPr>
          <p:cNvPr id="63" name="Image 52" descr="/home/ahmed/Projects/ai_llm_slides/videos/deep-learning/001_introduction/recreated_pptx/build/assets/eq_022_d_w3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658108" y="5035042"/>
            <a:ext cx="220980" cy="146304"/>
          </a:xfrm>
          <a:prstGeom prst="rect">
            <a:avLst/>
          </a:prstGeom>
        </p:spPr>
      </p:pic>
      <p:pic>
        <p:nvPicPr>
          <p:cNvPr id="64" name="Image 53" descr="/home/ahmed/Projects/ai_llm_slides/videos/deep-learning/001_introduction/recreated_pptx/build/assets/eq_022_d_wn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3658108" y="5695442"/>
            <a:ext cx="225552" cy="146304"/>
          </a:xfrm>
          <a:prstGeom prst="rect">
            <a:avLst/>
          </a:prstGeom>
        </p:spPr>
      </p:pic>
      <p:pic>
        <p:nvPicPr>
          <p:cNvPr id="65" name="Image 54" descr="/home/ahmed/Projects/ai_llm_slides/videos/deep-learning/001_introduction/recreated_pptx/build/assets/eq_022_d_b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696208" y="6111494"/>
            <a:ext cx="135636" cy="196596"/>
          </a:xfrm>
          <a:prstGeom prst="rect">
            <a:avLst/>
          </a:prstGeom>
        </p:spPr>
      </p:pic>
      <p:pic>
        <p:nvPicPr>
          <p:cNvPr id="66" name="Image 55" descr="/home/ahmed/Projects/ai_llm_slides/videos/deep-learning/001_introduction/recreated_pptx/build/assets/eq_022_par_v1L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485900" y="1422400"/>
            <a:ext cx="24384" cy="1459992"/>
          </a:xfrm>
          <a:prstGeom prst="rect">
            <a:avLst/>
          </a:prstGeom>
        </p:spPr>
      </p:pic>
      <p:pic>
        <p:nvPicPr>
          <p:cNvPr id="67" name="Image 56" descr="/home/ahmed/Projects/ai_llm_slides/videos/deep-learning/001_introduction/recreated_pptx/build/assets/eq_022_par_v1R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771650" y="1422400"/>
            <a:ext cx="24384" cy="1459992"/>
          </a:xfrm>
          <a:prstGeom prst="rect">
            <a:avLst/>
          </a:prstGeom>
        </p:spPr>
      </p:pic>
      <p:pic>
        <p:nvPicPr>
          <p:cNvPr id="68" name="Image 57" descr="/home/ahmed/Projects/ai_llm_slides/videos/deep-learning/001_introduction/recreated_pptx/build/assets/eq_022_par_v2L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3155950" y="1295400"/>
            <a:ext cx="24384" cy="1726692"/>
          </a:xfrm>
          <a:prstGeom prst="rect">
            <a:avLst/>
          </a:prstGeom>
        </p:spPr>
      </p:pic>
      <p:pic>
        <p:nvPicPr>
          <p:cNvPr id="69" name="Image 58" descr="/home/ahmed/Projects/ai_llm_slides/videos/deep-learning/001_introduction/recreated_pptx/build/assets/eq_022_par_v2R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3448050" y="1295400"/>
            <a:ext cx="24384" cy="1726692"/>
          </a:xfrm>
          <a:prstGeom prst="rect">
            <a:avLst/>
          </a:prstGeom>
        </p:spPr>
      </p:pic>
      <p:pic>
        <p:nvPicPr>
          <p:cNvPr id="70" name="Image 59" descr="/home/ahmed/Projects/ai_llm_slides/videos/deep-learning/001_introduction/recreated_pptx/build/assets/eq_022_par_wL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7581900" y="1270000"/>
            <a:ext cx="24384" cy="1764792"/>
          </a:xfrm>
          <a:prstGeom prst="rect">
            <a:avLst/>
          </a:prstGeom>
        </p:spPr>
      </p:pic>
      <p:pic>
        <p:nvPicPr>
          <p:cNvPr id="71" name="Image 60" descr="/home/ahmed/Projects/ai_llm_slides/videos/deep-learning/001_introduction/recreated_pptx/build/assets/eq_022_par_wR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7835900" y="1270000"/>
            <a:ext cx="24384" cy="1764792"/>
          </a:xfrm>
          <a:prstGeom prst="rect">
            <a:avLst/>
          </a:prstGeom>
        </p:spPr>
      </p:pic>
      <p:pic>
        <p:nvPicPr>
          <p:cNvPr id="72" name="Image 61" descr="/home/ahmed/Projects/ai_llm_slides/videos/deep-learning/001_introduction/recreated_pptx/build/assets/eq_022_par_caseL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6893560" y="3314700"/>
            <a:ext cx="13716" cy="838200"/>
          </a:xfrm>
          <a:prstGeom prst="rect">
            <a:avLst/>
          </a:prstGeom>
        </p:spPr>
      </p:pic>
      <p:pic>
        <p:nvPicPr>
          <p:cNvPr id="73" name="Image 62" descr="/home/ahmed/Projects/ai_llm_slides/videos/deep-learning/001_introduction/recreated_pptx/build/assets/eq_022_par_caseR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497060" y="3314700"/>
            <a:ext cx="13716" cy="838200"/>
          </a:xfrm>
          <a:prstGeom prst="rect">
            <a:avLst/>
          </a:prstGeom>
        </p:spPr>
      </p:pic>
      <p:sp>
        <p:nvSpPr>
          <p:cNvPr id="74" name="Text 9"/>
          <p:cNvSpPr/>
          <p:nvPr/>
        </p:nvSpPr>
        <p:spPr>
          <a:xfrm>
            <a:off x="3801110" y="185699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40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Ugmented Vector</a:t>
            </a:r>
            <a:endParaRPr lang="en-US" sz="1540" dirty="0"/>
          </a:p>
        </p:txBody>
      </p:sp>
      <p:sp>
        <p:nvSpPr>
          <p:cNvPr id="75" name="Shape 10"/>
          <p:cNvSpPr/>
          <p:nvPr/>
        </p:nvSpPr>
        <p:spPr>
          <a:xfrm>
            <a:off x="3810000" y="2190750"/>
            <a:ext cx="1333500" cy="1524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76" name="Text 11"/>
          <p:cNvSpPr/>
          <p:nvPr/>
        </p:nvSpPr>
        <p:spPr>
          <a:xfrm>
            <a:off x="8500110" y="185699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Weights</a:t>
            </a:r>
            <a:endParaRPr lang="en-US" sz="1600" dirty="0"/>
          </a:p>
        </p:txBody>
      </p:sp>
      <p:sp>
        <p:nvSpPr>
          <p:cNvPr id="77" name="Shape 12"/>
          <p:cNvSpPr/>
          <p:nvPr/>
        </p:nvSpPr>
        <p:spPr>
          <a:xfrm>
            <a:off x="8509000" y="2190750"/>
            <a:ext cx="1168400" cy="1524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78" name="Shape 13"/>
          <p:cNvSpPr/>
          <p:nvPr/>
        </p:nvSpPr>
        <p:spPr>
          <a:xfrm>
            <a:off x="3454400" y="4578350"/>
            <a:ext cx="1600200" cy="768350"/>
          </a:xfrm>
          <a:prstGeom prst="line">
            <a:avLst/>
          </a:prstGeom>
          <a:noFill/>
          <a:ln w="12700">
            <a:solidFill>
              <a:srgbClr val="FF66CC"/>
            </a:solidFill>
            <a:prstDash val="solid"/>
          </a:ln>
        </p:spPr>
      </p:sp>
      <p:sp>
        <p:nvSpPr>
          <p:cNvPr id="79" name="Shape 14"/>
          <p:cNvSpPr/>
          <p:nvPr/>
        </p:nvSpPr>
        <p:spPr>
          <a:xfrm>
            <a:off x="3454400" y="4864100"/>
            <a:ext cx="1600200" cy="482600"/>
          </a:xfrm>
          <a:prstGeom prst="line">
            <a:avLst/>
          </a:prstGeom>
          <a:noFill/>
          <a:ln w="12700">
            <a:solidFill>
              <a:srgbClr val="FF66CC"/>
            </a:solidFill>
            <a:prstDash val="solid"/>
          </a:ln>
        </p:spPr>
      </p:sp>
      <p:sp>
        <p:nvSpPr>
          <p:cNvPr id="80" name="Shape 15"/>
          <p:cNvSpPr/>
          <p:nvPr/>
        </p:nvSpPr>
        <p:spPr>
          <a:xfrm>
            <a:off x="3454400" y="5143500"/>
            <a:ext cx="1600200" cy="203200"/>
          </a:xfrm>
          <a:prstGeom prst="line">
            <a:avLst/>
          </a:prstGeom>
          <a:noFill/>
          <a:ln w="12700">
            <a:solidFill>
              <a:srgbClr val="FF66CC"/>
            </a:solidFill>
            <a:prstDash val="solid"/>
          </a:ln>
        </p:spPr>
      </p:sp>
      <p:sp>
        <p:nvSpPr>
          <p:cNvPr id="81" name="Shape 16"/>
          <p:cNvSpPr/>
          <p:nvPr/>
        </p:nvSpPr>
        <p:spPr>
          <a:xfrm flipV="1">
            <a:off x="3454400" y="5346700"/>
            <a:ext cx="1600200" cy="120650"/>
          </a:xfrm>
          <a:prstGeom prst="line">
            <a:avLst/>
          </a:prstGeom>
          <a:noFill/>
          <a:ln w="12700">
            <a:solidFill>
              <a:srgbClr val="FF66CC"/>
            </a:solidFill>
            <a:prstDash val="solid"/>
          </a:ln>
        </p:spPr>
      </p:sp>
      <p:sp>
        <p:nvSpPr>
          <p:cNvPr id="82" name="Shape 17"/>
          <p:cNvSpPr/>
          <p:nvPr/>
        </p:nvSpPr>
        <p:spPr>
          <a:xfrm flipV="1">
            <a:off x="3454400" y="5346700"/>
            <a:ext cx="1600200" cy="406400"/>
          </a:xfrm>
          <a:prstGeom prst="line">
            <a:avLst/>
          </a:prstGeom>
          <a:noFill/>
          <a:ln w="12700">
            <a:solidFill>
              <a:srgbClr val="FF66CC"/>
            </a:solidFill>
            <a:prstDash val="solid"/>
          </a:ln>
        </p:spPr>
      </p:sp>
      <p:sp>
        <p:nvSpPr>
          <p:cNvPr id="83" name="Shape 18"/>
          <p:cNvSpPr/>
          <p:nvPr/>
        </p:nvSpPr>
        <p:spPr>
          <a:xfrm flipV="1">
            <a:off x="3454400" y="5346700"/>
            <a:ext cx="1600200" cy="666750"/>
          </a:xfrm>
          <a:prstGeom prst="line">
            <a:avLst/>
          </a:prstGeom>
          <a:noFill/>
          <a:ln w="12700">
            <a:solidFill>
              <a:srgbClr val="FF66CC"/>
            </a:solidFill>
            <a:prstDash val="solid"/>
          </a:ln>
        </p:spPr>
      </p:sp>
      <p:sp>
        <p:nvSpPr>
          <p:cNvPr id="84" name="Shape 19"/>
          <p:cNvSpPr/>
          <p:nvPr/>
        </p:nvSpPr>
        <p:spPr>
          <a:xfrm flipV="1">
            <a:off x="3454400" y="5346700"/>
            <a:ext cx="1600200" cy="933450"/>
          </a:xfrm>
          <a:prstGeom prst="line">
            <a:avLst/>
          </a:prstGeom>
          <a:noFill/>
          <a:ln w="12700">
            <a:solidFill>
              <a:srgbClr val="FF66CC"/>
            </a:solidFill>
            <a:prstDash val="solid"/>
          </a:ln>
        </p:spPr>
      </p:sp>
      <p:sp>
        <p:nvSpPr>
          <p:cNvPr id="85" name="Shape 20"/>
          <p:cNvSpPr/>
          <p:nvPr/>
        </p:nvSpPr>
        <p:spPr>
          <a:xfrm rot="5400000">
            <a:off x="5029200" y="5270500"/>
            <a:ext cx="139700" cy="15240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6" name="Shape 21"/>
          <p:cNvSpPr/>
          <p:nvPr/>
        </p:nvSpPr>
        <p:spPr>
          <a:xfrm>
            <a:off x="5949950" y="5137150"/>
            <a:ext cx="533400" cy="425450"/>
          </a:xfrm>
          <a:prstGeom prst="rect">
            <a:avLst/>
          </a:prstGeom>
          <a:solidFill>
            <a:srgbClr val="E9B7D4"/>
          </a:solidFill>
          <a:ln w="19050">
            <a:solidFill>
              <a:srgbClr val="CC66CC"/>
            </a:solidFill>
            <a:prstDash val="solid"/>
          </a:ln>
        </p:spPr>
      </p:sp>
      <p:sp>
        <p:nvSpPr>
          <p:cNvPr id="87" name="Shape 22"/>
          <p:cNvSpPr/>
          <p:nvPr/>
        </p:nvSpPr>
        <p:spPr>
          <a:xfrm>
            <a:off x="5676900" y="5321300"/>
            <a:ext cx="1473200" cy="5715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8" name="Shape 23"/>
          <p:cNvSpPr/>
          <p:nvPr/>
        </p:nvSpPr>
        <p:spPr>
          <a:xfrm rot="5400000">
            <a:off x="5861050" y="5276850"/>
            <a:ext cx="139700" cy="15240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9" name="Shape 24"/>
          <p:cNvSpPr/>
          <p:nvPr/>
        </p:nvSpPr>
        <p:spPr>
          <a:xfrm>
            <a:off x="6108700" y="5441950"/>
            <a:ext cx="177800" cy="3175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90" name="Shape 25"/>
          <p:cNvSpPr/>
          <p:nvPr/>
        </p:nvSpPr>
        <p:spPr>
          <a:xfrm>
            <a:off x="6248400" y="5232400"/>
            <a:ext cx="25400" cy="24130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91" name="Shape 26"/>
          <p:cNvSpPr/>
          <p:nvPr/>
        </p:nvSpPr>
        <p:spPr>
          <a:xfrm>
            <a:off x="6273800" y="5232400"/>
            <a:ext cx="177800" cy="3175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92" name="Shape 27"/>
          <p:cNvSpPr/>
          <p:nvPr/>
        </p:nvSpPr>
        <p:spPr>
          <a:xfrm rot="5400000">
            <a:off x="7150100" y="5276850"/>
            <a:ext cx="146050" cy="15240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3" name="Text 28"/>
          <p:cNvSpPr/>
          <p:nvPr/>
        </p:nvSpPr>
        <p:spPr>
          <a:xfrm>
            <a:off x="7293610" y="514985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O/P</a:t>
            </a:r>
            <a:endParaRPr lang="en-US" sz="2000" dirty="0"/>
          </a:p>
        </p:txBody>
      </p:sp>
      <p:sp>
        <p:nvSpPr>
          <p:cNvPr id="94" name="Shape 29"/>
          <p:cNvSpPr/>
          <p:nvPr/>
        </p:nvSpPr>
        <p:spPr>
          <a:xfrm>
            <a:off x="7956550" y="5022850"/>
            <a:ext cx="2438400" cy="622300"/>
          </a:xfrm>
          <a:prstGeom prst="rect">
            <a:avLst/>
          </a:prstGeom>
          <a:solidFill>
            <a:srgbClr val="E3E5C9"/>
          </a:solidFill>
          <a:ln w="19050">
            <a:solidFill>
              <a:srgbClr val="A79E88"/>
            </a:solidFill>
            <a:prstDash val="solid"/>
          </a:ln>
        </p:spPr>
      </p:sp>
      <p:sp>
        <p:nvSpPr>
          <p:cNvPr id="95" name="Text 30"/>
          <p:cNvSpPr/>
          <p:nvPr/>
        </p:nvSpPr>
        <p:spPr>
          <a:xfrm>
            <a:off x="7956550" y="5041913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80" b="1" i="1" dirty="0">
                <a:solidFill>
                  <a:srgbClr val="6048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Binary Classification</a:t>
            </a:r>
            <a:endParaRPr lang="en-US" sz="1780" dirty="0"/>
          </a:p>
        </p:txBody>
      </p:sp>
      <p:sp>
        <p:nvSpPr>
          <p:cNvPr id="96" name="Text 31"/>
          <p:cNvSpPr/>
          <p:nvPr/>
        </p:nvSpPr>
        <p:spPr>
          <a:xfrm>
            <a:off x="7956550" y="5251463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80" b="1" i="1" dirty="0">
                <a:solidFill>
                  <a:srgbClr val="6048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 Classes)</a:t>
            </a:r>
            <a:endParaRPr lang="en-US" sz="1780" dirty="0"/>
          </a:p>
        </p:txBody>
      </p:sp>
      <p:sp>
        <p:nvSpPr>
          <p:cNvPr id="97" name="Shape 32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5050" y="45847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 of Single </a:t>
            </a:r>
            <a:pPr algn="ctr" indent="0" marL="0">
              <a:lnSpc>
                <a:spcPts val="3600"/>
              </a:lnSpc>
              <a:buNone/>
            </a:pPr>
            <a:r>
              <a:rPr lang="en-US" sz="303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lnSpc>
                <a:spcPts val="3600"/>
              </a:lnSpc>
              <a:buNone/>
            </a:pPr>
            <a:r>
              <a:rPr lang="en-US" sz="3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Perceptron</a:t>
            </a:r>
            <a:endParaRPr lang="en-US" sz="3030" dirty="0"/>
          </a:p>
        </p:txBody>
      </p:sp>
      <p:sp>
        <p:nvSpPr>
          <p:cNvPr id="7" name="Shape 5"/>
          <p:cNvSpPr/>
          <p:nvPr/>
        </p:nvSpPr>
        <p:spPr>
          <a:xfrm>
            <a:off x="1739900" y="4572000"/>
            <a:ext cx="2413000" cy="558800"/>
          </a:xfrm>
          <a:prstGeom prst="rect">
            <a:avLst/>
          </a:prstGeom>
          <a:solidFill>
            <a:srgbClr val="E0E0C8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78050" y="4592193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i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Multi-Class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78050" y="4833493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i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72100" y="1930400"/>
            <a:ext cx="6019800" cy="441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5715000" y="2374900"/>
            <a:ext cx="2705100" cy="126365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5715000" y="2374900"/>
            <a:ext cx="2705100" cy="153670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5715000" y="2374900"/>
            <a:ext cx="2705100" cy="181610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5715000" y="2374900"/>
            <a:ext cx="2705100" cy="214630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5715000" y="2374900"/>
            <a:ext cx="2705100" cy="242570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5715000" y="2374900"/>
            <a:ext cx="2705100" cy="268605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5715000" y="2374900"/>
            <a:ext cx="2705100" cy="295910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715000" y="3638550"/>
            <a:ext cx="2705100" cy="42545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715000" y="3911600"/>
            <a:ext cx="2705100" cy="1524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5715000" y="4064000"/>
            <a:ext cx="2705100" cy="1270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5715000" y="4064000"/>
            <a:ext cx="2705100" cy="4572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5715000" y="4064000"/>
            <a:ext cx="2705100" cy="7366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5715000" y="4064000"/>
            <a:ext cx="2705100" cy="99695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5715000" y="4064000"/>
            <a:ext cx="2705100" cy="12700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715000" y="3638550"/>
            <a:ext cx="2705100" cy="214630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715000" y="3911600"/>
            <a:ext cx="2705100" cy="187325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715000" y="4191000"/>
            <a:ext cx="2705100" cy="159385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715000" y="4521200"/>
            <a:ext cx="2705100" cy="126365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715000" y="4800600"/>
            <a:ext cx="2705100" cy="98425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715000" y="5060950"/>
            <a:ext cx="2705100" cy="72390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715000" y="5334000"/>
            <a:ext cx="2705100" cy="45085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426450" y="2152650"/>
            <a:ext cx="444500" cy="444500"/>
          </a:xfrm>
          <a:prstGeom prst="ellipse">
            <a:avLst/>
          </a:prstGeom>
          <a:solidFill>
            <a:srgbClr val="CCFFFF"/>
          </a:solidFill>
          <a:ln w="15875">
            <a:solidFill>
              <a:srgbClr val="3399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26450" y="21526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500" dirty="0"/>
          </a:p>
        </p:txBody>
      </p:sp>
      <p:sp>
        <p:nvSpPr>
          <p:cNvPr id="34" name="Shape 32"/>
          <p:cNvSpPr/>
          <p:nvPr/>
        </p:nvSpPr>
        <p:spPr>
          <a:xfrm>
            <a:off x="8426450" y="3841750"/>
            <a:ext cx="444500" cy="444500"/>
          </a:xfrm>
          <a:prstGeom prst="ellipse">
            <a:avLst/>
          </a:prstGeom>
          <a:solidFill>
            <a:srgbClr val="CCFFFF"/>
          </a:solidFill>
          <a:ln w="15875">
            <a:solidFill>
              <a:srgbClr val="3399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26450" y="38417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500" dirty="0"/>
          </a:p>
        </p:txBody>
      </p:sp>
      <p:sp>
        <p:nvSpPr>
          <p:cNvPr id="36" name="Shape 34"/>
          <p:cNvSpPr/>
          <p:nvPr/>
        </p:nvSpPr>
        <p:spPr>
          <a:xfrm>
            <a:off x="8426450" y="5562600"/>
            <a:ext cx="444500" cy="444500"/>
          </a:xfrm>
          <a:prstGeom prst="ellipse">
            <a:avLst/>
          </a:prstGeom>
          <a:solidFill>
            <a:srgbClr val="CCFFFF"/>
          </a:solidFill>
          <a:ln w="15875">
            <a:solidFill>
              <a:srgbClr val="3399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26450" y="556260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500" dirty="0"/>
          </a:p>
        </p:txBody>
      </p:sp>
      <p:sp>
        <p:nvSpPr>
          <p:cNvPr id="38" name="Shape 36"/>
          <p:cNvSpPr/>
          <p:nvPr/>
        </p:nvSpPr>
        <p:spPr>
          <a:xfrm>
            <a:off x="8556625" y="4441825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399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56625" y="4791075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3999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56625" y="5140325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399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1400" y="31502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96000" y="33915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08700" y="36455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21400" y="43059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08700" y="48266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26300" y="36709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46900" y="38106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35800" y="40900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035800" y="43313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40600" y="44837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40600" y="47758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188200" y="49663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88200" y="51568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099300" y="53473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251700" y="5563235"/>
            <a:ext cx="33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100"/>
              </a:lnSpc>
              <a:buNone/>
            </a:pPr>
            <a:r>
              <a:rPr lang="en-US" sz="900" i="1" baseline="-400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480050" y="3480278"/>
            <a:ext cx="25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500"/>
              </a:lnSpc>
              <a:buNone/>
            </a:pPr>
            <a:r>
              <a:rPr lang="en-US" sz="12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480050" y="3759678"/>
            <a:ext cx="25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500"/>
              </a:lnSpc>
              <a:buNone/>
            </a:pPr>
            <a:r>
              <a:rPr lang="en-US" sz="12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480050" y="4039078"/>
            <a:ext cx="25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500"/>
              </a:lnSpc>
              <a:buNone/>
            </a:pPr>
            <a:r>
              <a:rPr lang="en-US" sz="12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480050" y="4343878"/>
            <a:ext cx="25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480050" y="4623278"/>
            <a:ext cx="25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480050" y="4902678"/>
            <a:ext cx="25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500"/>
              </a:lnSpc>
              <a:buNone/>
            </a:pPr>
            <a:r>
              <a:rPr lang="en-US" sz="12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480050" y="5171785"/>
            <a:ext cx="25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8877300" y="2374900"/>
            <a:ext cx="2667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9156700" y="2178050"/>
            <a:ext cx="584200" cy="393700"/>
          </a:xfrm>
          <a:prstGeom prst="rect">
            <a:avLst/>
          </a:prstGeom>
          <a:solidFill>
            <a:srgbClr val="F8E0F8"/>
          </a:solidFill>
          <a:ln w="12700">
            <a:solidFill>
              <a:srgbClr val="99336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448800" y="2324100"/>
            <a:ext cx="31750" cy="1397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448800" y="2266950"/>
            <a:ext cx="203200" cy="381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296400" y="2470150"/>
            <a:ext cx="190500" cy="381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753600" y="2387600"/>
            <a:ext cx="342900" cy="12065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10210800" y="223062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&gt;0 Class I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 Not Class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877300" y="4064000"/>
            <a:ext cx="2667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9156700" y="3867150"/>
            <a:ext cx="584200" cy="393700"/>
          </a:xfrm>
          <a:prstGeom prst="rect">
            <a:avLst/>
          </a:prstGeom>
          <a:solidFill>
            <a:srgbClr val="F8E0F8"/>
          </a:solidFill>
          <a:ln w="12700">
            <a:solidFill>
              <a:srgbClr val="99336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448800" y="4013200"/>
            <a:ext cx="31750" cy="1397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448800" y="3956050"/>
            <a:ext cx="203200" cy="381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296400" y="4159250"/>
            <a:ext cx="190500" cy="381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753600" y="4076700"/>
            <a:ext cx="342900" cy="12065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76" name="Text 74"/>
          <p:cNvSpPr/>
          <p:nvPr/>
        </p:nvSpPr>
        <p:spPr>
          <a:xfrm>
            <a:off x="10210800" y="388162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&gt;0 Class II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 Not Class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8877300" y="5784850"/>
            <a:ext cx="2667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9156700" y="5588000"/>
            <a:ext cx="584200" cy="393700"/>
          </a:xfrm>
          <a:prstGeom prst="rect">
            <a:avLst/>
          </a:prstGeom>
          <a:solidFill>
            <a:srgbClr val="F8E0F8"/>
          </a:solidFill>
          <a:ln w="12700">
            <a:solidFill>
              <a:srgbClr val="99336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448800" y="5734050"/>
            <a:ext cx="31750" cy="1397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448800" y="5676900"/>
            <a:ext cx="203200" cy="381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296400" y="5880100"/>
            <a:ext cx="190500" cy="381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753600" y="5797550"/>
            <a:ext cx="342900" cy="12065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83" name="Text 81"/>
          <p:cNvSpPr/>
          <p:nvPr/>
        </p:nvSpPr>
        <p:spPr>
          <a:xfrm>
            <a:off x="10210800" y="562152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&gt;0 Class m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 Not Class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660400" y="1257300"/>
            <a:ext cx="5346700" cy="1765300"/>
          </a:xfrm>
          <a:prstGeom prst="rect">
            <a:avLst/>
          </a:prstGeom>
          <a:solidFill>
            <a:srgbClr val="FFF8EC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85" name="Image 0" descr="/home/ahmed/Projects/ai_llm_slides/videos/deep-learning/001_introduction/recreated_pptx/build/assets/eq_F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1425196"/>
            <a:ext cx="277365" cy="181353"/>
          </a:xfrm>
          <a:prstGeom prst="rect">
            <a:avLst/>
          </a:prstGeom>
        </p:spPr>
      </p:pic>
      <p:pic>
        <p:nvPicPr>
          <p:cNvPr id="86" name="Image 1" descr="/home/ahmed/Projects/ai_llm_slides/videos/deep-learning/001_introduction/recreated_pptx/build/assets/eq_F2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065" y="1431292"/>
            <a:ext cx="172209" cy="149349"/>
          </a:xfrm>
          <a:prstGeom prst="rect">
            <a:avLst/>
          </a:prstGeom>
        </p:spPr>
      </p:pic>
      <p:pic>
        <p:nvPicPr>
          <p:cNvPr id="87" name="Image 2" descr="/home/ahmed/Projects/ai_llm_slides/videos/deep-learning/001_introduction/recreated_pptx/build/assets/eq_F3_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374" y="1388618"/>
            <a:ext cx="3566160" cy="260604"/>
          </a:xfrm>
          <a:prstGeom prst="rect">
            <a:avLst/>
          </a:prstGeom>
        </p:spPr>
      </p:pic>
      <p:pic>
        <p:nvPicPr>
          <p:cNvPr id="88" name="Image 3" descr="/home/ahmed/Projects/ai_llm_slides/videos/deep-learning/001_introduction/recreated_pptx/build/assets/eq_F4_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34" y="1425196"/>
            <a:ext cx="457200" cy="181353"/>
          </a:xfrm>
          <a:prstGeom prst="rect">
            <a:avLst/>
          </a:prstGeom>
        </p:spPr>
      </p:pic>
      <p:pic>
        <p:nvPicPr>
          <p:cNvPr id="89" name="Image 4" descr="/home/ahmed/Projects/ai_llm_slides/videos/deep-learning/001_introduction/recreated_pptx/build/assets/eq_F1_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2034796"/>
            <a:ext cx="277365" cy="181353"/>
          </a:xfrm>
          <a:prstGeom prst="rect">
            <a:avLst/>
          </a:prstGeom>
        </p:spPr>
      </p:pic>
      <p:pic>
        <p:nvPicPr>
          <p:cNvPr id="90" name="Image 5" descr="/home/ahmed/Projects/ai_llm_slides/videos/deep-learning/001_introduction/recreated_pptx/build/assets/eq_F2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6065" y="2040892"/>
            <a:ext cx="172209" cy="149349"/>
          </a:xfrm>
          <a:prstGeom prst="rect">
            <a:avLst/>
          </a:prstGeom>
        </p:spPr>
      </p:pic>
      <p:pic>
        <p:nvPicPr>
          <p:cNvPr id="91" name="Image 6" descr="/home/ahmed/Projects/ai_llm_slides/videos/deep-learning/001_introduction/recreated_pptx/build/assets/eq_F3_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6374" y="1998218"/>
            <a:ext cx="3566160" cy="260604"/>
          </a:xfrm>
          <a:prstGeom prst="rect">
            <a:avLst/>
          </a:prstGeom>
        </p:spPr>
      </p:pic>
      <p:pic>
        <p:nvPicPr>
          <p:cNvPr id="92" name="Image 7" descr="/home/ahmed/Projects/ai_llm_slides/videos/deep-learning/001_introduction/recreated_pptx/build/assets/eq_F4_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34" y="2034796"/>
            <a:ext cx="457200" cy="181353"/>
          </a:xfrm>
          <a:prstGeom prst="rect">
            <a:avLst/>
          </a:prstGeom>
        </p:spPr>
      </p:pic>
      <p:pic>
        <p:nvPicPr>
          <p:cNvPr id="93" name="Image 8" descr="/home/ahmed/Projects/ai_llm_slides/videos/deep-learning/001_introduction/recreated_pptx/build/assets/eq_F1_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2644396"/>
            <a:ext cx="318513" cy="181353"/>
          </a:xfrm>
          <a:prstGeom prst="rect">
            <a:avLst/>
          </a:prstGeom>
        </p:spPr>
      </p:pic>
      <p:pic>
        <p:nvPicPr>
          <p:cNvPr id="94" name="Image 9" descr="/home/ahmed/Projects/ai_llm_slides/videos/deep-learning/001_introduction/recreated_pptx/build/assets/eq_F2_m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7213" y="2650492"/>
            <a:ext cx="172209" cy="149349"/>
          </a:xfrm>
          <a:prstGeom prst="rect">
            <a:avLst/>
          </a:prstGeom>
        </p:spPr>
      </p:pic>
      <p:pic>
        <p:nvPicPr>
          <p:cNvPr id="95" name="Image 10" descr="/home/ahmed/Projects/ai_llm_slides/videos/deep-learning/001_introduction/recreated_pptx/build/assets/eq_F3_m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57522" y="2607818"/>
            <a:ext cx="3730752" cy="260604"/>
          </a:xfrm>
          <a:prstGeom prst="rect">
            <a:avLst/>
          </a:prstGeom>
        </p:spPr>
      </p:pic>
      <p:pic>
        <p:nvPicPr>
          <p:cNvPr id="96" name="Image 11" descr="/home/ahmed/Projects/ai_llm_slides/videos/deep-learning/001_introduction/recreated_pptx/build/assets/eq_F4_m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26374" y="2644396"/>
            <a:ext cx="496821" cy="18135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692900"/>
            <a:ext cx="11214100" cy="1333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2095500"/>
            <a:ext cx="9169400" cy="3213100"/>
          </a:xfrm>
          <a:prstGeom prst="rect">
            <a:avLst/>
          </a:prstGeom>
          <a:solidFill>
            <a:srgbClr val="DAD0C4"/>
          </a:solidFill>
          <a:ln w="12700">
            <a:solidFill>
              <a:srgbClr val="DAD0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1850" y="723900"/>
            <a:ext cx="812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Model</a:t>
            </a:r>
            <a:endParaRPr lang="en-US" sz="3050" dirty="0"/>
          </a:p>
        </p:txBody>
      </p:sp>
      <p:sp>
        <p:nvSpPr>
          <p:cNvPr id="8" name="Shape 6"/>
          <p:cNvSpPr/>
          <p:nvPr/>
        </p:nvSpPr>
        <p:spPr>
          <a:xfrm>
            <a:off x="1778000" y="1790700"/>
            <a:ext cx="8636000" cy="0"/>
          </a:xfrm>
          <a:prstGeom prst="line">
            <a:avLst/>
          </a:prstGeom>
          <a:noFill/>
          <a:ln w="15875">
            <a:solidFill>
              <a:srgbClr val="990099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rot="16200000">
            <a:off x="1536700" y="1651000"/>
            <a:ext cx="203200" cy="279400"/>
          </a:xfrm>
          <a:prstGeom prst="triangle">
            <a:avLst/>
          </a:prstGeom>
          <a:solidFill>
            <a:srgbClr val="990099"/>
          </a:solidFill>
          <a:ln w="12700">
            <a:solidFill>
              <a:srgbClr val="9900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800" y="1612900"/>
            <a:ext cx="965200" cy="355600"/>
          </a:xfrm>
          <a:prstGeom prst="rect">
            <a:avLst/>
          </a:prstGeom>
          <a:solidFill>
            <a:srgbClr val="FF99FF"/>
          </a:solidFill>
          <a:ln w="9525">
            <a:solidFill>
              <a:srgbClr val="993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1612900"/>
            <a:ext cx="96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14000" y="1587500"/>
            <a:ext cx="863600" cy="368300"/>
          </a:xfrm>
          <a:prstGeom prst="rect">
            <a:avLst/>
          </a:prstGeom>
          <a:solidFill>
            <a:srgbClr val="FF99FF"/>
          </a:solidFill>
          <a:ln w="9525">
            <a:solidFill>
              <a:srgbClr val="9933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14000" y="1587500"/>
            <a:ext cx="8636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33450" y="3168650"/>
            <a:ext cx="114300" cy="114300"/>
          </a:xfrm>
          <a:prstGeom prst="ellipse">
            <a:avLst/>
          </a:prstGeom>
          <a:solidFill>
            <a:srgbClr val="CC00CC"/>
          </a:solidFill>
          <a:ln w="12700">
            <a:solidFill>
              <a:srgbClr val="CC00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066800" y="2686050"/>
            <a:ext cx="685800" cy="5397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6800" y="3225800"/>
            <a:ext cx="685800" cy="4000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6800" y="3225800"/>
            <a:ext cx="685800" cy="14287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3450" y="3467100"/>
            <a:ext cx="114300" cy="114300"/>
          </a:xfrm>
          <a:prstGeom prst="ellipse">
            <a:avLst/>
          </a:prstGeom>
          <a:solidFill>
            <a:srgbClr val="CC00CC"/>
          </a:solidFill>
          <a:ln w="12700">
            <a:solidFill>
              <a:srgbClr val="CC00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066800" y="2686050"/>
            <a:ext cx="685800" cy="8382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6800" y="3524250"/>
            <a:ext cx="685800" cy="1016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6800" y="3524250"/>
            <a:ext cx="685800" cy="11303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3450" y="3759200"/>
            <a:ext cx="114300" cy="114300"/>
          </a:xfrm>
          <a:prstGeom prst="ellipse">
            <a:avLst/>
          </a:prstGeom>
          <a:solidFill>
            <a:srgbClr val="CC00CC"/>
          </a:solidFill>
          <a:ln w="12700">
            <a:solidFill>
              <a:srgbClr val="CC00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066800" y="2686050"/>
            <a:ext cx="685800" cy="11303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066800" y="3625850"/>
            <a:ext cx="685800" cy="1905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6800" y="3816350"/>
            <a:ext cx="685800" cy="8382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3450" y="4051300"/>
            <a:ext cx="114300" cy="114300"/>
          </a:xfrm>
          <a:prstGeom prst="ellipse">
            <a:avLst/>
          </a:prstGeom>
          <a:solidFill>
            <a:srgbClr val="CC00CC"/>
          </a:solidFill>
          <a:ln w="12700">
            <a:solidFill>
              <a:srgbClr val="CC00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066800" y="2686050"/>
            <a:ext cx="685800" cy="14224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066800" y="3625850"/>
            <a:ext cx="685800" cy="4826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6800" y="4108450"/>
            <a:ext cx="685800" cy="5461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32050" y="26289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22550" y="26289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13050" y="26289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91450" y="26289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2E2A2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81950" y="26289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2E2A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72450" y="26289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2E2A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32050" y="35687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22550" y="35687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13050" y="35687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91450" y="35687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2E2A2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81950" y="35687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2E2A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72450" y="35687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2E2A2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32050" y="45974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22550" y="45974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813050" y="45974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91450" y="45974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2E2A2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81950" y="45974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2E2A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72450" y="45974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2E2A2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87750" y="2686050"/>
            <a:ext cx="15494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564397" y="2795188"/>
            <a:ext cx="1597218" cy="716328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515434" y="2868653"/>
            <a:ext cx="1697476" cy="1594599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3564397" y="2800385"/>
            <a:ext cx="1597218" cy="716328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3587750" y="3625850"/>
            <a:ext cx="15494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3560458" y="3743378"/>
            <a:ext cx="1605284" cy="788048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3515434" y="2877348"/>
            <a:ext cx="1697476" cy="1594599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V="1">
            <a:off x="3560458" y="3748974"/>
            <a:ext cx="1605284" cy="788048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3587750" y="4654550"/>
            <a:ext cx="15494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3543300" y="2635250"/>
            <a:ext cx="88900" cy="10160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43300" y="3575050"/>
            <a:ext cx="88900" cy="10160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43300" y="4603750"/>
            <a:ext cx="88900" cy="10160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83250" y="2686050"/>
            <a:ext cx="15303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5659523" y="2796019"/>
            <a:ext cx="1578935" cy="714625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5610099" y="2869537"/>
            <a:ext cx="1680135" cy="1592788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 flipV="1">
            <a:off x="5659523" y="2801256"/>
            <a:ext cx="1578935" cy="714625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5683250" y="3625850"/>
            <a:ext cx="15303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5655531" y="3744244"/>
            <a:ext cx="1587109" cy="786274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 flipV="1">
            <a:off x="5610099" y="2878275"/>
            <a:ext cx="1680135" cy="1592788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 flipV="1">
            <a:off x="5655531" y="3749882"/>
            <a:ext cx="1587109" cy="786274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5683250" y="4654550"/>
            <a:ext cx="15303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5638800" y="2635250"/>
            <a:ext cx="88900" cy="10160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638800" y="3575050"/>
            <a:ext cx="88900" cy="10160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638800" y="4603750"/>
            <a:ext cx="88900" cy="10160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778000" y="2432050"/>
            <a:ext cx="508000" cy="508000"/>
          </a:xfrm>
          <a:prstGeom prst="ellipse">
            <a:avLst/>
          </a:prstGeom>
          <a:solidFill>
            <a:srgbClr val="EDEDEB"/>
          </a:solidFill>
          <a:ln w="12700">
            <a:solidFill>
              <a:srgbClr val="A08C7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032000" y="24320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790700" y="25717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75" name="Image 0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050" y="2597658"/>
            <a:ext cx="138684" cy="176784"/>
          </a:xfrm>
          <a:prstGeom prst="rect">
            <a:avLst/>
          </a:prstGeom>
        </p:spPr>
      </p:pic>
      <p:sp>
        <p:nvSpPr>
          <p:cNvPr id="76" name="Shape 73"/>
          <p:cNvSpPr/>
          <p:nvPr/>
        </p:nvSpPr>
        <p:spPr>
          <a:xfrm>
            <a:off x="1778000" y="3371850"/>
            <a:ext cx="508000" cy="508000"/>
          </a:xfrm>
          <a:prstGeom prst="ellipse">
            <a:avLst/>
          </a:prstGeom>
          <a:solidFill>
            <a:srgbClr val="EDEDEB"/>
          </a:solidFill>
          <a:ln w="12700">
            <a:solidFill>
              <a:srgbClr val="A08C74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032000" y="33718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1790700" y="3511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79" name="Image 1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50" y="3537458"/>
            <a:ext cx="138684" cy="176784"/>
          </a:xfrm>
          <a:prstGeom prst="rect">
            <a:avLst/>
          </a:prstGeom>
        </p:spPr>
      </p:pic>
      <p:sp>
        <p:nvSpPr>
          <p:cNvPr id="80" name="Shape 76"/>
          <p:cNvSpPr/>
          <p:nvPr/>
        </p:nvSpPr>
        <p:spPr>
          <a:xfrm>
            <a:off x="1778000" y="4400550"/>
            <a:ext cx="508000" cy="508000"/>
          </a:xfrm>
          <a:prstGeom prst="ellipse">
            <a:avLst/>
          </a:prstGeom>
          <a:solidFill>
            <a:srgbClr val="EDEDEB"/>
          </a:solidFill>
          <a:ln w="12700">
            <a:solidFill>
              <a:srgbClr val="A08C74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2032000" y="44005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1790700" y="4540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83" name="Image 2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050" y="4566158"/>
            <a:ext cx="138684" cy="176784"/>
          </a:xfrm>
          <a:prstGeom prst="rect">
            <a:avLst/>
          </a:prstGeom>
        </p:spPr>
      </p:pic>
      <p:sp>
        <p:nvSpPr>
          <p:cNvPr id="84" name="Shape 79"/>
          <p:cNvSpPr/>
          <p:nvPr/>
        </p:nvSpPr>
        <p:spPr>
          <a:xfrm>
            <a:off x="3067050" y="2432050"/>
            <a:ext cx="508000" cy="508000"/>
          </a:xfrm>
          <a:prstGeom prst="ellipse">
            <a:avLst/>
          </a:prstGeom>
          <a:solidFill>
            <a:srgbClr val="DCE9F5"/>
          </a:solidFill>
          <a:ln w="12700">
            <a:solidFill>
              <a:srgbClr val="7780AA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3321050" y="24320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86" name="Text 81"/>
          <p:cNvSpPr/>
          <p:nvPr/>
        </p:nvSpPr>
        <p:spPr>
          <a:xfrm>
            <a:off x="3079750" y="25717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87" name="Image 3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100" y="2597658"/>
            <a:ext cx="138684" cy="176784"/>
          </a:xfrm>
          <a:prstGeom prst="rect">
            <a:avLst/>
          </a:prstGeom>
        </p:spPr>
      </p:pic>
      <p:sp>
        <p:nvSpPr>
          <p:cNvPr id="88" name="Shape 82"/>
          <p:cNvSpPr/>
          <p:nvPr/>
        </p:nvSpPr>
        <p:spPr>
          <a:xfrm>
            <a:off x="3067050" y="3371850"/>
            <a:ext cx="508000" cy="508000"/>
          </a:xfrm>
          <a:prstGeom prst="ellipse">
            <a:avLst/>
          </a:prstGeom>
          <a:solidFill>
            <a:srgbClr val="DCE9F5"/>
          </a:solidFill>
          <a:ln w="12700">
            <a:solidFill>
              <a:srgbClr val="7780AA"/>
            </a:solidFill>
            <a:prstDash val="solid"/>
          </a:ln>
        </p:spPr>
      </p:sp>
      <p:sp>
        <p:nvSpPr>
          <p:cNvPr id="89" name="Shape 83"/>
          <p:cNvSpPr/>
          <p:nvPr/>
        </p:nvSpPr>
        <p:spPr>
          <a:xfrm>
            <a:off x="3321050" y="33718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90" name="Text 84"/>
          <p:cNvSpPr/>
          <p:nvPr/>
        </p:nvSpPr>
        <p:spPr>
          <a:xfrm>
            <a:off x="3079750" y="3511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91" name="Image 4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0100" y="3537458"/>
            <a:ext cx="138684" cy="176784"/>
          </a:xfrm>
          <a:prstGeom prst="rect">
            <a:avLst/>
          </a:prstGeom>
        </p:spPr>
      </p:pic>
      <p:sp>
        <p:nvSpPr>
          <p:cNvPr id="92" name="Shape 85"/>
          <p:cNvSpPr/>
          <p:nvPr/>
        </p:nvSpPr>
        <p:spPr>
          <a:xfrm>
            <a:off x="3067050" y="4400550"/>
            <a:ext cx="508000" cy="508000"/>
          </a:xfrm>
          <a:prstGeom prst="ellipse">
            <a:avLst/>
          </a:prstGeom>
          <a:solidFill>
            <a:srgbClr val="DCE9F5"/>
          </a:solidFill>
          <a:ln w="12700">
            <a:solidFill>
              <a:srgbClr val="7780AA"/>
            </a:solidFill>
            <a:prstDash val="solid"/>
          </a:ln>
        </p:spPr>
      </p:sp>
      <p:sp>
        <p:nvSpPr>
          <p:cNvPr id="93" name="Shape 86"/>
          <p:cNvSpPr/>
          <p:nvPr/>
        </p:nvSpPr>
        <p:spPr>
          <a:xfrm>
            <a:off x="3321050" y="44005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94" name="Text 87"/>
          <p:cNvSpPr/>
          <p:nvPr/>
        </p:nvSpPr>
        <p:spPr>
          <a:xfrm>
            <a:off x="3079750" y="4540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95" name="Image 5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0100" y="4566158"/>
            <a:ext cx="138684" cy="176784"/>
          </a:xfrm>
          <a:prstGeom prst="rect">
            <a:avLst/>
          </a:prstGeom>
        </p:spPr>
      </p:pic>
      <p:sp>
        <p:nvSpPr>
          <p:cNvPr id="96" name="Shape 88"/>
          <p:cNvSpPr/>
          <p:nvPr/>
        </p:nvSpPr>
        <p:spPr>
          <a:xfrm>
            <a:off x="5162550" y="2432050"/>
            <a:ext cx="508000" cy="508000"/>
          </a:xfrm>
          <a:prstGeom prst="ellipse">
            <a:avLst/>
          </a:prstGeom>
          <a:solidFill>
            <a:srgbClr val="DCFFB5"/>
          </a:solidFill>
          <a:ln w="12700">
            <a:solidFill>
              <a:srgbClr val="6B9944"/>
            </a:solidFill>
            <a:prstDash val="solid"/>
          </a:ln>
        </p:spPr>
      </p:sp>
      <p:sp>
        <p:nvSpPr>
          <p:cNvPr id="97" name="Shape 89"/>
          <p:cNvSpPr/>
          <p:nvPr/>
        </p:nvSpPr>
        <p:spPr>
          <a:xfrm>
            <a:off x="5416550" y="24320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98" name="Text 90"/>
          <p:cNvSpPr/>
          <p:nvPr/>
        </p:nvSpPr>
        <p:spPr>
          <a:xfrm>
            <a:off x="5175250" y="25717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99" name="Image 6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5600" y="2597658"/>
            <a:ext cx="138684" cy="176784"/>
          </a:xfrm>
          <a:prstGeom prst="rect">
            <a:avLst/>
          </a:prstGeom>
        </p:spPr>
      </p:pic>
      <p:sp>
        <p:nvSpPr>
          <p:cNvPr id="100" name="Shape 91"/>
          <p:cNvSpPr/>
          <p:nvPr/>
        </p:nvSpPr>
        <p:spPr>
          <a:xfrm>
            <a:off x="5162550" y="3371850"/>
            <a:ext cx="508000" cy="508000"/>
          </a:xfrm>
          <a:prstGeom prst="ellipse">
            <a:avLst/>
          </a:prstGeom>
          <a:solidFill>
            <a:srgbClr val="DCFFB5"/>
          </a:solidFill>
          <a:ln w="12700">
            <a:solidFill>
              <a:srgbClr val="6B9944"/>
            </a:solidFill>
            <a:prstDash val="solid"/>
          </a:ln>
        </p:spPr>
      </p:sp>
      <p:sp>
        <p:nvSpPr>
          <p:cNvPr id="101" name="Shape 92"/>
          <p:cNvSpPr/>
          <p:nvPr/>
        </p:nvSpPr>
        <p:spPr>
          <a:xfrm>
            <a:off x="5416550" y="33718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02" name="Text 93"/>
          <p:cNvSpPr/>
          <p:nvPr/>
        </p:nvSpPr>
        <p:spPr>
          <a:xfrm>
            <a:off x="5175250" y="3511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103" name="Image 7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5600" y="3537458"/>
            <a:ext cx="138684" cy="176784"/>
          </a:xfrm>
          <a:prstGeom prst="rect">
            <a:avLst/>
          </a:prstGeom>
        </p:spPr>
      </p:pic>
      <p:sp>
        <p:nvSpPr>
          <p:cNvPr id="104" name="Shape 94"/>
          <p:cNvSpPr/>
          <p:nvPr/>
        </p:nvSpPr>
        <p:spPr>
          <a:xfrm>
            <a:off x="5162550" y="4400550"/>
            <a:ext cx="508000" cy="508000"/>
          </a:xfrm>
          <a:prstGeom prst="ellipse">
            <a:avLst/>
          </a:prstGeom>
          <a:solidFill>
            <a:srgbClr val="DCFFB5"/>
          </a:solidFill>
          <a:ln w="12700">
            <a:solidFill>
              <a:srgbClr val="6B9944"/>
            </a:solidFill>
            <a:prstDash val="solid"/>
          </a:ln>
        </p:spPr>
      </p:sp>
      <p:sp>
        <p:nvSpPr>
          <p:cNvPr id="105" name="Shape 95"/>
          <p:cNvSpPr/>
          <p:nvPr/>
        </p:nvSpPr>
        <p:spPr>
          <a:xfrm>
            <a:off x="5416550" y="44005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06" name="Text 96"/>
          <p:cNvSpPr/>
          <p:nvPr/>
        </p:nvSpPr>
        <p:spPr>
          <a:xfrm>
            <a:off x="5175250" y="4540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107" name="Image 8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5600" y="4566158"/>
            <a:ext cx="138684" cy="176784"/>
          </a:xfrm>
          <a:prstGeom prst="rect">
            <a:avLst/>
          </a:prstGeom>
        </p:spPr>
      </p:pic>
      <p:sp>
        <p:nvSpPr>
          <p:cNvPr id="108" name="Shape 97"/>
          <p:cNvSpPr/>
          <p:nvPr/>
        </p:nvSpPr>
        <p:spPr>
          <a:xfrm>
            <a:off x="7239000" y="2432050"/>
            <a:ext cx="508000" cy="508000"/>
          </a:xfrm>
          <a:prstGeom prst="ellipse">
            <a:avLst/>
          </a:prstGeom>
          <a:solidFill>
            <a:srgbClr val="F7C99B"/>
          </a:solidFill>
          <a:ln w="12700">
            <a:solidFill>
              <a:srgbClr val="C08850"/>
            </a:solidFill>
            <a:prstDash val="solid"/>
          </a:ln>
        </p:spPr>
      </p:sp>
      <p:sp>
        <p:nvSpPr>
          <p:cNvPr id="109" name="Shape 98"/>
          <p:cNvSpPr/>
          <p:nvPr/>
        </p:nvSpPr>
        <p:spPr>
          <a:xfrm>
            <a:off x="7493000" y="24320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10" name="Text 99"/>
          <p:cNvSpPr/>
          <p:nvPr/>
        </p:nvSpPr>
        <p:spPr>
          <a:xfrm>
            <a:off x="7251700" y="25717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111" name="Image 9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2050" y="2597658"/>
            <a:ext cx="138684" cy="176784"/>
          </a:xfrm>
          <a:prstGeom prst="rect">
            <a:avLst/>
          </a:prstGeom>
        </p:spPr>
      </p:pic>
      <p:sp>
        <p:nvSpPr>
          <p:cNvPr id="112" name="Shape 100"/>
          <p:cNvSpPr/>
          <p:nvPr/>
        </p:nvSpPr>
        <p:spPr>
          <a:xfrm>
            <a:off x="7239000" y="3371850"/>
            <a:ext cx="508000" cy="508000"/>
          </a:xfrm>
          <a:prstGeom prst="ellipse">
            <a:avLst/>
          </a:prstGeom>
          <a:solidFill>
            <a:srgbClr val="F7C99B"/>
          </a:solidFill>
          <a:ln w="12700">
            <a:solidFill>
              <a:srgbClr val="C08850"/>
            </a:solidFill>
            <a:prstDash val="solid"/>
          </a:ln>
        </p:spPr>
      </p:sp>
      <p:sp>
        <p:nvSpPr>
          <p:cNvPr id="113" name="Shape 101"/>
          <p:cNvSpPr/>
          <p:nvPr/>
        </p:nvSpPr>
        <p:spPr>
          <a:xfrm>
            <a:off x="7493000" y="33718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14" name="Text 102"/>
          <p:cNvSpPr/>
          <p:nvPr/>
        </p:nvSpPr>
        <p:spPr>
          <a:xfrm>
            <a:off x="7251700" y="3511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115" name="Image 10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2050" y="3537458"/>
            <a:ext cx="138684" cy="176784"/>
          </a:xfrm>
          <a:prstGeom prst="rect">
            <a:avLst/>
          </a:prstGeom>
        </p:spPr>
      </p:pic>
      <p:sp>
        <p:nvSpPr>
          <p:cNvPr id="116" name="Shape 103"/>
          <p:cNvSpPr/>
          <p:nvPr/>
        </p:nvSpPr>
        <p:spPr>
          <a:xfrm>
            <a:off x="7239000" y="4400550"/>
            <a:ext cx="508000" cy="508000"/>
          </a:xfrm>
          <a:prstGeom prst="ellipse">
            <a:avLst/>
          </a:prstGeom>
          <a:solidFill>
            <a:srgbClr val="F7C99B"/>
          </a:solidFill>
          <a:ln w="12700">
            <a:solidFill>
              <a:srgbClr val="C08850"/>
            </a:solidFill>
            <a:prstDash val="solid"/>
          </a:ln>
        </p:spPr>
      </p:sp>
      <p:sp>
        <p:nvSpPr>
          <p:cNvPr id="117" name="Shape 104"/>
          <p:cNvSpPr/>
          <p:nvPr/>
        </p:nvSpPr>
        <p:spPr>
          <a:xfrm>
            <a:off x="7493000" y="44005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18" name="Text 105"/>
          <p:cNvSpPr/>
          <p:nvPr/>
        </p:nvSpPr>
        <p:spPr>
          <a:xfrm>
            <a:off x="7251700" y="4540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119" name="Image 11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12050" y="4566158"/>
            <a:ext cx="138684" cy="176784"/>
          </a:xfrm>
          <a:prstGeom prst="rect">
            <a:avLst/>
          </a:prstGeom>
        </p:spPr>
      </p:pic>
      <p:sp>
        <p:nvSpPr>
          <p:cNvPr id="120" name="Shape 106"/>
          <p:cNvSpPr/>
          <p:nvPr/>
        </p:nvSpPr>
        <p:spPr>
          <a:xfrm>
            <a:off x="8337550" y="2432050"/>
            <a:ext cx="508000" cy="508000"/>
          </a:xfrm>
          <a:prstGeom prst="ellipse">
            <a:avLst/>
          </a:prstGeom>
          <a:solidFill>
            <a:srgbClr val="EDEDEB"/>
          </a:solidFill>
          <a:ln w="12700">
            <a:solidFill>
              <a:srgbClr val="A08C74"/>
            </a:solidFill>
            <a:prstDash val="solid"/>
          </a:ln>
        </p:spPr>
      </p:sp>
      <p:sp>
        <p:nvSpPr>
          <p:cNvPr id="121" name="Shape 107"/>
          <p:cNvSpPr/>
          <p:nvPr/>
        </p:nvSpPr>
        <p:spPr>
          <a:xfrm>
            <a:off x="8591550" y="24320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22" name="Text 108"/>
          <p:cNvSpPr/>
          <p:nvPr/>
        </p:nvSpPr>
        <p:spPr>
          <a:xfrm>
            <a:off x="8350250" y="25717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123" name="Image 12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10600" y="2597658"/>
            <a:ext cx="138684" cy="176784"/>
          </a:xfrm>
          <a:prstGeom prst="rect">
            <a:avLst/>
          </a:prstGeom>
        </p:spPr>
      </p:pic>
      <p:sp>
        <p:nvSpPr>
          <p:cNvPr id="124" name="Shape 109"/>
          <p:cNvSpPr/>
          <p:nvPr/>
        </p:nvSpPr>
        <p:spPr>
          <a:xfrm>
            <a:off x="8337550" y="3371850"/>
            <a:ext cx="508000" cy="508000"/>
          </a:xfrm>
          <a:prstGeom prst="ellipse">
            <a:avLst/>
          </a:prstGeom>
          <a:solidFill>
            <a:srgbClr val="EDEDEB"/>
          </a:solidFill>
          <a:ln w="12700">
            <a:solidFill>
              <a:srgbClr val="A08C74"/>
            </a:solidFill>
            <a:prstDash val="solid"/>
          </a:ln>
        </p:spPr>
      </p:sp>
      <p:sp>
        <p:nvSpPr>
          <p:cNvPr id="125" name="Shape 110"/>
          <p:cNvSpPr/>
          <p:nvPr/>
        </p:nvSpPr>
        <p:spPr>
          <a:xfrm>
            <a:off x="8591550" y="33718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26" name="Text 111"/>
          <p:cNvSpPr/>
          <p:nvPr/>
        </p:nvSpPr>
        <p:spPr>
          <a:xfrm>
            <a:off x="8350250" y="3511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127" name="Image 13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10600" y="3537458"/>
            <a:ext cx="138684" cy="176784"/>
          </a:xfrm>
          <a:prstGeom prst="rect">
            <a:avLst/>
          </a:prstGeom>
        </p:spPr>
      </p:pic>
      <p:sp>
        <p:nvSpPr>
          <p:cNvPr id="128" name="Shape 112"/>
          <p:cNvSpPr/>
          <p:nvPr/>
        </p:nvSpPr>
        <p:spPr>
          <a:xfrm>
            <a:off x="8337550" y="4400550"/>
            <a:ext cx="508000" cy="508000"/>
          </a:xfrm>
          <a:prstGeom prst="ellipse">
            <a:avLst/>
          </a:prstGeom>
          <a:solidFill>
            <a:srgbClr val="EDEDEB"/>
          </a:solidFill>
          <a:ln w="12700">
            <a:solidFill>
              <a:srgbClr val="A08C74"/>
            </a:solidFill>
            <a:prstDash val="solid"/>
          </a:ln>
        </p:spPr>
      </p:sp>
      <p:sp>
        <p:nvSpPr>
          <p:cNvPr id="129" name="Shape 113"/>
          <p:cNvSpPr/>
          <p:nvPr/>
        </p:nvSpPr>
        <p:spPr>
          <a:xfrm>
            <a:off x="8591550" y="44005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30" name="Text 114"/>
          <p:cNvSpPr/>
          <p:nvPr/>
        </p:nvSpPr>
        <p:spPr>
          <a:xfrm>
            <a:off x="8350250" y="4540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131" name="Image 14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10600" y="4566158"/>
            <a:ext cx="138684" cy="176784"/>
          </a:xfrm>
          <a:prstGeom prst="rect">
            <a:avLst/>
          </a:prstGeom>
        </p:spPr>
      </p:pic>
      <p:sp>
        <p:nvSpPr>
          <p:cNvPr id="132" name="Shape 115"/>
          <p:cNvSpPr/>
          <p:nvPr/>
        </p:nvSpPr>
        <p:spPr>
          <a:xfrm>
            <a:off x="2971800" y="2374900"/>
            <a:ext cx="190500" cy="101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33" name="Text 116"/>
          <p:cNvSpPr/>
          <p:nvPr/>
        </p:nvSpPr>
        <p:spPr>
          <a:xfrm>
            <a:off x="2565400" y="2152650"/>
            <a:ext cx="43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pPr algn="l" indent="0" marL="0">
              <a:lnSpc>
                <a:spcPts val="1400"/>
              </a:lnSpc>
              <a:buNone/>
            </a:pPr>
            <a:r>
              <a:rPr lang="en-US" sz="125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50" dirty="0"/>
          </a:p>
        </p:txBody>
      </p:sp>
      <p:sp>
        <p:nvSpPr>
          <p:cNvPr id="134" name="Shape 117"/>
          <p:cNvSpPr/>
          <p:nvPr/>
        </p:nvSpPr>
        <p:spPr>
          <a:xfrm>
            <a:off x="5080000" y="2374900"/>
            <a:ext cx="190500" cy="101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35" name="Text 118"/>
          <p:cNvSpPr/>
          <p:nvPr/>
        </p:nvSpPr>
        <p:spPr>
          <a:xfrm>
            <a:off x="4673600" y="2152650"/>
            <a:ext cx="43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pPr algn="l" indent="0" marL="0">
              <a:lnSpc>
                <a:spcPts val="1400"/>
              </a:lnSpc>
              <a:buNone/>
            </a:pPr>
            <a:r>
              <a:rPr lang="en-US" sz="125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250" dirty="0"/>
          </a:p>
        </p:txBody>
      </p:sp>
      <p:sp>
        <p:nvSpPr>
          <p:cNvPr id="136" name="Shape 119"/>
          <p:cNvSpPr/>
          <p:nvPr/>
        </p:nvSpPr>
        <p:spPr>
          <a:xfrm>
            <a:off x="7150100" y="2374900"/>
            <a:ext cx="317500" cy="1143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37" name="Text 120"/>
          <p:cNvSpPr/>
          <p:nvPr/>
        </p:nvSpPr>
        <p:spPr>
          <a:xfrm>
            <a:off x="6743700" y="2152650"/>
            <a:ext cx="43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pPr algn="l" indent="0" marL="0">
              <a:lnSpc>
                <a:spcPts val="1400"/>
              </a:lnSpc>
              <a:buNone/>
            </a:pPr>
            <a:r>
              <a:rPr lang="en-US" sz="125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250" dirty="0"/>
          </a:p>
        </p:txBody>
      </p:sp>
      <p:sp>
        <p:nvSpPr>
          <p:cNvPr id="138" name="Text 121"/>
          <p:cNvSpPr/>
          <p:nvPr/>
        </p:nvSpPr>
        <p:spPr>
          <a:xfrm>
            <a:off x="3543300" y="233680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700" dirty="0"/>
          </a:p>
        </p:txBody>
      </p:sp>
      <p:sp>
        <p:nvSpPr>
          <p:cNvPr id="139" name="Text 122"/>
          <p:cNvSpPr/>
          <p:nvPr/>
        </p:nvSpPr>
        <p:spPr>
          <a:xfrm>
            <a:off x="3517900" y="321310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700" dirty="0"/>
          </a:p>
        </p:txBody>
      </p:sp>
      <p:sp>
        <p:nvSpPr>
          <p:cNvPr id="140" name="Text 123"/>
          <p:cNvSpPr/>
          <p:nvPr/>
        </p:nvSpPr>
        <p:spPr>
          <a:xfrm>
            <a:off x="3479800" y="424180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700" dirty="0"/>
          </a:p>
        </p:txBody>
      </p:sp>
      <p:sp>
        <p:nvSpPr>
          <p:cNvPr id="141" name="Text 124"/>
          <p:cNvSpPr/>
          <p:nvPr/>
        </p:nvSpPr>
        <p:spPr>
          <a:xfrm>
            <a:off x="5651500" y="233680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700" dirty="0"/>
          </a:p>
        </p:txBody>
      </p:sp>
      <p:sp>
        <p:nvSpPr>
          <p:cNvPr id="142" name="Text 125"/>
          <p:cNvSpPr/>
          <p:nvPr/>
        </p:nvSpPr>
        <p:spPr>
          <a:xfrm>
            <a:off x="5626100" y="321310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700" dirty="0"/>
          </a:p>
        </p:txBody>
      </p:sp>
      <p:sp>
        <p:nvSpPr>
          <p:cNvPr id="143" name="Text 126"/>
          <p:cNvSpPr/>
          <p:nvPr/>
        </p:nvSpPr>
        <p:spPr>
          <a:xfrm>
            <a:off x="5626100" y="424180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700" dirty="0"/>
          </a:p>
        </p:txBody>
      </p:sp>
      <p:sp>
        <p:nvSpPr>
          <p:cNvPr id="144" name="Text 127"/>
          <p:cNvSpPr/>
          <p:nvPr/>
        </p:nvSpPr>
        <p:spPr>
          <a:xfrm>
            <a:off x="7734300" y="233680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700" dirty="0"/>
          </a:p>
        </p:txBody>
      </p:sp>
      <p:sp>
        <p:nvSpPr>
          <p:cNvPr id="145" name="Text 128"/>
          <p:cNvSpPr/>
          <p:nvPr/>
        </p:nvSpPr>
        <p:spPr>
          <a:xfrm>
            <a:off x="7696200" y="321310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700" dirty="0"/>
          </a:p>
        </p:txBody>
      </p:sp>
      <p:sp>
        <p:nvSpPr>
          <p:cNvPr id="146" name="Text 129"/>
          <p:cNvSpPr/>
          <p:nvPr/>
        </p:nvSpPr>
        <p:spPr>
          <a:xfrm>
            <a:off x="7696200" y="424180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700" dirty="0"/>
          </a:p>
        </p:txBody>
      </p:sp>
      <p:sp>
        <p:nvSpPr>
          <p:cNvPr id="147" name="Text 130"/>
          <p:cNvSpPr/>
          <p:nvPr/>
        </p:nvSpPr>
        <p:spPr>
          <a:xfrm>
            <a:off x="4140200" y="2438400"/>
            <a:ext cx="33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2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300"/>
              </a:lnSpc>
              <a:buNone/>
            </a:pPr>
            <a:r>
              <a:rPr lang="en-US" sz="12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</a:t>
            </a:r>
            <a:endParaRPr lang="en-US" sz="1200" dirty="0"/>
          </a:p>
        </p:txBody>
      </p:sp>
      <p:sp>
        <p:nvSpPr>
          <p:cNvPr id="148" name="Text 131"/>
          <p:cNvSpPr/>
          <p:nvPr/>
        </p:nvSpPr>
        <p:spPr>
          <a:xfrm rot="1800000">
            <a:off x="4064000" y="2882900"/>
            <a:ext cx="33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2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300"/>
              </a:lnSpc>
              <a:buNone/>
            </a:pPr>
            <a:r>
              <a:rPr lang="en-US" sz="12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</a:t>
            </a:r>
            <a:endParaRPr lang="en-US" sz="1200" dirty="0"/>
          </a:p>
        </p:txBody>
      </p:sp>
      <p:sp>
        <p:nvSpPr>
          <p:cNvPr id="149" name="Text 132"/>
          <p:cNvSpPr/>
          <p:nvPr/>
        </p:nvSpPr>
        <p:spPr>
          <a:xfrm rot="3060000">
            <a:off x="4165600" y="3340100"/>
            <a:ext cx="33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2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300"/>
              </a:lnSpc>
              <a:buNone/>
            </a:pPr>
            <a:r>
              <a:rPr lang="en-US" sz="12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</a:t>
            </a:r>
            <a:endParaRPr lang="en-US" sz="1200" dirty="0"/>
          </a:p>
        </p:txBody>
      </p:sp>
      <p:sp>
        <p:nvSpPr>
          <p:cNvPr id="150" name="Text 133"/>
          <p:cNvSpPr/>
          <p:nvPr/>
        </p:nvSpPr>
        <p:spPr>
          <a:xfrm>
            <a:off x="6184900" y="2463800"/>
            <a:ext cx="33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2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300"/>
              </a:lnSpc>
              <a:buNone/>
            </a:pPr>
            <a:r>
              <a:rPr lang="en-US" sz="12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kj</a:t>
            </a:r>
            <a:endParaRPr lang="en-US" sz="1200" dirty="0"/>
          </a:p>
        </p:txBody>
      </p:sp>
      <p:sp>
        <p:nvSpPr>
          <p:cNvPr id="151" name="Text 134"/>
          <p:cNvSpPr/>
          <p:nvPr/>
        </p:nvSpPr>
        <p:spPr>
          <a:xfrm rot="1800000">
            <a:off x="6197600" y="2921000"/>
            <a:ext cx="33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2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300"/>
              </a:lnSpc>
              <a:buNone/>
            </a:pPr>
            <a:r>
              <a:rPr lang="en-US" sz="12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kj</a:t>
            </a:r>
            <a:endParaRPr lang="en-US" sz="1200" dirty="0"/>
          </a:p>
        </p:txBody>
      </p:sp>
      <p:sp>
        <p:nvSpPr>
          <p:cNvPr id="152" name="Text 135"/>
          <p:cNvSpPr/>
          <p:nvPr/>
        </p:nvSpPr>
        <p:spPr>
          <a:xfrm rot="3060000">
            <a:off x="6210300" y="3340100"/>
            <a:ext cx="33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2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300"/>
              </a:lnSpc>
              <a:buNone/>
            </a:pPr>
            <a:r>
              <a:rPr lang="en-US" sz="12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kj</a:t>
            </a:r>
            <a:endParaRPr lang="en-US" sz="1200" dirty="0"/>
          </a:p>
        </p:txBody>
      </p:sp>
      <p:sp>
        <p:nvSpPr>
          <p:cNvPr id="153" name="Shape 136"/>
          <p:cNvSpPr/>
          <p:nvPr/>
        </p:nvSpPr>
        <p:spPr>
          <a:xfrm>
            <a:off x="8858250" y="2686050"/>
            <a:ext cx="2857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4" name="Shape 137"/>
          <p:cNvSpPr/>
          <p:nvPr/>
        </p:nvSpPr>
        <p:spPr>
          <a:xfrm>
            <a:off x="9182100" y="2616200"/>
            <a:ext cx="736600" cy="16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80C8"/>
            </a:solidFill>
            <a:prstDash val="solid"/>
          </a:ln>
        </p:spPr>
      </p:sp>
      <p:sp>
        <p:nvSpPr>
          <p:cNvPr id="155" name="Text 138"/>
          <p:cNvSpPr/>
          <p:nvPr/>
        </p:nvSpPr>
        <p:spPr>
          <a:xfrm>
            <a:off x="9182100" y="2616200"/>
            <a:ext cx="73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1</a:t>
            </a:r>
            <a:endParaRPr lang="en-US" sz="1050" dirty="0"/>
          </a:p>
        </p:txBody>
      </p:sp>
      <p:sp>
        <p:nvSpPr>
          <p:cNvPr id="156" name="Shape 139"/>
          <p:cNvSpPr/>
          <p:nvPr/>
        </p:nvSpPr>
        <p:spPr>
          <a:xfrm>
            <a:off x="8858250" y="3625850"/>
            <a:ext cx="2857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7" name="Shape 140"/>
          <p:cNvSpPr/>
          <p:nvPr/>
        </p:nvSpPr>
        <p:spPr>
          <a:xfrm>
            <a:off x="9182100" y="3530600"/>
            <a:ext cx="736600" cy="16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80C8"/>
            </a:solidFill>
            <a:prstDash val="solid"/>
          </a:ln>
        </p:spPr>
      </p:sp>
      <p:sp>
        <p:nvSpPr>
          <p:cNvPr id="158" name="Text 141"/>
          <p:cNvSpPr/>
          <p:nvPr/>
        </p:nvSpPr>
        <p:spPr>
          <a:xfrm>
            <a:off x="9182100" y="3530600"/>
            <a:ext cx="73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2</a:t>
            </a:r>
            <a:endParaRPr lang="en-US" sz="1050" dirty="0"/>
          </a:p>
        </p:txBody>
      </p:sp>
      <p:sp>
        <p:nvSpPr>
          <p:cNvPr id="159" name="Shape 142"/>
          <p:cNvSpPr/>
          <p:nvPr/>
        </p:nvSpPr>
        <p:spPr>
          <a:xfrm>
            <a:off x="8858250" y="4654550"/>
            <a:ext cx="2857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0" name="Shape 143"/>
          <p:cNvSpPr/>
          <p:nvPr/>
        </p:nvSpPr>
        <p:spPr>
          <a:xfrm>
            <a:off x="9182100" y="4572000"/>
            <a:ext cx="736600" cy="16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80C8"/>
            </a:solidFill>
            <a:prstDash val="solid"/>
          </a:ln>
        </p:spPr>
      </p:sp>
      <p:sp>
        <p:nvSpPr>
          <p:cNvPr id="161" name="Text 144"/>
          <p:cNvSpPr/>
          <p:nvPr/>
        </p:nvSpPr>
        <p:spPr>
          <a:xfrm>
            <a:off x="9182100" y="4572000"/>
            <a:ext cx="73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m</a:t>
            </a:r>
            <a:endParaRPr lang="en-US" sz="1050" dirty="0"/>
          </a:p>
        </p:txBody>
      </p:sp>
      <p:sp>
        <p:nvSpPr>
          <p:cNvPr id="162" name="Shape 145"/>
          <p:cNvSpPr/>
          <p:nvPr/>
        </p:nvSpPr>
        <p:spPr>
          <a:xfrm>
            <a:off x="10121900" y="2286000"/>
            <a:ext cx="266700" cy="2705100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163" name="Text 146"/>
          <p:cNvSpPr/>
          <p:nvPr/>
        </p:nvSpPr>
        <p:spPr>
          <a:xfrm rot="16200000">
            <a:off x="9874250" y="2584450"/>
            <a:ext cx="76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200" dirty="0"/>
          </a:p>
        </p:txBody>
      </p:sp>
      <p:sp>
        <p:nvSpPr>
          <p:cNvPr id="164" name="Text 147"/>
          <p:cNvSpPr/>
          <p:nvPr/>
        </p:nvSpPr>
        <p:spPr>
          <a:xfrm rot="16200000">
            <a:off x="9874250" y="3524250"/>
            <a:ext cx="76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200" dirty="0"/>
          </a:p>
        </p:txBody>
      </p:sp>
      <p:sp>
        <p:nvSpPr>
          <p:cNvPr id="165" name="Text 148"/>
          <p:cNvSpPr/>
          <p:nvPr/>
        </p:nvSpPr>
        <p:spPr>
          <a:xfrm rot="16200000">
            <a:off x="9874250" y="4552950"/>
            <a:ext cx="76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200" dirty="0"/>
          </a:p>
        </p:txBody>
      </p:sp>
      <p:sp>
        <p:nvSpPr>
          <p:cNvPr id="166" name="Shape 149"/>
          <p:cNvSpPr/>
          <p:nvPr/>
        </p:nvSpPr>
        <p:spPr>
          <a:xfrm>
            <a:off x="10477500" y="2565400"/>
            <a:ext cx="838200" cy="241300"/>
          </a:xfrm>
          <a:prstGeom prst="rect">
            <a:avLst/>
          </a:prstGeom>
          <a:solidFill>
            <a:srgbClr val="E3FFCF"/>
          </a:solidFill>
          <a:ln w="12700">
            <a:solidFill>
              <a:srgbClr val="E3FFCF"/>
            </a:solidFill>
            <a:prstDash val="solid"/>
          </a:ln>
        </p:spPr>
      </p:sp>
      <p:sp>
        <p:nvSpPr>
          <p:cNvPr id="167" name="Text 150"/>
          <p:cNvSpPr/>
          <p:nvPr/>
        </p:nvSpPr>
        <p:spPr>
          <a:xfrm>
            <a:off x="10477500" y="2565400"/>
            <a:ext cx="8382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1</a:t>
            </a:r>
            <a:endParaRPr lang="en-US" sz="900" dirty="0"/>
          </a:p>
        </p:txBody>
      </p:sp>
      <p:sp>
        <p:nvSpPr>
          <p:cNvPr id="168" name="Shape 151"/>
          <p:cNvSpPr/>
          <p:nvPr/>
        </p:nvSpPr>
        <p:spPr>
          <a:xfrm>
            <a:off x="10477500" y="3492500"/>
            <a:ext cx="838200" cy="228600"/>
          </a:xfrm>
          <a:prstGeom prst="rect">
            <a:avLst/>
          </a:prstGeom>
          <a:solidFill>
            <a:srgbClr val="E3FFCF"/>
          </a:solidFill>
          <a:ln w="12700">
            <a:solidFill>
              <a:srgbClr val="E3FFCF"/>
            </a:solidFill>
            <a:prstDash val="solid"/>
          </a:ln>
        </p:spPr>
      </p:sp>
      <p:sp>
        <p:nvSpPr>
          <p:cNvPr id="169" name="Text 152"/>
          <p:cNvSpPr/>
          <p:nvPr/>
        </p:nvSpPr>
        <p:spPr>
          <a:xfrm>
            <a:off x="10477500" y="34925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2</a:t>
            </a:r>
            <a:endParaRPr lang="en-US" sz="900" dirty="0"/>
          </a:p>
        </p:txBody>
      </p:sp>
      <p:sp>
        <p:nvSpPr>
          <p:cNvPr id="170" name="Shape 153"/>
          <p:cNvSpPr/>
          <p:nvPr/>
        </p:nvSpPr>
        <p:spPr>
          <a:xfrm>
            <a:off x="10477500" y="4533900"/>
            <a:ext cx="838200" cy="215900"/>
          </a:xfrm>
          <a:prstGeom prst="rect">
            <a:avLst/>
          </a:prstGeom>
          <a:solidFill>
            <a:srgbClr val="E3FFCF"/>
          </a:solidFill>
          <a:ln w="12700">
            <a:solidFill>
              <a:srgbClr val="E3FFCF"/>
            </a:solidFill>
            <a:prstDash val="solid"/>
          </a:ln>
        </p:spPr>
      </p:sp>
      <p:sp>
        <p:nvSpPr>
          <p:cNvPr id="171" name="Text 154"/>
          <p:cNvSpPr/>
          <p:nvPr/>
        </p:nvSpPr>
        <p:spPr>
          <a:xfrm>
            <a:off x="10477500" y="4533900"/>
            <a:ext cx="838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m</a:t>
            </a:r>
            <a:endParaRPr lang="en-US" sz="900" dirty="0"/>
          </a:p>
        </p:txBody>
      </p:sp>
      <p:sp>
        <p:nvSpPr>
          <p:cNvPr id="172" name="Shape 155"/>
          <p:cNvSpPr/>
          <p:nvPr/>
        </p:nvSpPr>
        <p:spPr>
          <a:xfrm>
            <a:off x="3257550" y="5181600"/>
            <a:ext cx="203200" cy="254000"/>
          </a:xfrm>
          <a:prstGeom prst="rect">
            <a:avLst/>
          </a:prstGeom>
          <a:solidFill>
            <a:srgbClr val="D9E2F3"/>
          </a:solidFill>
          <a:ln w="12700">
            <a:solidFill>
              <a:srgbClr val="8FA3CF"/>
            </a:solidFill>
            <a:prstDash val="solid"/>
          </a:ln>
        </p:spPr>
      </p:sp>
      <p:sp>
        <p:nvSpPr>
          <p:cNvPr id="173" name="Shape 156"/>
          <p:cNvSpPr/>
          <p:nvPr/>
        </p:nvSpPr>
        <p:spPr>
          <a:xfrm>
            <a:off x="3048000" y="4876800"/>
            <a:ext cx="622300" cy="330200"/>
          </a:xfrm>
          <a:prstGeom prst="triangle">
            <a:avLst/>
          </a:prstGeom>
          <a:solidFill>
            <a:srgbClr val="D9E2F3"/>
          </a:solidFill>
          <a:ln w="12700">
            <a:solidFill>
              <a:srgbClr val="8FA3CF"/>
            </a:solidFill>
            <a:prstDash val="solid"/>
          </a:ln>
        </p:spPr>
      </p:sp>
      <p:sp>
        <p:nvSpPr>
          <p:cNvPr id="174" name="Text 157"/>
          <p:cNvSpPr/>
          <p:nvPr/>
        </p:nvSpPr>
        <p:spPr>
          <a:xfrm>
            <a:off x="3181350" y="5181600"/>
            <a:ext cx="35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000" dirty="0"/>
          </a:p>
        </p:txBody>
      </p:sp>
      <p:sp>
        <p:nvSpPr>
          <p:cNvPr id="175" name="Shape 158"/>
          <p:cNvSpPr/>
          <p:nvPr/>
        </p:nvSpPr>
        <p:spPr>
          <a:xfrm>
            <a:off x="5353050" y="5181600"/>
            <a:ext cx="203200" cy="254000"/>
          </a:xfrm>
          <a:prstGeom prst="rect">
            <a:avLst/>
          </a:prstGeom>
          <a:solidFill>
            <a:srgbClr val="C9E3A8"/>
          </a:solidFill>
          <a:ln w="12700">
            <a:solidFill>
              <a:srgbClr val="7FA85E"/>
            </a:solidFill>
            <a:prstDash val="solid"/>
          </a:ln>
        </p:spPr>
      </p:sp>
      <p:sp>
        <p:nvSpPr>
          <p:cNvPr id="176" name="Shape 159"/>
          <p:cNvSpPr/>
          <p:nvPr/>
        </p:nvSpPr>
        <p:spPr>
          <a:xfrm>
            <a:off x="5143500" y="4876800"/>
            <a:ext cx="622300" cy="330200"/>
          </a:xfrm>
          <a:prstGeom prst="triangle">
            <a:avLst/>
          </a:prstGeom>
          <a:solidFill>
            <a:srgbClr val="C9E3A8"/>
          </a:solidFill>
          <a:ln w="12700">
            <a:solidFill>
              <a:srgbClr val="7FA85E"/>
            </a:solidFill>
            <a:prstDash val="solid"/>
          </a:ln>
        </p:spPr>
      </p:sp>
      <p:sp>
        <p:nvSpPr>
          <p:cNvPr id="177" name="Text 160"/>
          <p:cNvSpPr/>
          <p:nvPr/>
        </p:nvSpPr>
        <p:spPr>
          <a:xfrm>
            <a:off x="5276850" y="5181600"/>
            <a:ext cx="35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000" dirty="0"/>
          </a:p>
        </p:txBody>
      </p:sp>
      <p:sp>
        <p:nvSpPr>
          <p:cNvPr id="178" name="Shape 161"/>
          <p:cNvSpPr/>
          <p:nvPr/>
        </p:nvSpPr>
        <p:spPr>
          <a:xfrm>
            <a:off x="7385050" y="5181600"/>
            <a:ext cx="203200" cy="254000"/>
          </a:xfrm>
          <a:prstGeom prst="rect">
            <a:avLst/>
          </a:prstGeom>
          <a:solidFill>
            <a:srgbClr val="F2CC9D"/>
          </a:solidFill>
          <a:ln w="12700">
            <a:solidFill>
              <a:srgbClr val="C08040"/>
            </a:solidFill>
            <a:prstDash val="solid"/>
          </a:ln>
        </p:spPr>
      </p:sp>
      <p:sp>
        <p:nvSpPr>
          <p:cNvPr id="179" name="Shape 162"/>
          <p:cNvSpPr/>
          <p:nvPr/>
        </p:nvSpPr>
        <p:spPr>
          <a:xfrm>
            <a:off x="7175500" y="4876800"/>
            <a:ext cx="622300" cy="330200"/>
          </a:xfrm>
          <a:prstGeom prst="triangle">
            <a:avLst/>
          </a:prstGeom>
          <a:solidFill>
            <a:srgbClr val="F2CC9D"/>
          </a:solidFill>
          <a:ln w="12700">
            <a:solidFill>
              <a:srgbClr val="C08040"/>
            </a:solidFill>
            <a:prstDash val="solid"/>
          </a:ln>
        </p:spPr>
      </p:sp>
      <p:sp>
        <p:nvSpPr>
          <p:cNvPr id="180" name="Text 163"/>
          <p:cNvSpPr/>
          <p:nvPr/>
        </p:nvSpPr>
        <p:spPr>
          <a:xfrm>
            <a:off x="7308850" y="5181600"/>
            <a:ext cx="35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000" dirty="0"/>
          </a:p>
        </p:txBody>
      </p:sp>
      <p:sp>
        <p:nvSpPr>
          <p:cNvPr id="181" name="Shape 164"/>
          <p:cNvSpPr/>
          <p:nvPr/>
        </p:nvSpPr>
        <p:spPr>
          <a:xfrm>
            <a:off x="2794000" y="5435600"/>
            <a:ext cx="1104900" cy="419100"/>
          </a:xfrm>
          <a:prstGeom prst="rect">
            <a:avLst/>
          </a:prstGeom>
          <a:solidFill>
            <a:srgbClr val="DEEBF3"/>
          </a:solidFill>
          <a:ln w="9525">
            <a:solidFill>
              <a:srgbClr val="8E96BC"/>
            </a:solidFill>
            <a:prstDash val="solid"/>
          </a:ln>
        </p:spPr>
      </p:sp>
      <p:sp>
        <p:nvSpPr>
          <p:cNvPr id="182" name="Text 165"/>
          <p:cNvSpPr/>
          <p:nvPr/>
        </p:nvSpPr>
        <p:spPr>
          <a:xfrm>
            <a:off x="2794000" y="5435600"/>
            <a:ext cx="1104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Layer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(i)</a:t>
            </a:r>
            <a:endParaRPr lang="en-US" sz="850" dirty="0"/>
          </a:p>
        </p:txBody>
      </p:sp>
      <p:sp>
        <p:nvSpPr>
          <p:cNvPr id="183" name="Shape 166"/>
          <p:cNvSpPr/>
          <p:nvPr/>
        </p:nvSpPr>
        <p:spPr>
          <a:xfrm>
            <a:off x="4876800" y="5435600"/>
            <a:ext cx="1104900" cy="419100"/>
          </a:xfrm>
          <a:prstGeom prst="rect">
            <a:avLst/>
          </a:prstGeom>
          <a:solidFill>
            <a:srgbClr val="DDFFB8"/>
          </a:solidFill>
          <a:ln w="9525">
            <a:solidFill>
              <a:srgbClr val="7FA85E"/>
            </a:solidFill>
            <a:prstDash val="solid"/>
          </a:ln>
        </p:spPr>
      </p:sp>
      <p:sp>
        <p:nvSpPr>
          <p:cNvPr id="184" name="Text 167"/>
          <p:cNvSpPr/>
          <p:nvPr/>
        </p:nvSpPr>
        <p:spPr>
          <a:xfrm>
            <a:off x="4876800" y="5435600"/>
            <a:ext cx="1104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Layer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(You are here)</a:t>
            </a:r>
            <a:endParaRPr lang="en-US" sz="850" dirty="0"/>
          </a:p>
        </p:txBody>
      </p:sp>
      <p:sp>
        <p:nvSpPr>
          <p:cNvPr id="185" name="Shape 168"/>
          <p:cNvSpPr/>
          <p:nvPr/>
        </p:nvSpPr>
        <p:spPr>
          <a:xfrm>
            <a:off x="7086600" y="5461000"/>
            <a:ext cx="876300" cy="368300"/>
          </a:xfrm>
          <a:prstGeom prst="rect">
            <a:avLst/>
          </a:prstGeom>
          <a:solidFill>
            <a:srgbClr val="F2CC9D"/>
          </a:solidFill>
          <a:ln w="9525">
            <a:solidFill>
              <a:srgbClr val="C08040"/>
            </a:solidFill>
            <a:prstDash val="solid"/>
          </a:ln>
        </p:spPr>
      </p:sp>
      <p:sp>
        <p:nvSpPr>
          <p:cNvPr id="186" name="Text 169"/>
          <p:cNvSpPr/>
          <p:nvPr/>
        </p:nvSpPr>
        <p:spPr>
          <a:xfrm>
            <a:off x="7086600" y="5461000"/>
            <a:ext cx="876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Layer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(K)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1714500"/>
            <a:ext cx="6426200" cy="3206750"/>
          </a:xfrm>
          <a:prstGeom prst="rect">
            <a:avLst/>
          </a:prstGeom>
          <a:solidFill>
            <a:srgbClr val="DAD0C4"/>
          </a:solidFill>
          <a:ln w="12700">
            <a:solidFill>
              <a:srgbClr val="DAD0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1850" y="723900"/>
            <a:ext cx="812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Model</a:t>
            </a:r>
            <a:endParaRPr lang="en-US" sz="3050" dirty="0"/>
          </a:p>
        </p:txBody>
      </p:sp>
      <p:sp>
        <p:nvSpPr>
          <p:cNvPr id="8" name="Shape 6"/>
          <p:cNvSpPr/>
          <p:nvPr/>
        </p:nvSpPr>
        <p:spPr>
          <a:xfrm>
            <a:off x="812800" y="1206500"/>
            <a:ext cx="819150" cy="374650"/>
          </a:xfrm>
          <a:prstGeom prst="rect">
            <a:avLst/>
          </a:prstGeom>
          <a:solidFill>
            <a:srgbClr val="FF99FF"/>
          </a:solidFill>
          <a:ln w="9525">
            <a:solidFill>
              <a:srgbClr val="993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1206500"/>
            <a:ext cx="8191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0" y="1193800"/>
            <a:ext cx="793750" cy="387350"/>
          </a:xfrm>
          <a:prstGeom prst="rect">
            <a:avLst/>
          </a:prstGeom>
          <a:solidFill>
            <a:srgbClr val="FF99FF"/>
          </a:solidFill>
          <a:ln w="9525">
            <a:solidFill>
              <a:srgbClr val="993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1193800"/>
            <a:ext cx="79375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39900" y="1403350"/>
            <a:ext cx="5918200" cy="0"/>
          </a:xfrm>
          <a:prstGeom prst="line">
            <a:avLst/>
          </a:prstGeom>
          <a:noFill/>
          <a:ln w="15875">
            <a:solidFill>
              <a:srgbClr val="990099"/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 rot="16200000">
            <a:off x="1593850" y="1327150"/>
            <a:ext cx="127000" cy="165100"/>
          </a:xfrm>
          <a:prstGeom prst="triangle">
            <a:avLst/>
          </a:prstGeom>
          <a:solidFill>
            <a:srgbClr val="990099"/>
          </a:solidFill>
          <a:ln w="12700">
            <a:solidFill>
              <a:srgbClr val="9900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7670800" y="1327150"/>
            <a:ext cx="127000" cy="165100"/>
          </a:xfrm>
          <a:prstGeom prst="triangle">
            <a:avLst/>
          </a:prstGeom>
          <a:solidFill>
            <a:srgbClr val="990099"/>
          </a:solidFill>
          <a:ln w="12700">
            <a:solidFill>
              <a:srgbClr val="9900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3450" y="2781300"/>
            <a:ext cx="114300" cy="114300"/>
          </a:xfrm>
          <a:prstGeom prst="ellipse">
            <a:avLst/>
          </a:prstGeom>
          <a:solidFill>
            <a:srgbClr val="CC00CC"/>
          </a:solidFill>
          <a:ln w="12700">
            <a:solidFill>
              <a:srgbClr val="CC00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066800" y="2311400"/>
            <a:ext cx="762000" cy="5270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6800" y="2838450"/>
            <a:ext cx="762000" cy="3937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6800" y="2838450"/>
            <a:ext cx="762000" cy="14287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3450" y="3086100"/>
            <a:ext cx="114300" cy="114300"/>
          </a:xfrm>
          <a:prstGeom prst="ellipse">
            <a:avLst/>
          </a:prstGeom>
          <a:solidFill>
            <a:srgbClr val="CC00CC"/>
          </a:solidFill>
          <a:ln w="12700">
            <a:solidFill>
              <a:srgbClr val="CC00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066800" y="2311400"/>
            <a:ext cx="762000" cy="8318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6800" y="3143250"/>
            <a:ext cx="762000" cy="889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6800" y="3143250"/>
            <a:ext cx="762000" cy="11239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3450" y="3378200"/>
            <a:ext cx="114300" cy="114300"/>
          </a:xfrm>
          <a:prstGeom prst="ellipse">
            <a:avLst/>
          </a:prstGeom>
          <a:solidFill>
            <a:srgbClr val="CC00CC"/>
          </a:solidFill>
          <a:ln w="12700">
            <a:solidFill>
              <a:srgbClr val="CC00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066800" y="2311400"/>
            <a:ext cx="762000" cy="11239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066800" y="3232150"/>
            <a:ext cx="762000" cy="2032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6800" y="3435350"/>
            <a:ext cx="762000" cy="8318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3450" y="3670300"/>
            <a:ext cx="114300" cy="114300"/>
          </a:xfrm>
          <a:prstGeom prst="ellipse">
            <a:avLst/>
          </a:prstGeom>
          <a:solidFill>
            <a:srgbClr val="CC00CC"/>
          </a:solidFill>
          <a:ln w="12700">
            <a:solidFill>
              <a:srgbClr val="CC00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066800" y="2311400"/>
            <a:ext cx="762000" cy="14160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066800" y="3232150"/>
            <a:ext cx="762000" cy="4953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6800" y="3727450"/>
            <a:ext cx="762000" cy="5397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28875" y="2257425"/>
            <a:ext cx="107950" cy="10795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25725" y="2257425"/>
            <a:ext cx="107950" cy="10795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16225" y="2257425"/>
            <a:ext cx="107950" cy="10795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8875" y="3178175"/>
            <a:ext cx="107950" cy="10795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25725" y="3178175"/>
            <a:ext cx="107950" cy="10795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16225" y="3178175"/>
            <a:ext cx="107950" cy="10795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8875" y="4213225"/>
            <a:ext cx="107950" cy="10795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25725" y="4213225"/>
            <a:ext cx="107950" cy="10795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16225" y="4213225"/>
            <a:ext cx="107950" cy="10795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94100" y="2311400"/>
            <a:ext cx="1562100" cy="0"/>
          </a:xfrm>
          <a:prstGeom prst="line">
            <a:avLst/>
          </a:prstGeom>
          <a:noFill/>
          <a:ln w="7620">
            <a:solidFill>
              <a:srgbClr val="8B000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594100" y="2311400"/>
            <a:ext cx="1562100" cy="920750"/>
          </a:xfrm>
          <a:prstGeom prst="line">
            <a:avLst/>
          </a:prstGeom>
          <a:noFill/>
          <a:ln w="7620">
            <a:solidFill>
              <a:srgbClr val="8B000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594100" y="2311400"/>
            <a:ext cx="1562100" cy="1955800"/>
          </a:xfrm>
          <a:prstGeom prst="line">
            <a:avLst/>
          </a:prstGeom>
          <a:noFill/>
          <a:ln w="7620">
            <a:solidFill>
              <a:srgbClr val="8B000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3594100" y="2311400"/>
            <a:ext cx="1562100" cy="920750"/>
          </a:xfrm>
          <a:prstGeom prst="line">
            <a:avLst/>
          </a:prstGeom>
          <a:noFill/>
          <a:ln w="7620">
            <a:solidFill>
              <a:srgbClr val="8B000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3594100" y="3232150"/>
            <a:ext cx="1562100" cy="0"/>
          </a:xfrm>
          <a:prstGeom prst="line">
            <a:avLst/>
          </a:prstGeom>
          <a:noFill/>
          <a:ln w="7620">
            <a:solidFill>
              <a:srgbClr val="8B000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594100" y="3232150"/>
            <a:ext cx="1562100" cy="1035050"/>
          </a:xfrm>
          <a:prstGeom prst="line">
            <a:avLst/>
          </a:prstGeom>
          <a:noFill/>
          <a:ln w="7620">
            <a:solidFill>
              <a:srgbClr val="8B000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3594100" y="2311400"/>
            <a:ext cx="1562100" cy="1955800"/>
          </a:xfrm>
          <a:prstGeom prst="line">
            <a:avLst/>
          </a:prstGeom>
          <a:noFill/>
          <a:ln w="7620">
            <a:solidFill>
              <a:srgbClr val="8B000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3594100" y="3232150"/>
            <a:ext cx="1562100" cy="1035050"/>
          </a:xfrm>
          <a:prstGeom prst="line">
            <a:avLst/>
          </a:prstGeom>
          <a:noFill/>
          <a:ln w="7620">
            <a:solidFill>
              <a:srgbClr val="8B0000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3594100" y="4267200"/>
            <a:ext cx="1562100" cy="0"/>
          </a:xfrm>
          <a:prstGeom prst="line">
            <a:avLst/>
          </a:prstGeom>
          <a:noFill/>
          <a:ln w="7620">
            <a:solidFill>
              <a:srgbClr val="8B000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543300" y="2260600"/>
            <a:ext cx="88900" cy="1016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43300" y="3181350"/>
            <a:ext cx="88900" cy="1016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43300" y="4216400"/>
            <a:ext cx="88900" cy="1016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41500" y="2057400"/>
            <a:ext cx="508000" cy="508000"/>
          </a:xfrm>
          <a:prstGeom prst="ellipse">
            <a:avLst/>
          </a:prstGeom>
          <a:solidFill>
            <a:srgbClr val="EDEDEB"/>
          </a:solidFill>
          <a:ln w="12700">
            <a:solidFill>
              <a:srgbClr val="A08C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095500" y="205740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54200" y="21971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55" name="Image 0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4550" y="2223008"/>
            <a:ext cx="138684" cy="176784"/>
          </a:xfrm>
          <a:prstGeom prst="rect">
            <a:avLst/>
          </a:prstGeom>
        </p:spPr>
      </p:pic>
      <p:sp>
        <p:nvSpPr>
          <p:cNvPr id="56" name="Shape 53"/>
          <p:cNvSpPr/>
          <p:nvPr/>
        </p:nvSpPr>
        <p:spPr>
          <a:xfrm>
            <a:off x="1841500" y="2978150"/>
            <a:ext cx="508000" cy="508000"/>
          </a:xfrm>
          <a:prstGeom prst="ellipse">
            <a:avLst/>
          </a:prstGeom>
          <a:solidFill>
            <a:srgbClr val="EDEDEB"/>
          </a:solidFill>
          <a:ln w="12700">
            <a:solidFill>
              <a:srgbClr val="A08C7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095500" y="29781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854200" y="31178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59" name="Image 1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50" y="3143758"/>
            <a:ext cx="138684" cy="176784"/>
          </a:xfrm>
          <a:prstGeom prst="rect">
            <a:avLst/>
          </a:prstGeom>
        </p:spPr>
      </p:pic>
      <p:sp>
        <p:nvSpPr>
          <p:cNvPr id="60" name="Shape 56"/>
          <p:cNvSpPr/>
          <p:nvPr/>
        </p:nvSpPr>
        <p:spPr>
          <a:xfrm>
            <a:off x="1841500" y="4013200"/>
            <a:ext cx="508000" cy="508000"/>
          </a:xfrm>
          <a:prstGeom prst="ellipse">
            <a:avLst/>
          </a:prstGeom>
          <a:solidFill>
            <a:srgbClr val="EDEDEB"/>
          </a:solidFill>
          <a:ln w="12700">
            <a:solidFill>
              <a:srgbClr val="A08C74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2095500" y="401320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1854200" y="41529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63" name="Image 2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4178808"/>
            <a:ext cx="138684" cy="176784"/>
          </a:xfrm>
          <a:prstGeom prst="rect">
            <a:avLst/>
          </a:prstGeom>
        </p:spPr>
      </p:pic>
      <p:sp>
        <p:nvSpPr>
          <p:cNvPr id="64" name="Shape 59"/>
          <p:cNvSpPr/>
          <p:nvPr/>
        </p:nvSpPr>
        <p:spPr>
          <a:xfrm>
            <a:off x="3067050" y="2057400"/>
            <a:ext cx="508000" cy="508000"/>
          </a:xfrm>
          <a:prstGeom prst="ellipse">
            <a:avLst/>
          </a:prstGeom>
          <a:solidFill>
            <a:srgbClr val="DCE9F5"/>
          </a:solidFill>
          <a:ln w="12700">
            <a:solidFill>
              <a:srgbClr val="7780A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3321050" y="205740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3079750" y="21971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67" name="Image 3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100" y="2223008"/>
            <a:ext cx="138684" cy="176784"/>
          </a:xfrm>
          <a:prstGeom prst="rect">
            <a:avLst/>
          </a:prstGeom>
        </p:spPr>
      </p:pic>
      <p:sp>
        <p:nvSpPr>
          <p:cNvPr id="68" name="Shape 62"/>
          <p:cNvSpPr/>
          <p:nvPr/>
        </p:nvSpPr>
        <p:spPr>
          <a:xfrm>
            <a:off x="3067050" y="2978150"/>
            <a:ext cx="508000" cy="508000"/>
          </a:xfrm>
          <a:prstGeom prst="ellipse">
            <a:avLst/>
          </a:prstGeom>
          <a:solidFill>
            <a:srgbClr val="DCE9F5"/>
          </a:solidFill>
          <a:ln w="12700">
            <a:solidFill>
              <a:srgbClr val="7780AA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3321050" y="29781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70" name="Text 64"/>
          <p:cNvSpPr/>
          <p:nvPr/>
        </p:nvSpPr>
        <p:spPr>
          <a:xfrm>
            <a:off x="3079750" y="31178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71" name="Image 4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0100" y="3143758"/>
            <a:ext cx="138684" cy="176784"/>
          </a:xfrm>
          <a:prstGeom prst="rect">
            <a:avLst/>
          </a:prstGeom>
        </p:spPr>
      </p:pic>
      <p:sp>
        <p:nvSpPr>
          <p:cNvPr id="72" name="Shape 65"/>
          <p:cNvSpPr/>
          <p:nvPr/>
        </p:nvSpPr>
        <p:spPr>
          <a:xfrm>
            <a:off x="3067050" y="4013200"/>
            <a:ext cx="508000" cy="508000"/>
          </a:xfrm>
          <a:prstGeom prst="ellipse">
            <a:avLst/>
          </a:prstGeom>
          <a:solidFill>
            <a:srgbClr val="DCE9F5"/>
          </a:solidFill>
          <a:ln w="12700">
            <a:solidFill>
              <a:srgbClr val="7780AA"/>
            </a:solidFill>
            <a:prstDash val="solid"/>
          </a:ln>
        </p:spPr>
      </p:sp>
      <p:sp>
        <p:nvSpPr>
          <p:cNvPr id="73" name="Shape 66"/>
          <p:cNvSpPr/>
          <p:nvPr/>
        </p:nvSpPr>
        <p:spPr>
          <a:xfrm>
            <a:off x="3321050" y="401320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74" name="Text 67"/>
          <p:cNvSpPr/>
          <p:nvPr/>
        </p:nvSpPr>
        <p:spPr>
          <a:xfrm>
            <a:off x="3079750" y="41529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75" name="Image 5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0100" y="4178808"/>
            <a:ext cx="138684" cy="176784"/>
          </a:xfrm>
          <a:prstGeom prst="rect">
            <a:avLst/>
          </a:prstGeom>
        </p:spPr>
      </p:pic>
      <p:sp>
        <p:nvSpPr>
          <p:cNvPr id="76" name="Shape 68"/>
          <p:cNvSpPr/>
          <p:nvPr/>
        </p:nvSpPr>
        <p:spPr>
          <a:xfrm>
            <a:off x="5168900" y="2057400"/>
            <a:ext cx="508000" cy="508000"/>
          </a:xfrm>
          <a:prstGeom prst="ellipse">
            <a:avLst/>
          </a:prstGeom>
          <a:solidFill>
            <a:srgbClr val="DCFFB5"/>
          </a:solidFill>
          <a:ln w="12700">
            <a:solidFill>
              <a:srgbClr val="6B9944"/>
            </a:solidFill>
            <a:prstDash val="solid"/>
          </a:ln>
        </p:spPr>
      </p:sp>
      <p:sp>
        <p:nvSpPr>
          <p:cNvPr id="77" name="Shape 69"/>
          <p:cNvSpPr/>
          <p:nvPr/>
        </p:nvSpPr>
        <p:spPr>
          <a:xfrm>
            <a:off x="5422900" y="205740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78" name="Text 70"/>
          <p:cNvSpPr/>
          <p:nvPr/>
        </p:nvSpPr>
        <p:spPr>
          <a:xfrm>
            <a:off x="5181600" y="21971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79" name="Image 6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1950" y="2223008"/>
            <a:ext cx="138684" cy="176784"/>
          </a:xfrm>
          <a:prstGeom prst="rect">
            <a:avLst/>
          </a:prstGeom>
        </p:spPr>
      </p:pic>
      <p:sp>
        <p:nvSpPr>
          <p:cNvPr id="80" name="Shape 71"/>
          <p:cNvSpPr/>
          <p:nvPr/>
        </p:nvSpPr>
        <p:spPr>
          <a:xfrm>
            <a:off x="5168900" y="2978150"/>
            <a:ext cx="508000" cy="508000"/>
          </a:xfrm>
          <a:prstGeom prst="ellipse">
            <a:avLst/>
          </a:prstGeom>
          <a:solidFill>
            <a:srgbClr val="DCFFB5"/>
          </a:solidFill>
          <a:ln w="12700">
            <a:solidFill>
              <a:srgbClr val="6B9944"/>
            </a:solidFill>
            <a:prstDash val="solid"/>
          </a:ln>
        </p:spPr>
      </p:sp>
      <p:sp>
        <p:nvSpPr>
          <p:cNvPr id="81" name="Shape 72"/>
          <p:cNvSpPr/>
          <p:nvPr/>
        </p:nvSpPr>
        <p:spPr>
          <a:xfrm>
            <a:off x="5422900" y="29781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82" name="Text 73"/>
          <p:cNvSpPr/>
          <p:nvPr/>
        </p:nvSpPr>
        <p:spPr>
          <a:xfrm>
            <a:off x="5181600" y="31178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83" name="Image 7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1950" y="3143758"/>
            <a:ext cx="138684" cy="176784"/>
          </a:xfrm>
          <a:prstGeom prst="rect">
            <a:avLst/>
          </a:prstGeom>
        </p:spPr>
      </p:pic>
      <p:sp>
        <p:nvSpPr>
          <p:cNvPr id="84" name="Shape 74"/>
          <p:cNvSpPr/>
          <p:nvPr/>
        </p:nvSpPr>
        <p:spPr>
          <a:xfrm>
            <a:off x="5168900" y="4013200"/>
            <a:ext cx="508000" cy="508000"/>
          </a:xfrm>
          <a:prstGeom prst="ellipse">
            <a:avLst/>
          </a:prstGeom>
          <a:solidFill>
            <a:srgbClr val="DCFFB5"/>
          </a:solidFill>
          <a:ln w="12700">
            <a:solidFill>
              <a:srgbClr val="6B9944"/>
            </a:solidFill>
            <a:prstDash val="solid"/>
          </a:ln>
        </p:spPr>
      </p:sp>
      <p:sp>
        <p:nvSpPr>
          <p:cNvPr id="85" name="Shape 75"/>
          <p:cNvSpPr/>
          <p:nvPr/>
        </p:nvSpPr>
        <p:spPr>
          <a:xfrm>
            <a:off x="5422900" y="401320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86" name="Text 76"/>
          <p:cNvSpPr/>
          <p:nvPr/>
        </p:nvSpPr>
        <p:spPr>
          <a:xfrm>
            <a:off x="5181600" y="41529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87" name="Image 8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1950" y="4178808"/>
            <a:ext cx="138684" cy="176784"/>
          </a:xfrm>
          <a:prstGeom prst="rect">
            <a:avLst/>
          </a:prstGeom>
        </p:spPr>
      </p:pic>
      <p:sp>
        <p:nvSpPr>
          <p:cNvPr id="88" name="Text 77"/>
          <p:cNvSpPr/>
          <p:nvPr/>
        </p:nvSpPr>
        <p:spPr>
          <a:xfrm>
            <a:off x="2578100" y="176784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55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pPr algn="l" indent="0" marL="0">
              <a:lnSpc>
                <a:spcPts val="1700"/>
              </a:lnSpc>
              <a:buNone/>
            </a:pPr>
            <a:r>
              <a:rPr lang="en-US" sz="155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550" dirty="0"/>
          </a:p>
        </p:txBody>
      </p:sp>
      <p:sp>
        <p:nvSpPr>
          <p:cNvPr id="89" name="Shape 78"/>
          <p:cNvSpPr/>
          <p:nvPr/>
        </p:nvSpPr>
        <p:spPr>
          <a:xfrm>
            <a:off x="3117850" y="2082800"/>
            <a:ext cx="120650" cy="32385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0" name="Text 79"/>
          <p:cNvSpPr/>
          <p:nvPr/>
        </p:nvSpPr>
        <p:spPr>
          <a:xfrm>
            <a:off x="4686300" y="176784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55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pPr algn="l" indent="0" marL="0">
              <a:lnSpc>
                <a:spcPts val="1700"/>
              </a:lnSpc>
              <a:buNone/>
            </a:pPr>
            <a:r>
              <a:rPr lang="en-US" sz="155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550" dirty="0"/>
          </a:p>
        </p:txBody>
      </p:sp>
      <p:sp>
        <p:nvSpPr>
          <p:cNvPr id="91" name="Shape 80"/>
          <p:cNvSpPr/>
          <p:nvPr/>
        </p:nvSpPr>
        <p:spPr>
          <a:xfrm>
            <a:off x="5219700" y="2082800"/>
            <a:ext cx="107950" cy="45085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2" name="Text 81"/>
          <p:cNvSpPr/>
          <p:nvPr/>
        </p:nvSpPr>
        <p:spPr>
          <a:xfrm>
            <a:off x="3536950" y="196977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700" dirty="0"/>
          </a:p>
        </p:txBody>
      </p:sp>
      <p:sp>
        <p:nvSpPr>
          <p:cNvPr id="93" name="Text 82"/>
          <p:cNvSpPr/>
          <p:nvPr/>
        </p:nvSpPr>
        <p:spPr>
          <a:xfrm>
            <a:off x="3511550" y="284988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700" dirty="0"/>
          </a:p>
        </p:txBody>
      </p:sp>
      <p:sp>
        <p:nvSpPr>
          <p:cNvPr id="94" name="Text 83"/>
          <p:cNvSpPr/>
          <p:nvPr/>
        </p:nvSpPr>
        <p:spPr>
          <a:xfrm>
            <a:off x="3473450" y="385572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700" dirty="0"/>
          </a:p>
        </p:txBody>
      </p:sp>
      <p:sp>
        <p:nvSpPr>
          <p:cNvPr id="95" name="Text 84"/>
          <p:cNvSpPr/>
          <p:nvPr/>
        </p:nvSpPr>
        <p:spPr>
          <a:xfrm>
            <a:off x="5657850" y="203073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700" dirty="0"/>
          </a:p>
        </p:txBody>
      </p:sp>
      <p:sp>
        <p:nvSpPr>
          <p:cNvPr id="96" name="Text 85"/>
          <p:cNvSpPr/>
          <p:nvPr/>
        </p:nvSpPr>
        <p:spPr>
          <a:xfrm>
            <a:off x="5619750" y="291338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700" dirty="0"/>
          </a:p>
        </p:txBody>
      </p:sp>
      <p:sp>
        <p:nvSpPr>
          <p:cNvPr id="97" name="Text 86"/>
          <p:cNvSpPr/>
          <p:nvPr/>
        </p:nvSpPr>
        <p:spPr>
          <a:xfrm>
            <a:off x="5619750" y="394208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700" dirty="0"/>
          </a:p>
        </p:txBody>
      </p:sp>
      <p:sp>
        <p:nvSpPr>
          <p:cNvPr id="98" name="Text 87"/>
          <p:cNvSpPr/>
          <p:nvPr/>
        </p:nvSpPr>
        <p:spPr>
          <a:xfrm>
            <a:off x="4140200" y="2068830"/>
            <a:ext cx="33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2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300"/>
              </a:lnSpc>
              <a:buNone/>
            </a:pPr>
            <a:r>
              <a:rPr lang="en-US" sz="12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</a:t>
            </a:r>
            <a:endParaRPr lang="en-US" sz="1200" dirty="0"/>
          </a:p>
        </p:txBody>
      </p:sp>
      <p:sp>
        <p:nvSpPr>
          <p:cNvPr id="99" name="Text 88"/>
          <p:cNvSpPr/>
          <p:nvPr/>
        </p:nvSpPr>
        <p:spPr>
          <a:xfrm rot="1800000">
            <a:off x="4044950" y="2462530"/>
            <a:ext cx="33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2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300"/>
              </a:lnSpc>
              <a:buNone/>
            </a:pPr>
            <a:r>
              <a:rPr lang="en-US" sz="12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</a:t>
            </a:r>
            <a:endParaRPr lang="en-US" sz="1200" dirty="0"/>
          </a:p>
        </p:txBody>
      </p:sp>
      <p:sp>
        <p:nvSpPr>
          <p:cNvPr id="100" name="Text 89"/>
          <p:cNvSpPr/>
          <p:nvPr/>
        </p:nvSpPr>
        <p:spPr>
          <a:xfrm rot="3060000">
            <a:off x="4102100" y="2957830"/>
            <a:ext cx="33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2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300"/>
              </a:lnSpc>
              <a:buNone/>
            </a:pPr>
            <a:r>
              <a:rPr lang="en-US" sz="12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</a:t>
            </a:r>
            <a:endParaRPr lang="en-US" sz="1200" dirty="0"/>
          </a:p>
        </p:txBody>
      </p:sp>
      <p:sp>
        <p:nvSpPr>
          <p:cNvPr id="101" name="Shape 90"/>
          <p:cNvSpPr/>
          <p:nvPr/>
        </p:nvSpPr>
        <p:spPr>
          <a:xfrm>
            <a:off x="5689600" y="2311400"/>
            <a:ext cx="622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2" name="Shape 91"/>
          <p:cNvSpPr/>
          <p:nvPr/>
        </p:nvSpPr>
        <p:spPr>
          <a:xfrm>
            <a:off x="6350000" y="2197100"/>
            <a:ext cx="800100" cy="222250"/>
          </a:xfrm>
          <a:prstGeom prst="rect">
            <a:avLst/>
          </a:prstGeom>
          <a:solidFill>
            <a:srgbClr val="FFFFFF"/>
          </a:solidFill>
          <a:ln w="12700">
            <a:solidFill>
              <a:srgbClr val="9080C8"/>
            </a:solidFill>
            <a:prstDash val="solid"/>
          </a:ln>
        </p:spPr>
      </p:sp>
      <p:sp>
        <p:nvSpPr>
          <p:cNvPr id="103" name="Text 92"/>
          <p:cNvSpPr/>
          <p:nvPr/>
        </p:nvSpPr>
        <p:spPr>
          <a:xfrm>
            <a:off x="6350000" y="2197100"/>
            <a:ext cx="8001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1</a:t>
            </a:r>
            <a:endParaRPr lang="en-US" sz="1050" dirty="0"/>
          </a:p>
        </p:txBody>
      </p:sp>
      <p:sp>
        <p:nvSpPr>
          <p:cNvPr id="104" name="Shape 93"/>
          <p:cNvSpPr/>
          <p:nvPr/>
        </p:nvSpPr>
        <p:spPr>
          <a:xfrm>
            <a:off x="5689600" y="3232150"/>
            <a:ext cx="622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5" name="Shape 94"/>
          <p:cNvSpPr/>
          <p:nvPr/>
        </p:nvSpPr>
        <p:spPr>
          <a:xfrm>
            <a:off x="6350000" y="3117850"/>
            <a:ext cx="800100" cy="222250"/>
          </a:xfrm>
          <a:prstGeom prst="rect">
            <a:avLst/>
          </a:prstGeom>
          <a:solidFill>
            <a:srgbClr val="FFFFFF"/>
          </a:solidFill>
          <a:ln w="12700">
            <a:solidFill>
              <a:srgbClr val="9080C8"/>
            </a:solidFill>
            <a:prstDash val="solid"/>
          </a:ln>
        </p:spPr>
      </p:sp>
      <p:sp>
        <p:nvSpPr>
          <p:cNvPr id="106" name="Text 95"/>
          <p:cNvSpPr/>
          <p:nvPr/>
        </p:nvSpPr>
        <p:spPr>
          <a:xfrm>
            <a:off x="6350000" y="3117850"/>
            <a:ext cx="8001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2</a:t>
            </a:r>
            <a:endParaRPr lang="en-US" sz="1050" dirty="0"/>
          </a:p>
        </p:txBody>
      </p:sp>
      <p:sp>
        <p:nvSpPr>
          <p:cNvPr id="107" name="Shape 96"/>
          <p:cNvSpPr/>
          <p:nvPr/>
        </p:nvSpPr>
        <p:spPr>
          <a:xfrm>
            <a:off x="5689600" y="4267200"/>
            <a:ext cx="622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8" name="Shape 97"/>
          <p:cNvSpPr/>
          <p:nvPr/>
        </p:nvSpPr>
        <p:spPr>
          <a:xfrm>
            <a:off x="6350000" y="4146550"/>
            <a:ext cx="800100" cy="222250"/>
          </a:xfrm>
          <a:prstGeom prst="rect">
            <a:avLst/>
          </a:prstGeom>
          <a:solidFill>
            <a:srgbClr val="FFFFFF"/>
          </a:solidFill>
          <a:ln w="12700">
            <a:solidFill>
              <a:srgbClr val="9080C8"/>
            </a:solidFill>
            <a:prstDash val="solid"/>
          </a:ln>
        </p:spPr>
      </p:sp>
      <p:sp>
        <p:nvSpPr>
          <p:cNvPr id="109" name="Text 98"/>
          <p:cNvSpPr/>
          <p:nvPr/>
        </p:nvSpPr>
        <p:spPr>
          <a:xfrm>
            <a:off x="6350000" y="4146550"/>
            <a:ext cx="8001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m</a:t>
            </a:r>
            <a:endParaRPr lang="en-US" sz="1050" dirty="0"/>
          </a:p>
        </p:txBody>
      </p:sp>
      <p:sp>
        <p:nvSpPr>
          <p:cNvPr id="110" name="Shape 99"/>
          <p:cNvSpPr/>
          <p:nvPr/>
        </p:nvSpPr>
        <p:spPr>
          <a:xfrm>
            <a:off x="7391400" y="1905000"/>
            <a:ext cx="279400" cy="2711450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111" name="Text 100"/>
          <p:cNvSpPr/>
          <p:nvPr/>
        </p:nvSpPr>
        <p:spPr>
          <a:xfrm rot="16200000">
            <a:off x="7150100" y="2209800"/>
            <a:ext cx="76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200" dirty="0"/>
          </a:p>
        </p:txBody>
      </p:sp>
      <p:sp>
        <p:nvSpPr>
          <p:cNvPr id="112" name="Text 101"/>
          <p:cNvSpPr/>
          <p:nvPr/>
        </p:nvSpPr>
        <p:spPr>
          <a:xfrm rot="16200000">
            <a:off x="7150100" y="3130550"/>
            <a:ext cx="76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200" dirty="0"/>
          </a:p>
        </p:txBody>
      </p:sp>
      <p:sp>
        <p:nvSpPr>
          <p:cNvPr id="113" name="Text 102"/>
          <p:cNvSpPr/>
          <p:nvPr/>
        </p:nvSpPr>
        <p:spPr>
          <a:xfrm rot="16200000">
            <a:off x="7150100" y="4165600"/>
            <a:ext cx="76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200" dirty="0"/>
          </a:p>
        </p:txBody>
      </p:sp>
      <p:sp>
        <p:nvSpPr>
          <p:cNvPr id="114" name="Shape 103"/>
          <p:cNvSpPr/>
          <p:nvPr/>
        </p:nvSpPr>
        <p:spPr>
          <a:xfrm>
            <a:off x="7759700" y="2190750"/>
            <a:ext cx="812800" cy="228600"/>
          </a:xfrm>
          <a:prstGeom prst="rect">
            <a:avLst/>
          </a:prstGeom>
          <a:solidFill>
            <a:srgbClr val="DBFFCB"/>
          </a:solidFill>
          <a:ln w="9525">
            <a:solidFill>
              <a:srgbClr val="7FA85E"/>
            </a:solidFill>
            <a:prstDash val="solid"/>
          </a:ln>
        </p:spPr>
      </p:sp>
      <p:sp>
        <p:nvSpPr>
          <p:cNvPr id="115" name="Text 104"/>
          <p:cNvSpPr/>
          <p:nvPr/>
        </p:nvSpPr>
        <p:spPr>
          <a:xfrm>
            <a:off x="7759700" y="2190750"/>
            <a:ext cx="81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1</a:t>
            </a:r>
            <a:endParaRPr lang="en-US" sz="900" dirty="0"/>
          </a:p>
        </p:txBody>
      </p:sp>
      <p:sp>
        <p:nvSpPr>
          <p:cNvPr id="116" name="Shape 105"/>
          <p:cNvSpPr/>
          <p:nvPr/>
        </p:nvSpPr>
        <p:spPr>
          <a:xfrm>
            <a:off x="7759700" y="3111500"/>
            <a:ext cx="812800" cy="228600"/>
          </a:xfrm>
          <a:prstGeom prst="rect">
            <a:avLst/>
          </a:prstGeom>
          <a:solidFill>
            <a:srgbClr val="DBFFCB"/>
          </a:solidFill>
          <a:ln w="9525">
            <a:solidFill>
              <a:srgbClr val="7FA85E"/>
            </a:solidFill>
            <a:prstDash val="solid"/>
          </a:ln>
        </p:spPr>
      </p:sp>
      <p:sp>
        <p:nvSpPr>
          <p:cNvPr id="117" name="Text 106"/>
          <p:cNvSpPr/>
          <p:nvPr/>
        </p:nvSpPr>
        <p:spPr>
          <a:xfrm>
            <a:off x="7759700" y="3111500"/>
            <a:ext cx="81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2</a:t>
            </a:r>
            <a:endParaRPr lang="en-US" sz="900" dirty="0"/>
          </a:p>
        </p:txBody>
      </p:sp>
      <p:sp>
        <p:nvSpPr>
          <p:cNvPr id="118" name="Shape 107"/>
          <p:cNvSpPr/>
          <p:nvPr/>
        </p:nvSpPr>
        <p:spPr>
          <a:xfrm>
            <a:off x="7759700" y="4146550"/>
            <a:ext cx="812800" cy="228600"/>
          </a:xfrm>
          <a:prstGeom prst="rect">
            <a:avLst/>
          </a:prstGeom>
          <a:solidFill>
            <a:srgbClr val="DBFFCB"/>
          </a:solidFill>
          <a:ln w="9525">
            <a:solidFill>
              <a:srgbClr val="7FA85E"/>
            </a:solidFill>
            <a:prstDash val="solid"/>
          </a:ln>
        </p:spPr>
      </p:sp>
      <p:sp>
        <p:nvSpPr>
          <p:cNvPr id="119" name="Text 108"/>
          <p:cNvSpPr/>
          <p:nvPr/>
        </p:nvSpPr>
        <p:spPr>
          <a:xfrm>
            <a:off x="7759700" y="4146550"/>
            <a:ext cx="81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m</a:t>
            </a:r>
            <a:endParaRPr lang="en-US" sz="900" dirty="0"/>
          </a:p>
        </p:txBody>
      </p:sp>
      <p:sp>
        <p:nvSpPr>
          <p:cNvPr id="120" name="Shape 109"/>
          <p:cNvSpPr/>
          <p:nvPr/>
        </p:nvSpPr>
        <p:spPr>
          <a:xfrm>
            <a:off x="3276600" y="4800600"/>
            <a:ext cx="114300" cy="247650"/>
          </a:xfrm>
          <a:prstGeom prst="rect">
            <a:avLst/>
          </a:prstGeom>
          <a:solidFill>
            <a:srgbClr val="E4EAFF"/>
          </a:solidFill>
          <a:ln w="12700">
            <a:solidFill>
              <a:srgbClr val="615175"/>
            </a:solidFill>
            <a:prstDash val="solid"/>
          </a:ln>
        </p:spPr>
      </p:sp>
      <p:sp>
        <p:nvSpPr>
          <p:cNvPr id="121" name="Shape 110"/>
          <p:cNvSpPr/>
          <p:nvPr/>
        </p:nvSpPr>
        <p:spPr>
          <a:xfrm>
            <a:off x="3232150" y="4673600"/>
            <a:ext cx="203200" cy="133350"/>
          </a:xfrm>
          <a:prstGeom prst="triangle">
            <a:avLst/>
          </a:prstGeom>
          <a:solidFill>
            <a:srgbClr val="E4EAFF"/>
          </a:solidFill>
          <a:ln w="12700">
            <a:solidFill>
              <a:srgbClr val="615175"/>
            </a:solidFill>
            <a:prstDash val="solid"/>
          </a:ln>
        </p:spPr>
      </p:sp>
      <p:sp>
        <p:nvSpPr>
          <p:cNvPr id="122" name="Text 111"/>
          <p:cNvSpPr/>
          <p:nvPr/>
        </p:nvSpPr>
        <p:spPr>
          <a:xfrm>
            <a:off x="3219450" y="4752340"/>
            <a:ext cx="20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600" dirty="0"/>
          </a:p>
        </p:txBody>
      </p:sp>
      <p:sp>
        <p:nvSpPr>
          <p:cNvPr id="123" name="Shape 112"/>
          <p:cNvSpPr/>
          <p:nvPr/>
        </p:nvSpPr>
        <p:spPr>
          <a:xfrm>
            <a:off x="5378450" y="4800600"/>
            <a:ext cx="114300" cy="247650"/>
          </a:xfrm>
          <a:prstGeom prst="rect">
            <a:avLst/>
          </a:prstGeom>
          <a:solidFill>
            <a:srgbClr val="D6FFB2"/>
          </a:solidFill>
          <a:ln w="12700">
            <a:solidFill>
              <a:srgbClr val="7FA85E"/>
            </a:solidFill>
            <a:prstDash val="solid"/>
          </a:ln>
        </p:spPr>
      </p:sp>
      <p:sp>
        <p:nvSpPr>
          <p:cNvPr id="124" name="Shape 113"/>
          <p:cNvSpPr/>
          <p:nvPr/>
        </p:nvSpPr>
        <p:spPr>
          <a:xfrm>
            <a:off x="5334000" y="4679950"/>
            <a:ext cx="190500" cy="127000"/>
          </a:xfrm>
          <a:prstGeom prst="triangle">
            <a:avLst/>
          </a:prstGeom>
          <a:solidFill>
            <a:srgbClr val="D6FFB2"/>
          </a:solidFill>
          <a:ln w="12700">
            <a:solidFill>
              <a:srgbClr val="7FA85E"/>
            </a:solidFill>
            <a:prstDash val="solid"/>
          </a:ln>
        </p:spPr>
      </p:sp>
      <p:sp>
        <p:nvSpPr>
          <p:cNvPr id="125" name="Text 114"/>
          <p:cNvSpPr/>
          <p:nvPr/>
        </p:nvSpPr>
        <p:spPr>
          <a:xfrm>
            <a:off x="5321300" y="4777740"/>
            <a:ext cx="20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600" dirty="0"/>
          </a:p>
        </p:txBody>
      </p:sp>
      <p:sp>
        <p:nvSpPr>
          <p:cNvPr id="126" name="Shape 115"/>
          <p:cNvSpPr/>
          <p:nvPr/>
        </p:nvSpPr>
        <p:spPr>
          <a:xfrm>
            <a:off x="2787650" y="5048250"/>
            <a:ext cx="1111250" cy="431800"/>
          </a:xfrm>
          <a:prstGeom prst="rect">
            <a:avLst/>
          </a:prstGeom>
          <a:solidFill>
            <a:srgbClr val="DEEBF3"/>
          </a:solidFill>
          <a:ln w="9525">
            <a:solidFill>
              <a:srgbClr val="8E96BC"/>
            </a:solidFill>
            <a:prstDash val="solid"/>
          </a:ln>
        </p:spPr>
      </p:sp>
      <p:sp>
        <p:nvSpPr>
          <p:cNvPr id="127" name="Text 116"/>
          <p:cNvSpPr/>
          <p:nvPr/>
        </p:nvSpPr>
        <p:spPr>
          <a:xfrm>
            <a:off x="2787650" y="5048250"/>
            <a:ext cx="111125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Layer</a:t>
            </a:r>
            <a:endParaRPr lang="en-US" sz="105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(i)</a:t>
            </a:r>
            <a:endParaRPr lang="en-US" sz="1050" dirty="0"/>
          </a:p>
        </p:txBody>
      </p:sp>
      <p:sp>
        <p:nvSpPr>
          <p:cNvPr id="128" name="Shape 117"/>
          <p:cNvSpPr/>
          <p:nvPr/>
        </p:nvSpPr>
        <p:spPr>
          <a:xfrm>
            <a:off x="4857750" y="5048250"/>
            <a:ext cx="1136650" cy="425450"/>
          </a:xfrm>
          <a:prstGeom prst="rect">
            <a:avLst/>
          </a:prstGeom>
          <a:solidFill>
            <a:srgbClr val="D6FFB2"/>
          </a:solidFill>
          <a:ln w="9525">
            <a:solidFill>
              <a:srgbClr val="7FA85E"/>
            </a:solidFill>
            <a:prstDash val="solid"/>
          </a:ln>
        </p:spPr>
      </p:sp>
      <p:sp>
        <p:nvSpPr>
          <p:cNvPr id="129" name="Text 118"/>
          <p:cNvSpPr/>
          <p:nvPr/>
        </p:nvSpPr>
        <p:spPr>
          <a:xfrm>
            <a:off x="4857750" y="5048250"/>
            <a:ext cx="113665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Layer</a:t>
            </a:r>
            <a:endParaRPr lang="en-US" sz="105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(You are here)</a:t>
            </a:r>
            <a:endParaRPr lang="en-US" sz="1050" dirty="0"/>
          </a:p>
        </p:txBody>
      </p:sp>
      <p:sp>
        <p:nvSpPr>
          <p:cNvPr id="130" name="Shape 119"/>
          <p:cNvSpPr/>
          <p:nvPr/>
        </p:nvSpPr>
        <p:spPr>
          <a:xfrm>
            <a:off x="920750" y="5854700"/>
            <a:ext cx="2216150" cy="514350"/>
          </a:xfrm>
          <a:prstGeom prst="rect">
            <a:avLst/>
          </a:prstGeom>
          <a:solidFill>
            <a:srgbClr val="FBFCEA"/>
          </a:solidFill>
          <a:ln w="9525">
            <a:solidFill>
              <a:srgbClr val="B2AFA0"/>
            </a:solidFill>
            <a:prstDash val="solid"/>
          </a:ln>
        </p:spPr>
      </p:sp>
      <p:sp>
        <p:nvSpPr>
          <p:cNvPr id="131" name="Shape 120"/>
          <p:cNvSpPr/>
          <p:nvPr/>
        </p:nvSpPr>
        <p:spPr>
          <a:xfrm>
            <a:off x="3714750" y="5791200"/>
            <a:ext cx="2654300" cy="577850"/>
          </a:xfrm>
          <a:prstGeom prst="rect">
            <a:avLst/>
          </a:prstGeom>
          <a:solidFill>
            <a:srgbClr val="FBFCEA"/>
          </a:solidFill>
          <a:ln w="9525">
            <a:solidFill>
              <a:srgbClr val="B2AFA0"/>
            </a:solidFill>
            <a:prstDash val="solid"/>
          </a:ln>
        </p:spPr>
      </p:sp>
      <p:sp>
        <p:nvSpPr>
          <p:cNvPr id="132" name="Shape 121"/>
          <p:cNvSpPr/>
          <p:nvPr/>
        </p:nvSpPr>
        <p:spPr>
          <a:xfrm>
            <a:off x="6851650" y="5702300"/>
            <a:ext cx="2667000" cy="666750"/>
          </a:xfrm>
          <a:prstGeom prst="rect">
            <a:avLst/>
          </a:prstGeom>
          <a:solidFill>
            <a:srgbClr val="FBFCEA"/>
          </a:solidFill>
          <a:ln w="9525">
            <a:solidFill>
              <a:srgbClr val="B2AFA0"/>
            </a:solidFill>
            <a:prstDash val="solid"/>
          </a:ln>
        </p:spPr>
      </p:sp>
      <p:pic>
        <p:nvPicPr>
          <p:cNvPr id="133" name="Image 9" descr="/home/ahmed/Projects/ai_llm_slides/videos/deep-learning/001_introduction/recreated_pptx/build/assets/eq25_eq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0808" y="5969508"/>
            <a:ext cx="1571244" cy="376428"/>
          </a:xfrm>
          <a:prstGeom prst="rect">
            <a:avLst/>
          </a:prstGeom>
        </p:spPr>
      </p:pic>
      <p:pic>
        <p:nvPicPr>
          <p:cNvPr id="134" name="Image 10" descr="/home/ahmed/Projects/ai_llm_slides/videos/deep-learning/001_introduction/recreated_pptx/build/assets/eq25_eq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59708" y="5829808"/>
            <a:ext cx="2340864" cy="492252"/>
          </a:xfrm>
          <a:prstGeom prst="rect">
            <a:avLst/>
          </a:prstGeom>
        </p:spPr>
      </p:pic>
      <p:pic>
        <p:nvPicPr>
          <p:cNvPr id="135" name="Image 11" descr="/home/ahmed/Projects/ai_llm_slides/videos/deep-learning/001_introduction/recreated_pptx/build/assets/eq25_eq3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22008" y="5804408"/>
            <a:ext cx="1792224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27100" y="1485900"/>
            <a:ext cx="10337800" cy="49784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3300" y="1600200"/>
            <a:ext cx="7239000" cy="2209800"/>
          </a:xfrm>
          <a:prstGeom prst="rect">
            <a:avLst/>
          </a:prstGeom>
          <a:solidFill>
            <a:srgbClr val="DCD4C9"/>
          </a:solidFill>
          <a:ln w="12700">
            <a:solidFill>
              <a:srgbClr val="DCD4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1400" y="3886200"/>
            <a:ext cx="8648700" cy="812800"/>
          </a:xfrm>
          <a:prstGeom prst="rect">
            <a:avLst/>
          </a:prstGeom>
          <a:solidFill>
            <a:srgbClr val="FBFFD8"/>
          </a:solidFill>
          <a:ln w="12700">
            <a:solidFill>
              <a:srgbClr val="FBFF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3300" y="4762500"/>
            <a:ext cx="9702800" cy="1612900"/>
          </a:xfrm>
          <a:prstGeom prst="rect">
            <a:avLst/>
          </a:prstGeom>
          <a:solidFill>
            <a:srgbClr val="DCD4C9"/>
          </a:solidFill>
          <a:ln w="12700">
            <a:solidFill>
              <a:srgbClr val="DCD4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500" y="57378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 the weights by moving in the negative direction of the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84200" y="97528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15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Gradient of the Loss function with respect  to model weights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4064000" y="1752600"/>
            <a:ext cx="355600" cy="133350"/>
          </a:xfrm>
          <a:prstGeom prst="right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3454400" y="5613400"/>
            <a:ext cx="215900" cy="24130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041900" y="2547874"/>
            <a:ext cx="279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(For Sigmoid Function)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56100" y="3310477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(Error at Output layer </a:t>
            </a:r>
            <a:pPr algn="l" indent="0" marL="0">
              <a:lnSpc>
                <a:spcPts val="2100"/>
              </a:lnSpc>
              <a:buNone/>
            </a:pPr>
            <a:r>
              <a:rPr lang="en-US" sz="1650" b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</a:t>
            </a:r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867400" y="4996485"/>
            <a:ext cx="76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829300" y="5778500"/>
            <a:ext cx="88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then</a:t>
            </a:r>
            <a:endParaRPr lang="en-US" sz="2500" dirty="0"/>
          </a:p>
        </p:txBody>
      </p:sp>
      <p:pic>
        <p:nvPicPr>
          <p:cNvPr id="17" name="Image 0" descr="/home/ahmed/Projects/ai_llm_slides/videos/deep-learning/001_introduction/recreated_pptx/build/assets/eq026_c1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0188" y="1655796"/>
            <a:ext cx="1199391" cy="531879"/>
          </a:xfrm>
          <a:prstGeom prst="rect">
            <a:avLst/>
          </a:prstGeom>
        </p:spPr>
      </p:pic>
      <p:pic>
        <p:nvPicPr>
          <p:cNvPr id="18" name="Image 1" descr="/home/ahmed/Projects/ai_llm_slides/videos/deep-learning/001_introduction/recreated_pptx/build/assets/eq026_c1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788" y="1725930"/>
            <a:ext cx="824487" cy="281937"/>
          </a:xfrm>
          <a:prstGeom prst="rect">
            <a:avLst/>
          </a:prstGeom>
        </p:spPr>
      </p:pic>
      <p:pic>
        <p:nvPicPr>
          <p:cNvPr id="19" name="Image 2" descr="/home/ahmed/Projects/ai_llm_slides/videos/deep-learning/001_introduction/recreated_pptx/build/assets/eq026_c1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878" y="1657899"/>
            <a:ext cx="629409" cy="582171"/>
          </a:xfrm>
          <a:prstGeom prst="rect">
            <a:avLst/>
          </a:prstGeom>
        </p:spPr>
      </p:pic>
      <p:pic>
        <p:nvPicPr>
          <p:cNvPr id="20" name="Image 3" descr="/home/ahmed/Projects/ai_llm_slides/videos/deep-learning/001_introduction/recreated_pptx/build/assets/eq026_c1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698" y="1819382"/>
            <a:ext cx="554739" cy="242316"/>
          </a:xfrm>
          <a:prstGeom prst="rect">
            <a:avLst/>
          </a:prstGeom>
        </p:spPr>
      </p:pic>
      <p:pic>
        <p:nvPicPr>
          <p:cNvPr id="21" name="Image 4" descr="/home/ahmed/Projects/ai_llm_slides/videos/deep-learning/001_introduction/recreated_pptx/build/assets/eq026_c20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138" y="2411730"/>
            <a:ext cx="3122676" cy="629409"/>
          </a:xfrm>
          <a:prstGeom prst="rect">
            <a:avLst/>
          </a:prstGeom>
        </p:spPr>
      </p:pic>
      <p:pic>
        <p:nvPicPr>
          <p:cNvPr id="22" name="Image 5" descr="/home/ahmed/Projects/ai_llm_slides/videos/deep-learning/001_introduction/recreated_pptx/build/assets/eq026_c30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3178" y="3311408"/>
            <a:ext cx="169164" cy="199641"/>
          </a:xfrm>
          <a:prstGeom prst="rect">
            <a:avLst/>
          </a:prstGeom>
        </p:spPr>
      </p:pic>
      <p:pic>
        <p:nvPicPr>
          <p:cNvPr id="23" name="Image 6" descr="/home/ahmed/Projects/ai_llm_slides/videos/deep-learning/001_introduction/recreated_pptx/build/assets/eq026_c30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1028" y="3376971"/>
            <a:ext cx="173736" cy="92967"/>
          </a:xfrm>
          <a:prstGeom prst="rect">
            <a:avLst/>
          </a:prstGeom>
        </p:spPr>
      </p:pic>
      <p:pic>
        <p:nvPicPr>
          <p:cNvPr id="24" name="Image 7" descr="/home/ahmed/Projects/ai_llm_slides/videos/deep-learning/001_introduction/recreated_pptx/build/assets/eq026_c30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9349" y="3150382"/>
            <a:ext cx="167637" cy="531879"/>
          </a:xfrm>
          <a:prstGeom prst="rect">
            <a:avLst/>
          </a:prstGeom>
        </p:spPr>
      </p:pic>
      <p:pic>
        <p:nvPicPr>
          <p:cNvPr id="25" name="Image 8" descr="/home/ahmed/Projects/ai_llm_slides/videos/deep-learning/001_introduction/recreated_pptx/build/assets/eq026_c30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5238" y="3241274"/>
            <a:ext cx="243843" cy="545595"/>
          </a:xfrm>
          <a:prstGeom prst="rect">
            <a:avLst/>
          </a:prstGeom>
        </p:spPr>
      </p:pic>
      <p:pic>
        <p:nvPicPr>
          <p:cNvPr id="26" name="Image 9" descr="/home/ahmed/Projects/ai_llm_slides/videos/deep-learning/001_introduction/recreated_pptx/build/assets/eq026_c30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27767" y="3261116"/>
            <a:ext cx="1232913" cy="321567"/>
          </a:xfrm>
          <a:prstGeom prst="rect">
            <a:avLst/>
          </a:prstGeom>
        </p:spPr>
      </p:pic>
      <p:pic>
        <p:nvPicPr>
          <p:cNvPr id="27" name="Image 10" descr="/home/ahmed/Projects/ai_llm_slides/videos/deep-learning/001_introduction/recreated_pptx/build/assets/eq026_c40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72149" y="4119646"/>
            <a:ext cx="1377699" cy="278892"/>
          </a:xfrm>
          <a:prstGeom prst="rect">
            <a:avLst/>
          </a:prstGeom>
        </p:spPr>
      </p:pic>
      <p:pic>
        <p:nvPicPr>
          <p:cNvPr id="28" name="Image 11" descr="/home/ahmed/Projects/ai_llm_slides/videos/deep-learning/001_introduction/recreated_pptx/build/assets/eq026_c40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53288" y="3892509"/>
            <a:ext cx="582171" cy="722376"/>
          </a:xfrm>
          <a:prstGeom prst="rect">
            <a:avLst/>
          </a:prstGeom>
        </p:spPr>
      </p:pic>
      <p:pic>
        <p:nvPicPr>
          <p:cNvPr id="29" name="Image 12" descr="/home/ahmed/Projects/ai_llm_slides/videos/deep-learning/001_introduction/recreated_pptx/build/assets/eq026_c403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518" y="4160794"/>
            <a:ext cx="938787" cy="214884"/>
          </a:xfrm>
          <a:prstGeom prst="rect">
            <a:avLst/>
          </a:prstGeom>
        </p:spPr>
      </p:pic>
      <p:pic>
        <p:nvPicPr>
          <p:cNvPr id="30" name="Image 13" descr="/home/ahmed/Projects/ai_llm_slides/videos/deep-learning/001_introduction/recreated_pptx/build/assets/eq026_c404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82088" y="3892509"/>
            <a:ext cx="786384" cy="722376"/>
          </a:xfrm>
          <a:prstGeom prst="rect">
            <a:avLst/>
          </a:prstGeom>
        </p:spPr>
      </p:pic>
      <p:pic>
        <p:nvPicPr>
          <p:cNvPr id="31" name="Image 14" descr="/home/ahmed/Projects/ai_llm_slides/videos/deep-learning/001_introduction/recreated_pptx/build/assets/eq026_c405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0228" y="3891046"/>
            <a:ext cx="781812" cy="722376"/>
          </a:xfrm>
          <a:prstGeom prst="rect">
            <a:avLst/>
          </a:prstGeom>
        </p:spPr>
      </p:pic>
      <p:pic>
        <p:nvPicPr>
          <p:cNvPr id="32" name="Image 15" descr="/home/ahmed/Projects/ai_llm_slides/videos/deep-learning/001_introduction/recreated_pptx/build/assets/eq026_c501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95888" y="5092934"/>
            <a:ext cx="498348" cy="283464"/>
          </a:xfrm>
          <a:prstGeom prst="rect">
            <a:avLst/>
          </a:prstGeom>
        </p:spPr>
      </p:pic>
      <p:pic>
        <p:nvPicPr>
          <p:cNvPr id="33" name="Image 16" descr="/home/ahmed/Projects/ai_llm_slides/videos/deep-learning/001_introduction/recreated_pptx/build/assets/eq026_c502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11878" y="5135636"/>
            <a:ext cx="963165" cy="219456"/>
          </a:xfrm>
          <a:prstGeom prst="rect">
            <a:avLst/>
          </a:prstGeom>
        </p:spPr>
      </p:pic>
      <p:pic>
        <p:nvPicPr>
          <p:cNvPr id="34" name="Image 17" descr="/home/ahmed/Projects/ai_llm_slides/videos/deep-learning/001_introduction/recreated_pptx/build/assets/eq026_c503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89828" y="4868631"/>
            <a:ext cx="772668" cy="711705"/>
          </a:xfrm>
          <a:prstGeom prst="rect">
            <a:avLst/>
          </a:prstGeom>
        </p:spPr>
      </p:pic>
      <p:pic>
        <p:nvPicPr>
          <p:cNvPr id="35" name="Image 18" descr="/home/ahmed/Projects/ai_llm_slides/videos/deep-learning/001_introduction/recreated_pptx/build/assets/eq026_c504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10588" y="5089916"/>
            <a:ext cx="260604" cy="248415"/>
          </a:xfrm>
          <a:prstGeom prst="rect">
            <a:avLst/>
          </a:prstGeom>
        </p:spPr>
      </p:pic>
      <p:pic>
        <p:nvPicPr>
          <p:cNvPr id="36" name="Image 19" descr="/home/ahmed/Projects/ai_llm_slides/videos/deep-learning/001_introduction/recreated_pptx/build/assets/eq026_c601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58649" y="5088362"/>
            <a:ext cx="219456" cy="286509"/>
          </a:xfrm>
          <a:prstGeom prst="rect">
            <a:avLst/>
          </a:prstGeom>
        </p:spPr>
      </p:pic>
      <p:pic>
        <p:nvPicPr>
          <p:cNvPr id="37" name="Image 20" descr="/home/ahmed/Projects/ai_llm_slides/videos/deep-learning/001_introduction/recreated_pptx/build/assets/eq026_c602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17438" y="5163068"/>
            <a:ext cx="629409" cy="96012"/>
          </a:xfrm>
          <a:prstGeom prst="rect">
            <a:avLst/>
          </a:prstGeom>
        </p:spPr>
      </p:pic>
      <p:pic>
        <p:nvPicPr>
          <p:cNvPr id="38" name="Image 21" descr="/home/ahmed/Projects/ai_llm_slides/videos/deep-learning/001_introduction/recreated_pptx/build/assets/eq026_c603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030249" y="4868631"/>
            <a:ext cx="772668" cy="711705"/>
          </a:xfrm>
          <a:prstGeom prst="rect">
            <a:avLst/>
          </a:prstGeom>
        </p:spPr>
      </p:pic>
      <p:pic>
        <p:nvPicPr>
          <p:cNvPr id="39" name="Image 22" descr="/home/ahmed/Projects/ai_llm_slides/videos/deep-learning/001_introduction/recreated_pptx/build/assets/eq026_c701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75328" y="5904189"/>
            <a:ext cx="505965" cy="286509"/>
          </a:xfrm>
          <a:prstGeom prst="rect">
            <a:avLst/>
          </a:prstGeom>
        </p:spPr>
      </p:pic>
      <p:pic>
        <p:nvPicPr>
          <p:cNvPr id="40" name="Image 23" descr="/home/ahmed/Projects/ai_llm_slides/videos/deep-learning/001_introduction/recreated_pptx/build/assets/eq026_c702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350008" y="5946892"/>
            <a:ext cx="481587" cy="220983"/>
          </a:xfrm>
          <a:prstGeom prst="rect">
            <a:avLst/>
          </a:prstGeom>
        </p:spPr>
      </p:pic>
      <p:pic>
        <p:nvPicPr>
          <p:cNvPr id="41" name="Image 24" descr="/home/ahmed/Projects/ai_llm_slides/videos/deep-learning/001_introduction/recreated_pptx/build/assets/eq026_c703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96088" y="5901172"/>
            <a:ext cx="222501" cy="291081"/>
          </a:xfrm>
          <a:prstGeom prst="rect">
            <a:avLst/>
          </a:prstGeom>
        </p:spPr>
      </p:pic>
      <p:pic>
        <p:nvPicPr>
          <p:cNvPr id="42" name="Image 25" descr="/home/ahmed/Projects/ai_llm_slides/videos/deep-learning/001_introduction/recreated_pptx/build/assets/eq026_c704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35908" y="5901172"/>
            <a:ext cx="265176" cy="252987"/>
          </a:xfrm>
          <a:prstGeom prst="rect">
            <a:avLst/>
          </a:prstGeom>
        </p:spPr>
      </p:pic>
      <p:pic>
        <p:nvPicPr>
          <p:cNvPr id="43" name="Image 26" descr="/home/ahmed/Projects/ai_llm_slides/videos/deep-learning/001_introduction/recreated_pptx/build/assets/eq026_c801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25188" y="5876757"/>
            <a:ext cx="589788" cy="362715"/>
          </a:xfrm>
          <a:prstGeom prst="rect">
            <a:avLst/>
          </a:prstGeom>
        </p:spPr>
      </p:pic>
      <p:pic>
        <p:nvPicPr>
          <p:cNvPr id="44" name="Image 27" descr="/home/ahmed/Projects/ai_llm_slides/videos/deep-learning/001_introduction/recreated_pptx/build/assets/eq026_c802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65008" y="5972769"/>
            <a:ext cx="184407" cy="97539"/>
          </a:xfrm>
          <a:prstGeom prst="rect">
            <a:avLst/>
          </a:prstGeom>
        </p:spPr>
      </p:pic>
      <p:pic>
        <p:nvPicPr>
          <p:cNvPr id="45" name="Image 28" descr="/home/ahmed/Projects/ai_llm_slides/videos/deep-learning/001_introduction/recreated_pptx/build/assets/eq026_c803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44449" y="5840181"/>
            <a:ext cx="493776" cy="397764"/>
          </a:xfrm>
          <a:prstGeom prst="rect">
            <a:avLst/>
          </a:prstGeom>
        </p:spPr>
      </p:pic>
      <p:pic>
        <p:nvPicPr>
          <p:cNvPr id="46" name="Image 29" descr="/home/ahmed/Projects/ai_llm_slides/videos/deep-learning/001_introduction/recreated_pptx/build/assets/eq026_c804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246138" y="5904189"/>
            <a:ext cx="757425" cy="284991"/>
          </a:xfrm>
          <a:prstGeom prst="rect">
            <a:avLst/>
          </a:prstGeom>
        </p:spPr>
      </p:pic>
      <p:sp>
        <p:nvSpPr>
          <p:cNvPr id="47" name="Shape 15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27100" y="1577785"/>
            <a:ext cx="10160000" cy="709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586"/>
              </a:lnSpc>
              <a:buNone/>
            </a:pPr>
            <a:r>
              <a:rPr lang="en-US" sz="5000" b="1" dirty="0">
                <a:solidFill>
                  <a:srgbClr val="B400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Introduction to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1009650" y="2751188"/>
            <a:ext cx="10160000" cy="993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820"/>
              </a:lnSpc>
              <a:buNone/>
            </a:pPr>
            <a:r>
              <a:rPr lang="en-US" sz="7000" b="1" dirty="0">
                <a:solidFill>
                  <a:srgbClr val="B400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996950" y="3848679"/>
            <a:ext cx="10160000" cy="681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363"/>
              </a:lnSpc>
              <a:buNone/>
            </a:pPr>
            <a:r>
              <a:rPr lang="en-US" sz="4800" b="1" dirty="0">
                <a:solidFill>
                  <a:srgbClr val="B400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96950" y="4549441"/>
            <a:ext cx="10160000" cy="1007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932"/>
              </a:lnSpc>
              <a:buNone/>
            </a:pPr>
            <a:r>
              <a:rPr lang="en-US" sz="7100" b="1" dirty="0">
                <a:solidFill>
                  <a:srgbClr val="B400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7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5450" y="1290094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</a:t>
            </a:r>
            <a:endParaRPr lang="en-US" sz="5150" dirty="0"/>
          </a:p>
        </p:txBody>
      </p:sp>
      <p:sp>
        <p:nvSpPr>
          <p:cNvPr id="7" name="Text 5"/>
          <p:cNvSpPr/>
          <p:nvPr/>
        </p:nvSpPr>
        <p:spPr>
          <a:xfrm>
            <a:off x="425450" y="2763294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Convolutional Neural Network</a:t>
            </a:r>
            <a:endParaRPr lang="en-US" sz="5150" dirty="0"/>
          </a:p>
        </p:txBody>
      </p:sp>
      <p:sp>
        <p:nvSpPr>
          <p:cNvPr id="8" name="Text 6"/>
          <p:cNvSpPr/>
          <p:nvPr/>
        </p:nvSpPr>
        <p:spPr>
          <a:xfrm>
            <a:off x="425450" y="3493544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(CNN)</a:t>
            </a:r>
            <a:endParaRPr lang="en-US" sz="5150" dirty="0"/>
          </a:p>
        </p:txBody>
      </p:sp>
      <p:sp>
        <p:nvSpPr>
          <p:cNvPr id="9" name="Text 7"/>
          <p:cNvSpPr/>
          <p:nvPr/>
        </p:nvSpPr>
        <p:spPr>
          <a:xfrm>
            <a:off x="1257300" y="5822025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of Slides are picked from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68400" y="6050625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UVA Deep Learning Course   EFSTRATIOS GAVVES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565400"/>
            <a:ext cx="10464800" cy="355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pic>
        <p:nvPicPr>
          <p:cNvPr id="6" name="Image 0" descr="/home/ahmed/Projects/ai_llm_slides/videos/deep-learning/001_introduction/recreated_pptx/build/assets/meme0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7200" y="2654300"/>
            <a:ext cx="2946400" cy="1562100"/>
          </a:xfrm>
          <a:prstGeom prst="rect">
            <a:avLst/>
          </a:prstGeom>
        </p:spPr>
      </p:pic>
      <p:pic>
        <p:nvPicPr>
          <p:cNvPr id="7" name="Image 1" descr="/home/ahmed/Projects/ai_llm_slides/videos/deep-learning/001_introduction/recreated_pptx/build/assets/cards02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0" y="4216400"/>
            <a:ext cx="3505200" cy="1803400"/>
          </a:xfrm>
          <a:prstGeom prst="rect">
            <a:avLst/>
          </a:prstGeom>
        </p:spPr>
      </p:pic>
      <p:pic>
        <p:nvPicPr>
          <p:cNvPr id="8" name="Image 2" descr="/home/ahmed/Projects/ai_llm_slides/videos/deep-learning/001_introduction/recreated_pptx/build/assets/closeup02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600" y="4940300"/>
            <a:ext cx="3606800" cy="11430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616075" y="2974975"/>
            <a:ext cx="158750" cy="158750"/>
          </a:xfrm>
          <a:prstGeom prst="ellipse">
            <a:avLst/>
          </a:prstGeom>
          <a:ln w="12700">
            <a:solidFill>
              <a:srgbClr val="E1A76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597025" y="4270375"/>
            <a:ext cx="158750" cy="158750"/>
          </a:xfrm>
          <a:prstGeom prst="ellipse">
            <a:avLst/>
          </a:prstGeom>
          <a:ln w="12700">
            <a:solidFill>
              <a:srgbClr val="E1A760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771650" y="3257550"/>
            <a:ext cx="88900" cy="88900"/>
          </a:xfrm>
          <a:prstGeom prst="ellipse">
            <a:avLst/>
          </a:prstGeom>
          <a:ln w="12700">
            <a:solidFill>
              <a:srgbClr val="E1A76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765300" y="3524250"/>
            <a:ext cx="88900" cy="88900"/>
          </a:xfrm>
          <a:prstGeom prst="ellipse">
            <a:avLst/>
          </a:prstGeom>
          <a:ln w="12700">
            <a:solidFill>
              <a:srgbClr val="E1A760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765300" y="4552950"/>
            <a:ext cx="88900" cy="88900"/>
          </a:xfrm>
          <a:prstGeom prst="ellipse">
            <a:avLst/>
          </a:prstGeom>
          <a:ln w="12700">
            <a:solidFill>
              <a:srgbClr val="E1A76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917700" y="2768600"/>
            <a:ext cx="5194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750" spc="285" kern="0" dirty="0">
                <a:solidFill>
                  <a:srgbClr val="5E6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2-D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1943100" y="3063240"/>
            <a:ext cx="516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spc="210" kern="0" dirty="0">
                <a:solidFill>
                  <a:srgbClr val="5E6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 if you also count the extra channels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943100" y="3342640"/>
            <a:ext cx="516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spc="218" kern="0" dirty="0">
                <a:solidFill>
                  <a:srgbClr val="5E6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RGB, hyperspectral, etc.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917700" y="4083050"/>
            <a:ext cx="5194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50" spc="242" kern="0" dirty="0">
                <a:solidFill>
                  <a:srgbClr val="5E6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2-D input really mean?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1943100" y="4371340"/>
            <a:ext cx="516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spc="207" kern="0" dirty="0">
                <a:solidFill>
                  <a:srgbClr val="5E6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Neighboring variables are locally correlated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444500" y="9220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500"/>
              </a:lnSpc>
              <a:buNone/>
            </a:pPr>
            <a:r>
              <a:rPr lang="en-US" sz="4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Structure of Image</a:t>
            </a:r>
            <a:endParaRPr lang="en-US" sz="4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5850" y="2990850"/>
            <a:ext cx="4978400" cy="30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7800" y="3016250"/>
            <a:ext cx="447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300" spc="120" kern="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e.g. Sobel 2-D filter</a:t>
            </a:r>
            <a:endParaRPr lang="en-US" sz="3300" dirty="0"/>
          </a:p>
        </p:txBody>
      </p:sp>
      <p:pic>
        <p:nvPicPr>
          <p:cNvPr id="8" name="Image 0" descr="/home/ahmed/Projects/ai_llm_slides/videos/deep-learning/001_introduction/recreated_pptx/build/assets/meme030_ph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3606800"/>
            <a:ext cx="4292600" cy="21717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46800" y="4406900"/>
            <a:ext cx="647700" cy="215900"/>
          </a:xfrm>
          <a:prstGeom prst="rightArrow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pic>
        <p:nvPicPr>
          <p:cNvPr id="10" name="Image 1" descr="/home/ahmed/Projects/ai_llm_slides/videos/deep-learning/001_introduction/recreated_pptx/build/assets/sobel030_pa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3429000"/>
            <a:ext cx="4457700" cy="2222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4700" y="8407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7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filter on 2-D  gray image  (K=1 Channel)</a:t>
            </a:r>
            <a:endParaRPr lang="en-US" sz="3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44600" y="1689100"/>
            <a:ext cx="10033000" cy="29845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6900" y="88181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351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Get Filters for Recognition</a:t>
            </a:r>
            <a:endParaRPr lang="en-US" sz="3510" dirty="0"/>
          </a:p>
        </p:txBody>
      </p:sp>
      <p:sp>
        <p:nvSpPr>
          <p:cNvPr id="7" name="Text 5"/>
          <p:cNvSpPr/>
          <p:nvPr/>
        </p:nvSpPr>
        <p:spPr>
          <a:xfrm>
            <a:off x="1371600" y="1699082"/>
            <a:ext cx="812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are Several, handcrafted filters in computer vision</a:t>
            </a:r>
            <a:endParaRPr lang="en-US" sz="2350" dirty="0"/>
          </a:p>
        </p:txBody>
      </p:sp>
      <p:sp>
        <p:nvSpPr>
          <p:cNvPr id="8" name="Text 6"/>
          <p:cNvSpPr/>
          <p:nvPr/>
        </p:nvSpPr>
        <p:spPr>
          <a:xfrm>
            <a:off x="1371600" y="2359482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example: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1358900" y="2689682"/>
            <a:ext cx="876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Canny, Sobel, Gaussian blur, smoothing, low- level segmentation,</a:t>
            </a:r>
            <a:endParaRPr lang="en-US" sz="2350" dirty="0"/>
          </a:p>
        </p:txBody>
      </p:sp>
      <p:sp>
        <p:nvSpPr>
          <p:cNvPr id="10" name="Text 8"/>
          <p:cNvSpPr/>
          <p:nvPr/>
        </p:nvSpPr>
        <p:spPr>
          <a:xfrm>
            <a:off x="1371600" y="3019882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morphological filters, Gabor filters,...</a:t>
            </a:r>
            <a:endParaRPr lang="en-US" sz="2350" dirty="0"/>
          </a:p>
        </p:txBody>
      </p:sp>
      <p:sp>
        <p:nvSpPr>
          <p:cNvPr id="11" name="Shape 9"/>
          <p:cNvSpPr/>
          <p:nvPr/>
        </p:nvSpPr>
        <p:spPr>
          <a:xfrm>
            <a:off x="1374775" y="3889375"/>
            <a:ext cx="82550" cy="825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5450" y="3712032"/>
            <a:ext cx="533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 they optimal for recognition?</a:t>
            </a:r>
            <a:endParaRPr lang="en-US" sz="2350" dirty="0"/>
          </a:p>
        </p:txBody>
      </p:sp>
      <p:sp>
        <p:nvSpPr>
          <p:cNvPr id="13" name="Shape 11"/>
          <p:cNvSpPr/>
          <p:nvPr/>
        </p:nvSpPr>
        <p:spPr>
          <a:xfrm>
            <a:off x="1374775" y="4384675"/>
            <a:ext cx="82550" cy="825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5450" y="4207332"/>
            <a:ext cx="533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we learn them from our data?</a:t>
            </a:r>
            <a:endParaRPr lang="en-US" sz="2350" dirty="0"/>
          </a:p>
        </p:txBody>
      </p:sp>
      <p:sp>
        <p:nvSpPr>
          <p:cNvPr id="15" name="Shape 13"/>
          <p:cNvSpPr/>
          <p:nvPr/>
        </p:nvSpPr>
        <p:spPr>
          <a:xfrm>
            <a:off x="4787900" y="5524500"/>
            <a:ext cx="2946400" cy="54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9999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4900" y="5534279"/>
            <a:ext cx="279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Parameters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912100" y="4902200"/>
            <a:ext cx="2806700" cy="15113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1800" y="5041900"/>
            <a:ext cx="44450" cy="12382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1800" y="5041900"/>
            <a:ext cx="120650" cy="317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51800" y="6248400"/>
            <a:ext cx="120650" cy="317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41000" y="5041900"/>
            <a:ext cx="50800" cy="12382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64800" y="5041900"/>
            <a:ext cx="127000" cy="317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4800" y="6248400"/>
            <a:ext cx="127000" cy="317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4" name="Image 0" descr="/home/ahmed/Projects/ai_llm_slides/videos/deep-learning/001_introduction/recreated_pptx/build/assets/eq_031_thet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4710" y="5058415"/>
            <a:ext cx="338328" cy="327657"/>
          </a:xfrm>
          <a:prstGeom prst="rect">
            <a:avLst/>
          </a:prstGeom>
        </p:spPr>
      </p:pic>
      <p:pic>
        <p:nvPicPr>
          <p:cNvPr id="25" name="Image 1" descr="/home/ahmed/Projects/ai_llm_slides/videos/deep-learning/001_introduction/recreated_pptx/build/assets/eq_031_thet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6409" y="5058415"/>
            <a:ext cx="336801" cy="327657"/>
          </a:xfrm>
          <a:prstGeom prst="rect">
            <a:avLst/>
          </a:prstGeom>
        </p:spPr>
      </p:pic>
      <p:pic>
        <p:nvPicPr>
          <p:cNvPr id="26" name="Image 2" descr="/home/ahmed/Projects/ai_llm_slides/videos/deep-learning/001_introduction/recreated_pptx/build/assets/eq_031_theta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8108" y="5058406"/>
            <a:ext cx="341373" cy="330711"/>
          </a:xfrm>
          <a:prstGeom prst="rect">
            <a:avLst/>
          </a:prstGeom>
        </p:spPr>
      </p:pic>
      <p:pic>
        <p:nvPicPr>
          <p:cNvPr id="27" name="Image 3" descr="/home/ahmed/Projects/ai_llm_slides/videos/deep-learning/001_introduction/recreated_pptx/build/assets/eq_031_theta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710" y="5477512"/>
            <a:ext cx="347472" cy="327657"/>
          </a:xfrm>
          <a:prstGeom prst="rect">
            <a:avLst/>
          </a:prstGeom>
        </p:spPr>
      </p:pic>
      <p:pic>
        <p:nvPicPr>
          <p:cNvPr id="28" name="Image 4" descr="/home/ahmed/Projects/ai_llm_slides/videos/deep-learning/001_introduction/recreated_pptx/build/assets/eq_031_theta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6409" y="5477512"/>
            <a:ext cx="339855" cy="330711"/>
          </a:xfrm>
          <a:prstGeom prst="rect">
            <a:avLst/>
          </a:prstGeom>
        </p:spPr>
      </p:pic>
      <p:pic>
        <p:nvPicPr>
          <p:cNvPr id="29" name="Image 5" descr="/home/ahmed/Projects/ai_llm_slides/videos/deep-learning/001_introduction/recreated_pptx/build/assets/eq_031_theta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8108" y="5477512"/>
            <a:ext cx="345945" cy="330711"/>
          </a:xfrm>
          <a:prstGeom prst="rect">
            <a:avLst/>
          </a:prstGeom>
        </p:spPr>
      </p:pic>
      <p:pic>
        <p:nvPicPr>
          <p:cNvPr id="30" name="Image 6" descr="/home/ahmed/Projects/ai_llm_slides/videos/deep-learning/001_introduction/recreated_pptx/build/assets/eq_031_theta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4710" y="5896618"/>
            <a:ext cx="339855" cy="327657"/>
          </a:xfrm>
          <a:prstGeom prst="rect">
            <a:avLst/>
          </a:prstGeom>
        </p:spPr>
      </p:pic>
      <p:pic>
        <p:nvPicPr>
          <p:cNvPr id="31" name="Image 7" descr="/home/ahmed/Projects/ai_llm_slides/videos/deep-learning/001_introduction/recreated_pptx/build/assets/eq_031_theta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6409" y="5896609"/>
            <a:ext cx="344427" cy="330711"/>
          </a:xfrm>
          <a:prstGeom prst="rect">
            <a:avLst/>
          </a:prstGeom>
        </p:spPr>
      </p:pic>
      <p:pic>
        <p:nvPicPr>
          <p:cNvPr id="32" name="Image 8" descr="/home/ahmed/Projects/ai_llm_slides/videos/deep-learning/001_introduction/recreated_pptx/build/assets/eq_031_theta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8108" y="5896609"/>
            <a:ext cx="344427" cy="330711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5150" y="81915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Get Filters for Recognition</a:t>
            </a:r>
            <a:endParaRPr lang="en-US" sz="3500" dirty="0"/>
          </a:p>
        </p:txBody>
      </p:sp>
      <p:sp>
        <p:nvSpPr>
          <p:cNvPr id="7" name="Shape 5"/>
          <p:cNvSpPr/>
          <p:nvPr/>
        </p:nvSpPr>
        <p:spPr>
          <a:xfrm>
            <a:off x="977900" y="1765300"/>
            <a:ext cx="6527800" cy="3594100"/>
          </a:xfrm>
          <a:prstGeom prst="rect">
            <a:avLst/>
          </a:prstGeom>
          <a:solidFill>
            <a:srgbClr val="FFFFFF"/>
          </a:solidFill>
          <a:ln w="19050">
            <a:solidFill>
              <a:srgbClr val="8E88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4900" y="1774698"/>
            <a:ext cx="660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3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images are 2-D,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1104900" y="2104898"/>
            <a:ext cx="660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3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should also be organized in 2-D</a:t>
            </a:r>
            <a:endParaRPr lang="en-US" sz="2350" dirty="0"/>
          </a:p>
        </p:txBody>
      </p:sp>
      <p:sp>
        <p:nvSpPr>
          <p:cNvPr id="10" name="Text 8"/>
          <p:cNvSpPr/>
          <p:nvPr/>
        </p:nvSpPr>
        <p:spPr>
          <a:xfrm>
            <a:off x="1104900" y="2904998"/>
            <a:ext cx="660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3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way they can learn the local</a:t>
            </a:r>
            <a:endParaRPr lang="en-US" sz="2350" dirty="0"/>
          </a:p>
        </p:txBody>
      </p:sp>
      <p:sp>
        <p:nvSpPr>
          <p:cNvPr id="11" name="Text 9"/>
          <p:cNvSpPr/>
          <p:nvPr/>
        </p:nvSpPr>
        <p:spPr>
          <a:xfrm>
            <a:off x="1104900" y="3235198"/>
            <a:ext cx="660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3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correlations between input variables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1104900" y="4035298"/>
            <a:ext cx="660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3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way they can “exploit” the spatial</a:t>
            </a:r>
            <a:endParaRPr lang="en-US" sz="2350" dirty="0"/>
          </a:p>
        </p:txBody>
      </p:sp>
      <p:sp>
        <p:nvSpPr>
          <p:cNvPr id="13" name="Text 11"/>
          <p:cNvSpPr/>
          <p:nvPr/>
        </p:nvSpPr>
        <p:spPr>
          <a:xfrm>
            <a:off x="1104900" y="4365498"/>
            <a:ext cx="660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3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of images</a:t>
            </a:r>
            <a:endParaRPr lang="en-US" sz="2350" dirty="0"/>
          </a:p>
        </p:txBody>
      </p:sp>
      <p:sp>
        <p:nvSpPr>
          <p:cNvPr id="14" name="Shape 12"/>
          <p:cNvSpPr/>
          <p:nvPr/>
        </p:nvSpPr>
        <p:spPr>
          <a:xfrm>
            <a:off x="7772400" y="3441700"/>
            <a:ext cx="3543300" cy="292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02560" y="27813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2-D Image</a:t>
            </a:r>
            <a:endParaRPr lang="en-US" sz="2400" dirty="0"/>
          </a:p>
        </p:txBody>
      </p:sp>
      <p:pic>
        <p:nvPicPr>
          <p:cNvPr id="16" name="Image 0" descr="/home/ahmed/Projects/ai_llm_slides/videos/deep-learning/001_introduction/recreated_pptx/build/assets/slide_032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873500"/>
            <a:ext cx="2159000" cy="2540000"/>
          </a:xfrm>
          <a:prstGeom prst="rect">
            <a:avLst/>
          </a:prstGeom>
        </p:spPr>
      </p:pic>
      <p:pic>
        <p:nvPicPr>
          <p:cNvPr id="17" name="Image 1" descr="/home/ahmed/Projects/ai_llm_slides/videos/deep-learning/001_introduction/recreated_pptx/build/assets/slide_032_word_gray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3505200"/>
            <a:ext cx="2286000" cy="419100"/>
          </a:xfrm>
          <a:prstGeom prst="rect">
            <a:avLst/>
          </a:prstGeom>
        </p:spPr>
      </p:pic>
      <p:pic>
        <p:nvPicPr>
          <p:cNvPr id="18" name="Image 2" descr="/home/ahmed/Projects/ai_llm_slides/videos/deep-learning/001_introduction/recreated_pptx/build/assets/slide_032_word_filt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7900" y="5600700"/>
            <a:ext cx="8382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3880" y="81915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Get Filters for Recognition</a:t>
            </a:r>
            <a:endParaRPr lang="en-US" sz="3500" dirty="0"/>
          </a:p>
        </p:txBody>
      </p:sp>
      <p:sp>
        <p:nvSpPr>
          <p:cNvPr id="7" name="Shape 5"/>
          <p:cNvSpPr/>
          <p:nvPr/>
        </p:nvSpPr>
        <p:spPr>
          <a:xfrm>
            <a:off x="996950" y="1778000"/>
            <a:ext cx="101473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1100" y="1753819"/>
            <a:ext cx="990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Similarly, if images are </a:t>
            </a:r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k-D,</a:t>
            </a:r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parameters should also be </a:t>
            </a:r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k-D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04900" y="2350719"/>
            <a:ext cx="990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</a:t>
            </a:r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K=3</a:t>
            </a:r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(RGB), use  K-D filter (third dim &gt;&gt; K=3)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04900" y="2642819"/>
            <a:ext cx="990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</a:t>
            </a:r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K=9</a:t>
            </a:r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(Satellite  images)  use 9-D filter (3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328410" y="2642819"/>
            <a:ext cx="990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dim = 9)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04900" y="2934919"/>
            <a:ext cx="990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...etc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2603500" y="2082800"/>
            <a:ext cx="774700" cy="22860"/>
          </a:xfrm>
          <a:prstGeom prst="rect">
            <a:avLst/>
          </a:prstGeom>
          <a:solidFill>
            <a:srgbClr val="8888CC"/>
          </a:solidFill>
          <a:ln w="12700">
            <a:solidFill>
              <a:srgbClr val="8888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57700" y="2082800"/>
            <a:ext cx="1308100" cy="22860"/>
          </a:xfrm>
          <a:prstGeom prst="rect">
            <a:avLst/>
          </a:prstGeom>
          <a:solidFill>
            <a:srgbClr val="8888CC"/>
          </a:solidFill>
          <a:ln w="12700">
            <a:solidFill>
              <a:srgbClr val="8888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4900" y="3892550"/>
            <a:ext cx="9810750" cy="24765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16" name="Image 0" descr="/home/ahmed/Projects/ai_llm_slides/videos/deep-learning/001_introduction/recreated_pptx/build/assets/s033_plane_up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4381500"/>
            <a:ext cx="1384300" cy="1117600"/>
          </a:xfrm>
          <a:prstGeom prst="rect">
            <a:avLst/>
          </a:prstGeom>
        </p:spPr>
      </p:pic>
      <p:pic>
        <p:nvPicPr>
          <p:cNvPr id="17" name="Image 1" descr="/home/ahmed/Projects/ai_llm_slides/videos/deep-learning/001_introduction/recreated_pptx/build/assets/s033_plane_low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5499100"/>
            <a:ext cx="1117600" cy="685800"/>
          </a:xfrm>
          <a:prstGeom prst="rect">
            <a:avLst/>
          </a:prstGeom>
        </p:spPr>
      </p:pic>
      <p:pic>
        <p:nvPicPr>
          <p:cNvPr id="18" name="Image 2" descr="/home/ahmed/Projects/ai_llm_slides/videos/deep-learning/001_introduction/recreated_pptx/build/assets/s033_rgb_sla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4038600"/>
            <a:ext cx="2095500" cy="2209800"/>
          </a:xfrm>
          <a:prstGeom prst="rect">
            <a:avLst/>
          </a:prstGeom>
        </p:spPr>
      </p:pic>
      <p:pic>
        <p:nvPicPr>
          <p:cNvPr id="19" name="Image 3" descr="/home/ahmed/Projects/ai_llm_slides/videos/deep-learning/001_introduction/recreated_pptx/build/assets/s033_mc_sla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4356100"/>
            <a:ext cx="2476500" cy="1892300"/>
          </a:xfrm>
          <a:prstGeom prst="rect">
            <a:avLst/>
          </a:prstGeom>
        </p:spPr>
      </p:pic>
      <p:pic>
        <p:nvPicPr>
          <p:cNvPr id="20" name="Image 4" descr="/home/ahmed/Projects/ai_llm_slides/videos/deep-learning/001_introduction/recreated_pptx/build/assets/s033_line_we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6300" y="5537200"/>
            <a:ext cx="787400" cy="1905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2711450" y="5327650"/>
            <a:ext cx="228600" cy="26035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 flipV="1">
            <a:off x="6280150" y="5353050"/>
            <a:ext cx="952500" cy="889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pic>
        <p:nvPicPr>
          <p:cNvPr id="23" name="Image 5" descr="/home/ahmed/Projects/ai_llm_slides/videos/deep-learning/001_introduction/recreated_pptx/build/assets/s033_crop_word_graysca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5300" y="4051300"/>
            <a:ext cx="1714500" cy="317500"/>
          </a:xfrm>
          <a:prstGeom prst="rect">
            <a:avLst/>
          </a:prstGeom>
        </p:spPr>
      </p:pic>
      <p:pic>
        <p:nvPicPr>
          <p:cNvPr id="24" name="Image 6" descr="/home/ahmed/Projects/ai_llm_slides/videos/deep-learning/001_introduction/recreated_pptx/build/assets/s033_crop_word_multichannel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1600" y="4038600"/>
            <a:ext cx="3048000" cy="304800"/>
          </a:xfrm>
          <a:prstGeom prst="rect">
            <a:avLst/>
          </a:prstGeom>
        </p:spPr>
      </p:pic>
      <p:pic>
        <p:nvPicPr>
          <p:cNvPr id="25" name="Image 7" descr="/home/ahmed/Projects/ai_llm_slides/videos/deep-learning/001_introduction/recreated_pptx/build/assets/s033_crop_word_filter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9200" y="5613400"/>
            <a:ext cx="927100" cy="177800"/>
          </a:xfrm>
          <a:prstGeom prst="rect">
            <a:avLst/>
          </a:prstGeom>
        </p:spPr>
      </p:pic>
      <p:pic>
        <p:nvPicPr>
          <p:cNvPr id="26" name="Image 8" descr="/home/ahmed/Projects/ai_llm_slides/videos/deep-learning/001_introduction/recreated_pptx/build/assets/s033_rd_su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8700" y="2755900"/>
            <a:ext cx="1651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5500" y="2146300"/>
            <a:ext cx="10541000" cy="410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6" name="Image 0" descr="/home/ahmed/Projects/ai_llm_slides/videos/deep-learning/001_introduction/recreated_pptx/build/assets/meme0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100" y="3187700"/>
            <a:ext cx="3149600" cy="2463800"/>
          </a:xfrm>
          <a:prstGeom prst="rect">
            <a:avLst/>
          </a:prstGeom>
        </p:spPr>
      </p:pic>
      <p:pic>
        <p:nvPicPr>
          <p:cNvPr id="7" name="Image 1" descr="/home/ahmed/Projects/ai_llm_slides/videos/deep-learning/001_introduction/recreated_pptx/build/assets/rgbstack03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100" y="2730500"/>
            <a:ext cx="3810000" cy="3060700"/>
          </a:xfrm>
          <a:prstGeom prst="rect">
            <a:avLst/>
          </a:prstGeom>
        </p:spPr>
      </p:pic>
      <p:pic>
        <p:nvPicPr>
          <p:cNvPr id="8" name="Image 2" descr="/home/ahmed/Projects/ai_llm_slides/videos/deep-learning/001_introduction/recreated_pptx/build/assets/cube03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0" y="3403600"/>
            <a:ext cx="2552700" cy="27051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8800" y="80645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a k-D filter looks like?</a:t>
            </a:r>
            <a:endParaRPr lang="en-US" sz="3500" dirty="0"/>
          </a:p>
        </p:txBody>
      </p:sp>
      <p:sp>
        <p:nvSpPr>
          <p:cNvPr id="10" name="Text 5"/>
          <p:cNvSpPr/>
          <p:nvPr/>
        </p:nvSpPr>
        <p:spPr>
          <a:xfrm>
            <a:off x="1073150" y="258445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e.g. Sobel 2-D filter</a:t>
            </a:r>
            <a:endParaRPr lang="en-US" sz="2650" dirty="0"/>
          </a:p>
        </p:txBody>
      </p:sp>
      <p:sp>
        <p:nvSpPr>
          <p:cNvPr id="11" name="Text 6"/>
          <p:cNvSpPr/>
          <p:nvPr/>
        </p:nvSpPr>
        <p:spPr>
          <a:xfrm>
            <a:off x="9499600" y="2870200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3-D Filter</a:t>
            </a: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19650" y="2139950"/>
            <a:ext cx="6426200" cy="3340100"/>
          </a:xfrm>
          <a:prstGeom prst="rect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pic>
        <p:nvPicPr>
          <p:cNvPr id="6" name="Image 0" descr="/home/ahmed/Projects/ai_llm_slides/videos/deep-learning/001_introduction/recreated_pptx/build/assets/leftgrid0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00" y="2628900"/>
            <a:ext cx="2120900" cy="1663700"/>
          </a:xfrm>
          <a:prstGeom prst="rect">
            <a:avLst/>
          </a:prstGeom>
        </p:spPr>
      </p:pic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0" y="2781300"/>
          <a:ext cx="1193800" cy="914400"/>
        </p:xfrm>
        <a:graphic>
          <a:graphicData uri="http://schemas.openxmlformats.org/drawingml/2006/table">
            <a:tbl>
              <a:tblPr/>
              <a:tblGrid>
                <a:gridCol w="397891"/>
                <a:gridCol w="397891"/>
                <a:gridCol w="398018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5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pic>
        <p:nvPicPr>
          <p:cNvPr id="8" name="Image 1" descr="/home/ahmed/Projects/ai_llm_slides/videos/deep-learning/001_introduction/recreated_pptx/build/assets/panelcontent03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600" y="2349500"/>
            <a:ext cx="6070600" cy="299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08100" y="2184400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2750" dirty="0"/>
          </a:p>
        </p:txBody>
      </p:sp>
      <p:sp>
        <p:nvSpPr>
          <p:cNvPr id="10" name="Text 5"/>
          <p:cNvSpPr/>
          <p:nvPr/>
        </p:nvSpPr>
        <p:spPr>
          <a:xfrm>
            <a:off x="3467100" y="2203450"/>
            <a:ext cx="15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2750" dirty="0"/>
          </a:p>
        </p:txBody>
      </p:sp>
      <p:sp>
        <p:nvSpPr>
          <p:cNvPr id="11" name="Text 6"/>
          <p:cNvSpPr/>
          <p:nvPr/>
        </p:nvSpPr>
        <p:spPr>
          <a:xfrm>
            <a:off x="730250" y="65659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Apply Filter on image</a:t>
            </a:r>
            <a:endParaRPr lang="en-US" sz="3300" dirty="0"/>
          </a:p>
        </p:txBody>
      </p:sp>
      <p:sp>
        <p:nvSpPr>
          <p:cNvPr id="12" name="Shape 7"/>
          <p:cNvSpPr/>
          <p:nvPr/>
        </p:nvSpPr>
        <p:spPr>
          <a:xfrm>
            <a:off x="857250" y="5664200"/>
            <a:ext cx="10452100" cy="774700"/>
          </a:xfrm>
          <a:prstGeom prst="rect">
            <a:avLst/>
          </a:prstGeom>
          <a:solidFill>
            <a:srgbClr val="FCFEE9"/>
          </a:solidFill>
          <a:ln w="19050">
            <a:solidFill>
              <a:srgbClr val="9797B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996950" y="5645150"/>
            <a:ext cx="1035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Filter on Image is a Dot product between image values and filter values</a:t>
            </a:r>
            <a:endParaRPr lang="en-US" sz="2350" dirty="0"/>
          </a:p>
        </p:txBody>
      </p:sp>
      <p:sp>
        <p:nvSpPr>
          <p:cNvPr id="14" name="Text 9"/>
          <p:cNvSpPr/>
          <p:nvPr/>
        </p:nvSpPr>
        <p:spPr>
          <a:xfrm>
            <a:off x="1060450" y="596265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235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modeled  by </a:t>
            </a:r>
            <a:pPr algn="l" indent="0" marL="0">
              <a:buNone/>
            </a:pPr>
            <a:r>
              <a:rPr lang="en-US" sz="2350" b="1" i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PERCEPTRON</a:t>
            </a:r>
            <a:pPr algn="l" indent="0" marL="0">
              <a:buNone/>
            </a:pPr>
            <a:r>
              <a:rPr lang="en-US" sz="235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2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97000" y="1981200"/>
            <a:ext cx="9271000" cy="439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82169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Parameters are  in the  RGB</a:t>
            </a:r>
            <a:endParaRPr lang="en-US" sz="3500" dirty="0"/>
          </a:p>
          <a:p>
            <a:pPr algn="ctr" indent="0" marL="0">
              <a:lnSpc>
                <a:spcPts val="3900"/>
              </a:lnSpc>
              <a:buNone/>
            </a:pPr>
            <a:r>
              <a:rPr lang="en-US" sz="3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filter  ( K=3 )</a:t>
            </a:r>
            <a:endParaRPr lang="en-US" sz="3500" dirty="0"/>
          </a:p>
        </p:txBody>
      </p:sp>
      <p:pic>
        <p:nvPicPr>
          <p:cNvPr id="7" name="Image 0" descr="/home/ahmed/Projects/ai_llm_slides/videos/deep-learning/001_introduction/recreated_pptx/build/assets/slabtop0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6600" y="2032000"/>
            <a:ext cx="3111500" cy="774700"/>
          </a:xfrm>
          <a:prstGeom prst="rect">
            <a:avLst/>
          </a:prstGeom>
        </p:spPr>
      </p:pic>
      <p:pic>
        <p:nvPicPr>
          <p:cNvPr id="8" name="Image 1" descr="/home/ahmed/Projects/ai_llm_slides/videos/deep-learning/001_introduction/recreated_pptx/build/assets/slabbody0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00" y="2781300"/>
            <a:ext cx="2832100" cy="2235200"/>
          </a:xfrm>
          <a:prstGeom prst="rect">
            <a:avLst/>
          </a:prstGeom>
        </p:spPr>
      </p:pic>
      <p:pic>
        <p:nvPicPr>
          <p:cNvPr id="9" name="Image 2" descr="/home/ahmed/Projects/ai_llm_slides/videos/deep-learning/001_introduction/recreated_pptx/build/assets/filterunit03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048000"/>
            <a:ext cx="1549400" cy="21590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426200" y="3683000"/>
            <a:ext cx="381000" cy="50800"/>
          </a:xfrm>
          <a:prstGeom prst="rect">
            <a:avLst/>
          </a:prstGeom>
          <a:solidFill>
            <a:srgbClr val="3EAEC6"/>
          </a:solidFill>
          <a:ln w="6350">
            <a:solidFill>
              <a:srgbClr val="3EAEC6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426200" y="3784600"/>
            <a:ext cx="381000" cy="50800"/>
          </a:xfrm>
          <a:prstGeom prst="rect">
            <a:avLst/>
          </a:prstGeom>
          <a:solidFill>
            <a:srgbClr val="3EAEC6"/>
          </a:solidFill>
          <a:ln w="6350">
            <a:solidFill>
              <a:srgbClr val="3EAEC6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086600" y="3962400"/>
            <a:ext cx="25400" cy="101600"/>
          </a:xfrm>
          <a:prstGeom prst="rect">
            <a:avLst/>
          </a:prstGeom>
          <a:solidFill>
            <a:srgbClr val="BDBFBC"/>
          </a:solidFill>
          <a:ln w="3175">
            <a:solidFill>
              <a:srgbClr val="BDBFB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7035800" y="4000500"/>
            <a:ext cx="127000" cy="25400"/>
          </a:xfrm>
          <a:prstGeom prst="rect">
            <a:avLst/>
          </a:prstGeom>
          <a:solidFill>
            <a:srgbClr val="BDBFBC"/>
          </a:solidFill>
          <a:ln w="3175">
            <a:solidFill>
              <a:srgbClr val="BDBFB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7277100" y="3581400"/>
            <a:ext cx="495300" cy="368300"/>
          </a:xfrm>
          <a:prstGeom prst="ellipse">
            <a:avLst/>
          </a:prstGeom>
          <a:solidFill>
            <a:srgbClr val="E8862E"/>
          </a:solidFill>
          <a:ln w="6350">
            <a:solidFill>
              <a:srgbClr val="E8862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366000" y="3644900"/>
            <a:ext cx="330200" cy="228600"/>
          </a:xfrm>
          <a:prstGeom prst="ellipse">
            <a:avLst/>
          </a:prstGeom>
          <a:solidFill>
            <a:srgbClr val="11BDEB"/>
          </a:solidFill>
          <a:ln w="6350">
            <a:solidFill>
              <a:srgbClr val="11BDE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766050" y="4127500"/>
            <a:ext cx="622300" cy="1054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17" name="Text 12"/>
          <p:cNvSpPr/>
          <p:nvPr/>
        </p:nvSpPr>
        <p:spPr>
          <a:xfrm>
            <a:off x="552450" y="512699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How many weights for this neuron?</a:t>
            </a:r>
            <a:endParaRPr lang="en-US" sz="3900" dirty="0"/>
          </a:p>
        </p:txBody>
      </p:sp>
      <p:pic>
        <p:nvPicPr>
          <p:cNvPr id="18" name="Image 3" descr="/home/ahmed/Projects/ai_llm_slides/videos/deep-learning/001_introduction/recreated_pptx/build/assets/eq_147_03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108" y="5804408"/>
            <a:ext cx="3243075" cy="33222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5500" y="3327400"/>
            <a:ext cx="105664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1350" y="8153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filter can we apply on the image</a:t>
            </a:r>
            <a:endParaRPr lang="en-US" sz="3500" dirty="0"/>
          </a:p>
        </p:txBody>
      </p:sp>
      <p:sp>
        <p:nvSpPr>
          <p:cNvPr id="7" name="Shape 5"/>
          <p:cNvSpPr/>
          <p:nvPr/>
        </p:nvSpPr>
        <p:spPr>
          <a:xfrm>
            <a:off x="812800" y="1727200"/>
            <a:ext cx="10680700" cy="1384300"/>
          </a:xfrm>
          <a:prstGeom prst="rect">
            <a:avLst/>
          </a:prstGeom>
          <a:solidFill>
            <a:srgbClr val="FFFFE1"/>
          </a:solidFill>
          <a:ln/>
        </p:spPr>
      </p:sp>
      <p:sp>
        <p:nvSpPr>
          <p:cNvPr id="8" name="Shape 6"/>
          <p:cNvSpPr/>
          <p:nvPr/>
        </p:nvSpPr>
        <p:spPr>
          <a:xfrm>
            <a:off x="812800" y="1727200"/>
            <a:ext cx="10680700" cy="25400"/>
          </a:xfrm>
          <a:prstGeom prst="rect">
            <a:avLst/>
          </a:prstGeom>
          <a:solidFill>
            <a:srgbClr val="B7BAAB"/>
          </a:solidFill>
          <a:ln w="3175">
            <a:solidFill>
              <a:srgbClr val="B7BA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800" y="3086100"/>
            <a:ext cx="10680700" cy="25400"/>
          </a:xfrm>
          <a:prstGeom prst="rect">
            <a:avLst/>
          </a:prstGeom>
          <a:solidFill>
            <a:srgbClr val="B7BAAB"/>
          </a:solidFill>
          <a:ln w="3175">
            <a:solidFill>
              <a:srgbClr val="B7BA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800" y="1727200"/>
            <a:ext cx="25400" cy="1384300"/>
          </a:xfrm>
          <a:prstGeom prst="rect">
            <a:avLst/>
          </a:prstGeom>
          <a:solidFill>
            <a:srgbClr val="B7BAAB"/>
          </a:solidFill>
          <a:ln w="3175">
            <a:solidFill>
              <a:srgbClr val="B7BA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800" y="1714500"/>
            <a:ext cx="10515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can Apply </a:t>
            </a:r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multiple filters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on the </a:t>
            </a:r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location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(e.g. 5 different filters on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same location.  For Example: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one to </a:t>
            </a:r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 edges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one to </a:t>
            </a:r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 lines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one to </a:t>
            </a:r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 curves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...etc)</a:t>
            </a:r>
            <a:endParaRPr lang="en-US" sz="2600" dirty="0"/>
          </a:p>
        </p:txBody>
      </p:sp>
      <p:pic>
        <p:nvPicPr>
          <p:cNvPr id="12" name="Image 0" descr="/home/ahmed/Projects/ai_llm_slides/videos/deep-learning/001_introduction/recreated_pptx/build/assets/diagram0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600" y="3378200"/>
            <a:ext cx="10490200" cy="23495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-1320800" y="5527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How many weights for these 5 neurons?</a:t>
            </a:r>
            <a:endParaRPr lang="en-US" sz="2750" dirty="0"/>
          </a:p>
        </p:txBody>
      </p:sp>
      <p:pic>
        <p:nvPicPr>
          <p:cNvPr id="14" name="Image 1" descr="/home/ahmed/Projects/ai_llm_slides/videos/deep-learning/001_introduction/recreated_pptx/build/assets/eq_735_0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008" y="6172708"/>
            <a:ext cx="2825496" cy="24231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4100" y="798957"/>
            <a:ext cx="1016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Filters parameters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143000" y="1485900"/>
            <a:ext cx="10033000" cy="1498600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1740471"/>
            <a:ext cx="9779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Number of parameters for different filters applied to same location in the image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95400" y="2184972"/>
            <a:ext cx="9779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</a:t>
            </a:r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 size (2-D)</a:t>
            </a:r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* </a:t>
            </a:r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Number of channels (K)</a:t>
            </a:r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* </a:t>
            </a:r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99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number of different filters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95400" y="2623121"/>
            <a:ext cx="9779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</a:t>
            </a:r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7*7</a:t>
            </a:r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* </a:t>
            </a:r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* </a:t>
            </a:r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99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=735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311400" y="3175000"/>
            <a:ext cx="7988300" cy="332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11" name="Image 0" descr="/home/ahmed/Projects/ai_llm_slides/videos/deep-learning/001_introduction/recreated_pptx/build/assets/slab038_br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1200" y="3683000"/>
            <a:ext cx="1269492" cy="1905000"/>
          </a:xfrm>
          <a:prstGeom prst="rect">
            <a:avLst/>
          </a:prstGeom>
        </p:spPr>
      </p:pic>
      <p:pic>
        <p:nvPicPr>
          <p:cNvPr id="12" name="Image 1" descr="/home/ahmed/Projects/ai_llm_slides/videos/deep-learning/001_introduction/recreated_pptx/build/assets/slab038_st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4241800"/>
            <a:ext cx="2107692" cy="86258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45000" y="4508500"/>
            <a:ext cx="508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4445000" y="4648200"/>
            <a:ext cx="508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4445000" y="4775200"/>
            <a:ext cx="508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4445000" y="4914900"/>
            <a:ext cx="508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4445000" y="4216400"/>
            <a:ext cx="30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7302500" y="4603750"/>
            <a:ext cx="215900" cy="50800"/>
          </a:xfrm>
          <a:prstGeom prst="rect">
            <a:avLst/>
          </a:prstGeom>
          <a:solidFill>
            <a:srgbClr val="6699FF"/>
          </a:solidFill>
          <a:ln w="12700">
            <a:solidFill>
              <a:srgbClr val="6699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64400" y="4686300"/>
            <a:ext cx="254000" cy="63500"/>
          </a:xfrm>
          <a:prstGeom prst="rect">
            <a:avLst/>
          </a:prstGeom>
          <a:solidFill>
            <a:srgbClr val="6699FF"/>
          </a:solidFill>
          <a:ln w="12700">
            <a:solidFill>
              <a:srgbClr val="6699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766050" y="4508500"/>
            <a:ext cx="355600" cy="355600"/>
          </a:xfrm>
          <a:prstGeom prst="ellipse">
            <a:avLst/>
          </a:prstGeom>
          <a:solidFill>
            <a:srgbClr val="0BBFE9"/>
          </a:solidFill>
          <a:ln w="25400">
            <a:solidFill>
              <a:srgbClr val="D5842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248650" y="4508500"/>
            <a:ext cx="355600" cy="355600"/>
          </a:xfrm>
          <a:prstGeom prst="ellipse">
            <a:avLst/>
          </a:prstGeom>
          <a:solidFill>
            <a:srgbClr val="0ABF50"/>
          </a:solidFill>
          <a:ln w="25400">
            <a:solidFill>
              <a:srgbClr val="D5842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731250" y="4508500"/>
            <a:ext cx="355600" cy="355600"/>
          </a:xfrm>
          <a:prstGeom prst="ellipse">
            <a:avLst/>
          </a:prstGeom>
          <a:solidFill>
            <a:srgbClr val="E90000"/>
          </a:solidFill>
          <a:ln w="25400">
            <a:solidFill>
              <a:srgbClr val="D5842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239250" y="4508500"/>
            <a:ext cx="355600" cy="355600"/>
          </a:xfrm>
          <a:prstGeom prst="ellipse">
            <a:avLst/>
          </a:prstGeom>
          <a:solidFill>
            <a:srgbClr val="FDFF0B"/>
          </a:solidFill>
          <a:ln w="25400">
            <a:solidFill>
              <a:srgbClr val="D5842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709150" y="4508500"/>
            <a:ext cx="355600" cy="355600"/>
          </a:xfrm>
          <a:prstGeom prst="ellipse">
            <a:avLst/>
          </a:prstGeom>
          <a:solidFill>
            <a:srgbClr val="6A239D"/>
          </a:solidFill>
          <a:ln w="25400">
            <a:solidFill>
              <a:srgbClr val="D58429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708400" y="3327400"/>
            <a:ext cx="863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spc="700" kern="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RGB</a:t>
            </a:r>
            <a:endParaRPr lang="en-US" sz="2100" dirty="0"/>
          </a:p>
        </p:txBody>
      </p:sp>
      <p:sp>
        <p:nvSpPr>
          <p:cNvPr id="26" name="Text 22"/>
          <p:cNvSpPr/>
          <p:nvPr/>
        </p:nvSpPr>
        <p:spPr>
          <a:xfrm>
            <a:off x="3987800" y="36576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 dims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080000" y="4165600"/>
            <a:ext cx="25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7</a:t>
            </a:r>
            <a:endParaRPr lang="en-US" sz="1900" dirty="0"/>
          </a:p>
        </p:txBody>
      </p:sp>
      <p:sp>
        <p:nvSpPr>
          <p:cNvPr id="28" name="Text 24"/>
          <p:cNvSpPr/>
          <p:nvPr/>
        </p:nvSpPr>
        <p:spPr>
          <a:xfrm>
            <a:off x="4749800" y="4495800"/>
            <a:ext cx="304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7</a:t>
            </a:r>
            <a:endParaRPr lang="en-US" sz="2300" dirty="0"/>
          </a:p>
        </p:txBody>
      </p:sp>
      <p:sp>
        <p:nvSpPr>
          <p:cNvPr id="29" name="Text 25"/>
          <p:cNvSpPr/>
          <p:nvPr/>
        </p:nvSpPr>
        <p:spPr>
          <a:xfrm>
            <a:off x="4800600" y="4762500"/>
            <a:ext cx="279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7</a:t>
            </a:r>
            <a:endParaRPr lang="en-US" sz="2300" dirty="0"/>
          </a:p>
        </p:txBody>
      </p:sp>
      <p:sp>
        <p:nvSpPr>
          <p:cNvPr id="30" name="Text 26"/>
          <p:cNvSpPr/>
          <p:nvPr/>
        </p:nvSpPr>
        <p:spPr>
          <a:xfrm>
            <a:off x="5588000" y="4470400"/>
            <a:ext cx="38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7</a:t>
            </a:r>
            <a:endParaRPr lang="en-US" sz="3400" dirty="0"/>
          </a:p>
        </p:txBody>
      </p:sp>
      <p:sp>
        <p:nvSpPr>
          <p:cNvPr id="31" name="Text 27"/>
          <p:cNvSpPr/>
          <p:nvPr/>
        </p:nvSpPr>
        <p:spPr>
          <a:xfrm>
            <a:off x="6629400" y="4241800"/>
            <a:ext cx="431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7</a:t>
            </a:r>
            <a:endParaRPr lang="en-US" sz="4200" dirty="0"/>
          </a:p>
        </p:txBody>
      </p:sp>
      <p:sp>
        <p:nvSpPr>
          <p:cNvPr id="32" name="Text 28"/>
          <p:cNvSpPr/>
          <p:nvPr/>
        </p:nvSpPr>
        <p:spPr>
          <a:xfrm>
            <a:off x="4978400" y="5067300"/>
            <a:ext cx="279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1700" dirty="0"/>
          </a:p>
        </p:txBody>
      </p:sp>
      <p:sp>
        <p:nvSpPr>
          <p:cNvPr id="33" name="Text 29"/>
          <p:cNvSpPr/>
          <p:nvPr/>
        </p:nvSpPr>
        <p:spPr>
          <a:xfrm>
            <a:off x="4724400" y="5918200"/>
            <a:ext cx="228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spc="250" kern="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735 weights</a:t>
            </a:r>
            <a:endParaRPr lang="en-US" sz="2500" dirty="0"/>
          </a:p>
        </p:txBody>
      </p:sp>
      <p:sp>
        <p:nvSpPr>
          <p:cNvPr id="34" name="Shape 30"/>
          <p:cNvSpPr/>
          <p:nvPr/>
        </p:nvSpPr>
        <p:spPr>
          <a:xfrm flipH="1">
            <a:off x="3632200" y="3771900"/>
            <a:ext cx="546100" cy="43180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 flipH="1" flipV="1">
            <a:off x="5067300" y="5130800"/>
            <a:ext cx="787400" cy="736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6" name="Shape 32"/>
          <p:cNvSpPr/>
          <p:nvPr/>
        </p:nvSpPr>
        <p:spPr>
          <a:xfrm flipH="1" flipV="1">
            <a:off x="5448300" y="5130800"/>
            <a:ext cx="406400" cy="736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 flipH="1" flipV="1">
            <a:off x="5842000" y="5130800"/>
            <a:ext cx="12700" cy="736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8" name="Shape 34"/>
          <p:cNvSpPr/>
          <p:nvPr/>
        </p:nvSpPr>
        <p:spPr>
          <a:xfrm flipV="1">
            <a:off x="5854700" y="5130800"/>
            <a:ext cx="381000" cy="736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9" name="Shape 35"/>
          <p:cNvSpPr/>
          <p:nvPr/>
        </p:nvSpPr>
        <p:spPr>
          <a:xfrm flipV="1">
            <a:off x="5854700" y="5130800"/>
            <a:ext cx="762000" cy="736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 flipV="1">
            <a:off x="5156200" y="5334000"/>
            <a:ext cx="431800" cy="292100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461000" y="5054600"/>
            <a:ext cx="101600" cy="2286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8850" y="1276350"/>
            <a:ext cx="10223500" cy="2470150"/>
          </a:xfrm>
          <a:prstGeom prst="rect">
            <a:avLst/>
          </a:prstGeom>
          <a:solidFill>
            <a:srgbClr val="FFFFFF"/>
          </a:solidFill>
          <a:ln w="19050">
            <a:solidFill>
              <a:srgbClr val="8C89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48000" y="3352800"/>
            <a:ext cx="6089650" cy="33655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1237761"/>
            <a:ext cx="1003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Hypothesis</a:t>
            </a:r>
            <a:endParaRPr lang="en-US" sz="2350" dirty="0"/>
          </a:p>
        </p:txBody>
      </p:sp>
      <p:sp>
        <p:nvSpPr>
          <p:cNvPr id="8" name="Text 6"/>
          <p:cNvSpPr/>
          <p:nvPr/>
        </p:nvSpPr>
        <p:spPr>
          <a:xfrm>
            <a:off x="1066800" y="1567961"/>
            <a:ext cx="1003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Natural images are stationary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1066800" y="1898161"/>
            <a:ext cx="1003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 features are common for different parts of one or multiple image</a:t>
            </a:r>
            <a:endParaRPr lang="en-US" sz="2350" dirty="0"/>
          </a:p>
        </p:txBody>
      </p:sp>
      <p:sp>
        <p:nvSpPr>
          <p:cNvPr id="10" name="Text 8"/>
          <p:cNvSpPr/>
          <p:nvPr/>
        </p:nvSpPr>
        <p:spPr>
          <a:xfrm>
            <a:off x="1066800" y="2596661"/>
            <a:ext cx="1003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350" dirty="0"/>
          </a:p>
        </p:txBody>
      </p:sp>
      <p:sp>
        <p:nvSpPr>
          <p:cNvPr id="11" name="Text 9"/>
          <p:cNvSpPr/>
          <p:nvPr/>
        </p:nvSpPr>
        <p:spPr>
          <a:xfrm>
            <a:off x="1066800" y="2914161"/>
            <a:ext cx="1003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not required to use different filters for different spatial locations  in the image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1066800" y="3244361"/>
            <a:ext cx="1003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(in other words, </a:t>
            </a:r>
            <a:pPr algn="l" indent="0" marL="0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same filter for ALL positions in the image</a:t>
            </a:r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2350" dirty="0"/>
          </a:p>
        </p:txBody>
      </p:sp>
      <p:pic>
        <p:nvPicPr>
          <p:cNvPr id="13" name="Image 0" descr="/home/ahmed/Projects/ai_llm_slides/videos/deep-learning/001_introduction/recreated_pptx/build/assets/slide039_cat_ph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4100" y="3911600"/>
            <a:ext cx="3378200" cy="1727200"/>
          </a:xfrm>
          <a:prstGeom prst="rect">
            <a:avLst/>
          </a:prstGeom>
        </p:spPr>
      </p:pic>
      <p:pic>
        <p:nvPicPr>
          <p:cNvPr id="14" name="Image 1" descr="/home/ahmed/Projects/ai_llm_slides/videos/deep-learning/001_introduction/recreated_pptx/build/assets/slide039_dog_pho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100" y="3873500"/>
            <a:ext cx="3302000" cy="17653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5746750"/>
            <a:ext cx="10521950" cy="781050"/>
          </a:xfrm>
          <a:prstGeom prst="rect">
            <a:avLst/>
          </a:prstGeom>
          <a:solidFill>
            <a:srgbClr val="FAFDEA"/>
          </a:solidFill>
          <a:ln w="19050">
            <a:solidFill>
              <a:srgbClr val="A6A3B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530350" y="6007100"/>
            <a:ext cx="546100" cy="20955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7" name="Text 13"/>
          <p:cNvSpPr/>
          <p:nvPr/>
        </p:nvSpPr>
        <p:spPr>
          <a:xfrm>
            <a:off x="1016000" y="5724819"/>
            <a:ext cx="1016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5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</a:t>
            </a:r>
            <a:pPr algn="l" indent="0" marL="0">
              <a:lnSpc>
                <a:spcPts val="1700"/>
              </a:lnSpc>
              <a:buNone/>
            </a:pPr>
            <a:r>
              <a:rPr lang="en-US" sz="145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pPr algn="l" indent="0" marL="0">
              <a:lnSpc>
                <a:spcPts val="1700"/>
              </a:lnSpc>
              <a:buNone/>
            </a:pPr>
            <a:r>
              <a:rPr lang="en-US" sz="145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filter to detect ears in the whole image (not necessarily in the middle of the image)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1016000" y="5928019"/>
            <a:ext cx="1016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5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</a:t>
            </a:r>
            <a:pPr algn="l" indent="0" marL="0">
              <a:lnSpc>
                <a:spcPts val="1700"/>
              </a:lnSpc>
              <a:buNone/>
            </a:pPr>
            <a:r>
              <a:rPr lang="en-US" sz="145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pPr algn="l" indent="0" marL="0">
              <a:lnSpc>
                <a:spcPts val="1700"/>
              </a:lnSpc>
              <a:buNone/>
            </a:pPr>
            <a:r>
              <a:rPr lang="en-US" sz="145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filter to detect nose in the whole image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1028700" y="6131219"/>
            <a:ext cx="1016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5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</a:t>
            </a:r>
            <a:pPr algn="l" indent="0" marL="0">
              <a:lnSpc>
                <a:spcPts val="1700"/>
              </a:lnSpc>
              <a:buNone/>
            </a:pPr>
            <a:r>
              <a:rPr lang="en-US" sz="145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pPr algn="l" indent="0" marL="0">
              <a:lnSpc>
                <a:spcPts val="1700"/>
              </a:lnSpc>
              <a:buNone/>
            </a:pPr>
            <a:r>
              <a:rPr lang="en-US" sz="145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filter to detect edges in the whole image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647700" y="6426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87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many filters we should apply</a:t>
            </a:r>
            <a:endParaRPr lang="en-US" sz="387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33450" y="4603750"/>
            <a:ext cx="7797800" cy="1625600"/>
          </a:xfrm>
          <a:prstGeom prst="rect">
            <a:avLst/>
          </a:prstGeom>
          <a:solidFill>
            <a:srgbClr val="FAFCE7"/>
          </a:solidFill>
          <a:ln w="25400">
            <a:solidFill>
              <a:srgbClr val="A59F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1400" y="4544518"/>
            <a:ext cx="749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30 different filters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041400" y="4873568"/>
            <a:ext cx="749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6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filter can detect different information from the image</a:t>
            </a:r>
            <a:endParaRPr lang="en-US" sz="2160" dirty="0"/>
          </a:p>
        </p:txBody>
      </p:sp>
      <p:sp>
        <p:nvSpPr>
          <p:cNvPr id="8" name="Text 6"/>
          <p:cNvSpPr/>
          <p:nvPr/>
        </p:nvSpPr>
        <p:spPr>
          <a:xfrm>
            <a:off x="1041400" y="5406487"/>
            <a:ext cx="749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2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those 30 filters on the image  (each one should be</a:t>
            </a:r>
            <a:endParaRPr lang="en-US" sz="2120" dirty="0"/>
          </a:p>
        </p:txBody>
      </p:sp>
      <p:sp>
        <p:nvSpPr>
          <p:cNvPr id="9" name="Text 7"/>
          <p:cNvSpPr/>
          <p:nvPr/>
        </p:nvSpPr>
        <p:spPr>
          <a:xfrm>
            <a:off x="1041400" y="5748237"/>
            <a:ext cx="749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3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on the whole locations on the image)</a:t>
            </a:r>
            <a:endParaRPr lang="en-US" sz="2130" dirty="0"/>
          </a:p>
        </p:txBody>
      </p:sp>
      <p:pic>
        <p:nvPicPr>
          <p:cNvPr id="10" name="Image 0" descr="/home/ahmed/Projects/ai_llm_slides/videos/deep-learning/001_introduction/recreated_pptx/build/assets/cat_ph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900" y="1968500"/>
            <a:ext cx="3898900" cy="2095500"/>
          </a:xfrm>
          <a:prstGeom prst="rect">
            <a:avLst/>
          </a:prstGeom>
        </p:spPr>
      </p:pic>
      <p:pic>
        <p:nvPicPr>
          <p:cNvPr id="11" name="Image 1" descr="/home/ahmed/Projects/ai_llm_slides/videos/deep-learning/001_introduction/recreated_pptx/build/assets/dog_pho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006600"/>
            <a:ext cx="3810000" cy="2057400"/>
          </a:xfrm>
          <a:prstGeom prst="rect">
            <a:avLst/>
          </a:prstGeom>
        </p:spPr>
      </p:pic>
      <p:pic>
        <p:nvPicPr>
          <p:cNvPr id="12" name="Image 2" descr="/home/ahmed/Projects/ai_llm_slides/videos/deep-learning/001_introduction/recreated_pptx/build/assets/filter_gr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00" y="4457700"/>
            <a:ext cx="2082800" cy="18669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59800" y="5372100"/>
            <a:ext cx="546100" cy="228600"/>
          </a:xfrm>
          <a:prstGeom prst="rightArrow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47700" y="89027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8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many filters we should apply</a:t>
            </a:r>
            <a:endParaRPr lang="en-US" sz="3850" dirty="0"/>
          </a:p>
        </p:txBody>
      </p:sp>
    </p:spTree>
  </p:cSld>
  <p:clrMapOvr>
    <a:masterClrMapping/>
  </p:clrMapOvr>
</p:sld>
</file>

<file path=ppt/slides/slide41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" y="1524000"/>
            <a:ext cx="10439400" cy="398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57450" y="8610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Convolution Process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1244600" y="1658620"/>
            <a:ext cx="279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Original image</a:t>
            </a:r>
            <a:endParaRPr lang="en-US" sz="2000" dirty="0"/>
          </a:p>
        </p:txBody>
      </p:sp>
      <p:pic>
        <p:nvPicPr>
          <p:cNvPr id="8" name="Image 0" descr="/home/ahmed/Projects/ai_llm_slides/videos/deep-learning/001_introduction/recreated_pptx/build/assets/leftgrid0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006600"/>
            <a:ext cx="2197100" cy="1651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3300" y="3608070"/>
            <a:ext cx="330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Convolutional filter 1</a:t>
            </a:r>
            <a:endParaRPr lang="en-US" sz="2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16100" y="4051300"/>
          <a:ext cx="1003300" cy="800100"/>
        </p:xfrm>
        <a:graphic>
          <a:graphicData uri="http://schemas.openxmlformats.org/drawingml/2006/table">
            <a:tbl>
              <a:tblPr/>
              <a:tblGrid>
                <a:gridCol w="334391"/>
                <a:gridCol w="334391"/>
                <a:gridCol w="334518"/>
              </a:tblGrid>
              <a:tr h="266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D3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035300" y="4165600"/>
            <a:ext cx="55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a=1,</a:t>
            </a:r>
            <a:endParaRPr lang="en-US" sz="14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b=1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55700" y="4808220"/>
            <a:ext cx="419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  </a:t>
            </a:r>
            <a:pPr algn="l"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</a:t>
            </a:r>
            <a:pPr algn="l" indent="0" marL="0">
              <a:buNone/>
            </a:pPr>
            <a:r>
              <a:rPr lang="en-US" sz="18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(x,y)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1155700" y="5100320"/>
            <a:ext cx="495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 </a:t>
            </a:r>
            <a:pPr algn="l" indent="0" marL="0">
              <a:buNone/>
            </a:pPr>
            <a:r>
              <a:rPr lang="en-US" sz="20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 </a:t>
            </a:r>
            <a:pPr algn="l" indent="0" marL="0">
              <a:buNone/>
            </a:pPr>
            <a:r>
              <a:rPr lang="en-US" sz="20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(-a:a , -b:b)</a:t>
            </a:r>
            <a:pPr algn="l" indent="0" marL="0">
              <a:buNone/>
            </a:pPr>
            <a:r>
              <a:rPr lang="en-US" sz="195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(odd dimension)</a:t>
            </a:r>
            <a:endParaRPr lang="en-US" sz="1950" dirty="0"/>
          </a:p>
        </p:txBody>
      </p:sp>
      <p:pic>
        <p:nvPicPr>
          <p:cNvPr id="14" name="Image 1" descr="/home/ahmed/Projects/ai_llm_slides/videos/deep-learning/001_introduction/recreated_pptx/build/assets/result0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0" y="1663700"/>
            <a:ext cx="4000500" cy="1968500"/>
          </a:xfrm>
          <a:prstGeom prst="rect">
            <a:avLst/>
          </a:prstGeom>
        </p:spPr>
      </p:pic>
      <p:pic>
        <p:nvPicPr>
          <p:cNvPr id="15" name="Image 2" descr="/home/ahmed/Projects/ai_llm_slides/videos/deep-learning/001_introduction/recreated_pptx/build/assets/convgrid0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700" y="1663700"/>
            <a:ext cx="3251200" cy="2870200"/>
          </a:xfrm>
          <a:prstGeom prst="rect">
            <a:avLst/>
          </a:prstGeom>
        </p:spPr>
      </p:pic>
      <p:pic>
        <p:nvPicPr>
          <p:cNvPr id="16" name="Image 3" descr="/home/ahmed/Projects/ai_llm_slides/videos/deep-learning/001_introduction/recreated_pptx/build/assets/innerprod04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3800" y="4241800"/>
            <a:ext cx="2451100" cy="635000"/>
          </a:xfrm>
          <a:prstGeom prst="rect">
            <a:avLst/>
          </a:prstGeom>
        </p:spPr>
      </p:pic>
      <mc:AlternateContent>
        <mc:Choice xmlns:a14="http://schemas.microsoft.com/office/drawing/2010/main" Requires="a14">
          <p:sp>
            <p:nvSpPr>
              <p:cNvPr id="17" name="Equation OMML" descr="I(x,y) \ast h = \sum_{i=-a}^{a} \;\; \sum_{j=-b}^{b} I(x-i,\ y-j) \cdot h(i,j)"/>
              <p:cNvSpPr txBox="1"/>
              <p:nvPr/>
            </p:nvSpPr>
            <p:spPr>
              <a:xfrm>
                <a:off x="5817108" y="4610608"/>
                <a:ext cx="4855464" cy="7391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9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I(x,y)∗h=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i=-a</m:t>
                          </m:r>
                        </m:sub>
                        <m:sup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a</m:t>
                          </m:r>
                        </m:sup>
                        <m:e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  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j=-b</m:t>
                              </m:r>
                            </m:sub>
                            <m:sup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b</m:t>
                              </m:r>
                            </m:sup>
                            <m:e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I(x-i, y-j)⋅h(i,j)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" name="Image 4" descr="/home/ahmed/Projects/ai_llm_slides/videos/deep-learning/001_introduction/recreated_pptx/build/assets/eq041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17108" y="4610608"/>
                <a:ext cx="4855464" cy="739137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Shape 10"/>
          <p:cNvSpPr/>
          <p:nvPr/>
        </p:nvSpPr>
        <p:spPr>
          <a:xfrm>
            <a:off x="990600" y="5651500"/>
            <a:ext cx="10147300" cy="83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797B2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1117600" y="5722620"/>
            <a:ext cx="533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Scan the original image using the 3x3 filter</a:t>
            </a:r>
            <a:endParaRPr lang="en-US" sz="2100" dirty="0"/>
          </a:p>
        </p:txBody>
      </p:sp>
      <p:sp>
        <p:nvSpPr>
          <p:cNvPr id="20" name="Text 12"/>
          <p:cNvSpPr/>
          <p:nvPr/>
        </p:nvSpPr>
        <p:spPr>
          <a:xfrm>
            <a:off x="1117600" y="6065520"/>
            <a:ext cx="812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35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the filter ONE pixel  (Right, Left, Up, Down) and Re-Calculate</a:t>
            </a:r>
            <a:endParaRPr lang="en-US" sz="213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77900" y="1714500"/>
            <a:ext cx="10337800" cy="472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6" name="Image 0" descr="/home/ahmed/Projects/ai_llm_slides/videos/deep-learning/001_introduction/recreated_pptx/build/assets/slide042_slab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0" y="2438400"/>
            <a:ext cx="1981200" cy="2209800"/>
          </a:xfrm>
          <a:prstGeom prst="rect">
            <a:avLst/>
          </a:prstGeom>
        </p:spPr>
      </p:pic>
      <p:pic>
        <p:nvPicPr>
          <p:cNvPr id="7" name="Image 1" descr="/home/ahmed/Projects/ai_llm_slides/videos/deep-learning/001_introduction/recreated_pptx/build/assets/slide042_slices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400" y="2667000"/>
            <a:ext cx="2641600" cy="1460500"/>
          </a:xfrm>
          <a:prstGeom prst="rect">
            <a:avLst/>
          </a:prstGeom>
        </p:spPr>
      </p:pic>
      <p:pic>
        <p:nvPicPr>
          <p:cNvPr id="8" name="Image 2" descr="/home/ahmed/Projects/ai_llm_slides/videos/deep-learning/001_introduction/recreated_pptx/build/assets/slide042_output_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0" y="2006600"/>
            <a:ext cx="4254500" cy="26416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350000" y="3376930"/>
            <a:ext cx="292100" cy="35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Shape 5"/>
          <p:cNvSpPr/>
          <p:nvPr/>
        </p:nvSpPr>
        <p:spPr>
          <a:xfrm>
            <a:off x="6350000" y="3454400"/>
            <a:ext cx="292100" cy="330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Shape 6"/>
          <p:cNvSpPr/>
          <p:nvPr/>
        </p:nvSpPr>
        <p:spPr>
          <a:xfrm>
            <a:off x="4025900" y="4241800"/>
            <a:ext cx="2590800" cy="162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2" name="Image 3" descr="/home/ahmed/Projects/ai_llm_slides/videos/deep-learning/001_introduction/recreated_pptx/build/assets/eq42tok/e1_h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100" y="4457700"/>
            <a:ext cx="85341" cy="137160"/>
          </a:xfrm>
          <a:prstGeom prst="rect">
            <a:avLst/>
          </a:prstGeom>
        </p:spPr>
      </p:pic>
      <p:pic>
        <p:nvPicPr>
          <p:cNvPr id="13" name="Image 4" descr="/home/ahmed/Projects/ai_llm_slides/videos/deep-learning/001_introduction/recreated_pptx/build/assets/eq42tok/e1_ou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3100" y="4559300"/>
            <a:ext cx="268221" cy="70107"/>
          </a:xfrm>
          <a:prstGeom prst="rect">
            <a:avLst/>
          </a:prstGeom>
        </p:spPr>
      </p:pic>
      <p:pic>
        <p:nvPicPr>
          <p:cNvPr id="14" name="Image 5" descr="/home/ahmed/Projects/ai_llm_slides/videos/deep-learning/001_introduction/recreated_pptx/build/assets/eq42tok/e1_eq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100" y="4508500"/>
            <a:ext cx="144777" cy="79251"/>
          </a:xfrm>
          <a:prstGeom prst="rect">
            <a:avLst/>
          </a:prstGeom>
        </p:spPr>
      </p:pic>
      <p:pic>
        <p:nvPicPr>
          <p:cNvPr id="15" name="Image 6" descr="/home/ahmed/Projects/ai_llm_slides/videos/deep-learning/001_introduction/recreated_pptx/build/assets/eq42tok/e1_h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5400" y="4330700"/>
            <a:ext cx="92967" cy="152403"/>
          </a:xfrm>
          <a:prstGeom prst="rect">
            <a:avLst/>
          </a:prstGeom>
        </p:spPr>
      </p:pic>
      <p:pic>
        <p:nvPicPr>
          <p:cNvPr id="16" name="Image 7" descr="/home/ahmed/Projects/ai_llm_slides/videos/deep-learning/001_introduction/recreated_pptx/build/assets/eq42tok/e1_i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5100" y="4368800"/>
            <a:ext cx="140205" cy="114300"/>
          </a:xfrm>
          <a:prstGeom prst="rect">
            <a:avLst/>
          </a:prstGeom>
        </p:spPr>
      </p:pic>
      <p:pic>
        <p:nvPicPr>
          <p:cNvPr id="17" name="Image 8" descr="/home/ahmed/Projects/ai_llm_slides/videos/deep-learning/001_introduction/recreated_pptx/build/assets/eq42tok/e1_h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02300" y="4330700"/>
            <a:ext cx="92967" cy="152403"/>
          </a:xfrm>
          <a:prstGeom prst="rect">
            <a:avLst/>
          </a:prstGeom>
        </p:spPr>
      </p:pic>
      <p:pic>
        <p:nvPicPr>
          <p:cNvPr id="18" name="Image 9" descr="/home/ahmed/Projects/ai_llm_slides/videos/deep-learning/001_introduction/recreated_pptx/build/assets/eq42tok/e1_f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2988" y="4394200"/>
            <a:ext cx="39621" cy="89913"/>
          </a:xfrm>
          <a:prstGeom prst="rect">
            <a:avLst/>
          </a:prstGeom>
        </p:spPr>
      </p:pic>
      <p:pic>
        <p:nvPicPr>
          <p:cNvPr id="19" name="Image 10" descr="/home/ahmed/Projects/ai_llm_slides/videos/deep-learning/001_introduction/recreated_pptx/build/assets/eq42tok/e1_s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61000" y="4620260"/>
            <a:ext cx="77724" cy="103629"/>
          </a:xfrm>
          <a:prstGeom prst="rect">
            <a:avLst/>
          </a:prstGeom>
        </p:spPr>
      </p:pic>
      <p:pic>
        <p:nvPicPr>
          <p:cNvPr id="20" name="Image 11" descr="/home/ahmed/Projects/ai_llm_slides/videos/deep-learning/001_introduction/recreated_pptx/build/assets/eq42tok/e1_p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07100" y="4483100"/>
            <a:ext cx="129543" cy="129543"/>
          </a:xfrm>
          <a:prstGeom prst="rect">
            <a:avLst/>
          </a:prstGeom>
        </p:spPr>
      </p:pic>
      <p:pic>
        <p:nvPicPr>
          <p:cNvPr id="21" name="Image 12" descr="/home/ahmed/Projects/ai_llm_slides/videos/deep-learning/001_introduction/recreated_pptx/build/assets/eq42tok/e1_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4470400"/>
            <a:ext cx="68580" cy="123444"/>
          </a:xfrm>
          <a:prstGeom prst="rect">
            <a:avLst/>
          </a:prstGeom>
        </p:spPr>
      </p:pic>
      <p:pic>
        <p:nvPicPr>
          <p:cNvPr id="22" name="Image 13" descr="/home/ahmed/Projects/ai_llm_slides/videos/deep-learning/001_introduction/recreated_pptx/build/assets/eq42tok/e2_w1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18000" y="4940300"/>
            <a:ext cx="150876" cy="111255"/>
          </a:xfrm>
          <a:prstGeom prst="rect">
            <a:avLst/>
          </a:prstGeom>
        </p:spPr>
      </p:pic>
      <p:pic>
        <p:nvPicPr>
          <p:cNvPr id="23" name="Image 14" descr="/home/ahmed/Projects/ai_llm_slides/videos/deep-learning/001_introduction/recreated_pptx/build/assets/eq42tok/e2_out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83100" y="4991100"/>
            <a:ext cx="268221" cy="76197"/>
          </a:xfrm>
          <a:prstGeom prst="rect">
            <a:avLst/>
          </a:prstGeom>
        </p:spPr>
      </p:pic>
      <p:pic>
        <p:nvPicPr>
          <p:cNvPr id="24" name="Image 15" descr="/home/ahmed/Projects/ai_llm_slides/videos/deep-learning/001_introduction/recreated_pptx/build/assets/eq42tok/e2_eq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76800" y="4953000"/>
            <a:ext cx="135633" cy="73152"/>
          </a:xfrm>
          <a:prstGeom prst="rect">
            <a:avLst/>
          </a:prstGeom>
        </p:spPr>
      </p:pic>
      <p:pic>
        <p:nvPicPr>
          <p:cNvPr id="25" name="Image 16" descr="/home/ahmed/Projects/ai_llm_slides/videos/deep-learning/001_introduction/recreated_pptx/build/assets/eq42tok/e2_w2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05400" y="4800600"/>
            <a:ext cx="143259" cy="103629"/>
          </a:xfrm>
          <a:prstGeom prst="rect">
            <a:avLst/>
          </a:prstGeom>
        </p:spPr>
      </p:pic>
      <p:pic>
        <p:nvPicPr>
          <p:cNvPr id="26" name="Image 17" descr="/home/ahmed/Projects/ai_llm_slides/videos/deep-learning/001_introduction/recreated_pptx/build/assets/eq42tok/e2_in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83200" y="4851400"/>
            <a:ext cx="141732" cy="89913"/>
          </a:xfrm>
          <a:prstGeom prst="rect">
            <a:avLst/>
          </a:prstGeom>
        </p:spPr>
      </p:pic>
      <p:pic>
        <p:nvPicPr>
          <p:cNvPr id="27" name="Image 18" descr="/home/ahmed/Projects/ai_llm_slides/videos/deep-learning/001_introduction/recreated_pptx/build/assets/eq42tok/e2_w3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40400" y="4800600"/>
            <a:ext cx="143259" cy="103629"/>
          </a:xfrm>
          <a:prstGeom prst="rect">
            <a:avLst/>
          </a:prstGeom>
        </p:spPr>
      </p:pic>
      <p:pic>
        <p:nvPicPr>
          <p:cNvPr id="28" name="Image 19" descr="/home/ahmed/Projects/ai_llm_slides/videos/deep-learning/001_introduction/recreated_pptx/build/assets/eq42tok/e2_f1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08802" y="4838700"/>
            <a:ext cx="44193" cy="103629"/>
          </a:xfrm>
          <a:prstGeom prst="rect">
            <a:avLst/>
          </a:prstGeom>
        </p:spPr>
      </p:pic>
      <p:pic>
        <p:nvPicPr>
          <p:cNvPr id="29" name="Image 20" descr="/home/ahmed/Projects/ai_llm_slides/videos/deep-learning/001_introduction/recreated_pptx/build/assets/eq42tok/e2_s1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99100" y="5067300"/>
            <a:ext cx="64008" cy="85341"/>
          </a:xfrm>
          <a:prstGeom prst="rect">
            <a:avLst/>
          </a:prstGeom>
        </p:spPr>
      </p:pic>
      <p:pic>
        <p:nvPicPr>
          <p:cNvPr id="30" name="Image 21" descr="/home/ahmed/Projects/ai_llm_slides/videos/deep-learning/001_introduction/recreated_pptx/build/assets/eq42tok/e2_pl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83300" y="4914900"/>
            <a:ext cx="129543" cy="129543"/>
          </a:xfrm>
          <a:prstGeom prst="rect">
            <a:avLst/>
          </a:prstGeom>
        </p:spPr>
      </p:pic>
      <p:pic>
        <p:nvPicPr>
          <p:cNvPr id="31" name="Image 22" descr="/home/ahmed/Projects/ai_llm_slides/videos/deep-learning/001_introduction/recreated_pptx/build/assets/eq42tok/e2_1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11900" y="4927600"/>
            <a:ext cx="62481" cy="114300"/>
          </a:xfrm>
          <a:prstGeom prst="rect">
            <a:avLst/>
          </a:prstGeom>
        </p:spPr>
      </p:pic>
      <p:pic>
        <p:nvPicPr>
          <p:cNvPr id="32" name="Image 23" descr="/home/ahmed/Projects/ai_llm_slides/videos/deep-learning/001_introduction/recreated_pptx/build/assets/eq42tok/e3_d1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56100" y="5257800"/>
            <a:ext cx="96012" cy="140205"/>
          </a:xfrm>
          <a:prstGeom prst="rect">
            <a:avLst/>
          </a:prstGeom>
        </p:spPr>
      </p:pic>
      <p:pic>
        <p:nvPicPr>
          <p:cNvPr id="33" name="Image 24" descr="/home/ahmed/Projects/ai_llm_slides/videos/deep-learning/001_introduction/recreated_pptx/build/assets/eq42tok/e3_out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495800" y="5346700"/>
            <a:ext cx="268221" cy="76197"/>
          </a:xfrm>
          <a:prstGeom prst="rect">
            <a:avLst/>
          </a:prstGeom>
        </p:spPr>
      </p:pic>
      <p:pic>
        <p:nvPicPr>
          <p:cNvPr id="34" name="Image 25" descr="/home/ahmed/Projects/ai_llm_slides/videos/deep-learning/001_introduction/recreated_pptx/build/assets/eq42tok/e3_eq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876800" y="5308600"/>
            <a:ext cx="129543" cy="70107"/>
          </a:xfrm>
          <a:prstGeom prst="rect">
            <a:avLst/>
          </a:prstGeom>
        </p:spPr>
      </p:pic>
      <p:pic>
        <p:nvPicPr>
          <p:cNvPr id="35" name="Image 26" descr="/home/ahmed/Projects/ai_llm_slides/videos/deep-learning/001_introduction/recreated_pptx/build/assets/eq42tok/e3_n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18100" y="5295900"/>
            <a:ext cx="91440" cy="100584"/>
          </a:xfrm>
          <a:prstGeom prst="rect">
            <a:avLst/>
          </a:prstGeom>
        </p:spPr>
      </p:pic>
      <p:pic>
        <p:nvPicPr>
          <p:cNvPr id="36" name="Image 27" descr="/home/ahmed/Projects/ai_llm_slides/videos/deep-learning/001_introduction/recreated_pptx/build/assets/eq42tok/e3_f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245354" y="5334000"/>
            <a:ext cx="50292" cy="114300"/>
          </a:xfrm>
          <a:prstGeom prst="rect">
            <a:avLst/>
          </a:prstGeom>
        </p:spPr>
      </p:pic>
      <p:pic>
        <p:nvPicPr>
          <p:cNvPr id="37" name="Image 28" descr="/home/ahmed/Projects/ai_llm_slides/videos/deep-learning/001_introduction/recreated_pptx/build/assets/eq42tok/e4_d1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559300" y="5588000"/>
            <a:ext cx="96012" cy="140205"/>
          </a:xfrm>
          <a:prstGeom prst="rect">
            <a:avLst/>
          </a:prstGeom>
        </p:spPr>
      </p:pic>
      <p:pic>
        <p:nvPicPr>
          <p:cNvPr id="38" name="Image 29" descr="/home/ahmed/Projects/ai_llm_slides/videos/deep-learning/001_introduction/recreated_pptx/build/assets/eq42tok/e4_f1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94682" y="5626100"/>
            <a:ext cx="59436" cy="138687"/>
          </a:xfrm>
          <a:prstGeom prst="rect">
            <a:avLst/>
          </a:prstGeom>
        </p:spPr>
      </p:pic>
      <p:pic>
        <p:nvPicPr>
          <p:cNvPr id="39" name="Image 30" descr="/home/ahmed/Projects/ai_llm_slides/videos/deep-learning/001_introduction/recreated_pptx/build/assets/eq42tok/e4_eq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876800" y="5638800"/>
            <a:ext cx="144777" cy="79251"/>
          </a:xfrm>
          <a:prstGeom prst="rect">
            <a:avLst/>
          </a:prstGeom>
        </p:spPr>
      </p:pic>
      <p:pic>
        <p:nvPicPr>
          <p:cNvPr id="40" name="Image 31" descr="/home/ahmed/Projects/ai_llm_slides/videos/deep-learning/001_introduction/recreated_pptx/build/assets/eq42tok/e4_d2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105400" y="5588000"/>
            <a:ext cx="99057" cy="144777"/>
          </a:xfrm>
          <a:prstGeom prst="rect">
            <a:avLst/>
          </a:prstGeom>
        </p:spPr>
      </p:pic>
      <p:pic>
        <p:nvPicPr>
          <p:cNvPr id="41" name="Image 32" descr="/home/ahmed/Projects/ai_llm_slides/videos/deep-learning/001_introduction/recreated_pptx/build/assets/eq42tok/e4_in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245100" y="5676900"/>
            <a:ext cx="153921" cy="89913"/>
          </a:xfrm>
          <a:prstGeom prst="rect">
            <a:avLst/>
          </a:prstGeom>
        </p:spPr>
      </p:pic>
      <p:sp>
        <p:nvSpPr>
          <p:cNvPr id="42" name="Shape 7"/>
          <p:cNvSpPr/>
          <p:nvPr/>
        </p:nvSpPr>
        <p:spPr>
          <a:xfrm>
            <a:off x="5092700" y="4535170"/>
            <a:ext cx="8509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3" name="Shape 8"/>
          <p:cNvSpPr/>
          <p:nvPr/>
        </p:nvSpPr>
        <p:spPr>
          <a:xfrm>
            <a:off x="5105400" y="4979670"/>
            <a:ext cx="9017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4" name="Shape 9"/>
          <p:cNvSpPr/>
          <p:nvPr/>
        </p:nvSpPr>
        <p:spPr>
          <a:xfrm>
            <a:off x="5486400" y="4389120"/>
            <a:ext cx="165100" cy="177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5" name="Shape 10"/>
          <p:cNvSpPr/>
          <p:nvPr/>
        </p:nvSpPr>
        <p:spPr>
          <a:xfrm>
            <a:off x="5524500" y="4833620"/>
            <a:ext cx="127000" cy="1651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6" name="Text 11"/>
          <p:cNvSpPr/>
          <p:nvPr/>
        </p:nvSpPr>
        <p:spPr>
          <a:xfrm>
            <a:off x="647700" y="903239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2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Output dimensions of Convolution?</a:t>
            </a:r>
            <a:endParaRPr lang="en-US" sz="3020" dirty="0"/>
          </a:p>
        </p:txBody>
      </p:sp>
      <p:sp>
        <p:nvSpPr>
          <p:cNvPr id="47" name="Text 12"/>
          <p:cNvSpPr/>
          <p:nvPr/>
        </p:nvSpPr>
        <p:spPr>
          <a:xfrm>
            <a:off x="1346200" y="4544619"/>
            <a:ext cx="33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endParaRPr lang="en-US" sz="1900" dirty="0"/>
          </a:p>
        </p:txBody>
      </p:sp>
      <p:sp>
        <p:nvSpPr>
          <p:cNvPr id="48" name="Text 13"/>
          <p:cNvSpPr/>
          <p:nvPr/>
        </p:nvSpPr>
        <p:spPr>
          <a:xfrm>
            <a:off x="1771650" y="4544619"/>
            <a:ext cx="22923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hight</a:t>
            </a:r>
            <a:endParaRPr lang="en-US" sz="1900" dirty="0"/>
          </a:p>
        </p:txBody>
      </p:sp>
      <p:sp>
        <p:nvSpPr>
          <p:cNvPr id="49" name="Text 14"/>
          <p:cNvSpPr/>
          <p:nvPr/>
        </p:nvSpPr>
        <p:spPr>
          <a:xfrm>
            <a:off x="1346200" y="4811319"/>
            <a:ext cx="33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1900" dirty="0"/>
          </a:p>
        </p:txBody>
      </p:sp>
      <p:sp>
        <p:nvSpPr>
          <p:cNvPr id="50" name="Text 15"/>
          <p:cNvSpPr/>
          <p:nvPr/>
        </p:nvSpPr>
        <p:spPr>
          <a:xfrm>
            <a:off x="1758950" y="4811319"/>
            <a:ext cx="23050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Width</a:t>
            </a:r>
            <a:endParaRPr lang="en-US" sz="1900" dirty="0"/>
          </a:p>
        </p:txBody>
      </p:sp>
      <p:sp>
        <p:nvSpPr>
          <p:cNvPr id="51" name="Text 16"/>
          <p:cNvSpPr/>
          <p:nvPr/>
        </p:nvSpPr>
        <p:spPr>
          <a:xfrm>
            <a:off x="1346200" y="5078019"/>
            <a:ext cx="33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900" dirty="0"/>
          </a:p>
        </p:txBody>
      </p:sp>
      <p:sp>
        <p:nvSpPr>
          <p:cNvPr id="52" name="Text 17"/>
          <p:cNvSpPr/>
          <p:nvPr/>
        </p:nvSpPr>
        <p:spPr>
          <a:xfrm>
            <a:off x="1758950" y="5078019"/>
            <a:ext cx="23050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Depth</a:t>
            </a:r>
            <a:endParaRPr lang="en-US" sz="1900" dirty="0"/>
          </a:p>
        </p:txBody>
      </p:sp>
      <p:sp>
        <p:nvSpPr>
          <p:cNvPr id="53" name="Text 18"/>
          <p:cNvSpPr/>
          <p:nvPr/>
        </p:nvSpPr>
        <p:spPr>
          <a:xfrm>
            <a:off x="1346200" y="5344719"/>
            <a:ext cx="33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endParaRPr lang="en-US" sz="1900" dirty="0"/>
          </a:p>
        </p:txBody>
      </p:sp>
      <p:sp>
        <p:nvSpPr>
          <p:cNvPr id="54" name="Text 19"/>
          <p:cNvSpPr/>
          <p:nvPr/>
        </p:nvSpPr>
        <p:spPr>
          <a:xfrm>
            <a:off x="1784350" y="5344719"/>
            <a:ext cx="22796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</a:t>
            </a:r>
            <a:endParaRPr lang="en-US" sz="1900" dirty="0"/>
          </a:p>
        </p:txBody>
      </p:sp>
      <p:sp>
        <p:nvSpPr>
          <p:cNvPr id="55" name="Text 20"/>
          <p:cNvSpPr/>
          <p:nvPr/>
        </p:nvSpPr>
        <p:spPr>
          <a:xfrm>
            <a:off x="1346200" y="5611419"/>
            <a:ext cx="33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endParaRPr lang="en-US" sz="1900" dirty="0"/>
          </a:p>
        </p:txBody>
      </p:sp>
      <p:sp>
        <p:nvSpPr>
          <p:cNvPr id="56" name="Text 21"/>
          <p:cNvSpPr/>
          <p:nvPr/>
        </p:nvSpPr>
        <p:spPr>
          <a:xfrm>
            <a:off x="1720850" y="5611419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Filters Count</a:t>
            </a:r>
            <a:endParaRPr lang="en-US" sz="1900" dirty="0"/>
          </a:p>
        </p:txBody>
      </p:sp>
      <p:sp>
        <p:nvSpPr>
          <p:cNvPr id="57" name="Text 22"/>
          <p:cNvSpPr/>
          <p:nvPr/>
        </p:nvSpPr>
        <p:spPr>
          <a:xfrm>
            <a:off x="1346200" y="5878119"/>
            <a:ext cx="33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900" dirty="0"/>
          </a:p>
        </p:txBody>
      </p:sp>
      <p:sp>
        <p:nvSpPr>
          <p:cNvPr id="58" name="Text 23"/>
          <p:cNvSpPr/>
          <p:nvPr/>
        </p:nvSpPr>
        <p:spPr>
          <a:xfrm>
            <a:off x="1720850" y="5878119"/>
            <a:ext cx="23431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000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Stride</a:t>
            </a:r>
            <a:endParaRPr lang="en-US" sz="1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28700" y="1409700"/>
            <a:ext cx="9702800" cy="341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700" y="63373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700"/>
              </a:lnSpc>
              <a:buNone/>
            </a:pPr>
            <a:r>
              <a:rPr lang="en-US" sz="29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Problem: Image will vanish  if applying more filters in cascade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1866900" y="1399540"/>
            <a:ext cx="762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70" dirty="0">
                <a:solidFill>
                  <a:srgbClr val="3F3F3F"/>
                </a:solidFill>
                <a:latin typeface="URW Gothic" pitchFamily="34" charset="0"/>
                <a:ea typeface="URW Gothic" pitchFamily="34" charset="-122"/>
                <a:cs typeface="URW Gothic" pitchFamily="34" charset="-120"/>
              </a:rPr>
              <a:t>Our images get smaller and smaller</a:t>
            </a:r>
            <a:endParaRPr lang="en-US" sz="2070" dirty="0"/>
          </a:p>
        </p:txBody>
      </p:sp>
      <p:sp>
        <p:nvSpPr>
          <p:cNvPr id="8" name="Shape 6"/>
          <p:cNvSpPr/>
          <p:nvPr/>
        </p:nvSpPr>
        <p:spPr>
          <a:xfrm>
            <a:off x="1584325" y="1628775"/>
            <a:ext cx="120650" cy="120650"/>
          </a:xfrm>
          <a:prstGeom prst="ellipse">
            <a:avLst/>
          </a:prstGeom>
          <a:ln w="12700">
            <a:solidFill>
              <a:srgbClr val="D8A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66900" y="1779270"/>
            <a:ext cx="762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70" dirty="0">
                <a:solidFill>
                  <a:srgbClr val="3F3F3F"/>
                </a:solidFill>
                <a:latin typeface="URW Gothic" pitchFamily="34" charset="0"/>
                <a:ea typeface="URW Gothic" pitchFamily="34" charset="-122"/>
                <a:cs typeface="URW Gothic" pitchFamily="34" charset="-120"/>
              </a:rPr>
              <a:t>Not too deep architectures</a:t>
            </a:r>
            <a:endParaRPr lang="en-US" sz="2070" dirty="0"/>
          </a:p>
        </p:txBody>
      </p:sp>
      <p:sp>
        <p:nvSpPr>
          <p:cNvPr id="10" name="Shape 8"/>
          <p:cNvSpPr/>
          <p:nvPr/>
        </p:nvSpPr>
        <p:spPr>
          <a:xfrm>
            <a:off x="1584325" y="2003425"/>
            <a:ext cx="120650" cy="120650"/>
          </a:xfrm>
          <a:prstGeom prst="ellipse">
            <a:avLst/>
          </a:prstGeom>
          <a:ln w="12700">
            <a:solidFill>
              <a:srgbClr val="D8A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66900" y="2156460"/>
            <a:ext cx="762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70" dirty="0">
                <a:solidFill>
                  <a:srgbClr val="3F3F3F"/>
                </a:solidFill>
                <a:latin typeface="URW Gothic" pitchFamily="34" charset="0"/>
                <a:ea typeface="URW Gothic" pitchFamily="34" charset="-122"/>
                <a:cs typeface="URW Gothic" pitchFamily="34" charset="-120"/>
              </a:rPr>
              <a:t>Details are lost</a:t>
            </a:r>
            <a:endParaRPr lang="en-US" sz="2070" dirty="0"/>
          </a:p>
        </p:txBody>
      </p:sp>
      <p:sp>
        <p:nvSpPr>
          <p:cNvPr id="12" name="Shape 10"/>
          <p:cNvSpPr/>
          <p:nvPr/>
        </p:nvSpPr>
        <p:spPr>
          <a:xfrm>
            <a:off x="1584325" y="2384425"/>
            <a:ext cx="120650" cy="120650"/>
          </a:xfrm>
          <a:prstGeom prst="ellipse">
            <a:avLst/>
          </a:prstGeom>
          <a:ln w="12700">
            <a:solidFill>
              <a:srgbClr val="D8A8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98800" y="2895600"/>
            <a:ext cx="495300" cy="375920"/>
          </a:xfrm>
          <a:prstGeom prst="rect">
            <a:avLst/>
          </a:prstGeom>
          <a:solidFill>
            <a:srgbClr val="FDFF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4100" y="2895600"/>
            <a:ext cx="495300" cy="375920"/>
          </a:xfrm>
          <a:prstGeom prst="rect">
            <a:avLst/>
          </a:prstGeom>
          <a:solidFill>
            <a:srgbClr val="FDFF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89400" y="2895600"/>
            <a:ext cx="495300" cy="375920"/>
          </a:xfrm>
          <a:prstGeom prst="rect">
            <a:avLst/>
          </a:prstGeom>
          <a:solidFill>
            <a:srgbClr val="FDFF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84700" y="289560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80000" y="289560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98800" y="3271520"/>
            <a:ext cx="495300" cy="375920"/>
          </a:xfrm>
          <a:prstGeom prst="rect">
            <a:avLst/>
          </a:prstGeom>
          <a:solidFill>
            <a:srgbClr val="FDFF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94100" y="3271520"/>
            <a:ext cx="495300" cy="375920"/>
          </a:xfrm>
          <a:prstGeom prst="rect">
            <a:avLst/>
          </a:prstGeom>
          <a:solidFill>
            <a:srgbClr val="FDFF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89400" y="3271520"/>
            <a:ext cx="495300" cy="375920"/>
          </a:xfrm>
          <a:prstGeom prst="rect">
            <a:avLst/>
          </a:prstGeom>
          <a:solidFill>
            <a:srgbClr val="FDFF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84700" y="327152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80000" y="327152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98800" y="3647440"/>
            <a:ext cx="495300" cy="375920"/>
          </a:xfrm>
          <a:prstGeom prst="rect">
            <a:avLst/>
          </a:prstGeom>
          <a:solidFill>
            <a:srgbClr val="FDFF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94100" y="3647440"/>
            <a:ext cx="495300" cy="375920"/>
          </a:xfrm>
          <a:prstGeom prst="rect">
            <a:avLst/>
          </a:prstGeom>
          <a:solidFill>
            <a:srgbClr val="FDFF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89400" y="3647440"/>
            <a:ext cx="495300" cy="375920"/>
          </a:xfrm>
          <a:prstGeom prst="rect">
            <a:avLst/>
          </a:prstGeom>
          <a:solidFill>
            <a:srgbClr val="FDFF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84700" y="364744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80000" y="364744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98800" y="402336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94100" y="402336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89400" y="402336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84700" y="402336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80000" y="402336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98800" y="439928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94100" y="439928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89400" y="439928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84700" y="439928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80000" y="4399280"/>
            <a:ext cx="495300" cy="375920"/>
          </a:xfrm>
          <a:prstGeom prst="rect">
            <a:avLst/>
          </a:prstGeom>
          <a:solidFill>
            <a:srgbClr val="0DC94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03550" y="276987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498850" y="276987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994150" y="276987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89450" y="276987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984750" y="276987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003550" y="314579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498850" y="314579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994150" y="314579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489450" y="314579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984750" y="314579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003550" y="352171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498850" y="352171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994150" y="352171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489450" y="352171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984750" y="352171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003550" y="389763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498850" y="389763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994150" y="389763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489450" y="389763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984750" y="389763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3003550" y="427355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3498850" y="427355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3994150" y="427355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489450" y="427355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984750" y="427355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3276600" y="2832100"/>
            <a:ext cx="30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x1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771900" y="2832100"/>
            <a:ext cx="30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x0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267200" y="2832100"/>
            <a:ext cx="30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x1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276600" y="3208020"/>
            <a:ext cx="30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x0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771900" y="3208020"/>
            <a:ext cx="30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x1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267200" y="3208020"/>
            <a:ext cx="30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x0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3276600" y="3583940"/>
            <a:ext cx="30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x1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771900" y="3583940"/>
            <a:ext cx="30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x0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267200" y="3583940"/>
            <a:ext cx="30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x1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2425700" y="2399665"/>
            <a:ext cx="381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Image</a:t>
            </a:r>
            <a:endParaRPr lang="en-US" sz="2600" dirty="0"/>
          </a:p>
        </p:txBody>
      </p:sp>
      <p:sp>
        <p:nvSpPr>
          <p:cNvPr id="73" name="Text 71"/>
          <p:cNvSpPr/>
          <p:nvPr/>
        </p:nvSpPr>
        <p:spPr>
          <a:xfrm>
            <a:off x="5518150" y="2435225"/>
            <a:ext cx="381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After conv 1</a:t>
            </a:r>
            <a:endParaRPr lang="en-US" sz="2600" dirty="0"/>
          </a:p>
        </p:txBody>
      </p:sp>
      <p:sp>
        <p:nvSpPr>
          <p:cNvPr id="74" name="Text 72"/>
          <p:cNvSpPr/>
          <p:nvPr/>
        </p:nvSpPr>
        <p:spPr>
          <a:xfrm>
            <a:off x="7677150" y="2424430"/>
            <a:ext cx="381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After conv 2</a:t>
            </a:r>
            <a:endParaRPr lang="en-US" sz="2600" dirty="0"/>
          </a:p>
        </p:txBody>
      </p:sp>
      <p:sp>
        <p:nvSpPr>
          <p:cNvPr id="75" name="Shape 73"/>
          <p:cNvSpPr/>
          <p:nvPr/>
        </p:nvSpPr>
        <p:spPr>
          <a:xfrm>
            <a:off x="5727700" y="3759200"/>
            <a:ext cx="635000" cy="2540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85200" y="3765550"/>
            <a:ext cx="635000" cy="2540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77000" y="3149600"/>
            <a:ext cx="609600" cy="469900"/>
          </a:xfrm>
          <a:prstGeom prst="rect">
            <a:avLst/>
          </a:prstGeom>
          <a:solidFill>
            <a:srgbClr val="95A38A"/>
          </a:solidFill>
          <a:ln w="12700">
            <a:solidFill>
              <a:srgbClr val="88724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38900" y="30708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7137400" y="3149600"/>
            <a:ext cx="609600" cy="469900"/>
          </a:xfrm>
          <a:prstGeom prst="rect">
            <a:avLst/>
          </a:prstGeom>
          <a:solidFill>
            <a:srgbClr val="95A38A"/>
          </a:solidFill>
          <a:ln w="12700">
            <a:solidFill>
              <a:srgbClr val="88724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099300" y="30708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7797800" y="3149600"/>
            <a:ext cx="609600" cy="469900"/>
          </a:xfrm>
          <a:prstGeom prst="rect">
            <a:avLst/>
          </a:prstGeom>
          <a:solidFill>
            <a:srgbClr val="95A38A"/>
          </a:solidFill>
          <a:ln w="12700">
            <a:solidFill>
              <a:srgbClr val="88724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759700" y="30708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477000" y="3644900"/>
            <a:ext cx="609600" cy="469900"/>
          </a:xfrm>
          <a:prstGeom prst="rect">
            <a:avLst/>
          </a:prstGeom>
          <a:solidFill>
            <a:srgbClr val="95A38A"/>
          </a:solidFill>
          <a:ln w="12700">
            <a:solidFill>
              <a:srgbClr val="88724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38900" y="35661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7137400" y="3644900"/>
            <a:ext cx="609600" cy="469900"/>
          </a:xfrm>
          <a:prstGeom prst="rect">
            <a:avLst/>
          </a:prstGeom>
          <a:solidFill>
            <a:srgbClr val="95A38A"/>
          </a:solidFill>
          <a:ln w="12700">
            <a:solidFill>
              <a:srgbClr val="88724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099300" y="35661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7797800" y="3644900"/>
            <a:ext cx="609600" cy="469900"/>
          </a:xfrm>
          <a:prstGeom prst="rect">
            <a:avLst/>
          </a:prstGeom>
          <a:solidFill>
            <a:srgbClr val="95A38A"/>
          </a:solidFill>
          <a:ln w="12700">
            <a:solidFill>
              <a:srgbClr val="88724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759700" y="35661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6477000" y="4140200"/>
            <a:ext cx="609600" cy="469900"/>
          </a:xfrm>
          <a:prstGeom prst="rect">
            <a:avLst/>
          </a:prstGeom>
          <a:solidFill>
            <a:srgbClr val="95A38A"/>
          </a:solidFill>
          <a:ln w="12700">
            <a:solidFill>
              <a:srgbClr val="88724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38900" y="40614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7137400" y="4140200"/>
            <a:ext cx="609600" cy="469900"/>
          </a:xfrm>
          <a:prstGeom prst="rect">
            <a:avLst/>
          </a:prstGeom>
          <a:solidFill>
            <a:srgbClr val="95A38A"/>
          </a:solidFill>
          <a:ln w="12700">
            <a:solidFill>
              <a:srgbClr val="88724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099300" y="40614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7797800" y="4140200"/>
            <a:ext cx="609600" cy="469900"/>
          </a:xfrm>
          <a:prstGeom prst="rect">
            <a:avLst/>
          </a:prstGeom>
          <a:solidFill>
            <a:srgbClr val="95A38A"/>
          </a:solidFill>
          <a:ln w="12700">
            <a:solidFill>
              <a:srgbClr val="88724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759700" y="40614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9372600" y="3644900"/>
            <a:ext cx="622300" cy="457200"/>
          </a:xfrm>
          <a:prstGeom prst="rect">
            <a:avLst/>
          </a:prstGeom>
          <a:solidFill>
            <a:srgbClr val="95A38A"/>
          </a:solidFill>
          <a:ln w="12700">
            <a:solidFill>
              <a:srgbClr val="88724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302750" y="3559810"/>
            <a:ext cx="76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977900" y="4991100"/>
            <a:ext cx="9931400" cy="147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117600" y="4936490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Original 5x5</a:t>
            </a:r>
            <a:endParaRPr lang="en-US" sz="2100" dirty="0"/>
          </a:p>
        </p:txBody>
      </p:sp>
      <p:sp>
        <p:nvSpPr>
          <p:cNvPr id="99" name="Text 97"/>
          <p:cNvSpPr/>
          <p:nvPr/>
        </p:nvSpPr>
        <p:spPr>
          <a:xfrm>
            <a:off x="1117600" y="5279390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20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apply one filter  of size 3x3, output will be3x3</a:t>
            </a:r>
            <a:endParaRPr lang="en-US" sz="2120" dirty="0"/>
          </a:p>
        </p:txBody>
      </p:sp>
      <p:sp>
        <p:nvSpPr>
          <p:cNvPr id="100" name="Text 98"/>
          <p:cNvSpPr/>
          <p:nvPr/>
        </p:nvSpPr>
        <p:spPr>
          <a:xfrm>
            <a:off x="1117600" y="5622290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20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applying second filter on the output (cascaded filters)</a:t>
            </a:r>
            <a:endParaRPr lang="en-US" sz="2120" dirty="0"/>
          </a:p>
        </p:txBody>
      </p:sp>
      <p:sp>
        <p:nvSpPr>
          <p:cNvPr id="101" name="Text 99"/>
          <p:cNvSpPr/>
          <p:nvPr/>
        </p:nvSpPr>
        <p:spPr>
          <a:xfrm>
            <a:off x="1117600" y="5969000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20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will be 1x1</a:t>
            </a:r>
            <a:endParaRPr lang="en-US" sz="212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22300" y="72771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77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Solution? Zero-padding! , Others !!</a:t>
            </a:r>
            <a:endParaRPr lang="en-US" sz="3770" dirty="0"/>
          </a:p>
        </p:txBody>
      </p:sp>
      <p:sp>
        <p:nvSpPr>
          <p:cNvPr id="6" name="Shape 4"/>
          <p:cNvSpPr/>
          <p:nvPr/>
        </p:nvSpPr>
        <p:spPr>
          <a:xfrm>
            <a:off x="977900" y="1549400"/>
            <a:ext cx="10261600" cy="3352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2700" y="2197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2700" y="2108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785257" y="2197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5257" y="2108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287814" y="2197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7814" y="2108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90371" y="2197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0371" y="2108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292929" y="2197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2929" y="2108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795486" y="2197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5486" y="2108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298043" y="2197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8043" y="2108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282700" y="2578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2700" y="2489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785257" y="2578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5257" y="2489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2287814" y="2578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7814" y="2489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2790371" y="2578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90371" y="2489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3292929" y="2578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2929" y="2489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3795486" y="2578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5486" y="2489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4298043" y="2578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8043" y="2489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1282700" y="2959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2700" y="2870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1785257" y="2959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85257" y="2870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2287814" y="2959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7814" y="2870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2790371" y="2959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90371" y="2870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3292929" y="2959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92929" y="2870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3795486" y="2959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95486" y="2870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4298043" y="2959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8043" y="2870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1282700" y="3340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82700" y="3251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1785257" y="3340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85257" y="3251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53" name="Shape 51"/>
          <p:cNvSpPr/>
          <p:nvPr/>
        </p:nvSpPr>
        <p:spPr>
          <a:xfrm>
            <a:off x="2287814" y="3340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87814" y="3251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55" name="Shape 53"/>
          <p:cNvSpPr/>
          <p:nvPr/>
        </p:nvSpPr>
        <p:spPr>
          <a:xfrm>
            <a:off x="2790371" y="3340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90371" y="3251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3292929" y="3340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92929" y="3251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59" name="Shape 57"/>
          <p:cNvSpPr/>
          <p:nvPr/>
        </p:nvSpPr>
        <p:spPr>
          <a:xfrm>
            <a:off x="3795486" y="3340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95486" y="3251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1" name="Shape 59"/>
          <p:cNvSpPr/>
          <p:nvPr/>
        </p:nvSpPr>
        <p:spPr>
          <a:xfrm>
            <a:off x="4298043" y="3340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98043" y="3251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63" name="Shape 61"/>
          <p:cNvSpPr/>
          <p:nvPr/>
        </p:nvSpPr>
        <p:spPr>
          <a:xfrm>
            <a:off x="1282700" y="3721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282700" y="3632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65" name="Shape 63"/>
          <p:cNvSpPr/>
          <p:nvPr/>
        </p:nvSpPr>
        <p:spPr>
          <a:xfrm>
            <a:off x="1785257" y="3721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785257" y="3632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67" name="Shape 65"/>
          <p:cNvSpPr/>
          <p:nvPr/>
        </p:nvSpPr>
        <p:spPr>
          <a:xfrm>
            <a:off x="2287814" y="3721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87814" y="3632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69" name="Shape 67"/>
          <p:cNvSpPr/>
          <p:nvPr/>
        </p:nvSpPr>
        <p:spPr>
          <a:xfrm>
            <a:off x="2790371" y="3721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90371" y="3632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1" name="Shape 69"/>
          <p:cNvSpPr/>
          <p:nvPr/>
        </p:nvSpPr>
        <p:spPr>
          <a:xfrm>
            <a:off x="3292929" y="3721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92929" y="3632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3" name="Shape 71"/>
          <p:cNvSpPr/>
          <p:nvPr/>
        </p:nvSpPr>
        <p:spPr>
          <a:xfrm>
            <a:off x="3795486" y="3721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795486" y="3632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75" name="Shape 73"/>
          <p:cNvSpPr/>
          <p:nvPr/>
        </p:nvSpPr>
        <p:spPr>
          <a:xfrm>
            <a:off x="4298043" y="3721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298043" y="3632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77" name="Shape 75"/>
          <p:cNvSpPr/>
          <p:nvPr/>
        </p:nvSpPr>
        <p:spPr>
          <a:xfrm>
            <a:off x="1282700" y="4102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282700" y="4013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79" name="Shape 77"/>
          <p:cNvSpPr/>
          <p:nvPr/>
        </p:nvSpPr>
        <p:spPr>
          <a:xfrm>
            <a:off x="1785257" y="4102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785257" y="4013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81" name="Shape 79"/>
          <p:cNvSpPr/>
          <p:nvPr/>
        </p:nvSpPr>
        <p:spPr>
          <a:xfrm>
            <a:off x="2287814" y="4102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287814" y="4013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3" name="Shape 81"/>
          <p:cNvSpPr/>
          <p:nvPr/>
        </p:nvSpPr>
        <p:spPr>
          <a:xfrm>
            <a:off x="2790371" y="4102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790371" y="4013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5" name="Shape 83"/>
          <p:cNvSpPr/>
          <p:nvPr/>
        </p:nvSpPr>
        <p:spPr>
          <a:xfrm>
            <a:off x="3292929" y="4102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92929" y="4013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87" name="Shape 85"/>
          <p:cNvSpPr/>
          <p:nvPr/>
        </p:nvSpPr>
        <p:spPr>
          <a:xfrm>
            <a:off x="3795486" y="4102100"/>
            <a:ext cx="502557" cy="381000"/>
          </a:xfrm>
          <a:prstGeom prst="rect">
            <a:avLst/>
          </a:prstGeom>
          <a:solidFill>
            <a:srgbClr val="0ECA52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795486" y="4013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89" name="Shape 87"/>
          <p:cNvSpPr/>
          <p:nvPr/>
        </p:nvSpPr>
        <p:spPr>
          <a:xfrm>
            <a:off x="4298043" y="4102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298043" y="4013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91" name="Shape 89"/>
          <p:cNvSpPr/>
          <p:nvPr/>
        </p:nvSpPr>
        <p:spPr>
          <a:xfrm>
            <a:off x="1282700" y="4483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282700" y="4394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93" name="Shape 91"/>
          <p:cNvSpPr/>
          <p:nvPr/>
        </p:nvSpPr>
        <p:spPr>
          <a:xfrm>
            <a:off x="1785257" y="4483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785257" y="4394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95" name="Shape 93"/>
          <p:cNvSpPr/>
          <p:nvPr/>
        </p:nvSpPr>
        <p:spPr>
          <a:xfrm>
            <a:off x="2287814" y="4483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287814" y="4394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97" name="Shape 95"/>
          <p:cNvSpPr/>
          <p:nvPr/>
        </p:nvSpPr>
        <p:spPr>
          <a:xfrm>
            <a:off x="2790371" y="4483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790371" y="4394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99" name="Shape 97"/>
          <p:cNvSpPr/>
          <p:nvPr/>
        </p:nvSpPr>
        <p:spPr>
          <a:xfrm>
            <a:off x="3292929" y="4483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292929" y="4394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01" name="Shape 99"/>
          <p:cNvSpPr/>
          <p:nvPr/>
        </p:nvSpPr>
        <p:spPr>
          <a:xfrm>
            <a:off x="3795486" y="4483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795486" y="4394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03" name="Shape 101"/>
          <p:cNvSpPr/>
          <p:nvPr/>
        </p:nvSpPr>
        <p:spPr>
          <a:xfrm>
            <a:off x="4298043" y="4483100"/>
            <a:ext cx="502557" cy="381000"/>
          </a:xfrm>
          <a:prstGeom prst="rect">
            <a:avLst/>
          </a:prstGeom>
          <a:solidFill>
            <a:srgbClr val="0EBFE9"/>
          </a:solidFill>
          <a:ln w="6350">
            <a:solidFill>
              <a:srgbClr val="9CC28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298043" y="4394200"/>
            <a:ext cx="5025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05" name="Shape 103"/>
          <p:cNvSpPr/>
          <p:nvPr/>
        </p:nvSpPr>
        <p:spPr>
          <a:xfrm>
            <a:off x="5588000" y="3136900"/>
            <a:ext cx="368300" cy="279400"/>
          </a:xfrm>
          <a:prstGeom prst="rect">
            <a:avLst/>
          </a:prstGeom>
          <a:solidFill>
            <a:srgbClr val="F8FF0A"/>
          </a:solidFill>
          <a:ln w="6350">
            <a:solidFill>
              <a:srgbClr val="C0F07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588000" y="3086100"/>
            <a:ext cx="368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50" dirty="0"/>
          </a:p>
        </p:txBody>
      </p:sp>
      <p:sp>
        <p:nvSpPr>
          <p:cNvPr id="107" name="Shape 105"/>
          <p:cNvSpPr/>
          <p:nvPr/>
        </p:nvSpPr>
        <p:spPr>
          <a:xfrm>
            <a:off x="5956300" y="3136900"/>
            <a:ext cx="368300" cy="279400"/>
          </a:xfrm>
          <a:prstGeom prst="rect">
            <a:avLst/>
          </a:prstGeom>
          <a:solidFill>
            <a:srgbClr val="F8FF0A"/>
          </a:solidFill>
          <a:ln w="6350">
            <a:solidFill>
              <a:srgbClr val="C0F07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956300" y="3086100"/>
            <a:ext cx="368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50" dirty="0"/>
          </a:p>
        </p:txBody>
      </p:sp>
      <p:sp>
        <p:nvSpPr>
          <p:cNvPr id="109" name="Shape 107"/>
          <p:cNvSpPr/>
          <p:nvPr/>
        </p:nvSpPr>
        <p:spPr>
          <a:xfrm>
            <a:off x="6324600" y="3136900"/>
            <a:ext cx="368300" cy="279400"/>
          </a:xfrm>
          <a:prstGeom prst="rect">
            <a:avLst/>
          </a:prstGeom>
          <a:solidFill>
            <a:srgbClr val="F8FF0A"/>
          </a:solidFill>
          <a:ln w="6350">
            <a:solidFill>
              <a:srgbClr val="C0F07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324600" y="3086100"/>
            <a:ext cx="368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11" name="Shape 109"/>
          <p:cNvSpPr/>
          <p:nvPr/>
        </p:nvSpPr>
        <p:spPr>
          <a:xfrm>
            <a:off x="5588000" y="3416300"/>
            <a:ext cx="368300" cy="279400"/>
          </a:xfrm>
          <a:prstGeom prst="rect">
            <a:avLst/>
          </a:prstGeom>
          <a:solidFill>
            <a:srgbClr val="F8FF0A"/>
          </a:solidFill>
          <a:ln w="6350">
            <a:solidFill>
              <a:srgbClr val="C0F07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588000" y="3365500"/>
            <a:ext cx="368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50" dirty="0"/>
          </a:p>
        </p:txBody>
      </p:sp>
      <p:sp>
        <p:nvSpPr>
          <p:cNvPr id="113" name="Shape 111"/>
          <p:cNvSpPr/>
          <p:nvPr/>
        </p:nvSpPr>
        <p:spPr>
          <a:xfrm>
            <a:off x="5956300" y="3416300"/>
            <a:ext cx="368300" cy="279400"/>
          </a:xfrm>
          <a:prstGeom prst="rect">
            <a:avLst/>
          </a:prstGeom>
          <a:solidFill>
            <a:srgbClr val="F8FF0A"/>
          </a:solidFill>
          <a:ln w="6350">
            <a:solidFill>
              <a:srgbClr val="C0F07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956300" y="3365500"/>
            <a:ext cx="368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15" name="Shape 113"/>
          <p:cNvSpPr/>
          <p:nvPr/>
        </p:nvSpPr>
        <p:spPr>
          <a:xfrm>
            <a:off x="6324600" y="3416300"/>
            <a:ext cx="368300" cy="279400"/>
          </a:xfrm>
          <a:prstGeom prst="rect">
            <a:avLst/>
          </a:prstGeom>
          <a:solidFill>
            <a:srgbClr val="F8FF0A"/>
          </a:solidFill>
          <a:ln w="6350">
            <a:solidFill>
              <a:srgbClr val="C0F07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324600" y="3365500"/>
            <a:ext cx="368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17" name="Shape 115"/>
          <p:cNvSpPr/>
          <p:nvPr/>
        </p:nvSpPr>
        <p:spPr>
          <a:xfrm>
            <a:off x="5588000" y="3695700"/>
            <a:ext cx="368300" cy="279400"/>
          </a:xfrm>
          <a:prstGeom prst="rect">
            <a:avLst/>
          </a:prstGeom>
          <a:solidFill>
            <a:srgbClr val="F8FF0A"/>
          </a:solidFill>
          <a:ln w="6350">
            <a:solidFill>
              <a:srgbClr val="C0F07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588000" y="3644900"/>
            <a:ext cx="368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19" name="Shape 117"/>
          <p:cNvSpPr/>
          <p:nvPr/>
        </p:nvSpPr>
        <p:spPr>
          <a:xfrm>
            <a:off x="5956300" y="3695700"/>
            <a:ext cx="368300" cy="279400"/>
          </a:xfrm>
          <a:prstGeom prst="rect">
            <a:avLst/>
          </a:prstGeom>
          <a:solidFill>
            <a:srgbClr val="F8FF0A"/>
          </a:solidFill>
          <a:ln w="6350">
            <a:solidFill>
              <a:srgbClr val="C0F07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956300" y="3644900"/>
            <a:ext cx="368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21" name="Shape 119"/>
          <p:cNvSpPr/>
          <p:nvPr/>
        </p:nvSpPr>
        <p:spPr>
          <a:xfrm>
            <a:off x="6324600" y="3695700"/>
            <a:ext cx="368300" cy="279400"/>
          </a:xfrm>
          <a:prstGeom prst="rect">
            <a:avLst/>
          </a:prstGeom>
          <a:solidFill>
            <a:srgbClr val="F8FF0A"/>
          </a:solidFill>
          <a:ln w="6350">
            <a:solidFill>
              <a:srgbClr val="C0F07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324600" y="3644900"/>
            <a:ext cx="368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23" name="Shape 121"/>
          <p:cNvSpPr/>
          <p:nvPr/>
        </p:nvSpPr>
        <p:spPr>
          <a:xfrm>
            <a:off x="7899400" y="257810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899400" y="250444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25" name="Shape 123"/>
          <p:cNvSpPr/>
          <p:nvPr/>
        </p:nvSpPr>
        <p:spPr>
          <a:xfrm>
            <a:off x="8402320" y="257810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402320" y="250444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27" name="Shape 125"/>
          <p:cNvSpPr/>
          <p:nvPr/>
        </p:nvSpPr>
        <p:spPr>
          <a:xfrm>
            <a:off x="8905240" y="257810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905240" y="250444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9" name="Shape 127"/>
          <p:cNvSpPr/>
          <p:nvPr/>
        </p:nvSpPr>
        <p:spPr>
          <a:xfrm>
            <a:off x="9408160" y="257810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408160" y="250444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31" name="Shape 129"/>
          <p:cNvSpPr/>
          <p:nvPr/>
        </p:nvSpPr>
        <p:spPr>
          <a:xfrm>
            <a:off x="9911080" y="257810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911080" y="250444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33" name="Shape 131"/>
          <p:cNvSpPr/>
          <p:nvPr/>
        </p:nvSpPr>
        <p:spPr>
          <a:xfrm>
            <a:off x="7899400" y="296164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899400" y="288798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35" name="Shape 133"/>
          <p:cNvSpPr/>
          <p:nvPr/>
        </p:nvSpPr>
        <p:spPr>
          <a:xfrm>
            <a:off x="8402320" y="296164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402320" y="288798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7" name="Shape 135"/>
          <p:cNvSpPr/>
          <p:nvPr/>
        </p:nvSpPr>
        <p:spPr>
          <a:xfrm>
            <a:off x="8905240" y="296164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905240" y="288798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39" name="Shape 137"/>
          <p:cNvSpPr/>
          <p:nvPr/>
        </p:nvSpPr>
        <p:spPr>
          <a:xfrm>
            <a:off x="9408160" y="296164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9408160" y="288798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41" name="Shape 139"/>
          <p:cNvSpPr/>
          <p:nvPr/>
        </p:nvSpPr>
        <p:spPr>
          <a:xfrm>
            <a:off x="9911080" y="296164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911080" y="288798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43" name="Shape 141"/>
          <p:cNvSpPr/>
          <p:nvPr/>
        </p:nvSpPr>
        <p:spPr>
          <a:xfrm>
            <a:off x="7899400" y="334518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899400" y="327152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45" name="Shape 143"/>
          <p:cNvSpPr/>
          <p:nvPr/>
        </p:nvSpPr>
        <p:spPr>
          <a:xfrm>
            <a:off x="8402320" y="334518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8402320" y="327152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47" name="Shape 145"/>
          <p:cNvSpPr/>
          <p:nvPr/>
        </p:nvSpPr>
        <p:spPr>
          <a:xfrm>
            <a:off x="8905240" y="334518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905240" y="327152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49" name="Shape 147"/>
          <p:cNvSpPr/>
          <p:nvPr/>
        </p:nvSpPr>
        <p:spPr>
          <a:xfrm>
            <a:off x="9408160" y="334518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408160" y="327152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51" name="Shape 149"/>
          <p:cNvSpPr/>
          <p:nvPr/>
        </p:nvSpPr>
        <p:spPr>
          <a:xfrm>
            <a:off x="9911080" y="334518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911080" y="327152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53" name="Shape 151"/>
          <p:cNvSpPr/>
          <p:nvPr/>
        </p:nvSpPr>
        <p:spPr>
          <a:xfrm>
            <a:off x="7899400" y="372872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7899400" y="365506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55" name="Shape 153"/>
          <p:cNvSpPr/>
          <p:nvPr/>
        </p:nvSpPr>
        <p:spPr>
          <a:xfrm>
            <a:off x="8402320" y="372872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8402320" y="365506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57" name="Shape 155"/>
          <p:cNvSpPr/>
          <p:nvPr/>
        </p:nvSpPr>
        <p:spPr>
          <a:xfrm>
            <a:off x="8905240" y="372872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8905240" y="365506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59" name="Shape 157"/>
          <p:cNvSpPr/>
          <p:nvPr/>
        </p:nvSpPr>
        <p:spPr>
          <a:xfrm>
            <a:off x="9408160" y="372872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408160" y="365506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61" name="Shape 159"/>
          <p:cNvSpPr/>
          <p:nvPr/>
        </p:nvSpPr>
        <p:spPr>
          <a:xfrm>
            <a:off x="9911080" y="372872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911080" y="365506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63" name="Shape 161"/>
          <p:cNvSpPr/>
          <p:nvPr/>
        </p:nvSpPr>
        <p:spPr>
          <a:xfrm>
            <a:off x="7899400" y="411226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7899400" y="403860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165" name="Shape 163"/>
          <p:cNvSpPr/>
          <p:nvPr/>
        </p:nvSpPr>
        <p:spPr>
          <a:xfrm>
            <a:off x="8402320" y="411226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8402320" y="403860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67" name="Shape 165"/>
          <p:cNvSpPr/>
          <p:nvPr/>
        </p:nvSpPr>
        <p:spPr>
          <a:xfrm>
            <a:off x="8905240" y="411226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8905240" y="403860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69" name="Shape 167"/>
          <p:cNvSpPr/>
          <p:nvPr/>
        </p:nvSpPr>
        <p:spPr>
          <a:xfrm>
            <a:off x="9408160" y="411226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9408160" y="403860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1" name="Shape 169"/>
          <p:cNvSpPr/>
          <p:nvPr/>
        </p:nvSpPr>
        <p:spPr>
          <a:xfrm>
            <a:off x="9911080" y="4112260"/>
            <a:ext cx="502920" cy="383540"/>
          </a:xfrm>
          <a:prstGeom prst="rect">
            <a:avLst/>
          </a:prstGeom>
          <a:solidFill>
            <a:srgbClr val="0ECA52"/>
          </a:solidFill>
          <a:ln w="6350">
            <a:solidFill>
              <a:srgbClr val="84A468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9911080" y="4038600"/>
            <a:ext cx="50292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2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pic>
        <p:nvPicPr>
          <p:cNvPr id="173" name="Image 0" descr="/home/ahmed/Projects/ai_llm_slides/videos/deep-learning/001_introduction/recreated_pptx/build/assets/eq_044_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2042" y="3520694"/>
            <a:ext cx="112773" cy="118872"/>
          </a:xfrm>
          <a:prstGeom prst="rect">
            <a:avLst/>
          </a:prstGeom>
        </p:spPr>
      </p:pic>
      <p:pic>
        <p:nvPicPr>
          <p:cNvPr id="174" name="Image 1" descr="/home/ahmed/Projects/ai_llm_slides/videos/deep-learning/001_introduction/recreated_pptx/build/assets/eq_044_e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978" y="3499612"/>
            <a:ext cx="184407" cy="97539"/>
          </a:xfrm>
          <a:prstGeom prst="rect">
            <a:avLst/>
          </a:prstGeom>
        </p:spPr>
      </p:pic>
      <p:sp>
        <p:nvSpPr>
          <p:cNvPr id="175" name="Text 171"/>
          <p:cNvSpPr/>
          <p:nvPr/>
        </p:nvSpPr>
        <p:spPr>
          <a:xfrm>
            <a:off x="1714500" y="1626241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2350" dirty="0"/>
          </a:p>
        </p:txBody>
      </p:sp>
      <p:sp>
        <p:nvSpPr>
          <p:cNvPr id="176" name="Text 172"/>
          <p:cNvSpPr/>
          <p:nvPr/>
        </p:nvSpPr>
        <p:spPr>
          <a:xfrm>
            <a:off x="3073400" y="1626241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</a:t>
            </a:r>
            <a:endParaRPr lang="en-US" sz="2350" dirty="0"/>
          </a:p>
        </p:txBody>
      </p:sp>
      <p:sp>
        <p:nvSpPr>
          <p:cNvPr id="177" name="Text 173"/>
          <p:cNvSpPr/>
          <p:nvPr/>
        </p:nvSpPr>
        <p:spPr>
          <a:xfrm>
            <a:off x="4305300" y="1626241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2350" dirty="0"/>
          </a:p>
        </p:txBody>
      </p:sp>
      <p:sp>
        <p:nvSpPr>
          <p:cNvPr id="178" name="Text 174"/>
          <p:cNvSpPr/>
          <p:nvPr/>
        </p:nvSpPr>
        <p:spPr>
          <a:xfrm>
            <a:off x="4813300" y="1626241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2350" dirty="0"/>
          </a:p>
        </p:txBody>
      </p:sp>
      <p:sp>
        <p:nvSpPr>
          <p:cNvPr id="179" name="Text 175"/>
          <p:cNvSpPr/>
          <p:nvPr/>
        </p:nvSpPr>
        <p:spPr>
          <a:xfrm>
            <a:off x="5638800" y="1626241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endParaRPr lang="en-US" sz="2350" dirty="0"/>
          </a:p>
        </p:txBody>
      </p:sp>
      <p:sp>
        <p:nvSpPr>
          <p:cNvPr id="180" name="Text 176"/>
          <p:cNvSpPr/>
          <p:nvPr/>
        </p:nvSpPr>
        <p:spPr>
          <a:xfrm>
            <a:off x="7696200" y="1626241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2350" dirty="0"/>
          </a:p>
        </p:txBody>
      </p:sp>
      <p:sp>
        <p:nvSpPr>
          <p:cNvPr id="181" name="Text 177"/>
          <p:cNvSpPr/>
          <p:nvPr/>
        </p:nvSpPr>
        <p:spPr>
          <a:xfrm>
            <a:off x="9715500" y="1626241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2350" dirty="0"/>
          </a:p>
        </p:txBody>
      </p:sp>
      <p:sp>
        <p:nvSpPr>
          <p:cNvPr id="182" name="Text 178"/>
          <p:cNvSpPr/>
          <p:nvPr/>
        </p:nvSpPr>
        <p:spPr>
          <a:xfrm>
            <a:off x="10502900" y="1626241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endParaRPr lang="en-US" sz="2350" dirty="0"/>
          </a:p>
        </p:txBody>
      </p:sp>
      <p:sp>
        <p:nvSpPr>
          <p:cNvPr id="183" name="Text 179"/>
          <p:cNvSpPr/>
          <p:nvPr/>
        </p:nvSpPr>
        <p:spPr>
          <a:xfrm>
            <a:off x="10845800" y="1626241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350" dirty="0"/>
          </a:p>
        </p:txBody>
      </p:sp>
      <p:pic>
        <p:nvPicPr>
          <p:cNvPr id="184" name="Image 2" descr="/home/ahmed/Projects/ai_llm_slides/videos/deep-learning/001_introduction/recreated_pptx/build/assets/eq_044_s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908" y="1737362"/>
            <a:ext cx="809244" cy="204213"/>
          </a:xfrm>
          <a:prstGeom prst="rect">
            <a:avLst/>
          </a:prstGeom>
        </p:spPr>
      </p:pic>
      <p:pic>
        <p:nvPicPr>
          <p:cNvPr id="185" name="Image 3" descr="/home/ahmed/Projects/ai_llm_slides/videos/deep-learning/001_introduction/recreated_pptx/build/assets/eq_044_ht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008" y="1677925"/>
            <a:ext cx="1252728" cy="281937"/>
          </a:xfrm>
          <a:prstGeom prst="rect">
            <a:avLst/>
          </a:prstGeom>
        </p:spPr>
      </p:pic>
      <p:pic>
        <p:nvPicPr>
          <p:cNvPr id="186" name="Image 4" descr="/home/ahmed/Projects/ai_llm_slides/videos/deep-learning/001_introduction/recreated_pptx/build/assets/eq_044_wto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508" y="1667260"/>
            <a:ext cx="1368555" cy="295653"/>
          </a:xfrm>
          <a:prstGeom prst="rect">
            <a:avLst/>
          </a:prstGeom>
        </p:spPr>
      </p:pic>
      <p:sp>
        <p:nvSpPr>
          <p:cNvPr id="187" name="Shape 180"/>
          <p:cNvSpPr/>
          <p:nvPr/>
        </p:nvSpPr>
        <p:spPr>
          <a:xfrm>
            <a:off x="1409700" y="1790700"/>
            <a:ext cx="184150" cy="12065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B39A6E"/>
            </a:solidFill>
            <a:prstDash val="solid"/>
          </a:ln>
        </p:spPr>
      </p:sp>
      <p:sp>
        <p:nvSpPr>
          <p:cNvPr id="188" name="Shape 181"/>
          <p:cNvSpPr/>
          <p:nvPr/>
        </p:nvSpPr>
        <p:spPr>
          <a:xfrm>
            <a:off x="977900" y="4991100"/>
            <a:ext cx="756285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3AB"/>
            </a:solidFill>
            <a:prstDash val="solid"/>
          </a:ln>
        </p:spPr>
      </p:sp>
      <p:sp>
        <p:nvSpPr>
          <p:cNvPr id="189" name="Text 182"/>
          <p:cNvSpPr/>
          <p:nvPr/>
        </p:nvSpPr>
        <p:spPr>
          <a:xfrm>
            <a:off x="1104900" y="4989703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810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Original 5x5</a:t>
            </a:r>
            <a:endParaRPr lang="en-US" sz="2100" dirty="0"/>
          </a:p>
        </p:txBody>
      </p:sp>
      <p:sp>
        <p:nvSpPr>
          <p:cNvPr id="190" name="Text 183"/>
          <p:cNvSpPr/>
          <p:nvPr/>
        </p:nvSpPr>
        <p:spPr>
          <a:xfrm>
            <a:off x="1117600" y="5332603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810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padding ONE  pixel (surrounding the image) it will be 7x7</a:t>
            </a:r>
            <a:endParaRPr lang="en-US" sz="2100" dirty="0"/>
          </a:p>
        </p:txBody>
      </p:sp>
      <p:sp>
        <p:nvSpPr>
          <p:cNvPr id="191" name="Text 184"/>
          <p:cNvSpPr/>
          <p:nvPr/>
        </p:nvSpPr>
        <p:spPr>
          <a:xfrm>
            <a:off x="1130300" y="5675503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810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apply one filter  of size 3x3 , output will be 5x5 again</a:t>
            </a:r>
            <a:endParaRPr lang="en-US" sz="2100" dirty="0"/>
          </a:p>
        </p:txBody>
      </p:sp>
      <p:sp>
        <p:nvSpPr>
          <p:cNvPr id="192" name="Text 185"/>
          <p:cNvSpPr/>
          <p:nvPr/>
        </p:nvSpPr>
        <p:spPr>
          <a:xfrm>
            <a:off x="1104900" y="6018403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810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the same for next applied filter</a:t>
            </a:r>
            <a:endParaRPr lang="en-US" sz="2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4100" y="665093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55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</a:t>
            </a:r>
            <a:pPr algn="ctr" indent="0" marL="0">
              <a:lnSpc>
                <a:spcPts val="4300"/>
              </a:lnSpc>
              <a:buNone/>
            </a:pPr>
            <a:r>
              <a:rPr lang="en-US" sz="355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Convolution</a:t>
            </a:r>
            <a:pPr algn="ctr" indent="0" marL="0">
              <a:lnSpc>
                <a:spcPts val="4300"/>
              </a:lnSpc>
              <a:buNone/>
            </a:pPr>
            <a:r>
              <a:rPr lang="en-US" sz="355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as a </a:t>
            </a:r>
            <a:pPr algn="ctr" indent="0" marL="0">
              <a:lnSpc>
                <a:spcPts val="4300"/>
              </a:lnSpc>
              <a:buNone/>
            </a:pPr>
            <a:r>
              <a:rPr lang="en-US" sz="3550" u="sng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MODULE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889000" y="1447800"/>
            <a:ext cx="10433050" cy="121285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000" y="2901950"/>
            <a:ext cx="10331450" cy="60325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3300" y="2871680"/>
            <a:ext cx="10134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85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Remember</a:t>
            </a:r>
            <a:pPr algn="l" indent="0" marL="0">
              <a:lnSpc>
                <a:spcPts val="2050"/>
              </a:lnSpc>
              <a:buNone/>
            </a:pPr>
            <a:r>
              <a:rPr lang="en-US" sz="18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for training, it is required to have the gradient of Output w.r.t both Input and</a:t>
            </a:r>
            <a:endParaRPr lang="en-US" sz="185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8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weights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901700" y="4495800"/>
            <a:ext cx="2419350" cy="1028700"/>
          </a:xfrm>
          <a:prstGeom prst="rect">
            <a:avLst/>
          </a:prstGeom>
          <a:solidFill>
            <a:srgbClr val="E9F4F2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5200" y="4503865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pPr algn="l" indent="0" marL="0">
              <a:lnSpc>
                <a:spcPts val="2200"/>
              </a:lnSpc>
              <a:buNone/>
            </a:pPr>
            <a:r>
              <a:rPr lang="en-US" sz="1500" b="1" baseline="-40000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ij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57300" y="4503865"/>
            <a:ext cx="2057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Filter weights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5200" y="4757865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r, 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57300" y="4757865"/>
            <a:ext cx="2057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row, column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5200" y="5011864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l" indent="0" marL="0">
              <a:lnSpc>
                <a:spcPts val="2200"/>
              </a:lnSpc>
              <a:buNone/>
            </a:pPr>
            <a:r>
              <a:rPr lang="en-US" sz="1500" b="1" baseline="-40000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57300" y="5011864"/>
            <a:ext cx="2057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Activation value = 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5200" y="5265865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57300" y="5265865"/>
            <a:ext cx="2057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Vevtor of all weights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708400" y="3695700"/>
            <a:ext cx="5175250" cy="266065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0950" y="3797300"/>
            <a:ext cx="127000" cy="127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90950" y="4794250"/>
            <a:ext cx="127000" cy="127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90950" y="5378450"/>
            <a:ext cx="127000" cy="127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13200" y="3697414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Activation function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013200" y="4700715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Essentially a dot product, similar to linear layer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13200" y="5320817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Gradient w.r.t. the parameters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635750" y="5524500"/>
            <a:ext cx="50800" cy="44450"/>
          </a:xfrm>
          <a:prstGeom prst="line">
            <a:avLst/>
          </a:prstGeom>
          <a:noFill/>
          <a:ln w="31750">
            <a:solidFill>
              <a:srgbClr val="4541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67500" y="5556250"/>
            <a:ext cx="101600" cy="133350"/>
          </a:xfrm>
          <a:prstGeom prst="line">
            <a:avLst/>
          </a:prstGeom>
          <a:noFill/>
          <a:ln w="15875">
            <a:solidFill>
              <a:srgbClr val="454140"/>
            </a:solidFill>
            <a:prstDash val="solid"/>
          </a:ln>
        </p:spPr>
      </p:sp>
      <p:pic>
        <p:nvPicPr>
          <p:cNvPr id="25" name="Image 0" descr="/home/ahmed/Projects/ai_llm_slides/videos/deep-learning/001_introduction/recreated_pptx/build/assets/eq_045_a_r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508" y="4248658"/>
            <a:ext cx="330711" cy="176781"/>
          </a:xfrm>
          <a:prstGeom prst="rect">
            <a:avLst/>
          </a:prstGeom>
        </p:spPr>
      </p:pic>
      <p:pic>
        <p:nvPicPr>
          <p:cNvPr id="26" name="Image 1" descr="/home/ahmed/Projects/ai_llm_slides/videos/deep-learning/001_introduction/recreated_pptx/build/assets/eq_045_eq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558" y="4267708"/>
            <a:ext cx="164592" cy="86868"/>
          </a:xfrm>
          <a:prstGeom prst="rect">
            <a:avLst/>
          </a:prstGeom>
        </p:spPr>
      </p:pic>
      <p:pic>
        <p:nvPicPr>
          <p:cNvPr id="27" name="Image 2" descr="/home/ahmed/Projects/ai_llm_slides/videos/deep-learning/001_introduction/recreated_pptx/build/assets/eq_045_sum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608" y="4102608"/>
            <a:ext cx="310896" cy="432813"/>
          </a:xfrm>
          <a:prstGeom prst="rect">
            <a:avLst/>
          </a:prstGeom>
        </p:spPr>
      </p:pic>
      <p:pic>
        <p:nvPicPr>
          <p:cNvPr id="28" name="Image 3" descr="/home/ahmed/Projects/ai_llm_slides/videos/deep-learning/001_introduction/recreated_pptx/build/assets/eq_045_lim1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3258" y="3950208"/>
            <a:ext cx="102111" cy="112773"/>
          </a:xfrm>
          <a:prstGeom prst="rect">
            <a:avLst/>
          </a:prstGeom>
        </p:spPr>
      </p:pic>
      <p:pic>
        <p:nvPicPr>
          <p:cNvPr id="29" name="Image 4" descr="/home/ahmed/Projects/ai_llm_slides/videos/deep-learning/001_introduction/recreated_pptx/build/assets/eq_045_lim1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208" y="4509008"/>
            <a:ext cx="423669" cy="132588"/>
          </a:xfrm>
          <a:prstGeom prst="rect">
            <a:avLst/>
          </a:prstGeom>
        </p:spPr>
      </p:pic>
      <p:pic>
        <p:nvPicPr>
          <p:cNvPr id="30" name="Image 5" descr="/home/ahmed/Projects/ai_llm_slides/videos/deep-learning/001_introduction/recreated_pptx/build/assets/eq_045_sum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4258" y="4102608"/>
            <a:ext cx="310896" cy="432813"/>
          </a:xfrm>
          <a:prstGeom prst="rect">
            <a:avLst/>
          </a:prstGeom>
        </p:spPr>
      </p:pic>
      <p:pic>
        <p:nvPicPr>
          <p:cNvPr id="31" name="Image 6" descr="/home/ahmed/Projects/ai_llm_slides/videos/deep-learning/001_introduction/recreated_pptx/build/assets/eq_045_lim2u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5858" y="3950208"/>
            <a:ext cx="88395" cy="114300"/>
          </a:xfrm>
          <a:prstGeom prst="rect">
            <a:avLst/>
          </a:prstGeom>
        </p:spPr>
      </p:pic>
      <p:pic>
        <p:nvPicPr>
          <p:cNvPr id="32" name="Image 7" descr="/home/ahmed/Projects/ai_llm_slides/videos/deep-learning/001_introduction/recreated_pptx/build/assets/eq_045_lim2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6958" y="4521708"/>
            <a:ext cx="394719" cy="143259"/>
          </a:xfrm>
          <a:prstGeom prst="rect">
            <a:avLst/>
          </a:prstGeom>
        </p:spPr>
      </p:pic>
      <p:pic>
        <p:nvPicPr>
          <p:cNvPr id="33" name="Image 8" descr="/home/ahmed/Projects/ai_llm_slides/videos/deep-learning/001_introduction/recreated_pptx/build/assets/eq_045_x_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4308" y="4248658"/>
            <a:ext cx="182880" cy="163065"/>
          </a:xfrm>
          <a:prstGeom prst="rect">
            <a:avLst/>
          </a:prstGeom>
        </p:spPr>
      </p:pic>
      <p:pic>
        <p:nvPicPr>
          <p:cNvPr id="34" name="Image 9" descr="/home/ahmed/Projects/ai_llm_slides/videos/deep-learning/001_introduction/recreated_pptx/build/assets/eq_045_sub_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758" y="4296283"/>
            <a:ext cx="556257" cy="137160"/>
          </a:xfrm>
          <a:prstGeom prst="rect">
            <a:avLst/>
          </a:prstGeom>
        </p:spPr>
      </p:pic>
      <p:pic>
        <p:nvPicPr>
          <p:cNvPr id="35" name="Image 10" descr="/home/ahmed/Projects/ai_llm_slides/videos/deep-learning/001_introduction/recreated_pptx/build/assets/eq_045_dot_a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7108" y="4280408"/>
            <a:ext cx="64008" cy="62481"/>
          </a:xfrm>
          <a:prstGeom prst="rect">
            <a:avLst/>
          </a:prstGeom>
        </p:spPr>
      </p:pic>
      <p:pic>
        <p:nvPicPr>
          <p:cNvPr id="36" name="Image 11" descr="/home/ahmed/Projects/ai_llm_slides/videos/deep-learning/001_introduction/recreated_pptx/build/assets/eq_045_theta_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4583" y="4213733"/>
            <a:ext cx="118872" cy="164592"/>
          </a:xfrm>
          <a:prstGeom prst="rect">
            <a:avLst/>
          </a:prstGeom>
        </p:spPr>
      </p:pic>
      <p:pic>
        <p:nvPicPr>
          <p:cNvPr id="37" name="Image 12" descr="/home/ahmed/Projects/ai_llm_slides/videos/deep-learning/001_introduction/recreated_pptx/build/assets/eq_045_ij_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17458" y="4293108"/>
            <a:ext cx="112773" cy="150876"/>
          </a:xfrm>
          <a:prstGeom prst="rect">
            <a:avLst/>
          </a:prstGeom>
        </p:spPr>
      </p:pic>
      <p:pic>
        <p:nvPicPr>
          <p:cNvPr id="38" name="Image 13" descr="/home/ahmed/Projects/ai_llm_slides/videos/deep-learning/001_introduction/recreated_pptx/build/assets/eq_045_a_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17208" y="5036058"/>
            <a:ext cx="124971" cy="138687"/>
          </a:xfrm>
          <a:prstGeom prst="rect">
            <a:avLst/>
          </a:prstGeom>
        </p:spPr>
      </p:pic>
      <p:pic>
        <p:nvPicPr>
          <p:cNvPr id="39" name="Image 14" descr="/home/ahmed/Projects/ai_llm_slides/videos/deep-learning/001_introduction/recreated_pptx/build/assets/eq_045_rc_b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37858" y="5144008"/>
            <a:ext cx="211839" cy="114300"/>
          </a:xfrm>
          <a:prstGeom prst="rect">
            <a:avLst/>
          </a:prstGeom>
        </p:spPr>
      </p:pic>
      <p:pic>
        <p:nvPicPr>
          <p:cNvPr id="40" name="Image 15" descr="/home/ahmed/Projects/ai_llm_slides/videos/deep-learning/001_introduction/recreated_pptx/build/assets/eq_045_sim_b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41058" y="5077333"/>
            <a:ext cx="190497" cy="68580"/>
          </a:xfrm>
          <a:prstGeom prst="rect">
            <a:avLst/>
          </a:prstGeom>
        </p:spPr>
      </p:pic>
      <p:pic>
        <p:nvPicPr>
          <p:cNvPr id="41" name="Image 16" descr="/home/ahmed/Projects/ai_llm_slides/videos/deep-learning/001_introduction/recreated_pptx/build/assets/eq_045_x_b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3458" y="5039233"/>
            <a:ext cx="161547" cy="144777"/>
          </a:xfrm>
          <a:prstGeom prst="rect">
            <a:avLst/>
          </a:prstGeom>
        </p:spPr>
      </p:pic>
      <p:pic>
        <p:nvPicPr>
          <p:cNvPr id="42" name="Image 17" descr="/home/ahmed/Projects/ai_llm_slides/videos/deep-learning/001_introduction/recreated_pptx/build/assets/eq_045_region_b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77608" y="5124958"/>
            <a:ext cx="387093" cy="138687"/>
          </a:xfrm>
          <a:prstGeom prst="rect">
            <a:avLst/>
          </a:prstGeom>
        </p:spPr>
      </p:pic>
      <p:pic>
        <p:nvPicPr>
          <p:cNvPr id="43" name="Image 18" descr="/home/ahmed/Projects/ai_llm_slides/videos/deep-learning/001_introduction/recreated_pptx/build/assets/eq_045_T_b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21728" y="4978908"/>
            <a:ext cx="150876" cy="169164"/>
          </a:xfrm>
          <a:prstGeom prst="rect">
            <a:avLst/>
          </a:prstGeom>
        </p:spPr>
      </p:pic>
      <p:pic>
        <p:nvPicPr>
          <p:cNvPr id="44" name="Image 19" descr="/home/ahmed/Projects/ai_llm_slides/videos/deep-learning/001_introduction/recreated_pptx/build/assets/eq_045_dot_b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49108" y="5080508"/>
            <a:ext cx="64008" cy="62481"/>
          </a:xfrm>
          <a:prstGeom prst="rect">
            <a:avLst/>
          </a:prstGeom>
        </p:spPr>
      </p:pic>
      <p:pic>
        <p:nvPicPr>
          <p:cNvPr id="45" name="Image 20" descr="/home/ahmed/Projects/ai_llm_slides/videos/deep-learning/001_introduction/recreated_pptx/build/assets/eq_045_theta_b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76108" y="5013833"/>
            <a:ext cx="128016" cy="176781"/>
          </a:xfrm>
          <a:prstGeom prst="rect">
            <a:avLst/>
          </a:prstGeom>
        </p:spPr>
      </p:pic>
      <p:pic>
        <p:nvPicPr>
          <p:cNvPr id="46" name="Image 21" descr="/home/ahmed/Projects/ai_llm_slides/videos/deep-learning/001_introduction/recreated_pptx/build/assets/eq_045_frac_c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77458" y="5639308"/>
            <a:ext cx="536451" cy="545595"/>
          </a:xfrm>
          <a:prstGeom prst="rect">
            <a:avLst/>
          </a:prstGeom>
        </p:spPr>
      </p:pic>
      <p:pic>
        <p:nvPicPr>
          <p:cNvPr id="47" name="Image 22" descr="/home/ahmed/Projects/ai_llm_slides/videos/deep-learning/001_introduction/recreated_pptx/build/assets/eq_045_eq_c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23558" y="5848858"/>
            <a:ext cx="193551" cy="102111"/>
          </a:xfrm>
          <a:prstGeom prst="rect">
            <a:avLst/>
          </a:prstGeom>
        </p:spPr>
      </p:pic>
      <p:pic>
        <p:nvPicPr>
          <p:cNvPr id="48" name="Image 23" descr="/home/ahmed/Projects/ai_llm_slides/videos/deep-learning/001_introduction/recreated_pptx/build/assets/eq_045_sum3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22008" y="5677408"/>
            <a:ext cx="320040" cy="443484"/>
          </a:xfrm>
          <a:prstGeom prst="rect">
            <a:avLst/>
          </a:prstGeom>
        </p:spPr>
      </p:pic>
      <p:pic>
        <p:nvPicPr>
          <p:cNvPr id="49" name="Image 24" descr="/home/ahmed/Projects/ai_llm_slides/videos/deep-learning/001_introduction/recreated_pptx/build/assets/eq_045_lim3u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28358" y="5544058"/>
            <a:ext cx="365760" cy="106683"/>
          </a:xfrm>
          <a:prstGeom prst="rect">
            <a:avLst/>
          </a:prstGeom>
        </p:spPr>
      </p:pic>
      <p:pic>
        <p:nvPicPr>
          <p:cNvPr id="50" name="Image 25" descr="/home/ahmed/Projects/ai_llm_slides/videos/deep-learning/001_introduction/recreated_pptx/build/assets/eq_045_lim3l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934708" y="6109208"/>
            <a:ext cx="341373" cy="135633"/>
          </a:xfrm>
          <a:prstGeom prst="rect">
            <a:avLst/>
          </a:prstGeom>
        </p:spPr>
      </p:pic>
      <p:pic>
        <p:nvPicPr>
          <p:cNvPr id="51" name="Image 26" descr="/home/ahmed/Projects/ai_llm_slides/videos/deep-learning/001_introduction/recreated_pptx/build/assets/eq_045_sum4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04608" y="5677408"/>
            <a:ext cx="320040" cy="443484"/>
          </a:xfrm>
          <a:prstGeom prst="rect">
            <a:avLst/>
          </a:prstGeom>
        </p:spPr>
      </p:pic>
      <p:pic>
        <p:nvPicPr>
          <p:cNvPr id="52" name="Image 27" descr="/home/ahmed/Projects/ai_llm_slides/videos/deep-learning/001_introduction/recreated_pptx/build/assets/eq_045_lim4u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398258" y="5544058"/>
            <a:ext cx="394719" cy="115827"/>
          </a:xfrm>
          <a:prstGeom prst="rect">
            <a:avLst/>
          </a:prstGeom>
        </p:spPr>
      </p:pic>
      <p:pic>
        <p:nvPicPr>
          <p:cNvPr id="53" name="Image 28" descr="/home/ahmed/Projects/ai_llm_slides/videos/deep-learning/001_introduction/recreated_pptx/build/assets/eq_045_lim4l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404608" y="6109208"/>
            <a:ext cx="330711" cy="124971"/>
          </a:xfrm>
          <a:prstGeom prst="rect">
            <a:avLst/>
          </a:prstGeom>
        </p:spPr>
      </p:pic>
      <p:pic>
        <p:nvPicPr>
          <p:cNvPr id="54" name="Image 29" descr="/home/ahmed/Projects/ai_llm_slides/videos/deep-learning/001_introduction/recreated_pptx/build/assets/eq_045_x_c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74508" y="5848858"/>
            <a:ext cx="211839" cy="188979"/>
          </a:xfrm>
          <a:prstGeom prst="rect">
            <a:avLst/>
          </a:prstGeom>
        </p:spPr>
      </p:pic>
      <p:pic>
        <p:nvPicPr>
          <p:cNvPr id="55" name="Image 30" descr="/home/ahmed/Projects/ai_llm_slides/videos/deep-learning/001_introduction/recreated_pptx/build/assets/eq_045_sub_c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03108" y="5886958"/>
            <a:ext cx="502920" cy="124971"/>
          </a:xfrm>
          <a:prstGeom prst="rect">
            <a:avLst/>
          </a:prstGeom>
        </p:spPr>
      </p:pic>
      <p:sp>
        <p:nvSpPr>
          <p:cNvPr id="56" name="Shape 23"/>
          <p:cNvSpPr/>
          <p:nvPr/>
        </p:nvSpPr>
        <p:spPr>
          <a:xfrm>
            <a:off x="9347200" y="4622800"/>
            <a:ext cx="2019300" cy="355600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99"/>
            </a:solidFill>
            <a:prstDash val="solid"/>
          </a:ln>
        </p:spPr>
      </p:sp>
      <p:sp>
        <p:nvSpPr>
          <p:cNvPr id="57" name="Text 24"/>
          <p:cNvSpPr/>
          <p:nvPr/>
        </p:nvSpPr>
        <p:spPr>
          <a:xfrm>
            <a:off x="9347200" y="4622800"/>
            <a:ext cx="201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Weights</a:t>
            </a:r>
            <a:pPr algn="ctr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filter values</a:t>
            </a:r>
            <a:endParaRPr lang="en-US" sz="1600" dirty="0"/>
          </a:p>
        </p:txBody>
      </p:sp>
      <p:sp>
        <p:nvSpPr>
          <p:cNvPr id="58" name="Shape 25"/>
          <p:cNvSpPr/>
          <p:nvPr/>
        </p:nvSpPr>
        <p:spPr>
          <a:xfrm>
            <a:off x="9334500" y="5359400"/>
            <a:ext cx="1816100" cy="355600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99"/>
            </a:solidFill>
            <a:prstDash val="solid"/>
          </a:ln>
        </p:spPr>
      </p:sp>
      <p:sp>
        <p:nvSpPr>
          <p:cNvPr id="59" name="Text 26"/>
          <p:cNvSpPr/>
          <p:nvPr/>
        </p:nvSpPr>
        <p:spPr>
          <a:xfrm>
            <a:off x="9334500" y="5359400"/>
            <a:ext cx="181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pixel values</a:t>
            </a:r>
            <a:endParaRPr lang="en-US" sz="1500" dirty="0"/>
          </a:p>
        </p:txBody>
      </p:sp>
      <p:sp>
        <p:nvSpPr>
          <p:cNvPr id="60" name="Shape 27"/>
          <p:cNvSpPr/>
          <p:nvPr/>
        </p:nvSpPr>
        <p:spPr>
          <a:xfrm>
            <a:off x="7708900" y="4356100"/>
            <a:ext cx="177800" cy="165100"/>
          </a:xfrm>
          <a:prstGeom prst="line">
            <a:avLst/>
          </a:prstGeom>
          <a:noFill/>
          <a:ln w="6350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1" name="Shape 28"/>
          <p:cNvSpPr/>
          <p:nvPr/>
        </p:nvSpPr>
        <p:spPr>
          <a:xfrm>
            <a:off x="8813800" y="4406900"/>
            <a:ext cx="139700" cy="88900"/>
          </a:xfrm>
          <a:prstGeom prst="line">
            <a:avLst/>
          </a:prstGeom>
          <a:noFill/>
          <a:ln w="38100">
            <a:solidFill>
              <a:srgbClr val="C00000"/>
            </a:solidFill>
            <a:prstDash val="solid"/>
          </a:ln>
        </p:spPr>
      </p:sp>
      <p:sp>
        <p:nvSpPr>
          <p:cNvPr id="62" name="Shape 29"/>
          <p:cNvSpPr/>
          <p:nvPr/>
        </p:nvSpPr>
        <p:spPr>
          <a:xfrm>
            <a:off x="8991600" y="4533900"/>
            <a:ext cx="349250" cy="247650"/>
          </a:xfrm>
          <a:prstGeom prst="line">
            <a:avLst/>
          </a:prstGeom>
          <a:noFill/>
          <a:ln w="12700">
            <a:solidFill>
              <a:srgbClr val="BFBBB8"/>
            </a:solidFill>
            <a:prstDash val="solid"/>
          </a:ln>
        </p:spPr>
      </p:sp>
      <p:sp>
        <p:nvSpPr>
          <p:cNvPr id="63" name="Shape 30"/>
          <p:cNvSpPr/>
          <p:nvPr/>
        </p:nvSpPr>
        <p:spPr>
          <a:xfrm>
            <a:off x="8915400" y="5194300"/>
            <a:ext cx="425450" cy="279400"/>
          </a:xfrm>
          <a:prstGeom prst="line">
            <a:avLst/>
          </a:prstGeom>
          <a:noFill/>
          <a:ln w="12700">
            <a:solidFill>
              <a:srgbClr val="BFBBB8"/>
            </a:solidFill>
            <a:prstDash val="solid"/>
          </a:ln>
        </p:spPr>
      </p:sp>
      <p:sp>
        <p:nvSpPr>
          <p:cNvPr id="64" name="Shape 31"/>
          <p:cNvSpPr/>
          <p:nvPr/>
        </p:nvSpPr>
        <p:spPr>
          <a:xfrm>
            <a:off x="9931400" y="609600"/>
            <a:ext cx="1422400" cy="1320800"/>
          </a:xfrm>
          <a:prstGeom prst="star16">
            <a:avLst/>
          </a:prstGeom>
          <a:solidFill>
            <a:srgbClr val="C00000"/>
          </a:solidFill>
          <a:ln/>
        </p:spPr>
      </p:sp>
      <p:sp>
        <p:nvSpPr>
          <p:cNvPr id="65" name="Shape 32"/>
          <p:cNvSpPr/>
          <p:nvPr/>
        </p:nvSpPr>
        <p:spPr>
          <a:xfrm>
            <a:off x="9950450" y="628650"/>
            <a:ext cx="1384300" cy="1282700"/>
          </a:xfrm>
          <a:prstGeom prst="star16">
            <a:avLst/>
          </a:prstGeom>
          <a:solidFill>
            <a:srgbClr val="FFFFFF"/>
          </a:solidFill>
          <a:ln/>
        </p:spPr>
      </p:sp>
      <p:sp>
        <p:nvSpPr>
          <p:cNvPr id="66" name="Shape 33"/>
          <p:cNvSpPr/>
          <p:nvPr/>
        </p:nvSpPr>
        <p:spPr>
          <a:xfrm>
            <a:off x="9969500" y="647700"/>
            <a:ext cx="1346200" cy="1244600"/>
          </a:xfrm>
          <a:prstGeom prst="star16">
            <a:avLst/>
          </a:prstGeom>
          <a:solidFill>
            <a:srgbClr val="F0F6CE"/>
          </a:solidFill>
          <a:ln/>
        </p:spPr>
      </p:sp>
      <p:sp>
        <p:nvSpPr>
          <p:cNvPr id="67" name="Text 34"/>
          <p:cNvSpPr/>
          <p:nvPr/>
        </p:nvSpPr>
        <p:spPr>
          <a:xfrm rot="20880000">
            <a:off x="9890125" y="11176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</a:t>
            </a:r>
            <a:endParaRPr lang="en-US" sz="1700" dirty="0"/>
          </a:p>
        </p:txBody>
      </p:sp>
      <p:sp>
        <p:nvSpPr>
          <p:cNvPr id="68" name="Text 35"/>
          <p:cNvSpPr/>
          <p:nvPr/>
        </p:nvSpPr>
        <p:spPr>
          <a:xfrm rot="20880000">
            <a:off x="9899650" y="11176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</a:t>
            </a:r>
            <a:endParaRPr lang="en-US" sz="1700" dirty="0"/>
          </a:p>
        </p:txBody>
      </p:sp>
      <p:sp>
        <p:nvSpPr>
          <p:cNvPr id="69" name="Text 36"/>
          <p:cNvSpPr/>
          <p:nvPr/>
        </p:nvSpPr>
        <p:spPr>
          <a:xfrm rot="20880000">
            <a:off x="9887335" y="1124335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</a:t>
            </a:r>
            <a:endParaRPr lang="en-US" sz="1700" dirty="0"/>
          </a:p>
        </p:txBody>
      </p:sp>
      <p:sp>
        <p:nvSpPr>
          <p:cNvPr id="70" name="Text 37"/>
          <p:cNvSpPr/>
          <p:nvPr/>
        </p:nvSpPr>
        <p:spPr>
          <a:xfrm rot="20880000">
            <a:off x="9894070" y="113107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</a:t>
            </a:r>
            <a:endParaRPr lang="en-US" sz="1700" dirty="0"/>
          </a:p>
        </p:txBody>
      </p:sp>
      <p:sp>
        <p:nvSpPr>
          <p:cNvPr id="71" name="Text 38"/>
          <p:cNvSpPr/>
          <p:nvPr/>
        </p:nvSpPr>
        <p:spPr>
          <a:xfrm rot="20880000">
            <a:off x="9880600" y="1127125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</a:t>
            </a:r>
            <a:endParaRPr lang="en-US" sz="1700" dirty="0"/>
          </a:p>
        </p:txBody>
      </p:sp>
      <p:sp>
        <p:nvSpPr>
          <p:cNvPr id="72" name="Text 39"/>
          <p:cNvSpPr/>
          <p:nvPr/>
        </p:nvSpPr>
        <p:spPr>
          <a:xfrm rot="20880000">
            <a:off x="9880600" y="113665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</a:t>
            </a:r>
            <a:endParaRPr lang="en-US" sz="1700" dirty="0"/>
          </a:p>
        </p:txBody>
      </p:sp>
      <p:sp>
        <p:nvSpPr>
          <p:cNvPr id="73" name="Text 40"/>
          <p:cNvSpPr/>
          <p:nvPr/>
        </p:nvSpPr>
        <p:spPr>
          <a:xfrm rot="20880000">
            <a:off x="9873865" y="1124335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</a:t>
            </a:r>
            <a:endParaRPr lang="en-US" sz="1700" dirty="0"/>
          </a:p>
        </p:txBody>
      </p:sp>
      <p:sp>
        <p:nvSpPr>
          <p:cNvPr id="74" name="Text 41"/>
          <p:cNvSpPr/>
          <p:nvPr/>
        </p:nvSpPr>
        <p:spPr>
          <a:xfrm rot="20880000">
            <a:off x="9867130" y="113107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</a:t>
            </a:r>
            <a:endParaRPr lang="en-US" sz="1700" dirty="0"/>
          </a:p>
        </p:txBody>
      </p:sp>
      <p:sp>
        <p:nvSpPr>
          <p:cNvPr id="75" name="Text 42"/>
          <p:cNvSpPr/>
          <p:nvPr/>
        </p:nvSpPr>
        <p:spPr>
          <a:xfrm rot="20880000">
            <a:off x="9871075" y="11176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</a:t>
            </a:r>
            <a:endParaRPr lang="en-US" sz="1700" dirty="0"/>
          </a:p>
        </p:txBody>
      </p:sp>
      <p:sp>
        <p:nvSpPr>
          <p:cNvPr id="76" name="Text 43"/>
          <p:cNvSpPr/>
          <p:nvPr/>
        </p:nvSpPr>
        <p:spPr>
          <a:xfrm rot="20880000">
            <a:off x="9861550" y="11176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</a:t>
            </a:r>
            <a:endParaRPr lang="en-US" sz="1700" dirty="0"/>
          </a:p>
        </p:txBody>
      </p:sp>
      <p:sp>
        <p:nvSpPr>
          <p:cNvPr id="77" name="Text 44"/>
          <p:cNvSpPr/>
          <p:nvPr/>
        </p:nvSpPr>
        <p:spPr>
          <a:xfrm rot="20880000">
            <a:off x="9873865" y="1110865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</a:t>
            </a:r>
            <a:endParaRPr lang="en-US" sz="1700" dirty="0"/>
          </a:p>
        </p:txBody>
      </p:sp>
      <p:sp>
        <p:nvSpPr>
          <p:cNvPr id="78" name="Text 45"/>
          <p:cNvSpPr/>
          <p:nvPr/>
        </p:nvSpPr>
        <p:spPr>
          <a:xfrm rot="20880000">
            <a:off x="9867130" y="110413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</a:t>
            </a:r>
            <a:endParaRPr lang="en-US" sz="1700" dirty="0"/>
          </a:p>
        </p:txBody>
      </p:sp>
      <p:sp>
        <p:nvSpPr>
          <p:cNvPr id="79" name="Text 46"/>
          <p:cNvSpPr/>
          <p:nvPr/>
        </p:nvSpPr>
        <p:spPr>
          <a:xfrm rot="20880000">
            <a:off x="9880600" y="1108075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</a:t>
            </a:r>
            <a:endParaRPr lang="en-US" sz="1700" dirty="0"/>
          </a:p>
        </p:txBody>
      </p:sp>
      <p:sp>
        <p:nvSpPr>
          <p:cNvPr id="80" name="Text 47"/>
          <p:cNvSpPr/>
          <p:nvPr/>
        </p:nvSpPr>
        <p:spPr>
          <a:xfrm rot="20880000">
            <a:off x="9880600" y="109855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</a:t>
            </a:r>
            <a:endParaRPr lang="en-US" sz="1700" dirty="0"/>
          </a:p>
        </p:txBody>
      </p:sp>
      <p:sp>
        <p:nvSpPr>
          <p:cNvPr id="81" name="Text 48"/>
          <p:cNvSpPr/>
          <p:nvPr/>
        </p:nvSpPr>
        <p:spPr>
          <a:xfrm rot="20880000">
            <a:off x="9887335" y="1110865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</a:t>
            </a:r>
            <a:endParaRPr lang="en-US" sz="1700" dirty="0"/>
          </a:p>
        </p:txBody>
      </p:sp>
      <p:sp>
        <p:nvSpPr>
          <p:cNvPr id="82" name="Text 49"/>
          <p:cNvSpPr/>
          <p:nvPr/>
        </p:nvSpPr>
        <p:spPr>
          <a:xfrm rot="20880000">
            <a:off x="9894070" y="110413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</a:t>
            </a:r>
            <a:endParaRPr lang="en-US" sz="1700" dirty="0"/>
          </a:p>
        </p:txBody>
      </p:sp>
      <p:sp>
        <p:nvSpPr>
          <p:cNvPr id="83" name="Text 50"/>
          <p:cNvSpPr/>
          <p:nvPr/>
        </p:nvSpPr>
        <p:spPr>
          <a:xfrm rot="20880000">
            <a:off x="9880600" y="11176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</a:t>
            </a:r>
            <a:endParaRPr lang="en-US" sz="1700" dirty="0"/>
          </a:p>
        </p:txBody>
      </p:sp>
      <p:sp>
        <p:nvSpPr>
          <p:cNvPr id="84" name="Text 51"/>
          <p:cNvSpPr/>
          <p:nvPr/>
        </p:nvSpPr>
        <p:spPr>
          <a:xfrm>
            <a:off x="990600" y="1495920"/>
            <a:ext cx="10236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Since Convolution is a DOT product (between filter values and corresponding image values),</a:t>
            </a:r>
            <a:endParaRPr lang="en-US" sz="21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can be applied as if it is a NN Layer</a:t>
            </a:r>
            <a:endParaRPr lang="en-US" sz="21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image values, </a:t>
            </a:r>
            <a:pPr algn="l"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Weights</a:t>
            </a:r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: filter values, </a:t>
            </a:r>
            <a:pPr algn="l"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Activation</a:t>
            </a:r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Linear, </a:t>
            </a:r>
            <a:pPr algn="l"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Bias</a:t>
            </a:r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:0</a:t>
            </a:r>
            <a:endParaRPr lang="en-US" sz="2100" dirty="0"/>
          </a:p>
        </p:txBody>
      </p:sp>
      <p:sp>
        <p:nvSpPr>
          <p:cNvPr id="85" name="Shape 52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86" name="Text 53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0250" y="1689100"/>
            <a:ext cx="10414000" cy="410845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700" y="89287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4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</a:t>
            </a:r>
            <a:endParaRPr lang="en-US" sz="3490" dirty="0"/>
          </a:p>
        </p:txBody>
      </p:sp>
      <p:sp>
        <p:nvSpPr>
          <p:cNvPr id="7" name="Text 5"/>
          <p:cNvSpPr/>
          <p:nvPr/>
        </p:nvSpPr>
        <p:spPr>
          <a:xfrm>
            <a:off x="1727200" y="1739035"/>
            <a:ext cx="584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4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multiple values into a single value</a:t>
            </a:r>
            <a:endParaRPr lang="en-US" sz="2040" dirty="0"/>
          </a:p>
        </p:txBody>
      </p:sp>
      <p:sp>
        <p:nvSpPr>
          <p:cNvPr id="8" name="Text 6"/>
          <p:cNvSpPr/>
          <p:nvPr/>
        </p:nvSpPr>
        <p:spPr>
          <a:xfrm>
            <a:off x="1765300" y="2008503"/>
            <a:ext cx="406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79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Invariance to small transformations</a:t>
            </a:r>
            <a:endParaRPr lang="en-US" sz="1795" dirty="0"/>
          </a:p>
        </p:txBody>
      </p:sp>
      <p:sp>
        <p:nvSpPr>
          <p:cNvPr id="9" name="Text 7"/>
          <p:cNvSpPr/>
          <p:nvPr/>
        </p:nvSpPr>
        <p:spPr>
          <a:xfrm>
            <a:off x="1765300" y="2300603"/>
            <a:ext cx="838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79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the size of the layer output/input to next layer → Faster computations</a:t>
            </a:r>
            <a:endParaRPr lang="en-US" sz="1795" dirty="0"/>
          </a:p>
        </p:txBody>
      </p:sp>
      <p:sp>
        <p:nvSpPr>
          <p:cNvPr id="10" name="Text 8"/>
          <p:cNvSpPr/>
          <p:nvPr/>
        </p:nvSpPr>
        <p:spPr>
          <a:xfrm>
            <a:off x="1765300" y="2605403"/>
            <a:ext cx="584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79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most important information for the next layer</a:t>
            </a:r>
            <a:endParaRPr lang="en-US" sz="1795" dirty="0"/>
          </a:p>
        </p:txBody>
      </p:sp>
      <p:sp>
        <p:nvSpPr>
          <p:cNvPr id="11" name="Shape 9"/>
          <p:cNvSpPr/>
          <p:nvPr/>
        </p:nvSpPr>
        <p:spPr>
          <a:xfrm>
            <a:off x="1470025" y="1978025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31950" y="2266950"/>
            <a:ext cx="101600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31950" y="2559050"/>
            <a:ext cx="101600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31950" y="2863850"/>
            <a:ext cx="101600" cy="10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58900" y="3175000"/>
            <a:ext cx="2362200" cy="33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8900" y="3606800"/>
            <a:ext cx="2362200" cy="31750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9900" y="3044835"/>
            <a:ext cx="254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pooling</a:t>
            </a:r>
            <a:endParaRPr lang="en-US" sz="2060" dirty="0"/>
          </a:p>
        </p:txBody>
      </p:sp>
      <p:sp>
        <p:nvSpPr>
          <p:cNvPr id="18" name="Text 16"/>
          <p:cNvSpPr/>
          <p:nvPr/>
        </p:nvSpPr>
        <p:spPr>
          <a:xfrm>
            <a:off x="1733550" y="3482985"/>
            <a:ext cx="254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6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pooling</a:t>
            </a:r>
            <a:endParaRPr lang="en-US" sz="2060" dirty="0"/>
          </a:p>
        </p:txBody>
      </p:sp>
      <p:sp>
        <p:nvSpPr>
          <p:cNvPr id="19" name="Shape 17"/>
          <p:cNvSpPr/>
          <p:nvPr/>
        </p:nvSpPr>
        <p:spPr>
          <a:xfrm>
            <a:off x="1470025" y="3292475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70025" y="3711575"/>
            <a:ext cx="133350" cy="1333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84400" y="4267200"/>
            <a:ext cx="450850" cy="400050"/>
          </a:xfrm>
          <a:prstGeom prst="rect">
            <a:avLst/>
          </a:prstGeom>
          <a:solidFill>
            <a:srgbClr val="0CC8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84400" y="4267200"/>
            <a:ext cx="450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635250" y="4267200"/>
            <a:ext cx="444500" cy="400050"/>
          </a:xfrm>
          <a:prstGeom prst="rect">
            <a:avLst/>
          </a:prstGeom>
          <a:solidFill>
            <a:srgbClr val="0CC8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5250" y="4267200"/>
            <a:ext cx="444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184400" y="4667250"/>
            <a:ext cx="450850" cy="400050"/>
          </a:xfrm>
          <a:prstGeom prst="rect">
            <a:avLst/>
          </a:prstGeom>
          <a:solidFill>
            <a:srgbClr val="0CC8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84400" y="4667250"/>
            <a:ext cx="450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635250" y="4667250"/>
            <a:ext cx="444500" cy="400050"/>
          </a:xfrm>
          <a:prstGeom prst="rect">
            <a:avLst/>
          </a:prstGeom>
          <a:solidFill>
            <a:srgbClr val="0CC8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35250" y="4667250"/>
            <a:ext cx="444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987800" y="4470400"/>
            <a:ext cx="431800" cy="393700"/>
          </a:xfrm>
          <a:prstGeom prst="rect">
            <a:avLst/>
          </a:prstGeom>
          <a:solidFill>
            <a:srgbClr val="0CC8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87800" y="4470400"/>
            <a:ext cx="4318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251200" y="4457700"/>
            <a:ext cx="825500" cy="406400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4395216"/>
            <a:ext cx="76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i="1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Pool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251450" y="4395216"/>
            <a:ext cx="25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i="1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endParaRPr lang="en-US" sz="2000" dirty="0"/>
          </a:p>
        </p:txBody>
      </p:sp>
      <p:pic>
        <p:nvPicPr>
          <p:cNvPr id="34" name="Image 0" descr="/home/ahmed/Projects/ai_llm_slides/videos/deep-learning/001_introduction/recreated_pptx/build/assets/tiger_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4800" y="4127500"/>
            <a:ext cx="2374900" cy="11303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753350" y="4395216"/>
            <a:ext cx="25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i="1" dirty="0">
                <a:solidFill>
                  <a:srgbClr val="26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7937500" y="4419255"/>
            <a:ext cx="50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4E4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==</a:t>
            </a:r>
            <a:endParaRPr lang="en-US" sz="2400" dirty="0"/>
          </a:p>
        </p:txBody>
      </p:sp>
      <p:pic>
        <p:nvPicPr>
          <p:cNvPr id="37" name="Image 1" descr="/home/ahmed/Projects/ai_llm_slides/videos/deep-learning/001_introduction/recreated_pptx/build/assets/tiger_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00" y="4343400"/>
            <a:ext cx="1244600" cy="60960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7931150" y="4829416"/>
            <a:ext cx="254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40" b="1" i="1" u="sng" dirty="0">
                <a:solidFill>
                  <a:srgbClr val="33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is reduced</a:t>
            </a:r>
            <a:endParaRPr lang="en-US" sz="134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2950" y="558800"/>
            <a:ext cx="0" cy="5956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600" y="552450"/>
            <a:ext cx="107061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1400" y="2781300"/>
            <a:ext cx="10083800" cy="3403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350" y="676339"/>
            <a:ext cx="109728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0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AVERAGE POOLING</a:t>
            </a:r>
            <a:pPr algn="ctr" indent="0" marL="0">
              <a:lnSpc>
                <a:spcPts val="4400"/>
              </a:lnSpc>
              <a:buNone/>
            </a:pPr>
            <a:r>
              <a:rPr lang="en-US" sz="39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Layer</a:t>
            </a:r>
            <a:pPr algn="ctr" indent="0" marL="0">
              <a:lnSpc>
                <a:spcPts val="4400"/>
              </a:lnSpc>
              <a:buNone/>
            </a:pPr>
            <a:r>
              <a:rPr lang="en-US" sz="30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(Take Average Value)</a:t>
            </a:r>
            <a:endParaRPr lang="en-US" sz="3050" dirty="0"/>
          </a:p>
        </p:txBody>
      </p:sp>
      <p:sp>
        <p:nvSpPr>
          <p:cNvPr id="10" name="Text 8"/>
          <p:cNvSpPr/>
          <p:nvPr/>
        </p:nvSpPr>
        <p:spPr>
          <a:xfrm>
            <a:off x="1028700" y="1556321"/>
            <a:ext cx="939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new Module (Average-POOLING module)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28700" y="1892871"/>
            <a:ext cx="939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= 1/r c * Summation (each_input_pixel * 1)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28700" y="2235771"/>
            <a:ext cx="939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10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Required to define its input, its output, and Gradient of Output w.r.t input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55700" y="2901950"/>
            <a:ext cx="127000" cy="127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BE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5700" y="3289300"/>
            <a:ext cx="127000" cy="127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BE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5700" y="3733800"/>
            <a:ext cx="127000" cy="127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BE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5700" y="4235450"/>
            <a:ext cx="127000" cy="127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4BE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73200" y="2818194"/>
            <a:ext cx="533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900" spc="15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sliding window of size [h</a:t>
            </a:r>
            <a:pPr algn="l" indent="0" marL="0">
              <a:lnSpc>
                <a:spcPts val="2000"/>
              </a:lnSpc>
              <a:buNone/>
            </a:pPr>
            <a:r>
              <a:rPr lang="en-US" sz="1900" baseline="-40000" spc="15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lnSpc>
                <a:spcPts val="2000"/>
              </a:lnSpc>
              <a:buNone/>
            </a:pPr>
            <a:r>
              <a:rPr lang="en-US" sz="1900" spc="15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w</a:t>
            </a:r>
            <a:pPr algn="l" indent="0" marL="0">
              <a:lnSpc>
                <a:spcPts val="2000"/>
              </a:lnSpc>
              <a:buNone/>
            </a:pPr>
            <a:r>
              <a:rPr lang="en-US" sz="1900" baseline="-40000" spc="15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lnSpc>
                <a:spcPts val="2000"/>
              </a:lnSpc>
              <a:buNone/>
            </a:pPr>
            <a:r>
              <a:rPr lang="en-US" sz="1900" spc="15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]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473200" y="3186493"/>
            <a:ext cx="584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900" spc="19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each location keep the </a:t>
            </a:r>
            <a:pPr algn="l" indent="0" marL="0">
              <a:lnSpc>
                <a:spcPts val="2000"/>
              </a:lnSpc>
              <a:buNone/>
            </a:pPr>
            <a:r>
              <a:rPr lang="en-US" sz="1900" b="1" u="sng" spc="19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</a:t>
            </a:r>
            <a:pPr algn="l" indent="0" marL="0">
              <a:lnSpc>
                <a:spcPts val="2000"/>
              </a:lnSpc>
              <a:buNone/>
            </a:pPr>
            <a:r>
              <a:rPr lang="en-US" sz="1900" spc="19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384300" y="3644900"/>
            <a:ext cx="25781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84300" y="3606800"/>
            <a:ext cx="2578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spc="20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function:</a:t>
            </a:r>
            <a:endParaRPr lang="en-US" sz="1850" dirty="0"/>
          </a:p>
        </p:txBody>
      </p:sp>
      <p:pic>
        <p:nvPicPr>
          <p:cNvPr id="21" name="Image 0" descr="/home/ahmed/Projects/ai_llm_slides/videos/deep-learning/001_introduction/recreated_pptx/build/assets/eq_047_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3704" y="3485894"/>
            <a:ext cx="2542032" cy="53644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1384300" y="4102100"/>
            <a:ext cx="2578100" cy="368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84300" y="4064000"/>
            <a:ext cx="25781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spc="200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w.r.t. input</a:t>
            </a:r>
            <a:endParaRPr lang="en-US" sz="1850" dirty="0"/>
          </a:p>
        </p:txBody>
      </p:sp>
      <p:pic>
        <p:nvPicPr>
          <p:cNvPr id="24" name="Image 1" descr="/home/ahmed/Projects/ai_llm_slides/videos/deep-learning/001_introduction/recreated_pptx/build/assets/eq_047_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807" y="4020818"/>
            <a:ext cx="1147572" cy="53644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778500" y="4419600"/>
            <a:ext cx="1422400" cy="1625600"/>
          </a:xfrm>
          <a:prstGeom prst="rect">
            <a:avLst/>
          </a:prstGeom>
          <a:solidFill>
            <a:srgbClr val="E4FAFF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905500" y="444173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Where:</a:t>
            </a:r>
            <a:endParaRPr lang="en-US" sz="1650" dirty="0"/>
          </a:p>
        </p:txBody>
      </p:sp>
      <p:sp>
        <p:nvSpPr>
          <p:cNvPr id="27" name="Text 23"/>
          <p:cNvSpPr/>
          <p:nvPr/>
        </p:nvSpPr>
        <p:spPr>
          <a:xfrm>
            <a:off x="5905500" y="4695730"/>
            <a:ext cx="25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endParaRPr lang="en-US" sz="1650" dirty="0"/>
          </a:p>
        </p:txBody>
      </p:sp>
      <p:sp>
        <p:nvSpPr>
          <p:cNvPr id="28" name="Text 24"/>
          <p:cNvSpPr/>
          <p:nvPr/>
        </p:nvSpPr>
        <p:spPr>
          <a:xfrm>
            <a:off x="6273800" y="469573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</a:t>
            </a:r>
            <a:endParaRPr lang="en-US" sz="1650" dirty="0"/>
          </a:p>
        </p:txBody>
      </p:sp>
      <p:sp>
        <p:nvSpPr>
          <p:cNvPr id="29" name="Text 25"/>
          <p:cNvSpPr/>
          <p:nvPr/>
        </p:nvSpPr>
        <p:spPr>
          <a:xfrm>
            <a:off x="5905500" y="4940840"/>
            <a:ext cx="25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650" dirty="0"/>
          </a:p>
        </p:txBody>
      </p:sp>
      <p:sp>
        <p:nvSpPr>
          <p:cNvPr id="30" name="Text 26"/>
          <p:cNvSpPr/>
          <p:nvPr/>
        </p:nvSpPr>
        <p:spPr>
          <a:xfrm>
            <a:off x="6273800" y="494084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Column</a:t>
            </a:r>
            <a:endParaRPr lang="en-US" sz="1650" dirty="0"/>
          </a:p>
        </p:txBody>
      </p:sp>
      <p:sp>
        <p:nvSpPr>
          <p:cNvPr id="31" name="Text 27"/>
          <p:cNvSpPr/>
          <p:nvPr/>
        </p:nvSpPr>
        <p:spPr>
          <a:xfrm>
            <a:off x="5905500" y="5185950"/>
            <a:ext cx="25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endParaRPr lang="en-US" sz="1650" dirty="0"/>
          </a:p>
        </p:txBody>
      </p:sp>
      <p:sp>
        <p:nvSpPr>
          <p:cNvPr id="32" name="Text 28"/>
          <p:cNvSpPr/>
          <p:nvPr/>
        </p:nvSpPr>
        <p:spPr>
          <a:xfrm>
            <a:off x="6273800" y="518595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</a:t>
            </a:r>
            <a:endParaRPr lang="en-US" sz="1650" dirty="0"/>
          </a:p>
        </p:txBody>
      </p:sp>
      <p:sp>
        <p:nvSpPr>
          <p:cNvPr id="33" name="Text 29"/>
          <p:cNvSpPr/>
          <p:nvPr/>
        </p:nvSpPr>
        <p:spPr>
          <a:xfrm>
            <a:off x="5905500" y="5431060"/>
            <a:ext cx="25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endParaRPr lang="en-US" sz="1650" dirty="0"/>
          </a:p>
        </p:txBody>
      </p:sp>
      <p:sp>
        <p:nvSpPr>
          <p:cNvPr id="34" name="Text 30"/>
          <p:cNvSpPr/>
          <p:nvPr/>
        </p:nvSpPr>
        <p:spPr>
          <a:xfrm>
            <a:off x="6273800" y="543106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Height</a:t>
            </a:r>
            <a:endParaRPr lang="en-US" sz="1650" dirty="0"/>
          </a:p>
        </p:txBody>
      </p:sp>
      <p:sp>
        <p:nvSpPr>
          <p:cNvPr id="35" name="Text 31"/>
          <p:cNvSpPr/>
          <p:nvPr/>
        </p:nvSpPr>
        <p:spPr>
          <a:xfrm>
            <a:off x="5905500" y="5676170"/>
            <a:ext cx="25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1650" dirty="0"/>
          </a:p>
        </p:txBody>
      </p:sp>
      <p:sp>
        <p:nvSpPr>
          <p:cNvPr id="36" name="Text 32"/>
          <p:cNvSpPr/>
          <p:nvPr/>
        </p:nvSpPr>
        <p:spPr>
          <a:xfrm>
            <a:off x="6273800" y="567617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50" b="1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width</a:t>
            </a:r>
            <a:endParaRPr lang="en-US" sz="1650" dirty="0"/>
          </a:p>
        </p:txBody>
      </p:sp>
      <p:sp>
        <p:nvSpPr>
          <p:cNvPr id="37" name="Shape 33"/>
          <p:cNvSpPr/>
          <p:nvPr/>
        </p:nvSpPr>
        <p:spPr>
          <a:xfrm>
            <a:off x="7251700" y="4635500"/>
            <a:ext cx="488950" cy="368300"/>
          </a:xfrm>
          <a:prstGeom prst="rect">
            <a:avLst/>
          </a:prstGeom>
          <a:solidFill>
            <a:srgbClr val="0DCA54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251700" y="4635500"/>
            <a:ext cx="48895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39" name="Shape 35"/>
          <p:cNvSpPr/>
          <p:nvPr/>
        </p:nvSpPr>
        <p:spPr>
          <a:xfrm>
            <a:off x="7740650" y="4635500"/>
            <a:ext cx="501650" cy="368300"/>
          </a:xfrm>
          <a:prstGeom prst="rect">
            <a:avLst/>
          </a:prstGeom>
          <a:solidFill>
            <a:srgbClr val="0DCA54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740650" y="4635500"/>
            <a:ext cx="50165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41" name="Shape 37"/>
          <p:cNvSpPr/>
          <p:nvPr/>
        </p:nvSpPr>
        <p:spPr>
          <a:xfrm>
            <a:off x="8242300" y="4635500"/>
            <a:ext cx="501650" cy="368300"/>
          </a:xfrm>
          <a:prstGeom prst="rect">
            <a:avLst/>
          </a:prstGeom>
          <a:solidFill>
            <a:srgbClr val="FFFF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242300" y="4635500"/>
            <a:ext cx="50165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43" name="Shape 39"/>
          <p:cNvSpPr/>
          <p:nvPr/>
        </p:nvSpPr>
        <p:spPr>
          <a:xfrm>
            <a:off x="8743950" y="4635500"/>
            <a:ext cx="488950" cy="368300"/>
          </a:xfrm>
          <a:prstGeom prst="rect">
            <a:avLst/>
          </a:prstGeom>
          <a:solidFill>
            <a:srgbClr val="FFFF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743950" y="4635500"/>
            <a:ext cx="48895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2000" dirty="0"/>
          </a:p>
        </p:txBody>
      </p:sp>
      <p:sp>
        <p:nvSpPr>
          <p:cNvPr id="45" name="Shape 41"/>
          <p:cNvSpPr/>
          <p:nvPr/>
        </p:nvSpPr>
        <p:spPr>
          <a:xfrm>
            <a:off x="7251700" y="5003800"/>
            <a:ext cx="488950" cy="387350"/>
          </a:xfrm>
          <a:prstGeom prst="rect">
            <a:avLst/>
          </a:prstGeom>
          <a:solidFill>
            <a:srgbClr val="0DCA54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251700" y="5003800"/>
            <a:ext cx="48895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47" name="Shape 43"/>
          <p:cNvSpPr/>
          <p:nvPr/>
        </p:nvSpPr>
        <p:spPr>
          <a:xfrm>
            <a:off x="7740650" y="5003800"/>
            <a:ext cx="501650" cy="387350"/>
          </a:xfrm>
          <a:prstGeom prst="rect">
            <a:avLst/>
          </a:prstGeom>
          <a:solidFill>
            <a:srgbClr val="0DCA54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740650" y="5003800"/>
            <a:ext cx="50165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49" name="Shape 45"/>
          <p:cNvSpPr/>
          <p:nvPr/>
        </p:nvSpPr>
        <p:spPr>
          <a:xfrm>
            <a:off x="8242300" y="5003800"/>
            <a:ext cx="501650" cy="387350"/>
          </a:xfrm>
          <a:prstGeom prst="rect">
            <a:avLst/>
          </a:prstGeom>
          <a:solidFill>
            <a:srgbClr val="FFFF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242300" y="5003800"/>
            <a:ext cx="50165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2000" dirty="0"/>
          </a:p>
        </p:txBody>
      </p:sp>
      <p:sp>
        <p:nvSpPr>
          <p:cNvPr id="51" name="Shape 47"/>
          <p:cNvSpPr/>
          <p:nvPr/>
        </p:nvSpPr>
        <p:spPr>
          <a:xfrm>
            <a:off x="8743950" y="5003800"/>
            <a:ext cx="488950" cy="387350"/>
          </a:xfrm>
          <a:prstGeom prst="rect">
            <a:avLst/>
          </a:prstGeom>
          <a:solidFill>
            <a:srgbClr val="FFFF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8743950" y="5003800"/>
            <a:ext cx="48895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2000" dirty="0"/>
          </a:p>
        </p:txBody>
      </p:sp>
      <p:sp>
        <p:nvSpPr>
          <p:cNvPr id="53" name="Shape 49"/>
          <p:cNvSpPr/>
          <p:nvPr/>
        </p:nvSpPr>
        <p:spPr>
          <a:xfrm>
            <a:off x="7251700" y="5391150"/>
            <a:ext cx="488950" cy="374650"/>
          </a:xfrm>
          <a:prstGeom prst="rect">
            <a:avLst/>
          </a:prstGeom>
          <a:solidFill>
            <a:srgbClr val="E8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7251700" y="5391150"/>
            <a:ext cx="4889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55" name="Shape 51"/>
          <p:cNvSpPr/>
          <p:nvPr/>
        </p:nvSpPr>
        <p:spPr>
          <a:xfrm>
            <a:off x="7740650" y="5391150"/>
            <a:ext cx="501650" cy="374650"/>
          </a:xfrm>
          <a:prstGeom prst="rect">
            <a:avLst/>
          </a:prstGeom>
          <a:solidFill>
            <a:srgbClr val="E8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7740650" y="5391150"/>
            <a:ext cx="5016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57" name="Shape 53"/>
          <p:cNvSpPr/>
          <p:nvPr/>
        </p:nvSpPr>
        <p:spPr>
          <a:xfrm>
            <a:off x="8242300" y="5391150"/>
            <a:ext cx="501650" cy="374650"/>
          </a:xfrm>
          <a:prstGeom prst="rect">
            <a:avLst/>
          </a:prstGeom>
          <a:solidFill>
            <a:srgbClr val="0EC0E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8242300" y="5391150"/>
            <a:ext cx="5016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2000" dirty="0"/>
          </a:p>
        </p:txBody>
      </p:sp>
      <p:sp>
        <p:nvSpPr>
          <p:cNvPr id="59" name="Shape 55"/>
          <p:cNvSpPr/>
          <p:nvPr/>
        </p:nvSpPr>
        <p:spPr>
          <a:xfrm>
            <a:off x="8743950" y="5391150"/>
            <a:ext cx="488950" cy="374650"/>
          </a:xfrm>
          <a:prstGeom prst="rect">
            <a:avLst/>
          </a:prstGeom>
          <a:solidFill>
            <a:srgbClr val="0EC0E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8743950" y="5391150"/>
            <a:ext cx="4889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61" name="Shape 57"/>
          <p:cNvSpPr/>
          <p:nvPr/>
        </p:nvSpPr>
        <p:spPr>
          <a:xfrm>
            <a:off x="7251700" y="5765800"/>
            <a:ext cx="488950" cy="374650"/>
          </a:xfrm>
          <a:prstGeom prst="rect">
            <a:avLst/>
          </a:prstGeom>
          <a:solidFill>
            <a:srgbClr val="E8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7251700" y="5765800"/>
            <a:ext cx="4889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63" name="Shape 59"/>
          <p:cNvSpPr/>
          <p:nvPr/>
        </p:nvSpPr>
        <p:spPr>
          <a:xfrm>
            <a:off x="7740650" y="5765800"/>
            <a:ext cx="501650" cy="374650"/>
          </a:xfrm>
          <a:prstGeom prst="rect">
            <a:avLst/>
          </a:prstGeom>
          <a:solidFill>
            <a:srgbClr val="E8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7740650" y="5765800"/>
            <a:ext cx="5016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65" name="Shape 61"/>
          <p:cNvSpPr/>
          <p:nvPr/>
        </p:nvSpPr>
        <p:spPr>
          <a:xfrm>
            <a:off x="8242300" y="5765800"/>
            <a:ext cx="501650" cy="374650"/>
          </a:xfrm>
          <a:prstGeom prst="rect">
            <a:avLst/>
          </a:prstGeom>
          <a:solidFill>
            <a:srgbClr val="0EC0E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8242300" y="5765800"/>
            <a:ext cx="5016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2000" dirty="0"/>
          </a:p>
        </p:txBody>
      </p:sp>
      <p:sp>
        <p:nvSpPr>
          <p:cNvPr id="67" name="Shape 63"/>
          <p:cNvSpPr/>
          <p:nvPr/>
        </p:nvSpPr>
        <p:spPr>
          <a:xfrm>
            <a:off x="8743950" y="5765800"/>
            <a:ext cx="488950" cy="374650"/>
          </a:xfrm>
          <a:prstGeom prst="rect">
            <a:avLst/>
          </a:prstGeom>
          <a:solidFill>
            <a:srgbClr val="0EC0E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8743950" y="5765800"/>
            <a:ext cx="4889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69" name="Text 65"/>
          <p:cNvSpPr/>
          <p:nvPr/>
        </p:nvSpPr>
        <p:spPr>
          <a:xfrm>
            <a:off x="9309100" y="52641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</a:t>
            </a:r>
            <a:endParaRPr lang="en-US" sz="2500" dirty="0"/>
          </a:p>
        </p:txBody>
      </p:sp>
      <p:pic>
        <p:nvPicPr>
          <p:cNvPr id="70" name="Image 2" descr="/home/ahmed/Projects/ai_llm_slides/videos/deep-learning/001_introduction/recreated_pptx/build/assets/eq_047_hal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0312" y="5113526"/>
            <a:ext cx="181356" cy="577596"/>
          </a:xfrm>
          <a:prstGeom prst="rect">
            <a:avLst/>
          </a:prstGeom>
        </p:spPr>
      </p:pic>
      <p:sp>
        <p:nvSpPr>
          <p:cNvPr id="71" name="Shape 66"/>
          <p:cNvSpPr/>
          <p:nvPr/>
        </p:nvSpPr>
        <p:spPr>
          <a:xfrm>
            <a:off x="10109200" y="5029200"/>
            <a:ext cx="469900" cy="361950"/>
          </a:xfrm>
          <a:prstGeom prst="rect">
            <a:avLst/>
          </a:prstGeom>
          <a:solidFill>
            <a:srgbClr val="0DCA54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2" name="Text 67"/>
          <p:cNvSpPr/>
          <p:nvPr/>
        </p:nvSpPr>
        <p:spPr>
          <a:xfrm>
            <a:off x="10109200" y="5029200"/>
            <a:ext cx="4699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  <p:sp>
        <p:nvSpPr>
          <p:cNvPr id="73" name="Shape 68"/>
          <p:cNvSpPr/>
          <p:nvPr/>
        </p:nvSpPr>
        <p:spPr>
          <a:xfrm>
            <a:off x="10579100" y="5029200"/>
            <a:ext cx="495300" cy="361950"/>
          </a:xfrm>
          <a:prstGeom prst="rect">
            <a:avLst/>
          </a:prstGeom>
          <a:solidFill>
            <a:srgbClr val="FFFF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4" name="Text 69"/>
          <p:cNvSpPr/>
          <p:nvPr/>
        </p:nvSpPr>
        <p:spPr>
          <a:xfrm>
            <a:off x="10579100" y="5029200"/>
            <a:ext cx="4953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2000" dirty="0"/>
          </a:p>
        </p:txBody>
      </p:sp>
      <p:sp>
        <p:nvSpPr>
          <p:cNvPr id="75" name="Shape 70"/>
          <p:cNvSpPr/>
          <p:nvPr/>
        </p:nvSpPr>
        <p:spPr>
          <a:xfrm>
            <a:off x="10109200" y="5391150"/>
            <a:ext cx="469900" cy="368300"/>
          </a:xfrm>
          <a:prstGeom prst="rect">
            <a:avLst/>
          </a:prstGeom>
          <a:solidFill>
            <a:srgbClr val="E8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6" name="Text 71"/>
          <p:cNvSpPr/>
          <p:nvPr/>
        </p:nvSpPr>
        <p:spPr>
          <a:xfrm>
            <a:off x="10109200" y="5391150"/>
            <a:ext cx="4699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77" name="Shape 72"/>
          <p:cNvSpPr/>
          <p:nvPr/>
        </p:nvSpPr>
        <p:spPr>
          <a:xfrm>
            <a:off x="10579100" y="5391150"/>
            <a:ext cx="495300" cy="368300"/>
          </a:xfrm>
          <a:prstGeom prst="rect">
            <a:avLst/>
          </a:prstGeom>
          <a:solidFill>
            <a:srgbClr val="0EC0E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8" name="Text 73"/>
          <p:cNvSpPr/>
          <p:nvPr/>
        </p:nvSpPr>
        <p:spPr>
          <a:xfrm>
            <a:off x="10579100" y="5391150"/>
            <a:ext cx="495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6600" y="1720850"/>
            <a:ext cx="10617200" cy="39751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500" y="1727200"/>
            <a:ext cx="0" cy="39624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6700" y="68703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3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Neural  Network (NN) vs  Convolutional</a:t>
            </a:r>
            <a:endParaRPr lang="en-US" sz="3050" dirty="0"/>
          </a:p>
        </p:txBody>
      </p:sp>
      <p:sp>
        <p:nvSpPr>
          <p:cNvPr id="8" name="Text 6"/>
          <p:cNvSpPr/>
          <p:nvPr/>
        </p:nvSpPr>
        <p:spPr>
          <a:xfrm>
            <a:off x="1536700" y="113153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3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(ConvNet/CNN)</a:t>
            </a:r>
            <a:endParaRPr lang="en-US" sz="3050" dirty="0"/>
          </a:p>
        </p:txBody>
      </p:sp>
      <p:sp>
        <p:nvSpPr>
          <p:cNvPr id="9" name="Shape 7"/>
          <p:cNvSpPr/>
          <p:nvPr/>
        </p:nvSpPr>
        <p:spPr>
          <a:xfrm>
            <a:off x="3073400" y="1968500"/>
            <a:ext cx="17399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73400" y="1968500"/>
            <a:ext cx="1739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Neural Network</a:t>
            </a:r>
            <a:endParaRPr lang="en-US" sz="1600" dirty="0"/>
          </a:p>
        </p:txBody>
      </p:sp>
      <p:pic>
        <p:nvPicPr>
          <p:cNvPr id="11" name="Image 0" descr="/home/ahmed/Projects/ai_llm_slides/videos/deep-learning/001_introduction/recreated_pptx/build/assets/s048_me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900" y="2400300"/>
            <a:ext cx="1447800" cy="8255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914900" y="1993900"/>
            <a:ext cx="457200" cy="342900"/>
          </a:xfrm>
          <a:prstGeom prst="rect">
            <a:avLst/>
          </a:prstGeom>
          <a:solidFill>
            <a:srgbClr val="FFFF00"/>
          </a:solidFill>
          <a:ln w="6350">
            <a:solidFill>
              <a:srgbClr val="FFFF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14900" y="2006600"/>
            <a:ext cx="457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(1-D)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11750" y="244475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11750" y="2559050"/>
            <a:ext cx="76200" cy="76200"/>
          </a:xfrm>
          <a:prstGeom prst="ellipse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11750" y="2660650"/>
            <a:ext cx="76200" cy="76200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11750" y="2762250"/>
            <a:ext cx="76200" cy="76200"/>
          </a:xfrm>
          <a:prstGeom prst="ellipse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11750" y="2876550"/>
            <a:ext cx="76200" cy="76200"/>
          </a:xfrm>
          <a:prstGeom prst="ellipse">
            <a:avLst/>
          </a:prstGeom>
          <a:solidFill>
            <a:srgbClr val="2244CC"/>
          </a:solidFill>
          <a:ln w="12700">
            <a:solidFill>
              <a:srgbClr val="2244C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11750" y="2978150"/>
            <a:ext cx="76200" cy="76200"/>
          </a:xfrm>
          <a:prstGeom prst="ellipse">
            <a:avLst/>
          </a:prstGeom>
          <a:solidFill>
            <a:srgbClr val="FFE000"/>
          </a:solidFill>
          <a:ln w="12700">
            <a:solidFill>
              <a:srgbClr val="FFE0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11750" y="3079750"/>
            <a:ext cx="76200" cy="76200"/>
          </a:xfrm>
          <a:prstGeom prst="ellipse">
            <a:avLst/>
          </a:prstGeom>
          <a:solidFill>
            <a:srgbClr val="96A2B8"/>
          </a:solidFill>
          <a:ln w="12700">
            <a:solidFill>
              <a:srgbClr val="96A2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48200" y="2806700"/>
            <a:ext cx="3937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588000" y="2806700"/>
            <a:ext cx="1143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210300" y="2806700"/>
            <a:ext cx="889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807200" y="2806700"/>
            <a:ext cx="101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416800" y="2806700"/>
            <a:ext cx="762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013700" y="2806700"/>
            <a:ext cx="889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8610600" y="2806700"/>
            <a:ext cx="889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194800" y="4673600"/>
            <a:ext cx="101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766300" y="4673600"/>
            <a:ext cx="1397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363200" y="4673600"/>
            <a:ext cx="1397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6013450" y="2362200"/>
            <a:ext cx="38100" cy="889000"/>
          </a:xfrm>
          <a:prstGeom prst="rect">
            <a:avLst/>
          </a:prstGeom>
          <a:solidFill>
            <a:srgbClr val="9C5A12"/>
          </a:solidFill>
          <a:ln w="12700">
            <a:solidFill>
              <a:srgbClr val="9C5A1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715000" y="2362200"/>
            <a:ext cx="298450" cy="889000"/>
          </a:xfrm>
          <a:prstGeom prst="rect">
            <a:avLst/>
          </a:prstGeom>
          <a:solidFill>
            <a:srgbClr val="D4821E"/>
          </a:solidFill>
          <a:ln w="12700">
            <a:solidFill>
              <a:srgbClr val="D4821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15000" y="2362200"/>
            <a:ext cx="29845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610350" y="2362200"/>
            <a:ext cx="38100" cy="889000"/>
          </a:xfrm>
          <a:prstGeom prst="rect">
            <a:avLst/>
          </a:prstGeom>
          <a:solidFill>
            <a:srgbClr val="9C5A12"/>
          </a:solidFill>
          <a:ln w="12700">
            <a:solidFill>
              <a:srgbClr val="9C5A1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11900" y="2362200"/>
            <a:ext cx="298450" cy="889000"/>
          </a:xfrm>
          <a:prstGeom prst="rect">
            <a:avLst/>
          </a:prstGeom>
          <a:solidFill>
            <a:srgbClr val="D4821E"/>
          </a:solidFill>
          <a:ln w="12700">
            <a:solidFill>
              <a:srgbClr val="D4821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11900" y="2362200"/>
            <a:ext cx="29845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207250" y="2362200"/>
            <a:ext cx="38100" cy="889000"/>
          </a:xfrm>
          <a:prstGeom prst="rect">
            <a:avLst/>
          </a:prstGeom>
          <a:solidFill>
            <a:srgbClr val="9C5A12"/>
          </a:solidFill>
          <a:ln w="12700">
            <a:solidFill>
              <a:srgbClr val="9C5A1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908800" y="2362200"/>
            <a:ext cx="298450" cy="889000"/>
          </a:xfrm>
          <a:prstGeom prst="rect">
            <a:avLst/>
          </a:prstGeom>
          <a:solidFill>
            <a:srgbClr val="D4821E"/>
          </a:solidFill>
          <a:ln w="12700">
            <a:solidFill>
              <a:srgbClr val="D4821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908800" y="2362200"/>
            <a:ext cx="29845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804150" y="2362200"/>
            <a:ext cx="38100" cy="889000"/>
          </a:xfrm>
          <a:prstGeom prst="rect">
            <a:avLst/>
          </a:prstGeom>
          <a:solidFill>
            <a:srgbClr val="9C5A12"/>
          </a:solidFill>
          <a:ln w="12700">
            <a:solidFill>
              <a:srgbClr val="9C5A1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505700" y="2362200"/>
            <a:ext cx="298450" cy="889000"/>
          </a:xfrm>
          <a:prstGeom prst="rect">
            <a:avLst/>
          </a:prstGeom>
          <a:solidFill>
            <a:srgbClr val="D4821E"/>
          </a:solidFill>
          <a:ln w="12700">
            <a:solidFill>
              <a:srgbClr val="D4821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05700" y="2362200"/>
            <a:ext cx="29845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413750" y="2362200"/>
            <a:ext cx="38100" cy="889000"/>
          </a:xfrm>
          <a:prstGeom prst="rect">
            <a:avLst/>
          </a:prstGeom>
          <a:solidFill>
            <a:srgbClr val="9C5A12"/>
          </a:solidFill>
          <a:ln w="12700">
            <a:solidFill>
              <a:srgbClr val="9C5A1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115300" y="2362200"/>
            <a:ext cx="298450" cy="889000"/>
          </a:xfrm>
          <a:prstGeom prst="rect">
            <a:avLst/>
          </a:prstGeom>
          <a:solidFill>
            <a:srgbClr val="D4821E"/>
          </a:solidFill>
          <a:ln w="12700">
            <a:solidFill>
              <a:srgbClr val="D4821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115300" y="2362200"/>
            <a:ext cx="29845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5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9010650" y="2362200"/>
            <a:ext cx="38100" cy="889000"/>
          </a:xfrm>
          <a:prstGeom prst="rect">
            <a:avLst/>
          </a:prstGeom>
          <a:solidFill>
            <a:srgbClr val="9C5A12"/>
          </a:solidFill>
          <a:ln w="12700">
            <a:solidFill>
              <a:srgbClr val="9C5A12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712200" y="2362200"/>
            <a:ext cx="298450" cy="889000"/>
          </a:xfrm>
          <a:prstGeom prst="rect">
            <a:avLst/>
          </a:prstGeom>
          <a:solidFill>
            <a:srgbClr val="D4821E"/>
          </a:solidFill>
          <a:ln w="12700">
            <a:solidFill>
              <a:srgbClr val="D4821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712200" y="2362200"/>
            <a:ext cx="29845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5473700" y="2057178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</a:t>
            </a:r>
            <a:endParaRPr lang="en-US" sz="1350" dirty="0"/>
          </a:p>
        </p:txBody>
      </p:sp>
      <p:sp>
        <p:nvSpPr>
          <p:cNvPr id="50" name="Text 47"/>
          <p:cNvSpPr/>
          <p:nvPr/>
        </p:nvSpPr>
        <p:spPr>
          <a:xfrm>
            <a:off x="6070600" y="2057178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</a:t>
            </a:r>
            <a:endParaRPr lang="en-US" sz="1350" dirty="0"/>
          </a:p>
        </p:txBody>
      </p:sp>
      <p:sp>
        <p:nvSpPr>
          <p:cNvPr id="51" name="Text 48"/>
          <p:cNvSpPr/>
          <p:nvPr/>
        </p:nvSpPr>
        <p:spPr>
          <a:xfrm>
            <a:off x="6661150" y="2057178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</a:t>
            </a:r>
            <a:endParaRPr lang="en-US" sz="1350" dirty="0"/>
          </a:p>
        </p:txBody>
      </p:sp>
      <p:sp>
        <p:nvSpPr>
          <p:cNvPr id="52" name="Text 49"/>
          <p:cNvSpPr/>
          <p:nvPr/>
        </p:nvSpPr>
        <p:spPr>
          <a:xfrm>
            <a:off x="7245350" y="2057178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</a:t>
            </a:r>
            <a:endParaRPr lang="en-US" sz="1350" dirty="0"/>
          </a:p>
        </p:txBody>
      </p:sp>
      <p:sp>
        <p:nvSpPr>
          <p:cNvPr id="53" name="Text 50"/>
          <p:cNvSpPr/>
          <p:nvPr/>
        </p:nvSpPr>
        <p:spPr>
          <a:xfrm>
            <a:off x="7886700" y="2057178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O/P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838200" y="3416300"/>
            <a:ext cx="105029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dashDot"/>
          </a:ln>
        </p:spPr>
      </p:sp>
      <p:sp>
        <p:nvSpPr>
          <p:cNvPr id="55" name="Shape 52"/>
          <p:cNvSpPr/>
          <p:nvPr/>
        </p:nvSpPr>
        <p:spPr>
          <a:xfrm>
            <a:off x="3073400" y="3530600"/>
            <a:ext cx="30226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A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073400" y="3530600"/>
            <a:ext cx="3022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Convolutional Neural Network</a:t>
            </a:r>
            <a:endParaRPr lang="en-US" sz="1600" dirty="0"/>
          </a:p>
        </p:txBody>
      </p:sp>
      <p:pic>
        <p:nvPicPr>
          <p:cNvPr id="57" name="Image 1" descr="/home/ahmed/Projects/ai_llm_slides/videos/deep-learning/001_introduction/recreated_pptx/build/assets/s048_siame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3975100"/>
            <a:ext cx="1333500" cy="1498600"/>
          </a:xfrm>
          <a:prstGeom prst="rect">
            <a:avLst/>
          </a:prstGeom>
        </p:spPr>
      </p:pic>
      <p:pic>
        <p:nvPicPr>
          <p:cNvPr id="58" name="Image 2" descr="/home/ahmed/Projects/ai_llm_slides/videos/deep-learning/001_introduction/recreated_pptx/build/assets/s048_cnn_ch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3962400"/>
            <a:ext cx="5905500" cy="1625600"/>
          </a:xfrm>
          <a:prstGeom prst="rect">
            <a:avLst/>
          </a:prstGeom>
        </p:spPr>
      </p:pic>
      <p:sp>
        <p:nvSpPr>
          <p:cNvPr id="59" name="Shape 54"/>
          <p:cNvSpPr/>
          <p:nvPr/>
        </p:nvSpPr>
        <p:spPr>
          <a:xfrm>
            <a:off x="9626600" y="4229100"/>
            <a:ext cx="38100" cy="889000"/>
          </a:xfrm>
          <a:prstGeom prst="rect">
            <a:avLst/>
          </a:prstGeom>
          <a:solidFill>
            <a:srgbClr val="9C5A12"/>
          </a:solidFill>
          <a:ln w="12700">
            <a:solidFill>
              <a:srgbClr val="9C5A12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9334500" y="4229100"/>
            <a:ext cx="292100" cy="889000"/>
          </a:xfrm>
          <a:prstGeom prst="rect">
            <a:avLst/>
          </a:prstGeom>
          <a:solidFill>
            <a:srgbClr val="D4821E"/>
          </a:solidFill>
          <a:ln w="12700">
            <a:solidFill>
              <a:srgbClr val="D4821E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9334500" y="4229100"/>
            <a:ext cx="292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5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10223500" y="4229100"/>
            <a:ext cx="38100" cy="889000"/>
          </a:xfrm>
          <a:prstGeom prst="rect">
            <a:avLst/>
          </a:prstGeom>
          <a:solidFill>
            <a:srgbClr val="9C5A12"/>
          </a:solidFill>
          <a:ln w="12700">
            <a:solidFill>
              <a:srgbClr val="9C5A12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9931400" y="4229100"/>
            <a:ext cx="292100" cy="889000"/>
          </a:xfrm>
          <a:prstGeom prst="rect">
            <a:avLst/>
          </a:prstGeom>
          <a:solidFill>
            <a:srgbClr val="D4821E"/>
          </a:solidFill>
          <a:ln w="12700">
            <a:solidFill>
              <a:srgbClr val="D4821E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9931400" y="4229100"/>
            <a:ext cx="292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6</a:t>
            </a:r>
            <a:endParaRPr lang="en-US" sz="1000" dirty="0"/>
          </a:p>
        </p:txBody>
      </p:sp>
      <p:sp>
        <p:nvSpPr>
          <p:cNvPr id="65" name="Shape 60"/>
          <p:cNvSpPr/>
          <p:nvPr/>
        </p:nvSpPr>
        <p:spPr>
          <a:xfrm>
            <a:off x="10820400" y="4229100"/>
            <a:ext cx="38100" cy="889000"/>
          </a:xfrm>
          <a:prstGeom prst="rect">
            <a:avLst/>
          </a:prstGeom>
          <a:solidFill>
            <a:srgbClr val="9C5A12"/>
          </a:solidFill>
          <a:ln w="12700">
            <a:solidFill>
              <a:srgbClr val="9C5A12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10528300" y="4229100"/>
            <a:ext cx="292100" cy="889000"/>
          </a:xfrm>
          <a:prstGeom prst="rect">
            <a:avLst/>
          </a:prstGeom>
          <a:solidFill>
            <a:srgbClr val="D4821E"/>
          </a:solidFill>
          <a:ln w="12700">
            <a:solidFill>
              <a:srgbClr val="D4821E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10528300" y="4229100"/>
            <a:ext cx="292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1000" dirty="0"/>
          </a:p>
        </p:txBody>
      </p:sp>
      <p:sp>
        <p:nvSpPr>
          <p:cNvPr id="68" name="Text 63"/>
          <p:cNvSpPr/>
          <p:nvPr/>
        </p:nvSpPr>
        <p:spPr>
          <a:xfrm>
            <a:off x="9074150" y="3924078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</a:t>
            </a:r>
            <a:endParaRPr lang="en-US" sz="1350" dirty="0"/>
          </a:p>
        </p:txBody>
      </p:sp>
      <p:sp>
        <p:nvSpPr>
          <p:cNvPr id="69" name="Text 64"/>
          <p:cNvSpPr/>
          <p:nvPr/>
        </p:nvSpPr>
        <p:spPr>
          <a:xfrm>
            <a:off x="9696450" y="3924078"/>
            <a:ext cx="76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O/P</a:t>
            </a:r>
            <a:endParaRPr lang="en-US" sz="1350" dirty="0"/>
          </a:p>
        </p:txBody>
      </p:sp>
      <p:sp>
        <p:nvSpPr>
          <p:cNvPr id="70" name="Shape 65"/>
          <p:cNvSpPr/>
          <p:nvPr/>
        </p:nvSpPr>
        <p:spPr>
          <a:xfrm>
            <a:off x="2146300" y="5873750"/>
            <a:ext cx="84074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71" name="Text 66"/>
          <p:cNvSpPr/>
          <p:nvPr/>
        </p:nvSpPr>
        <p:spPr>
          <a:xfrm>
            <a:off x="4127500" y="5867400"/>
            <a:ext cx="381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i="1" spc="90" kern="0" dirty="0">
                <a:solidFill>
                  <a:srgbClr val="C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Deep Learning (too Many Layers)</a:t>
            </a:r>
            <a:endParaRPr lang="en-US" sz="13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63650" y="1949450"/>
            <a:ext cx="9664700" cy="4292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638" y="2090738"/>
            <a:ext cx="85725" cy="8572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638" y="2598738"/>
            <a:ext cx="85725" cy="8572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638" y="3462338"/>
            <a:ext cx="85725" cy="8572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638" y="3970338"/>
            <a:ext cx="85725" cy="8572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78088" y="4421188"/>
            <a:ext cx="85725" cy="8572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78088" y="4872038"/>
            <a:ext cx="85725" cy="8572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78088" y="5316538"/>
            <a:ext cx="85725" cy="8572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3250" y="1862390"/>
            <a:ext cx="8953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61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Several convolutional layers ( 5 or more)</a:t>
            </a:r>
            <a:endParaRPr lang="en-US" sz="2610" dirty="0"/>
          </a:p>
        </p:txBody>
      </p:sp>
      <p:sp>
        <p:nvSpPr>
          <p:cNvPr id="14" name="Text 12"/>
          <p:cNvSpPr/>
          <p:nvPr/>
        </p:nvSpPr>
        <p:spPr>
          <a:xfrm>
            <a:off x="1873250" y="2373785"/>
            <a:ext cx="9017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8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the convolutional layers </a:t>
            </a:r>
            <a:pPr algn="l" indent="0" marL="0">
              <a:lnSpc>
                <a:spcPts val="3000"/>
              </a:lnSpc>
              <a:buNone/>
            </a:pPr>
            <a:r>
              <a:rPr lang="en-US" sz="2580" b="1" u="sng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non-linearities</a:t>
            </a:r>
            <a:pPr algn="l" indent="0" marL="0">
              <a:lnSpc>
                <a:spcPts val="3000"/>
              </a:lnSpc>
              <a:buNone/>
            </a:pPr>
            <a:r>
              <a:rPr lang="en-US" sz="258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are added (The most</a:t>
            </a:r>
            <a:endParaRPr lang="en-US" sz="2580" dirty="0"/>
          </a:p>
        </p:txBody>
      </p:sp>
      <p:sp>
        <p:nvSpPr>
          <p:cNvPr id="15" name="Text 13"/>
          <p:cNvSpPr/>
          <p:nvPr/>
        </p:nvSpPr>
        <p:spPr>
          <a:xfrm>
            <a:off x="1786890" y="2742085"/>
            <a:ext cx="381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8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popular one is the </a:t>
            </a:r>
            <a:pPr algn="l" indent="0" marL="0">
              <a:lnSpc>
                <a:spcPts val="3000"/>
              </a:lnSpc>
              <a:buNone/>
            </a:pPr>
            <a:r>
              <a:rPr lang="en-US" sz="258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ReLU</a:t>
            </a:r>
            <a:pPr algn="l" indent="0" marL="0">
              <a:lnSpc>
                <a:spcPts val="3000"/>
              </a:lnSpc>
              <a:buNone/>
            </a:pPr>
            <a:r>
              <a:rPr lang="en-US" sz="258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2580" dirty="0"/>
          </a:p>
        </p:txBody>
      </p:sp>
      <p:sp>
        <p:nvSpPr>
          <p:cNvPr id="16" name="Text 14"/>
          <p:cNvSpPr/>
          <p:nvPr/>
        </p:nvSpPr>
        <p:spPr>
          <a:xfrm>
            <a:off x="1873250" y="3237385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8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the ReLU usually some pooling ( Most often </a:t>
            </a:r>
            <a:pPr algn="l" indent="0" marL="0">
              <a:lnSpc>
                <a:spcPts val="3000"/>
              </a:lnSpc>
              <a:buNone/>
            </a:pPr>
            <a:r>
              <a:rPr lang="en-US" sz="258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 pooling</a:t>
            </a:r>
            <a:pPr algn="l" indent="0" marL="0">
              <a:lnSpc>
                <a:spcPts val="3000"/>
              </a:lnSpc>
              <a:buNone/>
            </a:pPr>
            <a:r>
              <a:rPr lang="en-US" sz="258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2580" dirty="0"/>
          </a:p>
        </p:txBody>
      </p:sp>
      <p:sp>
        <p:nvSpPr>
          <p:cNvPr id="17" name="Text 15"/>
          <p:cNvSpPr/>
          <p:nvPr/>
        </p:nvSpPr>
        <p:spPr>
          <a:xfrm>
            <a:off x="1873250" y="3754413"/>
            <a:ext cx="431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90" b="1" u="sng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5 rounds of cascading:</a:t>
            </a:r>
            <a:endParaRPr lang="en-US" sz="2590" dirty="0"/>
          </a:p>
        </p:txBody>
      </p:sp>
      <p:sp>
        <p:nvSpPr>
          <p:cNvPr id="18" name="Text 16"/>
          <p:cNvSpPr/>
          <p:nvPr/>
        </p:nvSpPr>
        <p:spPr>
          <a:xfrm>
            <a:off x="2800350" y="4202585"/>
            <a:ext cx="812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8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Vectorize the last convolutional layer (Flatten)</a:t>
            </a:r>
            <a:endParaRPr lang="en-US" sz="2580" dirty="0"/>
          </a:p>
        </p:txBody>
      </p:sp>
      <p:sp>
        <p:nvSpPr>
          <p:cNvPr id="19" name="Text 17"/>
          <p:cNvSpPr/>
          <p:nvPr/>
        </p:nvSpPr>
        <p:spPr>
          <a:xfrm>
            <a:off x="2800350" y="4647085"/>
            <a:ext cx="812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8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as Input to the first fully connected layer (FC)</a:t>
            </a:r>
            <a:endParaRPr lang="en-US" sz="2580" dirty="0"/>
          </a:p>
        </p:txBody>
      </p:sp>
      <p:sp>
        <p:nvSpPr>
          <p:cNvPr id="20" name="Text 18"/>
          <p:cNvSpPr/>
          <p:nvPr/>
        </p:nvSpPr>
        <p:spPr>
          <a:xfrm>
            <a:off x="2800350" y="5095106"/>
            <a:ext cx="812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605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Proceed as in a traditional classification neural network</a:t>
            </a:r>
            <a:endParaRPr lang="en-US" sz="2605" dirty="0"/>
          </a:p>
        </p:txBody>
      </p:sp>
      <p:sp>
        <p:nvSpPr>
          <p:cNvPr id="21" name="Text 19"/>
          <p:cNvSpPr/>
          <p:nvPr/>
        </p:nvSpPr>
        <p:spPr>
          <a:xfrm>
            <a:off x="603250" y="9093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Convnets in practice</a:t>
            </a:r>
            <a:endParaRPr lang="en-US" sz="4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2026-10-12T01:36:52Z</dcterms:created>
  <dcterms:modified xsi:type="dcterms:W3CDTF">2026-10-12T01:36:52Z</dcterms:modified>
</cp:coreProperties>
</file>