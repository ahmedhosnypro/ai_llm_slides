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g001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g005_image-1-1.png"/><Relationship Id="rId2" Type="http://schemas.openxmlformats.org/officeDocument/2006/relationships/image" Target="../media/img005_image-1-2.png"/><Relationship Id="rId3" Type="http://schemas.openxmlformats.org/officeDocument/2006/relationships/image" Target="../media/img005_image-1-3.png"/><Relationship Id="rId4" Type="http://schemas.openxmlformats.org/officeDocument/2006/relationships/image" Target="../media/img005_image-1-4.png"/><Relationship Id="rId5" Type="http://schemas.openxmlformats.org/officeDocument/2006/relationships/image" Target="../media/img005_image-1-5.png"/><Relationship Id="rId6" Type="http://schemas.openxmlformats.org/officeDocument/2006/relationships/image" Target="../media/img005_image-1-6.png"/><Relationship Id="rId7" Type="http://schemas.openxmlformats.org/officeDocument/2006/relationships/image" Target="../media/img005_image-1-7.png"/><Relationship Id="rId8" Type="http://schemas.openxmlformats.org/officeDocument/2006/relationships/image" Target="../media/img005_image-1-8.png"/><Relationship Id="rId9" Type="http://schemas.openxmlformats.org/officeDocument/2006/relationships/image" Target="../media/img005_image-1-9.png"/><Relationship Id="rId10" Type="http://schemas.openxmlformats.org/officeDocument/2006/relationships/image" Target="../media/img005_image-1-10.png"/><Relationship Id="rId11" Type="http://schemas.openxmlformats.org/officeDocument/2006/relationships/image" Target="../media/img005_image-1-11.png"/><Relationship Id="rId12" Type="http://schemas.openxmlformats.org/officeDocument/2006/relationships/image" Target="../media/img005_image-1-12.png"/><Relationship Id="rId13" Type="http://schemas.openxmlformats.org/officeDocument/2006/relationships/image" Target="../media/img005_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g006_image-1-1.png"/><Relationship Id="rId2" Type="http://schemas.openxmlformats.org/officeDocument/2006/relationships/image" Target="../media/img006_image-1-2.png"/><Relationship Id="rId3" Type="http://schemas.openxmlformats.org/officeDocument/2006/relationships/image" Target="../media/img006_image-1-3.png"/><Relationship Id="rId4" Type="http://schemas.openxmlformats.org/officeDocument/2006/relationships/image" Target="../media/img006_image-1-4.png"/><Relationship Id="rId5" Type="http://schemas.openxmlformats.org/officeDocument/2006/relationships/image" Target="../media/img006_image-1-5.png"/><Relationship Id="rId6" Type="http://schemas.openxmlformats.org/officeDocument/2006/relationships/image" Target="../media/img006_image-1-6.png"/><Relationship Id="rId7" Type="http://schemas.openxmlformats.org/officeDocument/2006/relationships/image" Target="../media/img006_image-1-7.png"/><Relationship Id="rId8" Type="http://schemas.openxmlformats.org/officeDocument/2006/relationships/image" Target="../media/img006_image-1-8.png"/><Relationship Id="rId9" Type="http://schemas.openxmlformats.org/officeDocument/2006/relationships/image" Target="../media/img006_image-1-9.png"/><Relationship Id="rId10" Type="http://schemas.openxmlformats.org/officeDocument/2006/relationships/image" Target="../media/img006_image-1-10.png"/><Relationship Id="rId11" Type="http://schemas.openxmlformats.org/officeDocument/2006/relationships/image" Target="../media/img006_image-1-11.png"/><Relationship Id="rId12" Type="http://schemas.openxmlformats.org/officeDocument/2006/relationships/image" Target="../media/img006_image-1-12.png"/><Relationship Id="rId13" Type="http://schemas.openxmlformats.org/officeDocument/2006/relationships/image" Target="../media/img006_image-1-13.png"/><Relationship Id="rId14" Type="http://schemas.openxmlformats.org/officeDocument/2006/relationships/image" Target="../media/img006_image-1-14.png"/><Relationship Id="rId15" Type="http://schemas.openxmlformats.org/officeDocument/2006/relationships/image" Target="../media/img006_image-1-15.png"/><Relationship Id="rId16" Type="http://schemas.openxmlformats.org/officeDocument/2006/relationships/image" Target="../media/img006_image-1-16.png"/><Relationship Id="rId17" Type="http://schemas.openxmlformats.org/officeDocument/2006/relationships/image" Target="../media/img006_image-1-17.png"/><Relationship Id="rId18" Type="http://schemas.openxmlformats.org/officeDocument/2006/relationships/image" Target="../media/img006_image-1-18.png"/><Relationship Id="rId19" Type="http://schemas.openxmlformats.org/officeDocument/2006/relationships/image" Target="../media/img006_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g007_image-1-1.png"/><Relationship Id="rId2" Type="http://schemas.openxmlformats.org/officeDocument/2006/relationships/image" Target="../media/img007_image-1-2.png"/><Relationship Id="rId3" Type="http://schemas.openxmlformats.org/officeDocument/2006/relationships/image" Target="../media/img007_image-1-3.png"/><Relationship Id="rId4" Type="http://schemas.openxmlformats.org/officeDocument/2006/relationships/image" Target="../media/img007_image-1-4.png"/><Relationship Id="rId5" Type="http://schemas.openxmlformats.org/officeDocument/2006/relationships/image" Target="../media/img007_image-1-4.png"/><Relationship Id="rId6" Type="http://schemas.openxmlformats.org/officeDocument/2006/relationships/image" Target="../media/img007_image-1-6.png"/><Relationship Id="rId7" Type="http://schemas.openxmlformats.org/officeDocument/2006/relationships/image" Target="../media/img007_image-1-7.png"/><Relationship Id="rId8" Type="http://schemas.openxmlformats.org/officeDocument/2006/relationships/image" Target="../media/img007_image-1-8.png"/><Relationship Id="rId9" Type="http://schemas.openxmlformats.org/officeDocument/2006/relationships/image" Target="../media/img007_image-1-9.png"/><Relationship Id="rId10" Type="http://schemas.openxmlformats.org/officeDocument/2006/relationships/image" Target="../media/img007_image-1-10.png"/><Relationship Id="rId11" Type="http://schemas.openxmlformats.org/officeDocument/2006/relationships/image" Target="../media/img007_image-1-11.png"/><Relationship Id="rId12" Type="http://schemas.openxmlformats.org/officeDocument/2006/relationships/image" Target="../media/img007_image-1-12.png"/><Relationship Id="rId13" Type="http://schemas.openxmlformats.org/officeDocument/2006/relationships/image" Target="../media/img007_image-1-13.png"/><Relationship Id="rId14" Type="http://schemas.openxmlformats.org/officeDocument/2006/relationships/image" Target="../media/img007_image-1-14.png"/><Relationship Id="rId15" Type="http://schemas.openxmlformats.org/officeDocument/2006/relationships/image" Target="../media/img007_image-1-15.png"/><Relationship Id="rId16" Type="http://schemas.openxmlformats.org/officeDocument/2006/relationships/image" Target="../media/img007_image-1-16.png"/><Relationship Id="rId17" Type="http://schemas.openxmlformats.org/officeDocument/2006/relationships/image" Target="../media/img007_image-1-17.png"/><Relationship Id="rId18" Type="http://schemas.openxmlformats.org/officeDocument/2006/relationships/image" Target="../media/img007_image-1-18.png"/><Relationship Id="rId19" Type="http://schemas.openxmlformats.org/officeDocument/2006/relationships/image" Target="../media/img007_image-1-19.png"/><Relationship Id="rId20" Type="http://schemas.openxmlformats.org/officeDocument/2006/relationships/image" Target="../media/img007_image-1-20.png"/><Relationship Id="rId21" Type="http://schemas.openxmlformats.org/officeDocument/2006/relationships/image" Target="../media/img007_image-1-21.png"/><Relationship Id="rId22" Type="http://schemas.openxmlformats.org/officeDocument/2006/relationships/image" Target="../media/img007_image-1-22.png"/><Relationship Id="rId23" Type="http://schemas.openxmlformats.org/officeDocument/2006/relationships/image" Target="../media/img007_image-1-23.png"/><Relationship Id="rId24" Type="http://schemas.openxmlformats.org/officeDocument/2006/relationships/image" Target="../media/img007_image-1-24.png"/><Relationship Id="rId25" Type="http://schemas.openxmlformats.org/officeDocument/2006/relationships/image" Target="../media/img007_image-1-25.png"/><Relationship Id="rId26" Type="http://schemas.openxmlformats.org/officeDocument/2006/relationships/image" Target="../media/img007_image-1-26.png"/><Relationship Id="rId27" Type="http://schemas.openxmlformats.org/officeDocument/2006/relationships/image" Target="../media/img007_image-1-27.png"/><Relationship Id="rId28" Type="http://schemas.openxmlformats.org/officeDocument/2006/relationships/image" Target="../media/img007_image-1-28.png"/><Relationship Id="rId29" Type="http://schemas.openxmlformats.org/officeDocument/2006/relationships/image" Target="../media/img007_image-1-29.png"/><Relationship Id="rId30" Type="http://schemas.openxmlformats.org/officeDocument/2006/relationships/image" Target="../media/img007_image-1-30.png"/><Relationship Id="rId31" Type="http://schemas.openxmlformats.org/officeDocument/2006/relationships/image" Target="../media/img007_image-1-31.png"/><Relationship Id="rId32" Type="http://schemas.openxmlformats.org/officeDocument/2006/relationships/image" Target="../media/img007_image-1-32.png"/><Relationship Id="rId33" Type="http://schemas.openxmlformats.org/officeDocument/2006/relationships/image" Target="../media/img007_image-1-33.png"/><Relationship Id="rId34" Type="http://schemas.openxmlformats.org/officeDocument/2006/relationships/image" Target="../media/img007_image-1-34.png"/><Relationship Id="rId35" Type="http://schemas.openxmlformats.org/officeDocument/2006/relationships/image" Target="../media/img007_image-1-35.png"/><Relationship Id="rId36" Type="http://schemas.openxmlformats.org/officeDocument/2006/relationships/image" Target="../media/img007_image-1-36.png"/><Relationship Id="rId37" Type="http://schemas.openxmlformats.org/officeDocument/2006/relationships/image" Target="../media/img007_image-1-37.png"/><Relationship Id="rId38" Type="http://schemas.openxmlformats.org/officeDocument/2006/relationships/image" Target="../media/img007_image-1-38.png"/><Relationship Id="rId39" Type="http://schemas.openxmlformats.org/officeDocument/2006/relationships/image" Target="../media/img007_image-1-39.png"/><Relationship Id="rId40" Type="http://schemas.openxmlformats.org/officeDocument/2006/relationships/image" Target="../media/img007_image-1-40.png"/><Relationship Id="rId41" Type="http://schemas.openxmlformats.org/officeDocument/2006/relationships/image" Target="../media/img007_image-1-41.png"/><Relationship Id="rId42" Type="http://schemas.openxmlformats.org/officeDocument/2006/relationships/image" Target="../media/img007_image-1-42.png"/><Relationship Id="rId43" Type="http://schemas.openxmlformats.org/officeDocument/2006/relationships/image" Target="../media/img007_image-1-43.png"/><Relationship Id="rId44" Type="http://schemas.openxmlformats.org/officeDocument/2006/relationships/image" Target="../media/img007_image-1-44.png"/><Relationship Id="rId45" Type="http://schemas.openxmlformats.org/officeDocument/2006/relationships/image" Target="../media/img007_image-1-45.png"/><Relationship Id="rId46" Type="http://schemas.openxmlformats.org/officeDocument/2006/relationships/image" Target="../media/img007_image-1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g012_image-1-1.png"/><Relationship Id="rId2" Type="http://schemas.openxmlformats.org/officeDocument/2006/relationships/image" Target="../media/img012_image-1-2.png"/><Relationship Id="rId3" Type="http://schemas.openxmlformats.org/officeDocument/2006/relationships/image" Target="../media/img012_image-1-3.png"/><Relationship Id="rId4" Type="http://schemas.openxmlformats.org/officeDocument/2006/relationships/image" Target="../media/img012_image-1-4.png"/><Relationship Id="rId5" Type="http://schemas.openxmlformats.org/officeDocument/2006/relationships/image" Target="../media/img012_image-1-5.png"/><Relationship Id="rId6" Type="http://schemas.openxmlformats.org/officeDocument/2006/relationships/image" Target="../media/img012_image-1-6.png"/><Relationship Id="rId7" Type="http://schemas.openxmlformats.org/officeDocument/2006/relationships/image" Target="../media/img012_image-1-7.png"/><Relationship Id="rId8" Type="http://schemas.openxmlformats.org/officeDocument/2006/relationships/image" Target="../media/img012_image-1-8.png"/><Relationship Id="rId9" Type="http://schemas.openxmlformats.org/officeDocument/2006/relationships/image" Target="../media/img012_image-1-9.png"/><Relationship Id="rId10" Type="http://schemas.openxmlformats.org/officeDocument/2006/relationships/image" Target="../media/img012_image-1-10.png"/><Relationship Id="rId11" Type="http://schemas.openxmlformats.org/officeDocument/2006/relationships/image" Target="../media/img012_image-1-11.png"/><Relationship Id="rId12" Type="http://schemas.openxmlformats.org/officeDocument/2006/relationships/image" Target="../media/img012_image-1-12.png"/><Relationship Id="rId13" Type="http://schemas.openxmlformats.org/officeDocument/2006/relationships/image" Target="../media/img012_image-1-13.png"/><Relationship Id="rId14" Type="http://schemas.openxmlformats.org/officeDocument/2006/relationships/image" Target="../media/img012_image-1-14.png"/><Relationship Id="rId15" Type="http://schemas.openxmlformats.org/officeDocument/2006/relationships/image" Target="../media/img012_image-1-15.png"/><Relationship Id="rId16" Type="http://schemas.openxmlformats.org/officeDocument/2006/relationships/image" Target="../media/img012_image-1-16.png"/><Relationship Id="rId17" Type="http://schemas.openxmlformats.org/officeDocument/2006/relationships/image" Target="../media/img012_image-1-17.png"/><Relationship Id="rId18" Type="http://schemas.openxmlformats.org/officeDocument/2006/relationships/image" Target="../media/img012_image-1-18.png"/><Relationship Id="rId19" Type="http://schemas.openxmlformats.org/officeDocument/2006/relationships/image" Target="../media/img012_image-1-19.png"/><Relationship Id="rId20" Type="http://schemas.openxmlformats.org/officeDocument/2006/relationships/image" Target="../media/img012_image-1-20.png"/><Relationship Id="rId21" Type="http://schemas.openxmlformats.org/officeDocument/2006/relationships/image" Target="../media/img012_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g013_image-1-1.png"/><Relationship Id="rId2" Type="http://schemas.openxmlformats.org/officeDocument/2006/relationships/image" Target="../media/img013_image-1-2.png"/><Relationship Id="rId3" Type="http://schemas.openxmlformats.org/officeDocument/2006/relationships/image" Target="../media/img013_image-1-3.png"/><Relationship Id="rId4" Type="http://schemas.openxmlformats.org/officeDocument/2006/relationships/image" Target="../media/img013_image-1-4.png"/><Relationship Id="rId5" Type="http://schemas.openxmlformats.org/officeDocument/2006/relationships/image" Target="../media/img013_image-1-5.png"/><Relationship Id="rId6" Type="http://schemas.openxmlformats.org/officeDocument/2006/relationships/image" Target="../media/img013_image-1-6.png"/><Relationship Id="rId7" Type="http://schemas.openxmlformats.org/officeDocument/2006/relationships/image" Target="../media/img013_image-1-7.png"/><Relationship Id="rId8" Type="http://schemas.openxmlformats.org/officeDocument/2006/relationships/image" Target="../media/img013_image-1-8.png"/><Relationship Id="rId9" Type="http://schemas.openxmlformats.org/officeDocument/2006/relationships/image" Target="../media/img013_image-1-9.png"/><Relationship Id="rId10" Type="http://schemas.openxmlformats.org/officeDocument/2006/relationships/image" Target="../media/img013_image-1-10.png"/><Relationship Id="rId11" Type="http://schemas.openxmlformats.org/officeDocument/2006/relationships/image" Target="../media/img013_image-1-11.png"/><Relationship Id="rId12" Type="http://schemas.openxmlformats.org/officeDocument/2006/relationships/image" Target="../media/img013_image-1-12.png"/><Relationship Id="rId13" Type="http://schemas.openxmlformats.org/officeDocument/2006/relationships/image" Target="../media/img013_image-1-13.png"/><Relationship Id="rId14" Type="http://schemas.openxmlformats.org/officeDocument/2006/relationships/image" Target="../media/img013_image-1-14.png"/><Relationship Id="rId15" Type="http://schemas.openxmlformats.org/officeDocument/2006/relationships/image" Target="../media/img013_image-1-15.png"/><Relationship Id="rId16" Type="http://schemas.openxmlformats.org/officeDocument/2006/relationships/image" Target="../media/img013_image-1-16.png"/><Relationship Id="rId17" Type="http://schemas.openxmlformats.org/officeDocument/2006/relationships/image" Target="../media/img013_image-1-17.png"/><Relationship Id="rId18" Type="http://schemas.openxmlformats.org/officeDocument/2006/relationships/image" Target="../media/img013_image-1-18.png"/><Relationship Id="rId19" Type="http://schemas.openxmlformats.org/officeDocument/2006/relationships/image" Target="../media/img013_image-1-19.png"/><Relationship Id="rId20" Type="http://schemas.openxmlformats.org/officeDocument/2006/relationships/image" Target="../media/img013_image-1-20.png"/><Relationship Id="rId21" Type="http://schemas.openxmlformats.org/officeDocument/2006/relationships/image" Target="../media/img013_image-1-21.png"/><Relationship Id="rId22" Type="http://schemas.openxmlformats.org/officeDocument/2006/relationships/image" Target="../media/img013_image-1-22.png"/><Relationship Id="rId23" Type="http://schemas.openxmlformats.org/officeDocument/2006/relationships/image" Target="../media/img013_image-1-23.png"/><Relationship Id="rId24" Type="http://schemas.openxmlformats.org/officeDocument/2006/relationships/image" Target="../media/img013_image-1-24.png"/><Relationship Id="rId25" Type="http://schemas.openxmlformats.org/officeDocument/2006/relationships/image" Target="../media/img013_image-1-25.png"/><Relationship Id="rId26" Type="http://schemas.openxmlformats.org/officeDocument/2006/relationships/image" Target="../media/img013_image-1-26.png"/><Relationship Id="rId27" Type="http://schemas.openxmlformats.org/officeDocument/2006/relationships/image" Target="../media/img013_image-1-27.png"/><Relationship Id="rId28" Type="http://schemas.openxmlformats.org/officeDocument/2006/relationships/image" Target="../media/img013_image-1-28.png"/><Relationship Id="rId29" Type="http://schemas.openxmlformats.org/officeDocument/2006/relationships/image" Target="../media/img013_image-1-29.png"/><Relationship Id="rId30" Type="http://schemas.openxmlformats.org/officeDocument/2006/relationships/image" Target="../media/img013_image-1-30.png"/><Relationship Id="rId31" Type="http://schemas.openxmlformats.org/officeDocument/2006/relationships/image" Target="../media/img013_image-1-31.png"/><Relationship Id="rId32" Type="http://schemas.openxmlformats.org/officeDocument/2006/relationships/image" Target="../media/img013_image-1-32.png"/><Relationship Id="rId33" Type="http://schemas.openxmlformats.org/officeDocument/2006/relationships/image" Target="../media/img013_image-1-33.png"/><Relationship Id="rId34" Type="http://schemas.openxmlformats.org/officeDocument/2006/relationships/image" Target="../media/img013_image-1-34.png"/><Relationship Id="rId35" Type="http://schemas.openxmlformats.org/officeDocument/2006/relationships/image" Target="../media/img013_image-1-35.png"/><Relationship Id="rId36" Type="http://schemas.openxmlformats.org/officeDocument/2006/relationships/image" Target="../media/img013_image-1-36.png"/><Relationship Id="rId37" Type="http://schemas.openxmlformats.org/officeDocument/2006/relationships/image" Target="../media/img013_image-1-37.png"/><Relationship Id="rId38" Type="http://schemas.openxmlformats.org/officeDocument/2006/relationships/image" Target="../media/img013_image-1-38.png"/><Relationship Id="rId39" Type="http://schemas.openxmlformats.org/officeDocument/2006/relationships/image" Target="../media/img013_image-1-39.png"/><Relationship Id="rId40" Type="http://schemas.openxmlformats.org/officeDocument/2006/relationships/image" Target="../media/img013_image-1-40.png"/><Relationship Id="rId41" Type="http://schemas.openxmlformats.org/officeDocument/2006/relationships/image" Target="../media/img013_image-1-41.png"/><Relationship Id="rId42" Type="http://schemas.openxmlformats.org/officeDocument/2006/relationships/image" Target="../media/img013_image-1-42.png"/><Relationship Id="rId43" Type="http://schemas.openxmlformats.org/officeDocument/2006/relationships/image" Target="../media/img013_image-1-43.png"/><Relationship Id="rId44" Type="http://schemas.openxmlformats.org/officeDocument/2006/relationships/image" Target="../media/img013_image-1-44.png"/><Relationship Id="rId45" Type="http://schemas.openxmlformats.org/officeDocument/2006/relationships/image" Target="../media/img013_image-1-45.png"/><Relationship Id="rId46" Type="http://schemas.openxmlformats.org/officeDocument/2006/relationships/image" Target="../media/img013_image-1-46.png"/><Relationship Id="rId47" Type="http://schemas.openxmlformats.org/officeDocument/2006/relationships/image" Target="../media/img013_image-1-47.png"/><Relationship Id="rId48" Type="http://schemas.openxmlformats.org/officeDocument/2006/relationships/image" Target="../media/img013_image-1-48.png"/><Relationship Id="rId49" Type="http://schemas.openxmlformats.org/officeDocument/2006/relationships/image" Target="../media/img013_image-1-49.png"/><Relationship Id="rId50" Type="http://schemas.openxmlformats.org/officeDocument/2006/relationships/image" Target="../media/img013_image-1-50.png"/><Relationship Id="rId51" Type="http://schemas.openxmlformats.org/officeDocument/2006/relationships/image" Target="../media/img013_image-1-51.png"/><Relationship Id="rId52" Type="http://schemas.openxmlformats.org/officeDocument/2006/relationships/image" Target="../media/img013_image-1-52.png"/><Relationship Id="rId53" Type="http://schemas.openxmlformats.org/officeDocument/2006/relationships/image" Target="../media/img013_image-1-53.png"/><Relationship Id="rId54" Type="http://schemas.openxmlformats.org/officeDocument/2006/relationships/image" Target="../media/img013_image-1-54.png"/><Relationship Id="rId55" Type="http://schemas.openxmlformats.org/officeDocument/2006/relationships/image" Target="../media/img013_image-1-55.png"/><Relationship Id="rId56" Type="http://schemas.openxmlformats.org/officeDocument/2006/relationships/image" Target="../media/img013_image-1-56.png"/><Relationship Id="rId57" Type="http://schemas.openxmlformats.org/officeDocument/2006/relationships/image" Target="../media/img013_image-1-57.png"/><Relationship Id="rId58" Type="http://schemas.openxmlformats.org/officeDocument/2006/relationships/image" Target="../media/img013_image-1-58.png"/><Relationship Id="rId59" Type="http://schemas.openxmlformats.org/officeDocument/2006/relationships/image" Target="../media/img013_image-1-59.png"/><Relationship Id="rId60" Type="http://schemas.openxmlformats.org/officeDocument/2006/relationships/image" Target="../media/img013_image-1-60.png"/><Relationship Id="rId61" Type="http://schemas.openxmlformats.org/officeDocument/2006/relationships/image" Target="../media/img013_image-1-61.png"/><Relationship Id="rId62" Type="http://schemas.openxmlformats.org/officeDocument/2006/relationships/image" Target="../media/img013_image-1-62.png"/><Relationship Id="rId63" Type="http://schemas.openxmlformats.org/officeDocument/2006/relationships/image" Target="../media/img013_image-1-63.png"/><Relationship Id="rId64" Type="http://schemas.openxmlformats.org/officeDocument/2006/relationships/image" Target="../media/img013_image-1-64.png"/><Relationship Id="rId65" Type="http://schemas.openxmlformats.org/officeDocument/2006/relationships/image" Target="../media/img013_image-1-65.png"/><Relationship Id="rId66" Type="http://schemas.openxmlformats.org/officeDocument/2006/relationships/image" Target="../media/img013_image-1-66.png"/><Relationship Id="rId67" Type="http://schemas.openxmlformats.org/officeDocument/2006/relationships/image" Target="../media/img013_image-1-67.png"/><Relationship Id="rId68" Type="http://schemas.openxmlformats.org/officeDocument/2006/relationships/image" Target="../media/img013_image-1-68.png"/><Relationship Id="rId69" Type="http://schemas.openxmlformats.org/officeDocument/2006/relationships/image" Target="../media/img013_image-1-69.png"/><Relationship Id="rId70" Type="http://schemas.openxmlformats.org/officeDocument/2006/relationships/image" Target="../media/img013_image-1-70.png"/><Relationship Id="rId71" Type="http://schemas.openxmlformats.org/officeDocument/2006/relationships/image" Target="../media/img013_image-1-71.png"/><Relationship Id="rId72" Type="http://schemas.openxmlformats.org/officeDocument/2006/relationships/image" Target="../media/img013_image-1-72.png"/><Relationship Id="rId73" Type="http://schemas.openxmlformats.org/officeDocument/2006/relationships/image" Target="../media/img013_image-1-73.png"/><Relationship Id="rId74" Type="http://schemas.openxmlformats.org/officeDocument/2006/relationships/image" Target="../media/img013_image-1-74.png"/><Relationship Id="rId75" Type="http://schemas.openxmlformats.org/officeDocument/2006/relationships/image" Target="../media/img013_image-1-75.png"/><Relationship Id="rId76" Type="http://schemas.openxmlformats.org/officeDocument/2006/relationships/image" Target="../media/img013_image-1-76.png"/><Relationship Id="rId77" Type="http://schemas.openxmlformats.org/officeDocument/2006/relationships/image" Target="../media/img013_image-1-77.png"/><Relationship Id="rId78" Type="http://schemas.openxmlformats.org/officeDocument/2006/relationships/image" Target="../media/img013_image-1-78.png"/><Relationship Id="rId79" Type="http://schemas.openxmlformats.org/officeDocument/2006/relationships/image" Target="../media/img013_image-1-79.png"/><Relationship Id="rId80" Type="http://schemas.openxmlformats.org/officeDocument/2006/relationships/image" Target="../media/img013_image-1-80.png"/><Relationship Id="rId81" Type="http://schemas.openxmlformats.org/officeDocument/2006/relationships/image" Target="../media/img013_image-1-81.png"/><Relationship Id="rId82" Type="http://schemas.openxmlformats.org/officeDocument/2006/relationships/image" Target="../media/img013_image-1-82.png"/><Relationship Id="rId83" Type="http://schemas.openxmlformats.org/officeDocument/2006/relationships/image" Target="../media/img013_image-1-83.png"/><Relationship Id="rId84" Type="http://schemas.openxmlformats.org/officeDocument/2006/relationships/image" Target="../media/img013_image-1-84.png"/><Relationship Id="rId85" Type="http://schemas.openxmlformats.org/officeDocument/2006/relationships/image" Target="../media/img013_image-1-85.png"/><Relationship Id="rId86" Type="http://schemas.openxmlformats.org/officeDocument/2006/relationships/image" Target="../media/img013_image-1-86.png"/><Relationship Id="rId87" Type="http://schemas.openxmlformats.org/officeDocument/2006/relationships/image" Target="../media/img013_image-1-87.png"/><Relationship Id="rId88" Type="http://schemas.openxmlformats.org/officeDocument/2006/relationships/image" Target="../media/img013_image-1-88.png"/><Relationship Id="rId89" Type="http://schemas.openxmlformats.org/officeDocument/2006/relationships/image" Target="../media/img013_image-1-89.png"/><Relationship Id="rId90" Type="http://schemas.openxmlformats.org/officeDocument/2006/relationships/image" Target="../media/img013_image-1-90.png"/><Relationship Id="rId91" Type="http://schemas.openxmlformats.org/officeDocument/2006/relationships/slideLayout" Target="../slideLayouts/slideLayout1.xml"/><Relationship Id="rId9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g014_image-1-1.png"/><Relationship Id="rId2" Type="http://schemas.openxmlformats.org/officeDocument/2006/relationships/image" Target="../media/img014_image-1-2.png"/><Relationship Id="rId3" Type="http://schemas.openxmlformats.org/officeDocument/2006/relationships/image" Target="../media/img014_image-1-3.png"/><Relationship Id="rId4" Type="http://schemas.openxmlformats.org/officeDocument/2006/relationships/image" Target="../media/img014_image-1-4.png"/><Relationship Id="rId5" Type="http://schemas.openxmlformats.org/officeDocument/2006/relationships/image" Target="../media/img014_image-1-5.png"/><Relationship Id="rId6" Type="http://schemas.openxmlformats.org/officeDocument/2006/relationships/image" Target="../media/img014_image-1-6.png"/><Relationship Id="rId7" Type="http://schemas.openxmlformats.org/officeDocument/2006/relationships/image" Target="../media/img014_image-1-6.png"/><Relationship Id="rId8" Type="http://schemas.openxmlformats.org/officeDocument/2006/relationships/image" Target="../media/img014_image-1-6.png"/><Relationship Id="rId9" Type="http://schemas.openxmlformats.org/officeDocument/2006/relationships/image" Target="../media/img014_image-1-4.png"/><Relationship Id="rId10" Type="http://schemas.openxmlformats.org/officeDocument/2006/relationships/image" Target="../media/img014_image-1-10.png"/><Relationship Id="rId11" Type="http://schemas.openxmlformats.org/officeDocument/2006/relationships/image" Target="../media/img014_image-1-11.png"/><Relationship Id="rId12" Type="http://schemas.openxmlformats.org/officeDocument/2006/relationships/image" Target="../media/img014_image-1-12.png"/><Relationship Id="rId13" Type="http://schemas.openxmlformats.org/officeDocument/2006/relationships/image" Target="../media/img014_image-1-13.png"/><Relationship Id="rId14" Type="http://schemas.openxmlformats.org/officeDocument/2006/relationships/image" Target="../media/img014_image-1-14.png"/><Relationship Id="rId15" Type="http://schemas.openxmlformats.org/officeDocument/2006/relationships/image" Target="../media/img014_image-1-15.png"/><Relationship Id="rId16" Type="http://schemas.openxmlformats.org/officeDocument/2006/relationships/image" Target="../media/img014_image-1-16.png"/><Relationship Id="rId17" Type="http://schemas.openxmlformats.org/officeDocument/2006/relationships/image" Target="../media/img014_image-1-17.png"/><Relationship Id="rId18" Type="http://schemas.openxmlformats.org/officeDocument/2006/relationships/image" Target="../media/img014_image-1-18.png"/><Relationship Id="rId19" Type="http://schemas.openxmlformats.org/officeDocument/2006/relationships/image" Target="../media/img014_image-1-18.png"/><Relationship Id="rId20" Type="http://schemas.openxmlformats.org/officeDocument/2006/relationships/image" Target="../media/img014_image-1-20.png"/><Relationship Id="rId21" Type="http://schemas.openxmlformats.org/officeDocument/2006/relationships/image" Target="../media/img014_image-1-21.png"/><Relationship Id="rId22" Type="http://schemas.openxmlformats.org/officeDocument/2006/relationships/image" Target="../media/img014_image-1-22.png"/><Relationship Id="rId23" Type="http://schemas.openxmlformats.org/officeDocument/2006/relationships/image" Target="../media/img014_image-1-23.png"/><Relationship Id="rId24" Type="http://schemas.openxmlformats.org/officeDocument/2006/relationships/image" Target="../media/img014_image-1-24.png"/><Relationship Id="rId25" Type="http://schemas.openxmlformats.org/officeDocument/2006/relationships/image" Target="../media/img014_image-1-25.png"/><Relationship Id="rId26" Type="http://schemas.openxmlformats.org/officeDocument/2006/relationships/image" Target="../media/img014_image-1-26.png"/><Relationship Id="rId27" Type="http://schemas.openxmlformats.org/officeDocument/2006/relationships/image" Target="../media/img014_image-1-26.png"/><Relationship Id="rId28" Type="http://schemas.openxmlformats.org/officeDocument/2006/relationships/image" Target="../media/img014_image-1-28.png"/><Relationship Id="rId29" Type="http://schemas.openxmlformats.org/officeDocument/2006/relationships/image" Target="../media/img014_image-1-29.png"/><Relationship Id="rId30" Type="http://schemas.openxmlformats.org/officeDocument/2006/relationships/image" Target="../media/img014_image-1-30.png"/><Relationship Id="rId31" Type="http://schemas.openxmlformats.org/officeDocument/2006/relationships/image" Target="../media/img014_image-1-31.png"/><Relationship Id="rId32" Type="http://schemas.openxmlformats.org/officeDocument/2006/relationships/image" Target="../media/img014_image-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g015_image-1-1.png"/><Relationship Id="rId2" Type="http://schemas.openxmlformats.org/officeDocument/2006/relationships/image" Target="../media/img015_image-1-2.png"/><Relationship Id="rId3" Type="http://schemas.openxmlformats.org/officeDocument/2006/relationships/image" Target="../media/img015_image-1-3.png"/><Relationship Id="rId4" Type="http://schemas.openxmlformats.org/officeDocument/2006/relationships/image" Target="../media/img015_image-1-4.png"/><Relationship Id="rId5" Type="http://schemas.openxmlformats.org/officeDocument/2006/relationships/image" Target="../media/img015_image-1-5.png"/><Relationship Id="rId6" Type="http://schemas.openxmlformats.org/officeDocument/2006/relationships/image" Target="../media/img015_image-1-6.png"/><Relationship Id="rId7" Type="http://schemas.openxmlformats.org/officeDocument/2006/relationships/image" Target="../media/img015_image-1-7.png"/><Relationship Id="rId8" Type="http://schemas.openxmlformats.org/officeDocument/2006/relationships/image" Target="../media/img015_image-1-8.png"/><Relationship Id="rId9" Type="http://schemas.openxmlformats.org/officeDocument/2006/relationships/image" Target="../media/img015_image-1-9.png"/><Relationship Id="rId10" Type="http://schemas.openxmlformats.org/officeDocument/2006/relationships/image" Target="../media/img015_image-1-10.png"/><Relationship Id="rId11" Type="http://schemas.openxmlformats.org/officeDocument/2006/relationships/image" Target="../media/img015_image-1-11.png"/><Relationship Id="rId12" Type="http://schemas.openxmlformats.org/officeDocument/2006/relationships/image" Target="../media/img015_image-1-12.png"/><Relationship Id="rId13" Type="http://schemas.openxmlformats.org/officeDocument/2006/relationships/image" Target="../media/img015_image-1-13.png"/><Relationship Id="rId14" Type="http://schemas.openxmlformats.org/officeDocument/2006/relationships/image" Target="../media/img015_image-1-14.png"/><Relationship Id="rId15" Type="http://schemas.openxmlformats.org/officeDocument/2006/relationships/image" Target="../media/img015_image-1-15.png"/><Relationship Id="rId16" Type="http://schemas.openxmlformats.org/officeDocument/2006/relationships/image" Target="../media/img015_image-1-16.png"/><Relationship Id="rId17" Type="http://schemas.openxmlformats.org/officeDocument/2006/relationships/image" Target="../media/img015_image-1-17.png"/><Relationship Id="rId18" Type="http://schemas.openxmlformats.org/officeDocument/2006/relationships/image" Target="../media/img015_image-1-18.png"/><Relationship Id="rId19" Type="http://schemas.openxmlformats.org/officeDocument/2006/relationships/image" Target="../media/img015_image-1-19.png"/><Relationship Id="rId20" Type="http://schemas.openxmlformats.org/officeDocument/2006/relationships/image" Target="../media/img015_image-1-20.png"/><Relationship Id="rId21" Type="http://schemas.openxmlformats.org/officeDocument/2006/relationships/image" Target="../media/img015_image-1-21.png"/><Relationship Id="rId22" Type="http://schemas.openxmlformats.org/officeDocument/2006/relationships/image" Target="../media/img015_image-1-22.png"/><Relationship Id="rId23" Type="http://schemas.openxmlformats.org/officeDocument/2006/relationships/image" Target="../media/img015_image-1-23.png"/><Relationship Id="rId24" Type="http://schemas.openxmlformats.org/officeDocument/2006/relationships/image" Target="../media/img015_image-1-24.png"/><Relationship Id="rId25" Type="http://schemas.openxmlformats.org/officeDocument/2006/relationships/image" Target="../media/img015_image-1-25.png"/><Relationship Id="rId26" Type="http://schemas.openxmlformats.org/officeDocument/2006/relationships/image" Target="../media/img015_image-1-26.png"/><Relationship Id="rId27" Type="http://schemas.openxmlformats.org/officeDocument/2006/relationships/image" Target="../media/img015_image-1-27.png"/><Relationship Id="rId28" Type="http://schemas.openxmlformats.org/officeDocument/2006/relationships/image" Target="../media/img015_image-1-28.png"/><Relationship Id="rId29" Type="http://schemas.openxmlformats.org/officeDocument/2006/relationships/image" Target="../media/img015_image-1-29.png"/><Relationship Id="rId30" Type="http://schemas.openxmlformats.org/officeDocument/2006/relationships/image" Target="../media/img015_image-1-30.png"/><Relationship Id="rId31" Type="http://schemas.openxmlformats.org/officeDocument/2006/relationships/image" Target="../media/img015_image-1-31.png"/><Relationship Id="rId32" Type="http://schemas.openxmlformats.org/officeDocument/2006/relationships/image" Target="../media/img015_image-1-32.png"/><Relationship Id="rId33" Type="http://schemas.openxmlformats.org/officeDocument/2006/relationships/image" Target="../media/img015_image-1-33.png"/><Relationship Id="rId34" Type="http://schemas.openxmlformats.org/officeDocument/2006/relationships/image" Target="../media/img015_image-1-34.png"/><Relationship Id="rId35" Type="http://schemas.openxmlformats.org/officeDocument/2006/relationships/image" Target="../media/img015_image-1-35.png"/><Relationship Id="rId36" Type="http://schemas.openxmlformats.org/officeDocument/2006/relationships/image" Target="../media/img015_image-1-36.png"/><Relationship Id="rId37" Type="http://schemas.openxmlformats.org/officeDocument/2006/relationships/image" Target="../media/img015_image-1-37.png"/><Relationship Id="rId38" Type="http://schemas.openxmlformats.org/officeDocument/2006/relationships/image" Target="../media/img015_image-1-38.png"/><Relationship Id="rId39" Type="http://schemas.openxmlformats.org/officeDocument/2006/relationships/image" Target="../media/img015_image-1-39.png"/><Relationship Id="rId40" Type="http://schemas.openxmlformats.org/officeDocument/2006/relationships/image" Target="../media/img015_image-1-40.png"/><Relationship Id="rId41" Type="http://schemas.openxmlformats.org/officeDocument/2006/relationships/image" Target="../media/img015_image-1-41.png"/><Relationship Id="rId42" Type="http://schemas.openxmlformats.org/officeDocument/2006/relationships/image" Target="../media/img015_image-1-42.png"/><Relationship Id="rId43" Type="http://schemas.openxmlformats.org/officeDocument/2006/relationships/image" Target="../media/img015_image-1-43.png"/><Relationship Id="rId44" Type="http://schemas.openxmlformats.org/officeDocument/2006/relationships/image" Target="../media/img015_image-1-44.png"/><Relationship Id="rId45" Type="http://schemas.openxmlformats.org/officeDocument/2006/relationships/image" Target="../media/img015_image-1-45.png"/><Relationship Id="rId46" Type="http://schemas.openxmlformats.org/officeDocument/2006/relationships/image" Target="../media/img015_image-1-46.png"/><Relationship Id="rId47" Type="http://schemas.openxmlformats.org/officeDocument/2006/relationships/image" Target="../media/img015_image-1-47.png"/><Relationship Id="rId48" Type="http://schemas.openxmlformats.org/officeDocument/2006/relationships/image" Target="../media/img015_image-1-48.png"/><Relationship Id="rId49" Type="http://schemas.openxmlformats.org/officeDocument/2006/relationships/image" Target="../media/img015_image-1-49.png"/><Relationship Id="rId50" Type="http://schemas.openxmlformats.org/officeDocument/2006/relationships/image" Target="../media/img015_image-1-50.png"/><Relationship Id="rId51" Type="http://schemas.openxmlformats.org/officeDocument/2006/relationships/image" Target="../media/img015_image-1-51.png"/><Relationship Id="rId52" Type="http://schemas.openxmlformats.org/officeDocument/2006/relationships/image" Target="../media/img015_image-1-52.png"/><Relationship Id="rId53" Type="http://schemas.openxmlformats.org/officeDocument/2006/relationships/image" Target="../media/img015_image-1-53.png"/><Relationship Id="rId54" Type="http://schemas.openxmlformats.org/officeDocument/2006/relationships/image" Target="../media/img015_image-1-54.png"/><Relationship Id="rId55" Type="http://schemas.openxmlformats.org/officeDocument/2006/relationships/image" Target="../media/img015_image-1-55.png"/><Relationship Id="rId56" Type="http://schemas.openxmlformats.org/officeDocument/2006/relationships/image" Target="../media/img015_image-1-56.png"/><Relationship Id="rId57" Type="http://schemas.openxmlformats.org/officeDocument/2006/relationships/image" Target="../media/img015_image-1-57.png"/><Relationship Id="rId58" Type="http://schemas.openxmlformats.org/officeDocument/2006/relationships/image" Target="../media/img015_image-1-58.png"/><Relationship Id="rId59" Type="http://schemas.openxmlformats.org/officeDocument/2006/relationships/image" Target="../media/img015_image-1-59.png"/><Relationship Id="rId60" Type="http://schemas.openxmlformats.org/officeDocument/2006/relationships/image" Target="../media/img015_image-1-60.png"/><Relationship Id="rId61" Type="http://schemas.openxmlformats.org/officeDocument/2006/relationships/image" Target="../media/img015_image-1-61.png"/><Relationship Id="rId62" Type="http://schemas.openxmlformats.org/officeDocument/2006/relationships/image" Target="../media/img015_image-1-62.png"/><Relationship Id="rId63" Type="http://schemas.openxmlformats.org/officeDocument/2006/relationships/image" Target="../media/img015_image-1-63.png"/><Relationship Id="rId64" Type="http://schemas.openxmlformats.org/officeDocument/2006/relationships/image" Target="../media/img015_image-1-64.png"/><Relationship Id="rId65" Type="http://schemas.openxmlformats.org/officeDocument/2006/relationships/image" Target="../media/img015_image-1-65.png"/><Relationship Id="rId66" Type="http://schemas.openxmlformats.org/officeDocument/2006/relationships/image" Target="../media/img015_image-1-66.png"/><Relationship Id="rId67" Type="http://schemas.openxmlformats.org/officeDocument/2006/relationships/image" Target="../media/img015_image-1-67.png"/><Relationship Id="rId68" Type="http://schemas.openxmlformats.org/officeDocument/2006/relationships/image" Target="../media/img015_image-1-68.png"/><Relationship Id="rId69" Type="http://schemas.openxmlformats.org/officeDocument/2006/relationships/slideLayout" Target="../slideLayouts/slideLayout1.xml"/><Relationship Id="rId7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g016_image-1-1.png"/><Relationship Id="rId2" Type="http://schemas.openxmlformats.org/officeDocument/2006/relationships/image" Target="../media/img016_image-1-2.png"/><Relationship Id="rId3" Type="http://schemas.openxmlformats.org/officeDocument/2006/relationships/image" Target="../media/img016_image-1-3.png"/><Relationship Id="rId4" Type="http://schemas.openxmlformats.org/officeDocument/2006/relationships/image" Target="../media/img016_image-1-4.png"/><Relationship Id="rId5" Type="http://schemas.openxmlformats.org/officeDocument/2006/relationships/image" Target="../media/img016_image-1-5.png"/><Relationship Id="rId6" Type="http://schemas.openxmlformats.org/officeDocument/2006/relationships/image" Target="../media/img016_image-1-6.png"/><Relationship Id="rId7" Type="http://schemas.openxmlformats.org/officeDocument/2006/relationships/image" Target="../media/img016_image-1-7.png"/><Relationship Id="rId8" Type="http://schemas.openxmlformats.org/officeDocument/2006/relationships/image" Target="../media/img016_image-1-8.png"/><Relationship Id="rId9" Type="http://schemas.openxmlformats.org/officeDocument/2006/relationships/image" Target="../media/img016_image-1-9.png"/><Relationship Id="rId10" Type="http://schemas.openxmlformats.org/officeDocument/2006/relationships/image" Target="../media/img016_image-1-10.png"/><Relationship Id="rId11" Type="http://schemas.openxmlformats.org/officeDocument/2006/relationships/image" Target="../media/img016_image-1-11.png"/><Relationship Id="rId12" Type="http://schemas.openxmlformats.org/officeDocument/2006/relationships/image" Target="../media/img016_image-1-12.png"/><Relationship Id="rId13" Type="http://schemas.openxmlformats.org/officeDocument/2006/relationships/image" Target="../media/img016_image-1-10.png"/><Relationship Id="rId14" Type="http://schemas.openxmlformats.org/officeDocument/2006/relationships/image" Target="../media/img016_image-1-11.png"/><Relationship Id="rId15" Type="http://schemas.openxmlformats.org/officeDocument/2006/relationships/image" Target="../media/img016_image-1-12.png"/><Relationship Id="rId16" Type="http://schemas.openxmlformats.org/officeDocument/2006/relationships/image" Target="../media/img016_image-1-10.png"/><Relationship Id="rId17" Type="http://schemas.openxmlformats.org/officeDocument/2006/relationships/image" Target="../media/img016_image-1-17.png"/><Relationship Id="rId18" Type="http://schemas.openxmlformats.org/officeDocument/2006/relationships/image" Target="../media/img016_image-1-10.png"/><Relationship Id="rId19" Type="http://schemas.openxmlformats.org/officeDocument/2006/relationships/image" Target="../media/img016_image-1-19.png"/><Relationship Id="rId20" Type="http://schemas.openxmlformats.org/officeDocument/2006/relationships/image" Target="../media/img016_image-1-20.png"/><Relationship Id="rId21" Type="http://schemas.openxmlformats.org/officeDocument/2006/relationships/image" Target="../media/img016_image-1-10.png"/><Relationship Id="rId22" Type="http://schemas.openxmlformats.org/officeDocument/2006/relationships/image" Target="../media/img016_image-1-22.png"/><Relationship Id="rId23" Type="http://schemas.openxmlformats.org/officeDocument/2006/relationships/image" Target="../media/img016_image-1-23.png"/><Relationship Id="rId24" Type="http://schemas.openxmlformats.org/officeDocument/2006/relationships/image" Target="../media/img016_image-1-24.png"/><Relationship Id="rId25" Type="http://schemas.openxmlformats.org/officeDocument/2006/relationships/image" Target="../media/img016_image-1-25.png"/><Relationship Id="rId26" Type="http://schemas.openxmlformats.org/officeDocument/2006/relationships/image" Target="../media/img016_image-1-26.png"/><Relationship Id="rId27" Type="http://schemas.openxmlformats.org/officeDocument/2006/relationships/image" Target="../media/img016_image-1-26.png"/><Relationship Id="rId28" Type="http://schemas.openxmlformats.org/officeDocument/2006/relationships/image" Target="../media/img016_image-1-28.png"/><Relationship Id="rId29" Type="http://schemas.openxmlformats.org/officeDocument/2006/relationships/image" Target="../media/img016_image-1-29.png"/><Relationship Id="rId30" Type="http://schemas.openxmlformats.org/officeDocument/2006/relationships/image" Target="../media/img016_image-1-30.png"/><Relationship Id="rId31" Type="http://schemas.openxmlformats.org/officeDocument/2006/relationships/image" Target="../media/img016_image-1-31.png"/><Relationship Id="rId32" Type="http://schemas.openxmlformats.org/officeDocument/2006/relationships/image" Target="../media/img016_image-1-32.png"/><Relationship Id="rId33" Type="http://schemas.openxmlformats.org/officeDocument/2006/relationships/image" Target="../media/img016_image-1-32.png"/><Relationship Id="rId34" Type="http://schemas.openxmlformats.org/officeDocument/2006/relationships/image" Target="../media/img016_image-1-34.png"/><Relationship Id="rId35" Type="http://schemas.openxmlformats.org/officeDocument/2006/relationships/image" Target="../media/img016_image-1-35.png"/><Relationship Id="rId36" Type="http://schemas.openxmlformats.org/officeDocument/2006/relationships/image" Target="../media/img016_image-1-36.png"/><Relationship Id="rId37" Type="http://schemas.openxmlformats.org/officeDocument/2006/relationships/image" Target="../media/img016_image-1-37.png"/><Relationship Id="rId38" Type="http://schemas.openxmlformats.org/officeDocument/2006/relationships/image" Target="../media/img016_image-1-38.png"/><Relationship Id="rId39" Type="http://schemas.openxmlformats.org/officeDocument/2006/relationships/image" Target="../media/img016_image-1-39.png"/><Relationship Id="rId40" Type="http://schemas.openxmlformats.org/officeDocument/2006/relationships/image" Target="../media/img016_image-1-40.png"/><Relationship Id="rId41" Type="http://schemas.openxmlformats.org/officeDocument/2006/relationships/image" Target="../media/img016_image-1-41.png"/><Relationship Id="rId42" Type="http://schemas.openxmlformats.org/officeDocument/2006/relationships/image" Target="../media/img016_image-1-42.png"/><Relationship Id="rId43" Type="http://schemas.openxmlformats.org/officeDocument/2006/relationships/image" Target="../media/img016_image-1-43.png"/><Relationship Id="rId44" Type="http://schemas.openxmlformats.org/officeDocument/2006/relationships/image" Target="../media/img016_image-1-44.png"/><Relationship Id="rId45" Type="http://schemas.openxmlformats.org/officeDocument/2006/relationships/image" Target="../media/img016_image-1-45.png"/><Relationship Id="rId46" Type="http://schemas.openxmlformats.org/officeDocument/2006/relationships/image" Target="../media/img016_image-1-46.png"/><Relationship Id="rId47" Type="http://schemas.openxmlformats.org/officeDocument/2006/relationships/image" Target="../media/img016_image-1-47.png"/><Relationship Id="rId48" Type="http://schemas.openxmlformats.org/officeDocument/2006/relationships/image" Target="../media/img016_image-1-48.png"/><Relationship Id="rId49" Type="http://schemas.openxmlformats.org/officeDocument/2006/relationships/image" Target="../media/img016_image-1-49.png"/><Relationship Id="rId50" Type="http://schemas.openxmlformats.org/officeDocument/2006/relationships/image" Target="../media/img016_image-1-50.png"/><Relationship Id="rId51" Type="http://schemas.openxmlformats.org/officeDocument/2006/relationships/image" Target="../media/img016_image-1-51.png"/><Relationship Id="rId52" Type="http://schemas.openxmlformats.org/officeDocument/2006/relationships/image" Target="../media/img016_image-1-52.png"/><Relationship Id="rId53" Type="http://schemas.openxmlformats.org/officeDocument/2006/relationships/image" Target="../media/img016_image-1-53.png"/><Relationship Id="rId54" Type="http://schemas.openxmlformats.org/officeDocument/2006/relationships/slideLayout" Target="../slideLayouts/slideLayout1.xml"/><Relationship Id="rId5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g017_image-1-1.png"/><Relationship Id="rId2" Type="http://schemas.openxmlformats.org/officeDocument/2006/relationships/image" Target="../media/img017_image-1-2.png"/><Relationship Id="rId3" Type="http://schemas.openxmlformats.org/officeDocument/2006/relationships/image" Target="../media/img017_image-1-3.png"/><Relationship Id="rId4" Type="http://schemas.openxmlformats.org/officeDocument/2006/relationships/image" Target="../media/img017_image-1-4.png"/><Relationship Id="rId5" Type="http://schemas.openxmlformats.org/officeDocument/2006/relationships/image" Target="../media/img017_image-1-5.png"/><Relationship Id="rId6" Type="http://schemas.openxmlformats.org/officeDocument/2006/relationships/image" Target="../media/img017_image-1-6.png"/><Relationship Id="rId7" Type="http://schemas.openxmlformats.org/officeDocument/2006/relationships/image" Target="../media/img017_image-1-7.png"/><Relationship Id="rId8" Type="http://schemas.openxmlformats.org/officeDocument/2006/relationships/image" Target="../media/img017_image-1-8.png"/><Relationship Id="rId9" Type="http://schemas.openxmlformats.org/officeDocument/2006/relationships/image" Target="../media/img017_image-1-9.png"/><Relationship Id="rId10" Type="http://schemas.openxmlformats.org/officeDocument/2006/relationships/image" Target="../media/img017_image-1-10.png"/><Relationship Id="rId11" Type="http://schemas.openxmlformats.org/officeDocument/2006/relationships/image" Target="../media/img017_image-1-11.png"/><Relationship Id="rId12" Type="http://schemas.openxmlformats.org/officeDocument/2006/relationships/image" Target="../media/img017_image-1-12.png"/><Relationship Id="rId13" Type="http://schemas.openxmlformats.org/officeDocument/2006/relationships/image" Target="../media/img017_image-1-13.png"/><Relationship Id="rId14" Type="http://schemas.openxmlformats.org/officeDocument/2006/relationships/image" Target="../media/img017_image-1-14.png"/><Relationship Id="rId15" Type="http://schemas.openxmlformats.org/officeDocument/2006/relationships/image" Target="../media/img017_image-1-15.png"/><Relationship Id="rId16" Type="http://schemas.openxmlformats.org/officeDocument/2006/relationships/image" Target="../media/img017_image-1-16.png"/><Relationship Id="rId17" Type="http://schemas.openxmlformats.org/officeDocument/2006/relationships/image" Target="../media/img017_image-1-17.png"/><Relationship Id="rId18" Type="http://schemas.openxmlformats.org/officeDocument/2006/relationships/image" Target="../media/img017_image-1-18.png"/><Relationship Id="rId19" Type="http://schemas.openxmlformats.org/officeDocument/2006/relationships/image" Target="../media/img017_image-1-19.png"/><Relationship Id="rId20" Type="http://schemas.openxmlformats.org/officeDocument/2006/relationships/image" Target="../media/img017_image-1-19.png"/><Relationship Id="rId21" Type="http://schemas.openxmlformats.org/officeDocument/2006/relationships/image" Target="../media/img017_image-1-19.png"/><Relationship Id="rId22" Type="http://schemas.openxmlformats.org/officeDocument/2006/relationships/image" Target="../media/img017_image-1-22.png"/><Relationship Id="rId23" Type="http://schemas.openxmlformats.org/officeDocument/2006/relationships/image" Target="../media/img017_image-1-23.png"/><Relationship Id="rId24" Type="http://schemas.openxmlformats.org/officeDocument/2006/relationships/image" Target="../media/img017_image-1-24.png"/><Relationship Id="rId25" Type="http://schemas.openxmlformats.org/officeDocument/2006/relationships/image" Target="../media/img017_image-1-25.png"/><Relationship Id="rId26" Type="http://schemas.openxmlformats.org/officeDocument/2006/relationships/image" Target="../media/img017_image-1-26.png"/><Relationship Id="rId27" Type="http://schemas.openxmlformats.org/officeDocument/2006/relationships/image" Target="../media/img017_image-1-27.png"/><Relationship Id="rId28" Type="http://schemas.openxmlformats.org/officeDocument/2006/relationships/image" Target="../media/img017_image-1-28.png"/><Relationship Id="rId29" Type="http://schemas.openxmlformats.org/officeDocument/2006/relationships/image" Target="../media/img017_image-1-28.png"/><Relationship Id="rId30" Type="http://schemas.openxmlformats.org/officeDocument/2006/relationships/image" Target="../media/img017_image-1-28.png"/><Relationship Id="rId31" Type="http://schemas.openxmlformats.org/officeDocument/2006/relationships/image" Target="../media/img017_image-1-19.png"/><Relationship Id="rId32" Type="http://schemas.openxmlformats.org/officeDocument/2006/relationships/image" Target="../media/img017_image-1-28.png"/><Relationship Id="rId33" Type="http://schemas.openxmlformats.org/officeDocument/2006/relationships/image" Target="../media/img017_image-1-33.png"/><Relationship Id="rId34" Type="http://schemas.openxmlformats.org/officeDocument/2006/relationships/image" Target="../media/img017_image-1-34.png"/><Relationship Id="rId35" Type="http://schemas.openxmlformats.org/officeDocument/2006/relationships/image" Target="../media/img017_image-1-35.png"/><Relationship Id="rId36" Type="http://schemas.openxmlformats.org/officeDocument/2006/relationships/image" Target="../media/img017_image-1-36.png"/><Relationship Id="rId37" Type="http://schemas.openxmlformats.org/officeDocument/2006/relationships/image" Target="../media/img017_image-1-37.png"/><Relationship Id="rId38" Type="http://schemas.openxmlformats.org/officeDocument/2006/relationships/image" Target="../media/img017_image-1-38.png"/><Relationship Id="rId39" Type="http://schemas.openxmlformats.org/officeDocument/2006/relationships/image" Target="../media/img017_image-1-39.png"/><Relationship Id="rId40" Type="http://schemas.openxmlformats.org/officeDocument/2006/relationships/image" Target="../media/img017_image-1-39.png"/><Relationship Id="rId41" Type="http://schemas.openxmlformats.org/officeDocument/2006/relationships/image" Target="../media/img017_image-1-39.png"/><Relationship Id="rId42" Type="http://schemas.openxmlformats.org/officeDocument/2006/relationships/image" Target="../media/img017_image-1-39.png"/><Relationship Id="rId43" Type="http://schemas.openxmlformats.org/officeDocument/2006/relationships/image" Target="../media/img017_image-1-43.png"/><Relationship Id="rId44" Type="http://schemas.openxmlformats.org/officeDocument/2006/relationships/image" Target="../media/img017_image-1-44.png"/><Relationship Id="rId45" Type="http://schemas.openxmlformats.org/officeDocument/2006/relationships/image" Target="../media/img017_image-1-45.png"/><Relationship Id="rId46" Type="http://schemas.openxmlformats.org/officeDocument/2006/relationships/image" Target="../media/img017_image-1-46.png"/><Relationship Id="rId47" Type="http://schemas.openxmlformats.org/officeDocument/2006/relationships/image" Target="../media/img017_image-1-47.png"/><Relationship Id="rId48" Type="http://schemas.openxmlformats.org/officeDocument/2006/relationships/image" Target="../media/img017_image-1-48.png"/><Relationship Id="rId49" Type="http://schemas.openxmlformats.org/officeDocument/2006/relationships/image" Target="../media/img017_image-1-49.png"/><Relationship Id="rId50" Type="http://schemas.openxmlformats.org/officeDocument/2006/relationships/image" Target="../media/img017_image-1-49.png"/><Relationship Id="rId51" Type="http://schemas.openxmlformats.org/officeDocument/2006/relationships/image" Target="../media/img017_image-1-49.png"/><Relationship Id="rId52" Type="http://schemas.openxmlformats.org/officeDocument/2006/relationships/image" Target="../media/img017_image-1-52.png"/><Relationship Id="rId53" Type="http://schemas.openxmlformats.org/officeDocument/2006/relationships/image" Target="../media/img017_image-1-53.png"/><Relationship Id="rId54" Type="http://schemas.openxmlformats.org/officeDocument/2006/relationships/image" Target="../media/img017_image-1-54.png"/><Relationship Id="rId55" Type="http://schemas.openxmlformats.org/officeDocument/2006/relationships/image" Target="../media/img017_image-1-55.png"/><Relationship Id="rId56" Type="http://schemas.openxmlformats.org/officeDocument/2006/relationships/image" Target="../media/img017_image-1-56.png"/><Relationship Id="rId57" Type="http://schemas.openxmlformats.org/officeDocument/2006/relationships/image" Target="../media/img017_image-1-57.png"/><Relationship Id="rId58" Type="http://schemas.openxmlformats.org/officeDocument/2006/relationships/image" Target="../media/img017_image-1-58.png"/><Relationship Id="rId59" Type="http://schemas.openxmlformats.org/officeDocument/2006/relationships/image" Target="../media/img017_image-1-58.png"/><Relationship Id="rId60" Type="http://schemas.openxmlformats.org/officeDocument/2006/relationships/image" Target="../media/img017_image-1-60.png"/><Relationship Id="rId61" Type="http://schemas.openxmlformats.org/officeDocument/2006/relationships/image" Target="../media/img017_image-1-61.png"/><Relationship Id="rId62" Type="http://schemas.openxmlformats.org/officeDocument/2006/relationships/image" Target="../media/img017_image-1-62.png"/><Relationship Id="rId63" Type="http://schemas.openxmlformats.org/officeDocument/2006/relationships/image" Target="../media/img017_image-1-63.png"/><Relationship Id="rId64" Type="http://schemas.openxmlformats.org/officeDocument/2006/relationships/image" Target="../media/img017_image-1-64.png"/><Relationship Id="rId65" Type="http://schemas.openxmlformats.org/officeDocument/2006/relationships/image" Target="../media/img017_image-1-65.png"/><Relationship Id="rId66" Type="http://schemas.openxmlformats.org/officeDocument/2006/relationships/image" Target="../media/img017_image-1-66.png"/><Relationship Id="rId67" Type="http://schemas.openxmlformats.org/officeDocument/2006/relationships/image" Target="../media/img017_image-1-67.png"/><Relationship Id="rId68" Type="http://schemas.openxmlformats.org/officeDocument/2006/relationships/image" Target="../media/img017_image-1-68.png"/><Relationship Id="rId69" Type="http://schemas.openxmlformats.org/officeDocument/2006/relationships/image" Target="../media/img017_image-1-69.png"/><Relationship Id="rId70" Type="http://schemas.openxmlformats.org/officeDocument/2006/relationships/slideLayout" Target="../slideLayouts/slideLayout1.xml"/><Relationship Id="rId7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g018_image-1-1.png"/><Relationship Id="rId2" Type="http://schemas.openxmlformats.org/officeDocument/2006/relationships/image" Target="../media/img018_image-1-2.png"/><Relationship Id="rId3" Type="http://schemas.openxmlformats.org/officeDocument/2006/relationships/image" Target="../media/img018_image-1-3.png"/><Relationship Id="rId4" Type="http://schemas.openxmlformats.org/officeDocument/2006/relationships/image" Target="../media/img018_image-1-4.png"/><Relationship Id="rId5" Type="http://schemas.openxmlformats.org/officeDocument/2006/relationships/image" Target="../media/img018_image-1-5.png"/><Relationship Id="rId6" Type="http://schemas.openxmlformats.org/officeDocument/2006/relationships/image" Target="../media/img018_image-1-6.png"/><Relationship Id="rId7" Type="http://schemas.openxmlformats.org/officeDocument/2006/relationships/image" Target="../media/img018_image-1-7.png"/><Relationship Id="rId8" Type="http://schemas.openxmlformats.org/officeDocument/2006/relationships/image" Target="../media/img018_image-1-8.png"/><Relationship Id="rId9" Type="http://schemas.openxmlformats.org/officeDocument/2006/relationships/image" Target="../media/img018_image-1-9.png"/><Relationship Id="rId10" Type="http://schemas.openxmlformats.org/officeDocument/2006/relationships/image" Target="../media/img018_image-1-10.png"/><Relationship Id="rId11" Type="http://schemas.openxmlformats.org/officeDocument/2006/relationships/image" Target="../media/img018_image-1-11.png"/><Relationship Id="rId12" Type="http://schemas.openxmlformats.org/officeDocument/2006/relationships/image" Target="../media/img018_image-1-12.png"/><Relationship Id="rId13" Type="http://schemas.openxmlformats.org/officeDocument/2006/relationships/image" Target="../media/img018_image-1-13.png"/><Relationship Id="rId14" Type="http://schemas.openxmlformats.org/officeDocument/2006/relationships/image" Target="../media/img018_image-1-14.png"/><Relationship Id="rId15" Type="http://schemas.openxmlformats.org/officeDocument/2006/relationships/image" Target="../media/img018_image-1-15.png"/><Relationship Id="rId16" Type="http://schemas.openxmlformats.org/officeDocument/2006/relationships/image" Target="../media/img018_image-1-16.png"/><Relationship Id="rId17" Type="http://schemas.openxmlformats.org/officeDocument/2006/relationships/image" Target="../media/img018_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g019_image-1-1.png"/><Relationship Id="rId2" Type="http://schemas.openxmlformats.org/officeDocument/2006/relationships/image" Target="../media/img019_image-1-2.png"/><Relationship Id="rId3" Type="http://schemas.openxmlformats.org/officeDocument/2006/relationships/image" Target="../media/img019_image-1-3.png"/><Relationship Id="rId4" Type="http://schemas.openxmlformats.org/officeDocument/2006/relationships/image" Target="../media/img019_image-1-4.png"/><Relationship Id="rId5" Type="http://schemas.openxmlformats.org/officeDocument/2006/relationships/image" Target="../media/img019_image-1-5.png"/><Relationship Id="rId6" Type="http://schemas.openxmlformats.org/officeDocument/2006/relationships/image" Target="../media/img019_image-1-6.png"/><Relationship Id="rId7" Type="http://schemas.openxmlformats.org/officeDocument/2006/relationships/image" Target="../media/img019_image-1-7.png"/><Relationship Id="rId8" Type="http://schemas.openxmlformats.org/officeDocument/2006/relationships/image" Target="../media/img019_image-1-8.png"/><Relationship Id="rId9" Type="http://schemas.openxmlformats.org/officeDocument/2006/relationships/image" Target="../media/img019_image-1-9.png"/><Relationship Id="rId10" Type="http://schemas.openxmlformats.org/officeDocument/2006/relationships/image" Target="../media/img019_image-1-10.png"/><Relationship Id="rId11" Type="http://schemas.openxmlformats.org/officeDocument/2006/relationships/image" Target="../media/img019_image-1-11.png"/><Relationship Id="rId12" Type="http://schemas.openxmlformats.org/officeDocument/2006/relationships/image" Target="../media/img019_image-1-12.png"/><Relationship Id="rId13" Type="http://schemas.openxmlformats.org/officeDocument/2006/relationships/image" Target="../media/img019_image-1-13.png"/><Relationship Id="rId14" Type="http://schemas.openxmlformats.org/officeDocument/2006/relationships/image" Target="../media/img019_image-1-14.png"/><Relationship Id="rId15" Type="http://schemas.openxmlformats.org/officeDocument/2006/relationships/image" Target="../media/img019_image-1-15.png"/><Relationship Id="rId16" Type="http://schemas.openxmlformats.org/officeDocument/2006/relationships/image" Target="../media/img019_image-1-16.png"/><Relationship Id="rId17" Type="http://schemas.openxmlformats.org/officeDocument/2006/relationships/image" Target="../media/img019_image-1-17.png"/><Relationship Id="rId18" Type="http://schemas.openxmlformats.org/officeDocument/2006/relationships/image" Target="../media/img019_image-1-18.png"/><Relationship Id="rId19" Type="http://schemas.openxmlformats.org/officeDocument/2006/relationships/image" Target="../media/img019_image-1-19.png"/><Relationship Id="rId20" Type="http://schemas.openxmlformats.org/officeDocument/2006/relationships/image" Target="../media/img019_image-1-20.png"/><Relationship Id="rId21" Type="http://schemas.openxmlformats.org/officeDocument/2006/relationships/image" Target="../media/img019_image-1-21.png"/><Relationship Id="rId22" Type="http://schemas.openxmlformats.org/officeDocument/2006/relationships/image" Target="../media/img019_image-1-22.png"/><Relationship Id="rId23" Type="http://schemas.openxmlformats.org/officeDocument/2006/relationships/image" Target="../media/img019_image-1-23.png"/><Relationship Id="rId24" Type="http://schemas.openxmlformats.org/officeDocument/2006/relationships/image" Target="../media/img019_image-1-24.png"/><Relationship Id="rId25" Type="http://schemas.openxmlformats.org/officeDocument/2006/relationships/image" Target="../media/img019_image-1-25.png"/><Relationship Id="rId26" Type="http://schemas.openxmlformats.org/officeDocument/2006/relationships/image" Target="../media/img019_image-1-26.png"/><Relationship Id="rId27" Type="http://schemas.openxmlformats.org/officeDocument/2006/relationships/image" Target="../media/img019_image-1-27.png"/><Relationship Id="rId28" Type="http://schemas.openxmlformats.org/officeDocument/2006/relationships/image" Target="../media/img019_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g020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g021_image-1-1.png"/><Relationship Id="rId2" Type="http://schemas.openxmlformats.org/officeDocument/2006/relationships/image" Target="../media/img021_image-1-2.png"/><Relationship Id="rId3" Type="http://schemas.openxmlformats.org/officeDocument/2006/relationships/image" Target="../media/img021_image-1-3.png"/><Relationship Id="rId4" Type="http://schemas.openxmlformats.org/officeDocument/2006/relationships/image" Target="../media/img021_image-1-4.png"/><Relationship Id="rId5" Type="http://schemas.openxmlformats.org/officeDocument/2006/relationships/image" Target="../media/img021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g022_image-1-1.png"/><Relationship Id="rId2" Type="http://schemas.openxmlformats.org/officeDocument/2006/relationships/image" Target="../media/img022_image-1-2.png"/><Relationship Id="rId3" Type="http://schemas.openxmlformats.org/officeDocument/2006/relationships/image" Target="../media/img022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g023_image-1-1.png"/><Relationship Id="rId2" Type="http://schemas.openxmlformats.org/officeDocument/2006/relationships/image" Target="../media/img023_image-1-2.png"/><Relationship Id="rId3" Type="http://schemas.openxmlformats.org/officeDocument/2006/relationships/image" Target="../media/img023_image-1-3.png"/><Relationship Id="rId4" Type="http://schemas.openxmlformats.org/officeDocument/2006/relationships/image" Target="../media/img023_image-1-4.png"/><Relationship Id="rId5" Type="http://schemas.openxmlformats.org/officeDocument/2006/relationships/image" Target="../media/img023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g024_image-1-1.png"/><Relationship Id="rId2" Type="http://schemas.openxmlformats.org/officeDocument/2006/relationships/image" Target="../media/img024_image-1-2.png"/><Relationship Id="rId3" Type="http://schemas.openxmlformats.org/officeDocument/2006/relationships/image" Target="../media/img024_image-1-3.png"/><Relationship Id="rId4" Type="http://schemas.openxmlformats.org/officeDocument/2006/relationships/image" Target="../media/img024_image-1-4.png"/><Relationship Id="rId5" Type="http://schemas.openxmlformats.org/officeDocument/2006/relationships/image" Target="../media/img024_image-1-5.png"/><Relationship Id="rId6" Type="http://schemas.openxmlformats.org/officeDocument/2006/relationships/image" Target="../media/img024_image-1-6.png"/><Relationship Id="rId7" Type="http://schemas.openxmlformats.org/officeDocument/2006/relationships/image" Target="../media/img024_image-1-7.png"/><Relationship Id="rId8" Type="http://schemas.openxmlformats.org/officeDocument/2006/relationships/image" Target="../media/img024_image-1-8.png"/><Relationship Id="rId9" Type="http://schemas.openxmlformats.org/officeDocument/2006/relationships/image" Target="../media/img024_image-1-6.png"/><Relationship Id="rId10" Type="http://schemas.openxmlformats.org/officeDocument/2006/relationships/image" Target="../media/img024_image-1-10.png"/><Relationship Id="rId11" Type="http://schemas.openxmlformats.org/officeDocument/2006/relationships/image" Target="../media/img024_image-1-7.png"/><Relationship Id="rId12" Type="http://schemas.openxmlformats.org/officeDocument/2006/relationships/image" Target="../media/img024_image-1-8.png"/><Relationship Id="rId13" Type="http://schemas.openxmlformats.org/officeDocument/2006/relationships/image" Target="../media/img024_image-1-6.png"/><Relationship Id="rId14" Type="http://schemas.openxmlformats.org/officeDocument/2006/relationships/image" Target="../media/img024_image-1-10.png"/><Relationship Id="rId15" Type="http://schemas.openxmlformats.org/officeDocument/2006/relationships/image" Target="../media/img024_image-1-7.png"/><Relationship Id="rId16" Type="http://schemas.openxmlformats.org/officeDocument/2006/relationships/image" Target="../media/img024_image-1-6.png"/><Relationship Id="rId17" Type="http://schemas.openxmlformats.org/officeDocument/2006/relationships/image" Target="../media/img024_image-1-10.png"/><Relationship Id="rId18" Type="http://schemas.openxmlformats.org/officeDocument/2006/relationships/image" Target="../media/img024_image-1-6.png"/><Relationship Id="rId19" Type="http://schemas.openxmlformats.org/officeDocument/2006/relationships/image" Target="../media/img024_image-1-19.png"/><Relationship Id="rId20" Type="http://schemas.openxmlformats.org/officeDocument/2006/relationships/image" Target="../media/img024_image-1-7.png"/><Relationship Id="rId21" Type="http://schemas.openxmlformats.org/officeDocument/2006/relationships/image" Target="../media/img024_image-1-7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g025_image-1-1.png"/><Relationship Id="rId2" Type="http://schemas.openxmlformats.org/officeDocument/2006/relationships/image" Target="../media/img025_image-1-2.png"/><Relationship Id="rId3" Type="http://schemas.openxmlformats.org/officeDocument/2006/relationships/image" Target="../media/img025_image-1-3.png"/><Relationship Id="rId4" Type="http://schemas.openxmlformats.org/officeDocument/2006/relationships/image" Target="../media/img025_image-1-4.png"/><Relationship Id="rId5" Type="http://schemas.openxmlformats.org/officeDocument/2006/relationships/image" Target="../media/img025_image-1-2.png"/><Relationship Id="rId6" Type="http://schemas.openxmlformats.org/officeDocument/2006/relationships/image" Target="../media/img025_image-1-6.png"/><Relationship Id="rId7" Type="http://schemas.openxmlformats.org/officeDocument/2006/relationships/image" Target="../media/img025_image-1-7.png"/><Relationship Id="rId8" Type="http://schemas.openxmlformats.org/officeDocument/2006/relationships/image" Target="../media/img025_image-1-1.png"/><Relationship Id="rId9" Type="http://schemas.openxmlformats.org/officeDocument/2006/relationships/image" Target="../media/img025_image-1-2.png"/><Relationship Id="rId10" Type="http://schemas.openxmlformats.org/officeDocument/2006/relationships/image" Target="../media/img025_image-1-6.png"/><Relationship Id="rId11" Type="http://schemas.openxmlformats.org/officeDocument/2006/relationships/image" Target="../media/img025_image-1-11.png"/><Relationship Id="rId12" Type="http://schemas.openxmlformats.org/officeDocument/2006/relationships/image" Target="../media/img025_image-1-1.png"/><Relationship Id="rId13" Type="http://schemas.openxmlformats.org/officeDocument/2006/relationships/image" Target="../media/img025_image-1-2.png"/><Relationship Id="rId14" Type="http://schemas.openxmlformats.org/officeDocument/2006/relationships/image" Target="../media/img025_image-1-6.png"/><Relationship Id="rId15" Type="http://schemas.openxmlformats.org/officeDocument/2006/relationships/image" Target="../media/img025_image-1-15.png"/><Relationship Id="rId16" Type="http://schemas.openxmlformats.org/officeDocument/2006/relationships/image" Target="../media/img025_image-1-16.png"/><Relationship Id="rId17" Type="http://schemas.openxmlformats.org/officeDocument/2006/relationships/image" Target="../media/img025_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g026_image-1-1.png"/><Relationship Id="rId2" Type="http://schemas.openxmlformats.org/officeDocument/2006/relationships/image" Target="../media/img026_image-1-2.png"/><Relationship Id="rId3" Type="http://schemas.openxmlformats.org/officeDocument/2006/relationships/image" Target="../media/img026_image-1-3.png"/><Relationship Id="rId4" Type="http://schemas.openxmlformats.org/officeDocument/2006/relationships/image" Target="../media/img026_image-1-4.png"/><Relationship Id="rId5" Type="http://schemas.openxmlformats.org/officeDocument/2006/relationships/image" Target="../media/img026_image-1-2.png"/><Relationship Id="rId6" Type="http://schemas.openxmlformats.org/officeDocument/2006/relationships/image" Target="../media/img026_image-1-6.png"/><Relationship Id="rId7" Type="http://schemas.openxmlformats.org/officeDocument/2006/relationships/image" Target="../media/img026_image-1-7.png"/><Relationship Id="rId8" Type="http://schemas.openxmlformats.org/officeDocument/2006/relationships/image" Target="../media/img026_image-1-1.png"/><Relationship Id="rId9" Type="http://schemas.openxmlformats.org/officeDocument/2006/relationships/image" Target="../media/img026_image-1-2.png"/><Relationship Id="rId10" Type="http://schemas.openxmlformats.org/officeDocument/2006/relationships/image" Target="../media/img026_image-1-6.png"/><Relationship Id="rId11" Type="http://schemas.openxmlformats.org/officeDocument/2006/relationships/image" Target="../media/img026_image-1-11.png"/><Relationship Id="rId12" Type="http://schemas.openxmlformats.org/officeDocument/2006/relationships/image" Target="../media/img026_image-1-1.png"/><Relationship Id="rId13" Type="http://schemas.openxmlformats.org/officeDocument/2006/relationships/image" Target="../media/img026_image-1-2.png"/><Relationship Id="rId14" Type="http://schemas.openxmlformats.org/officeDocument/2006/relationships/image" Target="../media/img026_image-1-6.png"/><Relationship Id="rId15" Type="http://schemas.openxmlformats.org/officeDocument/2006/relationships/image" Target="../media/img026_image-1-15.png"/><Relationship Id="rId16" Type="http://schemas.openxmlformats.org/officeDocument/2006/relationships/image" Target="../media/img026_image-1-16.png"/><Relationship Id="rId17" Type="http://schemas.openxmlformats.org/officeDocument/2006/relationships/image" Target="../media/img026_image-1-17.png"/><Relationship Id="rId18" Type="http://schemas.openxmlformats.org/officeDocument/2006/relationships/image" Target="../media/img026_image-1-18.png"/><Relationship Id="rId19" Type="http://schemas.openxmlformats.org/officeDocument/2006/relationships/image" Target="../media/img026_image-1-19.png"/><Relationship Id="rId20" Type="http://schemas.openxmlformats.org/officeDocument/2006/relationships/image" Target="../media/img026_image-1-20.png"/><Relationship Id="rId21" Type="http://schemas.openxmlformats.org/officeDocument/2006/relationships/image" Target="../media/img026_image-1-21.png"/><Relationship Id="rId22" Type="http://schemas.openxmlformats.org/officeDocument/2006/relationships/image" Target="../media/img026_image-1-22.png"/><Relationship Id="rId23" Type="http://schemas.openxmlformats.org/officeDocument/2006/relationships/image" Target="../media/img026_image-1-23.png"/><Relationship Id="rId24" Type="http://schemas.openxmlformats.org/officeDocument/2006/relationships/image" Target="../media/img026_image-1-18.png"/><Relationship Id="rId25" Type="http://schemas.openxmlformats.org/officeDocument/2006/relationships/image" Target="../media/img026_image-1-19.png"/><Relationship Id="rId26" Type="http://schemas.openxmlformats.org/officeDocument/2006/relationships/image" Target="../media/img026_image-1-20.png"/><Relationship Id="rId27" Type="http://schemas.openxmlformats.org/officeDocument/2006/relationships/image" Target="../media/img026_image-1-21.png"/><Relationship Id="rId28" Type="http://schemas.openxmlformats.org/officeDocument/2006/relationships/image" Target="../media/img026_image-1-22.png"/><Relationship Id="rId29" Type="http://schemas.openxmlformats.org/officeDocument/2006/relationships/image" Target="../media/img026_image-1-29.png"/><Relationship Id="rId30" Type="http://schemas.openxmlformats.org/officeDocument/2006/relationships/image" Target="../media/img026_image-1-30.png"/><Relationship Id="rId31" Type="http://schemas.openxmlformats.org/officeDocument/2006/relationships/image" Target="../media/img026_image-1-31.png"/><Relationship Id="rId32" Type="http://schemas.openxmlformats.org/officeDocument/2006/relationships/image" Target="../media/img026_image-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g027_image-1-1.png"/><Relationship Id="rId2" Type="http://schemas.openxmlformats.org/officeDocument/2006/relationships/image" Target="../media/img027_image-1-2.png"/><Relationship Id="rId3" Type="http://schemas.openxmlformats.org/officeDocument/2006/relationships/image" Target="../media/img027_image-1-3.png"/><Relationship Id="rId4" Type="http://schemas.openxmlformats.org/officeDocument/2006/relationships/image" Target="../media/img027_image-1-4.png"/><Relationship Id="rId5" Type="http://schemas.openxmlformats.org/officeDocument/2006/relationships/image" Target="../media/img027_image-1-5.png"/><Relationship Id="rId6" Type="http://schemas.openxmlformats.org/officeDocument/2006/relationships/image" Target="../media/img027_image-1-6.png"/><Relationship Id="rId7" Type="http://schemas.openxmlformats.org/officeDocument/2006/relationships/image" Target="../media/img027_image-1-7.png"/><Relationship Id="rId8" Type="http://schemas.openxmlformats.org/officeDocument/2006/relationships/image" Target="../media/img027_image-1-8.png"/><Relationship Id="rId9" Type="http://schemas.openxmlformats.org/officeDocument/2006/relationships/image" Target="../media/img027_image-1-9.png"/><Relationship Id="rId10" Type="http://schemas.openxmlformats.org/officeDocument/2006/relationships/image" Target="../media/img027_image-1-10.png"/><Relationship Id="rId11" Type="http://schemas.openxmlformats.org/officeDocument/2006/relationships/image" Target="../media/img027_image-1-11.png"/><Relationship Id="rId12" Type="http://schemas.openxmlformats.org/officeDocument/2006/relationships/image" Target="../media/img027_image-1-12.png"/><Relationship Id="rId13" Type="http://schemas.openxmlformats.org/officeDocument/2006/relationships/image" Target="../media/img027_image-1-13.png"/><Relationship Id="rId14" Type="http://schemas.openxmlformats.org/officeDocument/2006/relationships/image" Target="../media/img027_image-1-14.png"/><Relationship Id="rId15" Type="http://schemas.openxmlformats.org/officeDocument/2006/relationships/image" Target="../media/img027_image-1-15.png"/><Relationship Id="rId16" Type="http://schemas.openxmlformats.org/officeDocument/2006/relationships/image" Target="../media/img027_image-1-16.png"/><Relationship Id="rId17" Type="http://schemas.openxmlformats.org/officeDocument/2006/relationships/image" Target="../media/img027_image-1-17.png"/><Relationship Id="rId18" Type="http://schemas.openxmlformats.org/officeDocument/2006/relationships/image" Target="../media/img027_image-1-18.png"/><Relationship Id="rId19" Type="http://schemas.openxmlformats.org/officeDocument/2006/relationships/image" Target="../media/img027_image-1-19.png"/><Relationship Id="rId20" Type="http://schemas.openxmlformats.org/officeDocument/2006/relationships/image" Target="../media/img027_image-1-20.png"/><Relationship Id="rId21" Type="http://schemas.openxmlformats.org/officeDocument/2006/relationships/image" Target="../media/img027_image-1-21.png"/><Relationship Id="rId22" Type="http://schemas.openxmlformats.org/officeDocument/2006/relationships/image" Target="../media/img027_image-1-22.png"/><Relationship Id="rId23" Type="http://schemas.openxmlformats.org/officeDocument/2006/relationships/image" Target="../media/img027_image-1-23.png"/><Relationship Id="rId24" Type="http://schemas.openxmlformats.org/officeDocument/2006/relationships/image" Target="../media/img027_image-1-24.png"/><Relationship Id="rId25" Type="http://schemas.openxmlformats.org/officeDocument/2006/relationships/image" Target="../media/img027_image-1-25.png"/><Relationship Id="rId26" Type="http://schemas.openxmlformats.org/officeDocument/2006/relationships/image" Target="../media/img027_image-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g028_image-1-1.png"/><Relationship Id="rId2" Type="http://schemas.openxmlformats.org/officeDocument/2006/relationships/image" Target="../media/img028_image-1-1.png"/><Relationship Id="rId3" Type="http://schemas.openxmlformats.org/officeDocument/2006/relationships/image" Target="../media/img028_image-1-3.png"/><Relationship Id="rId4" Type="http://schemas.openxmlformats.org/officeDocument/2006/relationships/image" Target="../media/img028_image-1-4.png"/><Relationship Id="rId5" Type="http://schemas.openxmlformats.org/officeDocument/2006/relationships/image" Target="../media/img028_image-1-5.png"/><Relationship Id="rId6" Type="http://schemas.openxmlformats.org/officeDocument/2006/relationships/image" Target="../media/img028_image-1-5.png"/><Relationship Id="rId7" Type="http://schemas.openxmlformats.org/officeDocument/2006/relationships/image" Target="../media/img028_image-1-7.png"/><Relationship Id="rId8" Type="http://schemas.openxmlformats.org/officeDocument/2006/relationships/image" Target="../media/img028_image-1-8.png"/><Relationship Id="rId9" Type="http://schemas.openxmlformats.org/officeDocument/2006/relationships/image" Target="../media/img028_image-1-9.png"/><Relationship Id="rId10" Type="http://schemas.openxmlformats.org/officeDocument/2006/relationships/image" Target="../media/img028_image-1-10.png"/><Relationship Id="rId11" Type="http://schemas.openxmlformats.org/officeDocument/2006/relationships/image" Target="../media/img028_image-1-11.png"/><Relationship Id="rId12" Type="http://schemas.openxmlformats.org/officeDocument/2006/relationships/image" Target="../media/img028_image-1-11.png"/><Relationship Id="rId13" Type="http://schemas.openxmlformats.org/officeDocument/2006/relationships/image" Target="../media/img028_image-1-11.png"/><Relationship Id="rId14" Type="http://schemas.openxmlformats.org/officeDocument/2006/relationships/image" Target="../media/img028_image-1-11.png"/><Relationship Id="rId15" Type="http://schemas.openxmlformats.org/officeDocument/2006/relationships/image" Target="../media/img028_image-1-15.png"/><Relationship Id="rId16" Type="http://schemas.openxmlformats.org/officeDocument/2006/relationships/image" Target="../media/img028_image-1-15.png"/><Relationship Id="rId17" Type="http://schemas.openxmlformats.org/officeDocument/2006/relationships/image" Target="../media/img028_image-1-17.png"/><Relationship Id="rId18" Type="http://schemas.openxmlformats.org/officeDocument/2006/relationships/image" Target="../media/img028_image-1-17.png"/><Relationship Id="rId19" Type="http://schemas.openxmlformats.org/officeDocument/2006/relationships/image" Target="../media/img028_image-1-17.png"/><Relationship Id="rId20" Type="http://schemas.openxmlformats.org/officeDocument/2006/relationships/image" Target="../media/img028_image-1-15.png"/><Relationship Id="rId21" Type="http://schemas.openxmlformats.org/officeDocument/2006/relationships/image" Target="../media/img028_image-1-15.png"/><Relationship Id="rId22" Type="http://schemas.openxmlformats.org/officeDocument/2006/relationships/image" Target="../media/img028_image-1-17.png"/><Relationship Id="rId23" Type="http://schemas.openxmlformats.org/officeDocument/2006/relationships/image" Target="../media/img028_image-1-23.png"/><Relationship Id="rId24" Type="http://schemas.openxmlformats.org/officeDocument/2006/relationships/image" Target="../media/img028_image-1-24.png"/><Relationship Id="rId25" Type="http://schemas.openxmlformats.org/officeDocument/2006/relationships/image" Target="../media/img028_image-1-23.png"/><Relationship Id="rId26" Type="http://schemas.openxmlformats.org/officeDocument/2006/relationships/image" Target="../media/img028_image-1-24.png"/><Relationship Id="rId27" Type="http://schemas.openxmlformats.org/officeDocument/2006/relationships/image" Target="../media/img028_image-1-23.png"/><Relationship Id="rId28" Type="http://schemas.openxmlformats.org/officeDocument/2006/relationships/image" Target="../media/img028_image-1-24.png"/><Relationship Id="rId29" Type="http://schemas.openxmlformats.org/officeDocument/2006/relationships/image" Target="../media/img028_image-1-23.png"/><Relationship Id="rId30" Type="http://schemas.openxmlformats.org/officeDocument/2006/relationships/image" Target="../media/img028_image-1-24.png"/><Relationship Id="rId31" Type="http://schemas.openxmlformats.org/officeDocument/2006/relationships/image" Target="../media/img028_image-1-31.png"/><Relationship Id="rId32" Type="http://schemas.openxmlformats.org/officeDocument/2006/relationships/image" Target="../media/img028_image-1-32.png"/><Relationship Id="rId33" Type="http://schemas.openxmlformats.org/officeDocument/2006/relationships/image" Target="../media/img028_image-1-33.png"/><Relationship Id="rId34" Type="http://schemas.openxmlformats.org/officeDocument/2006/relationships/image" Target="../media/img028_image-1-34.png"/><Relationship Id="rId35" Type="http://schemas.openxmlformats.org/officeDocument/2006/relationships/image" Target="../media/img028_image-1-35.png"/><Relationship Id="rId36" Type="http://schemas.openxmlformats.org/officeDocument/2006/relationships/image" Target="../media/img028_image-1-35.png"/><Relationship Id="rId37" Type="http://schemas.openxmlformats.org/officeDocument/2006/relationships/image" Target="../media/img028_image-1-35.png"/><Relationship Id="rId38" Type="http://schemas.openxmlformats.org/officeDocument/2006/relationships/image" Target="../media/img028_image-1-35.png"/><Relationship Id="rId39" Type="http://schemas.openxmlformats.org/officeDocument/2006/relationships/image" Target="../media/img028_image-1-39.png"/><Relationship Id="rId40" Type="http://schemas.openxmlformats.org/officeDocument/2006/relationships/image" Target="../media/img028_image-1-40.png"/><Relationship Id="rId41" Type="http://schemas.openxmlformats.org/officeDocument/2006/relationships/image" Target="../media/img028_image-1-41.png"/><Relationship Id="rId42" Type="http://schemas.openxmlformats.org/officeDocument/2006/relationships/image" Target="../media/img028_image-1-42.png"/><Relationship Id="rId43" Type="http://schemas.openxmlformats.org/officeDocument/2006/relationships/image" Target="../media/img028_image-1-43.png"/><Relationship Id="rId44" Type="http://schemas.openxmlformats.org/officeDocument/2006/relationships/image" Target="../media/img028_image-1-11.png"/><Relationship Id="rId45" Type="http://schemas.openxmlformats.org/officeDocument/2006/relationships/image" Target="../media/img028_image-1-45.png"/><Relationship Id="rId46" Type="http://schemas.openxmlformats.org/officeDocument/2006/relationships/image" Target="../media/img028_image-1-46.png"/><Relationship Id="rId47" Type="http://schemas.openxmlformats.org/officeDocument/2006/relationships/image" Target="../media/img028_image-1-47.png"/><Relationship Id="rId48" Type="http://schemas.openxmlformats.org/officeDocument/2006/relationships/image" Target="../media/img028_image-1-48.png"/><Relationship Id="rId49" Type="http://schemas.openxmlformats.org/officeDocument/2006/relationships/image" Target="../media/img028_image-1-49.png"/><Relationship Id="rId50" Type="http://schemas.openxmlformats.org/officeDocument/2006/relationships/image" Target="../media/img028_image-1-50.png"/><Relationship Id="rId51" Type="http://schemas.openxmlformats.org/officeDocument/2006/relationships/image" Target="../media/img028_image-1-51.png"/><Relationship Id="rId52" Type="http://schemas.openxmlformats.org/officeDocument/2006/relationships/image" Target="../media/img028_image-1-52.png"/><Relationship Id="rId53" Type="http://schemas.openxmlformats.org/officeDocument/2006/relationships/image" Target="../media/img028_image-1-53.png"/><Relationship Id="rId54" Type="http://schemas.openxmlformats.org/officeDocument/2006/relationships/image" Target="../media/img028_image-1-54.png"/><Relationship Id="rId55" Type="http://schemas.openxmlformats.org/officeDocument/2006/relationships/image" Target="../media/img028_image-1-55.png"/><Relationship Id="rId56" Type="http://schemas.openxmlformats.org/officeDocument/2006/relationships/image" Target="../media/img028_image-1-56.png"/><Relationship Id="rId57" Type="http://schemas.openxmlformats.org/officeDocument/2006/relationships/image" Target="../media/img028_image-1-57.png"/><Relationship Id="rId58" Type="http://schemas.openxmlformats.org/officeDocument/2006/relationships/image" Target="../media/img028_image-1-58.png"/><Relationship Id="rId59" Type="http://schemas.openxmlformats.org/officeDocument/2006/relationships/image" Target="../media/img028_image-1-59.png"/><Relationship Id="rId60" Type="http://schemas.openxmlformats.org/officeDocument/2006/relationships/image" Target="../media/img028_image-1-60.png"/><Relationship Id="rId61" Type="http://schemas.openxmlformats.org/officeDocument/2006/relationships/image" Target="../media/img028_image-1-61.png"/><Relationship Id="rId62" Type="http://schemas.openxmlformats.org/officeDocument/2006/relationships/image" Target="../media/img028_image-1-62.png"/><Relationship Id="rId63" Type="http://schemas.openxmlformats.org/officeDocument/2006/relationships/slideLayout" Target="../slideLayouts/slideLayout1.xml"/><Relationship Id="rId6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g029_image-1-1.png"/><Relationship Id="rId2" Type="http://schemas.openxmlformats.org/officeDocument/2006/relationships/image" Target="../media/img029_image-1-1.png"/><Relationship Id="rId3" Type="http://schemas.openxmlformats.org/officeDocument/2006/relationships/image" Target="../media/img029_image-1-3.png"/><Relationship Id="rId4" Type="http://schemas.openxmlformats.org/officeDocument/2006/relationships/image" Target="../media/img029_image-1-4.png"/><Relationship Id="rId5" Type="http://schemas.openxmlformats.org/officeDocument/2006/relationships/image" Target="../media/img029_image-1-5.png"/><Relationship Id="rId6" Type="http://schemas.openxmlformats.org/officeDocument/2006/relationships/image" Target="../media/img029_image-1-5.png"/><Relationship Id="rId7" Type="http://schemas.openxmlformats.org/officeDocument/2006/relationships/image" Target="../media/img029_image-1-7.png"/><Relationship Id="rId8" Type="http://schemas.openxmlformats.org/officeDocument/2006/relationships/image" Target="../media/img029_image-1-8.png"/><Relationship Id="rId9" Type="http://schemas.openxmlformats.org/officeDocument/2006/relationships/image" Target="../media/img029_image-1-9.png"/><Relationship Id="rId10" Type="http://schemas.openxmlformats.org/officeDocument/2006/relationships/image" Target="../media/img029_image-1-10.png"/><Relationship Id="rId11" Type="http://schemas.openxmlformats.org/officeDocument/2006/relationships/image" Target="../media/img029_image-1-11.png"/><Relationship Id="rId12" Type="http://schemas.openxmlformats.org/officeDocument/2006/relationships/image" Target="../media/img029_image-1-11.png"/><Relationship Id="rId13" Type="http://schemas.openxmlformats.org/officeDocument/2006/relationships/image" Target="../media/img029_image-1-11.png"/><Relationship Id="rId14" Type="http://schemas.openxmlformats.org/officeDocument/2006/relationships/image" Target="../media/img029_image-1-11.png"/><Relationship Id="rId15" Type="http://schemas.openxmlformats.org/officeDocument/2006/relationships/image" Target="../media/img029_image-1-15.png"/><Relationship Id="rId16" Type="http://schemas.openxmlformats.org/officeDocument/2006/relationships/image" Target="../media/img029_image-1-15.png"/><Relationship Id="rId17" Type="http://schemas.openxmlformats.org/officeDocument/2006/relationships/image" Target="../media/img029_image-1-17.png"/><Relationship Id="rId18" Type="http://schemas.openxmlformats.org/officeDocument/2006/relationships/image" Target="../media/img029_image-1-17.png"/><Relationship Id="rId19" Type="http://schemas.openxmlformats.org/officeDocument/2006/relationships/image" Target="../media/img029_image-1-17.png"/><Relationship Id="rId20" Type="http://schemas.openxmlformats.org/officeDocument/2006/relationships/image" Target="../media/img029_image-1-15.png"/><Relationship Id="rId21" Type="http://schemas.openxmlformats.org/officeDocument/2006/relationships/image" Target="../media/img029_image-1-15.png"/><Relationship Id="rId22" Type="http://schemas.openxmlformats.org/officeDocument/2006/relationships/image" Target="../media/img029_image-1-17.png"/><Relationship Id="rId23" Type="http://schemas.openxmlformats.org/officeDocument/2006/relationships/image" Target="../media/img029_image-1-23.png"/><Relationship Id="rId24" Type="http://schemas.openxmlformats.org/officeDocument/2006/relationships/image" Target="../media/img029_image-1-24.png"/><Relationship Id="rId25" Type="http://schemas.openxmlformats.org/officeDocument/2006/relationships/image" Target="../media/img029_image-1-23.png"/><Relationship Id="rId26" Type="http://schemas.openxmlformats.org/officeDocument/2006/relationships/image" Target="../media/img029_image-1-24.png"/><Relationship Id="rId27" Type="http://schemas.openxmlformats.org/officeDocument/2006/relationships/image" Target="../media/img029_image-1-23.png"/><Relationship Id="rId28" Type="http://schemas.openxmlformats.org/officeDocument/2006/relationships/image" Target="../media/img029_image-1-24.png"/><Relationship Id="rId29" Type="http://schemas.openxmlformats.org/officeDocument/2006/relationships/image" Target="../media/img029_image-1-23.png"/><Relationship Id="rId30" Type="http://schemas.openxmlformats.org/officeDocument/2006/relationships/image" Target="../media/img029_image-1-24.png"/><Relationship Id="rId31" Type="http://schemas.openxmlformats.org/officeDocument/2006/relationships/image" Target="../media/img029_image-1-31.png"/><Relationship Id="rId32" Type="http://schemas.openxmlformats.org/officeDocument/2006/relationships/image" Target="../media/img029_image-1-32.png"/><Relationship Id="rId33" Type="http://schemas.openxmlformats.org/officeDocument/2006/relationships/image" Target="../media/img029_image-1-33.png"/><Relationship Id="rId34" Type="http://schemas.openxmlformats.org/officeDocument/2006/relationships/image" Target="../media/img029_image-1-34.png"/><Relationship Id="rId35" Type="http://schemas.openxmlformats.org/officeDocument/2006/relationships/image" Target="../media/img029_image-1-35.png"/><Relationship Id="rId36" Type="http://schemas.openxmlformats.org/officeDocument/2006/relationships/image" Target="../media/img029_image-1-35.png"/><Relationship Id="rId37" Type="http://schemas.openxmlformats.org/officeDocument/2006/relationships/image" Target="../media/img029_image-1-35.png"/><Relationship Id="rId38" Type="http://schemas.openxmlformats.org/officeDocument/2006/relationships/image" Target="../media/img029_image-1-35.png"/><Relationship Id="rId39" Type="http://schemas.openxmlformats.org/officeDocument/2006/relationships/image" Target="../media/img029_image-1-39.png"/><Relationship Id="rId40" Type="http://schemas.openxmlformats.org/officeDocument/2006/relationships/image" Target="../media/img029_image-1-40.png"/><Relationship Id="rId41" Type="http://schemas.openxmlformats.org/officeDocument/2006/relationships/image" Target="../media/img029_image-1-41.png"/><Relationship Id="rId42" Type="http://schemas.openxmlformats.org/officeDocument/2006/relationships/image" Target="../media/img029_image-1-42.png"/><Relationship Id="rId43" Type="http://schemas.openxmlformats.org/officeDocument/2006/relationships/image" Target="../media/img029_image-1-43.png"/><Relationship Id="rId44" Type="http://schemas.openxmlformats.org/officeDocument/2006/relationships/image" Target="../media/img029_image-1-11.png"/><Relationship Id="rId45" Type="http://schemas.openxmlformats.org/officeDocument/2006/relationships/image" Target="../media/img029_image-1-45.png"/><Relationship Id="rId46" Type="http://schemas.openxmlformats.org/officeDocument/2006/relationships/image" Target="../media/img029_image-1-46.png"/><Relationship Id="rId47" Type="http://schemas.openxmlformats.org/officeDocument/2006/relationships/image" Target="../media/img029_image-1-47.png"/><Relationship Id="rId48" Type="http://schemas.openxmlformats.org/officeDocument/2006/relationships/image" Target="../media/img029_image-1-48.png"/><Relationship Id="rId49" Type="http://schemas.openxmlformats.org/officeDocument/2006/relationships/image" Target="../media/img029_image-1-49.png"/><Relationship Id="rId50" Type="http://schemas.openxmlformats.org/officeDocument/2006/relationships/image" Target="../media/img029_image-1-50.png"/><Relationship Id="rId51" Type="http://schemas.openxmlformats.org/officeDocument/2006/relationships/image" Target="../media/img029_image-1-51.png"/><Relationship Id="rId52" Type="http://schemas.openxmlformats.org/officeDocument/2006/relationships/image" Target="../media/img029_image-1-52.png"/><Relationship Id="rId53" Type="http://schemas.openxmlformats.org/officeDocument/2006/relationships/image" Target="../media/img029_image-1-53.png"/><Relationship Id="rId54" Type="http://schemas.openxmlformats.org/officeDocument/2006/relationships/image" Target="../media/img029_image-1-54.png"/><Relationship Id="rId55" Type="http://schemas.openxmlformats.org/officeDocument/2006/relationships/image" Target="../media/img029_image-1-55.png"/><Relationship Id="rId56" Type="http://schemas.openxmlformats.org/officeDocument/2006/relationships/image" Target="../media/img029_image-1-56.png"/><Relationship Id="rId57" Type="http://schemas.openxmlformats.org/officeDocument/2006/relationships/image" Target="../media/img029_image-1-57.png"/><Relationship Id="rId58" Type="http://schemas.openxmlformats.org/officeDocument/2006/relationships/image" Target="../media/img029_image-1-58.png"/><Relationship Id="rId59" Type="http://schemas.openxmlformats.org/officeDocument/2006/relationships/image" Target="../media/img029_image-1-59.png"/><Relationship Id="rId60" Type="http://schemas.openxmlformats.org/officeDocument/2006/relationships/image" Target="../media/img029_image-1-60.png"/><Relationship Id="rId61" Type="http://schemas.openxmlformats.org/officeDocument/2006/relationships/image" Target="../media/img029_image-1-61.png"/><Relationship Id="rId62" Type="http://schemas.openxmlformats.org/officeDocument/2006/relationships/image" Target="../media/img029_image-1-62.png"/><Relationship Id="rId63" Type="http://schemas.openxmlformats.org/officeDocument/2006/relationships/image" Target="../media/img029_image-1-63.png"/><Relationship Id="rId64" Type="http://schemas.openxmlformats.org/officeDocument/2006/relationships/image" Target="../media/img029_image-1-1.png"/><Relationship Id="rId65" Type="http://schemas.openxmlformats.org/officeDocument/2006/relationships/image" Target="../media/img029_image-1-3.png"/><Relationship Id="rId66" Type="http://schemas.openxmlformats.org/officeDocument/2006/relationships/image" Target="../media/img029_image-1-1.png"/><Relationship Id="rId67" Type="http://schemas.openxmlformats.org/officeDocument/2006/relationships/image" Target="../media/img029_image-1-4.png"/><Relationship Id="rId68" Type="http://schemas.openxmlformats.org/officeDocument/2006/relationships/image" Target="../media/img029_image-1-5.png"/><Relationship Id="rId69" Type="http://schemas.openxmlformats.org/officeDocument/2006/relationships/image" Target="../media/img029_image-1-5.png"/><Relationship Id="rId70" Type="http://schemas.openxmlformats.org/officeDocument/2006/relationships/image" Target="../media/img029_image-1-5.png"/><Relationship Id="rId71" Type="http://schemas.openxmlformats.org/officeDocument/2006/relationships/image" Target="../media/img029_image-1-71.png"/><Relationship Id="rId72" Type="http://schemas.openxmlformats.org/officeDocument/2006/relationships/image" Target="../media/img029_image-1-72.png"/><Relationship Id="rId73" Type="http://schemas.openxmlformats.org/officeDocument/2006/relationships/image" Target="../media/img029_image-1-63.png"/><Relationship Id="rId74" Type="http://schemas.openxmlformats.org/officeDocument/2006/relationships/image" Target="../media/img029_image-1-15.png"/><Relationship Id="rId75" Type="http://schemas.openxmlformats.org/officeDocument/2006/relationships/image" Target="../media/img029_image-1-15.png"/><Relationship Id="rId76" Type="http://schemas.openxmlformats.org/officeDocument/2006/relationships/image" Target="../media/img029_image-1-63.png"/><Relationship Id="rId77" Type="http://schemas.openxmlformats.org/officeDocument/2006/relationships/image" Target="../media/img029_image-1-17.png"/><Relationship Id="rId78" Type="http://schemas.openxmlformats.org/officeDocument/2006/relationships/image" Target="../media/img029_image-1-17.png"/><Relationship Id="rId79" Type="http://schemas.openxmlformats.org/officeDocument/2006/relationships/image" Target="../media/img029_image-1-63.png"/><Relationship Id="rId80" Type="http://schemas.openxmlformats.org/officeDocument/2006/relationships/image" Target="../media/img029_image-1-17.png"/><Relationship Id="rId81" Type="http://schemas.openxmlformats.org/officeDocument/2006/relationships/image" Target="../media/img029_image-1-15.png"/><Relationship Id="rId82" Type="http://schemas.openxmlformats.org/officeDocument/2006/relationships/image" Target="../media/img029_image-1-63.png"/><Relationship Id="rId83" Type="http://schemas.openxmlformats.org/officeDocument/2006/relationships/image" Target="../media/img029_image-1-15.png"/><Relationship Id="rId84" Type="http://schemas.openxmlformats.org/officeDocument/2006/relationships/image" Target="../media/img029_image-1-17.png"/><Relationship Id="rId85" Type="http://schemas.openxmlformats.org/officeDocument/2006/relationships/image" Target="../media/img029_image-1-7.png"/><Relationship Id="rId86" Type="http://schemas.openxmlformats.org/officeDocument/2006/relationships/image" Target="../media/img029_image-1-8.png"/><Relationship Id="rId87" Type="http://schemas.openxmlformats.org/officeDocument/2006/relationships/image" Target="../media/img029_image-1-9.png"/><Relationship Id="rId88" Type="http://schemas.openxmlformats.org/officeDocument/2006/relationships/image" Target="../media/img029_image-1-10.png"/><Relationship Id="rId89" Type="http://schemas.openxmlformats.org/officeDocument/2006/relationships/image" Target="../media/img029_image-1-11.png"/><Relationship Id="rId90" Type="http://schemas.openxmlformats.org/officeDocument/2006/relationships/image" Target="../media/img029_image-1-11.png"/><Relationship Id="rId91" Type="http://schemas.openxmlformats.org/officeDocument/2006/relationships/image" Target="../media/img029_image-1-11.png"/><Relationship Id="rId92" Type="http://schemas.openxmlformats.org/officeDocument/2006/relationships/image" Target="../media/img029_image-1-11.png"/><Relationship Id="rId93" Type="http://schemas.openxmlformats.org/officeDocument/2006/relationships/image" Target="../media/img029_image-1-31.png"/><Relationship Id="rId94" Type="http://schemas.openxmlformats.org/officeDocument/2006/relationships/image" Target="../media/img029_image-1-32.png"/><Relationship Id="rId95" Type="http://schemas.openxmlformats.org/officeDocument/2006/relationships/image" Target="../media/img029_image-1-33.png"/><Relationship Id="rId96" Type="http://schemas.openxmlformats.org/officeDocument/2006/relationships/image" Target="../media/img029_image-1-34.png"/><Relationship Id="rId97" Type="http://schemas.openxmlformats.org/officeDocument/2006/relationships/image" Target="../media/img029_image-1-35.png"/><Relationship Id="rId98" Type="http://schemas.openxmlformats.org/officeDocument/2006/relationships/image" Target="../media/img029_image-1-35.png"/><Relationship Id="rId99" Type="http://schemas.openxmlformats.org/officeDocument/2006/relationships/image" Target="../media/img029_image-1-35.png"/><Relationship Id="rId100" Type="http://schemas.openxmlformats.org/officeDocument/2006/relationships/image" Target="../media/img029_image-1-35.png"/><Relationship Id="rId101" Type="http://schemas.openxmlformats.org/officeDocument/2006/relationships/image" Target="../media/img029_image-1-39.png"/><Relationship Id="rId102" Type="http://schemas.openxmlformats.org/officeDocument/2006/relationships/image" Target="../media/img029_image-1-40.png"/><Relationship Id="rId103" Type="http://schemas.openxmlformats.org/officeDocument/2006/relationships/image" Target="../media/img029_image-1-41.png"/><Relationship Id="rId104" Type="http://schemas.openxmlformats.org/officeDocument/2006/relationships/image" Target="../media/img029_image-1-42.png"/><Relationship Id="rId105" Type="http://schemas.openxmlformats.org/officeDocument/2006/relationships/image" Target="../media/img029_image-1-105.png"/><Relationship Id="rId106" Type="http://schemas.openxmlformats.org/officeDocument/2006/relationships/image" Target="../media/img029_image-1-106.png"/><Relationship Id="rId107" Type="http://schemas.openxmlformats.org/officeDocument/2006/relationships/image" Target="../media/img029_image-1-107.png"/><Relationship Id="rId108" Type="http://schemas.openxmlformats.org/officeDocument/2006/relationships/image" Target="../media/img029_image-1-108.png"/><Relationship Id="rId109" Type="http://schemas.openxmlformats.org/officeDocument/2006/relationships/image" Target="../media/img029_image-1-39.png"/><Relationship Id="rId110" Type="http://schemas.openxmlformats.org/officeDocument/2006/relationships/image" Target="../media/img029_image-1-40.png"/><Relationship Id="rId111" Type="http://schemas.openxmlformats.org/officeDocument/2006/relationships/image" Target="../media/img029_image-1-41.png"/><Relationship Id="rId112" Type="http://schemas.openxmlformats.org/officeDocument/2006/relationships/image" Target="../media/img029_image-1-42.png"/><Relationship Id="rId113" Type="http://schemas.openxmlformats.org/officeDocument/2006/relationships/image" Target="../media/img029_image-1-113.png"/><Relationship Id="rId114" Type="http://schemas.openxmlformats.org/officeDocument/2006/relationships/image" Target="../media/img029_image-1-114.png"/><Relationship Id="rId115" Type="http://schemas.openxmlformats.org/officeDocument/2006/relationships/image" Target="../media/img029_image-1-115.png"/><Relationship Id="rId116" Type="http://schemas.openxmlformats.org/officeDocument/2006/relationships/image" Target="../media/img029_image-1-116.png"/><Relationship Id="rId117" Type="http://schemas.openxmlformats.org/officeDocument/2006/relationships/image" Target="../media/img029_image-1-63.png"/><Relationship Id="rId118" Type="http://schemas.openxmlformats.org/officeDocument/2006/relationships/image" Target="../media/img029_image-1-118.png"/><Relationship Id="rId119" Type="http://schemas.openxmlformats.org/officeDocument/2006/relationships/image" Target="../media/img029_image-1-118.png"/><Relationship Id="rId120" Type="http://schemas.openxmlformats.org/officeDocument/2006/relationships/image" Target="../media/img029_image-1-63.png"/><Relationship Id="rId121" Type="http://schemas.openxmlformats.org/officeDocument/2006/relationships/image" Target="../media/img029_image-1-121.png"/><Relationship Id="rId122" Type="http://schemas.openxmlformats.org/officeDocument/2006/relationships/image" Target="../media/img029_image-1-121.png"/><Relationship Id="rId123" Type="http://schemas.openxmlformats.org/officeDocument/2006/relationships/image" Target="../media/img029_image-1-63.png"/><Relationship Id="rId124" Type="http://schemas.openxmlformats.org/officeDocument/2006/relationships/image" Target="../media/img029_image-1-121.png"/><Relationship Id="rId125" Type="http://schemas.openxmlformats.org/officeDocument/2006/relationships/image" Target="../media/img029_image-1-118.png"/><Relationship Id="rId126" Type="http://schemas.openxmlformats.org/officeDocument/2006/relationships/image" Target="../media/img029_image-1-63.png"/><Relationship Id="rId127" Type="http://schemas.openxmlformats.org/officeDocument/2006/relationships/image" Target="../media/img029_image-1-118.png"/><Relationship Id="rId128" Type="http://schemas.openxmlformats.org/officeDocument/2006/relationships/image" Target="../media/img029_image-1-121.png"/><Relationship Id="rId129" Type="http://schemas.openxmlformats.org/officeDocument/2006/relationships/image" Target="../media/img029_image-1-129.png"/><Relationship Id="rId130" Type="http://schemas.openxmlformats.org/officeDocument/2006/relationships/image" Target="../media/img029_image-1-130.png"/><Relationship Id="rId131" Type="http://schemas.openxmlformats.org/officeDocument/2006/relationships/image" Target="../media/img029_image-1-131.png"/><Relationship Id="rId132" Type="http://schemas.openxmlformats.org/officeDocument/2006/relationships/image" Target="../media/img029_image-1-116.png"/><Relationship Id="rId133" Type="http://schemas.openxmlformats.org/officeDocument/2006/relationships/image" Target="../media/img029_image-1-63.png"/><Relationship Id="rId134" Type="http://schemas.openxmlformats.org/officeDocument/2006/relationships/image" Target="../media/img029_image-1-63.png"/><Relationship Id="rId135" Type="http://schemas.openxmlformats.org/officeDocument/2006/relationships/image" Target="../media/img029_image-1-63.png"/><Relationship Id="rId136" Type="http://schemas.openxmlformats.org/officeDocument/2006/relationships/image" Target="../media/img029_image-1-63.png"/><Relationship Id="rId137" Type="http://schemas.openxmlformats.org/officeDocument/2006/relationships/image" Target="../media/img029_image-1-118.png"/><Relationship Id="rId138" Type="http://schemas.openxmlformats.org/officeDocument/2006/relationships/image" Target="../media/img029_image-1-121.png"/><Relationship Id="rId139" Type="http://schemas.openxmlformats.org/officeDocument/2006/relationships/image" Target="../media/img029_image-1-121.png"/><Relationship Id="rId140" Type="http://schemas.openxmlformats.org/officeDocument/2006/relationships/image" Target="../media/img029_image-1-118.png"/><Relationship Id="rId141" Type="http://schemas.openxmlformats.org/officeDocument/2006/relationships/image" Target="../media/img029_image-1-118.png"/><Relationship Id="rId142" Type="http://schemas.openxmlformats.org/officeDocument/2006/relationships/image" Target="../media/img029_image-1-121.png"/><Relationship Id="rId143" Type="http://schemas.openxmlformats.org/officeDocument/2006/relationships/image" Target="../media/img029_image-1-118.png"/><Relationship Id="rId144" Type="http://schemas.openxmlformats.org/officeDocument/2006/relationships/image" Target="../media/img029_image-1-121.png"/><Relationship Id="rId145" Type="http://schemas.openxmlformats.org/officeDocument/2006/relationships/image" Target="../media/img029_image-1-145.png"/><Relationship Id="rId146" Type="http://schemas.openxmlformats.org/officeDocument/2006/relationships/image" Target="../media/img029_image-1-146.png"/><Relationship Id="rId147" Type="http://schemas.openxmlformats.org/officeDocument/2006/relationships/image" Target="../media/img029_image-1-115.png"/><Relationship Id="rId148" Type="http://schemas.openxmlformats.org/officeDocument/2006/relationships/image" Target="../media/img029_image-1-148.png"/><Relationship Id="rId149" Type="http://schemas.openxmlformats.org/officeDocument/2006/relationships/image" Target="../media/img029_image-1-115.png"/><Relationship Id="rId150" Type="http://schemas.openxmlformats.org/officeDocument/2006/relationships/image" Target="../media/img029_image-1-116.png"/><Relationship Id="rId151" Type="http://schemas.openxmlformats.org/officeDocument/2006/relationships/image" Target="../media/img029_image-1-151.png"/><Relationship Id="rId152" Type="http://schemas.openxmlformats.org/officeDocument/2006/relationships/image" Target="../media/img029_image-1-152.png"/><Relationship Id="rId153" Type="http://schemas.openxmlformats.org/officeDocument/2006/relationships/image" Target="../media/img029_image-1-152.png"/><Relationship Id="rId154" Type="http://schemas.openxmlformats.org/officeDocument/2006/relationships/image" Target="../media/img029_image-1-152.png"/><Relationship Id="rId155" Type="http://schemas.openxmlformats.org/officeDocument/2006/relationships/image" Target="../media/img029_image-1-155.png"/><Relationship Id="rId156" Type="http://schemas.openxmlformats.org/officeDocument/2006/relationships/image" Target="../media/img029_image-1-156.png"/><Relationship Id="rId157" Type="http://schemas.openxmlformats.org/officeDocument/2006/relationships/image" Target="../media/img029_image-1-152.png"/><Relationship Id="rId158" Type="http://schemas.openxmlformats.org/officeDocument/2006/relationships/image" Target="../media/img029_image-1-156.png"/><Relationship Id="rId159" Type="http://schemas.openxmlformats.org/officeDocument/2006/relationships/image" Target="../media/img029_image-1-155.png"/><Relationship Id="rId160" Type="http://schemas.openxmlformats.org/officeDocument/2006/relationships/image" Target="../media/img029_image-1-160.png"/><Relationship Id="rId161" Type="http://schemas.openxmlformats.org/officeDocument/2006/relationships/image" Target="../media/img029_image-1-115.png"/><Relationship Id="rId162" Type="http://schemas.openxmlformats.org/officeDocument/2006/relationships/image" Target="../media/img029_image-1-162.png"/><Relationship Id="rId163" Type="http://schemas.openxmlformats.org/officeDocument/2006/relationships/image" Target="../media/img029_image-1-115.png"/><Relationship Id="rId164" Type="http://schemas.openxmlformats.org/officeDocument/2006/relationships/image" Target="../media/img029_image-1-164.png"/><Relationship Id="rId165" Type="http://schemas.openxmlformats.org/officeDocument/2006/relationships/image" Target="../media/img029_image-1-165.png"/><Relationship Id="rId166" Type="http://schemas.openxmlformats.org/officeDocument/2006/relationships/image" Target="../media/img029_image-1-116.png"/><Relationship Id="rId167" Type="http://schemas.openxmlformats.org/officeDocument/2006/relationships/image" Target="../media/img029_image-1-167.png"/><Relationship Id="rId168" Type="http://schemas.openxmlformats.org/officeDocument/2006/relationships/image" Target="../media/img029_image-1-168.png"/><Relationship Id="rId169" Type="http://schemas.openxmlformats.org/officeDocument/2006/relationships/image" Target="../media/img029_image-1-169.png"/><Relationship Id="rId170" Type="http://schemas.openxmlformats.org/officeDocument/2006/relationships/image" Target="../media/img029_image-1-170.png"/><Relationship Id="rId171" Type="http://schemas.openxmlformats.org/officeDocument/2006/relationships/image" Target="../media/img029_image-1-170.png"/><Relationship Id="rId172" Type="http://schemas.openxmlformats.org/officeDocument/2006/relationships/image" Target="../media/img029_image-1-170.png"/><Relationship Id="rId173" Type="http://schemas.openxmlformats.org/officeDocument/2006/relationships/image" Target="../media/img029_image-1-118.png"/><Relationship Id="rId174" Type="http://schemas.openxmlformats.org/officeDocument/2006/relationships/image" Target="../media/img029_image-1-174.png"/><Relationship Id="rId175" Type="http://schemas.openxmlformats.org/officeDocument/2006/relationships/image" Target="../media/img029_image-1-170.png"/><Relationship Id="rId176" Type="http://schemas.openxmlformats.org/officeDocument/2006/relationships/image" Target="../media/img029_image-1-174.png"/><Relationship Id="rId177" Type="http://schemas.openxmlformats.org/officeDocument/2006/relationships/image" Target="../media/img029_image-1-118.png"/><Relationship Id="rId178" Type="http://schemas.openxmlformats.org/officeDocument/2006/relationships/image" Target="../media/img029_image-1-178.png"/><Relationship Id="rId179" Type="http://schemas.openxmlformats.org/officeDocument/2006/relationships/image" Target="../media/img029_image-1-179.png"/><Relationship Id="rId180" Type="http://schemas.openxmlformats.org/officeDocument/2006/relationships/image" Target="../media/img029_image-1-180.png"/><Relationship Id="rId181" Type="http://schemas.openxmlformats.org/officeDocument/2006/relationships/image" Target="../media/img029_image-1-181.png"/><Relationship Id="rId182" Type="http://schemas.openxmlformats.org/officeDocument/2006/relationships/image" Target="../media/img029_image-1-182.png"/><Relationship Id="rId183" Type="http://schemas.openxmlformats.org/officeDocument/2006/relationships/image" Target="../media/img029_image-1-181.png"/><Relationship Id="rId184" Type="http://schemas.openxmlformats.org/officeDocument/2006/relationships/image" Target="../media/img029_image-1-184.png"/><Relationship Id="rId185" Type="http://schemas.openxmlformats.org/officeDocument/2006/relationships/image" Target="../media/img029_image-1-185.png"/><Relationship Id="rId186" Type="http://schemas.openxmlformats.org/officeDocument/2006/relationships/image" Target="../media/img029_image-1-181.png"/><Relationship Id="rId187" Type="http://schemas.openxmlformats.org/officeDocument/2006/relationships/image" Target="../media/img029_image-1-182.png"/><Relationship Id="rId188" Type="http://schemas.openxmlformats.org/officeDocument/2006/relationships/image" Target="../media/img029_image-1-188.png"/><Relationship Id="rId189" Type="http://schemas.openxmlformats.org/officeDocument/2006/relationships/image" Target="../media/img029_image-1-189.png"/><Relationship Id="rId190" Type="http://schemas.openxmlformats.org/officeDocument/2006/relationships/image" Target="../media/img029_image-1-190.png"/><Relationship Id="rId191" Type="http://schemas.openxmlformats.org/officeDocument/2006/relationships/image" Target="../media/img029_image-1-116.png"/><Relationship Id="rId192" Type="http://schemas.openxmlformats.org/officeDocument/2006/relationships/image" Target="../media/img029_image-1-192.png"/><Relationship Id="rId193" Type="http://schemas.openxmlformats.org/officeDocument/2006/relationships/image" Target="../media/img029_image-1-193.png"/><Relationship Id="rId194" Type="http://schemas.openxmlformats.org/officeDocument/2006/relationships/image" Target="../media/img029_image-1-194.png"/><Relationship Id="rId195" Type="http://schemas.openxmlformats.org/officeDocument/2006/relationships/image" Target="../media/img029_image-1-195.png"/><Relationship Id="rId196" Type="http://schemas.openxmlformats.org/officeDocument/2006/relationships/image" Target="../media/img029_image-1-196.png"/><Relationship Id="rId197" Type="http://schemas.openxmlformats.org/officeDocument/2006/relationships/image" Target="../media/img029_image-1-197.png"/><Relationship Id="rId198" Type="http://schemas.openxmlformats.org/officeDocument/2006/relationships/image" Target="../media/img029_image-1-198.png"/><Relationship Id="rId199" Type="http://schemas.openxmlformats.org/officeDocument/2006/relationships/image" Target="../media/img029_image-1-199.png"/><Relationship Id="rId200" Type="http://schemas.openxmlformats.org/officeDocument/2006/relationships/image" Target="../media/img029_image-1-200.png"/><Relationship Id="rId201" Type="http://schemas.openxmlformats.org/officeDocument/2006/relationships/image" Target="../media/img029_image-1-201.png"/><Relationship Id="rId202" Type="http://schemas.openxmlformats.org/officeDocument/2006/relationships/image" Target="../media/img029_image-1-202.png"/><Relationship Id="rId203" Type="http://schemas.openxmlformats.org/officeDocument/2006/relationships/image" Target="../media/img029_image-1-203.png"/><Relationship Id="rId204" Type="http://schemas.openxmlformats.org/officeDocument/2006/relationships/image" Target="../media/img029_image-1-201.png"/><Relationship Id="rId205" Type="http://schemas.openxmlformats.org/officeDocument/2006/relationships/image" Target="../media/img029_image-1-205.png"/><Relationship Id="rId206" Type="http://schemas.openxmlformats.org/officeDocument/2006/relationships/slideLayout" Target="../slideLayouts/slideLayout1.xml"/><Relationship Id="rId20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g030_image-1-1.png"/><Relationship Id="rId2" Type="http://schemas.openxmlformats.org/officeDocument/2006/relationships/image" Target="../media/img030_image-1-2.png"/><Relationship Id="rId3" Type="http://schemas.openxmlformats.org/officeDocument/2006/relationships/image" Target="../media/img030_image-1-3.png"/><Relationship Id="rId4" Type="http://schemas.openxmlformats.org/officeDocument/2006/relationships/image" Target="../media/img030_image-1-4.png"/><Relationship Id="rId5" Type="http://schemas.openxmlformats.org/officeDocument/2006/relationships/image" Target="../media/img030_image-1-5.png"/><Relationship Id="rId6" Type="http://schemas.openxmlformats.org/officeDocument/2006/relationships/image" Target="../media/img030_image-1-6.png"/><Relationship Id="rId7" Type="http://schemas.openxmlformats.org/officeDocument/2006/relationships/image" Target="../media/img030_image-1-7.png"/><Relationship Id="rId8" Type="http://schemas.openxmlformats.org/officeDocument/2006/relationships/image" Target="../media/img030_image-1-8.png"/><Relationship Id="rId9" Type="http://schemas.openxmlformats.org/officeDocument/2006/relationships/image" Target="../media/img030_image-1-9.png"/><Relationship Id="rId10" Type="http://schemas.openxmlformats.org/officeDocument/2006/relationships/image" Target="../media/img030_image-1-10.png"/><Relationship Id="rId11" Type="http://schemas.openxmlformats.org/officeDocument/2006/relationships/image" Target="../media/img030_image-1-11.png"/><Relationship Id="rId12" Type="http://schemas.openxmlformats.org/officeDocument/2006/relationships/image" Target="../media/img030_image-1-12.png"/><Relationship Id="rId13" Type="http://schemas.openxmlformats.org/officeDocument/2006/relationships/image" Target="../media/img030_image-1-13.png"/><Relationship Id="rId14" Type="http://schemas.openxmlformats.org/officeDocument/2006/relationships/image" Target="../media/img030_image-1-14.png"/><Relationship Id="rId15" Type="http://schemas.openxmlformats.org/officeDocument/2006/relationships/image" Target="../media/img030_image-1-15.png"/><Relationship Id="rId16" Type="http://schemas.openxmlformats.org/officeDocument/2006/relationships/image" Target="../media/img030_image-1-16.png"/><Relationship Id="rId17" Type="http://schemas.openxmlformats.org/officeDocument/2006/relationships/image" Target="../media/img030_image-1-17.png"/><Relationship Id="rId18" Type="http://schemas.openxmlformats.org/officeDocument/2006/relationships/image" Target="../media/img030_image-1-18.png"/><Relationship Id="rId19" Type="http://schemas.openxmlformats.org/officeDocument/2006/relationships/image" Target="../media/img030_image-1-19.png"/><Relationship Id="rId20" Type="http://schemas.openxmlformats.org/officeDocument/2006/relationships/image" Target="../media/img030_image-1-20.png"/><Relationship Id="rId21" Type="http://schemas.openxmlformats.org/officeDocument/2006/relationships/image" Target="../media/img030_image-1-21.png"/><Relationship Id="rId22" Type="http://schemas.openxmlformats.org/officeDocument/2006/relationships/image" Target="../media/img030_image-1-22.png"/><Relationship Id="rId23" Type="http://schemas.openxmlformats.org/officeDocument/2006/relationships/image" Target="../media/img030_image-1-23.png"/><Relationship Id="rId24" Type="http://schemas.openxmlformats.org/officeDocument/2006/relationships/image" Target="../media/img030_image-1-24.png"/><Relationship Id="rId25" Type="http://schemas.openxmlformats.org/officeDocument/2006/relationships/image" Target="../media/img030_image-1-25.png"/><Relationship Id="rId26" Type="http://schemas.openxmlformats.org/officeDocument/2006/relationships/image" Target="../media/img030_image-1-26.png"/><Relationship Id="rId27" Type="http://schemas.openxmlformats.org/officeDocument/2006/relationships/image" Target="../media/img030_image-1-27.png"/><Relationship Id="rId28" Type="http://schemas.openxmlformats.org/officeDocument/2006/relationships/image" Target="../media/img030_image-1-28.png"/><Relationship Id="rId29" Type="http://schemas.openxmlformats.org/officeDocument/2006/relationships/image" Target="../media/img030_image-1-29.png"/><Relationship Id="rId30" Type="http://schemas.openxmlformats.org/officeDocument/2006/relationships/image" Target="../media/img030_image-1-30.png"/><Relationship Id="rId31" Type="http://schemas.openxmlformats.org/officeDocument/2006/relationships/image" Target="../media/img030_image-1-31.png"/><Relationship Id="rId32" Type="http://schemas.openxmlformats.org/officeDocument/2006/relationships/image" Target="../media/img030_image-1-32.png"/><Relationship Id="rId33" Type="http://schemas.openxmlformats.org/officeDocument/2006/relationships/image" Target="../media/img030_image-1-33.png"/><Relationship Id="rId34" Type="http://schemas.openxmlformats.org/officeDocument/2006/relationships/image" Target="../media/img030_image-1-34.png"/><Relationship Id="rId35" Type="http://schemas.openxmlformats.org/officeDocument/2006/relationships/image" Target="../media/img030_image-1-35.png"/><Relationship Id="rId36" Type="http://schemas.openxmlformats.org/officeDocument/2006/relationships/image" Target="../media/img030_image-1-36.png"/><Relationship Id="rId37" Type="http://schemas.openxmlformats.org/officeDocument/2006/relationships/image" Target="../media/img030_image-1-37.png"/><Relationship Id="rId38" Type="http://schemas.openxmlformats.org/officeDocument/2006/relationships/image" Target="../media/img030_image-1-38.png"/><Relationship Id="rId39" Type="http://schemas.openxmlformats.org/officeDocument/2006/relationships/image" Target="../media/img030_image-1-39.png"/><Relationship Id="rId40" Type="http://schemas.openxmlformats.org/officeDocument/2006/relationships/image" Target="../media/img030_image-1-40.png"/><Relationship Id="rId41" Type="http://schemas.openxmlformats.org/officeDocument/2006/relationships/image" Target="../media/img030_image-1-41.png"/><Relationship Id="rId42" Type="http://schemas.openxmlformats.org/officeDocument/2006/relationships/image" Target="../media/img030_image-1-42.png"/><Relationship Id="rId43" Type="http://schemas.openxmlformats.org/officeDocument/2006/relationships/image" Target="../media/img030_image-1-43.png"/><Relationship Id="rId44" Type="http://schemas.openxmlformats.org/officeDocument/2006/relationships/image" Target="../media/img030_image-1-44.png"/><Relationship Id="rId45" Type="http://schemas.openxmlformats.org/officeDocument/2006/relationships/image" Target="../media/img030_image-1-45.png"/><Relationship Id="rId46" Type="http://schemas.openxmlformats.org/officeDocument/2006/relationships/image" Target="../media/img030_image-1-46.png"/><Relationship Id="rId47" Type="http://schemas.openxmlformats.org/officeDocument/2006/relationships/image" Target="../media/img030_image-1-47.png"/><Relationship Id="rId48" Type="http://schemas.openxmlformats.org/officeDocument/2006/relationships/image" Target="../media/img030_image-1-48.png"/><Relationship Id="rId49" Type="http://schemas.openxmlformats.org/officeDocument/2006/relationships/image" Target="../media/img030_image-1-49.png"/><Relationship Id="rId50" Type="http://schemas.openxmlformats.org/officeDocument/2006/relationships/image" Target="../media/img030_image-1-50.png"/><Relationship Id="rId51" Type="http://schemas.openxmlformats.org/officeDocument/2006/relationships/image" Target="../media/img030_image-1-50.png"/><Relationship Id="rId52" Type="http://schemas.openxmlformats.org/officeDocument/2006/relationships/image" Target="../media/img030_image-1-50.png"/><Relationship Id="rId53" Type="http://schemas.openxmlformats.org/officeDocument/2006/relationships/image" Target="../media/img030_image-1-50.png"/><Relationship Id="rId54" Type="http://schemas.openxmlformats.org/officeDocument/2006/relationships/image" Target="../media/img030_image-1-54.png"/><Relationship Id="rId55" Type="http://schemas.openxmlformats.org/officeDocument/2006/relationships/image" Target="../media/img030_image-1-55.png"/><Relationship Id="rId56" Type="http://schemas.openxmlformats.org/officeDocument/2006/relationships/image" Target="../media/img030_image-1-55.png"/><Relationship Id="rId57" Type="http://schemas.openxmlformats.org/officeDocument/2006/relationships/image" Target="../media/img030_image-1-54.png"/><Relationship Id="rId58" Type="http://schemas.openxmlformats.org/officeDocument/2006/relationships/image" Target="../media/img030_image-1-54.png"/><Relationship Id="rId59" Type="http://schemas.openxmlformats.org/officeDocument/2006/relationships/image" Target="../media/img030_image-1-55.png"/><Relationship Id="rId60" Type="http://schemas.openxmlformats.org/officeDocument/2006/relationships/image" Target="../media/img030_image-1-54.png"/><Relationship Id="rId61" Type="http://schemas.openxmlformats.org/officeDocument/2006/relationships/image" Target="../media/img030_image-1-55.png"/><Relationship Id="rId62" Type="http://schemas.openxmlformats.org/officeDocument/2006/relationships/image" Target="../media/img030_image-1-62.png"/><Relationship Id="rId63" Type="http://schemas.openxmlformats.org/officeDocument/2006/relationships/image" Target="../media/img030_image-1-63.png"/><Relationship Id="rId64" Type="http://schemas.openxmlformats.org/officeDocument/2006/relationships/image" Target="../media/img030_image-1-64.png"/><Relationship Id="rId65" Type="http://schemas.openxmlformats.org/officeDocument/2006/relationships/image" Target="../media/img030_image-1-65.png"/><Relationship Id="rId66" Type="http://schemas.openxmlformats.org/officeDocument/2006/relationships/image" Target="../media/img030_image-1-66.png"/><Relationship Id="rId67" Type="http://schemas.openxmlformats.org/officeDocument/2006/relationships/image" Target="../media/img030_image-1-67.png"/><Relationship Id="rId68" Type="http://schemas.openxmlformats.org/officeDocument/2006/relationships/image" Target="../media/img030_image-1-68.png"/><Relationship Id="rId69" Type="http://schemas.openxmlformats.org/officeDocument/2006/relationships/image" Target="../media/img030_image-1-69.png"/><Relationship Id="rId70" Type="http://schemas.openxmlformats.org/officeDocument/2006/relationships/image" Target="../media/img030_image-1-70.png"/><Relationship Id="rId71" Type="http://schemas.openxmlformats.org/officeDocument/2006/relationships/image" Target="../media/img030_image-1-70.png"/><Relationship Id="rId72" Type="http://schemas.openxmlformats.org/officeDocument/2006/relationships/image" Target="../media/img030_image-1-70.png"/><Relationship Id="rId73" Type="http://schemas.openxmlformats.org/officeDocument/2006/relationships/image" Target="../media/img030_image-1-70.png"/><Relationship Id="rId74" Type="http://schemas.openxmlformats.org/officeDocument/2006/relationships/image" Target="../media/img030_image-1-74.png"/><Relationship Id="rId75" Type="http://schemas.openxmlformats.org/officeDocument/2006/relationships/image" Target="../media/img030_image-1-75.png"/><Relationship Id="rId76" Type="http://schemas.openxmlformats.org/officeDocument/2006/relationships/image" Target="../media/img030_image-1-76.png"/><Relationship Id="rId77" Type="http://schemas.openxmlformats.org/officeDocument/2006/relationships/image" Target="../media/img030_image-1-77.png"/><Relationship Id="rId78" Type="http://schemas.openxmlformats.org/officeDocument/2006/relationships/image" Target="../media/img030_image-1-78.png"/><Relationship Id="rId79" Type="http://schemas.openxmlformats.org/officeDocument/2006/relationships/image" Target="../media/img030_image-1-79.png"/><Relationship Id="rId80" Type="http://schemas.openxmlformats.org/officeDocument/2006/relationships/slideLayout" Target="../slideLayouts/slideLayout1.xml"/><Relationship Id="rId8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g031_image-1-1.png"/><Relationship Id="rId2" Type="http://schemas.openxmlformats.org/officeDocument/2006/relationships/image" Target="../media/img031_image-1-2.png"/><Relationship Id="rId3" Type="http://schemas.openxmlformats.org/officeDocument/2006/relationships/image" Target="../media/img031_image-1-3.png"/><Relationship Id="rId4" Type="http://schemas.openxmlformats.org/officeDocument/2006/relationships/image" Target="../media/img031_image-1-4.png"/><Relationship Id="rId5" Type="http://schemas.openxmlformats.org/officeDocument/2006/relationships/image" Target="../media/img031_image-1-5.png"/><Relationship Id="rId6" Type="http://schemas.openxmlformats.org/officeDocument/2006/relationships/image" Target="../media/img031_image-1-4.png"/><Relationship Id="rId7" Type="http://schemas.openxmlformats.org/officeDocument/2006/relationships/image" Target="../media/img031_image-1-5.png"/><Relationship Id="rId8" Type="http://schemas.openxmlformats.org/officeDocument/2006/relationships/image" Target="../media/img031_image-1-8.png"/><Relationship Id="rId9" Type="http://schemas.openxmlformats.org/officeDocument/2006/relationships/image" Target="../media/img031_image-1-9.png"/><Relationship Id="rId10" Type="http://schemas.openxmlformats.org/officeDocument/2006/relationships/image" Target="../media/img031_image-1-10.png"/><Relationship Id="rId11" Type="http://schemas.openxmlformats.org/officeDocument/2006/relationships/image" Target="../media/img031_image-1-11.png"/><Relationship Id="rId12" Type="http://schemas.openxmlformats.org/officeDocument/2006/relationships/image" Target="../media/img031_image-1-11.png"/><Relationship Id="rId13" Type="http://schemas.openxmlformats.org/officeDocument/2006/relationships/image" Target="../media/img031_image-1-13.png"/><Relationship Id="rId14" Type="http://schemas.openxmlformats.org/officeDocument/2006/relationships/image" Target="../media/img031_image-1-14.png"/><Relationship Id="rId15" Type="http://schemas.openxmlformats.org/officeDocument/2006/relationships/image" Target="../media/img031_image-1-15.png"/><Relationship Id="rId16" Type="http://schemas.openxmlformats.org/officeDocument/2006/relationships/image" Target="../media/img031_image-1-16.png"/><Relationship Id="rId17" Type="http://schemas.openxmlformats.org/officeDocument/2006/relationships/image" Target="../media/img031_image-1-17.png"/><Relationship Id="rId18" Type="http://schemas.openxmlformats.org/officeDocument/2006/relationships/image" Target="../media/img031_image-1-17.png"/><Relationship Id="rId19" Type="http://schemas.openxmlformats.org/officeDocument/2006/relationships/image" Target="../media/img031_image-1-17.png"/><Relationship Id="rId20" Type="http://schemas.openxmlformats.org/officeDocument/2006/relationships/image" Target="../media/img031_image-1-17.png"/><Relationship Id="rId21" Type="http://schemas.openxmlformats.org/officeDocument/2006/relationships/image" Target="../media/img031_image-1-21.png"/><Relationship Id="rId22" Type="http://schemas.openxmlformats.org/officeDocument/2006/relationships/image" Target="../media/img031_image-1-21.png"/><Relationship Id="rId23" Type="http://schemas.openxmlformats.org/officeDocument/2006/relationships/image" Target="../media/img031_image-1-21.png"/><Relationship Id="rId24" Type="http://schemas.openxmlformats.org/officeDocument/2006/relationships/image" Target="../media/img031_image-1-21.png"/><Relationship Id="rId25" Type="http://schemas.openxmlformats.org/officeDocument/2006/relationships/image" Target="../media/img031_image-1-25.png"/><Relationship Id="rId26" Type="http://schemas.openxmlformats.org/officeDocument/2006/relationships/image" Target="../media/img031_image-1-25.png"/><Relationship Id="rId27" Type="http://schemas.openxmlformats.org/officeDocument/2006/relationships/image" Target="../media/img031_image-1-25.png"/><Relationship Id="rId28" Type="http://schemas.openxmlformats.org/officeDocument/2006/relationships/image" Target="../media/img031_image-1-25.png"/><Relationship Id="rId29" Type="http://schemas.openxmlformats.org/officeDocument/2006/relationships/image" Target="../media/img031_image-1-29.png"/><Relationship Id="rId30" Type="http://schemas.openxmlformats.org/officeDocument/2006/relationships/image" Target="../media/img031_image-1-29.png"/><Relationship Id="rId31" Type="http://schemas.openxmlformats.org/officeDocument/2006/relationships/image" Target="../media/img031_image-1-31.png"/><Relationship Id="rId32" Type="http://schemas.openxmlformats.org/officeDocument/2006/relationships/image" Target="../media/img031_image-1-31.png"/><Relationship Id="rId33" Type="http://schemas.openxmlformats.org/officeDocument/2006/relationships/image" Target="../media/img031_image-1-31.png"/><Relationship Id="rId34" Type="http://schemas.openxmlformats.org/officeDocument/2006/relationships/image" Target="../media/img031_image-1-29.png"/><Relationship Id="rId35" Type="http://schemas.openxmlformats.org/officeDocument/2006/relationships/image" Target="../media/img031_image-1-29.png"/><Relationship Id="rId36" Type="http://schemas.openxmlformats.org/officeDocument/2006/relationships/image" Target="../media/img031_image-1-31.png"/><Relationship Id="rId37" Type="http://schemas.openxmlformats.org/officeDocument/2006/relationships/image" Target="../media/img031_image-1-37.png"/><Relationship Id="rId38" Type="http://schemas.openxmlformats.org/officeDocument/2006/relationships/image" Target="../media/img031_image-1-38.png"/><Relationship Id="rId39" Type="http://schemas.openxmlformats.org/officeDocument/2006/relationships/image" Target="../media/img031_image-1-39.png"/><Relationship Id="rId40" Type="http://schemas.openxmlformats.org/officeDocument/2006/relationships/image" Target="../media/img031_image-1-40.png"/><Relationship Id="rId41" Type="http://schemas.openxmlformats.org/officeDocument/2006/relationships/image" Target="../media/img031_image-1-41.png"/><Relationship Id="rId42" Type="http://schemas.openxmlformats.org/officeDocument/2006/relationships/image" Target="../media/img031_image-1-42.png"/><Relationship Id="rId43" Type="http://schemas.openxmlformats.org/officeDocument/2006/relationships/image" Target="../media/img031_image-1-21.png"/><Relationship Id="rId44" Type="http://schemas.openxmlformats.org/officeDocument/2006/relationships/image" Target="../media/img031_image-1-25.png"/><Relationship Id="rId45" Type="http://schemas.openxmlformats.org/officeDocument/2006/relationships/image" Target="../media/img031_image-1-45.png"/><Relationship Id="rId46" Type="http://schemas.openxmlformats.org/officeDocument/2006/relationships/image" Target="../media/img031_image-1-46.png"/><Relationship Id="rId47" Type="http://schemas.openxmlformats.org/officeDocument/2006/relationships/image" Target="../media/img031_image-1-47.png"/><Relationship Id="rId48" Type="http://schemas.openxmlformats.org/officeDocument/2006/relationships/image" Target="../media/img031_image-1-48.png"/><Relationship Id="rId49" Type="http://schemas.openxmlformats.org/officeDocument/2006/relationships/image" Target="../media/img031_image-1-49.png"/><Relationship Id="rId50" Type="http://schemas.openxmlformats.org/officeDocument/2006/relationships/image" Target="../media/img031_image-1-50.png"/><Relationship Id="rId51" Type="http://schemas.openxmlformats.org/officeDocument/2006/relationships/image" Target="../media/img031_image-1-51.png"/><Relationship Id="rId52" Type="http://schemas.openxmlformats.org/officeDocument/2006/relationships/image" Target="../media/img031_image-1-9.png"/><Relationship Id="rId53" Type="http://schemas.openxmlformats.org/officeDocument/2006/relationships/image" Target="../media/img031_image-1-53.png"/><Relationship Id="rId54" Type="http://schemas.openxmlformats.org/officeDocument/2006/relationships/image" Target="../media/img031_image-1-54.png"/><Relationship Id="rId55" Type="http://schemas.openxmlformats.org/officeDocument/2006/relationships/image" Target="../media/img031_image-1-29.png"/><Relationship Id="rId56" Type="http://schemas.openxmlformats.org/officeDocument/2006/relationships/image" Target="../media/img031_image-1-29.png"/><Relationship Id="rId57" Type="http://schemas.openxmlformats.org/officeDocument/2006/relationships/image" Target="../media/img031_image-1-10.png"/><Relationship Id="rId58" Type="http://schemas.openxmlformats.org/officeDocument/2006/relationships/image" Target="../media/img031_image-1-53.png"/><Relationship Id="rId59" Type="http://schemas.openxmlformats.org/officeDocument/2006/relationships/image" Target="../media/img031_image-1-54.png"/><Relationship Id="rId60" Type="http://schemas.openxmlformats.org/officeDocument/2006/relationships/image" Target="../media/img031_image-1-31.png"/><Relationship Id="rId61" Type="http://schemas.openxmlformats.org/officeDocument/2006/relationships/image" Target="../media/img031_image-1-31.png"/><Relationship Id="rId62" Type="http://schemas.openxmlformats.org/officeDocument/2006/relationships/image" Target="../media/img031_image-1-62.png"/><Relationship Id="rId63" Type="http://schemas.openxmlformats.org/officeDocument/2006/relationships/image" Target="../media/img031_image-1-53.png"/><Relationship Id="rId64" Type="http://schemas.openxmlformats.org/officeDocument/2006/relationships/image" Target="../media/img031_image-1-54.png"/><Relationship Id="rId65" Type="http://schemas.openxmlformats.org/officeDocument/2006/relationships/image" Target="../media/img031_image-1-31.png"/><Relationship Id="rId66" Type="http://schemas.openxmlformats.org/officeDocument/2006/relationships/image" Target="../media/img031_image-1-29.png"/><Relationship Id="rId67" Type="http://schemas.openxmlformats.org/officeDocument/2006/relationships/image" Target="../media/img031_image-1-67.png"/><Relationship Id="rId68" Type="http://schemas.openxmlformats.org/officeDocument/2006/relationships/image" Target="../media/img031_image-1-53.png"/><Relationship Id="rId69" Type="http://schemas.openxmlformats.org/officeDocument/2006/relationships/image" Target="../media/img031_image-1-54.png"/><Relationship Id="rId70" Type="http://schemas.openxmlformats.org/officeDocument/2006/relationships/image" Target="../media/img031_image-1-29.png"/><Relationship Id="rId71" Type="http://schemas.openxmlformats.org/officeDocument/2006/relationships/image" Target="../media/img031_image-1-31.png"/><Relationship Id="rId72" Type="http://schemas.openxmlformats.org/officeDocument/2006/relationships/image" Target="../media/img031_image-1-72.png"/><Relationship Id="rId73" Type="http://schemas.openxmlformats.org/officeDocument/2006/relationships/image" Target="../media/img031_image-1-73.png"/><Relationship Id="rId74" Type="http://schemas.openxmlformats.org/officeDocument/2006/relationships/image" Target="../media/img031_image-1-74.png"/><Relationship Id="rId75" Type="http://schemas.openxmlformats.org/officeDocument/2006/relationships/image" Target="../media/img031_image-1-17.png"/><Relationship Id="rId76" Type="http://schemas.openxmlformats.org/officeDocument/2006/relationships/image" Target="../media/img031_image-1-76.png"/><Relationship Id="rId77" Type="http://schemas.openxmlformats.org/officeDocument/2006/relationships/image" Target="../media/img031_image-1-77.png"/><Relationship Id="rId78" Type="http://schemas.openxmlformats.org/officeDocument/2006/relationships/image" Target="../media/img031_image-1-78.png"/><Relationship Id="rId79" Type="http://schemas.openxmlformats.org/officeDocument/2006/relationships/image" Target="../media/img031_image-1-79.png"/><Relationship Id="rId80" Type="http://schemas.openxmlformats.org/officeDocument/2006/relationships/image" Target="../media/img031_image-1-76.png"/><Relationship Id="rId81" Type="http://schemas.openxmlformats.org/officeDocument/2006/relationships/image" Target="../media/img031_image-1-77.png"/><Relationship Id="rId82" Type="http://schemas.openxmlformats.org/officeDocument/2006/relationships/image" Target="../media/img031_image-1-78.png"/><Relationship Id="rId83" Type="http://schemas.openxmlformats.org/officeDocument/2006/relationships/image" Target="../media/img031_image-1-79.png"/><Relationship Id="rId84" Type="http://schemas.openxmlformats.org/officeDocument/2006/relationships/slideLayout" Target="../slideLayouts/slideLayout1.xml"/><Relationship Id="rId8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g032_image-1-1.png"/><Relationship Id="rId2" Type="http://schemas.openxmlformats.org/officeDocument/2006/relationships/image" Target="../media/img032_image-1-2.png"/><Relationship Id="rId3" Type="http://schemas.openxmlformats.org/officeDocument/2006/relationships/image" Target="../media/img032_image-1-3.png"/><Relationship Id="rId4" Type="http://schemas.openxmlformats.org/officeDocument/2006/relationships/image" Target="../media/img032_image-1-4.png"/><Relationship Id="rId5" Type="http://schemas.openxmlformats.org/officeDocument/2006/relationships/image" Target="../media/img032_image-1-5.png"/><Relationship Id="rId6" Type="http://schemas.openxmlformats.org/officeDocument/2006/relationships/image" Target="../media/img032_image-1-4.png"/><Relationship Id="rId7" Type="http://schemas.openxmlformats.org/officeDocument/2006/relationships/image" Target="../media/img032_image-1-5.png"/><Relationship Id="rId8" Type="http://schemas.openxmlformats.org/officeDocument/2006/relationships/image" Target="../media/img032_image-1-8.png"/><Relationship Id="rId9" Type="http://schemas.openxmlformats.org/officeDocument/2006/relationships/image" Target="../media/img032_image-1-9.png"/><Relationship Id="rId10" Type="http://schemas.openxmlformats.org/officeDocument/2006/relationships/image" Target="../media/img032_image-1-10.png"/><Relationship Id="rId11" Type="http://schemas.openxmlformats.org/officeDocument/2006/relationships/image" Target="../media/img032_image-1-11.png"/><Relationship Id="rId12" Type="http://schemas.openxmlformats.org/officeDocument/2006/relationships/image" Target="../media/img032_image-1-11.png"/><Relationship Id="rId13" Type="http://schemas.openxmlformats.org/officeDocument/2006/relationships/image" Target="../media/img032_image-1-13.png"/><Relationship Id="rId14" Type="http://schemas.openxmlformats.org/officeDocument/2006/relationships/image" Target="../media/img032_image-1-14.png"/><Relationship Id="rId15" Type="http://schemas.openxmlformats.org/officeDocument/2006/relationships/image" Target="../media/img032_image-1-15.png"/><Relationship Id="rId16" Type="http://schemas.openxmlformats.org/officeDocument/2006/relationships/image" Target="../media/img032_image-1-16.png"/><Relationship Id="rId17" Type="http://schemas.openxmlformats.org/officeDocument/2006/relationships/image" Target="../media/img032_image-1-17.png"/><Relationship Id="rId18" Type="http://schemas.openxmlformats.org/officeDocument/2006/relationships/image" Target="../media/img032_image-1-17.png"/><Relationship Id="rId19" Type="http://schemas.openxmlformats.org/officeDocument/2006/relationships/image" Target="../media/img032_image-1-17.png"/><Relationship Id="rId20" Type="http://schemas.openxmlformats.org/officeDocument/2006/relationships/image" Target="../media/img032_image-1-17.png"/><Relationship Id="rId21" Type="http://schemas.openxmlformats.org/officeDocument/2006/relationships/image" Target="../media/img032_image-1-21.png"/><Relationship Id="rId22" Type="http://schemas.openxmlformats.org/officeDocument/2006/relationships/image" Target="../media/img032_image-1-21.png"/><Relationship Id="rId23" Type="http://schemas.openxmlformats.org/officeDocument/2006/relationships/image" Target="../media/img032_image-1-21.png"/><Relationship Id="rId24" Type="http://schemas.openxmlformats.org/officeDocument/2006/relationships/image" Target="../media/img032_image-1-21.png"/><Relationship Id="rId25" Type="http://schemas.openxmlformats.org/officeDocument/2006/relationships/image" Target="../media/img032_image-1-25.png"/><Relationship Id="rId26" Type="http://schemas.openxmlformats.org/officeDocument/2006/relationships/image" Target="../media/img032_image-1-25.png"/><Relationship Id="rId27" Type="http://schemas.openxmlformats.org/officeDocument/2006/relationships/image" Target="../media/img032_image-1-25.png"/><Relationship Id="rId28" Type="http://schemas.openxmlformats.org/officeDocument/2006/relationships/image" Target="../media/img032_image-1-25.png"/><Relationship Id="rId29" Type="http://schemas.openxmlformats.org/officeDocument/2006/relationships/image" Target="../media/img032_image-1-29.png"/><Relationship Id="rId30" Type="http://schemas.openxmlformats.org/officeDocument/2006/relationships/image" Target="../media/img032_image-1-29.png"/><Relationship Id="rId31" Type="http://schemas.openxmlformats.org/officeDocument/2006/relationships/image" Target="../media/img032_image-1-31.png"/><Relationship Id="rId32" Type="http://schemas.openxmlformats.org/officeDocument/2006/relationships/image" Target="../media/img032_image-1-31.png"/><Relationship Id="rId33" Type="http://schemas.openxmlformats.org/officeDocument/2006/relationships/image" Target="../media/img032_image-1-31.png"/><Relationship Id="rId34" Type="http://schemas.openxmlformats.org/officeDocument/2006/relationships/image" Target="../media/img032_image-1-29.png"/><Relationship Id="rId35" Type="http://schemas.openxmlformats.org/officeDocument/2006/relationships/image" Target="../media/img032_image-1-29.png"/><Relationship Id="rId36" Type="http://schemas.openxmlformats.org/officeDocument/2006/relationships/image" Target="../media/img032_image-1-31.png"/><Relationship Id="rId37" Type="http://schemas.openxmlformats.org/officeDocument/2006/relationships/image" Target="../media/img032_image-1-37.png"/><Relationship Id="rId38" Type="http://schemas.openxmlformats.org/officeDocument/2006/relationships/image" Target="../media/img032_image-1-38.png"/><Relationship Id="rId39" Type="http://schemas.openxmlformats.org/officeDocument/2006/relationships/image" Target="../media/img032_image-1-39.png"/><Relationship Id="rId40" Type="http://schemas.openxmlformats.org/officeDocument/2006/relationships/image" Target="../media/img032_image-1-40.png"/><Relationship Id="rId41" Type="http://schemas.openxmlformats.org/officeDocument/2006/relationships/image" Target="../media/img032_image-1-41.png"/><Relationship Id="rId42" Type="http://schemas.openxmlformats.org/officeDocument/2006/relationships/image" Target="../media/img032_image-1-42.png"/><Relationship Id="rId43" Type="http://schemas.openxmlformats.org/officeDocument/2006/relationships/image" Target="../media/img032_image-1-21.png"/><Relationship Id="rId44" Type="http://schemas.openxmlformats.org/officeDocument/2006/relationships/image" Target="../media/img032_image-1-25.png"/><Relationship Id="rId45" Type="http://schemas.openxmlformats.org/officeDocument/2006/relationships/image" Target="../media/img032_image-1-45.png"/><Relationship Id="rId46" Type="http://schemas.openxmlformats.org/officeDocument/2006/relationships/image" Target="../media/img032_image-1-46.png"/><Relationship Id="rId47" Type="http://schemas.openxmlformats.org/officeDocument/2006/relationships/image" Target="../media/img032_image-1-47.png"/><Relationship Id="rId48" Type="http://schemas.openxmlformats.org/officeDocument/2006/relationships/image" Target="../media/img032_image-1-48.png"/><Relationship Id="rId49" Type="http://schemas.openxmlformats.org/officeDocument/2006/relationships/image" Target="../media/img032_image-1-49.png"/><Relationship Id="rId50" Type="http://schemas.openxmlformats.org/officeDocument/2006/relationships/image" Target="../media/img032_image-1-50.png"/><Relationship Id="rId51" Type="http://schemas.openxmlformats.org/officeDocument/2006/relationships/image" Target="../media/img032_image-1-51.png"/><Relationship Id="rId52" Type="http://schemas.openxmlformats.org/officeDocument/2006/relationships/image" Target="../media/img032_image-1-9.png"/><Relationship Id="rId53" Type="http://schemas.openxmlformats.org/officeDocument/2006/relationships/image" Target="../media/img032_image-1-53.png"/><Relationship Id="rId54" Type="http://schemas.openxmlformats.org/officeDocument/2006/relationships/image" Target="../media/img032_image-1-54.png"/><Relationship Id="rId55" Type="http://schemas.openxmlformats.org/officeDocument/2006/relationships/image" Target="../media/img032_image-1-29.png"/><Relationship Id="rId56" Type="http://schemas.openxmlformats.org/officeDocument/2006/relationships/image" Target="../media/img032_image-1-29.png"/><Relationship Id="rId57" Type="http://schemas.openxmlformats.org/officeDocument/2006/relationships/image" Target="../media/img032_image-1-10.png"/><Relationship Id="rId58" Type="http://schemas.openxmlformats.org/officeDocument/2006/relationships/image" Target="../media/img032_image-1-53.png"/><Relationship Id="rId59" Type="http://schemas.openxmlformats.org/officeDocument/2006/relationships/image" Target="../media/img032_image-1-54.png"/><Relationship Id="rId60" Type="http://schemas.openxmlformats.org/officeDocument/2006/relationships/image" Target="../media/img032_image-1-31.png"/><Relationship Id="rId61" Type="http://schemas.openxmlformats.org/officeDocument/2006/relationships/image" Target="../media/img032_image-1-31.png"/><Relationship Id="rId62" Type="http://schemas.openxmlformats.org/officeDocument/2006/relationships/image" Target="../media/img032_image-1-62.png"/><Relationship Id="rId63" Type="http://schemas.openxmlformats.org/officeDocument/2006/relationships/image" Target="../media/img032_image-1-53.png"/><Relationship Id="rId64" Type="http://schemas.openxmlformats.org/officeDocument/2006/relationships/image" Target="../media/img032_image-1-54.png"/><Relationship Id="rId65" Type="http://schemas.openxmlformats.org/officeDocument/2006/relationships/image" Target="../media/img032_image-1-31.png"/><Relationship Id="rId66" Type="http://schemas.openxmlformats.org/officeDocument/2006/relationships/image" Target="../media/img032_image-1-29.png"/><Relationship Id="rId67" Type="http://schemas.openxmlformats.org/officeDocument/2006/relationships/image" Target="../media/img032_image-1-67.png"/><Relationship Id="rId68" Type="http://schemas.openxmlformats.org/officeDocument/2006/relationships/image" Target="../media/img032_image-1-53.png"/><Relationship Id="rId69" Type="http://schemas.openxmlformats.org/officeDocument/2006/relationships/image" Target="../media/img032_image-1-54.png"/><Relationship Id="rId70" Type="http://schemas.openxmlformats.org/officeDocument/2006/relationships/image" Target="../media/img032_image-1-29.png"/><Relationship Id="rId71" Type="http://schemas.openxmlformats.org/officeDocument/2006/relationships/image" Target="../media/img032_image-1-31.png"/><Relationship Id="rId72" Type="http://schemas.openxmlformats.org/officeDocument/2006/relationships/image" Target="../media/img032_image-1-72.png"/><Relationship Id="rId73" Type="http://schemas.openxmlformats.org/officeDocument/2006/relationships/image" Target="../media/img032_image-1-73.png"/><Relationship Id="rId74" Type="http://schemas.openxmlformats.org/officeDocument/2006/relationships/image" Target="../media/img032_image-1-74.png"/><Relationship Id="rId75" Type="http://schemas.openxmlformats.org/officeDocument/2006/relationships/image" Target="../media/img032_image-1-17.png"/><Relationship Id="rId76" Type="http://schemas.openxmlformats.org/officeDocument/2006/relationships/image" Target="../media/img032_image-1-76.png"/><Relationship Id="rId77" Type="http://schemas.openxmlformats.org/officeDocument/2006/relationships/image" Target="../media/img032_image-1-77.png"/><Relationship Id="rId78" Type="http://schemas.openxmlformats.org/officeDocument/2006/relationships/image" Target="../media/img032_image-1-78.png"/><Relationship Id="rId79" Type="http://schemas.openxmlformats.org/officeDocument/2006/relationships/image" Target="../media/img032_image-1-79.png"/><Relationship Id="rId80" Type="http://schemas.openxmlformats.org/officeDocument/2006/relationships/image" Target="../media/img032_image-1-76.png"/><Relationship Id="rId81" Type="http://schemas.openxmlformats.org/officeDocument/2006/relationships/image" Target="../media/img032_image-1-77.png"/><Relationship Id="rId82" Type="http://schemas.openxmlformats.org/officeDocument/2006/relationships/image" Target="../media/img032_image-1-78.png"/><Relationship Id="rId83" Type="http://schemas.openxmlformats.org/officeDocument/2006/relationships/image" Target="../media/img032_image-1-79.png"/><Relationship Id="rId84" Type="http://schemas.openxmlformats.org/officeDocument/2006/relationships/slideLayout" Target="../slideLayouts/slideLayout1.xml"/><Relationship Id="rId8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g033_image-1-1.png"/><Relationship Id="rId2" Type="http://schemas.openxmlformats.org/officeDocument/2006/relationships/image" Target="../media/img033_image-1-2.png"/><Relationship Id="rId3" Type="http://schemas.openxmlformats.org/officeDocument/2006/relationships/image" Target="../media/img033_image-1-3.png"/><Relationship Id="rId4" Type="http://schemas.openxmlformats.org/officeDocument/2006/relationships/image" Target="../media/img033_image-1-4.png"/><Relationship Id="rId5" Type="http://schemas.openxmlformats.org/officeDocument/2006/relationships/image" Target="../media/img033_image-1-5.png"/><Relationship Id="rId6" Type="http://schemas.openxmlformats.org/officeDocument/2006/relationships/image" Target="../media/img033_image-1-6.png"/><Relationship Id="rId7" Type="http://schemas.openxmlformats.org/officeDocument/2006/relationships/image" Target="../media/img033_image-1-7.png"/><Relationship Id="rId8" Type="http://schemas.openxmlformats.org/officeDocument/2006/relationships/image" Target="../media/img033_image-1-8.png"/><Relationship Id="rId9" Type="http://schemas.openxmlformats.org/officeDocument/2006/relationships/image" Target="../media/img033_image-1-9.png"/><Relationship Id="rId10" Type="http://schemas.openxmlformats.org/officeDocument/2006/relationships/image" Target="../media/img033_image-1-10.png"/><Relationship Id="rId11" Type="http://schemas.openxmlformats.org/officeDocument/2006/relationships/image" Target="../media/img033_image-1-11.png"/><Relationship Id="rId12" Type="http://schemas.openxmlformats.org/officeDocument/2006/relationships/image" Target="../media/img033_image-1-12.png"/><Relationship Id="rId13" Type="http://schemas.openxmlformats.org/officeDocument/2006/relationships/image" Target="../media/img033_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g034_image-1-1.png"/><Relationship Id="rId2" Type="http://schemas.openxmlformats.org/officeDocument/2006/relationships/image" Target="../media/img034_image-1-2.png"/><Relationship Id="rId3" Type="http://schemas.openxmlformats.org/officeDocument/2006/relationships/image" Target="../media/img034_image-1-3.png"/><Relationship Id="rId4" Type="http://schemas.openxmlformats.org/officeDocument/2006/relationships/image" Target="../media/img034_image-1-4.png"/><Relationship Id="rId5" Type="http://schemas.openxmlformats.org/officeDocument/2006/relationships/image" Target="../media/img034_image-1-5.png"/><Relationship Id="rId6" Type="http://schemas.openxmlformats.org/officeDocument/2006/relationships/image" Target="../media/img034_image-1-6.png"/><Relationship Id="rId7" Type="http://schemas.openxmlformats.org/officeDocument/2006/relationships/image" Target="../media/img034_image-1-7.png"/><Relationship Id="rId8" Type="http://schemas.openxmlformats.org/officeDocument/2006/relationships/image" Target="../media/img034_image-1-8.png"/><Relationship Id="rId9" Type="http://schemas.openxmlformats.org/officeDocument/2006/relationships/image" Target="../media/img034_image-1-9.png"/><Relationship Id="rId10" Type="http://schemas.openxmlformats.org/officeDocument/2006/relationships/image" Target="../media/img034_image-1-10.png"/><Relationship Id="rId11" Type="http://schemas.openxmlformats.org/officeDocument/2006/relationships/image" Target="../media/img034_image-1-11.png"/><Relationship Id="rId12" Type="http://schemas.openxmlformats.org/officeDocument/2006/relationships/image" Target="../media/img034_image-1-12.png"/><Relationship Id="rId13" Type="http://schemas.openxmlformats.org/officeDocument/2006/relationships/image" Target="../media/img034_image-1-13.png"/><Relationship Id="rId14" Type="http://schemas.openxmlformats.org/officeDocument/2006/relationships/image" Target="../media/img034_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g035_image-1-1.png"/><Relationship Id="rId2" Type="http://schemas.openxmlformats.org/officeDocument/2006/relationships/image" Target="../media/img035_image-1-2.png"/><Relationship Id="rId3" Type="http://schemas.openxmlformats.org/officeDocument/2006/relationships/image" Target="../media/img035_image-1-3.png"/><Relationship Id="rId4" Type="http://schemas.openxmlformats.org/officeDocument/2006/relationships/image" Target="../media/img035_image-1-4.png"/><Relationship Id="rId5" Type="http://schemas.openxmlformats.org/officeDocument/2006/relationships/image" Target="../media/img035_image-1-5.png"/><Relationship Id="rId6" Type="http://schemas.openxmlformats.org/officeDocument/2006/relationships/image" Target="../media/img035_image-1-6.png"/><Relationship Id="rId7" Type="http://schemas.openxmlformats.org/officeDocument/2006/relationships/image" Target="../media/img035_image-1-7.png"/><Relationship Id="rId8" Type="http://schemas.openxmlformats.org/officeDocument/2006/relationships/image" Target="../media/img035_image-1-8.png"/><Relationship Id="rId9" Type="http://schemas.openxmlformats.org/officeDocument/2006/relationships/image" Target="../media/img035_image-1-9.png"/><Relationship Id="rId10" Type="http://schemas.openxmlformats.org/officeDocument/2006/relationships/image" Target="../media/img035_image-1-10.png"/><Relationship Id="rId11" Type="http://schemas.openxmlformats.org/officeDocument/2006/relationships/image" Target="../media/img035_image-1-11.png"/><Relationship Id="rId12" Type="http://schemas.openxmlformats.org/officeDocument/2006/relationships/image" Target="../media/img035_image-1-12.png"/><Relationship Id="rId13" Type="http://schemas.openxmlformats.org/officeDocument/2006/relationships/image" Target="../media/img035_image-1-13.png"/><Relationship Id="rId14" Type="http://schemas.openxmlformats.org/officeDocument/2006/relationships/image" Target="../media/img035_image-1-14.png"/><Relationship Id="rId15" Type="http://schemas.openxmlformats.org/officeDocument/2006/relationships/image" Target="../media/img035_image-1-15.png"/><Relationship Id="rId16" Type="http://schemas.openxmlformats.org/officeDocument/2006/relationships/image" Target="../media/img035_image-1-16.png"/><Relationship Id="rId17" Type="http://schemas.openxmlformats.org/officeDocument/2006/relationships/image" Target="../media/img035_image-1-17.png"/><Relationship Id="rId18" Type="http://schemas.openxmlformats.org/officeDocument/2006/relationships/image" Target="../media/img035_image-1-18.png"/><Relationship Id="rId19" Type="http://schemas.openxmlformats.org/officeDocument/2006/relationships/image" Target="../media/img035_image-1-19.png"/><Relationship Id="rId20" Type="http://schemas.openxmlformats.org/officeDocument/2006/relationships/image" Target="../media/img035_image-1-20.png"/><Relationship Id="rId21" Type="http://schemas.openxmlformats.org/officeDocument/2006/relationships/image" Target="../media/img035_image-1-21.png"/><Relationship Id="rId22" Type="http://schemas.openxmlformats.org/officeDocument/2006/relationships/image" Target="../media/img035_image-1-22.png"/><Relationship Id="rId23" Type="http://schemas.openxmlformats.org/officeDocument/2006/relationships/image" Target="../media/img035_image-1-23.png"/><Relationship Id="rId24" Type="http://schemas.openxmlformats.org/officeDocument/2006/relationships/image" Target="../media/img035_image-1-24.png"/><Relationship Id="rId25" Type="http://schemas.openxmlformats.org/officeDocument/2006/relationships/image" Target="../media/img035_image-1-25.png"/><Relationship Id="rId26" Type="http://schemas.openxmlformats.org/officeDocument/2006/relationships/image" Target="../media/img035_image-1-26.png"/><Relationship Id="rId27" Type="http://schemas.openxmlformats.org/officeDocument/2006/relationships/image" Target="../media/img035_image-1-27.png"/><Relationship Id="rId28" Type="http://schemas.openxmlformats.org/officeDocument/2006/relationships/image" Target="../media/img035_image-1-28.png"/><Relationship Id="rId29" Type="http://schemas.openxmlformats.org/officeDocument/2006/relationships/image" Target="../media/img035_image-1-29.png"/><Relationship Id="rId30" Type="http://schemas.openxmlformats.org/officeDocument/2006/relationships/image" Target="../media/img035_image-1-30.png"/><Relationship Id="rId31" Type="http://schemas.openxmlformats.org/officeDocument/2006/relationships/image" Target="../media/img035_image-1-31.png"/><Relationship Id="rId32" Type="http://schemas.openxmlformats.org/officeDocument/2006/relationships/image" Target="../media/img035_image-1-32.png"/><Relationship Id="rId33" Type="http://schemas.openxmlformats.org/officeDocument/2006/relationships/image" Target="../media/img035_image-1-33.png"/><Relationship Id="rId34" Type="http://schemas.openxmlformats.org/officeDocument/2006/relationships/image" Target="../media/img035_image-1-34.png"/><Relationship Id="rId35" Type="http://schemas.openxmlformats.org/officeDocument/2006/relationships/image" Target="../media/img035_image-1-35.png"/><Relationship Id="rId36" Type="http://schemas.openxmlformats.org/officeDocument/2006/relationships/image" Target="../media/img035_image-1-36.png"/><Relationship Id="rId37" Type="http://schemas.openxmlformats.org/officeDocument/2006/relationships/image" Target="../media/img035_image-1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g038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g039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5" name="Image 0" descr="/home/ahmed/Projects/ai_llm_slides/videos/machine-learning/02_linear-regression-classification-MSSE/recreated_pptx/build/assets/slide001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5778500"/>
            <a:ext cx="3848100" cy="1028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11350" y="165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60" kern="0" dirty="0">
                <a:solidFill>
                  <a:srgbClr val="A0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&amp;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892300" y="2397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60" kern="0" dirty="0">
                <a:solidFill>
                  <a:srgbClr val="A0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905000" y="34315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-105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CSAI 253  -  Spring 2024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10185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A00E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101850" y="445897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spc="-30" kern="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Khaled Mostafa ElSayed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108200" y="47828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79500" y="503047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A0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549400" y="53721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562100" y="56464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62100" y="595757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574800" y="623697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900" y="2782570"/>
            <a:ext cx="10655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4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11250" y="1200150"/>
            <a:ext cx="9842500" cy="538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35250" y="141605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 different samples of Steel Bars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78000" y="3079750"/>
            <a:ext cx="3651250" cy="0"/>
          </a:xfrm>
          <a:prstGeom prst="line">
            <a:avLst/>
          </a:prstGeom>
          <a:noFill/>
          <a:ln w="9525">
            <a:solidFill>
              <a:srgbClr val="CC6405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1778000" y="3854450"/>
            <a:ext cx="3117850" cy="0"/>
          </a:xfrm>
          <a:prstGeom prst="line">
            <a:avLst/>
          </a:prstGeom>
          <a:noFill/>
          <a:ln w="9525">
            <a:solidFill>
              <a:srgbClr val="CC6405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5480050" y="3168650"/>
            <a:ext cx="0" cy="2844800"/>
          </a:xfrm>
          <a:prstGeom prst="line">
            <a:avLst/>
          </a:prstGeom>
          <a:noFill/>
          <a:ln w="9525">
            <a:solidFill>
              <a:srgbClr val="CC6405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4959350" y="3962400"/>
            <a:ext cx="0" cy="2051050"/>
          </a:xfrm>
          <a:prstGeom prst="line">
            <a:avLst/>
          </a:prstGeom>
          <a:noFill/>
          <a:ln w="9525">
            <a:solidFill>
              <a:srgbClr val="CC6405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1701800" y="1384300"/>
            <a:ext cx="0" cy="4660900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7350" y="1276350"/>
            <a:ext cx="88900" cy="1270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701800" y="6045200"/>
            <a:ext cx="6324600" cy="0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8020050" y="6000750"/>
            <a:ext cx="101600" cy="889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 rot="5400000">
            <a:off x="1666875" y="3057525"/>
            <a:ext cx="139700" cy="6985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666875" y="3832225"/>
            <a:ext cx="139700" cy="6985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5454650" y="3105150"/>
            <a:ext cx="63500" cy="635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4921250" y="3898900"/>
            <a:ext cx="63500" cy="635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881630" y="485775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07690" y="494030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47060" y="461645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2" name="Shape 20"/>
          <p:cNvSpPr/>
          <p:nvPr/>
        </p:nvSpPr>
        <p:spPr>
          <a:xfrm>
            <a:off x="3340100" y="478028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3" name="Shape 21"/>
          <p:cNvSpPr/>
          <p:nvPr/>
        </p:nvSpPr>
        <p:spPr>
          <a:xfrm>
            <a:off x="3375660" y="458089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2500" y="477774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5" name="Shape 23"/>
          <p:cNvSpPr/>
          <p:nvPr/>
        </p:nvSpPr>
        <p:spPr>
          <a:xfrm>
            <a:off x="3644900" y="425704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35400" y="414020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7" name="Shape 25"/>
          <p:cNvSpPr/>
          <p:nvPr/>
        </p:nvSpPr>
        <p:spPr>
          <a:xfrm>
            <a:off x="3952240" y="390271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8" name="Shape 26"/>
          <p:cNvSpPr/>
          <p:nvPr/>
        </p:nvSpPr>
        <p:spPr>
          <a:xfrm>
            <a:off x="3987800" y="438023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2600" y="421640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0" name="Shape 28"/>
          <p:cNvSpPr/>
          <p:nvPr/>
        </p:nvSpPr>
        <p:spPr>
          <a:xfrm>
            <a:off x="4333240" y="382143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1" name="Shape 29"/>
          <p:cNvSpPr/>
          <p:nvPr/>
        </p:nvSpPr>
        <p:spPr>
          <a:xfrm>
            <a:off x="4602480" y="378079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2" name="Shape 30"/>
          <p:cNvSpPr/>
          <p:nvPr/>
        </p:nvSpPr>
        <p:spPr>
          <a:xfrm>
            <a:off x="4906010" y="382651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3" name="Shape 31"/>
          <p:cNvSpPr/>
          <p:nvPr/>
        </p:nvSpPr>
        <p:spPr>
          <a:xfrm>
            <a:off x="5364480" y="337439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4" name="Shape 32"/>
          <p:cNvSpPr/>
          <p:nvPr/>
        </p:nvSpPr>
        <p:spPr>
          <a:xfrm>
            <a:off x="5445760" y="302514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5" name="Shape 33"/>
          <p:cNvSpPr/>
          <p:nvPr/>
        </p:nvSpPr>
        <p:spPr>
          <a:xfrm>
            <a:off x="6018530" y="306324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6" name="Shape 34"/>
          <p:cNvSpPr/>
          <p:nvPr/>
        </p:nvSpPr>
        <p:spPr>
          <a:xfrm>
            <a:off x="6019800" y="278130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7" name="Shape 35"/>
          <p:cNvSpPr/>
          <p:nvPr/>
        </p:nvSpPr>
        <p:spPr>
          <a:xfrm>
            <a:off x="6366510" y="278257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2710" y="226568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39" name="Shape 37"/>
          <p:cNvSpPr/>
          <p:nvPr/>
        </p:nvSpPr>
        <p:spPr>
          <a:xfrm>
            <a:off x="6790690" y="2145030"/>
            <a:ext cx="88900" cy="889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40" name="Text 38"/>
          <p:cNvSpPr/>
          <p:nvPr/>
        </p:nvSpPr>
        <p:spPr>
          <a:xfrm rot="16200000">
            <a:off x="1187450" y="156845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50" kern="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53350" y="619125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09850" y="66675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-20" kern="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– One Dimensional Case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11250" y="1200150"/>
            <a:ext cx="9842500" cy="538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35250" y="141605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 different samples of Steel Bars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90700" y="3079750"/>
            <a:ext cx="3695700" cy="0"/>
          </a:xfrm>
          <a:prstGeom prst="line">
            <a:avLst/>
          </a:prstGeom>
          <a:noFill/>
          <a:ln w="9525">
            <a:solidFill>
              <a:srgbClr val="E9D8D8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1790700" y="3854450"/>
            <a:ext cx="3162300" cy="0"/>
          </a:xfrm>
          <a:prstGeom prst="line">
            <a:avLst/>
          </a:prstGeom>
          <a:noFill/>
          <a:ln w="9525">
            <a:solidFill>
              <a:srgbClr val="E9D8D8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1701800" y="1384300"/>
            <a:ext cx="0" cy="4648200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7350" y="1276350"/>
            <a:ext cx="88900" cy="1270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701800" y="6038850"/>
            <a:ext cx="6400800" cy="0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3225" y="5997575"/>
            <a:ext cx="82550" cy="82550"/>
          </a:xfrm>
          <a:prstGeom prst="ellipse">
            <a:avLst/>
          </a:prstGeom>
          <a:solidFill>
            <a:srgbClr val="9C000C"/>
          </a:solidFill>
          <a:ln/>
        </p:spPr>
      </p:sp>
      <p:sp>
        <p:nvSpPr>
          <p:cNvPr id="13" name="Shape 11"/>
          <p:cNvSpPr/>
          <p:nvPr/>
        </p:nvSpPr>
        <p:spPr>
          <a:xfrm>
            <a:off x="1752600" y="3289300"/>
            <a:ext cx="3365500" cy="0"/>
          </a:xfrm>
          <a:prstGeom prst="line">
            <a:avLst/>
          </a:prstGeom>
          <a:noFill/>
          <a:ln w="19050">
            <a:solidFill>
              <a:srgbClr val="8000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752600" y="3479800"/>
            <a:ext cx="3365500" cy="0"/>
          </a:xfrm>
          <a:prstGeom prst="line">
            <a:avLst/>
          </a:prstGeom>
          <a:noFill/>
          <a:ln w="19050">
            <a:solidFill>
              <a:srgbClr val="8000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752600" y="3683000"/>
            <a:ext cx="3365500" cy="0"/>
          </a:xfrm>
          <a:prstGeom prst="line">
            <a:avLst/>
          </a:prstGeom>
          <a:noFill/>
          <a:ln w="19050">
            <a:solidFill>
              <a:srgbClr val="80008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11750" y="2120900"/>
            <a:ext cx="0" cy="3848100"/>
          </a:xfrm>
          <a:prstGeom prst="line">
            <a:avLst/>
          </a:prstGeom>
          <a:noFill/>
          <a:ln w="19050">
            <a:solidFill>
              <a:srgbClr val="80008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89100" y="3035300"/>
            <a:ext cx="88900" cy="889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89100" y="3244850"/>
            <a:ext cx="88900" cy="88900"/>
          </a:xfrm>
          <a:prstGeom prst="ellipse">
            <a:avLst/>
          </a:prstGeom>
          <a:solidFill>
            <a:srgbClr val="8000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689100" y="3448050"/>
            <a:ext cx="88900" cy="88900"/>
          </a:xfrm>
          <a:prstGeom prst="ellipse">
            <a:avLst/>
          </a:prstGeom>
          <a:solidFill>
            <a:srgbClr val="8000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689100" y="3651250"/>
            <a:ext cx="88900" cy="88900"/>
          </a:xfrm>
          <a:prstGeom prst="ellipse">
            <a:avLst/>
          </a:prstGeom>
          <a:solidFill>
            <a:srgbClr val="800080"/>
          </a:solidFill>
          <a:ln/>
        </p:spPr>
      </p:sp>
      <p:sp>
        <p:nvSpPr>
          <p:cNvPr id="21" name="Shape 19"/>
          <p:cNvSpPr/>
          <p:nvPr/>
        </p:nvSpPr>
        <p:spPr>
          <a:xfrm>
            <a:off x="5067300" y="5981700"/>
            <a:ext cx="88900" cy="88900"/>
          </a:xfrm>
          <a:prstGeom prst="ellipse">
            <a:avLst/>
          </a:prstGeom>
          <a:solidFill>
            <a:srgbClr val="8000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788150" y="21463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5250" y="22669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4" name="Shape 22"/>
          <p:cNvSpPr/>
          <p:nvPr/>
        </p:nvSpPr>
        <p:spPr>
          <a:xfrm>
            <a:off x="6019800" y="27813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9050" y="27813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1950" y="30226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7" name="Shape 25"/>
          <p:cNvSpPr/>
          <p:nvPr/>
        </p:nvSpPr>
        <p:spPr>
          <a:xfrm>
            <a:off x="6013450" y="30670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8" name="Shape 26"/>
          <p:cNvSpPr/>
          <p:nvPr/>
        </p:nvSpPr>
        <p:spPr>
          <a:xfrm>
            <a:off x="5365750" y="33718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9" name="Shape 27"/>
          <p:cNvSpPr/>
          <p:nvPr/>
        </p:nvSpPr>
        <p:spPr>
          <a:xfrm>
            <a:off x="4603750" y="37782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0" name="Shape 28"/>
          <p:cNvSpPr/>
          <p:nvPr/>
        </p:nvSpPr>
        <p:spPr>
          <a:xfrm>
            <a:off x="4337050" y="38163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1" name="Shape 29"/>
          <p:cNvSpPr/>
          <p:nvPr/>
        </p:nvSpPr>
        <p:spPr>
          <a:xfrm>
            <a:off x="4908550" y="38290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2" name="Shape 30"/>
          <p:cNvSpPr/>
          <p:nvPr/>
        </p:nvSpPr>
        <p:spPr>
          <a:xfrm>
            <a:off x="3949700" y="39052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835400" y="41465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8950" y="42227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5" name="Shape 33"/>
          <p:cNvSpPr/>
          <p:nvPr/>
        </p:nvSpPr>
        <p:spPr>
          <a:xfrm>
            <a:off x="3644900" y="42608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6" name="Shape 34"/>
          <p:cNvSpPr/>
          <p:nvPr/>
        </p:nvSpPr>
        <p:spPr>
          <a:xfrm>
            <a:off x="3987800" y="43751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7" name="Shape 35"/>
          <p:cNvSpPr/>
          <p:nvPr/>
        </p:nvSpPr>
        <p:spPr>
          <a:xfrm>
            <a:off x="3371850" y="45783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8" name="Shape 36"/>
          <p:cNvSpPr/>
          <p:nvPr/>
        </p:nvSpPr>
        <p:spPr>
          <a:xfrm>
            <a:off x="3143250" y="46164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9" name="Shape 37"/>
          <p:cNvSpPr/>
          <p:nvPr/>
        </p:nvSpPr>
        <p:spPr>
          <a:xfrm>
            <a:off x="3340100" y="47815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40" name="Shape 38"/>
          <p:cNvSpPr/>
          <p:nvPr/>
        </p:nvSpPr>
        <p:spPr>
          <a:xfrm>
            <a:off x="3492500" y="47815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41" name="Shape 39"/>
          <p:cNvSpPr/>
          <p:nvPr/>
        </p:nvSpPr>
        <p:spPr>
          <a:xfrm>
            <a:off x="2876550" y="48577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42" name="Shape 40"/>
          <p:cNvSpPr/>
          <p:nvPr/>
        </p:nvSpPr>
        <p:spPr>
          <a:xfrm>
            <a:off x="3105150" y="49339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43" name="Text 41"/>
          <p:cNvSpPr/>
          <p:nvPr/>
        </p:nvSpPr>
        <p:spPr>
          <a:xfrm>
            <a:off x="1346200" y="3175000"/>
            <a:ext cx="33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 rot="16200000">
            <a:off x="1174750" y="156845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50" kern="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609850" y="66675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-20" kern="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– One Dimensional Case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8902700" y="2705100"/>
            <a:ext cx="1371600" cy="812800"/>
          </a:xfrm>
          <a:prstGeom prst="rect">
            <a:avLst/>
          </a:prstGeom>
          <a:solidFill>
            <a:srgbClr val="FBFDE9"/>
          </a:solidFill>
          <a:ln w="9525">
            <a:solidFill>
              <a:srgbClr val="8F8BA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85250" y="2755900"/>
            <a:ext cx="12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   Length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Weight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753350" y="616966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11250" y="1200150"/>
            <a:ext cx="9842500" cy="538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35250" y="141605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 different samples of Steel Bars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01800" y="1384300"/>
            <a:ext cx="0" cy="4648200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7350" y="1276350"/>
            <a:ext cx="88900" cy="1270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701800" y="6038850"/>
            <a:ext cx="6400800" cy="0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3225" y="5997575"/>
            <a:ext cx="82550" cy="82550"/>
          </a:xfrm>
          <a:prstGeom prst="ellipse">
            <a:avLst/>
          </a:prstGeom>
          <a:solidFill>
            <a:srgbClr val="9C000C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2184400" y="2178050"/>
            <a:ext cx="4775200" cy="335915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7200" y="3479800"/>
            <a:ext cx="3429000" cy="0"/>
          </a:xfrm>
          <a:prstGeom prst="line">
            <a:avLst/>
          </a:prstGeom>
          <a:noFill/>
          <a:ln w="19050">
            <a:solidFill>
              <a:srgbClr val="80008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111750" y="3429000"/>
            <a:ext cx="0" cy="2628900"/>
          </a:xfrm>
          <a:prstGeom prst="line">
            <a:avLst/>
          </a:prstGeom>
          <a:noFill/>
          <a:ln w="19050">
            <a:solidFill>
              <a:srgbClr val="8000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7930" y="3430270"/>
            <a:ext cx="139700" cy="139700"/>
          </a:xfrm>
          <a:prstGeom prst="ellipse">
            <a:avLst/>
          </a:prstGeom>
          <a:solidFill>
            <a:srgbClr val="8000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7775" y="5955665"/>
            <a:ext cx="107950" cy="107950"/>
          </a:xfrm>
          <a:prstGeom prst="ellipse">
            <a:avLst/>
          </a:prstGeom>
          <a:solidFill>
            <a:srgbClr val="8000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788150" y="21463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5250" y="22669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019800" y="27813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9050" y="27813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0" name="Shape 18"/>
          <p:cNvSpPr/>
          <p:nvPr/>
        </p:nvSpPr>
        <p:spPr>
          <a:xfrm>
            <a:off x="5441950" y="302260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1" name="Shape 19"/>
          <p:cNvSpPr/>
          <p:nvPr/>
        </p:nvSpPr>
        <p:spPr>
          <a:xfrm>
            <a:off x="6013450" y="30670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2" name="Shape 20"/>
          <p:cNvSpPr/>
          <p:nvPr/>
        </p:nvSpPr>
        <p:spPr>
          <a:xfrm>
            <a:off x="5365750" y="33718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603750" y="37782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337050" y="38163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5" name="Shape 23"/>
          <p:cNvSpPr/>
          <p:nvPr/>
        </p:nvSpPr>
        <p:spPr>
          <a:xfrm>
            <a:off x="4908550" y="38290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6" name="Shape 24"/>
          <p:cNvSpPr/>
          <p:nvPr/>
        </p:nvSpPr>
        <p:spPr>
          <a:xfrm>
            <a:off x="3949700" y="39052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835400" y="41465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8" name="Shape 26"/>
          <p:cNvSpPr/>
          <p:nvPr/>
        </p:nvSpPr>
        <p:spPr>
          <a:xfrm>
            <a:off x="4298950" y="42227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44900" y="42608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0" name="Shape 28"/>
          <p:cNvSpPr/>
          <p:nvPr/>
        </p:nvSpPr>
        <p:spPr>
          <a:xfrm>
            <a:off x="3987800" y="43751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1" name="Shape 29"/>
          <p:cNvSpPr/>
          <p:nvPr/>
        </p:nvSpPr>
        <p:spPr>
          <a:xfrm>
            <a:off x="3371850" y="45783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2" name="Shape 30"/>
          <p:cNvSpPr/>
          <p:nvPr/>
        </p:nvSpPr>
        <p:spPr>
          <a:xfrm>
            <a:off x="3143250" y="46164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340100" y="47815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4" name="Shape 32"/>
          <p:cNvSpPr/>
          <p:nvPr/>
        </p:nvSpPr>
        <p:spPr>
          <a:xfrm>
            <a:off x="3492500" y="47815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5" name="Shape 33"/>
          <p:cNvSpPr/>
          <p:nvPr/>
        </p:nvSpPr>
        <p:spPr>
          <a:xfrm>
            <a:off x="2876550" y="48577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05150" y="4933950"/>
            <a:ext cx="88900" cy="88900"/>
          </a:xfrm>
          <a:prstGeom prst="ellipse">
            <a:avLst/>
          </a:prstGeom>
          <a:solidFill>
            <a:srgbClr val="C67E33"/>
          </a:solidFill>
          <a:ln/>
        </p:spPr>
      </p:sp>
      <p:sp>
        <p:nvSpPr>
          <p:cNvPr id="37" name="Text 35"/>
          <p:cNvSpPr/>
          <p:nvPr/>
        </p:nvSpPr>
        <p:spPr>
          <a:xfrm rot="16200000">
            <a:off x="1168400" y="159385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30" kern="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09850" y="66675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-20" kern="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– One Dimensional Case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8128000" y="2501900"/>
            <a:ext cx="1371600" cy="812800"/>
          </a:xfrm>
          <a:prstGeom prst="rect">
            <a:avLst/>
          </a:prstGeom>
          <a:solidFill>
            <a:srgbClr val="FBFDE9"/>
          </a:solidFill>
          <a:ln w="9525">
            <a:solidFill>
              <a:srgbClr val="8F8B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0550" y="2552700"/>
            <a:ext cx="1244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   Length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Weight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166100" y="3568700"/>
            <a:ext cx="2425700" cy="1447800"/>
          </a:xfrm>
          <a:prstGeom prst="rect">
            <a:avLst/>
          </a:prstGeom>
          <a:solidFill>
            <a:srgbClr val="FBFDE9"/>
          </a:solidFill>
          <a:ln w="9525">
            <a:solidFill>
              <a:srgbClr val="8F8B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5950" y="35433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50" b="1" i="1" u="sng" dirty="0">
                <a:solidFill>
                  <a:srgbClr val="B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2150" dirty="0"/>
          </a:p>
        </p:txBody>
      </p:sp>
      <p:sp>
        <p:nvSpPr>
          <p:cNvPr id="43" name="Text 41"/>
          <p:cNvSpPr/>
          <p:nvPr/>
        </p:nvSpPr>
        <p:spPr>
          <a:xfrm>
            <a:off x="8934450" y="35433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50" b="1" i="1" u="sng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Line )</a:t>
            </a:r>
            <a:endParaRPr lang="en-US" sz="2150" dirty="0"/>
          </a:p>
        </p:txBody>
      </p:sp>
      <mc:AlternateContent>
        <mc:Choice xmlns:a14="http://schemas.microsoft.com/office/drawing/2010/main" Requires="a14">
          <p:sp>
            <p:nvSpPr>
              <p:cNvPr id="44" name="Equation OMML" descr="y"/>
              <p:cNvSpPr txBox="1"/>
              <p:nvPr/>
            </p:nvSpPr>
            <p:spPr>
              <a:xfrm>
                <a:off x="8230112" y="4027420"/>
                <a:ext cx="128016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0" descr="/home/ahmed/Projects/ai_llm_slides/videos/machine-learning/02_linear-regression-classification-MSSE/recreated_pptx/build/assets/eq_s005_L2_y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230112" y="4027420"/>
                <a:ext cx="128016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="/>
              <p:cNvSpPr txBox="1"/>
              <p:nvPr/>
            </p:nvSpPr>
            <p:spPr>
              <a:xfrm>
                <a:off x="8420609" y="4042663"/>
                <a:ext cx="156975" cy="868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1" descr="/home/ahmed/Projects/ai_llm_slides/videos/machine-learning/02_linear-regression-classification-MSSE/recreated_pptx/build/assets/eq_s005_L2_eq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20609" y="4042663"/>
                <a:ext cx="156975" cy="868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a"/>
              <p:cNvSpPr txBox="1"/>
              <p:nvPr/>
            </p:nvSpPr>
            <p:spPr>
              <a:xfrm>
                <a:off x="8611106" y="4027420"/>
                <a:ext cx="126489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2" descr="/home/ahmed/Projects/ai_llm_slides/videos/machine-learning/02_linear-regression-classification-MSSE/recreated_pptx/build/assets/eq_s005_L2_a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11106" y="4027420"/>
                <a:ext cx="126489" cy="1280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7" name="Equation OMML" descr="x"/>
              <p:cNvSpPr txBox="1"/>
              <p:nvPr/>
            </p:nvSpPr>
            <p:spPr>
              <a:xfrm>
                <a:off x="8801612" y="4027420"/>
                <a:ext cx="134115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7" name="Image 3" descr="/home/ahmed/Projects/ai_llm_slides/videos/machine-learning/02_linear-regression-classification-MSSE/recreated_pptx/build/assets/eq_s005_L2_x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1612" y="4027420"/>
                <a:ext cx="134115" cy="1280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8" name="Equation OMML" descr="+"/>
              <p:cNvSpPr txBox="1"/>
              <p:nvPr/>
            </p:nvSpPr>
            <p:spPr>
              <a:xfrm>
                <a:off x="8966707" y="4006087"/>
                <a:ext cx="158493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4" descr="/home/ahmed/Projects/ai_llm_slides/videos/machine-learning/02_linear-regression-classification-MSSE/recreated_pptx/build/assets/eq_s005_L2_plus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66707" y="4006087"/>
                <a:ext cx="158493" cy="15849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9" name="Equation OMML" descr="b"/>
              <p:cNvSpPr txBox="1"/>
              <p:nvPr/>
            </p:nvSpPr>
            <p:spPr>
              <a:xfrm>
                <a:off x="9131811" y="3975610"/>
                <a:ext cx="1234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9" name="Image 5" descr="/home/ahmed/Projects/ai_llm_slides/videos/machine-learning/02_linear-regression-classification-MSSE/recreated_pptx/build/assets/eq_s005_L2_b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1811" y="3975610"/>
                <a:ext cx="12344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0" name="Equation OMML" descr="Weight"/>
              <p:cNvSpPr txBox="1"/>
              <p:nvPr/>
            </p:nvSpPr>
            <p:spPr>
              <a:xfrm>
                <a:off x="8230112" y="4299454"/>
                <a:ext cx="646179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Weight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0" name="Image 6" descr="/home/ahmed/Projects/ai_llm_slides/videos/machine-learning/02_linear-regression-classification-MSSE/recreated_pptx/build/assets/eq_s005_L3_Weight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30112" y="4299454"/>
                <a:ext cx="646179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1" name="Equation OMML" descr="="/>
              <p:cNvSpPr txBox="1"/>
              <p:nvPr/>
            </p:nvSpPr>
            <p:spPr>
              <a:xfrm>
                <a:off x="8928604" y="4366516"/>
                <a:ext cx="156975" cy="868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7" descr="/home/ahmed/Projects/ai_llm_slides/videos/machine-learning/02_linear-regression-classification-MSSE/recreated_pptx/build/assets/eq_s005_L3_eq2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28604" y="4366516"/>
                <a:ext cx="156975" cy="868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2" name="Equation OMML" descr="a"/>
              <p:cNvSpPr txBox="1"/>
              <p:nvPr/>
            </p:nvSpPr>
            <p:spPr>
              <a:xfrm>
                <a:off x="9119110" y="4351273"/>
                <a:ext cx="126489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2" name="Image 8" descr="/home/ahmed/Projects/ai_llm_slides/videos/machine-learning/02_linear-regression-classification-MSSE/recreated_pptx/build/assets/eq_s005_L3_a2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19110" y="4351273"/>
                <a:ext cx="126489" cy="1280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3" name="Equation OMML" descr="\ast"/>
              <p:cNvSpPr txBox="1"/>
              <p:nvPr/>
            </p:nvSpPr>
            <p:spPr>
              <a:xfrm>
                <a:off x="9296906" y="4343656"/>
                <a:ext cx="115827" cy="12497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3" name="Image 9" descr="/home/ahmed/Projects/ai_llm_slides/videos/machine-learning/02_linear-regression-classification-MSSE/recreated_pptx/build/assets/eq_s005_L3_ast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96906" y="4343656"/>
                <a:ext cx="115827" cy="12497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4" name="Equation OMML" descr="Length"/>
              <p:cNvSpPr txBox="1"/>
              <p:nvPr/>
            </p:nvSpPr>
            <p:spPr>
              <a:xfrm>
                <a:off x="9462010" y="4299454"/>
                <a:ext cx="652269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Length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4" name="Image 10" descr="/home/ahmed/Projects/ai_llm_slides/videos/machine-learning/02_linear-regression-classification-MSSE/recreated_pptx/build/assets/eq_s005_L3_Length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62010" y="4299454"/>
                <a:ext cx="652269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5" name="Equation OMML" descr="+"/>
              <p:cNvSpPr txBox="1"/>
              <p:nvPr/>
            </p:nvSpPr>
            <p:spPr>
              <a:xfrm>
                <a:off x="10122408" y="4329940"/>
                <a:ext cx="158493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5" name="Image 11" descr="/home/ahmed/Projects/ai_llm_slides/videos/machine-learning/02_linear-regression-classification-MSSE/recreated_pptx/build/assets/eq_s005_L3_plus2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22408" y="4329940"/>
                <a:ext cx="158493" cy="15849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6" name="Equation OMML" descr="b"/>
              <p:cNvSpPr txBox="1"/>
              <p:nvPr/>
            </p:nvSpPr>
            <p:spPr>
              <a:xfrm>
                <a:off x="10274811" y="4299454"/>
                <a:ext cx="1234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12" descr="/home/ahmed/Projects/ai_llm_slides/videos/machine-learning/02_linear-regression-classification-MSSE/recreated_pptx/build/assets/eq_s005_L3_b2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74811" y="4299454"/>
                <a:ext cx="123444" cy="178308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 42"/>
          <p:cNvSpPr/>
          <p:nvPr/>
        </p:nvSpPr>
        <p:spPr>
          <a:xfrm>
            <a:off x="8235950" y="469392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spc="-60" kern="0" dirty="0">
                <a:solidFill>
                  <a:srgbClr val="0000C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Parameters : </a:t>
            </a:r>
            <a:endParaRPr lang="en-US" sz="2000" dirty="0"/>
          </a:p>
        </p:txBody>
      </p:sp>
      <p:sp>
        <p:nvSpPr>
          <p:cNvPr id="58" name="Text 43"/>
          <p:cNvSpPr/>
          <p:nvPr/>
        </p:nvSpPr>
        <p:spPr>
          <a:xfrm>
            <a:off x="10153650" y="469392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B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000" dirty="0"/>
          </a:p>
        </p:txBody>
      </p:sp>
      <p:sp>
        <p:nvSpPr>
          <p:cNvPr id="59" name="Text 44"/>
          <p:cNvSpPr/>
          <p:nvPr/>
        </p:nvSpPr>
        <p:spPr>
          <a:xfrm>
            <a:off x="10344150" y="469392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0000C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endParaRPr lang="en-US" sz="2000" dirty="0"/>
          </a:p>
        </p:txBody>
      </p:sp>
      <p:sp>
        <p:nvSpPr>
          <p:cNvPr id="60" name="Text 45"/>
          <p:cNvSpPr/>
          <p:nvPr/>
        </p:nvSpPr>
        <p:spPr>
          <a:xfrm>
            <a:off x="10401300" y="469392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B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2000" dirty="0"/>
          </a:p>
        </p:txBody>
      </p:sp>
      <p:sp>
        <p:nvSpPr>
          <p:cNvPr id="61" name="Text 46"/>
          <p:cNvSpPr/>
          <p:nvPr/>
        </p:nvSpPr>
        <p:spPr>
          <a:xfrm>
            <a:off x="7753350" y="616966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  <p:sp>
        <p:nvSpPr>
          <p:cNvPr id="62" name="Shape 47"/>
          <p:cNvSpPr/>
          <p:nvPr/>
        </p:nvSpPr>
        <p:spPr>
          <a:xfrm>
            <a:off x="7232650" y="2457450"/>
            <a:ext cx="101600" cy="165100"/>
          </a:xfrm>
          <a:prstGeom prst="line">
            <a:avLst/>
          </a:prstGeom>
          <a:noFill/>
          <a:ln w="27940">
            <a:solidFill>
              <a:srgbClr val="8A8A8A"/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7204075" y="2422525"/>
            <a:ext cx="44450" cy="44450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6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04900" y="1219200"/>
            <a:ext cx="9829800" cy="534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302000" y="1435100"/>
            <a:ext cx="0" cy="331470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02000" y="4540250"/>
            <a:ext cx="4013200" cy="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1524000" y="4610100"/>
            <a:ext cx="1790700" cy="162560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2501900" y="4114800"/>
                </a:moveTo>
                <a:lnTo>
                  <a:pt x="5397500" y="2171700"/>
                </a:lnTo>
                <a:lnTo>
                  <a:pt x="6654800" y="2755900"/>
                </a:lnTo>
                <a:lnTo>
                  <a:pt x="3644900" y="4978400"/>
                </a:lnTo>
                <a:close/>
              </a:path>
            </a:pathLst>
          </a:custGeom>
          <a:solidFill>
            <a:srgbClr val="FFFFE0">
              <a:alpha val="50000"/>
            </a:srgbClr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8600" y="2463800"/>
            <a:ext cx="0" cy="5334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067300" y="2628900"/>
            <a:ext cx="0" cy="3683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67400" y="2832100"/>
            <a:ext cx="0" cy="3048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324600" y="2794000"/>
            <a:ext cx="0" cy="3429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59300" y="3314700"/>
            <a:ext cx="0" cy="2667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987800" y="3505200"/>
            <a:ext cx="0" cy="3048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457700" y="3111500"/>
            <a:ext cx="0" cy="3175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305300" y="3670300"/>
            <a:ext cx="0" cy="241300"/>
          </a:xfrm>
          <a:prstGeom prst="line">
            <a:avLst/>
          </a:prstGeom>
          <a:noFill/>
          <a:ln w="12700">
            <a:solidFill>
              <a:srgbClr val="B2222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724400" y="2857500"/>
            <a:ext cx="0" cy="190500"/>
          </a:xfrm>
          <a:prstGeom prst="line">
            <a:avLst/>
          </a:prstGeom>
          <a:noFill/>
          <a:ln w="12700">
            <a:solidFill>
              <a:srgbClr val="B22222">
                <a:alpha val="5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715000" y="3162300"/>
            <a:ext cx="0" cy="165100"/>
          </a:xfrm>
          <a:prstGeom prst="line">
            <a:avLst/>
          </a:prstGeom>
          <a:noFill/>
          <a:ln w="12700">
            <a:solidFill>
              <a:srgbClr val="B22222">
                <a:alpha val="50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800600" y="3797300"/>
            <a:ext cx="0" cy="190500"/>
          </a:xfrm>
          <a:prstGeom prst="line">
            <a:avLst/>
          </a:prstGeom>
          <a:noFill/>
          <a:ln w="12700">
            <a:solidFill>
              <a:srgbClr val="B22222">
                <a:alpha val="5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911600" y="4038600"/>
            <a:ext cx="0" cy="177800"/>
          </a:xfrm>
          <a:prstGeom prst="line">
            <a:avLst/>
          </a:prstGeom>
          <a:noFill/>
          <a:ln w="12700">
            <a:solidFill>
              <a:srgbClr val="B22222">
                <a:alpha val="5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276850" y="23558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3" name="Shape 21"/>
          <p:cNvSpPr/>
          <p:nvPr/>
        </p:nvSpPr>
        <p:spPr>
          <a:xfrm>
            <a:off x="5010150" y="25209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7450" y="26860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5" name="Shape 23"/>
          <p:cNvSpPr/>
          <p:nvPr/>
        </p:nvSpPr>
        <p:spPr>
          <a:xfrm>
            <a:off x="5276850" y="27241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6" name="Shape 24"/>
          <p:cNvSpPr/>
          <p:nvPr/>
        </p:nvSpPr>
        <p:spPr>
          <a:xfrm>
            <a:off x="5810250" y="27241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7" name="Shape 25"/>
          <p:cNvSpPr/>
          <p:nvPr/>
        </p:nvSpPr>
        <p:spPr>
          <a:xfrm>
            <a:off x="4400550" y="30035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8" name="Shape 26"/>
          <p:cNvSpPr/>
          <p:nvPr/>
        </p:nvSpPr>
        <p:spPr>
          <a:xfrm>
            <a:off x="4502150" y="32067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9" name="Shape 27"/>
          <p:cNvSpPr/>
          <p:nvPr/>
        </p:nvSpPr>
        <p:spPr>
          <a:xfrm>
            <a:off x="3930650" y="33972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30" name="Shape 28"/>
          <p:cNvSpPr/>
          <p:nvPr/>
        </p:nvSpPr>
        <p:spPr>
          <a:xfrm>
            <a:off x="4248150" y="35623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435350" y="39687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32" name="Shape 30"/>
          <p:cNvSpPr/>
          <p:nvPr/>
        </p:nvSpPr>
        <p:spPr>
          <a:xfrm>
            <a:off x="3854450" y="4210050"/>
            <a:ext cx="114300" cy="1143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33" name="Shape 31"/>
          <p:cNvSpPr/>
          <p:nvPr/>
        </p:nvSpPr>
        <p:spPr>
          <a:xfrm>
            <a:off x="4683125" y="2765425"/>
            <a:ext cx="82550" cy="82550"/>
          </a:xfrm>
          <a:prstGeom prst="ellipse">
            <a:avLst/>
          </a:prstGeom>
          <a:solidFill>
            <a:srgbClr val="B7C4D6"/>
          </a:solidFill>
          <a:ln/>
        </p:spPr>
      </p:sp>
      <p:sp>
        <p:nvSpPr>
          <p:cNvPr id="34" name="Shape 32"/>
          <p:cNvSpPr/>
          <p:nvPr/>
        </p:nvSpPr>
        <p:spPr>
          <a:xfrm>
            <a:off x="5673725" y="3070225"/>
            <a:ext cx="82550" cy="82550"/>
          </a:xfrm>
          <a:prstGeom prst="ellipse">
            <a:avLst/>
          </a:prstGeom>
          <a:solidFill>
            <a:srgbClr val="B7C4D6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9325" y="3705225"/>
            <a:ext cx="82550" cy="82550"/>
          </a:xfrm>
          <a:prstGeom prst="ellipse">
            <a:avLst/>
          </a:prstGeom>
          <a:solidFill>
            <a:srgbClr val="B7C4D6"/>
          </a:solidFill>
          <a:ln/>
        </p:spPr>
      </p:sp>
      <p:sp>
        <p:nvSpPr>
          <p:cNvPr id="36" name="Shape 34"/>
          <p:cNvSpPr/>
          <p:nvPr/>
        </p:nvSpPr>
        <p:spPr>
          <a:xfrm>
            <a:off x="3870325" y="3946525"/>
            <a:ext cx="82550" cy="82550"/>
          </a:xfrm>
          <a:prstGeom prst="ellipse">
            <a:avLst/>
          </a:prstGeom>
          <a:solidFill>
            <a:srgbClr val="B7C4D6"/>
          </a:solidFill>
          <a:ln/>
        </p:spPr>
      </p:sp>
      <p:sp>
        <p:nvSpPr>
          <p:cNvPr id="37" name="Shape 35"/>
          <p:cNvSpPr/>
          <p:nvPr/>
        </p:nvSpPr>
        <p:spPr>
          <a:xfrm>
            <a:off x="3438525" y="4251325"/>
            <a:ext cx="82550" cy="82550"/>
          </a:xfrm>
          <a:prstGeom prst="ellipse">
            <a:avLst/>
          </a:prstGeom>
          <a:solidFill>
            <a:srgbClr val="B7C4D6"/>
          </a:solidFill>
          <a:ln/>
        </p:spPr>
      </p:sp>
      <p:sp>
        <p:nvSpPr>
          <p:cNvPr id="38" name="Shape 36"/>
          <p:cNvSpPr/>
          <p:nvPr/>
        </p:nvSpPr>
        <p:spPr>
          <a:xfrm>
            <a:off x="5470525" y="3438525"/>
            <a:ext cx="57150" cy="57150"/>
          </a:xfrm>
          <a:prstGeom prst="ellipse">
            <a:avLst/>
          </a:prstGeom>
          <a:solidFill>
            <a:srgbClr val="CBD5E2"/>
          </a:solidFill>
          <a:ln/>
        </p:spPr>
      </p:sp>
      <p:sp>
        <p:nvSpPr>
          <p:cNvPr id="39" name="Shape 37"/>
          <p:cNvSpPr/>
          <p:nvPr/>
        </p:nvSpPr>
        <p:spPr>
          <a:xfrm>
            <a:off x="5114925" y="3641725"/>
            <a:ext cx="57150" cy="57150"/>
          </a:xfrm>
          <a:prstGeom prst="ellipse">
            <a:avLst/>
          </a:prstGeom>
          <a:solidFill>
            <a:srgbClr val="CBD5E2"/>
          </a:solidFill>
          <a:ln/>
        </p:spPr>
      </p:sp>
      <p:sp>
        <p:nvSpPr>
          <p:cNvPr id="40" name="Shape 38"/>
          <p:cNvSpPr/>
          <p:nvPr/>
        </p:nvSpPr>
        <p:spPr>
          <a:xfrm>
            <a:off x="3263900" y="3810000"/>
            <a:ext cx="1333500" cy="0"/>
          </a:xfrm>
          <a:prstGeom prst="line">
            <a:avLst/>
          </a:prstGeom>
          <a:noFill/>
          <a:ln w="12700">
            <a:solidFill>
              <a:srgbClr val="B22222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4610100" y="3873500"/>
            <a:ext cx="0" cy="1041400"/>
          </a:xfrm>
          <a:prstGeom prst="line">
            <a:avLst/>
          </a:prstGeom>
          <a:noFill/>
          <a:ln w="12700">
            <a:solidFill>
              <a:srgbClr val="B22222"/>
            </a:solidFill>
            <a:prstDash val="sysDot"/>
          </a:ln>
        </p:spPr>
      </p:sp>
      <p:sp>
        <p:nvSpPr>
          <p:cNvPr id="42" name="Shape 40"/>
          <p:cNvSpPr/>
          <p:nvPr/>
        </p:nvSpPr>
        <p:spPr>
          <a:xfrm>
            <a:off x="3048000" y="4914900"/>
            <a:ext cx="1562100" cy="0"/>
          </a:xfrm>
          <a:prstGeom prst="line">
            <a:avLst/>
          </a:prstGeom>
          <a:noFill/>
          <a:ln w="12700">
            <a:solidFill>
              <a:srgbClr val="B22222"/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4533900" y="3740150"/>
            <a:ext cx="127000" cy="133350"/>
          </a:xfrm>
          <a:prstGeom prst="triangl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6765" y="3775075"/>
            <a:ext cx="69850" cy="6985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4813300" y="4483100"/>
            <a:ext cx="139700" cy="139700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46" name="Shape 44"/>
          <p:cNvSpPr/>
          <p:nvPr/>
        </p:nvSpPr>
        <p:spPr>
          <a:xfrm>
            <a:off x="2851150" y="4806950"/>
            <a:ext cx="190500" cy="190500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47" name="Shape 45"/>
          <p:cNvSpPr/>
          <p:nvPr/>
        </p:nvSpPr>
        <p:spPr>
          <a:xfrm>
            <a:off x="2975610" y="3663950"/>
            <a:ext cx="292100" cy="2921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2975610" y="366395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 rot="16200000">
            <a:off x="2711450" y="16281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43700" y="45491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 rot="19080000">
            <a:off x="1676400" y="570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676400" y="6477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– </a:t>
            </a:r>
            <a:pPr algn="ctr" indent="0" marL="0">
              <a:buNone/>
            </a:pPr>
            <a:r>
              <a:rPr lang="en-US" sz="1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 Case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3644900" y="136017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C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Length, Radius,  and Weight of  different samples of Steel Bars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8509000" y="1892300"/>
            <a:ext cx="2120900" cy="800100"/>
          </a:xfrm>
          <a:prstGeom prst="rect">
            <a:avLst/>
          </a:prstGeom>
          <a:solidFill>
            <a:srgbClr val="FFFFE0">
              <a:alpha val="88000"/>
            </a:srgbClr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72500" y="1917700"/>
            <a:ext cx="20320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u="sng" dirty="0">
                <a:solidFill>
                  <a:srgbClr val="B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6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I/P:   Length, Radius</a:t>
            </a:r>
            <a:endParaRPr lang="en-US" sz="16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O/P: Weight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99300" y="2882900"/>
            <a:ext cx="3556000" cy="1435100"/>
          </a:xfrm>
          <a:prstGeom prst="rect">
            <a:avLst/>
          </a:prstGeom>
          <a:solidFill>
            <a:srgbClr val="FFFFE0">
              <a:alpha val="88000"/>
            </a:srgbClr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7400" y="2867025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u="sng" dirty="0">
                <a:solidFill>
                  <a:srgbClr val="B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</a:t>
            </a:r>
            <a:pPr algn="l" indent="0" marL="0">
              <a:buNone/>
            </a:pPr>
            <a:r>
              <a:rPr lang="en-US" sz="2100" b="1" i="1" u="sng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Plane)</a:t>
            </a:r>
            <a:endParaRPr lang="en-US" sz="2100" dirty="0"/>
          </a:p>
        </p:txBody>
      </p:sp>
      <mc:AlternateContent>
        <mc:Choice xmlns:a14="http://schemas.microsoft.com/office/drawing/2010/main" Requires="a14">
          <p:sp>
            <p:nvSpPr>
              <p:cNvPr id="58" name="Equation OMML" descr="z ="/>
              <p:cNvSpPr txBox="1"/>
              <p:nvPr/>
            </p:nvSpPr>
            <p:spPr>
              <a:xfrm>
                <a:off x="7150608" y="3331717"/>
                <a:ext cx="303279" cy="14020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z=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0" descr="/home/ahmed/Projects/ai_llm_slides/videos/machine-learning/02_linear-regression-classification-MSSE/recreated_pptx/build/assets/eq_s006_L2_r0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150608" y="3331717"/>
                <a:ext cx="303279" cy="14020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9" name="Equation OMML" descr="a"/>
              <p:cNvSpPr txBox="1"/>
              <p:nvPr/>
            </p:nvSpPr>
            <p:spPr>
              <a:xfrm>
                <a:off x="7518910" y="3328672"/>
                <a:ext cx="129543" cy="1295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1" descr="/home/ahmed/Projects/ai_llm_slides/videos/machine-learning/02_linear-regression-classification-MSSE/recreated_pptx/build/assets/eq_s006_L2_r1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18910" y="3328672"/>
                <a:ext cx="129543" cy="12954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x"/>
              <p:cNvSpPr txBox="1"/>
              <p:nvPr/>
            </p:nvSpPr>
            <p:spPr>
              <a:xfrm>
                <a:off x="7709407" y="3328672"/>
                <a:ext cx="137160" cy="1295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2" descr="/home/ahmed/Projects/ai_llm_slides/videos/machine-learning/02_linear-regression-classification-MSSE/recreated_pptx/build/assets/eq_s006_L2_r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09407" y="3328672"/>
                <a:ext cx="137160" cy="12954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+"/>
              <p:cNvSpPr txBox="1"/>
              <p:nvPr/>
            </p:nvSpPr>
            <p:spPr>
              <a:xfrm>
                <a:off x="7849109" y="3307330"/>
                <a:ext cx="160020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3" descr="/home/ahmed/Projects/ai_llm_slides/videos/machine-learning/02_linear-regression-classification-MSSE/recreated_pptx/build/assets/eq_s006_L2_r3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9109" y="3307330"/>
                <a:ext cx="160020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b"/>
              <p:cNvSpPr txBox="1"/>
              <p:nvPr/>
            </p:nvSpPr>
            <p:spPr>
              <a:xfrm>
                <a:off x="8026905" y="3276853"/>
                <a:ext cx="124971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4" descr="/home/ahmed/Projects/ai_llm_slides/videos/machine-learning/02_linear-regression-classification-MSSE/recreated_pptx/build/assets/eq_s006_L2_r4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6905" y="3276853"/>
                <a:ext cx="124971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y"/>
              <p:cNvSpPr txBox="1"/>
              <p:nvPr/>
            </p:nvSpPr>
            <p:spPr>
              <a:xfrm>
                <a:off x="8217411" y="3328672"/>
                <a:ext cx="131061" cy="17220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5" descr="/home/ahmed/Projects/ai_llm_slides/videos/machine-learning/02_linear-regression-classification-MSSE/recreated_pptx/build/assets/eq_s006_L2_r5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17411" y="3328672"/>
                <a:ext cx="131061" cy="17220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+"/>
              <p:cNvSpPr txBox="1"/>
              <p:nvPr/>
            </p:nvSpPr>
            <p:spPr>
              <a:xfrm>
                <a:off x="8382506" y="3307330"/>
                <a:ext cx="160020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6" descr="/home/ahmed/Projects/ai_llm_slides/videos/machine-learning/02_linear-regression-classification-MSSE/recreated_pptx/build/assets/eq_s006_L2_r6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82506" y="3307330"/>
                <a:ext cx="160020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c"/>
              <p:cNvSpPr txBox="1"/>
              <p:nvPr/>
            </p:nvSpPr>
            <p:spPr>
              <a:xfrm>
                <a:off x="8560311" y="3328672"/>
                <a:ext cx="111255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7" descr="/home/ahmed/Projects/ai_llm_slides/videos/machine-learning/02_linear-regression-classification-MSSE/recreated_pptx/build/assets/eq_s006_L2_r7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0311" y="3328672"/>
                <a:ext cx="111255" cy="1280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Weight"/>
              <p:cNvSpPr txBox="1"/>
              <p:nvPr/>
            </p:nvSpPr>
            <p:spPr>
              <a:xfrm>
                <a:off x="7150608" y="3576575"/>
                <a:ext cx="65836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Weight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8" descr="/home/ahmed/Projects/ai_llm_slides/videos/machine-learning/02_linear-regression-classification-MSSE/recreated_pptx/build/assets/eq_s006_L3_r0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50608" y="3576575"/>
                <a:ext cx="65836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="/>
              <p:cNvSpPr txBox="1"/>
              <p:nvPr/>
            </p:nvSpPr>
            <p:spPr>
              <a:xfrm>
                <a:off x="7887212" y="3643628"/>
                <a:ext cx="160020" cy="883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9" descr="/home/ahmed/Projects/ai_llm_slides/videos/machine-learning/02_linear-regression-classification-MSSE/recreated_pptx/build/assets/eq_s006_L3_r1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87212" y="3643628"/>
                <a:ext cx="160020" cy="8839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a"/>
              <p:cNvSpPr txBox="1"/>
              <p:nvPr/>
            </p:nvSpPr>
            <p:spPr>
              <a:xfrm>
                <a:off x="8065008" y="3628385"/>
                <a:ext cx="129543" cy="1295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10" descr="/home/ahmed/Projects/ai_llm_slides/videos/machine-learning/02_linear-regression-classification-MSSE/recreated_pptx/build/assets/eq_s006_L3_r2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65008" y="3628385"/>
                <a:ext cx="129543" cy="12954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ast"/>
              <p:cNvSpPr txBox="1"/>
              <p:nvPr/>
            </p:nvSpPr>
            <p:spPr>
              <a:xfrm>
                <a:off x="8217411" y="3620768"/>
                <a:ext cx="117345" cy="12648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11" descr="/home/ahmed/Projects/ai_llm_slides/videos/machine-learning/02_linear-regression-classification-MSSE/recreated_pptx/build/assets/eq_s006_L3_r3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17411" y="3620768"/>
                <a:ext cx="117345" cy="12648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Length"/>
              <p:cNvSpPr txBox="1"/>
              <p:nvPr/>
            </p:nvSpPr>
            <p:spPr>
              <a:xfrm>
                <a:off x="8369805" y="3576575"/>
                <a:ext cx="662940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Length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12" descr="/home/ahmed/Projects/ai_llm_slides/videos/machine-learning/02_linear-regression-classification-MSSE/recreated_pptx/build/assets/eq_s006_L3_r4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69805" y="3576575"/>
                <a:ext cx="662940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+"/>
              <p:cNvSpPr txBox="1"/>
              <p:nvPr/>
            </p:nvSpPr>
            <p:spPr>
              <a:xfrm>
                <a:off x="9081007" y="3607052"/>
                <a:ext cx="160020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13" descr="/home/ahmed/Projects/ai_llm_slides/videos/machine-learning/02_linear-regression-classification-MSSE/recreated_pptx/build/assets/eq_s006_L3_r5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81007" y="3607052"/>
                <a:ext cx="160020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b"/>
              <p:cNvSpPr txBox="1"/>
              <p:nvPr/>
            </p:nvSpPr>
            <p:spPr>
              <a:xfrm>
                <a:off x="9258812" y="3576575"/>
                <a:ext cx="124971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14" descr="/home/ahmed/Projects/ai_llm_slides/videos/machine-learning/02_linear-regression-classification-MSSE/recreated_pptx/build/assets/eq_s006_L3_r6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58812" y="3576575"/>
                <a:ext cx="124971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\ast"/>
              <p:cNvSpPr txBox="1"/>
              <p:nvPr/>
            </p:nvSpPr>
            <p:spPr>
              <a:xfrm>
                <a:off x="9398505" y="3620768"/>
                <a:ext cx="117345" cy="12648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15" descr="/home/ahmed/Projects/ai_llm_slides/videos/machine-learning/02_linear-regression-classification-MSSE/recreated_pptx/build/assets/eq_s006_L3_r7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98505" y="3620768"/>
                <a:ext cx="117345" cy="12648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Radius"/>
              <p:cNvSpPr txBox="1"/>
              <p:nvPr/>
            </p:nvSpPr>
            <p:spPr>
              <a:xfrm>
                <a:off x="9538207" y="3576575"/>
                <a:ext cx="652269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Radius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16" descr="/home/ahmed/Projects/ai_llm_slides/videos/machine-learning/02_linear-regression-classification-MSSE/recreated_pptx/build/assets/eq_s006_L3_r8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38207" y="3576575"/>
                <a:ext cx="652269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+"/>
              <p:cNvSpPr txBox="1"/>
              <p:nvPr/>
            </p:nvSpPr>
            <p:spPr>
              <a:xfrm>
                <a:off x="10312905" y="3607052"/>
                <a:ext cx="160020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0000CD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17" descr="/home/ahmed/Projects/ai_llm_slides/videos/machine-learning/02_linear-regression-classification-MSSE/recreated_pptx/build/assets/eq_s006_L3_r9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12905" y="3607052"/>
                <a:ext cx="160020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c"/>
              <p:cNvSpPr txBox="1"/>
              <p:nvPr/>
            </p:nvSpPr>
            <p:spPr>
              <a:xfrm>
                <a:off x="10490710" y="3628394"/>
                <a:ext cx="111255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0">
                          <a:solidFill>
                            <a:srgbClr val="B22222"/>
                          </a:solidFill>
                          <a:latin typeface="Cambria Math" panose="02040503050406030204" pitchFamily="18" charset="0"/>
                        </a:rPr>
                        <m:t xml:space="preserve"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18" descr="/home/ahmed/Projects/ai_llm_slides/videos/machine-learning/02_linear-regression-classification-MSSE/recreated_pptx/build/assets/eq_s006_L3_r10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90710" y="3628394"/>
                <a:ext cx="111255" cy="128016"/>
              </a:xfrm>
              <a:prstGeom prst="rect">
                <a:avLst/>
              </a:prstGeom>
            </p:spPr>
          </p:pic>
        </mc:Fallback>
      </mc:AlternateContent>
      <p:sp>
        <p:nvSpPr>
          <p:cNvPr id="77" name="Text 56"/>
          <p:cNvSpPr/>
          <p:nvPr/>
        </p:nvSpPr>
        <p:spPr>
          <a:xfrm>
            <a:off x="7137400" y="4014470"/>
            <a:ext cx="317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C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Parameters</a:t>
            </a:r>
            <a:pPr algn="l" indent="0" marL="0">
              <a:buNone/>
            </a:pPr>
            <a:r>
              <a:rPr lang="en-US" sz="1800" b="1" i="1" dirty="0">
                <a:solidFill>
                  <a:srgbClr val="B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a , b , c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0" y="1435100"/>
            <a:ext cx="4114800" cy="5118100"/>
          </a:xfrm>
          <a:prstGeom prst="rect">
            <a:avLst/>
          </a:prstGeom>
          <a:solidFill>
            <a:srgbClr val="C0B0A0"/>
          </a:solidFill>
          <a:ln w="12700">
            <a:solidFill>
              <a:srgbClr val="6B44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40600" y="1651000"/>
            <a:ext cx="3251200" cy="254000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5300" y="1498600"/>
            <a:ext cx="1955800" cy="317500"/>
          </a:xfrm>
          <a:prstGeom prst="rect">
            <a:avLst/>
          </a:prstGeom>
          <a:solidFill>
            <a:srgbClr val="0000A8"/>
          </a:solidFill>
          <a:ln w="6350">
            <a:solidFill>
              <a:srgbClr val="0000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15300" y="1484630"/>
            <a:ext cx="1955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382000" y="1935480"/>
            <a:ext cx="76200" cy="207264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C984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5050" y="1935480"/>
            <a:ext cx="76200" cy="207264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C98494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1" name="Equation OMML" descr="x_{1}"/>
              <p:cNvSpPr txBox="1"/>
              <p:nvPr/>
            </p:nvSpPr>
            <p:spPr>
              <a:xfrm>
                <a:off x="8460738" y="2147318"/>
                <a:ext cx="198123" cy="16306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3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3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3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0" descr="/home/ahmed/Projects/ai_llm_slides/videos/machine-learning/02_linear-regression-classification-MSSE/recreated_pptx/build/assets/eq/s_x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460738" y="2147318"/>
                <a:ext cx="198123" cy="16306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" name="Equation OMML" descr="x_{2}"/>
              <p:cNvSpPr txBox="1"/>
              <p:nvPr/>
            </p:nvSpPr>
            <p:spPr>
              <a:xfrm>
                <a:off x="8459216" y="2468626"/>
                <a:ext cx="201168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34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34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34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1" descr="/home/ahmed/Projects/ai_llm_slides/videos/machine-learning/02_linear-regression-classification-MSSE/recreated_pptx/build/assets/eq/s_x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59216" y="2468626"/>
                <a:ext cx="201168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" name="Equation OMML" descr="x_{3}"/>
              <p:cNvSpPr txBox="1"/>
              <p:nvPr/>
            </p:nvSpPr>
            <p:spPr>
              <a:xfrm>
                <a:off x="8460738" y="2784604"/>
                <a:ext cx="198123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2" descr="/home/ahmed/Projects/ai_llm_slides/videos/machine-learning/02_linear-regression-classification-MSSE/recreated_pptx/build/assets/eq/s_x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0738" y="2784604"/>
                <a:ext cx="198123" cy="158493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 3" descr="/home/ahmed/Projects/ai_llm_slides/videos/machine-learning/02_linear-regression-classification-MSSE/recreated_pptx/build/assets/eq/s_do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454" y="3215640"/>
            <a:ext cx="170691" cy="45720"/>
          </a:xfrm>
          <a:prstGeom prst="rect">
            <a:avLst/>
          </a:prstGeom>
        </p:spPr>
      </p:pic>
      <p:pic>
        <p:nvPicPr>
          <p:cNvPr id="15" name="Image 4" descr="/home/ahmed/Projects/ai_llm_slides/videos/machine-learning/02_linear-regression-classification-MSSE/recreated_pptx/build/assets/eq/s_do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454" y="3514090"/>
            <a:ext cx="170691" cy="4572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6" name="Equation OMML" descr="x_{d}"/>
              <p:cNvSpPr txBox="1"/>
              <p:nvPr/>
            </p:nvSpPr>
            <p:spPr>
              <a:xfrm>
                <a:off x="8458452" y="3741676"/>
                <a:ext cx="202695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67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67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667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5" descr="/home/ahmed/Projects/ai_llm_slides/videos/machine-learning/02_linear-regression-classification-MSSE/recreated_pptx/build/assets/eq/s_xd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8452" y="3741676"/>
                <a:ext cx="202695" cy="149349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 9"/>
          <p:cNvSpPr/>
          <p:nvPr/>
        </p:nvSpPr>
        <p:spPr>
          <a:xfrm>
            <a:off x="7670800" y="2819400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9156700" y="2819400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70" kern="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(</a:t>
            </a:r>
            <a:pPr algn="l" indent="0" marL="0">
              <a:buNone/>
            </a:pPr>
            <a:r>
              <a:rPr lang="en-US" sz="1600" b="1" i="1" spc="70" kern="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600" b="1" spc="70" kern="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308100" y="1016000"/>
            <a:ext cx="1930400" cy="317500"/>
          </a:xfrm>
          <a:prstGeom prst="rect">
            <a:avLst/>
          </a:prstGeom>
          <a:solidFill>
            <a:srgbClr val="8B0000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308100" y="1002030"/>
            <a:ext cx="1930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Vector: 1-D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4292600" y="1016000"/>
            <a:ext cx="1930400" cy="317500"/>
          </a:xfrm>
          <a:prstGeom prst="rect">
            <a:avLst/>
          </a:prstGeom>
          <a:solidFill>
            <a:srgbClr val="8B0000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292600" y="1002030"/>
            <a:ext cx="1930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Vector: 2-D</a:t>
            </a:r>
            <a:endParaRPr lang="en-US" sz="1450" dirty="0"/>
          </a:p>
        </p:txBody>
      </p:sp>
      <p:sp>
        <p:nvSpPr>
          <p:cNvPr id="23" name="Shape 15"/>
          <p:cNvSpPr/>
          <p:nvPr/>
        </p:nvSpPr>
        <p:spPr>
          <a:xfrm>
            <a:off x="8128000" y="1016000"/>
            <a:ext cx="1930400" cy="317500"/>
          </a:xfrm>
          <a:prstGeom prst="rect">
            <a:avLst/>
          </a:prstGeom>
          <a:solidFill>
            <a:srgbClr val="006400"/>
          </a:solidFill>
          <a:ln w="6350">
            <a:solidFill>
              <a:srgbClr val="006400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128000" y="1002030"/>
            <a:ext cx="1930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Vector: d-D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838200" y="1625600"/>
            <a:ext cx="28702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A8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3987800" y="1625600"/>
            <a:ext cx="30734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A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96950" y="1689100"/>
            <a:ext cx="0" cy="2324100"/>
          </a:xfrm>
          <a:prstGeom prst="line">
            <a:avLst/>
          </a:prstGeom>
          <a:noFill/>
          <a:ln w="12700">
            <a:solidFill>
              <a:srgbClr val="B97A8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965200" y="4019550"/>
            <a:ext cx="2705100" cy="0"/>
          </a:xfrm>
          <a:prstGeom prst="line">
            <a:avLst/>
          </a:prstGeom>
          <a:noFill/>
          <a:ln w="12700">
            <a:solidFill>
              <a:srgbClr val="B97A8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 flipV="1">
            <a:off x="1244600" y="2133600"/>
            <a:ext cx="2336800" cy="161290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6000" y="2743200"/>
            <a:ext cx="16383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ysDot"/>
          </a:ln>
        </p:spPr>
      </p:sp>
      <p:sp>
        <p:nvSpPr>
          <p:cNvPr id="31" name="Shape 23"/>
          <p:cNvSpPr/>
          <p:nvPr/>
        </p:nvSpPr>
        <p:spPr>
          <a:xfrm>
            <a:off x="2679700" y="2755900"/>
            <a:ext cx="0" cy="1257300"/>
          </a:xfrm>
          <a:prstGeom prst="line">
            <a:avLst/>
          </a:prstGeom>
          <a:noFill/>
          <a:ln w="12700">
            <a:solidFill>
              <a:srgbClr val="FF00FF"/>
            </a:solidFill>
            <a:prstDash val="sysDot"/>
          </a:ln>
        </p:spPr>
      </p:sp>
      <p:sp>
        <p:nvSpPr>
          <p:cNvPr id="32" name="Shape 24"/>
          <p:cNvSpPr/>
          <p:nvPr/>
        </p:nvSpPr>
        <p:spPr>
          <a:xfrm>
            <a:off x="3489960" y="20802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312160" y="21818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286760" y="23850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134360" y="24231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842260" y="25247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108960" y="25501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2791460" y="26898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2435860" y="29057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2308860" y="29057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2588260" y="29184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2105660" y="29438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2054860" y="30708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2283460" y="31216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965960" y="31343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2131060" y="31978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826260" y="32740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724660" y="33121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826260" y="33756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889760" y="33883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584960" y="34391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699260" y="3451860"/>
            <a:ext cx="55880" cy="55880"/>
          </a:xfrm>
          <a:prstGeom prst="ellipse">
            <a:avLst/>
          </a:prstGeom>
          <a:solidFill>
            <a:srgbClr val="A0522D"/>
          </a:solidFill>
          <a:ln w="3175">
            <a:solidFill>
              <a:srgbClr val="A0522D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2635250" y="2711450"/>
            <a:ext cx="63500" cy="63500"/>
          </a:xfrm>
          <a:prstGeom prst="ellipse">
            <a:avLst/>
          </a:prstGeom>
          <a:solidFill>
            <a:srgbClr val="C00000"/>
          </a:solidFill>
          <a:ln w="3175">
            <a:solidFill>
              <a:srgbClr val="C00000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965200" y="1676400"/>
            <a:ext cx="63500" cy="63500"/>
          </a:xfrm>
          <a:prstGeom prst="ellipse">
            <a:avLst/>
          </a:prstGeom>
          <a:solidFill>
            <a:srgbClr val="B97A87"/>
          </a:solidFill>
          <a:ln w="3175">
            <a:solidFill>
              <a:srgbClr val="B97A87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876300" y="1892300"/>
            <a:ext cx="63500" cy="63500"/>
          </a:xfrm>
          <a:prstGeom prst="ellipse">
            <a:avLst/>
          </a:prstGeom>
          <a:solidFill>
            <a:srgbClr val="B97A87"/>
          </a:solidFill>
          <a:ln w="3175">
            <a:solidFill>
              <a:srgbClr val="B97A87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3441700" y="4089400"/>
            <a:ext cx="165100" cy="63500"/>
          </a:xfrm>
          <a:prstGeom prst="ellipse">
            <a:avLst/>
          </a:prstGeom>
          <a:solidFill>
            <a:srgbClr val="B97A87"/>
          </a:solidFill>
          <a:ln w="3175">
            <a:solidFill>
              <a:srgbClr val="B97A87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568700" y="3987800"/>
            <a:ext cx="63500" cy="63500"/>
          </a:xfrm>
          <a:prstGeom prst="ellipse">
            <a:avLst/>
          </a:prstGeom>
          <a:solidFill>
            <a:srgbClr val="B97A87"/>
          </a:solidFill>
          <a:ln w="3175">
            <a:solidFill>
              <a:srgbClr val="B97A87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 rot="16200000">
            <a:off x="723900" y="1778000"/>
            <a:ext cx="38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750" dirty="0"/>
          </a:p>
        </p:txBody>
      </p:sp>
      <p:sp>
        <p:nvSpPr>
          <p:cNvPr id="59" name="Text 51"/>
          <p:cNvSpPr/>
          <p:nvPr/>
        </p:nvSpPr>
        <p:spPr>
          <a:xfrm>
            <a:off x="3308350" y="4089400"/>
            <a:ext cx="38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750" dirty="0"/>
          </a:p>
        </p:txBody>
      </p:sp>
      <p:pic>
        <p:nvPicPr>
          <p:cNvPr id="60" name="Image 6" descr="/home/ahmed/Projects/ai_llm_slides/videos/machine-learning/02_linear-regression-classification-MSSE/recreated_pptx/build/assets/mplot_plan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7800" y="1625600"/>
            <a:ext cx="3060700" cy="2578100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4787900" y="2794000"/>
            <a:ext cx="177800" cy="1778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4787900" y="27940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4876800" y="2895600"/>
            <a:ext cx="876300" cy="3683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5689600" y="3263900"/>
            <a:ext cx="1270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5753100" y="32004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5715000" y="3225800"/>
            <a:ext cx="76200" cy="76200"/>
          </a:xfrm>
          <a:prstGeom prst="ellipse">
            <a:avLst/>
          </a:prstGeom>
          <a:solidFill>
            <a:srgbClr val="C00000"/>
          </a:solidFill>
          <a:ln w="3175">
            <a:solidFill>
              <a:srgbClr val="C00000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076700" y="3987800"/>
            <a:ext cx="1270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4140200" y="39243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4102100" y="3949700"/>
            <a:ext cx="76200" cy="76200"/>
          </a:xfrm>
          <a:prstGeom prst="ellipse">
            <a:avLst/>
          </a:prstGeom>
          <a:solidFill>
            <a:srgbClr val="C00000"/>
          </a:solidFill>
          <a:ln w="3175">
            <a:solidFill>
              <a:srgbClr val="C00000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850900" y="4330700"/>
            <a:ext cx="2235200" cy="723900"/>
          </a:xfrm>
          <a:prstGeom prst="rect">
            <a:avLst/>
          </a:prstGeom>
          <a:solidFill>
            <a:srgbClr val="FFFFE0"/>
          </a:solidFill>
          <a:ln w="9525">
            <a:solidFill>
              <a:srgbClr val="8080B0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3975100" y="4343400"/>
            <a:ext cx="2997200" cy="736600"/>
          </a:xfrm>
          <a:prstGeom prst="rect">
            <a:avLst/>
          </a:prstGeom>
          <a:solidFill>
            <a:srgbClr val="FFFFE0"/>
          </a:solidFill>
          <a:ln w="9525">
            <a:solidFill>
              <a:srgbClr val="8080B0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7340600" y="4356100"/>
            <a:ext cx="2933700" cy="723900"/>
          </a:xfrm>
          <a:prstGeom prst="rect">
            <a:avLst/>
          </a:prstGeom>
          <a:solidFill>
            <a:srgbClr val="FFFFE0"/>
          </a:solidFill>
          <a:ln w="9525">
            <a:solidFill>
              <a:srgbClr val="8080B0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965200" y="43865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</a:t>
            </a:r>
            <a:endParaRPr lang="en-US" sz="1600" dirty="0"/>
          </a:p>
        </p:txBody>
      </p:sp>
      <p:sp>
        <p:nvSpPr>
          <p:cNvPr id="74" name="Text 65"/>
          <p:cNvSpPr/>
          <p:nvPr/>
        </p:nvSpPr>
        <p:spPr>
          <a:xfrm>
            <a:off x="965200" y="457200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I/P:</a:t>
            </a:r>
            <a:endParaRPr lang="en-US" sz="1600" dirty="0"/>
          </a:p>
        </p:txBody>
      </p:sp>
      <p:sp>
        <p:nvSpPr>
          <p:cNvPr id="75" name="Text 66"/>
          <p:cNvSpPr/>
          <p:nvPr/>
        </p:nvSpPr>
        <p:spPr>
          <a:xfrm>
            <a:off x="1384300" y="457200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Length</a:t>
            </a:r>
            <a:endParaRPr lang="en-US" sz="1600" dirty="0"/>
          </a:p>
        </p:txBody>
      </p:sp>
      <p:sp>
        <p:nvSpPr>
          <p:cNvPr id="76" name="Text 67"/>
          <p:cNvSpPr/>
          <p:nvPr/>
        </p:nvSpPr>
        <p:spPr>
          <a:xfrm>
            <a:off x="2222500" y="457200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[x]</a:t>
            </a:r>
            <a:endParaRPr lang="en-US" sz="1600" dirty="0"/>
          </a:p>
        </p:txBody>
      </p:sp>
      <p:sp>
        <p:nvSpPr>
          <p:cNvPr id="77" name="Text 68"/>
          <p:cNvSpPr/>
          <p:nvPr/>
        </p:nvSpPr>
        <p:spPr>
          <a:xfrm>
            <a:off x="965200" y="481203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O/P:</a:t>
            </a:r>
            <a:endParaRPr lang="en-US" sz="1600" dirty="0"/>
          </a:p>
        </p:txBody>
      </p:sp>
      <p:sp>
        <p:nvSpPr>
          <p:cNvPr id="78" name="Text 69"/>
          <p:cNvSpPr/>
          <p:nvPr/>
        </p:nvSpPr>
        <p:spPr>
          <a:xfrm>
            <a:off x="1384300" y="481203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Weight</a:t>
            </a:r>
            <a:endParaRPr lang="en-US" sz="1600" dirty="0"/>
          </a:p>
        </p:txBody>
      </p:sp>
      <p:sp>
        <p:nvSpPr>
          <p:cNvPr id="79" name="Text 70"/>
          <p:cNvSpPr/>
          <p:nvPr/>
        </p:nvSpPr>
        <p:spPr>
          <a:xfrm>
            <a:off x="2247900" y="481203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[y]</a:t>
            </a:r>
            <a:endParaRPr lang="en-US" sz="1600" dirty="0"/>
          </a:p>
        </p:txBody>
      </p:sp>
      <p:sp>
        <p:nvSpPr>
          <p:cNvPr id="80" name="Text 71"/>
          <p:cNvSpPr/>
          <p:nvPr/>
        </p:nvSpPr>
        <p:spPr>
          <a:xfrm>
            <a:off x="4089400" y="44119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</a:t>
            </a:r>
            <a:endParaRPr lang="en-US" sz="1600" dirty="0"/>
          </a:p>
        </p:txBody>
      </p:sp>
      <p:sp>
        <p:nvSpPr>
          <p:cNvPr id="81" name="Text 72"/>
          <p:cNvSpPr/>
          <p:nvPr/>
        </p:nvSpPr>
        <p:spPr>
          <a:xfrm>
            <a:off x="4089400" y="46278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I/P:</a:t>
            </a:r>
            <a:endParaRPr lang="en-US" sz="1600" dirty="0"/>
          </a:p>
        </p:txBody>
      </p:sp>
      <p:sp>
        <p:nvSpPr>
          <p:cNvPr id="82" name="Text 73"/>
          <p:cNvSpPr/>
          <p:nvPr/>
        </p:nvSpPr>
        <p:spPr>
          <a:xfrm>
            <a:off x="4495800" y="46278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Length,</a:t>
            </a:r>
            <a:endParaRPr lang="en-US" sz="1600" dirty="0"/>
          </a:p>
        </p:txBody>
      </p:sp>
      <p:sp>
        <p:nvSpPr>
          <p:cNvPr id="83" name="Text 74"/>
          <p:cNvSpPr/>
          <p:nvPr/>
        </p:nvSpPr>
        <p:spPr>
          <a:xfrm>
            <a:off x="5194300" y="46278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Radius</a:t>
            </a:r>
            <a:endParaRPr lang="en-US" sz="1600" dirty="0"/>
          </a:p>
        </p:txBody>
      </p:sp>
      <p:sp>
        <p:nvSpPr>
          <p:cNvPr id="84" name="Text 75"/>
          <p:cNvSpPr/>
          <p:nvPr/>
        </p:nvSpPr>
        <p:spPr>
          <a:xfrm>
            <a:off x="6007100" y="46278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[x,y]</a:t>
            </a:r>
            <a:endParaRPr lang="en-US" sz="1600" dirty="0"/>
          </a:p>
        </p:txBody>
      </p:sp>
      <p:sp>
        <p:nvSpPr>
          <p:cNvPr id="85" name="Text 76"/>
          <p:cNvSpPr/>
          <p:nvPr/>
        </p:nvSpPr>
        <p:spPr>
          <a:xfrm>
            <a:off x="4089400" y="48437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O/P:</a:t>
            </a:r>
            <a:endParaRPr lang="en-US" sz="1600" dirty="0"/>
          </a:p>
        </p:txBody>
      </p:sp>
      <p:sp>
        <p:nvSpPr>
          <p:cNvPr id="86" name="Text 77"/>
          <p:cNvSpPr/>
          <p:nvPr/>
        </p:nvSpPr>
        <p:spPr>
          <a:xfrm>
            <a:off x="4508500" y="48437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Weight</a:t>
            </a:r>
            <a:endParaRPr lang="en-US" sz="1600" dirty="0"/>
          </a:p>
        </p:txBody>
      </p:sp>
      <p:sp>
        <p:nvSpPr>
          <p:cNvPr id="87" name="Text 78"/>
          <p:cNvSpPr/>
          <p:nvPr/>
        </p:nvSpPr>
        <p:spPr>
          <a:xfrm>
            <a:off x="6019800" y="48437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[z]</a:t>
            </a:r>
            <a:endParaRPr lang="en-US" sz="1600" dirty="0"/>
          </a:p>
        </p:txBody>
      </p:sp>
      <p:sp>
        <p:nvSpPr>
          <p:cNvPr id="88" name="Text 79"/>
          <p:cNvSpPr/>
          <p:nvPr/>
        </p:nvSpPr>
        <p:spPr>
          <a:xfrm>
            <a:off x="7454900" y="44119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</a:t>
            </a:r>
            <a:endParaRPr lang="en-US" sz="1600" dirty="0"/>
          </a:p>
        </p:txBody>
      </p:sp>
      <p:sp>
        <p:nvSpPr>
          <p:cNvPr id="89" name="Text 80"/>
          <p:cNvSpPr/>
          <p:nvPr/>
        </p:nvSpPr>
        <p:spPr>
          <a:xfrm>
            <a:off x="7454900" y="460883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I/P:</a:t>
            </a:r>
            <a:endParaRPr lang="en-US" sz="1600" dirty="0"/>
          </a:p>
        </p:txBody>
      </p:sp>
      <p:sp>
        <p:nvSpPr>
          <p:cNvPr id="90" name="Text 81"/>
          <p:cNvSpPr/>
          <p:nvPr/>
        </p:nvSpPr>
        <p:spPr>
          <a:xfrm>
            <a:off x="8089900" y="460883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[X</a:t>
            </a:r>
            <a:pPr algn="l" indent="0" marL="0">
              <a:buNone/>
            </a:pPr>
            <a:r>
              <a:rPr lang="en-US" sz="1050" baseline="-400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pPr algn="l" indent="0" marL="0">
              <a:buNone/>
            </a:pPr>
            <a:r>
              <a:rPr lang="en-US" sz="16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, X</a:t>
            </a:r>
            <a:pPr algn="l" indent="0" marL="0">
              <a:buNone/>
            </a:pPr>
            <a:r>
              <a:rPr lang="en-US" sz="1050" baseline="-400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buNone/>
            </a:pPr>
            <a:r>
              <a:rPr lang="en-US" sz="16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, X</a:t>
            </a:r>
            <a:pPr algn="l" indent="0" marL="0">
              <a:buNone/>
            </a:pPr>
            <a:r>
              <a:rPr lang="en-US" sz="1050" baseline="-400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pPr algn="l" indent="0" marL="0">
              <a:buNone/>
            </a:pPr>
            <a:r>
              <a:rPr lang="en-US" sz="16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, .... X</a:t>
            </a:r>
            <a:pPr algn="l" indent="0" marL="0">
              <a:buNone/>
            </a:pPr>
            <a:r>
              <a:rPr lang="en-US" sz="1050" baseline="-400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</a:t>
            </a:r>
            <a:pPr algn="l" indent="0" marL="0">
              <a:buNone/>
            </a:pPr>
            <a:r>
              <a:rPr lang="en-US" sz="1600" spc="200" kern="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]</a:t>
            </a:r>
            <a:endParaRPr lang="en-US" sz="1600" dirty="0"/>
          </a:p>
        </p:txBody>
      </p:sp>
      <p:sp>
        <p:nvSpPr>
          <p:cNvPr id="91" name="Text 82"/>
          <p:cNvSpPr/>
          <p:nvPr/>
        </p:nvSpPr>
        <p:spPr>
          <a:xfrm>
            <a:off x="7454900" y="48691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O/P:</a:t>
            </a:r>
            <a:endParaRPr lang="en-US" sz="1600" dirty="0"/>
          </a:p>
        </p:txBody>
      </p:sp>
      <p:sp>
        <p:nvSpPr>
          <p:cNvPr id="92" name="Text 83"/>
          <p:cNvSpPr/>
          <p:nvPr/>
        </p:nvSpPr>
        <p:spPr>
          <a:xfrm>
            <a:off x="8077200" y="4869180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[Y]</a:t>
            </a:r>
            <a:endParaRPr lang="en-US" sz="1600" dirty="0"/>
          </a:p>
        </p:txBody>
      </p:sp>
      <p:sp>
        <p:nvSpPr>
          <p:cNvPr id="93" name="Shape 84"/>
          <p:cNvSpPr/>
          <p:nvPr/>
        </p:nvSpPr>
        <p:spPr>
          <a:xfrm>
            <a:off x="850900" y="5181600"/>
            <a:ext cx="2260600" cy="1346200"/>
          </a:xfrm>
          <a:prstGeom prst="rect">
            <a:avLst/>
          </a:prstGeom>
          <a:solidFill>
            <a:srgbClr val="FFFFE0"/>
          </a:solidFill>
          <a:ln w="9525">
            <a:solidFill>
              <a:srgbClr val="8080B0"/>
            </a:solidFill>
            <a:prstDash val="solid"/>
          </a:ln>
        </p:spPr>
      </p:sp>
      <p:sp>
        <p:nvSpPr>
          <p:cNvPr id="94" name="Shape 85"/>
          <p:cNvSpPr/>
          <p:nvPr/>
        </p:nvSpPr>
        <p:spPr>
          <a:xfrm>
            <a:off x="3975100" y="5207000"/>
            <a:ext cx="2997200" cy="1333500"/>
          </a:xfrm>
          <a:prstGeom prst="rect">
            <a:avLst/>
          </a:prstGeom>
          <a:solidFill>
            <a:srgbClr val="FFFFE0"/>
          </a:solidFill>
          <a:ln w="9525">
            <a:solidFill>
              <a:srgbClr val="8080B0"/>
            </a:solidFill>
            <a:prstDash val="solid"/>
          </a:ln>
        </p:spPr>
      </p:sp>
      <p:sp>
        <p:nvSpPr>
          <p:cNvPr id="95" name="Shape 86"/>
          <p:cNvSpPr/>
          <p:nvPr/>
        </p:nvSpPr>
        <p:spPr>
          <a:xfrm>
            <a:off x="7340600" y="5219700"/>
            <a:ext cx="3975100" cy="1092200"/>
          </a:xfrm>
          <a:prstGeom prst="rect">
            <a:avLst/>
          </a:prstGeom>
          <a:solidFill>
            <a:srgbClr val="FFFFE0"/>
          </a:solidFill>
          <a:ln w="9525">
            <a:solidFill>
              <a:srgbClr val="8080B0"/>
            </a:solidFill>
            <a:prstDash val="solid"/>
          </a:ln>
        </p:spPr>
      </p:sp>
      <p:sp>
        <p:nvSpPr>
          <p:cNvPr id="96" name="Text 87"/>
          <p:cNvSpPr/>
          <p:nvPr/>
        </p:nvSpPr>
        <p:spPr>
          <a:xfrm>
            <a:off x="952500" y="520065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 </a:t>
            </a:r>
            <a:pPr algn="l" indent="0" marL="0">
              <a:buNone/>
            </a:pPr>
            <a:r>
              <a:rPr lang="en-US" sz="1700" b="1" i="1" dirty="0">
                <a:solidFill>
                  <a:srgbClr val="0064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 Line )</a:t>
            </a:r>
            <a:endParaRPr lang="en-US" sz="1700" dirty="0"/>
          </a:p>
        </p:txBody>
      </p:sp>
      <p:sp>
        <p:nvSpPr>
          <p:cNvPr id="97" name="Shape 88"/>
          <p:cNvSpPr/>
          <p:nvPr/>
        </p:nvSpPr>
        <p:spPr>
          <a:xfrm>
            <a:off x="889000" y="5416550"/>
            <a:ext cx="1460500" cy="0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8" name="Equation OMML" descr="y ="/>
              <p:cNvSpPr txBox="1"/>
              <p:nvPr/>
            </p:nvSpPr>
            <p:spPr>
              <a:xfrm>
                <a:off x="965200" y="5619496"/>
                <a:ext cx="307851" cy="1645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7" descr="/home/ahmed/Projects/ai_llm_slides/videos/machine-learning/02_linear-regression-classification-MSSE/recreated_pptx/build/assets/eq/l2_y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5200" y="5619496"/>
                <a:ext cx="307851" cy="1645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a"/>
              <p:cNvSpPr txBox="1"/>
              <p:nvPr/>
            </p:nvSpPr>
            <p:spPr>
              <a:xfrm>
                <a:off x="1273051" y="5619499"/>
                <a:ext cx="123444" cy="1219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8" descr="/home/ahmed/Projects/ai_llm_slides/videos/machine-learning/02_linear-regression-classification-MSSE/recreated_pptx/build/assets/eq/l2_a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3051" y="5619499"/>
                <a:ext cx="123444" cy="12191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x +"/>
              <p:cNvSpPr txBox="1"/>
              <p:nvPr/>
            </p:nvSpPr>
            <p:spPr>
              <a:xfrm>
                <a:off x="1396495" y="5595114"/>
                <a:ext cx="344427" cy="15392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9" descr="/home/ahmed/Projects/ai_llm_slides/videos/machine-learning/02_linear-regression-classification-MSSE/recreated_pptx/build/assets/eq/l2_x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6495" y="5595114"/>
                <a:ext cx="344427" cy="15392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b"/>
              <p:cNvSpPr txBox="1"/>
              <p:nvPr/>
            </p:nvSpPr>
            <p:spPr>
              <a:xfrm>
                <a:off x="1740922" y="5566153"/>
                <a:ext cx="121917" cy="17526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10" descr="/home/ahmed/Projects/ai_llm_slides/videos/machine-learning/02_linear-regression-classification-MSSE/recreated_pptx/build/assets/eq/l2_b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0922" y="5566153"/>
                <a:ext cx="121917" cy="17526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Weight ="/>
              <p:cNvSpPr txBox="1"/>
              <p:nvPr/>
            </p:nvSpPr>
            <p:spPr>
              <a:xfrm>
                <a:off x="965200" y="5924804"/>
                <a:ext cx="851919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8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Weight=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11" descr="/home/ahmed/Projects/ai_llm_slides/videos/machine-learning/02_linear-regression-classification-MSSE/recreated_pptx/build/assets/eq/l3_w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5200" y="5924804"/>
                <a:ext cx="851919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a"/>
              <p:cNvSpPr txBox="1"/>
              <p:nvPr/>
            </p:nvSpPr>
            <p:spPr>
              <a:xfrm>
                <a:off x="1817119" y="5976617"/>
                <a:ext cx="121917" cy="12039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8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12" descr="/home/ahmed/Projects/ai_llm_slides/videos/machine-learning/02_linear-regression-classification-MSSE/recreated_pptx/build/assets/eq/l3_a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17119" y="5976617"/>
                <a:ext cx="121917" cy="12039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\ast"/>
              <p:cNvSpPr txBox="1"/>
              <p:nvPr/>
            </p:nvSpPr>
            <p:spPr>
              <a:xfrm>
                <a:off x="1939036" y="5926332"/>
                <a:ext cx="102111" cy="11277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8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13" descr="/home/ahmed/Projects/ai_llm_slides/videos/machine-learning/02_linear-regression-classification-MSSE/recreated_pptx/build/assets/eq/l3_mul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39036" y="5926332"/>
                <a:ext cx="102111" cy="11277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5" name="Equation OMML" descr="Length +"/>
              <p:cNvSpPr txBox="1"/>
              <p:nvPr/>
            </p:nvSpPr>
            <p:spPr>
              <a:xfrm>
                <a:off x="2041147" y="5924804"/>
                <a:ext cx="856491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8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Length+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5" name="Image 14" descr="/home/ahmed/Projects/ai_llm_slides/videos/machine-learning/02_linear-regression-classification-MSSE/recreated_pptx/build/assets/eq/l3_len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41147" y="5924804"/>
                <a:ext cx="856491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6" name="Equation OMML" descr="b"/>
              <p:cNvSpPr txBox="1"/>
              <p:nvPr/>
            </p:nvSpPr>
            <p:spPr>
              <a:xfrm>
                <a:off x="2897638" y="5924804"/>
                <a:ext cx="120399" cy="1737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8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6" name="Image 15" descr="/home/ahmed/Projects/ai_llm_slides/videos/machine-learning/02_linear-regression-classification-MSSE/recreated_pptx/build/assets/eq/l3_b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97638" y="5924804"/>
                <a:ext cx="120399" cy="173736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Text 89"/>
          <p:cNvSpPr/>
          <p:nvPr/>
        </p:nvSpPr>
        <p:spPr>
          <a:xfrm>
            <a:off x="952500" y="633730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 : 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13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50" dirty="0"/>
          </a:p>
        </p:txBody>
      </p:sp>
      <p:sp>
        <p:nvSpPr>
          <p:cNvPr id="108" name="Text 90"/>
          <p:cNvSpPr/>
          <p:nvPr/>
        </p:nvSpPr>
        <p:spPr>
          <a:xfrm>
            <a:off x="4051300" y="526415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 </a:t>
            </a:r>
            <a:pPr algn="l" indent="0" marL="0">
              <a:buNone/>
            </a:pPr>
            <a:r>
              <a:rPr lang="en-US" sz="1700" b="1" i="1" dirty="0">
                <a:solidFill>
                  <a:srgbClr val="0064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 Plane )</a:t>
            </a:r>
            <a:endParaRPr lang="en-US" sz="1700" dirty="0"/>
          </a:p>
        </p:txBody>
      </p:sp>
      <p:sp>
        <p:nvSpPr>
          <p:cNvPr id="109" name="Shape 91"/>
          <p:cNvSpPr/>
          <p:nvPr/>
        </p:nvSpPr>
        <p:spPr>
          <a:xfrm>
            <a:off x="4013200" y="5467350"/>
            <a:ext cx="1625600" cy="0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10" name="Equation OMML" descr="z ="/>
              <p:cNvSpPr txBox="1"/>
              <p:nvPr/>
            </p:nvSpPr>
            <p:spPr>
              <a:xfrm>
                <a:off x="4051300" y="5601970"/>
                <a:ext cx="295653" cy="1371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6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z=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0" name="Image 16" descr="/home/ahmed/Projects/ai_llm_slides/videos/machine-learning/02_linear-regression-classification-MSSE/recreated_pptx/build/assets/eq/m2_z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51300" y="5601970"/>
                <a:ext cx="295653" cy="1371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1" name="Equation OMML" descr="a"/>
              <p:cNvSpPr txBox="1"/>
              <p:nvPr/>
            </p:nvSpPr>
            <p:spPr>
              <a:xfrm>
                <a:off x="4346953" y="5598922"/>
                <a:ext cx="124971" cy="1234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1" name="Image 17" descr="/home/ahmed/Projects/ai_llm_slides/videos/machine-learning/02_linear-regression-classification-MSSE/recreated_pptx/build/assets/eq/m2_a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46953" y="5598922"/>
                <a:ext cx="124971" cy="1234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2" name="Equation OMML" descr="x +"/>
              <p:cNvSpPr txBox="1"/>
              <p:nvPr/>
            </p:nvSpPr>
            <p:spPr>
              <a:xfrm>
                <a:off x="4471924" y="5574537"/>
                <a:ext cx="348999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6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2" name="Image 18" descr="/home/ahmed/Projects/ai_llm_slides/videos/machine-learning/02_linear-regression-classification-MSSE/recreated_pptx/build/assets/eq/m2_x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71924" y="5574537"/>
                <a:ext cx="348999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3" name="Equation OMML" descr="b"/>
              <p:cNvSpPr txBox="1"/>
              <p:nvPr/>
            </p:nvSpPr>
            <p:spPr>
              <a:xfrm>
                <a:off x="4820923" y="5545585"/>
                <a:ext cx="123444" cy="17678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3" name="Image 19" descr="/home/ahmed/Projects/ai_llm_slides/videos/machine-learning/02_linear-regression-classification-MSSE/recreated_pptx/build/assets/eq/m2_b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20923" y="5545585"/>
                <a:ext cx="123444" cy="17678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4" name="Equation OMML" descr="y +"/>
              <p:cNvSpPr txBox="1"/>
              <p:nvPr/>
            </p:nvSpPr>
            <p:spPr>
              <a:xfrm>
                <a:off x="4944367" y="5574539"/>
                <a:ext cx="348999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6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y+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4" name="Image 20" descr="/home/ahmed/Projects/ai_llm_slides/videos/machine-learning/02_linear-regression-classification-MSSE/recreated_pptx/build/assets/eq/m2_y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44367" y="5574539"/>
                <a:ext cx="348999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5" name="Equation OMML" descr="c"/>
              <p:cNvSpPr txBox="1"/>
              <p:nvPr/>
            </p:nvSpPr>
            <p:spPr>
              <a:xfrm>
                <a:off x="5293366" y="5598922"/>
                <a:ext cx="111255" cy="1234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3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5" name="Image 21" descr="/home/ahmed/Projects/ai_llm_slides/videos/machine-learning/02_linear-regression-classification-MSSE/recreated_pptx/build/assets/eq/m2_c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93366" y="5598922"/>
                <a:ext cx="111255" cy="1234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6" name="Equation OMML" descr="Weight ="/>
              <p:cNvSpPr txBox="1"/>
              <p:nvPr/>
            </p:nvSpPr>
            <p:spPr>
              <a:xfrm>
                <a:off x="4051300" y="5860544"/>
                <a:ext cx="746763" cy="1904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6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Weight=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6" name="Image 22" descr="/home/ahmed/Projects/ai_llm_slides/videos/machine-learning/02_linear-regression-classification-MSSE/recreated_pptx/build/assets/eq/m3_w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51300" y="5860544"/>
                <a:ext cx="746763" cy="19049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7" name="Equation OMML" descr="a"/>
              <p:cNvSpPr txBox="1"/>
              <p:nvPr/>
            </p:nvSpPr>
            <p:spPr>
              <a:xfrm>
                <a:off x="4798063" y="5906265"/>
                <a:ext cx="109728" cy="10820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7" name="Image 23" descr="/home/ahmed/Projects/ai_llm_slides/videos/machine-learning/02_linear-regression-classification-MSSE/recreated_pptx/build/assets/eq/m3_a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98063" y="5906265"/>
                <a:ext cx="109728" cy="10820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8" name="Equation OMML" descr="\ast Length +"/>
              <p:cNvSpPr txBox="1"/>
              <p:nvPr/>
            </p:nvSpPr>
            <p:spPr>
              <a:xfrm>
                <a:off x="4907791" y="5860544"/>
                <a:ext cx="897639" cy="1904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6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∗Length+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8" name="Image 24" descr="/home/ahmed/Projects/ai_llm_slides/videos/machine-learning/02_linear-regression-classification-MSSE/recreated_pptx/build/assets/eq/m3_len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07791" y="5860544"/>
                <a:ext cx="897639" cy="19049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9" name="Equation OMML" descr="b"/>
              <p:cNvSpPr txBox="1"/>
              <p:nvPr/>
            </p:nvSpPr>
            <p:spPr>
              <a:xfrm>
                <a:off x="5805430" y="5862063"/>
                <a:ext cx="108201" cy="1524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9" name="Image 25" descr="/home/ahmed/Projects/ai_llm_slides/videos/machine-learning/02_linear-regression-classification-MSSE/recreated_pptx/build/assets/eq/m3_b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05430" y="5862063"/>
                <a:ext cx="108201" cy="1524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0" name="Equation OMML" descr="\ast Radius +"/>
              <p:cNvSpPr txBox="1"/>
              <p:nvPr/>
            </p:nvSpPr>
            <p:spPr>
              <a:xfrm>
                <a:off x="5913631" y="5860542"/>
                <a:ext cx="899157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6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∗Radius+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0" name="Image 26" descr="/home/ahmed/Projects/ai_llm_slides/videos/machine-learning/02_linear-regression-classification-MSSE/recreated_pptx/build/assets/eq/m3_rad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13631" y="5860542"/>
                <a:ext cx="899157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1" name="Equation OMML" descr="c"/>
              <p:cNvSpPr txBox="1"/>
              <p:nvPr/>
            </p:nvSpPr>
            <p:spPr>
              <a:xfrm>
                <a:off x="6812788" y="5906265"/>
                <a:ext cx="97539" cy="10820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1" name="Image 27" descr="/home/ahmed/Projects/ai_llm_slides/videos/machine-learning/02_linear-regression-classification-MSSE/recreated_pptx/build/assets/eq/m3_c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12788" y="5906265"/>
                <a:ext cx="97539" cy="108201"/>
              </a:xfrm>
              <a:prstGeom prst="rect">
                <a:avLst/>
              </a:prstGeom>
            </p:spPr>
          </p:pic>
        </mc:Fallback>
      </mc:AlternateContent>
      <p:sp>
        <p:nvSpPr>
          <p:cNvPr id="122" name="Text 92"/>
          <p:cNvSpPr/>
          <p:nvPr/>
        </p:nvSpPr>
        <p:spPr>
          <a:xfrm>
            <a:off x="4051300" y="63881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 : 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13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3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50" dirty="0"/>
          </a:p>
        </p:txBody>
      </p:sp>
      <p:sp>
        <p:nvSpPr>
          <p:cNvPr id="123" name="Text 93"/>
          <p:cNvSpPr/>
          <p:nvPr/>
        </p:nvSpPr>
        <p:spPr>
          <a:xfrm>
            <a:off x="7416800" y="522351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C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 </a:t>
            </a:r>
            <a:pPr algn="l" indent="0" marL="0">
              <a:buNone/>
            </a:pPr>
            <a:r>
              <a:rPr lang="en-US" sz="1900" b="1" i="1" dirty="0">
                <a:solidFill>
                  <a:srgbClr val="0064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 Hyperplane )</a:t>
            </a:r>
            <a:endParaRPr lang="en-US" sz="1900" dirty="0"/>
          </a:p>
        </p:txBody>
      </p:sp>
      <p:sp>
        <p:nvSpPr>
          <p:cNvPr id="124" name="Shape 94"/>
          <p:cNvSpPr/>
          <p:nvPr/>
        </p:nvSpPr>
        <p:spPr>
          <a:xfrm>
            <a:off x="7429500" y="5454650"/>
            <a:ext cx="2146300" cy="0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25" name="Equation OMML" descr="y ="/>
              <p:cNvSpPr txBox="1"/>
              <p:nvPr/>
            </p:nvSpPr>
            <p:spPr>
              <a:xfrm>
                <a:off x="7416800" y="5654294"/>
                <a:ext cx="298707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5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5" name="Image 28" descr="/home/ahmed/Projects/ai_llm_slides/videos/machine-learning/02_linear-regression-classification-MSSE/recreated_pptx/build/assets/eq/r2_y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16800" y="5654294"/>
                <a:ext cx="298707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6" name="Equation OMML" descr="w_{1}"/>
              <p:cNvSpPr txBox="1"/>
              <p:nvPr/>
            </p:nvSpPr>
            <p:spPr>
              <a:xfrm>
                <a:off x="7715507" y="5654296"/>
                <a:ext cx="219456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6" name="Image 29" descr="/home/ahmed/Projects/ai_llm_slides/videos/machine-learning/02_linear-regression-classification-MSSE/recreated_pptx/build/assets/eq/r2_w1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15507" y="5654296"/>
                <a:ext cx="219456" cy="1493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7" name="Equation OMML" descr="x_{1} +"/>
              <p:cNvSpPr txBox="1"/>
              <p:nvPr/>
            </p:nvSpPr>
            <p:spPr>
              <a:xfrm>
                <a:off x="7934963" y="5631437"/>
                <a:ext cx="419097" cy="17220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165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7" name="Image 30" descr="/home/ahmed/Projects/ai_llm_slides/videos/machine-learning/02_linear-regression-classification-MSSE/recreated_pptx/build/assets/eq/r2_x1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34963" y="5631437"/>
                <a:ext cx="419097" cy="17220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8" name="Equation OMML" descr="w_{2}"/>
              <p:cNvSpPr txBox="1"/>
              <p:nvPr/>
            </p:nvSpPr>
            <p:spPr>
              <a:xfrm>
                <a:off x="8354060" y="5654296"/>
                <a:ext cx="233172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8" name="Image 31" descr="/home/ahmed/Projects/ai_llm_slides/videos/machine-learning/02_linear-regression-classification-MSSE/recreated_pptx/build/assets/eq/r2_w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54060" y="5654296"/>
                <a:ext cx="233172" cy="1493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9" name="Equation OMML" descr="x_{2} +"/>
              <p:cNvSpPr txBox="1"/>
              <p:nvPr/>
            </p:nvSpPr>
            <p:spPr>
              <a:xfrm>
                <a:off x="8587232" y="5631437"/>
                <a:ext cx="419097" cy="17220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165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9" name="Image 32" descr="/home/ahmed/Projects/ai_llm_slides/videos/machine-learning/02_linear-regression-classification-MSSE/recreated_pptx/build/assets/eq/r2_x2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87232" y="5631437"/>
                <a:ext cx="419097" cy="17220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0" name="Equation OMML" descr="w_{3}"/>
              <p:cNvSpPr txBox="1"/>
              <p:nvPr/>
            </p:nvSpPr>
            <p:spPr>
              <a:xfrm>
                <a:off x="9006329" y="5654294"/>
                <a:ext cx="225555" cy="1508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0" name="Image 33" descr="/home/ahmed/Projects/ai_llm_slides/videos/machine-learning/02_linear-regression-classification-MSSE/recreated_pptx/build/assets/eq/r2_w3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06329" y="5654294"/>
                <a:ext cx="225555" cy="1508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1" name="Equation OMML" descr="x_{3} + \ldots +"/>
              <p:cNvSpPr txBox="1"/>
              <p:nvPr/>
            </p:nvSpPr>
            <p:spPr>
              <a:xfrm>
                <a:off x="9231884" y="5631433"/>
                <a:ext cx="858009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38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38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38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mtClean="0" sz="143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+…+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1" name="Image 34" descr="videos/machine-learning/02_linear-regression-classification-MSSE/recreated_pptx/build/assets/eq/r2_x3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31884" y="5631433"/>
                <a:ext cx="858009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2" name="Equation OMML" descr="w_{d}"/>
              <p:cNvSpPr txBox="1"/>
              <p:nvPr/>
            </p:nvSpPr>
            <p:spPr>
              <a:xfrm>
                <a:off x="10089893" y="5654294"/>
                <a:ext cx="239271" cy="1508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2" name="Image 35" descr="/home/ahmed/Projects/ai_llm_slides/videos/machine-learning/02_linear-regression-classification-MSSE/recreated_pptx/build/assets/eq/r2_wd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089893" y="5654294"/>
                <a:ext cx="239271" cy="1508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3" name="Equation OMML" descr="x_{d} +"/>
              <p:cNvSpPr txBox="1"/>
              <p:nvPr/>
            </p:nvSpPr>
            <p:spPr>
              <a:xfrm>
                <a:off x="10329164" y="5631434"/>
                <a:ext cx="419097" cy="1737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r>
                        <a:rPr lang="en-US" i="1" smtClean="0" sz="165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3" name="Image 36" descr="/home/ahmed/Projects/ai_llm_slides/videos/machine-learning/02_linear-regression-classification-MSSE/recreated_pptx/build/assets/eq/r2_xd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329164" y="5631434"/>
                <a:ext cx="419097" cy="1737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4" name="Equation OMML" descr="w_{d+1}"/>
              <p:cNvSpPr txBox="1"/>
              <p:nvPr/>
            </p:nvSpPr>
            <p:spPr>
              <a:xfrm>
                <a:off x="10748261" y="5654294"/>
                <a:ext cx="452628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59">
                              <a:solidFill>
                                <a:srgbClr val="006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59">
                              <a:solidFill>
                                <a:srgbClr val="0064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59">
                              <a:solidFill>
                                <a:srgbClr val="006400"/>
                              </a:solidFill>
                              <a:latin typeface="Cambria Math" panose="02040503050406030204" pitchFamily="18" charset="0"/>
                            </a:rPr>
                            <m:t xml:space="preserve">d+1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4" name="Image 37" descr="/home/ahmed/Projects/ai_llm_slides/videos/machine-learning/02_linear-regression-classification-MSSE/recreated_pptx/build/assets/eq/r2_wd1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48261" y="5654294"/>
                <a:ext cx="452628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5" name="Equation OMML" descr="Model Parameters :"/>
              <p:cNvSpPr txBox="1"/>
              <p:nvPr/>
            </p:nvSpPr>
            <p:spPr>
              <a:xfrm>
                <a:off x="7417308" y="6089904"/>
                <a:ext cx="1720599" cy="1737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7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ModelParameters: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5" name="Image 38" descr="/home/ahmed/Projects/ai_llm_slides/videos/machine-learning/02_linear-regression-classification-MSSE/recreated_pptx/build/assets/eq/r4_mp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17308" y="6089904"/>
                <a:ext cx="1720599" cy="1737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6" name="Equation OMML" descr="w_{1}"/>
              <p:cNvSpPr txBox="1"/>
              <p:nvPr/>
            </p:nvSpPr>
            <p:spPr>
              <a:xfrm>
                <a:off x="9131808" y="6141720"/>
                <a:ext cx="220983" cy="1508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6" name="Image 39" descr="/home/ahmed/Projects/ai_llm_slides/videos/machine-learning/02_linear-regression-classification-MSSE/recreated_pptx/build/assets/eq/r4_w1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131808" y="6141720"/>
                <a:ext cx="220983" cy="1508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7" name="Equation OMML" descr=","/>
              <p:cNvSpPr txBox="1"/>
              <p:nvPr/>
            </p:nvSpPr>
            <p:spPr>
              <a:xfrm>
                <a:off x="9385808" y="6214871"/>
                <a:ext cx="53337" cy="746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7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7" name="Image 40" descr="/home/ahmed/Projects/ai_llm_slides/videos/machine-learning/02_linear-regression-classification-MSSE/recreated_pptx/build/assets/eq/r4_c1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385808" y="6214871"/>
                <a:ext cx="53337" cy="7467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8" name="Equation OMML" descr="w_{2}"/>
              <p:cNvSpPr txBox="1"/>
              <p:nvPr/>
            </p:nvSpPr>
            <p:spPr>
              <a:xfrm>
                <a:off x="9474708" y="6141720"/>
                <a:ext cx="234699" cy="1508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8" name="Image 41" descr="/home/ahmed/Projects/ai_llm_slides/videos/machine-learning/02_linear-regression-classification-MSSE/recreated_pptx/build/assets/eq/r4_w2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474708" y="6141720"/>
                <a:ext cx="234699" cy="1508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9" name="Equation OMML" descr=","/>
              <p:cNvSpPr txBox="1"/>
              <p:nvPr/>
            </p:nvSpPr>
            <p:spPr>
              <a:xfrm>
                <a:off x="9817608" y="6214871"/>
                <a:ext cx="53337" cy="746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78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9" name="Image 42" descr="/home/ahmed/Projects/ai_llm_slides/videos/machine-learning/02_linear-regression-classification-MSSE/recreated_pptx/build/assets/eq/r4_c2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17608" y="6214871"/>
                <a:ext cx="53337" cy="7467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0" name="Equation OMML" descr="w_{3}"/>
              <p:cNvSpPr txBox="1"/>
              <p:nvPr/>
            </p:nvSpPr>
            <p:spPr>
              <a:xfrm>
                <a:off x="9881108" y="6141718"/>
                <a:ext cx="227073" cy="1524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78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0" name="Image 43" descr="/home/ahmed/Projects/ai_llm_slides/videos/machine-learning/02_linear-regression-classification-MSSE/recreated_pptx/build/assets/eq/r4_w3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881108" y="6141718"/>
                <a:ext cx="227073" cy="1524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1" name="Equation OMML" descr=",\;.\;.\;.\;.\;,"/>
              <p:cNvSpPr txBox="1"/>
              <p:nvPr/>
            </p:nvSpPr>
            <p:spPr>
              <a:xfrm>
                <a:off x="10147808" y="6220967"/>
                <a:ext cx="443484" cy="6096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14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, . . . . ,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1" name="Image 44" descr="videos/machine-learning/02_linear-regression-classification-MSSE/recreated_pptx/build/assets/eq/r4_dots_t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47808" y="6220967"/>
                <a:ext cx="443484" cy="6096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2" name="Equation OMML" descr="w_{d+1}"/>
              <p:cNvSpPr txBox="1"/>
              <p:nvPr/>
            </p:nvSpPr>
            <p:spPr>
              <a:xfrm>
                <a:off x="10630408" y="6141718"/>
                <a:ext cx="457200" cy="15697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678">
                              <a:solidFill>
                                <a:srgbClr val="006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78">
                              <a:solidFill>
                                <a:srgbClr val="0064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678">
                              <a:solidFill>
                                <a:srgbClr val="006400"/>
                              </a:solidFill>
                              <a:latin typeface="Cambria Math" panose="02040503050406030204" pitchFamily="18" charset="0"/>
                            </a:rPr>
                            <m:t xml:space="preserve">d+1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2" name="Image 45" descr="/home/ahmed/Projects/ai_llm_slides/videos/machine-learning/02_linear-regression-classification-MSSE/recreated_pptx/build/assets/eq/r4_wd1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630408" y="6141718"/>
                <a:ext cx="457200" cy="15697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900" y="2667000"/>
            <a:ext cx="1065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spc="-115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Classification</a:t>
            </a:r>
            <a:endParaRPr lang="en-US" sz="4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3600" y="596900"/>
            <a:ext cx="731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– </a:t>
            </a:r>
            <a:pPr algn="ctr" indent="0" marL="0">
              <a:buNone/>
            </a:pPr>
            <a:r>
              <a:rPr lang="en-US" sz="19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 Case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17600" y="1270000"/>
            <a:ext cx="9842500" cy="538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5450" y="1549400"/>
            <a:ext cx="0" cy="472440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524000"/>
            <a:ext cx="190500" cy="1397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6286500"/>
            <a:ext cx="6242050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7937500" y="6197600"/>
            <a:ext cx="177800" cy="1778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 rot="16200000">
            <a:off x="1092200" y="1403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0" y="64008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19410000">
            <a:off x="1625600" y="2882900"/>
            <a:ext cx="5562600" cy="8636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4" name="Text 12"/>
          <p:cNvSpPr/>
          <p:nvPr/>
        </p:nvSpPr>
        <p:spPr>
          <a:xfrm>
            <a:off x="4959350" y="205105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32550" y="18605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6950" y="19875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6350" y="28130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750" y="35369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87750" y="36131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9650" y="40195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950" y="39814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6250" y="42989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7650" y="43370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0950" y="45783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9404000">
            <a:off x="2387600" y="3848100"/>
            <a:ext cx="5588000" cy="990600"/>
          </a:xfrm>
          <a:prstGeom prst="ellipse">
            <a:avLst/>
          </a:prstGeom>
          <a:solidFill>
            <a:srgbClr val="C8A480"/>
          </a:solidFill>
          <a:ln/>
        </p:spPr>
      </p:sp>
      <p:sp>
        <p:nvSpPr>
          <p:cNvPr id="26" name="Text 24"/>
          <p:cNvSpPr/>
          <p:nvPr/>
        </p:nvSpPr>
        <p:spPr>
          <a:xfrm>
            <a:off x="5581650" y="39370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75450" y="33845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850" y="33845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850" y="36639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7850" y="36512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4950" y="44132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150" y="43751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25950" y="45021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7850" y="49720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2550" y="53784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0150" y="53784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11550" y="55308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02500" y="1270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different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of Steel and wood Bars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493250" y="2190750"/>
            <a:ext cx="139700" cy="139700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3250" y="2432050"/>
            <a:ext cx="139700" cy="139700"/>
          </a:xfrm>
          <a:prstGeom prst="ellipse">
            <a:avLst/>
          </a:prstGeom>
          <a:ln w="15875">
            <a:solidFill>
              <a:srgbClr val="A052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79000" y="21463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79000" y="23876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10600" y="2997200"/>
            <a:ext cx="2133600" cy="8128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022600"/>
            <a:ext cx="78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86800" y="32893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 Length, Weight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86800" y="35306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Class Type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3600" y="596900"/>
            <a:ext cx="731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– </a:t>
            </a:r>
            <a:pPr algn="ctr" indent="0" marL="0">
              <a:buNone/>
            </a:pPr>
            <a:r>
              <a:rPr lang="en-US" sz="19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 Case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17600" y="1270000"/>
            <a:ext cx="9842500" cy="538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5450" y="1549400"/>
            <a:ext cx="0" cy="472440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524000"/>
            <a:ext cx="190500" cy="1397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6286500"/>
            <a:ext cx="6242050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7937500" y="6197600"/>
            <a:ext cx="177800" cy="1778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 rot="16200000">
            <a:off x="1092200" y="1403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0" y="64008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19410000">
            <a:off x="1625600" y="2882900"/>
            <a:ext cx="5562600" cy="8636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4" name="Text 12"/>
          <p:cNvSpPr/>
          <p:nvPr/>
        </p:nvSpPr>
        <p:spPr>
          <a:xfrm>
            <a:off x="4959350" y="205105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32550" y="18605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6950" y="19875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6350" y="28130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750" y="35369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87750" y="36131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9650" y="40195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950" y="39814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6250" y="42989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7650" y="43370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0950" y="4578350"/>
            <a:ext cx="114300" cy="11430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9404000">
            <a:off x="2387600" y="3848100"/>
            <a:ext cx="5588000" cy="990600"/>
          </a:xfrm>
          <a:prstGeom prst="ellipse">
            <a:avLst/>
          </a:prstGeom>
          <a:solidFill>
            <a:srgbClr val="C8A480"/>
          </a:solidFill>
          <a:ln/>
        </p:spPr>
      </p:sp>
      <p:sp>
        <p:nvSpPr>
          <p:cNvPr id="26" name="Text 24"/>
          <p:cNvSpPr/>
          <p:nvPr/>
        </p:nvSpPr>
        <p:spPr>
          <a:xfrm>
            <a:off x="5581650" y="39370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75450" y="33845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850" y="33845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850" y="36639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7850" y="36512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4950" y="44132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150" y="43751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25950" y="45021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7850" y="49720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2550" y="53784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0150" y="53784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11550" y="5530850"/>
            <a:ext cx="114300" cy="114300"/>
          </a:xfrm>
          <a:prstGeom prst="ellipse">
            <a:avLst/>
          </a:prstGeom>
          <a:ln w="12700">
            <a:solidFill>
              <a:srgbClr val="A052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02500" y="1270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different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of Steel and wood Bars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493250" y="2190750"/>
            <a:ext cx="139700" cy="139700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3250" y="2432050"/>
            <a:ext cx="139700" cy="139700"/>
          </a:xfrm>
          <a:prstGeom prst="ellipse">
            <a:avLst/>
          </a:prstGeom>
          <a:ln w="15875">
            <a:solidFill>
              <a:srgbClr val="A052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79000" y="21463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79000" y="23876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10600" y="2997200"/>
            <a:ext cx="2133600" cy="8128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022600"/>
            <a:ext cx="78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86800" y="32893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 Length, Weight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86800" y="35306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Class Type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 flipV="1">
            <a:off x="2184400" y="2139950"/>
            <a:ext cx="4775200" cy="3352800"/>
          </a:xfrm>
          <a:prstGeom prst="line">
            <a:avLst/>
          </a:prstGeom>
          <a:noFill/>
          <a:ln w="34925">
            <a:solidFill>
              <a:srgbClr val="000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3400" y="50419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linearly separable</a:t>
            </a:r>
            <a:endParaRPr lang="en-US" sz="17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Classifier is sufficient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3600" y="596900"/>
            <a:ext cx="731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– </a:t>
            </a:r>
            <a:pPr algn="ctr" indent="0" marL="0">
              <a:buNone/>
            </a:pPr>
            <a:r>
              <a:rPr lang="en-US" sz="19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 Case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17600" y="1270000"/>
            <a:ext cx="9842500" cy="538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5450" y="1485900"/>
            <a:ext cx="0" cy="475615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7350" y="1466850"/>
            <a:ext cx="101600" cy="1143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6242050"/>
            <a:ext cx="6286500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7975600" y="6188075"/>
            <a:ext cx="146050" cy="10795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 rot="16200000">
            <a:off x="1073150" y="13589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05700" y="63500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9490" y="193167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6200" y="181229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2540" y="276860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0290" y="356743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8750" y="348615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0410" y="392430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0920" y="396875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3710" y="424434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2570" y="428117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3330" y="452374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2910" y="333629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6200" y="333248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5090" y="360934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1660" y="360299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7490" y="436245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4120" y="433451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3570" y="443992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0550" y="492125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4610" y="532765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8250" y="532765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15360" y="5481320"/>
            <a:ext cx="114300" cy="114300"/>
          </a:xfrm>
          <a:prstGeom prst="ellipse">
            <a:avLst/>
          </a:prstGeom>
          <a:ln w="12700">
            <a:solidFill>
              <a:srgbClr val="9171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7330" y="2141220"/>
            <a:ext cx="292100" cy="2921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07330" y="214122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71920" y="2940050"/>
            <a:ext cx="292100" cy="2921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71920" y="294005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751580" y="4340860"/>
            <a:ext cx="292100" cy="2921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3751580" y="434086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02500" y="1270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different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of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917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Bars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9493250" y="2190750"/>
            <a:ext cx="139700" cy="139700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93250" y="2432050"/>
            <a:ext cx="139700" cy="139700"/>
          </a:xfrm>
          <a:prstGeom prst="ellipse">
            <a:avLst/>
          </a:prstGeom>
          <a:ln w="15875">
            <a:solidFill>
              <a:srgbClr val="A052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79000" y="21463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779000" y="23876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91650" y="2800350"/>
            <a:ext cx="292100" cy="2921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9391650" y="280035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753600" y="2736850"/>
            <a:ext cx="1206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Class ??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9000" y="3505200"/>
            <a:ext cx="2133600" cy="8128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85200" y="3530600"/>
            <a:ext cx="78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585200" y="37973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 Length, Weight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85200" y="40386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Class Type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3600" y="596900"/>
            <a:ext cx="731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– </a:t>
            </a:r>
            <a:pPr algn="ctr" indent="0" marL="0">
              <a:buNone/>
            </a:pPr>
            <a:r>
              <a:rPr lang="en-US" sz="19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 Case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17600" y="1270000"/>
            <a:ext cx="9842500" cy="538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5450" y="1485900"/>
            <a:ext cx="0" cy="475615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7350" y="1466850"/>
            <a:ext cx="101600" cy="1143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6242050"/>
            <a:ext cx="6286500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7975600" y="6188075"/>
            <a:ext cx="146050" cy="10795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 rot="16200000">
            <a:off x="1073150" y="13589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05700" y="63500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100" dirty="0"/>
          </a:p>
        </p:txBody>
      </p:sp>
      <p:pic>
        <p:nvPicPr>
          <p:cNvPr id="13" name="Image 0" descr="/home/ahmed/Projects/ai_llm_slides/videos/machine-learning/02_linear-regression-classification-MSSE/recreated_pptx/build/assets/plane_s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704" y="1410206"/>
            <a:ext cx="6399273" cy="437997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14670" y="152527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61380" y="140589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236220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25470" y="316103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03930" y="307975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15590" y="351790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86100" y="356235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48890" y="383794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17750" y="387477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48510" y="4117340"/>
            <a:ext cx="114300" cy="1143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80275" y="28860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37375" y="29114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13475" y="31654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37375" y="31908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02275" y="38893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19775" y="39655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62525" y="401002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43475" y="44862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70375" y="48926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10075" y="48926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16375" y="5045075"/>
            <a:ext cx="120650" cy="1206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286375" y="2124075"/>
            <a:ext cx="311150" cy="3111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86375" y="2124075"/>
            <a:ext cx="3111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54775" y="2924175"/>
            <a:ext cx="323850" cy="323850"/>
          </a:xfrm>
          <a:prstGeom prst="ellipse">
            <a:avLst/>
          </a:prstGeom>
          <a:solidFill>
            <a:srgbClr val="EAE4DE"/>
          </a:solidFill>
          <a:ln w="15875">
            <a:solidFill>
              <a:srgbClr val="C4C1B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54775" y="29241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3724275" y="4308475"/>
            <a:ext cx="323850" cy="323850"/>
          </a:xfrm>
          <a:prstGeom prst="ellipse">
            <a:avLst/>
          </a:prstGeom>
          <a:solidFill>
            <a:srgbClr val="EAE4DE"/>
          </a:solidFill>
          <a:ln w="15875">
            <a:solidFill>
              <a:srgbClr val="C4C1B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24275" y="43084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5327650" y="3975100"/>
            <a:ext cx="50800" cy="69850"/>
          </a:xfrm>
          <a:prstGeom prst="line">
            <a:avLst/>
          </a:prstGeom>
          <a:noFill/>
          <a:ln w="15875">
            <a:solidFill>
              <a:srgbClr val="2F323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378450" y="4044950"/>
            <a:ext cx="101600" cy="139700"/>
          </a:xfrm>
          <a:prstGeom prst="line">
            <a:avLst/>
          </a:prstGeom>
          <a:noFill/>
          <a:ln w="15875">
            <a:solidFill>
              <a:srgbClr val="2F323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429250" y="4070350"/>
            <a:ext cx="95250" cy="114300"/>
          </a:xfrm>
          <a:prstGeom prst="line">
            <a:avLst/>
          </a:prstGeom>
          <a:noFill/>
          <a:ln w="9525">
            <a:solidFill>
              <a:srgbClr val="9096A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5543550" y="3892550"/>
            <a:ext cx="63500" cy="101600"/>
          </a:xfrm>
          <a:prstGeom prst="line">
            <a:avLst/>
          </a:prstGeom>
          <a:noFill/>
          <a:ln w="9525">
            <a:solidFill>
              <a:srgbClr val="6A6F7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26000" y="1471930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413500" y="3332480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6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302500" y="1270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Weight of different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of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917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Bars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9493250" y="2190750"/>
            <a:ext cx="139700" cy="139700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493250" y="2432050"/>
            <a:ext cx="139700" cy="139700"/>
          </a:xfrm>
          <a:prstGeom prst="ellipse">
            <a:avLst/>
          </a:prstGeom>
          <a:ln w="15875">
            <a:solidFill>
              <a:srgbClr val="A0522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779000" y="21463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779000" y="23876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509000" y="2794000"/>
            <a:ext cx="2133600" cy="8128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85200" y="2819400"/>
            <a:ext cx="78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8585200" y="30861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 Length, Weight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8585200" y="3327400"/>
            <a:ext cx="203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Class Type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7632700" y="3797300"/>
            <a:ext cx="3187700" cy="22225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670800" y="3659505"/>
            <a:ext cx="177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</a:t>
            </a:r>
            <a:pPr algn="l" indent="0" marL="0">
              <a:buNone/>
            </a:pPr>
            <a:r>
              <a:rPr lang="en-US" sz="2000" b="1" i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Plane )</a:t>
            </a:r>
            <a:endParaRPr lang="en-US" sz="2000" dirty="0"/>
          </a:p>
        </p:txBody>
      </p:sp>
      <p:sp>
        <p:nvSpPr>
          <p:cNvPr id="58" name="Shape 55"/>
          <p:cNvSpPr/>
          <p:nvPr/>
        </p:nvSpPr>
        <p:spPr>
          <a:xfrm>
            <a:off x="7683500" y="4038600"/>
            <a:ext cx="647700" cy="0"/>
          </a:xfrm>
          <a:prstGeom prst="line">
            <a:avLst/>
          </a:prstGeom>
          <a:noFill/>
          <a:ln w="15875">
            <a:solidFill>
              <a:srgbClr val="8B000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445500" y="4038600"/>
            <a:ext cx="850900" cy="0"/>
          </a:xfrm>
          <a:prstGeom prst="line">
            <a:avLst/>
          </a:prstGeom>
          <a:noFill/>
          <a:ln w="15875">
            <a:solidFill>
              <a:srgbClr val="008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0" name="Equation OMML" descr="z"/>
              <p:cNvSpPr txBox="1"/>
              <p:nvPr/>
            </p:nvSpPr>
            <p:spPr>
              <a:xfrm>
                <a:off x="7709407" y="4210044"/>
                <a:ext cx="115827" cy="14325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1" descr="/home/ahmed/Projects/ai_llm_slides/videos/machine-learning/02_linear-regression-classification-MSSE/recreated_pptx/build/assets/eq_s012_L2_z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09407" y="4210044"/>
                <a:ext cx="115827" cy="14325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="/>
              <p:cNvSpPr txBox="1"/>
              <p:nvPr/>
            </p:nvSpPr>
            <p:spPr>
              <a:xfrm>
                <a:off x="7811006" y="4222242"/>
                <a:ext cx="161547" cy="8991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2" descr="/home/ahmed/Projects/ai_llm_slides/videos/machine-learning/02_linear-regression-classification-MSSE/recreated_pptx/build/assets/eq_s012_L2_eq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1006" y="4222242"/>
                <a:ext cx="161547" cy="8991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a"/>
              <p:cNvSpPr txBox="1"/>
              <p:nvPr/>
            </p:nvSpPr>
            <p:spPr>
              <a:xfrm>
                <a:off x="8001512" y="4208526"/>
                <a:ext cx="131061" cy="13106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3" descr="/home/ahmed/Projects/ai_llm_slides/videos/machine-learning/02_linear-regression-classification-MSSE/recreated_pptx/build/assets/eq_s012_L2_a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01512" y="4208526"/>
                <a:ext cx="131061" cy="13106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x"/>
              <p:cNvSpPr txBox="1"/>
              <p:nvPr/>
            </p:nvSpPr>
            <p:spPr>
              <a:xfrm>
                <a:off x="8153906" y="4208526"/>
                <a:ext cx="138687" cy="13106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4" descr="/home/ahmed/Projects/ai_llm_slides/videos/machine-learning/02_linear-regression-classification-MSSE/recreated_pptx/build/assets/eq_s012_L2_x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53906" y="4208526"/>
                <a:ext cx="138687" cy="13106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+"/>
              <p:cNvSpPr txBox="1"/>
              <p:nvPr/>
            </p:nvSpPr>
            <p:spPr>
              <a:xfrm>
                <a:off x="8306309" y="4188711"/>
                <a:ext cx="161547" cy="16154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5" descr="/home/ahmed/Projects/ai_llm_slides/videos/machine-learning/02_linear-regression-classification-MSSE/recreated_pptx/build/assets/eq_s012_L2_p1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06309" y="4188711"/>
                <a:ext cx="161547" cy="16154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b"/>
              <p:cNvSpPr txBox="1"/>
              <p:nvPr/>
            </p:nvSpPr>
            <p:spPr>
              <a:xfrm>
                <a:off x="8471404" y="4155189"/>
                <a:ext cx="126489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6" descr="/home/ahmed/Projects/ai_llm_slides/videos/machine-learning/02_linear-regression-classification-MSSE/recreated_pptx/build/assets/eq_s012_L2_b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71404" y="4155189"/>
                <a:ext cx="126489" cy="1828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y"/>
              <p:cNvSpPr txBox="1"/>
              <p:nvPr/>
            </p:nvSpPr>
            <p:spPr>
              <a:xfrm>
                <a:off x="8623807" y="4208526"/>
                <a:ext cx="132588" cy="1737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7" descr="/home/ahmed/Projects/ai_llm_slides/videos/machine-learning/02_linear-regression-classification-MSSE/recreated_pptx/build/assets/eq_s012_L2_y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23807" y="4208526"/>
                <a:ext cx="132588" cy="1737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+"/>
              <p:cNvSpPr txBox="1"/>
              <p:nvPr/>
            </p:nvSpPr>
            <p:spPr>
              <a:xfrm>
                <a:off x="8801612" y="4188711"/>
                <a:ext cx="161547" cy="16154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8" descr="/home/ahmed/Projects/ai_llm_slides/videos/machine-learning/02_linear-regression-classification-MSSE/recreated_pptx/build/assets/eq_s012_L2_p2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01612" y="4188711"/>
                <a:ext cx="161547" cy="16154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c"/>
              <p:cNvSpPr txBox="1"/>
              <p:nvPr/>
            </p:nvSpPr>
            <p:spPr>
              <a:xfrm>
                <a:off x="8954006" y="4208526"/>
                <a:ext cx="112773" cy="1295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9" descr="/home/ahmed/Projects/ai_llm_slides/videos/machine-learning/02_linear-regression-classification-MSSE/recreated_pptx/build/assets/eq_s012_L2_c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54006" y="4208526"/>
                <a:ext cx="112773" cy="12954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Class"/>
              <p:cNvSpPr txBox="1"/>
              <p:nvPr/>
            </p:nvSpPr>
            <p:spPr>
              <a:xfrm>
                <a:off x="7709407" y="4447285"/>
                <a:ext cx="501393" cy="18592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Class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10" descr="/home/ahmed/Projects/ai_llm_slides/videos/machine-learning/02_linear-regression-classification-MSSE/recreated_pptx/build/assets/eq_s012_L3_Class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09407" y="4447285"/>
                <a:ext cx="501393" cy="18592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="/>
              <p:cNvSpPr txBox="1"/>
              <p:nvPr/>
            </p:nvSpPr>
            <p:spPr>
              <a:xfrm>
                <a:off x="8204710" y="4514347"/>
                <a:ext cx="161547" cy="8991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11" descr="/home/ahmed/Projects/ai_llm_slides/videos/machine-learning/02_linear-regression-classification-MSSE/recreated_pptx/build/assets/eq_s012_L3_eq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04710" y="4514347"/>
                <a:ext cx="161547" cy="8991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a"/>
              <p:cNvSpPr txBox="1"/>
              <p:nvPr/>
            </p:nvSpPr>
            <p:spPr>
              <a:xfrm>
                <a:off x="8382506" y="4500631"/>
                <a:ext cx="131061" cy="13106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12" descr="/home/ahmed/Projects/ai_llm_slides/videos/machine-learning/02_linear-regression-classification-MSSE/recreated_pptx/build/assets/eq_s012_L3_a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82506" y="4500631"/>
                <a:ext cx="131061" cy="13106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\ast"/>
              <p:cNvSpPr txBox="1"/>
              <p:nvPr/>
            </p:nvSpPr>
            <p:spPr>
              <a:xfrm>
                <a:off x="8547610" y="4493005"/>
                <a:ext cx="117345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13" descr="/home/ahmed/Projects/ai_llm_slides/videos/machine-learning/02_linear-regression-classification-MSSE/recreated_pptx/build/assets/eq_s012_L3_ast1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47610" y="4493005"/>
                <a:ext cx="117345" cy="1280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Length"/>
              <p:cNvSpPr txBox="1"/>
              <p:nvPr/>
            </p:nvSpPr>
            <p:spPr>
              <a:xfrm>
                <a:off x="8687312" y="4448812"/>
                <a:ext cx="675129" cy="22555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Length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14" descr="/home/ahmed/Projects/ai_llm_slides/videos/machine-learning/02_linear-regression-classification-MSSE/recreated_pptx/build/assets/eq_s012_L3_Length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87312" y="4448812"/>
                <a:ext cx="675129" cy="22555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+"/>
              <p:cNvSpPr txBox="1"/>
              <p:nvPr/>
            </p:nvSpPr>
            <p:spPr>
              <a:xfrm>
                <a:off x="9347710" y="4480816"/>
                <a:ext cx="161547" cy="16154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15" descr="/home/ahmed/Projects/ai_llm_slides/videos/machine-learning/02_linear-regression-classification-MSSE/recreated_pptx/build/assets/eq_s012_L3_p1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47710" y="4480816"/>
                <a:ext cx="161547" cy="16154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b"/>
              <p:cNvSpPr txBox="1"/>
              <p:nvPr/>
            </p:nvSpPr>
            <p:spPr>
              <a:xfrm>
                <a:off x="9512805" y="4447285"/>
                <a:ext cx="126489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16" descr="/home/ahmed/Projects/ai_llm_slides/videos/machine-learning/02_linear-regression-classification-MSSE/recreated_pptx/build/assets/eq_s012_L3_b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12805" y="4447285"/>
                <a:ext cx="126489" cy="1828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ast"/>
              <p:cNvSpPr txBox="1"/>
              <p:nvPr/>
            </p:nvSpPr>
            <p:spPr>
              <a:xfrm>
                <a:off x="9652507" y="4493005"/>
                <a:ext cx="117345" cy="1280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17" descr="/home/ahmed/Projects/ai_llm_slides/videos/machine-learning/02_linear-regression-classification-MSSE/recreated_pptx/build/assets/eq_s012_L3_ast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52507" y="4493005"/>
                <a:ext cx="117345" cy="1280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Weight"/>
              <p:cNvSpPr txBox="1"/>
              <p:nvPr/>
            </p:nvSpPr>
            <p:spPr>
              <a:xfrm>
                <a:off x="9804910" y="4448812"/>
                <a:ext cx="669039" cy="22555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Weight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18" descr="/home/ahmed/Projects/ai_llm_slides/videos/machine-learning/02_linear-regression-classification-MSSE/recreated_pptx/build/assets/eq_s012_L3_Weight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04910" y="4448812"/>
                <a:ext cx="669039" cy="22555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+"/>
              <p:cNvSpPr txBox="1"/>
              <p:nvPr/>
            </p:nvSpPr>
            <p:spPr>
              <a:xfrm>
                <a:off x="10490710" y="4480816"/>
                <a:ext cx="161547" cy="16154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19" descr="/home/ahmed/Projects/ai_llm_slides/videos/machine-learning/02_linear-regression-classification-MSSE/recreated_pptx/build/assets/eq_s012_L3_p2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90710" y="4480816"/>
                <a:ext cx="161547" cy="16154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c"/>
              <p:cNvSpPr txBox="1"/>
              <p:nvPr/>
            </p:nvSpPr>
            <p:spPr>
              <a:xfrm>
                <a:off x="10655805" y="4500622"/>
                <a:ext cx="112773" cy="1295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20" descr="/home/ahmed/Projects/ai_llm_slides/videos/machine-learning/02_linear-regression-classification-MSSE/recreated_pptx/build/assets/eq_s012_L3_c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655805" y="4500622"/>
                <a:ext cx="112773" cy="129543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Text 57"/>
          <p:cNvSpPr/>
          <p:nvPr/>
        </p:nvSpPr>
        <p:spPr>
          <a:xfrm>
            <a:off x="7670800" y="47294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&gt; 0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Steel</a:t>
            </a:r>
            <a:endParaRPr lang="en-US" sz="1800" dirty="0"/>
          </a:p>
        </p:txBody>
      </p:sp>
      <p:sp>
        <p:nvSpPr>
          <p:cNvPr id="81" name="Text 58"/>
          <p:cNvSpPr/>
          <p:nvPr/>
        </p:nvSpPr>
        <p:spPr>
          <a:xfrm>
            <a:off x="7670800" y="50152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&lt; 0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Wood</a:t>
            </a:r>
            <a:endParaRPr lang="en-US" sz="1800" dirty="0"/>
          </a:p>
        </p:txBody>
      </p:sp>
      <p:sp>
        <p:nvSpPr>
          <p:cNvPr id="82" name="Text 59"/>
          <p:cNvSpPr/>
          <p:nvPr/>
        </p:nvSpPr>
        <p:spPr>
          <a:xfrm>
            <a:off x="7670800" y="5307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0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Undefined</a:t>
            </a:r>
            <a:endParaRPr lang="en-US" sz="1800" dirty="0"/>
          </a:p>
        </p:txBody>
      </p:sp>
      <p:sp>
        <p:nvSpPr>
          <p:cNvPr id="83" name="Text 60"/>
          <p:cNvSpPr/>
          <p:nvPr/>
        </p:nvSpPr>
        <p:spPr>
          <a:xfrm>
            <a:off x="7696200" y="55930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Parameters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0" y="1130300"/>
            <a:ext cx="5867400" cy="5651500"/>
          </a:xfrm>
          <a:prstGeom prst="rect">
            <a:avLst/>
          </a:prstGeom>
          <a:solidFill>
            <a:srgbClr val="C7B6A4"/>
          </a:solidFill>
          <a:ln w="19050">
            <a:solidFill>
              <a:srgbClr val="5A30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0400" y="749300"/>
            <a:ext cx="1917700" cy="304800"/>
          </a:xfrm>
          <a:prstGeom prst="rect">
            <a:avLst/>
          </a:prstGeom>
          <a:solidFill>
            <a:srgbClr val="9F0001"/>
          </a:solidFill>
          <a:ln/>
        </p:spPr>
      </p:sp>
      <p:sp>
        <p:nvSpPr>
          <p:cNvPr id="7" name="Text 5"/>
          <p:cNvSpPr/>
          <p:nvPr/>
        </p:nvSpPr>
        <p:spPr>
          <a:xfrm>
            <a:off x="1981200" y="749300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Vector: 2-D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16800" y="736600"/>
            <a:ext cx="1968500" cy="330200"/>
          </a:xfrm>
          <a:prstGeom prst="rect">
            <a:avLst/>
          </a:prstGeom>
          <a:solidFill>
            <a:srgbClr val="089A03"/>
          </a:solidFill>
          <a:ln/>
        </p:spPr>
      </p:sp>
      <p:sp>
        <p:nvSpPr>
          <p:cNvPr id="9" name="Text 7"/>
          <p:cNvSpPr/>
          <p:nvPr/>
        </p:nvSpPr>
        <p:spPr>
          <a:xfrm>
            <a:off x="7416800" y="736600"/>
            <a:ext cx="1765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Vector: d-D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27100" y="1155700"/>
            <a:ext cx="3822700" cy="2870200"/>
          </a:xfrm>
          <a:prstGeom prst="rect">
            <a:avLst/>
          </a:prstGeom>
          <a:solidFill>
            <a:srgbClr val="FFFFFF"/>
          </a:solidFill>
          <a:ln w="22225">
            <a:solidFill>
              <a:srgbClr val="2A2380"/>
            </a:solidFill>
            <a:prstDash val="solid"/>
          </a:ln>
        </p:spPr>
      </p:sp>
      <p:pic>
        <p:nvPicPr>
          <p:cNvPr id="11" name="Image 0" descr="/home/ahmed/Projects/ai_llm_slides/videos/machine-learning/02_linear-regression-classification-MSSE/recreated_pptx/build/assets/plane_s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359" y="1171959"/>
            <a:ext cx="3726180" cy="239268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93800" y="1295400"/>
            <a:ext cx="0" cy="2540000"/>
          </a:xfrm>
          <a:prstGeom prst="line">
            <a:avLst/>
          </a:prstGeom>
          <a:noFill/>
          <a:ln w="12700">
            <a:solidFill>
              <a:srgbClr val="8B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65225" y="1263650"/>
            <a:ext cx="57150" cy="635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1193800" y="3829050"/>
            <a:ext cx="3467100" cy="0"/>
          </a:xfrm>
          <a:prstGeom prst="line">
            <a:avLst/>
          </a:prstGeom>
          <a:noFill/>
          <a:ln w="12700">
            <a:solidFill>
              <a:srgbClr val="8B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597400" y="3803650"/>
            <a:ext cx="69850" cy="50800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 rot="16200000">
            <a:off x="869950" y="12001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324350" y="3898900"/>
            <a:ext cx="43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03065" y="200977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17645" y="202374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27755" y="216217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17645" y="217614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44215" y="255460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4395" y="259651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52115" y="262064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43225" y="287845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81275" y="309943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56205" y="309943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44115" y="3181985"/>
            <a:ext cx="69850" cy="69850"/>
          </a:xfrm>
          <a:prstGeom prst="ellipse">
            <a:avLst/>
          </a:prstGeom>
          <a:ln w="12700">
            <a:solidFill>
              <a:srgbClr val="C4C1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822700" y="23749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14700" y="12700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46400" y="13589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768600" y="17272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43100" y="23749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92500" y="12065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51000" y="25273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524000" y="254635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384300" y="26797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65350" y="21209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790700" y="23495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62150" y="2159000"/>
            <a:ext cx="63500" cy="635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136900" y="1593850"/>
            <a:ext cx="177800" cy="1778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49600" y="159385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771900" y="202565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305050" y="277495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857500" y="1346200"/>
            <a:ext cx="228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500" dirty="0"/>
          </a:p>
        </p:txBody>
      </p:sp>
      <p:sp>
        <p:nvSpPr>
          <p:cNvPr id="46" name="Text 43"/>
          <p:cNvSpPr/>
          <p:nvPr/>
        </p:nvSpPr>
        <p:spPr>
          <a:xfrm>
            <a:off x="3727450" y="2362200"/>
            <a:ext cx="254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6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500" dirty="0"/>
          </a:p>
        </p:txBody>
      </p:sp>
      <p:sp>
        <p:nvSpPr>
          <p:cNvPr id="47" name="Shape 44"/>
          <p:cNvSpPr/>
          <p:nvPr/>
        </p:nvSpPr>
        <p:spPr>
          <a:xfrm>
            <a:off x="965200" y="4089400"/>
            <a:ext cx="2311400" cy="685800"/>
          </a:xfrm>
          <a:prstGeom prst="rect">
            <a:avLst/>
          </a:prstGeom>
          <a:solidFill>
            <a:srgbClr val="FCFCE5"/>
          </a:solidFill>
          <a:ln w="12700">
            <a:solidFill>
              <a:srgbClr val="AEABC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41400" y="4114800"/>
            <a:ext cx="78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1041400" y="4343400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 Length, Weight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41400" y="4521200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 Class Type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952500" y="4813300"/>
            <a:ext cx="3759200" cy="19304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90600" y="4704080"/>
            <a:ext cx="177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</a:t>
            </a:r>
            <a:pPr algn="l" indent="0" marL="0">
              <a:buNone/>
            </a:pPr>
            <a:r>
              <a:rPr lang="en-US" sz="1900" b="1" i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Plane )</a:t>
            </a:r>
            <a:endParaRPr lang="en-US" sz="1900" dirty="0"/>
          </a:p>
        </p:txBody>
      </p:sp>
      <p:sp>
        <p:nvSpPr>
          <p:cNvPr id="53" name="Shape 50"/>
          <p:cNvSpPr/>
          <p:nvPr/>
        </p:nvSpPr>
        <p:spPr>
          <a:xfrm>
            <a:off x="990600" y="5073650"/>
            <a:ext cx="1549400" cy="0"/>
          </a:xfrm>
          <a:prstGeom prst="line">
            <a:avLst/>
          </a:prstGeom>
          <a:noFill/>
          <a:ln w="15875">
            <a:solidFill>
              <a:srgbClr val="8B0000"/>
            </a:solidFill>
            <a:prstDash val="solid"/>
          </a:ln>
        </p:spPr>
      </p:sp>
      <p:pic>
        <p:nvPicPr>
          <p:cNvPr id="54" name="Image 1" descr="/home/ahmed/Projects/ai_llm_slides/videos/machine-learning/02_linear-regression-classification-MSSE/recreated_pptx/build/assets/eq_s013_L2_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10" y="5238753"/>
            <a:ext cx="117345" cy="144777"/>
          </a:xfrm>
          <a:prstGeom prst="rect">
            <a:avLst/>
          </a:prstGeom>
        </p:spPr>
      </p:pic>
      <p:pic>
        <p:nvPicPr>
          <p:cNvPr id="55" name="Image 2" descr="/home/ahmed/Projects/ai_llm_slides/videos/machine-learning/02_linear-regression-classification-MSSE/recreated_pptx/build/assets/eq_s013_L2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12" y="5249415"/>
            <a:ext cx="164592" cy="91440"/>
          </a:xfrm>
          <a:prstGeom prst="rect">
            <a:avLst/>
          </a:prstGeom>
        </p:spPr>
      </p:pic>
      <p:pic>
        <p:nvPicPr>
          <p:cNvPr id="56" name="Image 3" descr="/home/ahmed/Projects/ai_llm_slides/videos/machine-learning/02_linear-regression-classification-MSSE/recreated_pptx/build/assets/eq_s013_L2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" y="5235699"/>
            <a:ext cx="132588" cy="132588"/>
          </a:xfrm>
          <a:prstGeom prst="rect">
            <a:avLst/>
          </a:prstGeom>
        </p:spPr>
      </p:pic>
      <p:pic>
        <p:nvPicPr>
          <p:cNvPr id="57" name="Image 4" descr="/home/ahmed/Projects/ai_llm_slides/videos/machine-learning/02_linear-regression-classification-MSSE/recreated_pptx/build/assets/eq_s013_L2_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412" y="5235699"/>
            <a:ext cx="141732" cy="132588"/>
          </a:xfrm>
          <a:prstGeom prst="rect">
            <a:avLst/>
          </a:prstGeom>
        </p:spPr>
      </p:pic>
      <p:pic>
        <p:nvPicPr>
          <p:cNvPr id="58" name="Image 5" descr="/home/ahmed/Projects/ai_llm_slides/videos/machine-learning/02_linear-regression-classification-MSSE/recreated_pptx/build/assets/eq_s013_L2_p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806" y="5212839"/>
            <a:ext cx="163065" cy="166119"/>
          </a:xfrm>
          <a:prstGeom prst="rect">
            <a:avLst/>
          </a:prstGeom>
        </p:spPr>
      </p:pic>
      <p:pic>
        <p:nvPicPr>
          <p:cNvPr id="59" name="Image 6" descr="/home/ahmed/Projects/ai_llm_slides/videos/machine-learning/02_linear-regression-classification-MSSE/recreated_pptx/build/assets/eq_s013_L2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3910" y="5180844"/>
            <a:ext cx="128016" cy="185925"/>
          </a:xfrm>
          <a:prstGeom prst="rect">
            <a:avLst/>
          </a:prstGeom>
        </p:spPr>
      </p:pic>
      <p:pic>
        <p:nvPicPr>
          <p:cNvPr id="60" name="Image 7" descr="/home/ahmed/Projects/ai_llm_slides/videos/machine-learning/02_linear-regression-classification-MSSE/recreated_pptx/build/assets/eq_s013_L2_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9005" y="5235708"/>
            <a:ext cx="134115" cy="176781"/>
          </a:xfrm>
          <a:prstGeom prst="rect">
            <a:avLst/>
          </a:prstGeom>
        </p:spPr>
      </p:pic>
      <p:pic>
        <p:nvPicPr>
          <p:cNvPr id="61" name="Image 8" descr="/home/ahmed/Projects/ai_llm_slides/videos/machine-learning/02_linear-regression-classification-MSSE/recreated_pptx/build/assets/eq_s013_L2_p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1408" y="5212839"/>
            <a:ext cx="163065" cy="166119"/>
          </a:xfrm>
          <a:prstGeom prst="rect">
            <a:avLst/>
          </a:prstGeom>
        </p:spPr>
      </p:pic>
      <p:pic>
        <p:nvPicPr>
          <p:cNvPr id="62" name="Image 9" descr="/home/ahmed/Projects/ai_llm_slides/videos/machine-learning/02_linear-regression-classification-MSSE/recreated_pptx/build/assets/eq_s013_L2_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3811" y="5235699"/>
            <a:ext cx="114300" cy="132588"/>
          </a:xfrm>
          <a:prstGeom prst="rect">
            <a:avLst/>
          </a:prstGeom>
        </p:spPr>
      </p:pic>
      <p:pic>
        <p:nvPicPr>
          <p:cNvPr id="63" name="Image 10" descr="/home/ahmed/Projects/ai_llm_slides/videos/machine-learning/02_linear-regression-classification-MSSE/recreated_pptx/build/assets/eq_s013_L3_Clas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" y="5466585"/>
            <a:ext cx="509019" cy="188979"/>
          </a:xfrm>
          <a:prstGeom prst="rect">
            <a:avLst/>
          </a:prstGeom>
        </p:spPr>
      </p:pic>
      <p:pic>
        <p:nvPicPr>
          <p:cNvPr id="64" name="Image 11" descr="/home/ahmed/Projects/ai_llm_slides/videos/machine-learning/02_linear-regression-classification-MSSE/recreated_pptx/build/assets/eq_s013_L3_eq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7207" y="5535165"/>
            <a:ext cx="164592" cy="91440"/>
          </a:xfrm>
          <a:prstGeom prst="rect">
            <a:avLst/>
          </a:prstGeom>
        </p:spPr>
      </p:pic>
      <p:pic>
        <p:nvPicPr>
          <p:cNvPr id="65" name="Image 12" descr="/home/ahmed/Projects/ai_llm_slides/videos/machine-learning/02_linear-regression-classification-MSSE/recreated_pptx/build/assets/eq_s013_L3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2311" y="5521449"/>
            <a:ext cx="132588" cy="132588"/>
          </a:xfrm>
          <a:prstGeom prst="rect">
            <a:avLst/>
          </a:prstGeom>
        </p:spPr>
      </p:pic>
      <p:pic>
        <p:nvPicPr>
          <p:cNvPr id="66" name="Image 13" descr="/home/ahmed/Projects/ai_llm_slides/videos/machine-learning/02_linear-regression-classification-MSSE/recreated_pptx/build/assets/eq_s013_L3_ast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7406" y="5513832"/>
            <a:ext cx="118872" cy="129543"/>
          </a:xfrm>
          <a:prstGeom prst="rect">
            <a:avLst/>
          </a:prstGeom>
        </p:spPr>
      </p:pic>
      <p:pic>
        <p:nvPicPr>
          <p:cNvPr id="67" name="Image 14" descr="/home/ahmed/Projects/ai_llm_slides/videos/machine-learning/02_linear-regression-classification-MSSE/recreated_pptx/build/assets/eq_s013_L3_Length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32510" y="5468112"/>
            <a:ext cx="685800" cy="230127"/>
          </a:xfrm>
          <a:prstGeom prst="rect">
            <a:avLst/>
          </a:prstGeom>
        </p:spPr>
      </p:pic>
      <p:pic>
        <p:nvPicPr>
          <p:cNvPr id="68" name="Image 15" descr="/home/ahmed/Projects/ai_llm_slides/videos/machine-learning/02_linear-regression-classification-MSSE/recreated_pptx/build/assets/eq_s013_L3_p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7506" y="5498589"/>
            <a:ext cx="163065" cy="166119"/>
          </a:xfrm>
          <a:prstGeom prst="rect">
            <a:avLst/>
          </a:prstGeom>
        </p:spPr>
      </p:pic>
      <p:pic>
        <p:nvPicPr>
          <p:cNvPr id="69" name="Image 16" descr="/home/ahmed/Projects/ai_llm_slides/videos/machine-learning/02_linear-regression-classification-MSSE/recreated_pptx/build/assets/eq_s013_L3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32610" y="5466594"/>
            <a:ext cx="128016" cy="185925"/>
          </a:xfrm>
          <a:prstGeom prst="rect">
            <a:avLst/>
          </a:prstGeom>
        </p:spPr>
      </p:pic>
      <p:pic>
        <p:nvPicPr>
          <p:cNvPr id="70" name="Image 17" descr="/home/ahmed/Projects/ai_llm_slides/videos/machine-learning/02_linear-regression-classification-MSSE/recreated_pptx/build/assets/eq_s013_L3_ast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85004" y="5513832"/>
            <a:ext cx="118872" cy="129543"/>
          </a:xfrm>
          <a:prstGeom prst="rect">
            <a:avLst/>
          </a:prstGeom>
        </p:spPr>
      </p:pic>
      <p:pic>
        <p:nvPicPr>
          <p:cNvPr id="71" name="Image 18" descr="/home/ahmed/Projects/ai_llm_slides/videos/machine-learning/02_linear-regression-classification-MSSE/recreated_pptx/build/assets/eq_s013_L3_Weigh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37407" y="5468112"/>
            <a:ext cx="679701" cy="230127"/>
          </a:xfrm>
          <a:prstGeom prst="rect">
            <a:avLst/>
          </a:prstGeom>
        </p:spPr>
      </p:pic>
      <p:pic>
        <p:nvPicPr>
          <p:cNvPr id="72" name="Image 19" descr="/home/ahmed/Projects/ai_llm_slides/videos/machine-learning/02_linear-regression-classification-MSSE/recreated_pptx/build/assets/eq_s013_L3_p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23207" y="5498589"/>
            <a:ext cx="163065" cy="166119"/>
          </a:xfrm>
          <a:prstGeom prst="rect">
            <a:avLst/>
          </a:prstGeom>
        </p:spPr>
      </p:pic>
      <p:pic>
        <p:nvPicPr>
          <p:cNvPr id="73" name="Image 20" descr="/home/ahmed/Projects/ai_llm_slides/videos/machine-learning/02_linear-regression-classification-MSSE/recreated_pptx/build/assets/eq_s013_L3_c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75610" y="5521449"/>
            <a:ext cx="114300" cy="132588"/>
          </a:xfrm>
          <a:prstGeom prst="rect">
            <a:avLst/>
          </a:prstGeom>
        </p:spPr>
      </p:pic>
      <p:sp>
        <p:nvSpPr>
          <p:cNvPr id="74" name="Text 51"/>
          <p:cNvSpPr/>
          <p:nvPr/>
        </p:nvSpPr>
        <p:spPr>
          <a:xfrm>
            <a:off x="977900" y="571373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&gt; 0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Steel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&lt; 0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Wood</a:t>
            </a:r>
            <a:endParaRPr lang="en-US" sz="1800" dirty="0"/>
          </a:p>
        </p:txBody>
      </p:sp>
      <p:sp>
        <p:nvSpPr>
          <p:cNvPr id="75" name="Text 52"/>
          <p:cNvSpPr/>
          <p:nvPr/>
        </p:nvSpPr>
        <p:spPr>
          <a:xfrm>
            <a:off x="977900" y="599313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0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Undefined</a:t>
            </a:r>
            <a:endParaRPr lang="en-US" sz="1800" dirty="0"/>
          </a:p>
        </p:txBody>
      </p:sp>
      <p:sp>
        <p:nvSpPr>
          <p:cNvPr id="76" name="Text 53"/>
          <p:cNvSpPr/>
          <p:nvPr/>
        </p:nvSpPr>
        <p:spPr>
          <a:xfrm>
            <a:off x="1003300" y="63042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Parameters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pPr algn="l" indent="0" marL="0">
              <a:buNone/>
            </a:pPr>
            <a:r>
              <a:rPr lang="en-US" sz="18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77" name="Shape 54"/>
          <p:cNvSpPr/>
          <p:nvPr/>
        </p:nvSpPr>
        <p:spPr>
          <a:xfrm>
            <a:off x="5664200" y="1536700"/>
            <a:ext cx="3238500" cy="255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1B73"/>
            </a:solidFill>
            <a:prstDash val="solid"/>
          </a:ln>
        </p:spPr>
      </p:sp>
      <p:sp>
        <p:nvSpPr>
          <p:cNvPr id="78" name="Shape 55"/>
          <p:cNvSpPr/>
          <p:nvPr/>
        </p:nvSpPr>
        <p:spPr>
          <a:xfrm>
            <a:off x="6438900" y="1384300"/>
            <a:ext cx="1943100" cy="317500"/>
          </a:xfrm>
          <a:prstGeom prst="rect">
            <a:avLst/>
          </a:prstGeom>
          <a:solidFill>
            <a:srgbClr val="0200A7"/>
          </a:solidFill>
          <a:ln/>
        </p:spPr>
      </p:sp>
      <p:sp>
        <p:nvSpPr>
          <p:cNvPr id="79" name="Text 56"/>
          <p:cNvSpPr/>
          <p:nvPr/>
        </p:nvSpPr>
        <p:spPr>
          <a:xfrm>
            <a:off x="6438900" y="1384300"/>
            <a:ext cx="1943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Case</a:t>
            </a:r>
            <a:endParaRPr lang="en-US" sz="1500" dirty="0"/>
          </a:p>
        </p:txBody>
      </p:sp>
      <p:sp>
        <p:nvSpPr>
          <p:cNvPr id="80" name="Text 57"/>
          <p:cNvSpPr/>
          <p:nvPr/>
        </p:nvSpPr>
        <p:spPr>
          <a:xfrm>
            <a:off x="5943600" y="27051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400" dirty="0"/>
          </a:p>
        </p:txBody>
      </p:sp>
      <p:sp>
        <p:nvSpPr>
          <p:cNvPr id="81" name="Text 58"/>
          <p:cNvSpPr/>
          <p:nvPr/>
        </p:nvSpPr>
        <p:spPr>
          <a:xfrm>
            <a:off x="7442200" y="27051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400" dirty="0"/>
          </a:p>
        </p:txBody>
      </p:sp>
      <p:sp>
        <p:nvSpPr>
          <p:cNvPr id="82" name="Text 59"/>
          <p:cNvSpPr/>
          <p:nvPr/>
        </p:nvSpPr>
        <p:spPr>
          <a:xfrm>
            <a:off x="8255000" y="267970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y )</a:t>
            </a:r>
            <a:endParaRPr lang="en-US" sz="1800" dirty="0"/>
          </a:p>
        </p:txBody>
      </p:sp>
      <p:pic>
        <p:nvPicPr>
          <p:cNvPr id="83" name="Image 21" descr="/home/ahmed/Projects/ai_llm_slides/videos/machine-learning/02_linear-regression-classification-MSSE/recreated_pptx/build/assets/eq_s013_GC_par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4280" y="1886709"/>
            <a:ext cx="65532" cy="1979676"/>
          </a:xfrm>
          <a:prstGeom prst="rect">
            <a:avLst/>
          </a:prstGeom>
        </p:spPr>
      </p:pic>
      <p:pic>
        <p:nvPicPr>
          <p:cNvPr id="84" name="Image 22" descr="/home/ahmed/Projects/ai_llm_slides/videos/machine-learning/02_linear-regression-classification-MSSE/recreated_pptx/build/assets/eq_s013_GC_par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34488" y="1886709"/>
            <a:ext cx="65532" cy="1979676"/>
          </a:xfrm>
          <a:prstGeom prst="rect">
            <a:avLst/>
          </a:prstGeom>
        </p:spPr>
      </p:pic>
      <p:pic>
        <p:nvPicPr>
          <p:cNvPr id="85" name="Image 23" descr="/home/ahmed/Projects/ai_llm_slides/videos/machine-learning/02_linear-regression-classification-MSSE/recreated_pptx/build/assets/eq_s013_GC_x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82306" y="2036323"/>
            <a:ext cx="190497" cy="144777"/>
          </a:xfrm>
          <a:prstGeom prst="rect">
            <a:avLst/>
          </a:prstGeom>
        </p:spPr>
      </p:pic>
      <p:pic>
        <p:nvPicPr>
          <p:cNvPr id="86" name="Image 24" descr="/home/ahmed/Projects/ai_llm_slides/videos/machine-learning/02_linear-regression-classification-MSSE/recreated_pptx/build/assets/eq_s013_GC_x2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95007" y="2360167"/>
            <a:ext cx="202695" cy="144777"/>
          </a:xfrm>
          <a:prstGeom prst="rect">
            <a:avLst/>
          </a:prstGeom>
        </p:spPr>
      </p:pic>
      <p:pic>
        <p:nvPicPr>
          <p:cNvPr id="87" name="Image 25" descr="/home/ahmed/Projects/ai_llm_slides/videos/machine-learning/02_linear-regression-classification-MSSE/recreated_pptx/build/assets/eq_s013_GC_x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82306" y="2696721"/>
            <a:ext cx="195069" cy="146304"/>
          </a:xfrm>
          <a:prstGeom prst="rect">
            <a:avLst/>
          </a:prstGeom>
        </p:spPr>
      </p:pic>
      <p:pic>
        <p:nvPicPr>
          <p:cNvPr id="88" name="Image 26" descr="/home/ahmed/Projects/ai_llm_slides/videos/machine-learning/02_linear-regression-classification-MSSE/recreated_pptx/build/assets/eq_s013_GC_vd1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69605" y="3112773"/>
            <a:ext cx="175263" cy="44193"/>
          </a:xfrm>
          <a:prstGeom prst="rect">
            <a:avLst/>
          </a:prstGeom>
        </p:spPr>
      </p:pic>
      <p:pic>
        <p:nvPicPr>
          <p:cNvPr id="89" name="Image 27" descr="/home/ahmed/Projects/ai_llm_slides/videos/machine-learning/02_linear-regression-classification-MSSE/recreated_pptx/build/assets/eq_s013_GC_vd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9605" y="3392168"/>
            <a:ext cx="175263" cy="44193"/>
          </a:xfrm>
          <a:prstGeom prst="rect">
            <a:avLst/>
          </a:prstGeom>
        </p:spPr>
      </p:pic>
      <p:pic>
        <p:nvPicPr>
          <p:cNvPr id="90" name="Image 28" descr="/home/ahmed/Projects/ai_llm_slides/videos/machine-learning/02_linear-regression-classification-MSSE/recreated_pptx/build/assets/eq_s013_GC_x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69605" y="3598420"/>
            <a:ext cx="208785" cy="146304"/>
          </a:xfrm>
          <a:prstGeom prst="rect">
            <a:avLst/>
          </a:prstGeom>
        </p:spPr>
      </p:pic>
      <p:sp>
        <p:nvSpPr>
          <p:cNvPr id="91" name="Shape 60"/>
          <p:cNvSpPr/>
          <p:nvPr/>
        </p:nvSpPr>
        <p:spPr>
          <a:xfrm>
            <a:off x="5664200" y="4254500"/>
            <a:ext cx="2946400" cy="7366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92" name="Text 61"/>
          <p:cNvSpPr/>
          <p:nvPr/>
        </p:nvSpPr>
        <p:spPr>
          <a:xfrm>
            <a:off x="5740400" y="429260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93" name="Text 62"/>
          <p:cNvSpPr/>
          <p:nvPr/>
        </p:nvSpPr>
        <p:spPr>
          <a:xfrm>
            <a:off x="5740400" y="45085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</a:t>
            </a:r>
            <a:endParaRPr lang="en-US" sz="1300" dirty="0"/>
          </a:p>
        </p:txBody>
      </p:sp>
      <p:sp>
        <p:nvSpPr>
          <p:cNvPr id="94" name="Text 63"/>
          <p:cNvSpPr/>
          <p:nvPr/>
        </p:nvSpPr>
        <p:spPr>
          <a:xfrm>
            <a:off x="5727700" y="47117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</a:t>
            </a:r>
            <a:endParaRPr lang="en-US" sz="1300" dirty="0"/>
          </a:p>
        </p:txBody>
      </p:sp>
      <p:pic>
        <p:nvPicPr>
          <p:cNvPr id="95" name="Image 29" descr="/home/ahmed/Projects/ai_llm_slides/videos/machine-learning/02_linear-regression-classification-MSSE/recreated_pptx/build/assets/eq_s013_RT_br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1312" y="4548884"/>
            <a:ext cx="64008" cy="169164"/>
          </a:xfrm>
          <a:prstGeom prst="rect">
            <a:avLst/>
          </a:prstGeom>
        </p:spPr>
      </p:pic>
      <p:pic>
        <p:nvPicPr>
          <p:cNvPr id="96" name="Image 30" descr="/home/ahmed/Projects/ai_llm_slides/videos/machine-learning/02_linear-regression-classification-MSSE/recreated_pptx/build/assets/eq_s013_RT_X1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90210" y="4550411"/>
            <a:ext cx="195069" cy="167637"/>
          </a:xfrm>
          <a:prstGeom prst="rect">
            <a:avLst/>
          </a:prstGeom>
        </p:spPr>
      </p:pic>
      <p:pic>
        <p:nvPicPr>
          <p:cNvPr id="97" name="Image 31" descr="/home/ahmed/Projects/ai_llm_slides/videos/machine-learning/02_linear-regression-classification-MSSE/recreated_pptx/build/assets/eq_s013_RT_c1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93408" y="4640324"/>
            <a:ext cx="56391" cy="82296"/>
          </a:xfrm>
          <a:prstGeom prst="rect">
            <a:avLst/>
          </a:prstGeom>
        </p:spPr>
      </p:pic>
      <p:pic>
        <p:nvPicPr>
          <p:cNvPr id="98" name="Image 32" descr="/home/ahmed/Projects/ai_llm_slides/videos/machine-learning/02_linear-regression-classification-MSSE/recreated_pptx/build/assets/eq_s013_RT_X2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82306" y="4550411"/>
            <a:ext cx="205740" cy="167637"/>
          </a:xfrm>
          <a:prstGeom prst="rect">
            <a:avLst/>
          </a:prstGeom>
        </p:spPr>
      </p:pic>
      <p:pic>
        <p:nvPicPr>
          <p:cNvPr id="99" name="Image 33" descr="/home/ahmed/Projects/ai_llm_slides/videos/machine-learning/02_linear-regression-classification-MSSE/recreated_pptx/build/assets/eq_s013_RT_c2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812" y="4640324"/>
            <a:ext cx="56391" cy="82296"/>
          </a:xfrm>
          <a:prstGeom prst="rect">
            <a:avLst/>
          </a:prstGeom>
        </p:spPr>
      </p:pic>
      <p:pic>
        <p:nvPicPr>
          <p:cNvPr id="100" name="Image 34" descr="/home/ahmed/Projects/ai_llm_slides/videos/machine-learning/02_linear-regression-classification-MSSE/recreated_pptx/build/assets/eq_s013_RT_X3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25206" y="4550411"/>
            <a:ext cx="199641" cy="169164"/>
          </a:xfrm>
          <a:prstGeom prst="rect">
            <a:avLst/>
          </a:prstGeom>
        </p:spPr>
      </p:pic>
      <p:pic>
        <p:nvPicPr>
          <p:cNvPr id="101" name="Image 35" descr="/home/ahmed/Projects/ai_llm_slides/videos/machine-learning/02_linear-regression-classification-MSSE/recreated_pptx/build/assets/eq_s013_RT_c3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806" y="4640324"/>
            <a:ext cx="56391" cy="82296"/>
          </a:xfrm>
          <a:prstGeom prst="rect">
            <a:avLst/>
          </a:prstGeom>
        </p:spPr>
      </p:pic>
      <p:pic>
        <p:nvPicPr>
          <p:cNvPr id="102" name="Image 36" descr="/home/ahmed/Projects/ai_llm_slides/videos/machine-learning/02_linear-regression-classification-MSSE/recreated_pptx/build/assets/eq_s013_RT_dt1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80807" y="4649468"/>
            <a:ext cx="42675" cy="44193"/>
          </a:xfrm>
          <a:prstGeom prst="rect">
            <a:avLst/>
          </a:prstGeom>
        </p:spPr>
      </p:pic>
      <p:pic>
        <p:nvPicPr>
          <p:cNvPr id="103" name="Image 37" descr="/home/ahmed/Projects/ai_llm_slides/videos/machine-learning/02_linear-regression-classification-MSSE/recreated_pptx/build/assets/eq_s013_RT_dt2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07808" y="4649468"/>
            <a:ext cx="42675" cy="44193"/>
          </a:xfrm>
          <a:prstGeom prst="rect">
            <a:avLst/>
          </a:prstGeom>
        </p:spPr>
      </p:pic>
      <p:pic>
        <p:nvPicPr>
          <p:cNvPr id="104" name="Image 38" descr="/home/ahmed/Projects/ai_llm_slides/videos/machine-learning/02_linear-regression-classification-MSSE/recreated_pptx/build/assets/eq_s013_RT_dt3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747510" y="4649468"/>
            <a:ext cx="42675" cy="44193"/>
          </a:xfrm>
          <a:prstGeom prst="rect">
            <a:avLst/>
          </a:prstGeom>
        </p:spPr>
      </p:pic>
      <p:pic>
        <p:nvPicPr>
          <p:cNvPr id="105" name="Image 39" descr="/home/ahmed/Projects/ai_llm_slides/videos/machine-learning/02_linear-regression-classification-MSSE/recreated_pptx/build/assets/eq_s013_RT_dt4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74511" y="4649468"/>
            <a:ext cx="42675" cy="44193"/>
          </a:xfrm>
          <a:prstGeom prst="rect">
            <a:avLst/>
          </a:prstGeom>
        </p:spPr>
      </p:pic>
      <p:pic>
        <p:nvPicPr>
          <p:cNvPr id="106" name="Image 40" descr="/home/ahmed/Projects/ai_llm_slides/videos/machine-learning/02_linear-regression-classification-MSSE/recreated_pptx/build/assets/eq_s013_RT_X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52307" y="4550411"/>
            <a:ext cx="211839" cy="169164"/>
          </a:xfrm>
          <a:prstGeom prst="rect">
            <a:avLst/>
          </a:prstGeom>
        </p:spPr>
      </p:pic>
      <p:pic>
        <p:nvPicPr>
          <p:cNvPr id="107" name="Image 41" descr="/home/ahmed/Projects/ai_llm_slides/videos/machine-learning/02_linear-regression-classification-MSSE/recreated_pptx/build/assets/eq_s013_RT_br2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242804" y="4548884"/>
            <a:ext cx="64008" cy="169164"/>
          </a:xfrm>
          <a:prstGeom prst="rect">
            <a:avLst/>
          </a:prstGeom>
        </p:spPr>
      </p:pic>
      <p:pic>
        <p:nvPicPr>
          <p:cNvPr id="108" name="Image 42" descr="/home/ahmed/Projects/ai_llm_slides/videos/machine-learning/02_linear-regression-classification-MSSE/recreated_pptx/build/assets/eq_s013_RT_yval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388611" y="4739381"/>
            <a:ext cx="195069" cy="179835"/>
          </a:xfrm>
          <a:prstGeom prst="rect">
            <a:avLst/>
          </a:prstGeom>
        </p:spPr>
      </p:pic>
      <p:sp>
        <p:nvSpPr>
          <p:cNvPr id="109" name="Shape 64"/>
          <p:cNvSpPr/>
          <p:nvPr/>
        </p:nvSpPr>
        <p:spPr>
          <a:xfrm>
            <a:off x="5676900" y="5118100"/>
            <a:ext cx="5499100" cy="1422400"/>
          </a:xfrm>
          <a:prstGeom prst="rect">
            <a:avLst/>
          </a:prstGeom>
          <a:solidFill>
            <a:srgbClr val="FCFCE5"/>
          </a:solidFill>
          <a:ln w="9525">
            <a:solidFill>
              <a:srgbClr val="9090A8"/>
            </a:solidFill>
            <a:prstDash val="solid"/>
          </a:ln>
        </p:spPr>
      </p:sp>
      <p:sp>
        <p:nvSpPr>
          <p:cNvPr id="110" name="Text 65"/>
          <p:cNvSpPr/>
          <p:nvPr/>
        </p:nvSpPr>
        <p:spPr>
          <a:xfrm>
            <a:off x="5715000" y="500888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</a:t>
            </a:r>
            <a:pPr algn="l" indent="0" marL="0">
              <a:buNone/>
            </a:pPr>
            <a:r>
              <a:rPr lang="en-US" sz="1900" b="1" i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Hyperplane )</a:t>
            </a:r>
            <a:endParaRPr lang="en-US" sz="1900" dirty="0"/>
          </a:p>
        </p:txBody>
      </p:sp>
      <p:sp>
        <p:nvSpPr>
          <p:cNvPr id="111" name="Shape 66"/>
          <p:cNvSpPr/>
          <p:nvPr/>
        </p:nvSpPr>
        <p:spPr>
          <a:xfrm>
            <a:off x="5727700" y="5365750"/>
            <a:ext cx="2311400" cy="0"/>
          </a:xfrm>
          <a:prstGeom prst="line">
            <a:avLst/>
          </a:prstGeom>
          <a:noFill/>
          <a:ln w="15875">
            <a:solidFill>
              <a:srgbClr val="8B0000"/>
            </a:solidFill>
            <a:prstDash val="solid"/>
          </a:ln>
        </p:spPr>
      </p:sp>
      <p:pic>
        <p:nvPicPr>
          <p:cNvPr id="112" name="Image 43" descr="/home/ahmed/Projects/ai_llm_slides/videos/machine-learning/02_linear-regression-classification-MSSE/recreated_pptx/build/assets/eq_s013_R2_y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15512" y="5516621"/>
            <a:ext cx="132588" cy="173736"/>
          </a:xfrm>
          <a:prstGeom prst="rect">
            <a:avLst/>
          </a:prstGeom>
        </p:spPr>
      </p:pic>
      <p:pic>
        <p:nvPicPr>
          <p:cNvPr id="113" name="Image 44" descr="/home/ahmed/Projects/ai_llm_slides/videos/machine-learning/02_linear-regression-classification-MSSE/recreated_pptx/build/assets/eq_s013_R2_eq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906009" y="5530346"/>
            <a:ext cx="161547" cy="89913"/>
          </a:xfrm>
          <a:prstGeom prst="rect">
            <a:avLst/>
          </a:prstGeom>
        </p:spPr>
      </p:pic>
      <p:pic>
        <p:nvPicPr>
          <p:cNvPr id="114" name="Image 45" descr="/home/ahmed/Projects/ai_llm_slides/videos/machine-learning/02_linear-regression-classification-MSSE/recreated_pptx/build/assets/eq_s013_R2_w1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83805" y="5516621"/>
            <a:ext cx="233172" cy="161547"/>
          </a:xfrm>
          <a:prstGeom prst="rect">
            <a:avLst/>
          </a:prstGeom>
        </p:spPr>
      </p:pic>
      <p:pic>
        <p:nvPicPr>
          <p:cNvPr id="115" name="Image 46" descr="/home/ahmed/Projects/ai_llm_slides/videos/machine-learning/02_linear-regression-classification-MSSE/recreated_pptx/build/assets/eq_s013_R2_x1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63209" y="5516621"/>
            <a:ext cx="210312" cy="161547"/>
          </a:xfrm>
          <a:prstGeom prst="rect">
            <a:avLst/>
          </a:prstGeom>
        </p:spPr>
      </p:pic>
      <p:pic>
        <p:nvPicPr>
          <p:cNvPr id="116" name="Image 47" descr="/home/ahmed/Projects/ai_llm_slides/videos/machine-learning/02_linear-regression-classification-MSSE/recreated_pptx/build/assets/eq_s013_R2_p1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591809" y="5495297"/>
            <a:ext cx="160020" cy="163065"/>
          </a:xfrm>
          <a:prstGeom prst="rect">
            <a:avLst/>
          </a:prstGeom>
        </p:spPr>
      </p:pic>
      <p:pic>
        <p:nvPicPr>
          <p:cNvPr id="117" name="Image 48" descr="/home/ahmed/Projects/ai_llm_slides/videos/machine-learning/02_linear-regression-classification-MSSE/recreated_pptx/build/assets/eq_s013_R2_w2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744212" y="5516621"/>
            <a:ext cx="245361" cy="161547"/>
          </a:xfrm>
          <a:prstGeom prst="rect">
            <a:avLst/>
          </a:prstGeom>
        </p:spPr>
      </p:pic>
      <p:pic>
        <p:nvPicPr>
          <p:cNvPr id="118" name="Image 49" descr="/home/ahmed/Projects/ai_llm_slides/videos/machine-learning/02_linear-regression-classification-MSSE/recreated_pptx/build/assets/eq_s013_R2_x2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023607" y="5516621"/>
            <a:ext cx="222501" cy="161547"/>
          </a:xfrm>
          <a:prstGeom prst="rect">
            <a:avLst/>
          </a:prstGeom>
        </p:spPr>
      </p:pic>
      <p:pic>
        <p:nvPicPr>
          <p:cNvPr id="119" name="Image 50" descr="/home/ahmed/Projects/ai_llm_slides/videos/machine-learning/02_linear-regression-classification-MSSE/recreated_pptx/build/assets/eq_s013_R2_p2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264908" y="5495297"/>
            <a:ext cx="160020" cy="163065"/>
          </a:xfrm>
          <a:prstGeom prst="rect">
            <a:avLst/>
          </a:prstGeom>
        </p:spPr>
      </p:pic>
      <p:pic>
        <p:nvPicPr>
          <p:cNvPr id="120" name="Image 51" descr="/home/ahmed/Projects/ai_llm_slides/videos/machine-learning/02_linear-regression-classification-MSSE/recreated_pptx/build/assets/eq_s013_R2_w3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430012" y="5516630"/>
            <a:ext cx="239271" cy="163065"/>
          </a:xfrm>
          <a:prstGeom prst="rect">
            <a:avLst/>
          </a:prstGeom>
        </p:spPr>
      </p:pic>
      <p:pic>
        <p:nvPicPr>
          <p:cNvPr id="121" name="Image 52" descr="/home/ahmed/Projects/ai_llm_slides/videos/machine-learning/02_linear-regression-classification-MSSE/recreated_pptx/build/assets/eq_s013_R2_x3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709407" y="5516630"/>
            <a:ext cx="216411" cy="163065"/>
          </a:xfrm>
          <a:prstGeom prst="rect">
            <a:avLst/>
          </a:prstGeom>
        </p:spPr>
      </p:pic>
      <p:pic>
        <p:nvPicPr>
          <p:cNvPr id="122" name="Image 53" descr="/home/ahmed/Projects/ai_llm_slides/videos/machine-learning/02_linear-regression-classification-MSSE/recreated_pptx/build/assets/eq_s013_R2_p3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938007" y="5495297"/>
            <a:ext cx="160020" cy="163065"/>
          </a:xfrm>
          <a:prstGeom prst="rect">
            <a:avLst/>
          </a:prstGeom>
        </p:spPr>
      </p:pic>
      <p:pic>
        <p:nvPicPr>
          <p:cNvPr id="123" name="Image 54" descr="/home/ahmed/Projects/ai_llm_slides/videos/machine-learning/02_linear-regression-classification-MSSE/recreated_pptx/build/assets/eq_s013_R2_dots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090410" y="5598926"/>
            <a:ext cx="196596" cy="48765"/>
          </a:xfrm>
          <a:prstGeom prst="rect">
            <a:avLst/>
          </a:prstGeom>
        </p:spPr>
      </p:pic>
      <p:pic>
        <p:nvPicPr>
          <p:cNvPr id="124" name="Image 55" descr="/home/ahmed/Projects/ai_llm_slides/videos/machine-learning/02_linear-regression-classification-MSSE/recreated_pptx/build/assets/eq_s013_R2_p4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280907" y="5495297"/>
            <a:ext cx="160020" cy="163065"/>
          </a:xfrm>
          <a:prstGeom prst="rect">
            <a:avLst/>
          </a:prstGeom>
        </p:spPr>
      </p:pic>
      <p:pic>
        <p:nvPicPr>
          <p:cNvPr id="125" name="Image 56" descr="/home/ahmed/Projects/ai_llm_slides/videos/machine-learning/02_linear-regression-classification-MSSE/recreated_pptx/build/assets/eq_s013_R2_w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446011" y="5516630"/>
            <a:ext cx="254505" cy="163065"/>
          </a:xfrm>
          <a:prstGeom prst="rect">
            <a:avLst/>
          </a:prstGeom>
        </p:spPr>
      </p:pic>
      <p:pic>
        <p:nvPicPr>
          <p:cNvPr id="126" name="Image 57" descr="/home/ahmed/Projects/ai_llm_slides/videos/machine-learning/02_linear-regression-classification-MSSE/recreated_pptx/build/assets/eq_s013_R2_x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738107" y="5516630"/>
            <a:ext cx="231645" cy="163065"/>
          </a:xfrm>
          <a:prstGeom prst="rect">
            <a:avLst/>
          </a:prstGeom>
        </p:spPr>
      </p:pic>
      <p:pic>
        <p:nvPicPr>
          <p:cNvPr id="127" name="Image 58" descr="/home/ahmed/Projects/ai_llm_slides/videos/machine-learning/02_linear-regression-classification-MSSE/recreated_pptx/build/assets/eq_s013_R2_p5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979408" y="5495297"/>
            <a:ext cx="160020" cy="163065"/>
          </a:xfrm>
          <a:prstGeom prst="rect">
            <a:avLst/>
          </a:prstGeom>
        </p:spPr>
      </p:pic>
      <p:pic>
        <p:nvPicPr>
          <p:cNvPr id="128" name="Image 59" descr="/home/ahmed/Projects/ai_llm_slides/videos/machine-learning/02_linear-regression-classification-MSSE/recreated_pptx/build/assets/eq_s013_R2_wdp1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19110" y="5516630"/>
            <a:ext cx="480060" cy="167637"/>
          </a:xfrm>
          <a:prstGeom prst="rect">
            <a:avLst/>
          </a:prstGeom>
        </p:spPr>
      </p:pic>
      <p:pic>
        <p:nvPicPr>
          <p:cNvPr id="129" name="Image 60" descr="/home/ahmed/Projects/ai_llm_slides/videos/machine-learning/02_linear-regression-classification-MSSE/recreated_pptx/build/assets/eq_s013_R3_y1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728204" y="5846829"/>
            <a:ext cx="132588" cy="173736"/>
          </a:xfrm>
          <a:prstGeom prst="rect">
            <a:avLst/>
          </a:prstGeom>
        </p:spPr>
      </p:pic>
      <p:pic>
        <p:nvPicPr>
          <p:cNvPr id="130" name="Image 61" descr="/home/ahmed/Projects/ai_llm_slides/videos/machine-learning/02_linear-regression-classification-MSSE/recreated_pptx/build/assets/eq_s013_R3_gt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906009" y="5833104"/>
            <a:ext cx="155448" cy="147831"/>
          </a:xfrm>
          <a:prstGeom prst="rect">
            <a:avLst/>
          </a:prstGeom>
        </p:spPr>
      </p:pic>
      <p:pic>
        <p:nvPicPr>
          <p:cNvPr id="131" name="Image 62" descr="/home/ahmed/Projects/ai_llm_slides/videos/machine-learning/02_linear-regression-classification-MSSE/recreated_pptx/build/assets/eq_s013_R3_z1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033010" y="5796537"/>
            <a:ext cx="124971" cy="181353"/>
          </a:xfrm>
          <a:prstGeom prst="rect">
            <a:avLst/>
          </a:prstGeom>
        </p:spPr>
      </p:pic>
      <p:pic>
        <p:nvPicPr>
          <p:cNvPr id="132" name="Image 63" descr="/home/ahmed/Projects/ai_llm_slides/videos/machine-learning/02_linear-regression-classification-MSSE/recreated_pptx/build/assets/eq_s013_R3_arr1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198105" y="5823969"/>
            <a:ext cx="211839" cy="164592"/>
          </a:xfrm>
          <a:prstGeom prst="rect">
            <a:avLst/>
          </a:prstGeom>
        </p:spPr>
      </p:pic>
      <p:pic>
        <p:nvPicPr>
          <p:cNvPr id="133" name="Image 64" descr="/home/ahmed/Projects/ai_llm_slides/videos/machine-learning/02_linear-regression-classification-MSSE/recreated_pptx/build/assets/eq_s013_R3_Class1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773957" y="5793492"/>
            <a:ext cx="320040" cy="185925"/>
          </a:xfrm>
          <a:prstGeom prst="rect">
            <a:avLst/>
          </a:prstGeom>
        </p:spPr>
      </p:pic>
      <p:pic>
        <p:nvPicPr>
          <p:cNvPr id="134" name="Image 65" descr="/home/ahmed/Projects/ai_llm_slides/videos/machine-learning/02_linear-regression-classification-MSSE/recreated_pptx/build/assets/eq_s013_R3_one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137907" y="5796537"/>
            <a:ext cx="106683" cy="178308"/>
          </a:xfrm>
          <a:prstGeom prst="rect">
            <a:avLst/>
          </a:prstGeom>
        </p:spPr>
      </p:pic>
      <p:pic>
        <p:nvPicPr>
          <p:cNvPr id="135" name="Image 66" descr="/home/ahmed/Projects/ai_llm_slides/videos/machine-learning/02_linear-regression-classification-MSSE/recreated_pptx/build/assets/eq_s013_R3_y2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506209" y="5846829"/>
            <a:ext cx="132588" cy="173736"/>
          </a:xfrm>
          <a:prstGeom prst="rect">
            <a:avLst/>
          </a:prstGeom>
        </p:spPr>
      </p:pic>
      <p:pic>
        <p:nvPicPr>
          <p:cNvPr id="136" name="Image 67" descr="/home/ahmed/Projects/ai_llm_slides/videos/machine-learning/02_linear-regression-classification-MSSE/recreated_pptx/build/assets/eq_s013_R3_lt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671304" y="5833104"/>
            <a:ext cx="155448" cy="147831"/>
          </a:xfrm>
          <a:prstGeom prst="rect">
            <a:avLst/>
          </a:prstGeom>
        </p:spPr>
      </p:pic>
      <p:pic>
        <p:nvPicPr>
          <p:cNvPr id="137" name="Image 68" descr="/home/ahmed/Projects/ai_llm_slides/videos/machine-learning/02_linear-regression-classification-MSSE/recreated_pptx/build/assets/eq_s013_R3_z2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798305" y="5796537"/>
            <a:ext cx="124971" cy="181353"/>
          </a:xfrm>
          <a:prstGeom prst="rect">
            <a:avLst/>
          </a:prstGeom>
        </p:spPr>
      </p:pic>
      <p:pic>
        <p:nvPicPr>
          <p:cNvPr id="138" name="Image 69" descr="/home/ahmed/Projects/ai_llm_slides/videos/machine-learning/02_linear-regression-classification-MSSE/recreated_pptx/build/assets/eq_s013_R3_arr2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976110" y="5823969"/>
            <a:ext cx="211839" cy="164592"/>
          </a:xfrm>
          <a:prstGeom prst="rect">
            <a:avLst/>
          </a:prstGeom>
        </p:spPr>
      </p:pic>
      <p:pic>
        <p:nvPicPr>
          <p:cNvPr id="139" name="Image 70" descr="/home/ahmed/Projects/ai_llm_slides/videos/machine-learning/02_linear-regression-classification-MSSE/recreated_pptx/build/assets/eq_s013_R3_Class2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242804" y="5793492"/>
            <a:ext cx="498348" cy="185925"/>
          </a:xfrm>
          <a:prstGeom prst="rect">
            <a:avLst/>
          </a:prstGeom>
        </p:spPr>
      </p:pic>
      <p:pic>
        <p:nvPicPr>
          <p:cNvPr id="140" name="Image 71" descr="/home/ahmed/Projects/ai_llm_slides/videos/machine-learning/02_linear-regression-classification-MSSE/recreated_pptx/build/assets/eq_s013_R3_two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827005" y="5796537"/>
            <a:ext cx="126489" cy="178308"/>
          </a:xfrm>
          <a:prstGeom prst="rect">
            <a:avLst/>
          </a:prstGeom>
        </p:spPr>
      </p:pic>
      <p:pic>
        <p:nvPicPr>
          <p:cNvPr id="141" name="Image 72" descr="/home/ahmed/Projects/ai_llm_slides/videos/machine-learning/02_linear-regression-classification-MSSE/recreated_pptx/build/assets/eq_s013_R3_y3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347710" y="5846829"/>
            <a:ext cx="132588" cy="173736"/>
          </a:xfrm>
          <a:prstGeom prst="rect">
            <a:avLst/>
          </a:prstGeom>
        </p:spPr>
      </p:pic>
      <p:pic>
        <p:nvPicPr>
          <p:cNvPr id="142" name="Image 73" descr="/home/ahmed/Projects/ai_llm_slides/videos/machine-learning/02_linear-regression-classification-MSSE/recreated_pptx/build/assets/eq_s013_R3_eq2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500104" y="5860545"/>
            <a:ext cx="161547" cy="89913"/>
          </a:xfrm>
          <a:prstGeom prst="rect">
            <a:avLst/>
          </a:prstGeom>
        </p:spPr>
      </p:pic>
      <p:pic>
        <p:nvPicPr>
          <p:cNvPr id="143" name="Image 74" descr="/home/ahmed/Projects/ai_llm_slides/videos/machine-learning/02_linear-regression-classification-MSSE/recreated_pptx/build/assets/eq_s013_R3_z3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9627105" y="5796537"/>
            <a:ext cx="124971" cy="181353"/>
          </a:xfrm>
          <a:prstGeom prst="rect">
            <a:avLst/>
          </a:prstGeom>
        </p:spPr>
      </p:pic>
      <p:pic>
        <p:nvPicPr>
          <p:cNvPr id="144" name="Image 75" descr="/home/ahmed/Projects/ai_llm_slides/videos/machine-learning/02_linear-regression-classification-MSSE/recreated_pptx/build/assets/eq_s013_R3_arr3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804910" y="5823969"/>
            <a:ext cx="211839" cy="164592"/>
          </a:xfrm>
          <a:prstGeom prst="rect">
            <a:avLst/>
          </a:prstGeom>
        </p:spPr>
      </p:pic>
      <p:pic>
        <p:nvPicPr>
          <p:cNvPr id="145" name="Image 76" descr="/home/ahmed/Projects/ai_llm_slides/videos/machine-learning/02_linear-regression-classification-MSSE/recreated_pptx/build/assets/eq_s013_R3_Undef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0084305" y="5793483"/>
            <a:ext cx="976881" cy="227073"/>
          </a:xfrm>
          <a:prstGeom prst="rect">
            <a:avLst/>
          </a:prstGeom>
        </p:spPr>
      </p:pic>
      <p:pic>
        <p:nvPicPr>
          <p:cNvPr id="146" name="Image 77" descr="/home/ahmed/Projects/ai_llm_slides/videos/machine-learning/02_linear-regression-classification-MSSE/recreated_pptx/build/assets/eq_s013_R4_w1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658612" y="6329422"/>
            <a:ext cx="233172" cy="161547"/>
          </a:xfrm>
          <a:prstGeom prst="rect">
            <a:avLst/>
          </a:prstGeom>
        </p:spPr>
      </p:pic>
      <p:pic>
        <p:nvPicPr>
          <p:cNvPr id="147" name="Image 78" descr="/home/ahmed/Projects/ai_llm_slides/videos/machine-learning/02_linear-regression-classification-MSSE/recreated_pptx/build/assets/eq_s013_R4_c1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7950708" y="6399529"/>
            <a:ext cx="65535" cy="99057"/>
          </a:xfrm>
          <a:prstGeom prst="rect">
            <a:avLst/>
          </a:prstGeom>
        </p:spPr>
      </p:pic>
      <p:pic>
        <p:nvPicPr>
          <p:cNvPr id="148" name="Image 79" descr="/home/ahmed/Projects/ai_llm_slides/videos/machine-learning/02_linear-regression-classification-MSSE/recreated_pptx/build/assets/eq_s013_R4_w2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8039606" y="6329422"/>
            <a:ext cx="245361" cy="161547"/>
          </a:xfrm>
          <a:prstGeom prst="rect">
            <a:avLst/>
          </a:prstGeom>
        </p:spPr>
      </p:pic>
      <p:pic>
        <p:nvPicPr>
          <p:cNvPr id="149" name="Image 80" descr="/home/ahmed/Projects/ai_llm_slides/videos/machine-learning/02_linear-regression-classification-MSSE/recreated_pptx/build/assets/eq_s013_R4_c2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8331711" y="6399529"/>
            <a:ext cx="65535" cy="99057"/>
          </a:xfrm>
          <a:prstGeom prst="rect">
            <a:avLst/>
          </a:prstGeom>
        </p:spPr>
      </p:pic>
      <p:pic>
        <p:nvPicPr>
          <p:cNvPr id="150" name="Image 81" descr="/home/ahmed/Projects/ai_llm_slides/videos/machine-learning/02_linear-regression-classification-MSSE/recreated_pptx/build/assets/eq_s013_R4_c2b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420609" y="6399529"/>
            <a:ext cx="65535" cy="99057"/>
          </a:xfrm>
          <a:prstGeom prst="rect">
            <a:avLst/>
          </a:prstGeom>
        </p:spPr>
      </p:pic>
      <p:pic>
        <p:nvPicPr>
          <p:cNvPr id="151" name="Image 82" descr="/home/ahmed/Projects/ai_llm_slides/videos/machine-learning/02_linear-regression-classification-MSSE/recreated_pptx/build/assets/eq_s013_R4_w3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09507" y="6329431"/>
            <a:ext cx="239271" cy="163065"/>
          </a:xfrm>
          <a:prstGeom prst="rect">
            <a:avLst/>
          </a:prstGeom>
        </p:spPr>
      </p:pic>
      <p:pic>
        <p:nvPicPr>
          <p:cNvPr id="152" name="Image 83" descr="/home/ahmed/Projects/ai_llm_slides/videos/machine-learning/02_linear-regression-classification-MSSE/recreated_pptx/build/assets/eq_s013_R4_c3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801612" y="6399529"/>
            <a:ext cx="65535" cy="99057"/>
          </a:xfrm>
          <a:prstGeom prst="rect">
            <a:avLst/>
          </a:prstGeom>
        </p:spPr>
      </p:pic>
      <p:pic>
        <p:nvPicPr>
          <p:cNvPr id="153" name="Image 84" descr="/home/ahmed/Projects/ai_llm_slides/videos/machine-learning/02_linear-regression-classification-MSSE/recreated_pptx/build/assets/eq_s013_R4_d1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966707" y="6411727"/>
            <a:ext cx="47247" cy="48765"/>
          </a:xfrm>
          <a:prstGeom prst="rect">
            <a:avLst/>
          </a:prstGeom>
        </p:spPr>
      </p:pic>
      <p:pic>
        <p:nvPicPr>
          <p:cNvPr id="154" name="Image 85" descr="/home/ahmed/Projects/ai_llm_slides/videos/machine-learning/02_linear-regression-classification-MSSE/recreated_pptx/build/assets/eq_s013_R4_d2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030212" y="6411727"/>
            <a:ext cx="47247" cy="48765"/>
          </a:xfrm>
          <a:prstGeom prst="rect">
            <a:avLst/>
          </a:prstGeom>
        </p:spPr>
      </p:pic>
      <p:pic>
        <p:nvPicPr>
          <p:cNvPr id="155" name="Image 86" descr="/home/ahmed/Projects/ai_llm_slides/videos/machine-learning/02_linear-regression-classification-MSSE/recreated_pptx/build/assets/eq_s013_R4_d3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9081007" y="6411727"/>
            <a:ext cx="47247" cy="48765"/>
          </a:xfrm>
          <a:prstGeom prst="rect">
            <a:avLst/>
          </a:prstGeom>
        </p:spPr>
      </p:pic>
      <p:pic>
        <p:nvPicPr>
          <p:cNvPr id="156" name="Image 87" descr="/home/ahmed/Projects/ai_llm_slides/videos/machine-learning/02_linear-regression-classification-MSSE/recreated_pptx/build/assets/eq_s013_R4_d4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169905" y="6411727"/>
            <a:ext cx="47247" cy="48765"/>
          </a:xfrm>
          <a:prstGeom prst="rect">
            <a:avLst/>
          </a:prstGeom>
        </p:spPr>
      </p:pic>
      <p:pic>
        <p:nvPicPr>
          <p:cNvPr id="157" name="Image 88" descr="/home/ahmed/Projects/ai_llm_slides/videos/machine-learning/02_linear-regression-classification-MSSE/recreated_pptx/build/assets/eq_s013_R4_c4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9258812" y="6399529"/>
            <a:ext cx="65535" cy="99057"/>
          </a:xfrm>
          <a:prstGeom prst="rect">
            <a:avLst/>
          </a:prstGeom>
        </p:spPr>
      </p:pic>
      <p:pic>
        <p:nvPicPr>
          <p:cNvPr id="158" name="Image 89" descr="/home/ahmed/Projects/ai_llm_slides/videos/machine-learning/02_linear-regression-classification-MSSE/recreated_pptx/build/assets/eq_s013_R4_wdp1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9335009" y="6329431"/>
            <a:ext cx="480060" cy="167637"/>
          </a:xfrm>
          <a:prstGeom prst="rect">
            <a:avLst/>
          </a:prstGeom>
        </p:spPr>
      </p:pic>
      <p:sp>
        <p:nvSpPr>
          <p:cNvPr id="159" name="Shape 67"/>
          <p:cNvSpPr/>
          <p:nvPr/>
        </p:nvSpPr>
        <p:spPr>
          <a:xfrm>
            <a:off x="6540500" y="5791200"/>
            <a:ext cx="203200" cy="165100"/>
          </a:xfrm>
          <a:prstGeom prst="rect">
            <a:avLst/>
          </a:prstGeom>
          <a:ln w="12700">
            <a:solidFill>
              <a:srgbClr val="000080"/>
            </a:solidFill>
            <a:prstDash val="solid"/>
          </a:ln>
        </p:spPr>
      </p:sp>
      <p:sp>
        <p:nvSpPr>
          <p:cNvPr id="160" name="Text 68"/>
          <p:cNvSpPr/>
          <p:nvPr/>
        </p:nvSpPr>
        <p:spPr>
          <a:xfrm>
            <a:off x="5715000" y="6094730"/>
            <a:ext cx="203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Parameters</a:t>
            </a:r>
            <a:pPr algn="l" indent="0" marL="0">
              <a:buNone/>
            </a:pPr>
            <a:r>
              <a:rPr lang="en-US" sz="18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500" y="698500"/>
            <a:ext cx="1064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u="sng" dirty="0">
                <a:solidFill>
                  <a:srgbClr val="100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Equation</a:t>
            </a:r>
            <a:pPr algn="ctr" indent="0" marL="0">
              <a:buNone/>
            </a:pPr>
            <a:r>
              <a:rPr lang="en-US" sz="2250" b="1" dirty="0">
                <a:solidFill>
                  <a:srgbClr val="97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Linear Regression and Classification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1333500"/>
            <a:ext cx="2755900" cy="9906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900" y="12179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9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84250" y="1582420"/>
            <a:ext cx="635000" cy="0"/>
          </a:xfrm>
          <a:prstGeom prst="line">
            <a:avLst/>
          </a:prstGeom>
          <a:noFill/>
          <a:ln w="12700">
            <a:solidFill>
              <a:srgbClr val="DE7B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7900" y="15227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200" y="18846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11" name="Equation OMML" descr="( x_1 \; x_2 \; x_3 \; .....\ x_n )"/>
              <p:cNvSpPr txBox="1"/>
              <p:nvPr/>
            </p:nvSpPr>
            <p:spPr>
              <a:xfrm>
                <a:off x="1600200" y="1663700"/>
                <a:ext cx="2031495" cy="33071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 ..... 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0" descr="/home/ahmed/Projects/ai_llm_slides/videos/machine-learning/02_linear-regression-classification-MSSE/recreated_pptx/build/assets/eq_014_ip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00200" y="1663700"/>
                <a:ext cx="2031495" cy="33071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" name="Equation OMML" descr="(\ y\ )"/>
              <p:cNvSpPr txBox="1"/>
              <p:nvPr/>
            </p:nvSpPr>
            <p:spPr>
              <a:xfrm>
                <a:off x="1625600" y="2033015"/>
                <a:ext cx="278892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( y 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1" descr="/home/ahmed/Projects/ai_llm_slides/videos/machine-learning/02_linear-regression-classification-MSSE/recreated_pptx/build/assets/eq_014_op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5600" y="2033015"/>
                <a:ext cx="278892" cy="26517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hape 9"/>
          <p:cNvSpPr/>
          <p:nvPr/>
        </p:nvSpPr>
        <p:spPr>
          <a:xfrm>
            <a:off x="914400" y="2463800"/>
            <a:ext cx="2933700" cy="3175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2463800"/>
            <a:ext cx="2933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Case - Regression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14400" y="2870200"/>
            <a:ext cx="5219700" cy="14605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5200" y="27482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9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977900" y="3121660"/>
            <a:ext cx="647700" cy="0"/>
          </a:xfrm>
          <a:prstGeom prst="line">
            <a:avLst/>
          </a:prstGeom>
          <a:noFill/>
          <a:ln w="12700">
            <a:solidFill>
              <a:srgbClr val="DE7B77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8" name="Equation OMML" descr="y = w_1 x_1 + w_2 x_2 + w_2 x_2 + \ldots + w_d x_d + b"/>
              <p:cNvSpPr txBox="1"/>
              <p:nvPr/>
            </p:nvSpPr>
            <p:spPr>
              <a:xfrm>
                <a:off x="965200" y="3238501"/>
                <a:ext cx="3543300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+…+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2" descr="/home/ahmed/Projects/ai_llm_slides/videos/machine-learning/02_linear-regression-classification-MSSE/recreated_pptx/build/assets/eq_014_core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5200" y="3238501"/>
                <a:ext cx="3543300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 14"/>
          <p:cNvSpPr/>
          <p:nvPr/>
        </p:nvSpPr>
        <p:spPr>
          <a:xfrm>
            <a:off x="977900" y="35483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 :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20" name="Equation OMML" descr="w_1 , w_2 , w_3 , ... , w_d , b"/>
              <p:cNvSpPr txBox="1"/>
              <p:nvPr/>
            </p:nvSpPr>
            <p:spPr>
              <a:xfrm>
                <a:off x="2908300" y="3746501"/>
                <a:ext cx="1944627" cy="21641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,...,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3" descr="/home/ahmed/Projects/ai_llm_slides/videos/machine-learning/02_linear-regression-classification-MSSE/recreated_pptx/build/assets/eq_014_params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8300" y="3746501"/>
                <a:ext cx="1944627" cy="216411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 15"/>
          <p:cNvSpPr/>
          <p:nvPr/>
        </p:nvSpPr>
        <p:spPr>
          <a:xfrm>
            <a:off x="977900" y="3910330"/>
            <a:ext cx="584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9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800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is called   </a:t>
            </a:r>
            <a:pPr algn="l" indent="0" marL="0">
              <a:buNone/>
            </a:pPr>
            <a:r>
              <a:rPr lang="en-US" sz="1800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"bias"</a:t>
            </a:r>
            <a:pPr algn="l" indent="0" marL="0">
              <a:buNone/>
            </a:pPr>
            <a:r>
              <a:rPr lang="en-US" sz="1800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term as it is independent of  </a:t>
            </a:r>
            <a:pPr algn="l" indent="0" marL="0">
              <a:buNone/>
            </a:pPr>
            <a:r>
              <a:rPr lang="en-US" sz="1800" i="1" dirty="0">
                <a:solidFill>
                  <a:srgbClr val="C9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876300" y="4800600"/>
            <a:ext cx="2933700" cy="3175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23" name="Text 17"/>
          <p:cNvSpPr/>
          <p:nvPr/>
        </p:nvSpPr>
        <p:spPr>
          <a:xfrm>
            <a:off x="876300" y="4800600"/>
            <a:ext cx="2933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Case - Classification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76300" y="5219700"/>
            <a:ext cx="5499100" cy="14351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39800" y="50914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9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952500" y="5458460"/>
            <a:ext cx="622300" cy="0"/>
          </a:xfrm>
          <a:prstGeom prst="line">
            <a:avLst/>
          </a:prstGeom>
          <a:noFill/>
          <a:ln w="12700">
            <a:solidFill>
              <a:srgbClr val="DE7B77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7" name="Equation OMML" descr="y = w_1 x_1 + w_2 x_2 + w_2 x_2 + \ldots + w_d x_d + b"/>
              <p:cNvSpPr txBox="1"/>
              <p:nvPr/>
            </p:nvSpPr>
            <p:spPr>
              <a:xfrm>
                <a:off x="939800" y="5588001"/>
                <a:ext cx="3543300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+…+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sSub>
                        <m:sSubPr>
                          <m:ctrlP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7" name="Image 4" descr="/home/ahmed/Projects/ai_llm_slides/videos/machine-learning/02_linear-regression-classification-MSSE/recreated_pptx/build/assets/eq_014_core_b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9800" y="5588001"/>
                <a:ext cx="3543300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 21"/>
          <p:cNvSpPr/>
          <p:nvPr/>
        </p:nvSpPr>
        <p:spPr>
          <a:xfrm>
            <a:off x="939800" y="5688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9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0</a:t>
            </a:r>
            <a:endParaRPr lang="en-US" sz="1700" dirty="0"/>
          </a:p>
        </p:txBody>
      </p:sp>
      <p:pic>
        <p:nvPicPr>
          <p:cNvPr id="29" name="Image 5" descr="/home/ahmed/Projects/ai_llm_slides/videos/machine-learning/02_linear-regression-classification-MSSE/recreated_pptx/build/assets/dR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5943600"/>
            <a:ext cx="190497" cy="10211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612900" y="5688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</a:t>
            </a:r>
            <a:endParaRPr lang="en-US" sz="1700" dirty="0"/>
          </a:p>
        </p:txBody>
      </p:sp>
      <p:sp>
        <p:nvSpPr>
          <p:cNvPr id="31" name="Text 23"/>
          <p:cNvSpPr/>
          <p:nvPr/>
        </p:nvSpPr>
        <p:spPr>
          <a:xfrm>
            <a:off x="2717800" y="5688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9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0</a:t>
            </a:r>
            <a:endParaRPr lang="en-US" sz="1700" dirty="0"/>
          </a:p>
        </p:txBody>
      </p:sp>
      <p:pic>
        <p:nvPicPr>
          <p:cNvPr id="32" name="Image 6" descr="/home/ahmed/Projects/ai_llm_slides/videos/machine-learning/02_linear-regression-classification-MSSE/recreated_pptx/build/assets/dR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5943600"/>
            <a:ext cx="190497" cy="10211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467100" y="5688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</a:t>
            </a:r>
            <a:endParaRPr lang="en-US" sz="1700" dirty="0"/>
          </a:p>
        </p:txBody>
      </p:sp>
      <p:sp>
        <p:nvSpPr>
          <p:cNvPr id="34" name="Text 25"/>
          <p:cNvSpPr/>
          <p:nvPr/>
        </p:nvSpPr>
        <p:spPr>
          <a:xfrm>
            <a:off x="4572000" y="5688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9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endParaRPr lang="en-US" sz="1700" dirty="0"/>
          </a:p>
        </p:txBody>
      </p:sp>
      <p:pic>
        <p:nvPicPr>
          <p:cNvPr id="35" name="Image 7" descr="/home/ahmed/Projects/ai_llm_slides/videos/machine-learning/02_linear-regression-classification-MSSE/recreated_pptx/build/assets/dR_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6500" y="5943600"/>
            <a:ext cx="190497" cy="10211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08600" y="5688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700" dirty="0"/>
          </a:p>
        </p:txBody>
      </p:sp>
      <p:sp>
        <p:nvSpPr>
          <p:cNvPr id="37" name="Text 27"/>
          <p:cNvSpPr/>
          <p:nvPr/>
        </p:nvSpPr>
        <p:spPr>
          <a:xfrm>
            <a:off x="939800" y="61899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10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 :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38" name="Equation OMML" descr="w_1 , w_2 , w_3 , ... , w_d , b"/>
              <p:cNvSpPr txBox="1"/>
              <p:nvPr/>
            </p:nvSpPr>
            <p:spPr>
              <a:xfrm>
                <a:off x="2870200" y="6388101"/>
                <a:ext cx="1944627" cy="21641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,...,</m:t>
                      </m:r>
                      <m:sSub>
                        <m:sSubPr>
                          <m:ctrlP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  <m:r>
                        <a:rPr lang="en-US" i="1" smtClean="0" sz="2100">
                          <a:solidFill>
                            <a:srgbClr val="C93B47"/>
                          </a:solidFill>
                          <a:latin typeface="Cambria Math" panose="02040503050406030204" pitchFamily="18" charset="0"/>
                        </a:rPr>
                        <m:t xml:space="preserve">,b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8" descr="/home/ahmed/Projects/ai_llm_slides/videos/machine-learning/02_linear-regression-classification-MSSE/recreated_pptx/build/assets/eq_014_params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70200" y="6388101"/>
                <a:ext cx="1944627" cy="216411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Shape 28"/>
          <p:cNvSpPr/>
          <p:nvPr/>
        </p:nvSpPr>
        <p:spPr>
          <a:xfrm>
            <a:off x="6565900" y="269240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4D1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819900" y="365633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611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800" dirty="0"/>
          </a:p>
        </p:txBody>
      </p:sp>
      <p:pic>
        <p:nvPicPr>
          <p:cNvPr id="41" name="Image 9" descr="/home/ahmed/Projects/ai_llm_slides/videos/machine-learning/02_linear-regression-classification-MSSE/recreated_pptx/build/assets/dX_ca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3848100"/>
            <a:ext cx="178308" cy="169164"/>
          </a:xfrm>
          <a:prstGeom prst="rect">
            <a:avLst/>
          </a:prstGeom>
        </p:spPr>
      </p:pic>
      <p:pic>
        <p:nvPicPr>
          <p:cNvPr id="42" name="Image 10" descr="/home/ahmed/Projects/ai_llm_slides/videos/machine-learning/02_linear-regression-classification-MSSE/recreated_pptx/build/assets/dX_eq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000" y="3898900"/>
            <a:ext cx="164592" cy="76197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7543800" y="4057650"/>
            <a:ext cx="177800" cy="0"/>
          </a:xfrm>
          <a:prstGeom prst="line">
            <a:avLst/>
          </a:prstGeom>
          <a:noFill/>
          <a:ln w="12700">
            <a:solidFill>
              <a:srgbClr val="BE2E40"/>
            </a:solidFill>
            <a:prstDash val="solid"/>
          </a:ln>
        </p:spPr>
      </p:sp>
      <p:pic>
        <p:nvPicPr>
          <p:cNvPr id="44" name="Image 11" descr="/home/ahmed/Projects/ai_llm_slides/videos/machine-learning/02_linear-regression-classification-MSSE/recreated_pptx/build/assets/dW_ca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1100" y="3860800"/>
            <a:ext cx="228600" cy="182880"/>
          </a:xfrm>
          <a:prstGeom prst="rect">
            <a:avLst/>
          </a:prstGeom>
        </p:spPr>
      </p:pic>
      <p:pic>
        <p:nvPicPr>
          <p:cNvPr id="45" name="Image 12" descr="/home/ahmed/Projects/ai_llm_slides/videos/machine-learning/02_linear-regression-classification-MSSE/recreated_pptx/build/assets/dW_eq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5100" y="3911600"/>
            <a:ext cx="152403" cy="71625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801100" y="4057650"/>
            <a:ext cx="215900" cy="0"/>
          </a:xfrm>
          <a:prstGeom prst="line">
            <a:avLst/>
          </a:prstGeom>
          <a:noFill/>
          <a:ln w="12700">
            <a:solidFill>
              <a:srgbClr val="3E32B2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9918700" y="371348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700" dirty="0"/>
          </a:p>
        </p:txBody>
      </p:sp>
      <p:pic>
        <p:nvPicPr>
          <p:cNvPr id="48" name="Image 13" descr="/home/ahmed/Projects/ai_llm_slides/videos/machine-learning/02_linear-regression-classification-MSSE/recreated_pptx/build/assets/dX_p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37500" y="3035300"/>
            <a:ext cx="50292" cy="1904997"/>
          </a:xfrm>
          <a:prstGeom prst="rect">
            <a:avLst/>
          </a:prstGeom>
        </p:spPr>
      </p:pic>
      <p:pic>
        <p:nvPicPr>
          <p:cNvPr id="49" name="Image 14" descr="/home/ahmed/Projects/ai_llm_slides/videos/machine-learning/02_linear-regression-classification-MSSE/recreated_pptx/build/assets/dX_x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13700" y="3136900"/>
            <a:ext cx="190497" cy="149349"/>
          </a:xfrm>
          <a:prstGeom prst="rect">
            <a:avLst/>
          </a:prstGeom>
        </p:spPr>
      </p:pic>
      <p:pic>
        <p:nvPicPr>
          <p:cNvPr id="50" name="Image 15" descr="/home/ahmed/Projects/ai_llm_slides/videos/machine-learning/02_linear-regression-classification-MSSE/recreated_pptx/build/assets/dX_x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3700" y="3467100"/>
            <a:ext cx="190497" cy="140205"/>
          </a:xfrm>
          <a:prstGeom prst="rect">
            <a:avLst/>
          </a:prstGeom>
        </p:spPr>
      </p:pic>
      <p:pic>
        <p:nvPicPr>
          <p:cNvPr id="51" name="Image 16" descr="/home/ahmed/Projects/ai_llm_slides/videos/machine-learning/02_linear-regression-classification-MSSE/recreated_pptx/build/assets/dX_x3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13700" y="3810000"/>
            <a:ext cx="190497" cy="147831"/>
          </a:xfrm>
          <a:prstGeom prst="rect">
            <a:avLst/>
          </a:prstGeom>
        </p:spPr>
      </p:pic>
      <p:pic>
        <p:nvPicPr>
          <p:cNvPr id="52" name="Image 17" descr="/home/ahmed/Projects/ai_llm_slides/videos/machine-learning/02_linear-regression-classification-MSSE/recreated_pptx/build/assets/dX_dots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3700" y="4229100"/>
            <a:ext cx="152403" cy="22860"/>
          </a:xfrm>
          <a:prstGeom prst="rect">
            <a:avLst/>
          </a:prstGeom>
        </p:spPr>
      </p:pic>
      <p:pic>
        <p:nvPicPr>
          <p:cNvPr id="53" name="Image 18" descr="/home/ahmed/Projects/ai_llm_slides/videos/machine-learning/02_linear-regression-classification-MSSE/recreated_pptx/build/assets/dX_dots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13700" y="4521200"/>
            <a:ext cx="152403" cy="22860"/>
          </a:xfrm>
          <a:prstGeom prst="rect">
            <a:avLst/>
          </a:prstGeom>
        </p:spPr>
      </p:pic>
      <p:pic>
        <p:nvPicPr>
          <p:cNvPr id="54" name="Image 19" descr="/home/ahmed/Projects/ai_llm_slides/videos/machine-learning/02_linear-regression-classification-MSSE/recreated_pptx/build/assets/dX_x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13700" y="4724400"/>
            <a:ext cx="190497" cy="137160"/>
          </a:xfrm>
          <a:prstGeom prst="rect">
            <a:avLst/>
          </a:prstGeom>
        </p:spPr>
      </p:pic>
      <p:pic>
        <p:nvPicPr>
          <p:cNvPr id="55" name="Image 20" descr="/home/ahmed/Projects/ai_llm_slides/videos/machine-learning/02_linear-regression-classification-MSSE/recreated_pptx/build/assets/dX_p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5000" y="3035300"/>
            <a:ext cx="50292" cy="1904997"/>
          </a:xfrm>
          <a:prstGeom prst="rect">
            <a:avLst/>
          </a:prstGeom>
        </p:spPr>
      </p:pic>
      <p:pic>
        <p:nvPicPr>
          <p:cNvPr id="56" name="Image 21" descr="/home/ahmed/Projects/ai_llm_slides/videos/machine-learning/02_linear-regression-classification-MSSE/recreated_pptx/build/assets/dW_p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2900" y="3124200"/>
            <a:ext cx="50292" cy="1740405"/>
          </a:xfrm>
          <a:prstGeom prst="rect">
            <a:avLst/>
          </a:prstGeom>
        </p:spPr>
      </p:pic>
      <p:pic>
        <p:nvPicPr>
          <p:cNvPr id="57" name="Image 22" descr="/home/ahmed/Projects/ai_llm_slides/videos/machine-learning/02_linear-regression-classification-MSSE/recreated_pptx/build/assets/dW_w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09100" y="3200400"/>
            <a:ext cx="265176" cy="202695"/>
          </a:xfrm>
          <a:prstGeom prst="rect">
            <a:avLst/>
          </a:prstGeom>
        </p:spPr>
      </p:pic>
      <p:pic>
        <p:nvPicPr>
          <p:cNvPr id="58" name="Image 23" descr="/home/ahmed/Projects/ai_llm_slides/videos/machine-learning/02_linear-regression-classification-MSSE/recreated_pptx/build/assets/dW_w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09100" y="3492500"/>
            <a:ext cx="266703" cy="195069"/>
          </a:xfrm>
          <a:prstGeom prst="rect">
            <a:avLst/>
          </a:prstGeom>
        </p:spPr>
      </p:pic>
      <p:pic>
        <p:nvPicPr>
          <p:cNvPr id="59" name="Image 24" descr="/home/ahmed/Projects/ai_llm_slides/videos/machine-learning/02_linear-regression-classification-MSSE/recreated_pptx/build/assets/dW_w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09100" y="3797300"/>
            <a:ext cx="266703" cy="202695"/>
          </a:xfrm>
          <a:prstGeom prst="rect">
            <a:avLst/>
          </a:prstGeom>
        </p:spPr>
      </p:pic>
      <p:pic>
        <p:nvPicPr>
          <p:cNvPr id="60" name="Image 25" descr="/home/ahmed/Projects/ai_llm_slides/videos/machine-learning/02_linear-regression-classification-MSSE/recreated_pptx/build/assets/dW_dots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09100" y="4216400"/>
            <a:ext cx="140205" cy="21333"/>
          </a:xfrm>
          <a:prstGeom prst="rect">
            <a:avLst/>
          </a:prstGeom>
        </p:spPr>
      </p:pic>
      <p:pic>
        <p:nvPicPr>
          <p:cNvPr id="61" name="Image 26" descr="/home/ahmed/Projects/ai_llm_slides/videos/machine-learning/02_linear-regression-classification-MSSE/recreated_pptx/build/assets/dW_dots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09100" y="4470400"/>
            <a:ext cx="140205" cy="21333"/>
          </a:xfrm>
          <a:prstGeom prst="rect">
            <a:avLst/>
          </a:prstGeom>
        </p:spPr>
      </p:pic>
      <p:pic>
        <p:nvPicPr>
          <p:cNvPr id="62" name="Image 27" descr="/home/ahmed/Projects/ai_llm_slides/videos/machine-learning/02_linear-regression-classification-MSSE/recreated_pptx/build/assets/dW_w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09100" y="4610100"/>
            <a:ext cx="266703" cy="192024"/>
          </a:xfrm>
          <a:prstGeom prst="rect">
            <a:avLst/>
          </a:prstGeom>
        </p:spPr>
      </p:pic>
      <p:pic>
        <p:nvPicPr>
          <p:cNvPr id="63" name="Image 28" descr="/home/ahmed/Projects/ai_llm_slides/videos/machine-learning/02_linear-regression-classification-MSSE/recreated_pptx/build/assets/dW_pr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01200" y="3124200"/>
            <a:ext cx="50292" cy="1740405"/>
          </a:xfrm>
          <a:prstGeom prst="rect">
            <a:avLst/>
          </a:prstGeom>
        </p:spPr>
      </p:pic>
      <p:pic>
        <p:nvPicPr>
          <p:cNvPr id="64" name="Image 29" descr="/home/ahmed/Projects/ai_llm_slides/videos/machine-learning/02_linear-regression-classification-MSSE/recreated_pptx/build/assets/dO_pl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44200" y="3848100"/>
            <a:ext cx="64008" cy="210312"/>
          </a:xfrm>
          <a:prstGeom prst="rect">
            <a:avLst/>
          </a:prstGeom>
        </p:spPr>
      </p:pic>
      <p:pic>
        <p:nvPicPr>
          <p:cNvPr id="65" name="Image 30" descr="/home/ahmed/Projects/ai_llm_slides/videos/machine-learning/02_linear-regression-classification-MSSE/recreated_pptx/build/assets/dO_y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33100" y="3937000"/>
            <a:ext cx="115827" cy="164592"/>
          </a:xfrm>
          <a:prstGeom prst="rect">
            <a:avLst/>
          </a:prstGeom>
        </p:spPr>
      </p:pic>
      <p:pic>
        <p:nvPicPr>
          <p:cNvPr id="66" name="Image 31" descr="/home/ahmed/Projects/ai_llm_slides/videos/machine-learning/02_linear-regression-classification-MSSE/recreated_pptx/build/assets/dO_pr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85500" y="3848100"/>
            <a:ext cx="64008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14680" y="693420"/>
            <a:ext cx="1064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00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</a:t>
            </a:r>
            <a:pPr algn="ctr" indent="0" marL="0">
              <a:buNone/>
            </a:pPr>
            <a:r>
              <a:rPr lang="en-US" sz="2400" dirty="0">
                <a:solidFill>
                  <a:srgbClr val="97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for Linear Regression and Classification </a:t>
            </a:r>
            <a:pPr algn="ctr" indent="0" marL="0">
              <a:buNone/>
            </a:pPr>
            <a:r>
              <a:rPr lang="en-US" sz="2400" dirty="0">
                <a:solidFill>
                  <a:srgbClr val="100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 Sample)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7100" y="1346200"/>
            <a:ext cx="3860800" cy="6604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950" y="120904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9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90600" y="1582420"/>
            <a:ext cx="622300" cy="0"/>
          </a:xfrm>
          <a:prstGeom prst="line">
            <a:avLst/>
          </a:prstGeom>
          <a:noFill/>
          <a:ln w="12700">
            <a:solidFill>
              <a:srgbClr val="DE7B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151638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62400" y="151638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O/P: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11" name="Equation OMML" descr="x_1"/>
              <p:cNvSpPr txBox="1"/>
              <p:nvPr/>
            </p:nvSpPr>
            <p:spPr>
              <a:xfrm>
                <a:off x="1524000" y="1748030"/>
                <a:ext cx="164592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0" descr="/home/ahmed/Projects/ai_llm_slides/videos/machine-learning/02_linear-regression-classification-MSSE/recreated_pptx/build/assets/eq015_ip_x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24000" y="1748030"/>
                <a:ext cx="164592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" name="Equation OMML" descr="x_2"/>
              <p:cNvSpPr txBox="1"/>
              <p:nvPr/>
            </p:nvSpPr>
            <p:spPr>
              <a:xfrm>
                <a:off x="1905000" y="1748030"/>
                <a:ext cx="178308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1" descr="/home/ahmed/Projects/ai_llm_slides/videos/machine-learning/02_linear-regression-classification-MSSE/recreated_pptx/build/assets/eq015_ip_x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05000" y="1748030"/>
                <a:ext cx="178308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" name="Equation OMML" descr="x_3"/>
              <p:cNvSpPr txBox="1"/>
              <p:nvPr/>
            </p:nvSpPr>
            <p:spPr>
              <a:xfrm>
                <a:off x="2298700" y="1748026"/>
                <a:ext cx="178308" cy="17069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2" descr="/home/ahmed/Projects/ai_llm_slides/videos/machine-learning/02_linear-regression-classification-MSSE/recreated_pptx/build/assets/eq015_ip_x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8700" y="1748026"/>
                <a:ext cx="178308" cy="17069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" name="Equation OMML" descr="\ldots"/>
              <p:cNvSpPr txBox="1"/>
              <p:nvPr/>
            </p:nvSpPr>
            <p:spPr>
              <a:xfrm>
                <a:off x="2705100" y="1830322"/>
                <a:ext cx="240789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3" descr="/home/ahmed/Projects/ai_llm_slides/videos/machine-learning/02_linear-regression-classification-MSSE/recreated_pptx/build/assets/eq015_ip_dots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5100" y="1830322"/>
                <a:ext cx="240789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" name="Equation OMML" descr="x_n"/>
              <p:cNvSpPr txBox="1"/>
              <p:nvPr/>
            </p:nvSpPr>
            <p:spPr>
              <a:xfrm>
                <a:off x="3213100" y="1748028"/>
                <a:ext cx="164592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22433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4" descr="/home/ahmed/Projects/ai_llm_slides/videos/machine-learning/02_linear-regression-classification-MSSE/recreated_pptx/build/assets/eq015_ip_xn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3100" y="1748028"/>
                <a:ext cx="164592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y"/>
              <p:cNvSpPr txBox="1"/>
              <p:nvPr/>
            </p:nvSpPr>
            <p:spPr>
              <a:xfrm>
                <a:off x="4533900" y="1748030"/>
                <a:ext cx="132588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C22433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5" descr="/home/ahmed/Projects/ai_llm_slides/videos/machine-learning/02_linear-regression-classification-MSSE/recreated_pptx/build/assets/eq015_ip_y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3900" y="1748030"/>
                <a:ext cx="132588" cy="181353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Image 6" descr="/home/ahmed/Projects/ai_llm_slides/videos/machine-learning/02_linear-regression-classification-MSSE/recreated_pptx/build/assets/dl015_d_ip_p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1663700"/>
            <a:ext cx="21336" cy="304800"/>
          </a:xfrm>
          <a:prstGeom prst="rect">
            <a:avLst/>
          </a:prstGeom>
        </p:spPr>
      </p:pic>
      <p:pic>
        <p:nvPicPr>
          <p:cNvPr id="18" name="Image 7" descr="/home/ahmed/Projects/ai_llm_slides/videos/machine-learning/02_linear-regression-classification-MSSE/recreated_pptx/build/assets/dl015_d_ip_p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3600" y="1663700"/>
            <a:ext cx="21336" cy="304800"/>
          </a:xfrm>
          <a:prstGeom prst="rect">
            <a:avLst/>
          </a:prstGeom>
        </p:spPr>
      </p:pic>
      <p:pic>
        <p:nvPicPr>
          <p:cNvPr id="19" name="Image 8" descr="/home/ahmed/Projects/ai_llm_slides/videos/machine-learning/02_linear-regression-classification-MSSE/recreated_pptx/build/assets/dl015_d_ip_pl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0400" y="1663700"/>
            <a:ext cx="21336" cy="278892"/>
          </a:xfrm>
          <a:prstGeom prst="rect">
            <a:avLst/>
          </a:prstGeom>
        </p:spPr>
      </p:pic>
      <p:pic>
        <p:nvPicPr>
          <p:cNvPr id="20" name="Image 9" descr="/home/ahmed/Projects/ai_llm_slides/videos/machine-learning/02_linear-regression-classification-MSSE/recreated_pptx/build/assets/dl015_d_ip_pr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3600" y="1663700"/>
            <a:ext cx="21336" cy="278892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927100" y="2476500"/>
            <a:ext cx="3594100" cy="6477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p:sp>
        <p:nvSpPr>
          <p:cNvPr id="22" name="Text 10"/>
          <p:cNvSpPr/>
          <p:nvPr/>
        </p:nvSpPr>
        <p:spPr>
          <a:xfrm>
            <a:off x="996950" y="235204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9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900" dirty="0"/>
          </a:p>
        </p:txBody>
      </p:sp>
      <p:sp>
        <p:nvSpPr>
          <p:cNvPr id="23" name="Shape 11"/>
          <p:cNvSpPr/>
          <p:nvPr/>
        </p:nvSpPr>
        <p:spPr>
          <a:xfrm>
            <a:off x="990600" y="2725420"/>
            <a:ext cx="596900" cy="0"/>
          </a:xfrm>
          <a:prstGeom prst="line">
            <a:avLst/>
          </a:prstGeom>
          <a:noFill/>
          <a:ln w="12700">
            <a:solidFill>
              <a:srgbClr val="DE7B77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4" name="Equation OMML" descr="y"/>
              <p:cNvSpPr txBox="1"/>
              <p:nvPr/>
            </p:nvSpPr>
            <p:spPr>
              <a:xfrm>
                <a:off x="977900" y="2897380"/>
                <a:ext cx="114300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10" descr="/home/ahmed/Projects/ai_llm_slides/videos/machine-learning/02_linear-regression-classification-MSSE/recreated_pptx/build/assets/eq015_e1_y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7900" y="2897380"/>
                <a:ext cx="114300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5" name="Equation OMML" descr="="/>
              <p:cNvSpPr txBox="1"/>
              <p:nvPr/>
            </p:nvSpPr>
            <p:spPr>
              <a:xfrm>
                <a:off x="1130300" y="2911090"/>
                <a:ext cx="166119" cy="883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11" descr="/home/ahmed/Projects/ai_llm_slides/videos/machine-learning/02_linear-regression-classification-MSSE/recreated_pptx/build/assets/eq015_e1_eq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0300" y="2911090"/>
                <a:ext cx="166119" cy="8839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6" name="Equation OMML" descr="w_1"/>
              <p:cNvSpPr txBox="1"/>
              <p:nvPr/>
            </p:nvSpPr>
            <p:spPr>
              <a:xfrm>
                <a:off x="1320800" y="2897380"/>
                <a:ext cx="21641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6" name="Image 12" descr="/home/ahmed/Projects/ai_llm_slides/videos/machine-learning/02_linear-regression-classification-MSSE/recreated_pptx/build/assets/eq015_e1_w1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0800" y="2897380"/>
                <a:ext cx="21641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7" name="Equation OMML" descr="x_1"/>
              <p:cNvSpPr txBox="1"/>
              <p:nvPr/>
            </p:nvSpPr>
            <p:spPr>
              <a:xfrm>
                <a:off x="1600200" y="2897380"/>
                <a:ext cx="204213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7" name="Image 13" descr="/home/ahmed/Projects/ai_llm_slides/videos/machine-learning/02_linear-regression-classification-MSSE/recreated_pptx/build/assets/eq015_e1_x1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0200" y="2897380"/>
                <a:ext cx="204213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8" name="Equation OMML" descr="+"/>
              <p:cNvSpPr txBox="1"/>
              <p:nvPr/>
            </p:nvSpPr>
            <p:spPr>
              <a:xfrm>
                <a:off x="1854200" y="2871472"/>
                <a:ext cx="88395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8" name="Image 14" descr="/home/ahmed/Projects/ai_llm_slides/videos/machine-learning/02_linear-regression-classification-MSSE/recreated_pptx/build/assets/eq015_e1_p1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4200" y="2871472"/>
                <a:ext cx="88395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9" name="Equation OMML" descr="w_2"/>
              <p:cNvSpPr txBox="1"/>
              <p:nvPr/>
            </p:nvSpPr>
            <p:spPr>
              <a:xfrm>
                <a:off x="1981200" y="2897380"/>
                <a:ext cx="22250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9" name="Image 15" descr="/home/ahmed/Projects/ai_llm_slides/videos/machine-learning/02_linear-regression-classification-MSSE/recreated_pptx/build/assets/eq015_e1_w2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81200" y="2897380"/>
                <a:ext cx="22250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0" name="Equation OMML" descr="x_2"/>
              <p:cNvSpPr txBox="1"/>
              <p:nvPr/>
            </p:nvSpPr>
            <p:spPr>
              <a:xfrm>
                <a:off x="2247900" y="2897380"/>
                <a:ext cx="217929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0" name="Image 16" descr="/home/ahmed/Projects/ai_llm_slides/videos/machine-learning/02_linear-regression-classification-MSSE/recreated_pptx/build/assets/eq015_e1_x2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47900" y="2897380"/>
                <a:ext cx="217929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1" name="Equation OMML" descr="+"/>
              <p:cNvSpPr txBox="1"/>
              <p:nvPr/>
            </p:nvSpPr>
            <p:spPr>
              <a:xfrm>
                <a:off x="2527300" y="2871472"/>
                <a:ext cx="10211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1" name="Image 17" descr="/home/ahmed/Projects/ai_llm_slides/videos/machine-learning/02_linear-regression-classification-MSSE/recreated_pptx/build/assets/eq015_e1_p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27300" y="2871472"/>
                <a:ext cx="10211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2" name="Equation OMML" descr="w_2"/>
              <p:cNvSpPr txBox="1"/>
              <p:nvPr/>
            </p:nvSpPr>
            <p:spPr>
              <a:xfrm>
                <a:off x="2667000" y="2897380"/>
                <a:ext cx="21641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18" descr="/home/ahmed/Projects/ai_llm_slides/videos/machine-learning/02_linear-regression-classification-MSSE/recreated_pptx/build/assets/eq015_e1_w2b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67000" y="2897380"/>
                <a:ext cx="21641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3" name="Equation OMML" descr="x_2"/>
              <p:cNvSpPr txBox="1"/>
              <p:nvPr/>
            </p:nvSpPr>
            <p:spPr>
              <a:xfrm>
                <a:off x="2908300" y="2897380"/>
                <a:ext cx="217929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3" name="Image 19" descr="/home/ahmed/Projects/ai_llm_slides/videos/machine-learning/02_linear-regression-classification-MSSE/recreated_pptx/build/assets/eq015_e1_x2b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08300" y="2897380"/>
                <a:ext cx="217929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4" name="Equation OMML" descr="+"/>
              <p:cNvSpPr txBox="1"/>
              <p:nvPr/>
            </p:nvSpPr>
            <p:spPr>
              <a:xfrm>
                <a:off x="3175000" y="2871472"/>
                <a:ext cx="10211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4" name="Image 20" descr="/home/ahmed/Projects/ai_llm_slides/videos/machine-learning/02_linear-regression-classification-MSSE/recreated_pptx/build/assets/eq015_e1_p3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75000" y="2871472"/>
                <a:ext cx="10211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5" name="Equation OMML" descr="\ldots"/>
              <p:cNvSpPr txBox="1"/>
              <p:nvPr/>
            </p:nvSpPr>
            <p:spPr>
              <a:xfrm>
                <a:off x="3327400" y="2979672"/>
                <a:ext cx="140205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21" descr="/home/ahmed/Projects/ai_llm_slides/videos/machine-learning/02_linear-regression-classification-MSSE/recreated_pptx/build/assets/eq015_e1_dots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27400" y="2979672"/>
                <a:ext cx="140205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6" name="Equation OMML" descr="+"/>
              <p:cNvSpPr txBox="1"/>
              <p:nvPr/>
            </p:nvSpPr>
            <p:spPr>
              <a:xfrm>
                <a:off x="3517900" y="2871472"/>
                <a:ext cx="10211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22" descr="/home/ahmed/Projects/ai_llm_slides/videos/machine-learning/02_linear-regression-classification-MSSE/recreated_pptx/build/assets/eq015_e1_p4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17900" y="2871472"/>
                <a:ext cx="10211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7" name="Equation OMML" descr="w_d"/>
              <p:cNvSpPr txBox="1"/>
              <p:nvPr/>
            </p:nvSpPr>
            <p:spPr>
              <a:xfrm>
                <a:off x="3683000" y="2897378"/>
                <a:ext cx="140205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93B47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23" descr="/home/ahmed/Projects/ai_llm_slides/videos/machine-learning/02_linear-regression-classification-MSSE/recreated_pptx/build/assets/eq015_e1_wd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83000" y="2897378"/>
                <a:ext cx="140205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x_d"/>
              <p:cNvSpPr txBox="1"/>
              <p:nvPr/>
            </p:nvSpPr>
            <p:spPr>
              <a:xfrm>
                <a:off x="3962400" y="2897378"/>
                <a:ext cx="227073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2108AA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24" descr="/home/ahmed/Projects/ai_llm_slides/videos/machine-learning/02_linear-regression-classification-MSSE/recreated_pptx/build/assets/eq015_e1_xd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62400" y="2897378"/>
                <a:ext cx="227073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9" name="Equation OMML" descr="+"/>
              <p:cNvSpPr txBox="1"/>
              <p:nvPr/>
            </p:nvSpPr>
            <p:spPr>
              <a:xfrm>
                <a:off x="4216400" y="2871472"/>
                <a:ext cx="10211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2108A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9" name="Image 25" descr="/home/ahmed/Projects/ai_llm_slides/videos/machine-learning/02_linear-regression-classification-MSSE/recreated_pptx/build/assets/eq015_e1_p5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16400" y="2871472"/>
                <a:ext cx="10211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0" name="Equation OMML" descr="b"/>
              <p:cNvSpPr txBox="1"/>
              <p:nvPr/>
            </p:nvSpPr>
            <p:spPr>
              <a:xfrm>
                <a:off x="4368800" y="2839467"/>
                <a:ext cx="132588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559B44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0" name="Image 26" descr="/home/ahmed/Projects/ai_llm_slides/videos/machine-learning/02_linear-regression-classification-MSSE/recreated_pptx/build/assets/eq015_e1_b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68800" y="2839467"/>
                <a:ext cx="132588" cy="192024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Shape 12"/>
          <p:cNvSpPr/>
          <p:nvPr/>
        </p:nvSpPr>
        <p:spPr>
          <a:xfrm>
            <a:off x="927100" y="3289300"/>
            <a:ext cx="1422400" cy="3556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2" name="Equation OMML" descr="y"/>
              <p:cNvSpPr txBox="1"/>
              <p:nvPr/>
            </p:nvSpPr>
            <p:spPr>
              <a:xfrm>
                <a:off x="990600" y="3462530"/>
                <a:ext cx="132588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27" descr="/home/ahmed/Projects/ai_llm_slides/videos/machine-learning/02_linear-regression-classification-MSSE/recreated_pptx/build/assets/eq015_b4_y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0600" y="3462530"/>
                <a:ext cx="132588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3" name="Equation OMML" descr="="/>
              <p:cNvSpPr txBox="1"/>
              <p:nvPr/>
            </p:nvSpPr>
            <p:spPr>
              <a:xfrm>
                <a:off x="1168400" y="3476240"/>
                <a:ext cx="166119" cy="883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3" name="Image 28" descr="/home/ahmed/Projects/ai_llm_slides/videos/machine-learning/02_linear-regression-classification-MSSE/recreated_pptx/build/assets/eq015_b4_eq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68400" y="3476240"/>
                <a:ext cx="166119" cy="8839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4" name="Equation OMML" descr="W^T"/>
              <p:cNvSpPr txBox="1"/>
              <p:nvPr/>
            </p:nvSpPr>
            <p:spPr>
              <a:xfrm>
                <a:off x="1384300" y="3358892"/>
                <a:ext cx="304797" cy="23927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900">
                              <a:solidFill>
                                <a:srgbClr val="3C2BA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900">
                              <a:solidFill>
                                <a:srgbClr val="3C2BA4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1900">
                              <a:solidFill>
                                <a:srgbClr val="3C2BA4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29" descr="/home/ahmed/Projects/ai_llm_slides/videos/machine-learning/02_linear-regression-classification-MSSE/recreated_pptx/build/assets/eq015_b4_WT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84300" y="3358892"/>
                <a:ext cx="304797" cy="23927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X"/>
              <p:cNvSpPr txBox="1"/>
              <p:nvPr/>
            </p:nvSpPr>
            <p:spPr>
              <a:xfrm>
                <a:off x="1778000" y="3410713"/>
                <a:ext cx="158493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B7283B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30" descr="/home/ahmed/Projects/ai_llm_slides/videos/machine-learning/02_linear-regression-classification-MSSE/recreated_pptx/build/assets/eq015_b4_X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78000" y="3410713"/>
                <a:ext cx="158493" cy="1828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+"/>
              <p:cNvSpPr txBox="1"/>
              <p:nvPr/>
            </p:nvSpPr>
            <p:spPr>
              <a:xfrm>
                <a:off x="1993900" y="3436622"/>
                <a:ext cx="114300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31" descr="/home/ahmed/Projects/ai_llm_slides/videos/machine-learning/02_linear-regression-classification-MSSE/recreated_pptx/build/assets/eq015_b4_p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93900" y="3436622"/>
                <a:ext cx="114300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7" name="Equation OMML" descr="b"/>
              <p:cNvSpPr txBox="1"/>
              <p:nvPr/>
            </p:nvSpPr>
            <p:spPr>
              <a:xfrm>
                <a:off x="2171700" y="3404617"/>
                <a:ext cx="102111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318828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7" name="Image 32" descr="/home/ahmed/Projects/ai_llm_slides/videos/machine-learning/02_linear-regression-classification-MSSE/recreated_pptx/build/assets/eq015_b4_b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71700" y="3404617"/>
                <a:ext cx="102111" cy="192024"/>
              </a:xfrm>
              <a:prstGeom prst="rect">
                <a:avLst/>
              </a:prstGeom>
            </p:spPr>
          </p:pic>
        </mc:Fallback>
      </mc:AlternateContent>
      <p:sp>
        <p:nvSpPr>
          <p:cNvPr id="48" name="Shape 13"/>
          <p:cNvSpPr/>
          <p:nvPr/>
        </p:nvSpPr>
        <p:spPr>
          <a:xfrm>
            <a:off x="1397000" y="3616960"/>
            <a:ext cx="2159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9" name="Shape 14"/>
          <p:cNvSpPr/>
          <p:nvPr/>
        </p:nvSpPr>
        <p:spPr>
          <a:xfrm>
            <a:off x="1790700" y="3616960"/>
            <a:ext cx="1778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0" name="Shape 15"/>
          <p:cNvSpPr/>
          <p:nvPr/>
        </p:nvSpPr>
        <p:spPr>
          <a:xfrm>
            <a:off x="927100" y="4025900"/>
            <a:ext cx="3543300" cy="1422400"/>
          </a:xfrm>
          <a:prstGeom prst="rect">
            <a:avLst/>
          </a:prstGeom>
          <a:solidFill>
            <a:srgbClr val="FBFDE5"/>
          </a:solidFill>
          <a:ln w="12700">
            <a:solidFill>
              <a:srgbClr val="A9A5C2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1" name="Equation OMML" descr="y"/>
              <p:cNvSpPr txBox="1"/>
              <p:nvPr/>
            </p:nvSpPr>
            <p:spPr>
              <a:xfrm>
                <a:off x="990600" y="4643630"/>
                <a:ext cx="132588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33" descr="/home/ahmed/Projects/ai_llm_slides/videos/machine-learning/02_linear-regression-classification-MSSE/recreated_pptx/build/assets/eq015_b3_y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0600" y="4643630"/>
                <a:ext cx="132588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2" name="Equation OMML" descr="="/>
              <p:cNvSpPr txBox="1"/>
              <p:nvPr/>
            </p:nvSpPr>
            <p:spPr>
              <a:xfrm>
                <a:off x="1143000" y="4657340"/>
                <a:ext cx="126489" cy="883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2" name="Image 34" descr="/home/ahmed/Projects/ai_llm_slides/videos/machine-learning/02_linear-regression-classification-MSSE/recreated_pptx/build/assets/eq015_b3_eq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43000" y="4657340"/>
                <a:ext cx="126489" cy="8839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3" name="Equation OMML" descr="w_1"/>
              <p:cNvSpPr txBox="1"/>
              <p:nvPr/>
            </p:nvSpPr>
            <p:spPr>
              <a:xfrm>
                <a:off x="1549400" y="4224530"/>
                <a:ext cx="202695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3" name="Image 35" descr="/home/ahmed/Projects/ai_llm_slides/videos/machine-learning/02_linear-regression-classification-MSSE/recreated_pptx/build/assets/eq015_b3_w1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549400" y="4224530"/>
                <a:ext cx="202695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4" name="Equation OMML" descr="w_2"/>
              <p:cNvSpPr txBox="1"/>
              <p:nvPr/>
            </p:nvSpPr>
            <p:spPr>
              <a:xfrm>
                <a:off x="2006600" y="4224530"/>
                <a:ext cx="240789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4" name="Image 36" descr="/home/ahmed/Projects/ai_llm_slides/videos/machine-learning/02_linear-regression-classification-MSSE/recreated_pptx/build/assets/eq015_b3_w2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06600" y="4224530"/>
                <a:ext cx="240789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5" name="Equation OMML" descr="\ldots"/>
              <p:cNvSpPr txBox="1"/>
              <p:nvPr/>
            </p:nvSpPr>
            <p:spPr>
              <a:xfrm>
                <a:off x="2565400" y="4306822"/>
                <a:ext cx="202695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4A3EC4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5" name="Image 37" descr="/home/ahmed/Projects/ai_llm_slides/videos/machine-learning/02_linear-regression-classification-MSSE/recreated_pptx/build/assets/eq015_b3_dots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565400" y="4306822"/>
                <a:ext cx="202695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6" name="Equation OMML" descr="w_d"/>
              <p:cNvSpPr txBox="1"/>
              <p:nvPr/>
            </p:nvSpPr>
            <p:spPr>
              <a:xfrm>
                <a:off x="3022600" y="4224528"/>
                <a:ext cx="178308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4A3EC4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38" descr="/home/ahmed/Projects/ai_llm_slides/videos/machine-learning/02_linear-regression-classification-MSSE/recreated_pptx/build/assets/eq015_b3_wd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22600" y="4224528"/>
                <a:ext cx="178308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7" name="Equation OMML" descr="x_1"/>
              <p:cNvSpPr txBox="1"/>
              <p:nvPr/>
            </p:nvSpPr>
            <p:spPr>
              <a:xfrm>
                <a:off x="3581400" y="4199130"/>
                <a:ext cx="158493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7" name="Image 39" descr="/home/ahmed/Projects/ai_llm_slides/videos/machine-learning/02_linear-regression-classification-MSSE/recreated_pptx/build/assets/eq015_b3_x1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81400" y="4199130"/>
                <a:ext cx="158493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8" name="Equation OMML" descr="x_2"/>
              <p:cNvSpPr txBox="1"/>
              <p:nvPr/>
            </p:nvSpPr>
            <p:spPr>
              <a:xfrm>
                <a:off x="3568700" y="4529330"/>
                <a:ext cx="217929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40" descr="/home/ahmed/Projects/ai_llm_slides/videos/machine-learning/02_linear-regression-classification-MSSE/recreated_pptx/build/assets/eq015_b3_x2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68700" y="4529330"/>
                <a:ext cx="217929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9" name="Equation OMML" descr="\ldots"/>
              <p:cNvSpPr txBox="1"/>
              <p:nvPr/>
            </p:nvSpPr>
            <p:spPr>
              <a:xfrm>
                <a:off x="3556000" y="4948172"/>
                <a:ext cx="164592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C04952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41" descr="/home/ahmed/Projects/ai_llm_slides/videos/machine-learning/02_linear-regression-classification-MSSE/recreated_pptx/build/assets/eq015_b3_vd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556000" y="4948172"/>
                <a:ext cx="164592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x_d"/>
              <p:cNvSpPr txBox="1"/>
              <p:nvPr/>
            </p:nvSpPr>
            <p:spPr>
              <a:xfrm>
                <a:off x="3568700" y="5189728"/>
                <a:ext cx="178308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4952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42" descr="/home/ahmed/Projects/ai_llm_slides/videos/machine-learning/02_linear-regression-classification-MSSE/recreated_pptx/build/assets/eq015_b3_xd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68700" y="5189728"/>
                <a:ext cx="178308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+"/>
              <p:cNvSpPr txBox="1"/>
              <p:nvPr/>
            </p:nvSpPr>
            <p:spPr>
              <a:xfrm>
                <a:off x="4038600" y="4579622"/>
                <a:ext cx="82296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43" descr="/home/ahmed/Projects/ai_llm_slides/videos/machine-learning/02_linear-regression-classification-MSSE/recreated_pptx/build/assets/eq015_b3_p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38600" y="4579622"/>
                <a:ext cx="82296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b"/>
              <p:cNvSpPr txBox="1"/>
              <p:nvPr/>
            </p:nvSpPr>
            <p:spPr>
              <a:xfrm>
                <a:off x="4279900" y="4573017"/>
                <a:ext cx="102111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499338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44" descr="/home/ahmed/Projects/ai_llm_slides/videos/machine-learning/02_linear-regression-classification-MSSE/recreated_pptx/build/assets/eq015_b3_b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79900" y="4573017"/>
                <a:ext cx="102111" cy="192024"/>
              </a:xfrm>
              <a:prstGeom prst="rect">
                <a:avLst/>
              </a:prstGeom>
            </p:spPr>
          </p:pic>
        </mc:Fallback>
      </mc:AlternateContent>
      <p:pic>
        <p:nvPicPr>
          <p:cNvPr id="63" name="Image 45" descr="/home/ahmed/Projects/ai_llm_slides/videos/machine-learning/02_linear-regression-classification-MSSE/recreated_pptx/build/assets/dl015_d_b3_rowl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85900" y="4165600"/>
            <a:ext cx="21336" cy="240792"/>
          </a:xfrm>
          <a:prstGeom prst="rect">
            <a:avLst/>
          </a:prstGeom>
        </p:spPr>
      </p:pic>
      <p:pic>
        <p:nvPicPr>
          <p:cNvPr id="64" name="Image 46" descr="/home/ahmed/Projects/ai_llm_slides/videos/machine-learning/02_linear-regression-classification-MSSE/recreated_pptx/build/assets/dl015_d_b3_rowr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327400" y="4165600"/>
            <a:ext cx="21336" cy="240792"/>
          </a:xfrm>
          <a:prstGeom prst="rect">
            <a:avLst/>
          </a:prstGeom>
        </p:spPr>
      </p:pic>
      <p:pic>
        <p:nvPicPr>
          <p:cNvPr id="65" name="Image 47" descr="/home/ahmed/Projects/ai_llm_slides/videos/machine-learning/02_linear-regression-classification-MSSE/recreated_pptx/build/assets/dl015_d_b3_coll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505200" y="4076700"/>
            <a:ext cx="45720" cy="1345692"/>
          </a:xfrm>
          <a:prstGeom prst="rect">
            <a:avLst/>
          </a:prstGeom>
        </p:spPr>
      </p:pic>
      <p:pic>
        <p:nvPicPr>
          <p:cNvPr id="66" name="Image 48" descr="/home/ahmed/Projects/ai_llm_slides/videos/machine-learning/02_linear-regression-classification-MSSE/recreated_pptx/build/assets/dl015_d_b3_colr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810000" y="4038600"/>
            <a:ext cx="45720" cy="1371600"/>
          </a:xfrm>
          <a:prstGeom prst="rect">
            <a:avLst/>
          </a:prstGeom>
        </p:spPr>
      </p:pic>
      <p:sp>
        <p:nvSpPr>
          <p:cNvPr id="67" name="Shape 16"/>
          <p:cNvSpPr/>
          <p:nvPr/>
        </p:nvSpPr>
        <p:spPr>
          <a:xfrm>
            <a:off x="5346700" y="1257300"/>
            <a:ext cx="47117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4D1"/>
            </a:solidFill>
            <a:prstDash val="solid"/>
          </a:ln>
        </p:spPr>
      </p:sp>
      <p:sp>
        <p:nvSpPr>
          <p:cNvPr id="68" name="Text 17"/>
          <p:cNvSpPr/>
          <p:nvPr/>
        </p:nvSpPr>
        <p:spPr>
          <a:xfrm>
            <a:off x="5638800" y="223901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A611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900" dirty="0"/>
          </a:p>
        </p:txBody>
      </p:sp>
      <p:sp>
        <p:nvSpPr>
          <p:cNvPr id="69" name="Text 18"/>
          <p:cNvSpPr/>
          <p:nvPr/>
        </p:nvSpPr>
        <p:spPr>
          <a:xfrm>
            <a:off x="6337300" y="220726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E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</a:t>
            </a:r>
            <a:endParaRPr lang="en-US" sz="1700" dirty="0"/>
          </a:p>
        </p:txBody>
      </p:sp>
      <p:sp>
        <p:nvSpPr>
          <p:cNvPr id="70" name="Shape 19"/>
          <p:cNvSpPr/>
          <p:nvPr/>
        </p:nvSpPr>
        <p:spPr>
          <a:xfrm>
            <a:off x="6337300" y="2613660"/>
            <a:ext cx="177800" cy="0"/>
          </a:xfrm>
          <a:prstGeom prst="line">
            <a:avLst/>
          </a:prstGeom>
          <a:noFill/>
          <a:ln w="12700">
            <a:solidFill>
              <a:srgbClr val="BE2E40"/>
            </a:solidFill>
            <a:prstDash val="solid"/>
          </a:ln>
        </p:spPr>
      </p:sp>
      <p:sp>
        <p:nvSpPr>
          <p:cNvPr id="71" name="Text 20"/>
          <p:cNvSpPr/>
          <p:nvPr/>
        </p:nvSpPr>
        <p:spPr>
          <a:xfrm>
            <a:off x="7620000" y="221361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E3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</a:t>
            </a:r>
            <a:endParaRPr lang="en-US" sz="1900" dirty="0"/>
          </a:p>
        </p:txBody>
      </p:sp>
      <p:sp>
        <p:nvSpPr>
          <p:cNvPr id="72" name="Shape 21"/>
          <p:cNvSpPr/>
          <p:nvPr/>
        </p:nvSpPr>
        <p:spPr>
          <a:xfrm>
            <a:off x="7620000" y="2620010"/>
            <a:ext cx="215900" cy="0"/>
          </a:xfrm>
          <a:prstGeom prst="line">
            <a:avLst/>
          </a:prstGeom>
          <a:noFill/>
          <a:ln w="12700">
            <a:solidFill>
              <a:srgbClr val="3E32B2"/>
            </a:solidFill>
            <a:prstDash val="solid"/>
          </a:ln>
        </p:spPr>
      </p:sp>
      <p:sp>
        <p:nvSpPr>
          <p:cNvPr id="73" name="Text 22"/>
          <p:cNvSpPr/>
          <p:nvPr/>
        </p:nvSpPr>
        <p:spPr>
          <a:xfrm>
            <a:off x="8724900" y="229108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74" name="Equation OMML" descr="x_1"/>
              <p:cNvSpPr txBox="1"/>
              <p:nvPr/>
            </p:nvSpPr>
            <p:spPr>
              <a:xfrm>
                <a:off x="6807200" y="1722630"/>
                <a:ext cx="17069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49" descr="/home/ahmed/Projects/ai_llm_slides/videos/machine-learning/02_linear-regression-classification-MSSE/recreated_pptx/build/assets/eq015_rb_x1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807200" y="1722630"/>
                <a:ext cx="17069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x_2"/>
              <p:cNvSpPr txBox="1"/>
              <p:nvPr/>
            </p:nvSpPr>
            <p:spPr>
              <a:xfrm>
                <a:off x="6807200" y="2052830"/>
                <a:ext cx="178308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50" descr="/home/ahmed/Projects/ai_llm_slides/videos/machine-learning/02_linear-regression-classification-MSSE/recreated_pptx/build/assets/eq015_rb_x2.png">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07200" y="2052830"/>
                <a:ext cx="178308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x_3"/>
              <p:cNvSpPr txBox="1"/>
              <p:nvPr/>
            </p:nvSpPr>
            <p:spPr>
              <a:xfrm>
                <a:off x="6807200" y="2370326"/>
                <a:ext cx="170691" cy="17069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51" descr="/home/ahmed/Projects/ai_llm_slides/videos/machine-learning/02_linear-regression-classification-MSSE/recreated_pptx/build/assets/eq015_rb_x3.png">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07200" y="2370326"/>
                <a:ext cx="170691" cy="17069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\ldots"/>
              <p:cNvSpPr txBox="1"/>
              <p:nvPr/>
            </p:nvSpPr>
            <p:spPr>
              <a:xfrm>
                <a:off x="6807200" y="2795522"/>
                <a:ext cx="190497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BE2E40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52" descr="/home/ahmed/Projects/ai_llm_slides/videos/machine-learning/02_linear-regression-classification-MSSE/recreated_pptx/build/assets/eq015_rb_xd1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07200" y="2795522"/>
                <a:ext cx="190497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\ldots"/>
              <p:cNvSpPr txBox="1"/>
              <p:nvPr/>
            </p:nvSpPr>
            <p:spPr>
              <a:xfrm>
                <a:off x="6807200" y="3087622"/>
                <a:ext cx="190497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BE2E40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53" descr="/home/ahmed/Projects/ai_llm_slides/videos/machine-learning/02_linear-regression-classification-MSSE/recreated_pptx/build/assets/eq015_rb_xd2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807200" y="3087622"/>
                <a:ext cx="190497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x_d"/>
              <p:cNvSpPr txBox="1"/>
              <p:nvPr/>
            </p:nvSpPr>
            <p:spPr>
              <a:xfrm>
                <a:off x="6807200" y="3322828"/>
                <a:ext cx="227073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BE2E4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54" descr="/home/ahmed/Projects/ai_llm_slides/videos/machine-learning/02_linear-regression-classification-MSSE/recreated_pptx/build/assets/eq015_rb_xd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07200" y="3322828"/>
                <a:ext cx="227073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w_1"/>
              <p:cNvSpPr txBox="1"/>
              <p:nvPr/>
            </p:nvSpPr>
            <p:spPr>
              <a:xfrm>
                <a:off x="8128000" y="1811530"/>
                <a:ext cx="22250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55" descr="/home/ahmed/Projects/ai_llm_slides/videos/machine-learning/02_linear-regression-classification-MSSE/recreated_pptx/build/assets/eq015_rb_w1.png">    </p:cNvPr>
              <p:cNvPicPr>
                <a:picLocks noChangeAspect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128000" y="1811530"/>
                <a:ext cx="22250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1" name="Equation OMML" descr="w_2"/>
              <p:cNvSpPr txBox="1"/>
              <p:nvPr/>
            </p:nvSpPr>
            <p:spPr>
              <a:xfrm>
                <a:off x="8128000" y="2116330"/>
                <a:ext cx="22250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1" name="Image 56" descr="/home/ahmed/Projects/ai_llm_slides/videos/machine-learning/02_linear-regression-classification-MSSE/recreated_pptx/build/assets/eq015_rb_w2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128000" y="2116330"/>
                <a:ext cx="22250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2" name="Equation OMML" descr="w_3"/>
              <p:cNvSpPr txBox="1"/>
              <p:nvPr/>
            </p:nvSpPr>
            <p:spPr>
              <a:xfrm>
                <a:off x="8128000" y="2408426"/>
                <a:ext cx="222501" cy="17069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57" descr="/home/ahmed/Projects/ai_llm_slides/videos/machine-learning/02_linear-regression-classification-MSSE/recreated_pptx/build/assets/eq015_rb_w3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128000" y="2408426"/>
                <a:ext cx="222501" cy="17069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3" name="Equation OMML" descr="\ldots"/>
              <p:cNvSpPr txBox="1"/>
              <p:nvPr/>
            </p:nvSpPr>
            <p:spPr>
              <a:xfrm>
                <a:off x="8115300" y="2770122"/>
                <a:ext cx="190497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3E32B2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58" descr="/home/ahmed/Projects/ai_llm_slides/videos/machine-learning/02_linear-regression-classification-MSSE/recreated_pptx/build/assets/eq015_rb_wd1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115300" y="2770122"/>
                <a:ext cx="190497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\ldots"/>
              <p:cNvSpPr txBox="1"/>
              <p:nvPr/>
            </p:nvSpPr>
            <p:spPr>
              <a:xfrm>
                <a:off x="8115300" y="3036822"/>
                <a:ext cx="190497" cy="518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3E32B2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59" descr="/home/ahmed/Projects/ai_llm_slides/videos/machine-learning/02_linear-regression-classification-MSSE/recreated_pptx/build/assets/eq015_rb_wd2.png">    </p:cNvPr>
              <p:cNvPicPr>
                <a:picLocks noChangeAspect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115300" y="3036822"/>
                <a:ext cx="190497" cy="518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w_d"/>
              <p:cNvSpPr txBox="1"/>
              <p:nvPr/>
            </p:nvSpPr>
            <p:spPr>
              <a:xfrm>
                <a:off x="8128000" y="3221228"/>
                <a:ext cx="222501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3E32B2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60" descr="/home/ahmed/Projects/ai_llm_slides/videos/machine-learning/02_linear-regression-classification-MSSE/recreated_pptx/build/assets/eq015_rb_wd.png">    </p:cNvPr>
              <p:cNvPicPr>
                <a:picLocks noChangeAspect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28000" y="3221228"/>
                <a:ext cx="222501" cy="1691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y"/>
              <p:cNvSpPr txBox="1"/>
              <p:nvPr/>
            </p:nvSpPr>
            <p:spPr>
              <a:xfrm>
                <a:off x="9626600" y="2471930"/>
                <a:ext cx="132588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00">
                          <a:solidFill>
                            <a:srgbClr val="4D4F4C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61" descr="/home/ahmed/Projects/ai_llm_slides/videos/machine-learning/02_linear-regression-classification-MSSE/recreated_pptx/build/assets/eq015_rb_y.png">    </p:cNvPr>
              <p:cNvPicPr>
                <a:picLocks noChangeAspect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26600" y="2471930"/>
                <a:ext cx="132588" cy="181353"/>
              </a:xfrm>
              <a:prstGeom prst="rect">
                <a:avLst/>
              </a:prstGeom>
            </p:spPr>
          </p:pic>
        </mc:Fallback>
      </mc:AlternateContent>
      <p:pic>
        <p:nvPicPr>
          <p:cNvPr id="87" name="Image 62" descr="/home/ahmed/Projects/ai_llm_slides/videos/machine-learning/02_linear-regression-classification-MSSE/recreated_pptx/build/assets/dl015_d_rb_xl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718300" y="1562100"/>
            <a:ext cx="45720" cy="1993392"/>
          </a:xfrm>
          <a:prstGeom prst="rect">
            <a:avLst/>
          </a:prstGeom>
        </p:spPr>
      </p:pic>
      <p:pic>
        <p:nvPicPr>
          <p:cNvPr id="88" name="Image 63" descr="/home/ahmed/Projects/ai_llm_slides/videos/machine-learning/02_linear-regression-classification-MSSE/recreated_pptx/build/assets/dl015_d_rb_xr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035800" y="1562100"/>
            <a:ext cx="45720" cy="1993392"/>
          </a:xfrm>
          <a:prstGeom prst="rect">
            <a:avLst/>
          </a:prstGeom>
        </p:spPr>
      </p:pic>
      <p:pic>
        <p:nvPicPr>
          <p:cNvPr id="89" name="Image 64" descr="/home/ahmed/Projects/ai_llm_slides/videos/machine-learning/02_linear-regression-classification-MSSE/recreated_pptx/build/assets/dl015_d_rb_wl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051800" y="1676400"/>
            <a:ext cx="45720" cy="1790700"/>
          </a:xfrm>
          <a:prstGeom prst="rect">
            <a:avLst/>
          </a:prstGeom>
        </p:spPr>
      </p:pic>
      <p:pic>
        <p:nvPicPr>
          <p:cNvPr id="90" name="Image 65" descr="/home/ahmed/Projects/ai_llm_slides/videos/machine-learning/02_linear-regression-classification-MSSE/recreated_pptx/build/assets/dl015_d_rb_wr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356600" y="1689100"/>
            <a:ext cx="45720" cy="1790700"/>
          </a:xfrm>
          <a:prstGeom prst="rect">
            <a:avLst/>
          </a:prstGeom>
        </p:spPr>
      </p:pic>
      <p:pic>
        <p:nvPicPr>
          <p:cNvPr id="91" name="Image 66" descr="/home/ahmed/Projects/ai_llm_slides/videos/machine-learning/02_linear-regression-classification-MSSE/recreated_pptx/build/assets/dl015_d_rb_yl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550400" y="2438400"/>
            <a:ext cx="21336" cy="240792"/>
          </a:xfrm>
          <a:prstGeom prst="rect">
            <a:avLst/>
          </a:prstGeom>
        </p:spPr>
      </p:pic>
      <p:pic>
        <p:nvPicPr>
          <p:cNvPr id="92" name="Image 67" descr="/home/ahmed/Projects/ai_llm_slides/videos/machine-learning/02_linear-regression-classification-MSSE/recreated_pptx/build/assets/dl015_d_rb_yr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9779000" y="2438400"/>
            <a:ext cx="21336" cy="2407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4700" y="6832600"/>
            <a:ext cx="10655300" cy="25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500" y="1384300"/>
            <a:ext cx="3771900" cy="571500"/>
          </a:xfrm>
          <a:prstGeom prst="rect">
            <a:avLst/>
          </a:prstGeom>
          <a:solidFill>
            <a:srgbClr val="FFFFCC"/>
          </a:solidFill>
          <a:ln w="9525">
            <a:solidFill>
              <a:srgbClr val="9999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00" y="2527300"/>
            <a:ext cx="3530600" cy="546100"/>
          </a:xfrm>
          <a:prstGeom prst="rect">
            <a:avLst/>
          </a:prstGeom>
          <a:solidFill>
            <a:srgbClr val="FFFFCC"/>
          </a:solidFill>
          <a:ln w="9525">
            <a:solidFill>
              <a:srgbClr val="9999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800" y="3302000"/>
            <a:ext cx="1384300" cy="393700"/>
          </a:xfrm>
          <a:prstGeom prst="rect">
            <a:avLst/>
          </a:prstGeom>
          <a:solidFill>
            <a:srgbClr val="FAFCE6"/>
          </a:solidFill>
          <a:ln w="9525">
            <a:solidFill>
              <a:srgbClr val="9999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84800" y="1295400"/>
            <a:ext cx="4622800" cy="238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500" y="4064000"/>
            <a:ext cx="3441700" cy="1333500"/>
          </a:xfrm>
          <a:prstGeom prst="rect">
            <a:avLst/>
          </a:prstGeom>
          <a:solidFill>
            <a:srgbClr val="FFFFCC"/>
          </a:solidFill>
          <a:ln w="9525">
            <a:solidFill>
              <a:srgbClr val="99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0" y="4038600"/>
            <a:ext cx="3314700" cy="1651000"/>
          </a:xfrm>
          <a:prstGeom prst="rect">
            <a:avLst/>
          </a:prstGeom>
          <a:solidFill>
            <a:srgbClr val="E4FFEF"/>
          </a:solidFill>
          <a:ln w="12700">
            <a:solidFill>
              <a:srgbClr val="5555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26600" y="4495800"/>
            <a:ext cx="1549400" cy="533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00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549900"/>
            <a:ext cx="3924300" cy="1143000"/>
          </a:xfrm>
          <a:prstGeom prst="rect">
            <a:avLst/>
          </a:prstGeom>
          <a:solidFill>
            <a:srgbClr val="FAE9D7"/>
          </a:solidFill>
          <a:ln w="9525">
            <a:solidFill>
              <a:srgbClr val="CC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7200" y="5816600"/>
            <a:ext cx="2603500" cy="838200"/>
          </a:xfrm>
          <a:prstGeom prst="rect">
            <a:avLst/>
          </a:prstGeom>
          <a:solidFill>
            <a:srgbClr val="E4FFEF"/>
          </a:solidFill>
          <a:ln w="12700">
            <a:solidFill>
              <a:srgbClr val="5555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8500" y="6261100"/>
            <a:ext cx="2908300" cy="381000"/>
          </a:xfrm>
          <a:prstGeom prst="rect">
            <a:avLst/>
          </a:prstGeom>
          <a:solidFill>
            <a:srgbClr val="F8FFC0"/>
          </a:solidFill>
          <a:ln w="12700">
            <a:solidFill>
              <a:srgbClr val="6666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650" y="787400"/>
            <a:ext cx="965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</a:t>
            </a:r>
            <a:pPr algn="ctr" indent="0" marL="0">
              <a:buNone/>
            </a:pPr>
            <a:r>
              <a:rPr lang="en-US" sz="22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for Linear Regression and Classification</a:t>
            </a:r>
            <a:pPr algn="ctr" indent="0" marL="0">
              <a:buNone/>
            </a:pPr>
            <a:r>
              <a:rPr lang="en-US" sz="225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Sample)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" y="1371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77900" y="1701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49700" y="1701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O/P: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45000" y="1663700"/>
            <a:ext cx="50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y )</a:t>
            </a:r>
            <a:endParaRPr lang="en-US" sz="1900" dirty="0"/>
          </a:p>
        </p:txBody>
      </p:sp>
      <mc:AlternateContent>
        <mc:Choice xmlns:a14="http://schemas.microsoft.com/office/drawing/2010/main" Requires="a14">
          <p:sp>
            <p:nvSpPr>
              <p:cNvPr id="21" name="Equation OMML" descr="x_1"/>
              <p:cNvSpPr txBox="1"/>
              <p:nvPr/>
            </p:nvSpPr>
            <p:spPr>
              <a:xfrm>
                <a:off x="1524000" y="1796796"/>
                <a:ext cx="184407" cy="1524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0" descr="/home/ahmed/Projects/ai_llm_slides/videos/machine-learning/02_linear-regression-classification-MSSE/recreated_pptx/build/assets/eq_016_m1x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24000" y="1796796"/>
                <a:ext cx="184407" cy="1524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" name="Equation OMML" descr="x_2"/>
              <p:cNvSpPr txBox="1"/>
              <p:nvPr/>
            </p:nvSpPr>
            <p:spPr>
              <a:xfrm>
                <a:off x="1917700" y="1796796"/>
                <a:ext cx="198123" cy="1524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" name="Image 1" descr="/home/ahmed/Projects/ai_llm_slides/videos/machine-learning/02_linear-regression-classification-MSSE/recreated_pptx/build/assets/eq_016_m1x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17700" y="1796796"/>
                <a:ext cx="198123" cy="1524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" name="Equation OMML" descr="x_3"/>
              <p:cNvSpPr txBox="1"/>
              <p:nvPr/>
            </p:nvSpPr>
            <p:spPr>
              <a:xfrm>
                <a:off x="2311400" y="1796796"/>
                <a:ext cx="192024" cy="15392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" name="Image 2" descr="/home/ahmed/Projects/ai_llm_slides/videos/machine-learning/02_linear-regression-classification-MSSE/recreated_pptx/build/assets/eq_016_m1x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1400" y="1796796"/>
                <a:ext cx="192024" cy="15392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" name="Equation OMML" descr="....."/>
              <p:cNvSpPr txBox="1"/>
              <p:nvPr/>
            </p:nvSpPr>
            <p:spPr>
              <a:xfrm>
                <a:off x="2692400" y="1880616"/>
                <a:ext cx="265176" cy="381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.....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3" descr="/home/ahmed/Projects/ai_llm_slides/videos/machine-learning/02_linear-regression-classification-MSSE/recreated_pptx/build/assets/eq_016_m1dots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2400" y="1880616"/>
                <a:ext cx="265176" cy="381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5" name="Equation OMML" descr="x_n"/>
              <p:cNvSpPr txBox="1"/>
              <p:nvPr/>
            </p:nvSpPr>
            <p:spPr>
              <a:xfrm>
                <a:off x="3225800" y="1796796"/>
                <a:ext cx="198123" cy="15392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4" descr="/home/ahmed/Projects/ai_llm_slides/videos/machine-learning/02_linear-regression-classification-MSSE/recreated_pptx/build/assets/eq_016_m1xn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5800" y="1796796"/>
                <a:ext cx="198123" cy="153921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 19"/>
          <p:cNvSpPr/>
          <p:nvPr/>
        </p:nvSpPr>
        <p:spPr>
          <a:xfrm>
            <a:off x="1422400" y="1689100"/>
            <a:ext cx="17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3479800" y="1689100"/>
            <a:ext cx="17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952500" y="2514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29" name="Equation OMML" descr="y"/>
              <p:cNvSpPr txBox="1"/>
              <p:nvPr/>
            </p:nvSpPr>
            <p:spPr>
              <a:xfrm>
                <a:off x="965200" y="2886203"/>
                <a:ext cx="135633" cy="17678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8B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9" name="Image 5" descr="/home/ahmed/Projects/ai_llm_slides/videos/machine-learning/02_linear-regression-classification-MSSE/recreated_pptx/build/assets/eq_016_y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200" y="2886203"/>
                <a:ext cx="135633" cy="17678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0" name="Equation OMML" descr="="/>
              <p:cNvSpPr txBox="1"/>
              <p:nvPr/>
            </p:nvSpPr>
            <p:spPr>
              <a:xfrm>
                <a:off x="1143000" y="2899918"/>
                <a:ext cx="164592" cy="914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8B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0" name="Image 6" descr="/home/ahmed/Projects/ai_llm_slides/videos/machine-learning/02_linear-regression-classification-MSSE/recreated_pptx/build/assets/eq_016_eq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3000" y="2899918"/>
                <a:ext cx="164592" cy="914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1" name="Equation OMML" descr="w_1"/>
              <p:cNvSpPr txBox="1"/>
              <p:nvPr/>
            </p:nvSpPr>
            <p:spPr>
              <a:xfrm>
                <a:off x="1320800" y="2890774"/>
                <a:ext cx="236217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1" name="Image 7" descr="/home/ahmed/Projects/ai_llm_slides/videos/machine-learning/02_linear-regression-classification-MSSE/recreated_pptx/build/assets/eq_016_w1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0800" y="2890774"/>
                <a:ext cx="236217" cy="15849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2" name="Equation OMML" descr="x_1"/>
              <p:cNvSpPr txBox="1"/>
              <p:nvPr/>
            </p:nvSpPr>
            <p:spPr>
              <a:xfrm>
                <a:off x="1612900" y="2890774"/>
                <a:ext cx="193551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8" descr="/home/ahmed/Projects/ai_llm_slides/videos/machine-learning/02_linear-regression-classification-MSSE/recreated_pptx/build/assets/eq_016_x1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12900" y="2890774"/>
                <a:ext cx="193551" cy="15849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3" name="Equation OMML" descr="+"/>
              <p:cNvSpPr txBox="1"/>
              <p:nvPr/>
            </p:nvSpPr>
            <p:spPr>
              <a:xfrm>
                <a:off x="1828800" y="2863341"/>
                <a:ext cx="166119" cy="16611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8B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3" name="Image 9" descr="/home/ahmed/Projects/ai_llm_slides/videos/machine-learning/02_linear-regression-classification-MSSE/recreated_pptx/build/assets/eq_016_plus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28800" y="2863341"/>
                <a:ext cx="166119" cy="16611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4" name="Equation OMML" descr="w_2"/>
              <p:cNvSpPr txBox="1"/>
              <p:nvPr/>
            </p:nvSpPr>
            <p:spPr>
              <a:xfrm>
                <a:off x="1981200" y="2890774"/>
                <a:ext cx="249933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4" name="Image 10" descr="/home/ahmed/Projects/ai_llm_slides/videos/machine-learning/02_linear-regression-classification-MSSE/recreated_pptx/build/assets/eq_016_w2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81200" y="2890774"/>
                <a:ext cx="249933" cy="15849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5" name="Equation OMML" descr="x_2"/>
              <p:cNvSpPr txBox="1"/>
              <p:nvPr/>
            </p:nvSpPr>
            <p:spPr>
              <a:xfrm>
                <a:off x="2273300" y="2890774"/>
                <a:ext cx="208785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11" descr="/home/ahmed/Projects/ai_llm_slides/videos/machine-learning/02_linear-regression-classification-MSSE/recreated_pptx/build/assets/eq_016_x2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73300" y="2890774"/>
                <a:ext cx="208785" cy="158493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Image 12" descr="/home/ahmed/Projects/ai_llm_slides/videos/machine-learning/02_linear-regression-classification-MSSE/recreated_pptx/build/assets/eq_016_plu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900" y="2863341"/>
            <a:ext cx="166119" cy="166119"/>
          </a:xfrm>
          <a:prstGeom prst="rect">
            <a:avLst/>
          </a:prstGeom>
        </p:spPr>
      </p:pic>
      <p:pic>
        <p:nvPicPr>
          <p:cNvPr id="37" name="Image 13" descr="/home/ahmed/Projects/ai_llm_slides/videos/machine-learning/02_linear-regression-classification-MSSE/recreated_pptx/build/assets/eq_016_w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4300" y="2890774"/>
            <a:ext cx="249933" cy="158493"/>
          </a:xfrm>
          <a:prstGeom prst="rect">
            <a:avLst/>
          </a:prstGeom>
        </p:spPr>
      </p:pic>
      <p:pic>
        <p:nvPicPr>
          <p:cNvPr id="38" name="Image 14" descr="/home/ahmed/Projects/ai_llm_slides/videos/machine-learning/02_linear-regression-classification-MSSE/recreated_pptx/build/assets/eq_016_x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33700" y="2890774"/>
            <a:ext cx="208785" cy="158493"/>
          </a:xfrm>
          <a:prstGeom prst="rect">
            <a:avLst/>
          </a:prstGeom>
        </p:spPr>
      </p:pic>
      <p:pic>
        <p:nvPicPr>
          <p:cNvPr id="39" name="Image 15" descr="/home/ahmed/Projects/ai_llm_slides/videos/machine-learning/02_linear-regression-classification-MSSE/recreated_pptx/build/assets/eq_016_plu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62300" y="2863341"/>
            <a:ext cx="166119" cy="166119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40" name="Equation OMML" descr="\ldots"/>
              <p:cNvSpPr txBox="1"/>
              <p:nvPr/>
            </p:nvSpPr>
            <p:spPr>
              <a:xfrm>
                <a:off x="3302000" y="2970022"/>
                <a:ext cx="179835" cy="4724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44448C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0" name="Image 16" descr="/home/ahmed/Projects/ai_llm_slides/videos/machine-learning/02_linear-regression-classification-MSSE/recreated_pptx/build/assets/eq_016_ldots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02000" y="2970022"/>
                <a:ext cx="179835" cy="47247"/>
              </a:xfrm>
              <a:prstGeom prst="rect">
                <a:avLst/>
              </a:prstGeom>
            </p:spPr>
          </p:pic>
        </mc:Fallback>
      </mc:AlternateContent>
      <p:pic>
        <p:nvPicPr>
          <p:cNvPr id="41" name="Image 17" descr="/home/ahmed/Projects/ai_llm_slides/videos/machine-learning/02_linear-regression-classification-MSSE/recreated_pptx/build/assets/eq_016_plus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30600" y="2863341"/>
            <a:ext cx="166119" cy="166119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42" name="Equation OMML" descr="w_n"/>
              <p:cNvSpPr txBox="1"/>
              <p:nvPr/>
            </p:nvSpPr>
            <p:spPr>
              <a:xfrm>
                <a:off x="3670300" y="2890774"/>
                <a:ext cx="248415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18" descr="/home/ahmed/Projects/ai_llm_slides/videos/machine-learning/02_linear-regression-classification-MSSE/recreated_pptx/build/assets/eq_016_wn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70300" y="2890774"/>
                <a:ext cx="248415" cy="1600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3" name="Equation OMML" descr="x_n"/>
              <p:cNvSpPr txBox="1"/>
              <p:nvPr/>
            </p:nvSpPr>
            <p:spPr>
              <a:xfrm>
                <a:off x="3975100" y="2890774"/>
                <a:ext cx="207267" cy="1600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3" name="Image 19" descr="/home/ahmed/Projects/ai_llm_slides/videos/machine-learning/02_linear-regression-classification-MSSE/recreated_pptx/build/assets/eq_016_xn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75100" y="2890774"/>
                <a:ext cx="207267" cy="160020"/>
              </a:xfrm>
              <a:prstGeom prst="rect">
                <a:avLst/>
              </a:prstGeom>
            </p:spPr>
          </p:pic>
        </mc:Fallback>
      </mc:AlternateContent>
      <p:pic>
        <p:nvPicPr>
          <p:cNvPr id="44" name="Image 20" descr="/home/ahmed/Projects/ai_llm_slides/videos/machine-learning/02_linear-regression-classification-MSSE/recreated_pptx/build/assets/eq_016_plus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03700" y="2863341"/>
            <a:ext cx="166119" cy="166119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45" name="Equation OMML" descr="b"/>
              <p:cNvSpPr txBox="1"/>
              <p:nvPr/>
            </p:nvSpPr>
            <p:spPr>
              <a:xfrm>
                <a:off x="4356100" y="2832863"/>
                <a:ext cx="129543" cy="18592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21" descr="/home/ahmed/Projects/ai_llm_slides/videos/machine-learning/02_linear-regression-classification-MSSE/recreated_pptx/build/assets/eq_016_b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56100" y="2832863"/>
                <a:ext cx="129543" cy="185925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 22"/>
          <p:cNvSpPr/>
          <p:nvPr/>
        </p:nvSpPr>
        <p:spPr>
          <a:xfrm>
            <a:off x="939800" y="34036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000" dirty="0"/>
          </a:p>
        </p:txBody>
      </p:sp>
      <p:sp>
        <p:nvSpPr>
          <p:cNvPr id="47" name="Text 23"/>
          <p:cNvSpPr/>
          <p:nvPr/>
        </p:nvSpPr>
        <p:spPr>
          <a:xfrm>
            <a:off x="1168400" y="34036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000" dirty="0"/>
          </a:p>
        </p:txBody>
      </p:sp>
      <p:sp>
        <p:nvSpPr>
          <p:cNvPr id="48" name="Text 24"/>
          <p:cNvSpPr/>
          <p:nvPr/>
        </p:nvSpPr>
        <p:spPr>
          <a:xfrm>
            <a:off x="1346200" y="3378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u="sng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100" dirty="0"/>
          </a:p>
        </p:txBody>
      </p:sp>
      <p:sp>
        <p:nvSpPr>
          <p:cNvPr id="49" name="Text 25"/>
          <p:cNvSpPr/>
          <p:nvPr/>
        </p:nvSpPr>
        <p:spPr>
          <a:xfrm>
            <a:off x="1587500" y="32512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200" dirty="0"/>
          </a:p>
        </p:txBody>
      </p:sp>
      <p:sp>
        <p:nvSpPr>
          <p:cNvPr id="50" name="Text 26"/>
          <p:cNvSpPr/>
          <p:nvPr/>
        </p:nvSpPr>
        <p:spPr>
          <a:xfrm>
            <a:off x="1714500" y="3378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100" dirty="0"/>
          </a:p>
        </p:txBody>
      </p:sp>
      <p:sp>
        <p:nvSpPr>
          <p:cNvPr id="51" name="Text 27"/>
          <p:cNvSpPr/>
          <p:nvPr/>
        </p:nvSpPr>
        <p:spPr>
          <a:xfrm>
            <a:off x="1955800" y="3403600"/>
            <a:ext cx="22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000" dirty="0"/>
          </a:p>
        </p:txBody>
      </p:sp>
      <p:sp>
        <p:nvSpPr>
          <p:cNvPr id="52" name="Text 28"/>
          <p:cNvSpPr/>
          <p:nvPr/>
        </p:nvSpPr>
        <p:spPr>
          <a:xfrm>
            <a:off x="2108200" y="3378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2100" dirty="0"/>
          </a:p>
        </p:txBody>
      </p:sp>
      <p:sp>
        <p:nvSpPr>
          <p:cNvPr id="53" name="Text 29"/>
          <p:cNvSpPr/>
          <p:nvPr/>
        </p:nvSpPr>
        <p:spPr>
          <a:xfrm>
            <a:off x="5600700" y="24130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</a:t>
            </a:r>
            <a:endParaRPr lang="en-US" sz="1600" dirty="0"/>
          </a:p>
        </p:txBody>
      </p:sp>
      <p:sp>
        <p:nvSpPr>
          <p:cNvPr id="54" name="Text 30"/>
          <p:cNvSpPr/>
          <p:nvPr/>
        </p:nvSpPr>
        <p:spPr>
          <a:xfrm>
            <a:off x="6324600" y="2374900"/>
            <a:ext cx="609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24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55" name="Equation OMML" descr="x_1"/>
              <p:cNvSpPr txBox="1"/>
              <p:nvPr/>
            </p:nvSpPr>
            <p:spPr>
              <a:xfrm>
                <a:off x="6819900" y="1735328"/>
                <a:ext cx="204213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5" name="Image 22" descr="/home/ahmed/Projects/ai_llm_slides/videos/machine-learning/02_linear-regression-classification-MSSE/recreated_pptx/build/assets/eq_016_vx1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19900" y="1735328"/>
                <a:ext cx="204213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6" name="Equation OMML" descr="x_2"/>
              <p:cNvSpPr txBox="1"/>
              <p:nvPr/>
            </p:nvSpPr>
            <p:spPr>
              <a:xfrm>
                <a:off x="6819900" y="2065528"/>
                <a:ext cx="217929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23" descr="/home/ahmed/Projects/ai_llm_slides/videos/machine-learning/02_linear-regression-classification-MSSE/recreated_pptx/build/assets/eq_016_vx2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19900" y="2065528"/>
                <a:ext cx="217929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7" name="Equation OMML" descr="x_3"/>
              <p:cNvSpPr txBox="1"/>
              <p:nvPr/>
            </p:nvSpPr>
            <p:spPr>
              <a:xfrm>
                <a:off x="6819900" y="2395728"/>
                <a:ext cx="210312" cy="17069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7" name="Image 24" descr="/home/ahmed/Projects/ai_llm_slides/videos/machine-learning/02_linear-regression-classification-MSSE/recreated_pptx/build/assets/eq_016_vx3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19900" y="2395728"/>
                <a:ext cx="210312" cy="17069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8" name="Equation OMML" descr="\ldots"/>
              <p:cNvSpPr txBox="1"/>
              <p:nvPr/>
            </p:nvSpPr>
            <p:spPr>
              <a:xfrm>
                <a:off x="6858000" y="2812796"/>
                <a:ext cx="173736" cy="457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25" descr="/home/ahmed/Projects/ai_llm_slides/videos/machine-learning/02_linear-regression-classification-MSSE/recreated_pptx/build/assets/eq_016_vldots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58000" y="2812796"/>
                <a:ext cx="173736" cy="45720"/>
              </a:xfrm>
              <a:prstGeom prst="rect">
                <a:avLst/>
              </a:prstGeom>
            </p:spPr>
          </p:pic>
        </mc:Fallback>
      </mc:AlternateContent>
      <p:pic>
        <p:nvPicPr>
          <p:cNvPr id="59" name="Image 26" descr="/home/ahmed/Projects/ai_llm_slides/videos/machine-learning/02_linear-regression-classification-MSSE/recreated_pptx/build/assets/eq_016_vldots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0" y="3104896"/>
            <a:ext cx="173736" cy="4572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60" name="Equation OMML" descr="x_d"/>
              <p:cNvSpPr txBox="1"/>
              <p:nvPr/>
            </p:nvSpPr>
            <p:spPr>
              <a:xfrm>
                <a:off x="6819900" y="3322828"/>
                <a:ext cx="227073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27" descr="/home/ahmed/Projects/ai_llm_slides/videos/machine-learning/02_linear-regression-classification-MSSE/recreated_pptx/build/assets/eq_016_vxd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19900" y="3322828"/>
                <a:ext cx="227073" cy="169164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Text 31"/>
          <p:cNvSpPr/>
          <p:nvPr/>
        </p:nvSpPr>
        <p:spPr>
          <a:xfrm>
            <a:off x="7594600" y="2374900"/>
            <a:ext cx="609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u="sng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240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62" name="Equation OMML" descr="w_1"/>
              <p:cNvSpPr txBox="1"/>
              <p:nvPr/>
            </p:nvSpPr>
            <p:spPr>
              <a:xfrm>
                <a:off x="8128000" y="1798828"/>
                <a:ext cx="249933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28" descr="/home/ahmed/Projects/ai_llm_slides/videos/machine-learning/02_linear-regression-classification-MSSE/recreated_pptx/build/assets/eq_016_vw1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28000" y="1798828"/>
                <a:ext cx="249933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w_2"/>
              <p:cNvSpPr txBox="1"/>
              <p:nvPr/>
            </p:nvSpPr>
            <p:spPr>
              <a:xfrm>
                <a:off x="8128000" y="2103628"/>
                <a:ext cx="262131" cy="1676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29" descr="/home/ahmed/Projects/ai_llm_slides/videos/machine-learning/02_linear-regression-classification-MSSE/recreated_pptx/build/assets/eq_016_vw2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128000" y="2103628"/>
                <a:ext cx="262131" cy="16763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w_3"/>
              <p:cNvSpPr txBox="1"/>
              <p:nvPr/>
            </p:nvSpPr>
            <p:spPr>
              <a:xfrm>
                <a:off x="8128000" y="2383028"/>
                <a:ext cx="256032" cy="17069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30" descr="/home/ahmed/Projects/ai_llm_slides/videos/machine-learning/02_linear-regression-classification-MSSE/recreated_pptx/build/assets/eq_016_vw3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28000" y="2383028"/>
                <a:ext cx="256032" cy="17069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\ldots"/>
              <p:cNvSpPr txBox="1"/>
              <p:nvPr/>
            </p:nvSpPr>
            <p:spPr>
              <a:xfrm>
                <a:off x="8153400" y="2812796"/>
                <a:ext cx="173736" cy="457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00">
                          <a:solidFill>
                            <a:srgbClr val="00008B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31" descr="/home/ahmed/Projects/ai_llm_slides/videos/machine-learning/02_linear-regression-classification-MSSE/recreated_pptx/build/assets/eq_016_vwldots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153400" y="2812796"/>
                <a:ext cx="173736" cy="45720"/>
              </a:xfrm>
              <a:prstGeom prst="rect">
                <a:avLst/>
              </a:prstGeom>
            </p:spPr>
          </p:pic>
        </mc:Fallback>
      </mc:AlternateContent>
      <p:pic>
        <p:nvPicPr>
          <p:cNvPr id="66" name="Image 32" descr="/home/ahmed/Projects/ai_llm_slides/videos/machine-learning/02_linear-regression-classification-MSSE/recreated_pptx/build/assets/eq_016_vwldots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53400" y="3066796"/>
            <a:ext cx="173736" cy="4572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67" name="Equation OMML" descr="w_d"/>
              <p:cNvSpPr txBox="1"/>
              <p:nvPr/>
            </p:nvSpPr>
            <p:spPr>
              <a:xfrm>
                <a:off x="8128000" y="3246628"/>
                <a:ext cx="271275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19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33" descr="/home/ahmed/Projects/ai_llm_slides/videos/machine-learning/02_linear-regression-classification-MSSE/recreated_pptx/build/assets/eq_016_vwd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28000" y="3246628"/>
                <a:ext cx="271275" cy="169164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Text 32"/>
          <p:cNvSpPr/>
          <p:nvPr/>
        </p:nvSpPr>
        <p:spPr>
          <a:xfrm>
            <a:off x="8724900" y="24384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</a:t>
            </a:r>
            <a:endParaRPr lang="en-US" sz="1600" dirty="0"/>
          </a:p>
        </p:txBody>
      </p:sp>
      <p:sp>
        <p:nvSpPr>
          <p:cNvPr id="69" name="Text 33"/>
          <p:cNvSpPr/>
          <p:nvPr/>
        </p:nvSpPr>
        <p:spPr>
          <a:xfrm>
            <a:off x="9525000" y="2336800"/>
            <a:ext cx="55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 y )</a:t>
            </a:r>
            <a:endParaRPr lang="en-US" sz="2000" dirty="0"/>
          </a:p>
        </p:txBody>
      </p:sp>
      <p:sp>
        <p:nvSpPr>
          <p:cNvPr id="70" name="Shape 34"/>
          <p:cNvSpPr/>
          <p:nvPr/>
        </p:nvSpPr>
        <p:spPr>
          <a:xfrm>
            <a:off x="6743700" y="1676400"/>
            <a:ext cx="50800" cy="18796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35"/>
          <p:cNvSpPr/>
          <p:nvPr/>
        </p:nvSpPr>
        <p:spPr>
          <a:xfrm>
            <a:off x="7035800" y="1676400"/>
            <a:ext cx="50800" cy="18796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2" name="Shape 36"/>
          <p:cNvSpPr/>
          <p:nvPr/>
        </p:nvSpPr>
        <p:spPr>
          <a:xfrm>
            <a:off x="8051800" y="1676400"/>
            <a:ext cx="50800" cy="18034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9999CC"/>
            </a:solidFill>
            <a:prstDash val="solid"/>
          </a:ln>
        </p:spPr>
      </p:sp>
      <p:sp>
        <p:nvSpPr>
          <p:cNvPr id="73" name="Shape 37"/>
          <p:cNvSpPr/>
          <p:nvPr/>
        </p:nvSpPr>
        <p:spPr>
          <a:xfrm>
            <a:off x="8407400" y="1676400"/>
            <a:ext cx="50800" cy="18034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9999CC"/>
            </a:solidFill>
            <a:prstDash val="solid"/>
          </a:ln>
        </p:spPr>
      </p:sp>
      <p:sp>
        <p:nvSpPr>
          <p:cNvPr id="74" name="Text 38"/>
          <p:cNvSpPr/>
          <p:nvPr/>
        </p:nvSpPr>
        <p:spPr>
          <a:xfrm>
            <a:off x="965200" y="4572000"/>
            <a:ext cx="533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</a:t>
            </a:r>
            <a:endParaRPr lang="en-US" sz="1900" dirty="0"/>
          </a:p>
        </p:txBody>
      </p:sp>
      <p:sp>
        <p:nvSpPr>
          <p:cNvPr id="75" name="Shape 39"/>
          <p:cNvSpPr/>
          <p:nvPr/>
        </p:nvSpPr>
        <p:spPr>
          <a:xfrm>
            <a:off x="1473200" y="4140200"/>
            <a:ext cx="50800" cy="2921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8A8AB0"/>
            </a:solidFill>
            <a:prstDash val="solid"/>
          </a:ln>
        </p:spPr>
      </p:sp>
      <p:sp>
        <p:nvSpPr>
          <p:cNvPr id="76" name="Shape 40"/>
          <p:cNvSpPr/>
          <p:nvPr/>
        </p:nvSpPr>
        <p:spPr>
          <a:xfrm>
            <a:off x="3276600" y="4140200"/>
            <a:ext cx="50800" cy="2921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8A8AB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7" name="Equation OMML" descr="w_1"/>
              <p:cNvSpPr txBox="1"/>
              <p:nvPr/>
            </p:nvSpPr>
            <p:spPr>
              <a:xfrm>
                <a:off x="1562100" y="4226559"/>
                <a:ext cx="272793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34" descr="/home/ahmed/Projects/ai_llm_slides/videos/machine-learning/02_linear-regression-classification-MSSE/recreated_pptx/build/assets/eq_016_p1w1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62100" y="4226559"/>
                <a:ext cx="272793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w_2"/>
              <p:cNvSpPr txBox="1"/>
              <p:nvPr/>
            </p:nvSpPr>
            <p:spPr>
              <a:xfrm>
                <a:off x="2032000" y="4226559"/>
                <a:ext cx="286509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35" descr="/home/ahmed/Projects/ai_llm_slides/videos/machine-learning/02_linear-regression-classification-MSSE/recreated_pptx/build/assets/eq_016_p1w2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032000" y="4226559"/>
                <a:ext cx="286509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...."/>
              <p:cNvSpPr txBox="1"/>
              <p:nvPr/>
            </p:nvSpPr>
            <p:spPr>
              <a:xfrm>
                <a:off x="2552700" y="4322572"/>
                <a:ext cx="358143" cy="4876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8B"/>
                          </a:solidFill>
                          <a:latin typeface="Cambria Math" panose="02040503050406030204" pitchFamily="18" charset="0"/>
                        </a:rPr>
                        <m:t xml:space="preserve">....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36" descr="/home/ahmed/Projects/ai_llm_slides/videos/machine-learning/02_linear-regression-classification-MSSE/recreated_pptx/build/assets/eq_016_p1dots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52700" y="4322572"/>
                <a:ext cx="358143" cy="48765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w_n"/>
              <p:cNvSpPr txBox="1"/>
              <p:nvPr/>
            </p:nvSpPr>
            <p:spPr>
              <a:xfrm>
                <a:off x="3035300" y="4226561"/>
                <a:ext cx="286509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37" descr="/home/ahmed/Projects/ai_llm_slides/videos/machine-learning/02_linear-regression-classification-MSSE/recreated_pptx/build/assets/eq_016_p1wn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035300" y="4226561"/>
                <a:ext cx="286509" cy="182880"/>
              </a:xfrm>
              <a:prstGeom prst="rect">
                <a:avLst/>
              </a:prstGeom>
            </p:spPr>
          </p:pic>
        </mc:Fallback>
      </mc:AlternateContent>
      <p:sp>
        <p:nvSpPr>
          <p:cNvPr id="81" name="Shape 41"/>
          <p:cNvSpPr/>
          <p:nvPr/>
        </p:nvSpPr>
        <p:spPr>
          <a:xfrm>
            <a:off x="3479800" y="4419600"/>
            <a:ext cx="50800" cy="8128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42"/>
          <p:cNvSpPr/>
          <p:nvPr/>
        </p:nvSpPr>
        <p:spPr>
          <a:xfrm>
            <a:off x="3771900" y="4419600"/>
            <a:ext cx="50800" cy="6604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3" name="Equation OMML" descr="x_1"/>
              <p:cNvSpPr txBox="1"/>
              <p:nvPr/>
            </p:nvSpPr>
            <p:spPr>
              <a:xfrm>
                <a:off x="3556000" y="4527296"/>
                <a:ext cx="184407" cy="1524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38" descr="/home/ahmed/Projects/ai_llm_slides/videos/machine-learning/02_linear-regression-classification-MSSE/recreated_pptx/build/assets/eq_016_s1x1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56000" y="4527296"/>
                <a:ext cx="184407" cy="1524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\ldots"/>
              <p:cNvSpPr txBox="1"/>
              <p:nvPr/>
            </p:nvSpPr>
            <p:spPr>
              <a:xfrm>
                <a:off x="3581400" y="4957572"/>
                <a:ext cx="179835" cy="4724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39" descr="/home/ahmed/Projects/ai_llm_slides/videos/machine-learning/02_linear-regression-classification-MSSE/recreated_pptx/build/assets/eq_016_s1dots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81400" y="4957572"/>
                <a:ext cx="179835" cy="4724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x_n"/>
              <p:cNvSpPr txBox="1"/>
              <p:nvPr/>
            </p:nvSpPr>
            <p:spPr>
              <a:xfrm>
                <a:off x="3594100" y="5187696"/>
                <a:ext cx="198123" cy="15392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40" descr="/home/ahmed/Projects/ai_llm_slides/videos/machine-learning/02_linear-regression-classification-MSSE/recreated_pptx/build/assets/eq_016_s1xn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94100" y="5187696"/>
                <a:ext cx="198123" cy="15392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+"/>
              <p:cNvSpPr txBox="1"/>
              <p:nvPr/>
            </p:nvSpPr>
            <p:spPr>
              <a:xfrm>
                <a:off x="3962400" y="4623308"/>
                <a:ext cx="149349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1B1B0B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41" descr="/home/ahmed/Projects/ai_llm_slides/videos/machine-learning/02_linear-regression-classification-MSSE/recreated_pptx/build/assets/eq_016_s1plus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962400" y="4623308"/>
                <a:ext cx="149349" cy="1493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b"/>
              <p:cNvSpPr txBox="1"/>
              <p:nvPr/>
            </p:nvSpPr>
            <p:spPr>
              <a:xfrm>
                <a:off x="4241800" y="4585207"/>
                <a:ext cx="1234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42" descr="/home/ahmed/Projects/ai_llm_slides/videos/machine-learning/02_linear-regression-classification-MSSE/recreated_pptx/build/assets/eq_016_s1b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41800" y="4585207"/>
                <a:ext cx="123444" cy="178308"/>
              </a:xfrm>
              <a:prstGeom prst="rect">
                <a:avLst/>
              </a:prstGeom>
            </p:spPr>
          </p:pic>
        </mc:Fallback>
      </mc:AlternateContent>
      <p:sp>
        <p:nvSpPr>
          <p:cNvPr id="88" name="Text 43"/>
          <p:cNvSpPr/>
          <p:nvPr/>
        </p:nvSpPr>
        <p:spPr>
          <a:xfrm>
            <a:off x="5384800" y="4686300"/>
            <a:ext cx="533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</a:t>
            </a:r>
            <a:endParaRPr lang="en-US" sz="1900" dirty="0"/>
          </a:p>
        </p:txBody>
      </p:sp>
      <p:sp>
        <p:nvSpPr>
          <p:cNvPr id="89" name="Shape 44"/>
          <p:cNvSpPr/>
          <p:nvPr/>
        </p:nvSpPr>
        <p:spPr>
          <a:xfrm>
            <a:off x="5892800" y="4267200"/>
            <a:ext cx="50800" cy="2794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8FB4C8"/>
            </a:solidFill>
            <a:prstDash val="solid"/>
          </a:ln>
        </p:spPr>
      </p:sp>
      <p:sp>
        <p:nvSpPr>
          <p:cNvPr id="90" name="Shape 45"/>
          <p:cNvSpPr/>
          <p:nvPr/>
        </p:nvSpPr>
        <p:spPr>
          <a:xfrm>
            <a:off x="8064500" y="4267200"/>
            <a:ext cx="50800" cy="1270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8FB4C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1" name="Equation OMML" descr="b"/>
              <p:cNvSpPr txBox="1"/>
              <p:nvPr/>
            </p:nvSpPr>
            <p:spPr>
              <a:xfrm>
                <a:off x="5943600" y="4270756"/>
                <a:ext cx="14630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43" descr="/home/ahmed/Projects/ai_llm_slides/videos/machine-learning/02_linear-regression-classification-MSSE/recreated_pptx/build/assets/eq_016_p2b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943600" y="4270756"/>
                <a:ext cx="146304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w_1"/>
              <p:cNvSpPr txBox="1"/>
              <p:nvPr/>
            </p:nvSpPr>
            <p:spPr>
              <a:xfrm>
                <a:off x="6311900" y="4340859"/>
                <a:ext cx="272793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44" descr="/home/ahmed/Projects/ai_llm_slides/videos/machine-learning/02_linear-regression-classification-MSSE/recreated_pptx/build/assets/eq_016_p2w1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11900" y="4340859"/>
                <a:ext cx="272793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w_2"/>
              <p:cNvSpPr txBox="1"/>
              <p:nvPr/>
            </p:nvSpPr>
            <p:spPr>
              <a:xfrm>
                <a:off x="6781800" y="4340859"/>
                <a:ext cx="286509" cy="18135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45" descr="/home/ahmed/Projects/ai_llm_slides/videos/machine-learning/02_linear-regression-classification-MSSE/recreated_pptx/build/assets/eq_016_p2w2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781800" y="4340859"/>
                <a:ext cx="286509" cy="18135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...."/>
              <p:cNvSpPr txBox="1"/>
              <p:nvPr/>
            </p:nvSpPr>
            <p:spPr>
              <a:xfrm>
                <a:off x="7302500" y="4446016"/>
                <a:ext cx="208785" cy="3810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000">
                          <a:solidFill>
                            <a:srgbClr val="00008B"/>
                          </a:solidFill>
                          <a:latin typeface="Cambria Math" panose="02040503050406030204" pitchFamily="18" charset="0"/>
                        </a:rPr>
                        <m:t xml:space="preserve">....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46" descr="/home/ahmed/Projects/ai_llm_slides/videos/machine-learning/02_linear-regression-classification-MSSE/recreated_pptx/build/assets/eq_016_p2dots.png">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02500" y="4446016"/>
                <a:ext cx="208785" cy="3810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w_d"/>
              <p:cNvSpPr txBox="1"/>
              <p:nvPr/>
            </p:nvSpPr>
            <p:spPr>
              <a:xfrm>
                <a:off x="7797800" y="4340860"/>
                <a:ext cx="297180" cy="18440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i="1" smtClean="0" sz="2100">
                              <a:solidFill>
                                <a:srgbClr val="00008B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47" descr="/home/ahmed/Projects/ai_llm_slides/videos/machine-learning/02_linear-regression-classification-MSSE/recreated_pptx/build/assets/eq_016_p2wd.png">    </p:cNvPr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797800" y="4340860"/>
                <a:ext cx="297180" cy="184407"/>
              </a:xfrm>
              <a:prstGeom prst="rect">
                <a:avLst/>
              </a:prstGeom>
            </p:spPr>
          </p:pic>
        </mc:Fallback>
      </mc:AlternateContent>
      <p:sp>
        <p:nvSpPr>
          <p:cNvPr id="96" name="Shape 46"/>
          <p:cNvSpPr/>
          <p:nvPr/>
        </p:nvSpPr>
        <p:spPr>
          <a:xfrm>
            <a:off x="8534400" y="4445000"/>
            <a:ext cx="50800" cy="12065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7" name="Equation OMML" descr="1"/>
              <p:cNvSpPr txBox="1"/>
              <p:nvPr/>
            </p:nvSpPr>
            <p:spPr>
              <a:xfrm>
                <a:off x="8382000" y="4183888"/>
                <a:ext cx="91440" cy="1463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0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48" descr="/home/ahmed/Projects/ai_llm_slides/videos/machine-learning/02_linear-regression-classification-MSSE/recreated_pptx/build/assets/eq_016_s2one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82000" y="4183888"/>
                <a:ext cx="91440" cy="1463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x_1"/>
              <p:cNvSpPr txBox="1"/>
              <p:nvPr/>
            </p:nvSpPr>
            <p:spPr>
              <a:xfrm>
                <a:off x="8343900" y="4505961"/>
                <a:ext cx="158493" cy="13106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49" descr="/home/ahmed/Projects/ai_llm_slides/videos/machine-learning/02_linear-regression-classification-MSSE/recreated_pptx/build/assets/eq_016_s2x1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343900" y="4505961"/>
                <a:ext cx="158493" cy="13106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x_2"/>
              <p:cNvSpPr txBox="1"/>
              <p:nvPr/>
            </p:nvSpPr>
            <p:spPr>
              <a:xfrm>
                <a:off x="8343900" y="4823460"/>
                <a:ext cx="167637" cy="1295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50" descr="/home/ahmed/Projects/ai_llm_slides/videos/machine-learning/02_linear-regression-classification-MSSE/recreated_pptx/build/assets/eq_016_s2x2.png">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43900" y="4823460"/>
                <a:ext cx="167637" cy="12954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\ldots"/>
              <p:cNvSpPr txBox="1"/>
              <p:nvPr/>
            </p:nvSpPr>
            <p:spPr>
              <a:xfrm>
                <a:off x="8331200" y="5261864"/>
                <a:ext cx="102111" cy="350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51" descr="/home/ahmed/Projects/ai_llm_slides/videos/machine-learning/02_linear-regression-classification-MSSE/recreated_pptx/build/assets/eq_016_s2dots.png">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331200" y="5261864"/>
                <a:ext cx="102111" cy="350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x_d"/>
              <p:cNvSpPr txBox="1"/>
              <p:nvPr/>
            </p:nvSpPr>
            <p:spPr>
              <a:xfrm>
                <a:off x="8343900" y="5445761"/>
                <a:ext cx="173736" cy="13106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52" descr="/home/ahmed/Projects/ai_llm_slides/videos/machine-learning/02_linear-regression-classification-MSSE/recreated_pptx/build/assets/eq_016_s2xd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43900" y="5445761"/>
                <a:ext cx="173736" cy="131061"/>
              </a:xfrm>
              <a:prstGeom prst="rect">
                <a:avLst/>
              </a:prstGeom>
            </p:spPr>
          </p:pic>
        </mc:Fallback>
      </mc:AlternateContent>
      <p:sp>
        <p:nvSpPr>
          <p:cNvPr id="102" name="Text 47"/>
          <p:cNvSpPr/>
          <p:nvPr/>
        </p:nvSpPr>
        <p:spPr>
          <a:xfrm>
            <a:off x="9728200" y="46990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</a:t>
            </a:r>
            <a:endParaRPr lang="en-US" sz="2600" dirty="0"/>
          </a:p>
        </p:txBody>
      </p:sp>
      <p:sp>
        <p:nvSpPr>
          <p:cNvPr id="103" name="Text 48"/>
          <p:cNvSpPr/>
          <p:nvPr/>
        </p:nvSpPr>
        <p:spPr>
          <a:xfrm>
            <a:off x="10210800" y="46228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3100" dirty="0"/>
          </a:p>
        </p:txBody>
      </p:sp>
      <p:sp>
        <p:nvSpPr>
          <p:cNvPr id="104" name="Shape 49"/>
          <p:cNvSpPr/>
          <p:nvPr/>
        </p:nvSpPr>
        <p:spPr>
          <a:xfrm>
            <a:off x="10223500" y="4953000"/>
            <a:ext cx="368300" cy="0"/>
          </a:xfrm>
          <a:prstGeom prst="line">
            <a:avLst/>
          </a:prstGeom>
          <a:noFill/>
          <a:ln w="15875">
            <a:solidFill>
              <a:srgbClr val="00008B"/>
            </a:solidFill>
            <a:prstDash val="solid"/>
          </a:ln>
        </p:spPr>
      </p:sp>
      <p:sp>
        <p:nvSpPr>
          <p:cNvPr id="105" name="Text 50"/>
          <p:cNvSpPr/>
          <p:nvPr/>
        </p:nvSpPr>
        <p:spPr>
          <a:xfrm>
            <a:off x="10629900" y="4508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2200" dirty="0"/>
          </a:p>
        </p:txBody>
      </p:sp>
      <p:sp>
        <p:nvSpPr>
          <p:cNvPr id="106" name="Text 51"/>
          <p:cNvSpPr/>
          <p:nvPr/>
        </p:nvSpPr>
        <p:spPr>
          <a:xfrm>
            <a:off x="10845800" y="4648200"/>
            <a:ext cx="38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3100" dirty="0"/>
          </a:p>
        </p:txBody>
      </p:sp>
      <p:sp>
        <p:nvSpPr>
          <p:cNvPr id="107" name="Shape 52"/>
          <p:cNvSpPr/>
          <p:nvPr/>
        </p:nvSpPr>
        <p:spPr>
          <a:xfrm>
            <a:off x="10845800" y="4953000"/>
            <a:ext cx="2921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8" name="Text 53"/>
          <p:cNvSpPr/>
          <p:nvPr/>
        </p:nvSpPr>
        <p:spPr>
          <a:xfrm>
            <a:off x="1003300" y="5664200"/>
            <a:ext cx="63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</a:t>
            </a:r>
            <a:endParaRPr lang="en-US" sz="1600" dirty="0"/>
          </a:p>
        </p:txBody>
      </p:sp>
      <p:sp>
        <p:nvSpPr>
          <p:cNvPr id="109" name="Text 54"/>
          <p:cNvSpPr/>
          <p:nvPr/>
        </p:nvSpPr>
        <p:spPr>
          <a:xfrm>
            <a:off x="1003300" y="58801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“b”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may be added at </a:t>
            </a:r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begin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vector</a:t>
            </a:r>
            <a:endParaRPr lang="en-US" sz="1700" dirty="0"/>
          </a:p>
        </p:txBody>
      </p:sp>
      <p:sp>
        <p:nvSpPr>
          <p:cNvPr id="110" name="Text 55"/>
          <p:cNvSpPr/>
          <p:nvPr/>
        </p:nvSpPr>
        <p:spPr>
          <a:xfrm>
            <a:off x="1003300" y="61341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 at </a:t>
            </a:r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vector</a:t>
            </a:r>
            <a:endParaRPr lang="en-US" sz="1700" dirty="0"/>
          </a:p>
        </p:txBody>
      </p:sp>
      <p:sp>
        <p:nvSpPr>
          <p:cNvPr id="111" name="Text 56"/>
          <p:cNvSpPr/>
          <p:nvPr/>
        </p:nvSpPr>
        <p:spPr>
          <a:xfrm>
            <a:off x="1003300" y="6388100"/>
            <a:ext cx="361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for </a:t>
            </a:r>
            <a:pPr algn="l" indent="0" marL="0">
              <a:buNone/>
            </a:pPr>
            <a:r>
              <a:rPr lang="en-US" sz="170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“1”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added to input vector</a:t>
            </a:r>
            <a:endParaRPr lang="en-US" sz="1700" dirty="0"/>
          </a:p>
        </p:txBody>
      </p:sp>
      <p:sp>
        <p:nvSpPr>
          <p:cNvPr id="112" name="Text 57"/>
          <p:cNvSpPr/>
          <p:nvPr/>
        </p:nvSpPr>
        <p:spPr>
          <a:xfrm>
            <a:off x="5613400" y="59436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</a:t>
            </a:r>
            <a:endParaRPr lang="en-US" sz="1900" dirty="0"/>
          </a:p>
        </p:txBody>
      </p:sp>
      <p:sp>
        <p:nvSpPr>
          <p:cNvPr id="113" name="Text 58"/>
          <p:cNvSpPr/>
          <p:nvPr/>
        </p:nvSpPr>
        <p:spPr>
          <a:xfrm>
            <a:off x="5956300" y="58928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500" dirty="0"/>
          </a:p>
        </p:txBody>
      </p:sp>
      <p:sp>
        <p:nvSpPr>
          <p:cNvPr id="114" name="Shape 59"/>
          <p:cNvSpPr/>
          <p:nvPr/>
        </p:nvSpPr>
        <p:spPr>
          <a:xfrm>
            <a:off x="5969000" y="6165850"/>
            <a:ext cx="190500" cy="0"/>
          </a:xfrm>
          <a:prstGeom prst="line">
            <a:avLst/>
          </a:prstGeom>
          <a:noFill/>
          <a:ln w="15875">
            <a:solidFill>
              <a:srgbClr val="00008B"/>
            </a:solidFill>
            <a:prstDash val="solid"/>
          </a:ln>
        </p:spPr>
      </p:sp>
      <p:sp>
        <p:nvSpPr>
          <p:cNvPr id="115" name="Text 60"/>
          <p:cNvSpPr/>
          <p:nvPr/>
        </p:nvSpPr>
        <p:spPr>
          <a:xfrm>
            <a:off x="6210300" y="5816600"/>
            <a:ext cx="21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500" dirty="0"/>
          </a:p>
        </p:txBody>
      </p:sp>
      <p:sp>
        <p:nvSpPr>
          <p:cNvPr id="116" name="Text 61"/>
          <p:cNvSpPr/>
          <p:nvPr/>
        </p:nvSpPr>
        <p:spPr>
          <a:xfrm>
            <a:off x="6375400" y="589280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000" dirty="0"/>
          </a:p>
        </p:txBody>
      </p:sp>
      <p:sp>
        <p:nvSpPr>
          <p:cNvPr id="117" name="Shape 62"/>
          <p:cNvSpPr/>
          <p:nvPr/>
        </p:nvSpPr>
        <p:spPr>
          <a:xfrm>
            <a:off x="6388100" y="6140450"/>
            <a:ext cx="1778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18" name="Text 63"/>
          <p:cNvSpPr/>
          <p:nvPr/>
        </p:nvSpPr>
        <p:spPr>
          <a:xfrm>
            <a:off x="5600700" y="62103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</a:t>
            </a:r>
            <a:pPr algn="l" indent="0" marL="0">
              <a:buNone/>
            </a:pPr>
            <a:r>
              <a:rPr lang="en-US" sz="1550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Augmented vector</a:t>
            </a:r>
            <a:endParaRPr lang="en-US" sz="1550" dirty="0"/>
          </a:p>
        </p:txBody>
      </p:sp>
      <p:sp>
        <p:nvSpPr>
          <p:cNvPr id="119" name="Text 64"/>
          <p:cNvSpPr/>
          <p:nvPr/>
        </p:nvSpPr>
        <p:spPr>
          <a:xfrm>
            <a:off x="6057900" y="6324600"/>
            <a:ext cx="25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300" dirty="0"/>
          </a:p>
        </p:txBody>
      </p:sp>
      <p:sp>
        <p:nvSpPr>
          <p:cNvPr id="120" name="Text 65"/>
          <p:cNvSpPr/>
          <p:nvPr/>
        </p:nvSpPr>
        <p:spPr>
          <a:xfrm>
            <a:off x="6388100" y="6324600"/>
            <a:ext cx="25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</a:t>
            </a:r>
            <a:endParaRPr lang="en-US" sz="1300" dirty="0"/>
          </a:p>
        </p:txBody>
      </p:sp>
      <p:sp>
        <p:nvSpPr>
          <p:cNvPr id="121" name="Text 66"/>
          <p:cNvSpPr/>
          <p:nvPr/>
        </p:nvSpPr>
        <p:spPr>
          <a:xfrm>
            <a:off x="6819900" y="6470650"/>
            <a:ext cx="152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d+1 dimension</a:t>
            </a:r>
            <a:endParaRPr lang="en-US" sz="1400" dirty="0"/>
          </a:p>
        </p:txBody>
      </p:sp>
      <p:sp>
        <p:nvSpPr>
          <p:cNvPr id="122" name="Shape 67"/>
          <p:cNvSpPr/>
          <p:nvPr/>
        </p:nvSpPr>
        <p:spPr>
          <a:xfrm>
            <a:off x="6146800" y="6597650"/>
            <a:ext cx="1905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23" name="Text 68"/>
          <p:cNvSpPr/>
          <p:nvPr/>
        </p:nvSpPr>
        <p:spPr>
          <a:xfrm>
            <a:off x="8407400" y="6337300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Parameter is</a:t>
            </a:r>
            <a:endParaRPr lang="en-US" sz="2250" dirty="0"/>
          </a:p>
        </p:txBody>
      </p:sp>
      <p:sp>
        <p:nvSpPr>
          <p:cNvPr id="124" name="Text 69"/>
          <p:cNvSpPr/>
          <p:nvPr/>
        </p:nvSpPr>
        <p:spPr>
          <a:xfrm>
            <a:off x="10947400" y="63881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800" dirty="0"/>
          </a:p>
        </p:txBody>
      </p:sp>
      <p:sp>
        <p:nvSpPr>
          <p:cNvPr id="125" name="Shape 70"/>
          <p:cNvSpPr/>
          <p:nvPr/>
        </p:nvSpPr>
        <p:spPr>
          <a:xfrm>
            <a:off x="10858500" y="6604000"/>
            <a:ext cx="3429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26" name="Shape 7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546600" y="4699000"/>
                </a:moveTo>
                <a:lnTo>
                  <a:pt x="5003800" y="4699000"/>
                </a:lnTo>
                <a:lnTo>
                  <a:pt x="5003800" y="4673600"/>
                </a:lnTo>
                <a:lnTo>
                  <a:pt x="5181600" y="4775200"/>
                </a:lnTo>
                <a:lnTo>
                  <a:pt x="5003800" y="4876800"/>
                </a:lnTo>
                <a:lnTo>
                  <a:pt x="5003800" y="4851400"/>
                </a:lnTo>
                <a:lnTo>
                  <a:pt x="4546600" y="48514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27" name="Shape 7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839200" y="4699000"/>
                </a:moveTo>
                <a:lnTo>
                  <a:pt x="9296400" y="4699000"/>
                </a:lnTo>
                <a:lnTo>
                  <a:pt x="9296400" y="4673600"/>
                </a:lnTo>
                <a:lnTo>
                  <a:pt x="9474200" y="4775200"/>
                </a:lnTo>
                <a:lnTo>
                  <a:pt x="9296400" y="4876800"/>
                </a:lnTo>
                <a:lnTo>
                  <a:pt x="9296400" y="4851400"/>
                </a:lnTo>
                <a:lnTo>
                  <a:pt x="8839200" y="48514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4700" y="6832600"/>
            <a:ext cx="10655300" cy="25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41700" y="1358900"/>
            <a:ext cx="4140200" cy="2463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33800" y="1803400"/>
            <a:ext cx="546100" cy="1943100"/>
          </a:xfrm>
          <a:prstGeom prst="rect">
            <a:avLst/>
          </a:prstGeom>
          <a:solidFill>
            <a:srgbClr val="FDFFB4"/>
          </a:solidFill>
          <a:ln w="12700">
            <a:solidFill>
              <a:srgbClr val="FDFF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24400" y="1803400"/>
            <a:ext cx="558800" cy="1943100"/>
          </a:xfrm>
          <a:prstGeom prst="rect">
            <a:avLst/>
          </a:prstGeom>
          <a:solidFill>
            <a:srgbClr val="B8FFFF"/>
          </a:solidFill>
          <a:ln w="12700">
            <a:solidFill>
              <a:srgbClr val="B8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27800" y="1803400"/>
            <a:ext cx="558800" cy="1943100"/>
          </a:xfrm>
          <a:prstGeom prst="rect">
            <a:avLst/>
          </a:prstGeom>
          <a:solidFill>
            <a:srgbClr val="F9A5FB"/>
          </a:solidFill>
          <a:ln w="12700">
            <a:solidFill>
              <a:srgbClr val="F9A5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2300" y="1943100"/>
            <a:ext cx="2870200" cy="850900"/>
          </a:xfrm>
          <a:prstGeom prst="rect">
            <a:avLst/>
          </a:prstGeom>
          <a:solidFill>
            <a:srgbClr val="E5FEFA"/>
          </a:solidFill>
          <a:ln w="19050">
            <a:solidFill>
              <a:srgbClr val="0000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00" y="3390900"/>
            <a:ext cx="2374900" cy="342900"/>
          </a:xfrm>
          <a:prstGeom prst="rect">
            <a:avLst/>
          </a:prstGeom>
          <a:solidFill>
            <a:srgbClr val="FBFCE8"/>
          </a:solidFill>
          <a:ln w="15875">
            <a:solidFill>
              <a:srgbClr val="5A40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4089400"/>
            <a:ext cx="5753100" cy="246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4673600"/>
            <a:ext cx="2463800" cy="279400"/>
          </a:xfrm>
          <a:prstGeom prst="rect">
            <a:avLst/>
          </a:prstGeom>
          <a:solidFill>
            <a:srgbClr val="FDFFB4"/>
          </a:solidFill>
          <a:ln w="12700">
            <a:solidFill>
              <a:srgbClr val="FDFF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9200" y="5067300"/>
            <a:ext cx="2501900" cy="304800"/>
          </a:xfrm>
          <a:prstGeom prst="rect">
            <a:avLst/>
          </a:prstGeom>
          <a:solidFill>
            <a:srgbClr val="B8FFFF"/>
          </a:solidFill>
          <a:ln w="12700">
            <a:solidFill>
              <a:srgbClr val="B8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9200" y="5791200"/>
            <a:ext cx="2501900" cy="304800"/>
          </a:xfrm>
          <a:prstGeom prst="rect">
            <a:avLst/>
          </a:prstGeom>
          <a:solidFill>
            <a:srgbClr val="F9A5FB"/>
          </a:solidFill>
          <a:ln w="12700">
            <a:solidFill>
              <a:srgbClr val="F9A5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22400" y="4673600"/>
            <a:ext cx="304800" cy="304800"/>
          </a:xfrm>
          <a:prstGeom prst="rect">
            <a:avLst/>
          </a:prstGeom>
          <a:solidFill>
            <a:srgbClr val="FDFFB4"/>
          </a:solidFill>
          <a:ln w="12700">
            <a:solidFill>
              <a:srgbClr val="FDFF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9700" y="5067300"/>
            <a:ext cx="304800" cy="304800"/>
          </a:xfrm>
          <a:prstGeom prst="rect">
            <a:avLst/>
          </a:prstGeom>
          <a:solidFill>
            <a:srgbClr val="B8FFFF"/>
          </a:solidFill>
          <a:ln w="12700">
            <a:solidFill>
              <a:srgbClr val="B8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9700" y="5791200"/>
            <a:ext cx="317500" cy="304800"/>
          </a:xfrm>
          <a:prstGeom prst="rect">
            <a:avLst/>
          </a:prstGeom>
          <a:solidFill>
            <a:srgbClr val="F9A5FB"/>
          </a:solidFill>
          <a:ln w="12700">
            <a:solidFill>
              <a:srgbClr val="F9A5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2200" y="4089400"/>
            <a:ext cx="3797300" cy="246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300" y="7874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Matrix </a:t>
            </a:r>
            <a:pPr algn="ctr" indent="0" marL="0">
              <a:buNone/>
            </a:pPr>
            <a:r>
              <a:rPr lang="en-US" sz="2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Notation for Linear Regression and Classification (</a:t>
            </a:r>
            <a:pPr algn="ctr" indent="0" marL="0">
              <a:buNone/>
            </a:pPr>
            <a:r>
              <a:rPr lang="en-US" sz="2500" b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2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Samples)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977900" y="1193800"/>
            <a:ext cx="292100" cy="8890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008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0000" y="1193800"/>
            <a:ext cx="254000" cy="88900"/>
          </a:xfrm>
          <a:prstGeom prst="arc">
            <a:avLst>
              <a:gd name="adj1" fmla="val 0"/>
              <a:gd name="adj2" fmla="val 108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008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11300" y="1193800"/>
            <a:ext cx="279400" cy="8890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008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51900" y="1270000"/>
            <a:ext cx="393700" cy="31750"/>
          </a:xfrm>
          <a:prstGeom prst="rect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4600" y="1320800"/>
            <a:ext cx="342900" cy="25400"/>
          </a:xfrm>
          <a:prstGeom prst="rect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90000" y="1447800"/>
            <a:ext cx="101600" cy="25400"/>
          </a:xfrm>
          <a:prstGeom prst="rect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93200" y="1473200"/>
            <a:ext cx="63500" cy="25400"/>
          </a:xfrm>
          <a:prstGeom prst="rect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3300" y="21717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Training Samples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05800" y="1968500"/>
            <a:ext cx="139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8280400" y="2235200"/>
            <a:ext cx="1181100" cy="317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2300" y="2298700"/>
            <a:ext cx="31750" cy="508000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77300" y="2705100"/>
            <a:ext cx="342900" cy="3175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36100" y="2705100"/>
            <a:ext cx="241300" cy="317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23500" y="2705100"/>
            <a:ext cx="254000" cy="317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06100" y="2705100"/>
            <a:ext cx="317500" cy="3175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0100" y="3378200"/>
            <a:ext cx="116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General: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626600" y="33782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944100" y="33782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515600" y="3378200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2203450" y="5276850"/>
            <a:ext cx="133350" cy="30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03450" y="5334000"/>
            <a:ext cx="133350" cy="279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1260" y="4597400"/>
            <a:ext cx="19050" cy="1549400"/>
          </a:xfrm>
          <a:prstGeom prst="rect">
            <a:avLst/>
          </a:prstGeom>
          <a:solidFill>
            <a:srgbClr val="929292"/>
          </a:solidFill>
          <a:ln w="12700">
            <a:solidFill>
              <a:srgbClr val="92929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46200" y="4648200"/>
            <a:ext cx="38100" cy="14351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51000" y="4775200"/>
            <a:ext cx="63500" cy="12954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52700" y="4610100"/>
            <a:ext cx="88900" cy="15113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13300" y="4648200"/>
            <a:ext cx="190500" cy="14351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3630" y="4660900"/>
            <a:ext cx="15240" cy="14224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91200" y="4546600"/>
            <a:ext cx="25400" cy="15367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9999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4673600"/>
            <a:ext cx="38100" cy="14097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9999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56400" y="5067300"/>
            <a:ext cx="685800" cy="4318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99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2700" y="50927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Where:</a:t>
            </a:r>
            <a:endParaRPr lang="en-US" sz="2150" dirty="0"/>
          </a:p>
        </p:txBody>
      </p:sp>
      <p:sp>
        <p:nvSpPr>
          <p:cNvPr id="52" name="Text 50"/>
          <p:cNvSpPr/>
          <p:nvPr/>
        </p:nvSpPr>
        <p:spPr>
          <a:xfrm>
            <a:off x="9829800" y="50927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 matrix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9271000" y="5613400"/>
            <a:ext cx="184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labels vector</a:t>
            </a:r>
            <a:endParaRPr lang="en-US" sz="2240" dirty="0"/>
          </a:p>
        </p:txBody>
      </p:sp>
      <p:sp>
        <p:nvSpPr>
          <p:cNvPr id="54" name="Shape 52"/>
          <p:cNvSpPr/>
          <p:nvPr/>
        </p:nvSpPr>
        <p:spPr>
          <a:xfrm>
            <a:off x="7645400" y="4851400"/>
            <a:ext cx="254000" cy="3175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36000" y="4851400"/>
            <a:ext cx="342900" cy="317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27700" y="1905000"/>
            <a:ext cx="19050" cy="13843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19800" y="1905000"/>
            <a:ext cx="19050" cy="13843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pic>
        <p:nvPicPr>
          <p:cNvPr id="58" name="Image 0" descr="/home/ahmed/Projects/ai_llm_slides/videos/machine-learning/02_linear-regression-classification-MSSE/recreated_pptx/build/assets/eq017_rm_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9028" y="2502438"/>
            <a:ext cx="152403" cy="210312"/>
          </a:xfrm>
          <a:prstGeom prst="rect">
            <a:avLst/>
          </a:prstGeom>
        </p:spPr>
      </p:pic>
      <p:pic>
        <p:nvPicPr>
          <p:cNvPr id="59" name="Image 1" descr="/home/ahmed/Projects/ai_llm_slides/videos/machine-learning/02_linear-regression-classification-MSSE/recreated_pptx/build/assets/eq017_rm_eq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049" y="2502438"/>
            <a:ext cx="242316" cy="123444"/>
          </a:xfrm>
          <a:prstGeom prst="rect">
            <a:avLst/>
          </a:prstGeom>
        </p:spPr>
      </p:pic>
      <p:pic>
        <p:nvPicPr>
          <p:cNvPr id="60" name="Image 2" descr="/home/ahmed/Projects/ai_llm_slides/videos/machine-learning/02_linear-regression-classification-MSSE/recreated_pptx/build/assets/eq017_rm_W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108" y="2324588"/>
            <a:ext cx="316995" cy="259077"/>
          </a:xfrm>
          <a:prstGeom prst="rect">
            <a:avLst/>
          </a:prstGeom>
        </p:spPr>
      </p:pic>
      <p:pic>
        <p:nvPicPr>
          <p:cNvPr id="61" name="Image 3" descr="/home/ahmed/Projects/ai_llm_slides/videos/machine-learning/02_linear-regression-classification-MSSE/recreated_pptx/build/assets/eq017_rm_T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428" y="2337298"/>
            <a:ext cx="137160" cy="153921"/>
          </a:xfrm>
          <a:prstGeom prst="rect">
            <a:avLst/>
          </a:prstGeom>
        </p:spPr>
      </p:pic>
      <p:pic>
        <p:nvPicPr>
          <p:cNvPr id="62" name="Image 4" descr="/home/ahmed/Projects/ai_llm_slides/videos/machine-learning/02_linear-regression-classification-MSSE/recreated_pptx/build/assets/eq017_rm_X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898" y="2426178"/>
            <a:ext cx="275847" cy="265176"/>
          </a:xfrm>
          <a:prstGeom prst="rect">
            <a:avLst/>
          </a:prstGeom>
        </p:spPr>
      </p:pic>
      <p:pic>
        <p:nvPicPr>
          <p:cNvPr id="63" name="Image 5" descr="/home/ahmed/Projects/ai_llm_slides/videos/machine-learning/02_linear-regression-classification-MSSE/recreated_pptx/build/assets/eq017_rm_eq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8388" y="2502438"/>
            <a:ext cx="204213" cy="105156"/>
          </a:xfrm>
          <a:prstGeom prst="rect">
            <a:avLst/>
          </a:prstGeom>
        </p:spPr>
      </p:pic>
      <p:pic>
        <p:nvPicPr>
          <p:cNvPr id="64" name="Image 6" descr="/home/ahmed/Projects/ai_llm_slides/videos/machine-learning/02_linear-regression-classification-MSSE/recreated_pptx/build/assets/eq017_rm_X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1288" y="2426178"/>
            <a:ext cx="275847" cy="265176"/>
          </a:xfrm>
          <a:prstGeom prst="rect">
            <a:avLst/>
          </a:prstGeom>
        </p:spPr>
      </p:pic>
      <p:pic>
        <p:nvPicPr>
          <p:cNvPr id="65" name="Image 7" descr="/home/ahmed/Projects/ai_llm_slides/videos/machine-learning/02_linear-regression-classification-MSSE/recreated_pptx/build/assets/eq017_rm_T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6149" y="2337298"/>
            <a:ext cx="137160" cy="153921"/>
          </a:xfrm>
          <a:prstGeom prst="rect">
            <a:avLst/>
          </a:prstGeom>
        </p:spPr>
      </p:pic>
      <p:pic>
        <p:nvPicPr>
          <p:cNvPr id="66" name="Image 8" descr="/home/ahmed/Projects/ai_llm_slides/videos/machine-learning/02_linear-regression-classification-MSSE/recreated_pptx/build/assets/eq017_rm_W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3908" y="2426178"/>
            <a:ext cx="320040" cy="262131"/>
          </a:xfrm>
          <a:prstGeom prst="rect">
            <a:avLst/>
          </a:prstGeom>
        </p:spPr>
      </p:pic>
      <p:pic>
        <p:nvPicPr>
          <p:cNvPr id="67" name="Image 9" descr="/home/ahmed/Projects/ai_llm_slides/videos/machine-learning/02_linear-regression-classification-MSSE/recreated_pptx/build/assets/eq017_vb_X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5628" y="1511778"/>
            <a:ext cx="266703" cy="237744"/>
          </a:xfrm>
          <a:prstGeom prst="rect">
            <a:avLst/>
          </a:prstGeom>
        </p:spPr>
      </p:pic>
      <p:pic>
        <p:nvPicPr>
          <p:cNvPr id="68" name="Image 10" descr="/home/ahmed/Projects/ai_llm_slides/videos/machine-learning/02_linear-regression-classification-MSSE/recreated_pptx/build/assets/eq017_vb_X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6198" y="1511778"/>
            <a:ext cx="278892" cy="234699"/>
          </a:xfrm>
          <a:prstGeom prst="rect">
            <a:avLst/>
          </a:prstGeom>
        </p:spPr>
      </p:pic>
      <p:pic>
        <p:nvPicPr>
          <p:cNvPr id="69" name="Image 11" descr="/home/ahmed/Projects/ai_llm_slides/videos/machine-learning/02_linear-regression-classification-MSSE/recreated_pptx/build/assets/eq017_vb_X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2288" y="1511778"/>
            <a:ext cx="291081" cy="245361"/>
          </a:xfrm>
          <a:prstGeom prst="rect">
            <a:avLst/>
          </a:prstGeom>
        </p:spPr>
      </p:pic>
      <p:pic>
        <p:nvPicPr>
          <p:cNvPr id="70" name="Image 12" descr="/home/ahmed/Projects/ai_llm_slides/videos/machine-learning/02_linear-regression-classification-MSSE/recreated_pptx/build/assets/eq017_ce_x1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3058" y="2032528"/>
            <a:ext cx="214884" cy="128016"/>
          </a:xfrm>
          <a:prstGeom prst="rect">
            <a:avLst/>
          </a:prstGeom>
        </p:spPr>
      </p:pic>
      <p:pic>
        <p:nvPicPr>
          <p:cNvPr id="71" name="Image 13" descr="/home/ahmed/Projects/ai_llm_slides/videos/machine-learning/02_linear-regression-classification-MSSE/recreated_pptx/build/assets/eq017_ce_x2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9388" y="2032528"/>
            <a:ext cx="214884" cy="128016"/>
          </a:xfrm>
          <a:prstGeom prst="rect">
            <a:avLst/>
          </a:prstGeom>
        </p:spPr>
      </p:pic>
      <p:pic>
        <p:nvPicPr>
          <p:cNvPr id="72" name="Image 14" descr="/home/ahmed/Projects/ai_llm_slides/videos/machine-learning/02_linear-regression-classification-MSSE/recreated_pptx/build/assets/eq017_ce_xn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328" y="2032528"/>
            <a:ext cx="304797" cy="176781"/>
          </a:xfrm>
          <a:prstGeom prst="rect">
            <a:avLst/>
          </a:prstGeom>
        </p:spPr>
      </p:pic>
      <p:pic>
        <p:nvPicPr>
          <p:cNvPr id="73" name="Image 15" descr="/home/ahmed/Projects/ai_llm_slides/videos/machine-learning/02_linear-regression-classification-MSSE/recreated_pptx/build/assets/eq017_ce_x1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93058" y="2400849"/>
            <a:ext cx="216411" cy="123444"/>
          </a:xfrm>
          <a:prstGeom prst="rect">
            <a:avLst/>
          </a:prstGeom>
        </p:spPr>
      </p:pic>
      <p:pic>
        <p:nvPicPr>
          <p:cNvPr id="74" name="Image 16" descr="/home/ahmed/Projects/ai_llm_slides/videos/machine-learning/02_linear-regression-classification-MSSE/recreated_pptx/build/assets/eq017_ce_x2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89388" y="2400849"/>
            <a:ext cx="216411" cy="123444"/>
          </a:xfrm>
          <a:prstGeom prst="rect">
            <a:avLst/>
          </a:prstGeom>
        </p:spPr>
      </p:pic>
      <p:pic>
        <p:nvPicPr>
          <p:cNvPr id="75" name="Image 17" descr="/home/ahmed/Projects/ai_llm_slides/videos/machine-learning/02_linear-regression-classification-MSSE/recreated_pptx/build/assets/eq017_ce_xn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328" y="2400849"/>
            <a:ext cx="304797" cy="167637"/>
          </a:xfrm>
          <a:prstGeom prst="rect">
            <a:avLst/>
          </a:prstGeom>
        </p:spPr>
      </p:pic>
      <p:pic>
        <p:nvPicPr>
          <p:cNvPr id="76" name="Image 18" descr="/home/ahmed/Projects/ai_llm_slides/videos/machine-learning/02_linear-regression-classification-MSSE/recreated_pptx/build/assets/eq017_ce_dots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4788" y="2851648"/>
            <a:ext cx="150876" cy="42675"/>
          </a:xfrm>
          <a:prstGeom prst="rect">
            <a:avLst/>
          </a:prstGeom>
        </p:spPr>
      </p:pic>
      <p:pic>
        <p:nvPicPr>
          <p:cNvPr id="77" name="Image 19" descr="/home/ahmed/Projects/ai_llm_slides/videos/machine-learning/02_linear-regression-classification-MSSE/recreated_pptx/build/assets/eq017_ce_dots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21758" y="2851648"/>
            <a:ext cx="150876" cy="42675"/>
          </a:xfrm>
          <a:prstGeom prst="rect">
            <a:avLst/>
          </a:prstGeom>
        </p:spPr>
      </p:pic>
      <p:pic>
        <p:nvPicPr>
          <p:cNvPr id="78" name="Image 20" descr="/home/ahmed/Projects/ai_llm_slides/videos/machine-learning/02_linear-regression-classification-MSSE/recreated_pptx/build/assets/eq017_ce_dots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25138" y="2851648"/>
            <a:ext cx="150876" cy="42675"/>
          </a:xfrm>
          <a:prstGeom prst="rect">
            <a:avLst/>
          </a:prstGeom>
        </p:spPr>
      </p:pic>
      <p:pic>
        <p:nvPicPr>
          <p:cNvPr id="79" name="Image 21" descr="/home/ahmed/Projects/ai_llm_slides/videos/machine-learning/02_linear-regression-classification-MSSE/recreated_pptx/build/assets/eq017_ce_x1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4038" y="3086649"/>
            <a:ext cx="252987" cy="140205"/>
          </a:xfrm>
          <a:prstGeom prst="rect">
            <a:avLst/>
          </a:prstGeom>
        </p:spPr>
      </p:pic>
      <p:pic>
        <p:nvPicPr>
          <p:cNvPr id="80" name="Image 22" descr="/home/ahmed/Projects/ai_llm_slides/videos/machine-learning/02_linear-regression-classification-MSSE/recreated_pptx/build/assets/eq017_ce_x2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70917" y="3086649"/>
            <a:ext cx="252987" cy="140205"/>
          </a:xfrm>
          <a:prstGeom prst="rect">
            <a:avLst/>
          </a:prstGeom>
        </p:spPr>
      </p:pic>
      <p:pic>
        <p:nvPicPr>
          <p:cNvPr id="81" name="Image 23" descr="/home/ahmed/Projects/ai_llm_slides/videos/machine-learning/02_linear-regression-classification-MSSE/recreated_pptx/build/assets/eq017_ce_xn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8328" y="3086649"/>
            <a:ext cx="304797" cy="164592"/>
          </a:xfrm>
          <a:prstGeom prst="rect">
            <a:avLst/>
          </a:prstGeom>
        </p:spPr>
      </p:pic>
      <p:pic>
        <p:nvPicPr>
          <p:cNvPr id="82" name="Image 24" descr="/home/ahmed/Projects/ai_llm_slides/videos/machine-learning/02_linear-regression-classification-MSSE/recreated_pptx/build/assets/eq017_vb_y1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88338" y="3505718"/>
            <a:ext cx="254505" cy="225555"/>
          </a:xfrm>
          <a:prstGeom prst="rect">
            <a:avLst/>
          </a:prstGeom>
        </p:spPr>
      </p:pic>
      <p:pic>
        <p:nvPicPr>
          <p:cNvPr id="83" name="Image 25" descr="/home/ahmed/Projects/ai_llm_slides/videos/machine-learning/02_linear-regression-classification-MSSE/recreated_pptx/build/assets/eq017_vb_y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04328" y="3505718"/>
            <a:ext cx="252987" cy="210312"/>
          </a:xfrm>
          <a:prstGeom prst="rect">
            <a:avLst/>
          </a:prstGeom>
        </p:spPr>
      </p:pic>
      <p:pic>
        <p:nvPicPr>
          <p:cNvPr id="84" name="Image 26" descr="/home/ahmed/Projects/ai_llm_slides/videos/machine-learning/02_linear-regression-classification-MSSE/recreated_pptx/build/assets/eq017_vb_yn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82288" y="3505718"/>
            <a:ext cx="291081" cy="240789"/>
          </a:xfrm>
          <a:prstGeom prst="rect">
            <a:avLst/>
          </a:prstGeom>
        </p:spPr>
      </p:pic>
      <p:pic>
        <p:nvPicPr>
          <p:cNvPr id="85" name="Image 27" descr="/home/ahmed/Projects/ai_llm_slides/videos/machine-learning/02_linear-regression-classification-MSSE/recreated_pptx/build/assets/eq017_md_dots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18728" y="1657899"/>
            <a:ext cx="175263" cy="44193"/>
          </a:xfrm>
          <a:prstGeom prst="rect">
            <a:avLst/>
          </a:prstGeom>
        </p:spPr>
      </p:pic>
      <p:pic>
        <p:nvPicPr>
          <p:cNvPr id="86" name="Image 28" descr="/home/ahmed/Projects/ai_llm_slides/videos/machine-learning/02_linear-regression-classification-MSSE/recreated_pptx/build/assets/eq017_md_dots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91718" y="2146828"/>
            <a:ext cx="175263" cy="44193"/>
          </a:xfrm>
          <a:prstGeom prst="rect">
            <a:avLst/>
          </a:prstGeom>
        </p:spPr>
      </p:pic>
      <p:pic>
        <p:nvPicPr>
          <p:cNvPr id="87" name="Image 29" descr="/home/ahmed/Projects/ai_llm_slides/videos/machine-learning/02_linear-regression-classification-MSSE/recreated_pptx/build/assets/eq017_md_dots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79008" y="2470617"/>
            <a:ext cx="175263" cy="44193"/>
          </a:xfrm>
          <a:prstGeom prst="rect">
            <a:avLst/>
          </a:prstGeom>
        </p:spPr>
      </p:pic>
      <p:pic>
        <p:nvPicPr>
          <p:cNvPr id="88" name="Image 30" descr="/home/ahmed/Projects/ai_llm_slides/videos/machine-learning/02_linear-regression-classification-MSSE/recreated_pptx/build/assets/eq017_ce_dots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17138" y="2800899"/>
            <a:ext cx="150876" cy="42675"/>
          </a:xfrm>
          <a:prstGeom prst="rect">
            <a:avLst/>
          </a:prstGeom>
        </p:spPr>
      </p:pic>
      <p:pic>
        <p:nvPicPr>
          <p:cNvPr id="89" name="Image 31" descr="/home/ahmed/Projects/ai_llm_slides/videos/machine-learning/02_linear-regression-classification-MSSE/recreated_pptx/build/assets/eq017_md_dots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79008" y="3124688"/>
            <a:ext cx="175263" cy="44193"/>
          </a:xfrm>
          <a:prstGeom prst="rect">
            <a:avLst/>
          </a:prstGeom>
        </p:spPr>
      </p:pic>
      <p:pic>
        <p:nvPicPr>
          <p:cNvPr id="90" name="Image 32" descr="/home/ahmed/Projects/ai_llm_slides/videos/machine-learning/02_linear-regression-classification-MSSE/recreated_pptx/build/assets/eq017_md_dotsR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906018" y="3613617"/>
            <a:ext cx="188979" cy="47247"/>
          </a:xfrm>
          <a:prstGeom prst="rect">
            <a:avLst/>
          </a:prstGeom>
        </p:spPr>
      </p:pic>
      <p:pic>
        <p:nvPicPr>
          <p:cNvPr id="91" name="Image 33" descr="/home/ahmed/Projects/ai_llm_slides/videos/machine-learning/02_linear-regression-classification-MSSE/recreated_pptx/build/assets/eq017_yv_y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10188" y="4763018"/>
            <a:ext cx="216411" cy="192024"/>
          </a:xfrm>
          <a:prstGeom prst="rect">
            <a:avLst/>
          </a:prstGeom>
        </p:spPr>
      </p:pic>
      <p:pic>
        <p:nvPicPr>
          <p:cNvPr id="92" name="Image 34" descr="/home/ahmed/Projects/ai_llm_slides/videos/machine-learning/02_linear-regression-classification-MSSE/recreated_pptx/build/assets/eq017_yv_y2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422898" y="5144049"/>
            <a:ext cx="214884" cy="178308"/>
          </a:xfrm>
          <a:prstGeom prst="rect">
            <a:avLst/>
          </a:prstGeom>
        </p:spPr>
      </p:pic>
      <p:pic>
        <p:nvPicPr>
          <p:cNvPr id="93" name="Image 35" descr="/home/ahmed/Projects/ai_llm_slides/videos/machine-learning/02_linear-regression-classification-MSSE/recreated_pptx/build/assets/eq017_yv_dots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22898" y="5613867"/>
            <a:ext cx="166119" cy="44193"/>
          </a:xfrm>
          <a:prstGeom prst="rect">
            <a:avLst/>
          </a:prstGeom>
        </p:spPr>
      </p:pic>
      <p:pic>
        <p:nvPicPr>
          <p:cNvPr id="94" name="Image 36" descr="/home/ahmed/Projects/ai_llm_slides/videos/machine-learning/02_linear-regression-classification-MSSE/recreated_pptx/build/assets/eq017_yv_yn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10188" y="5817138"/>
            <a:ext cx="240789" cy="201168"/>
          </a:xfrm>
          <a:prstGeom prst="rect">
            <a:avLst/>
          </a:prstGeom>
        </p:spPr>
      </p:pic>
      <p:pic>
        <p:nvPicPr>
          <p:cNvPr id="95" name="Image 37" descr="/home/ahmed/Projects/ai_llm_slides/videos/machine-learning/02_linear-regression-classification-MSSE/recreated_pptx/build/assets/eq017_lbl_Nx1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753088" y="5918728"/>
            <a:ext cx="339855" cy="128016"/>
          </a:xfrm>
          <a:prstGeom prst="rect">
            <a:avLst/>
          </a:prstGeom>
        </p:spPr>
      </p:pic>
      <p:pic>
        <p:nvPicPr>
          <p:cNvPr id="96" name="Image 38" descr="/home/ahmed/Projects/ai_llm_slides/videos/machine-learning/02_linear-regression-classification-MSSE/recreated_pptx/build/assets/eq017_mx_1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629449" y="4661428"/>
            <a:ext cx="94485" cy="196596"/>
          </a:xfrm>
          <a:prstGeom prst="rect">
            <a:avLst/>
          </a:prstGeom>
        </p:spPr>
      </p:pic>
      <p:pic>
        <p:nvPicPr>
          <p:cNvPr id="97" name="Image 39" descr="/home/ahmed/Projects/ai_llm_slides/videos/machine-learning/02_linear-regression-classification-MSSE/recreated_pptx/build/assets/eq017_mx_1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29449" y="5067788"/>
            <a:ext cx="94485" cy="196596"/>
          </a:xfrm>
          <a:prstGeom prst="rect">
            <a:avLst/>
          </a:prstGeom>
        </p:spPr>
      </p:pic>
      <p:pic>
        <p:nvPicPr>
          <p:cNvPr id="98" name="Image 40" descr="/home/ahmed/Projects/ai_llm_slides/videos/machine-learning/02_linear-regression-classification-MSSE/recreated_pptx/build/assets/eq017_mx_1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629449" y="5474238"/>
            <a:ext cx="94485" cy="196596"/>
          </a:xfrm>
          <a:prstGeom prst="rect">
            <a:avLst/>
          </a:prstGeom>
        </p:spPr>
      </p:pic>
      <p:pic>
        <p:nvPicPr>
          <p:cNvPr id="99" name="Image 41" descr="/home/ahmed/Projects/ai_llm_slides/videos/machine-learning/02_linear-regression-classification-MSSE/recreated_pptx/build/assets/eq017_mx_1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629449" y="5829849"/>
            <a:ext cx="94485" cy="196596"/>
          </a:xfrm>
          <a:prstGeom prst="rect">
            <a:avLst/>
          </a:prstGeom>
        </p:spPr>
      </p:pic>
      <p:pic>
        <p:nvPicPr>
          <p:cNvPr id="100" name="Image 42" descr="/home/ahmed/Projects/ai_llm_slides/videos/machine-learning/02_linear-regression-classification-MSSE/recreated_pptx/build/assets/eq017_mx_x11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997678" y="4724888"/>
            <a:ext cx="278892" cy="161547"/>
          </a:xfrm>
          <a:prstGeom prst="rect">
            <a:avLst/>
          </a:prstGeom>
        </p:spPr>
      </p:pic>
      <p:pic>
        <p:nvPicPr>
          <p:cNvPr id="101" name="Image 43" descr="/home/ahmed/Projects/ai_llm_slides/videos/machine-learning/02_linear-regression-classification-MSSE/recreated_pptx/build/assets/eq017_mx_x12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543849" y="4724888"/>
            <a:ext cx="291081" cy="160020"/>
          </a:xfrm>
          <a:prstGeom prst="rect">
            <a:avLst/>
          </a:prstGeom>
        </p:spPr>
      </p:pic>
      <p:pic>
        <p:nvPicPr>
          <p:cNvPr id="102" name="Image 44" descr="/home/ahmed/Projects/ai_llm_slides/videos/machine-learning/02_linear-regression-classification-MSSE/recreated_pptx/build/assets/eq017_mx_x1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08998" y="4724888"/>
            <a:ext cx="327657" cy="176781"/>
          </a:xfrm>
          <a:prstGeom prst="rect">
            <a:avLst/>
          </a:prstGeom>
        </p:spPr>
      </p:pic>
      <p:pic>
        <p:nvPicPr>
          <p:cNvPr id="103" name="Image 45" descr="/home/ahmed/Projects/ai_llm_slides/videos/machine-learning/02_linear-regression-classification-MSSE/recreated_pptx/build/assets/eq017_mx_x21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984967" y="5118628"/>
            <a:ext cx="278892" cy="161547"/>
          </a:xfrm>
          <a:prstGeom prst="rect">
            <a:avLst/>
          </a:prstGeom>
        </p:spPr>
      </p:pic>
      <p:pic>
        <p:nvPicPr>
          <p:cNvPr id="104" name="Image 46" descr="/home/ahmed/Projects/ai_llm_slides/videos/machine-learning/02_linear-regression-classification-MSSE/recreated_pptx/build/assets/eq017_mx_x22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543849" y="5118628"/>
            <a:ext cx="291081" cy="160020"/>
          </a:xfrm>
          <a:prstGeom prst="rect">
            <a:avLst/>
          </a:prstGeom>
        </p:spPr>
      </p:pic>
      <p:pic>
        <p:nvPicPr>
          <p:cNvPr id="105" name="Image 47" descr="/home/ahmed/Projects/ai_llm_slides/videos/machine-learning/02_linear-regression-classification-MSSE/recreated_pptx/build/assets/eq017_mx_x2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534418" y="5118628"/>
            <a:ext cx="316995" cy="170691"/>
          </a:xfrm>
          <a:prstGeom prst="rect">
            <a:avLst/>
          </a:prstGeom>
        </p:spPr>
      </p:pic>
      <p:pic>
        <p:nvPicPr>
          <p:cNvPr id="106" name="Image 48" descr="/home/ahmed/Projects/ai_llm_slides/videos/machine-learning/02_linear-regression-classification-MSSE/recreated_pptx/build/assets/eq017_mx_dots_b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984967" y="5626578"/>
            <a:ext cx="248415" cy="56391"/>
          </a:xfrm>
          <a:prstGeom prst="rect">
            <a:avLst/>
          </a:prstGeom>
        </p:spPr>
      </p:pic>
      <p:pic>
        <p:nvPicPr>
          <p:cNvPr id="107" name="Image 49" descr="/home/ahmed/Projects/ai_llm_slides/videos/machine-learning/02_linear-regression-classification-MSSE/recreated_pptx/build/assets/eq017_mx_dots_b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581888" y="5626578"/>
            <a:ext cx="248415" cy="56391"/>
          </a:xfrm>
          <a:prstGeom prst="rect">
            <a:avLst/>
          </a:prstGeom>
        </p:spPr>
      </p:pic>
      <p:pic>
        <p:nvPicPr>
          <p:cNvPr id="108" name="Image 50" descr="/home/ahmed/Projects/ai_llm_slides/videos/machine-learning/02_linear-regression-classification-MSSE/recreated_pptx/build/assets/eq017_mx_dots_b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166098" y="5626578"/>
            <a:ext cx="248415" cy="56391"/>
          </a:xfrm>
          <a:prstGeom prst="rect">
            <a:avLst/>
          </a:prstGeom>
        </p:spPr>
      </p:pic>
      <p:pic>
        <p:nvPicPr>
          <p:cNvPr id="109" name="Image 51" descr="/home/ahmed/Projects/ai_llm_slides/videos/machine-learning/02_linear-regression-classification-MSSE/recreated_pptx/build/assets/eq017_mx_dots_s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674138" y="5626578"/>
            <a:ext cx="170691" cy="45720"/>
          </a:xfrm>
          <a:prstGeom prst="rect">
            <a:avLst/>
          </a:prstGeom>
        </p:spPr>
      </p:pic>
      <p:pic>
        <p:nvPicPr>
          <p:cNvPr id="110" name="Image 52" descr="/home/ahmed/Projects/ai_llm_slides/videos/machine-learning/02_linear-regression-classification-MSSE/recreated_pptx/build/assets/eq017_mx_xn1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972349" y="5880598"/>
            <a:ext cx="304797" cy="176781"/>
          </a:xfrm>
          <a:prstGeom prst="rect">
            <a:avLst/>
          </a:prstGeom>
        </p:spPr>
      </p:pic>
      <p:pic>
        <p:nvPicPr>
          <p:cNvPr id="111" name="Image 53" descr="/home/ahmed/Projects/ai_llm_slides/videos/machine-learning/02_linear-regression-classification-MSSE/recreated_pptx/build/assets/eq017_mx_xn2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543849" y="5880598"/>
            <a:ext cx="330711" cy="182880"/>
          </a:xfrm>
          <a:prstGeom prst="rect">
            <a:avLst/>
          </a:prstGeom>
        </p:spPr>
      </p:pic>
      <p:pic>
        <p:nvPicPr>
          <p:cNvPr id="112" name="Image 54" descr="/home/ahmed/Projects/ai_llm_slides/videos/machine-learning/02_linear-regression-classification-MSSE/recreated_pptx/build/assets/eq017_mx_xn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572549" y="5880598"/>
            <a:ext cx="304797" cy="164592"/>
          </a:xfrm>
          <a:prstGeom prst="rect">
            <a:avLst/>
          </a:prstGeom>
        </p:spPr>
      </p:pic>
      <p:pic>
        <p:nvPicPr>
          <p:cNvPr id="113" name="Image 55" descr="/home/ahmed/Projects/ai_llm_slides/videos/machine-learning/02_linear-regression-classification-MSSE/recreated_pptx/build/assets/eq017_lbl_Nxd1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029749" y="5982188"/>
            <a:ext cx="531879" cy="123444"/>
          </a:xfrm>
          <a:prstGeom prst="rect">
            <a:avLst/>
          </a:prstGeom>
        </p:spPr>
      </p:pic>
      <p:pic>
        <p:nvPicPr>
          <p:cNvPr id="114" name="Image 56" descr="/home/ahmed/Projects/ai_llm_slides/videos/machine-learning/02_linear-regression-classification-MSSE/recreated_pptx/build/assets/eq017_wv_1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956767" y="4559838"/>
            <a:ext cx="109728" cy="230127"/>
          </a:xfrm>
          <a:prstGeom prst="rect">
            <a:avLst/>
          </a:prstGeom>
        </p:spPr>
      </p:pic>
      <p:pic>
        <p:nvPicPr>
          <p:cNvPr id="115" name="Image 57" descr="/home/ahmed/Projects/ai_llm_slides/videos/machine-learning/02_linear-regression-classification-MSSE/recreated_pptx/build/assets/eq017_wv_w2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880598" y="4953488"/>
            <a:ext cx="291081" cy="185925"/>
          </a:xfrm>
          <a:prstGeom prst="rect">
            <a:avLst/>
          </a:prstGeom>
        </p:spPr>
      </p:pic>
      <p:pic>
        <p:nvPicPr>
          <p:cNvPr id="116" name="Image 58" descr="/home/ahmed/Projects/ai_llm_slides/videos/machine-learning/02_linear-regression-classification-MSSE/recreated_pptx/build/assets/eq017_wv_w2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880598" y="5309098"/>
            <a:ext cx="291081" cy="185925"/>
          </a:xfrm>
          <a:prstGeom prst="rect">
            <a:avLst/>
          </a:prstGeom>
        </p:spPr>
      </p:pic>
      <p:pic>
        <p:nvPicPr>
          <p:cNvPr id="117" name="Image 59" descr="/home/ahmed/Projects/ai_llm_slides/videos/machine-learning/02_linear-regression-classification-MSSE/recreated_pptx/build/assets/eq017_wv_dots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855178" y="5779008"/>
            <a:ext cx="175263" cy="44193"/>
          </a:xfrm>
          <a:prstGeom prst="rect">
            <a:avLst/>
          </a:prstGeom>
        </p:spPr>
      </p:pic>
      <p:pic>
        <p:nvPicPr>
          <p:cNvPr id="118" name="Image 60" descr="/home/ahmed/Projects/ai_llm_slides/videos/machine-learning/02_linear-regression-classification-MSSE/recreated_pptx/build/assets/eq017_lbl_d1x1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67888" y="5982188"/>
            <a:ext cx="851919" cy="196596"/>
          </a:xfrm>
          <a:prstGeom prst="rect">
            <a:avLst/>
          </a:prstGeom>
        </p:spPr>
      </p:pic>
      <p:pic>
        <p:nvPicPr>
          <p:cNvPr id="119" name="Image 61" descr="/home/ahmed/Projects/ai_llm_slides/videos/machine-learning/02_linear-regression-classification-MSSE/recreated_pptx/build/assets/eq017_br_Y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633228" y="4559838"/>
            <a:ext cx="266703" cy="310896"/>
          </a:xfrm>
          <a:prstGeom prst="rect">
            <a:avLst/>
          </a:prstGeom>
        </p:spPr>
      </p:pic>
      <p:pic>
        <p:nvPicPr>
          <p:cNvPr id="120" name="Image 62" descr="/home/ahmed/Projects/ai_llm_slides/videos/machine-learning/02_linear-regression-classification-MSSE/recreated_pptx/build/assets/eq017_br_eq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937998" y="4642317"/>
            <a:ext cx="242316" cy="123444"/>
          </a:xfrm>
          <a:prstGeom prst="rect">
            <a:avLst/>
          </a:prstGeom>
        </p:spPr>
      </p:pic>
      <p:pic>
        <p:nvPicPr>
          <p:cNvPr id="121" name="Image 63" descr="/home/ahmed/Projects/ai_llm_slides/videos/machine-learning/02_linear-regression-classification-MSSE/recreated_pptx/build/assets/eq017_br_X1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230149" y="4496288"/>
            <a:ext cx="327657" cy="315468"/>
          </a:xfrm>
          <a:prstGeom prst="rect">
            <a:avLst/>
          </a:prstGeom>
        </p:spPr>
      </p:pic>
      <p:pic>
        <p:nvPicPr>
          <p:cNvPr id="122" name="Image 64" descr="/home/ahmed/Projects/ai_llm_slides/videos/machine-learning/02_linear-regression-classification-MSSE/recreated_pptx/build/assets/eq017_br_W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623798" y="4559838"/>
            <a:ext cx="355089" cy="289563"/>
          </a:xfrm>
          <a:prstGeom prst="rect">
            <a:avLst/>
          </a:prstGeom>
        </p:spPr>
      </p:pic>
      <p:pic>
        <p:nvPicPr>
          <p:cNvPr id="123" name="Image 65" descr="/home/ahmed/Projects/ai_llm_slides/videos/machine-learning/02_linear-regression-classification-MSSE/recreated_pptx/build/assets/eq017_br_X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509498" y="5029749"/>
            <a:ext cx="355089" cy="339855"/>
          </a:xfrm>
          <a:prstGeom prst="rect">
            <a:avLst/>
          </a:prstGeom>
        </p:spPr>
      </p:pic>
      <p:pic>
        <p:nvPicPr>
          <p:cNvPr id="124" name="Image 66" descr="/home/ahmed/Projects/ai_llm_slides/videos/machine-learning/02_linear-regression-classification-MSSE/recreated_pptx/build/assets/eq017_br_L2sub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852398" y="5270967"/>
            <a:ext cx="902211" cy="198123"/>
          </a:xfrm>
          <a:prstGeom prst="rect">
            <a:avLst/>
          </a:prstGeom>
        </p:spPr>
      </p:pic>
      <p:pic>
        <p:nvPicPr>
          <p:cNvPr id="125" name="Image 67" descr="/home/ahmed/Projects/ai_llm_slides/videos/machine-learning/02_linear-regression-classification-MSSE/recreated_pptx/build/assets/eq017_br_L3Y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496788" y="5626578"/>
            <a:ext cx="292608" cy="339855"/>
          </a:xfrm>
          <a:prstGeom prst="rect">
            <a:avLst/>
          </a:prstGeom>
        </p:spPr>
      </p:pic>
      <p:pic>
        <p:nvPicPr>
          <p:cNvPr id="126" name="Image 68" descr="/home/ahmed/Projects/ai_llm_slides/videos/machine-learning/02_linear-regression-classification-MSSE/recreated_pptx/build/assets/eq017_br_L3sub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763518" y="5829849"/>
            <a:ext cx="381003" cy="1432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3400" y="645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-65" kern="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Calculation of Model Parameter </a:t>
            </a:r>
            <a:pPr algn="ctr" indent="0" marL="0">
              <a:buNone/>
            </a:pPr>
            <a:r>
              <a:rPr lang="en-US" sz="2000" b="1" dirty="0">
                <a:solidFill>
                  <a:srgbClr val="0000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12850" y="1524000"/>
            <a:ext cx="6038850" cy="2444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" name="Equation OMML" descr="Y"/>
              <p:cNvSpPr txBox="1"/>
              <p:nvPr/>
            </p:nvSpPr>
            <p:spPr>
              <a:xfrm>
                <a:off x="1359408" y="1853947"/>
                <a:ext cx="266703" cy="3108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44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" name="Image 0" descr="/home/ahmed/Projects/ai_llm_slides/videos/machine-learning/02_linear-regression-classification-MSSE/recreated_pptx/build/assets/eq018_eq1_Y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59408" y="1853947"/>
                <a:ext cx="266703" cy="31089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Shape 5"/>
          <p:cNvSpPr/>
          <p:nvPr/>
        </p:nvSpPr>
        <p:spPr>
          <a:xfrm>
            <a:off x="1371600" y="2184400"/>
            <a:ext cx="2349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" name="Equation OMML" descr="="/>
              <p:cNvSpPr txBox="1"/>
              <p:nvPr/>
            </p:nvSpPr>
            <p:spPr>
              <a:xfrm>
                <a:off x="1664208" y="1971931"/>
                <a:ext cx="248415" cy="12648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9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1" descr="/home/ahmed/Projects/ai_llm_slides/videos/machine-learning/02_linear-regression-classification-MSSE/recreated_pptx/build/assets/eq018_eq1_eq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64208" y="1971931"/>
                <a:ext cx="248415" cy="12648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" name="Equation OMML" descr="X"/>
              <p:cNvSpPr txBox="1"/>
              <p:nvPr/>
            </p:nvSpPr>
            <p:spPr>
              <a:xfrm>
                <a:off x="1981708" y="1845821"/>
                <a:ext cx="320040" cy="3047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" name="Image 2" descr="/home/ahmed/Projects/ai_llm_slides/videos/machine-learning/02_linear-regression-classification-MSSE/recreated_pptx/build/assets/eq018_eq1_X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1708" y="1845821"/>
                <a:ext cx="320040" cy="30479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" name="Equation OMML" descr="W"/>
              <p:cNvSpPr txBox="1"/>
              <p:nvPr/>
            </p:nvSpPr>
            <p:spPr>
              <a:xfrm>
                <a:off x="2362708" y="1901191"/>
                <a:ext cx="330711" cy="2697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88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3" descr="/home/ahmed/Projects/ai_llm_slides/videos/machine-learning/02_linear-regression-classification-MSSE/recreated_pptx/build/assets/eq018_eq1_W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2708" y="1901191"/>
                <a:ext cx="330711" cy="269748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Shape 6"/>
          <p:cNvSpPr/>
          <p:nvPr/>
        </p:nvSpPr>
        <p:spPr>
          <a:xfrm>
            <a:off x="2368550" y="2184400"/>
            <a:ext cx="3111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347470" y="2419350"/>
            <a:ext cx="127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spc="3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Where: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14" name="Equation OMML" descr="X"/>
              <p:cNvSpPr txBox="1"/>
              <p:nvPr/>
            </p:nvSpPr>
            <p:spPr>
              <a:xfrm>
                <a:off x="2216658" y="2388363"/>
                <a:ext cx="310896" cy="2971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4" descr="/home/ahmed/Projects/ai_llm_slides/videos/machine-learning/02_linear-regression-classification-MSSE/recreated_pptx/build/assets/eq018_A_Xg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6658" y="2388363"/>
                <a:ext cx="310896" cy="2971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hape 8"/>
          <p:cNvSpPr/>
          <p:nvPr/>
        </p:nvSpPr>
        <p:spPr>
          <a:xfrm>
            <a:off x="2228850" y="2686050"/>
            <a:ext cx="27305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6" name="Equation OMML" descr="N\times d+1"/>
              <p:cNvSpPr txBox="1"/>
              <p:nvPr/>
            </p:nvSpPr>
            <p:spPr>
              <a:xfrm>
                <a:off x="2527808" y="2628141"/>
                <a:ext cx="888495" cy="19506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38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N×d+1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5" descr="/home/ahmed/Projects/ai_llm_slides/videos/machine-learning/02_linear-regression-classification-MSSE/recreated_pptx/build/assets/eq018_A_sub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7808" y="2628141"/>
                <a:ext cx="888495" cy="195069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 9"/>
          <p:cNvSpPr/>
          <p:nvPr/>
        </p:nvSpPr>
        <p:spPr>
          <a:xfrm>
            <a:off x="3571240" y="24193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4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 matrix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18" name="Equation OMML" descr="\Rightarrow"/>
              <p:cNvSpPr txBox="1"/>
              <p:nvPr/>
            </p:nvSpPr>
            <p:spPr>
              <a:xfrm>
                <a:off x="5271008" y="2476752"/>
                <a:ext cx="265176" cy="2026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5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6" descr="/home/ahmed/Projects/ai_llm_slides/videos/machine-learning/02_linear-regression-classification-MSSE/recreated_pptx/build/assets/eq018_A_arrow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1008" y="2476752"/>
                <a:ext cx="265176" cy="202695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 10"/>
          <p:cNvSpPr/>
          <p:nvPr/>
        </p:nvSpPr>
        <p:spPr>
          <a:xfrm>
            <a:off x="5937250" y="24193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Given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20" name="Equation OMML" descr="Y"/>
              <p:cNvSpPr txBox="1"/>
              <p:nvPr/>
            </p:nvSpPr>
            <p:spPr>
              <a:xfrm>
                <a:off x="2235708" y="2977898"/>
                <a:ext cx="234699" cy="2727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7" descr="/home/ahmed/Projects/ai_llm_slides/videos/machine-learning/02_linear-regression-classification-MSSE/recreated_pptx/build/assets/eq018_B_Yg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35708" y="2977898"/>
                <a:ext cx="234699" cy="272793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Shape 11"/>
          <p:cNvSpPr/>
          <p:nvPr/>
        </p:nvSpPr>
        <p:spPr>
          <a:xfrm>
            <a:off x="2247900" y="3257550"/>
            <a:ext cx="2349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2" name="Equation OMML" descr="N\times 1"/>
              <p:cNvSpPr txBox="1"/>
              <p:nvPr/>
            </p:nvSpPr>
            <p:spPr>
              <a:xfrm>
                <a:off x="2534158" y="3211325"/>
                <a:ext cx="329184" cy="12648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3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N×1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" name="Image 8" descr="/home/ahmed/Projects/ai_llm_slides/videos/machine-learning/02_linear-regression-classification-MSSE/recreated_pptx/build/assets/eq018_B_sub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34158" y="3211325"/>
                <a:ext cx="329184" cy="126489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 12"/>
          <p:cNvSpPr/>
          <p:nvPr/>
        </p:nvSpPr>
        <p:spPr>
          <a:xfrm>
            <a:off x="3014980" y="29527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8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labels vector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24" name="Equation OMML" descr="\Rightarrow"/>
              <p:cNvSpPr txBox="1"/>
              <p:nvPr/>
            </p:nvSpPr>
            <p:spPr>
              <a:xfrm>
                <a:off x="5232908" y="3020060"/>
                <a:ext cx="239271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9" descr="/home/ahmed/Projects/ai_llm_slides/videos/machine-learning/02_linear-regression-classification-MSSE/recreated_pptx/build/assets/eq018_B_arrow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32908" y="3020060"/>
                <a:ext cx="239271" cy="1828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 13"/>
          <p:cNvSpPr/>
          <p:nvPr/>
        </p:nvSpPr>
        <p:spPr>
          <a:xfrm>
            <a:off x="5883910" y="29527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Given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26" name="Equation OMML" descr="W"/>
              <p:cNvSpPr txBox="1"/>
              <p:nvPr/>
            </p:nvSpPr>
            <p:spPr>
              <a:xfrm>
                <a:off x="2229358" y="3431792"/>
                <a:ext cx="240789" cy="19812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4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6" name="Image 10" descr="/home/ahmed/Projects/ai_llm_slides/videos/machine-learning/02_linear-regression-classification-MSSE/recreated_pptx/build/assets/eq018_C_W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29358" y="3431792"/>
                <a:ext cx="240789" cy="198123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 14"/>
          <p:cNvSpPr/>
          <p:nvPr/>
        </p:nvSpPr>
        <p:spPr>
          <a:xfrm>
            <a:off x="2670810" y="33464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14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Model Parameter</a:t>
            </a:r>
            <a:endParaRPr lang="en-US" sz="2400" dirty="0"/>
          </a:p>
        </p:txBody>
      </p:sp>
      <mc:AlternateContent>
        <mc:Choice xmlns:a14="http://schemas.microsoft.com/office/drawing/2010/main" Requires="a14">
          <p:sp>
            <p:nvSpPr>
              <p:cNvPr id="28" name="Equation OMML" descr="\Rightarrow"/>
              <p:cNvSpPr txBox="1"/>
              <p:nvPr/>
            </p:nvSpPr>
            <p:spPr>
              <a:xfrm>
                <a:off x="5220208" y="3403852"/>
                <a:ext cx="265176" cy="2026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5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8" name="Image 11" descr="/home/ahmed/Projects/ai_llm_slides/videos/machine-learning/02_linear-regression-classification-MSSE/recreated_pptx/build/assets/eq018_C_arrow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20208" y="3403852"/>
                <a:ext cx="265176" cy="202695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 15"/>
          <p:cNvSpPr/>
          <p:nvPr/>
        </p:nvSpPr>
        <p:spPr>
          <a:xfrm>
            <a:off x="5890260" y="33464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16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</a:t>
            </a:r>
            <a:endParaRPr lang="en-US" sz="2400" dirty="0"/>
          </a:p>
        </p:txBody>
      </p:sp>
      <p:sp>
        <p:nvSpPr>
          <p:cNvPr id="30" name="Shape 16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7302500" y="2660650"/>
                </a:moveTo>
                <a:lnTo>
                  <a:pt x="7747000" y="2660650"/>
                </a:lnTo>
                <a:lnTo>
                  <a:pt x="7747000" y="2597150"/>
                </a:lnTo>
                <a:lnTo>
                  <a:pt x="7899400" y="2752725"/>
                </a:lnTo>
                <a:lnTo>
                  <a:pt x="7747000" y="2908300"/>
                </a:lnTo>
                <a:lnTo>
                  <a:pt x="7747000" y="2838450"/>
                </a:lnTo>
                <a:lnTo>
                  <a:pt x="7302500" y="283845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17"/>
          <p:cNvSpPr/>
          <p:nvPr/>
        </p:nvSpPr>
        <p:spPr>
          <a:xfrm>
            <a:off x="8007350" y="2387600"/>
            <a:ext cx="3092450" cy="717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2" name="Equation OMML" descr="W"/>
              <p:cNvSpPr txBox="1"/>
              <p:nvPr/>
            </p:nvSpPr>
            <p:spPr>
              <a:xfrm>
                <a:off x="8217408" y="2617976"/>
                <a:ext cx="355089" cy="28956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1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12" descr="/home/ahmed/Projects/ai_llm_slides/videos/machine-learning/02_linear-regression-classification-MSSE/recreated_pptx/build/assets/eq018_rb_W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17408" y="2617976"/>
                <a:ext cx="355089" cy="289563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Shape 18"/>
          <p:cNvSpPr/>
          <p:nvPr/>
        </p:nvSpPr>
        <p:spPr>
          <a:xfrm>
            <a:off x="8229600" y="2908300"/>
            <a:ext cx="323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4" name="Equation OMML" descr="="/>
              <p:cNvSpPr txBox="1"/>
              <p:nvPr/>
            </p:nvSpPr>
            <p:spPr>
              <a:xfrm>
                <a:off x="8611108" y="2703703"/>
                <a:ext cx="242316" cy="1234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91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4" name="Image 13" descr="/home/ahmed/Projects/ai_llm_slides/videos/machine-learning/02_linear-regression-classification-MSSE/recreated_pptx/build/assets/eq018_rb_eq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11108" y="2703703"/>
                <a:ext cx="242316" cy="1234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5" name="Equation OMML" descr="X"/>
              <p:cNvSpPr txBox="1"/>
              <p:nvPr/>
            </p:nvSpPr>
            <p:spPr>
              <a:xfrm>
                <a:off x="8928608" y="2572260"/>
                <a:ext cx="303279" cy="29108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14" descr="/home/ahmed/Projects/ai_llm_slides/videos/machine-learning/02_linear-regression-classification-MSSE/recreated_pptx/build/assets/eq018_rb_Xg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28608" y="2572260"/>
                <a:ext cx="303279" cy="291081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Shape 19"/>
          <p:cNvSpPr/>
          <p:nvPr/>
        </p:nvSpPr>
        <p:spPr>
          <a:xfrm>
            <a:off x="8940800" y="2870200"/>
            <a:ext cx="2413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7" name="Equation OMML" descr="{-1}"/>
              <p:cNvSpPr txBox="1"/>
              <p:nvPr/>
            </p:nvSpPr>
            <p:spPr>
              <a:xfrm>
                <a:off x="9296908" y="2458723"/>
                <a:ext cx="277365" cy="19506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76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-1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15" descr="/home/ahmed/Projects/ai_llm_slides/videos/machine-learning/02_linear-regression-classification-MSSE/recreated_pptx/build/assets/eq018_rb_sup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96908" y="2458723"/>
                <a:ext cx="277365" cy="19506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Y"/>
              <p:cNvSpPr txBox="1"/>
              <p:nvPr/>
            </p:nvSpPr>
            <p:spPr>
              <a:xfrm>
                <a:off x="9652508" y="2631695"/>
                <a:ext cx="233172" cy="2697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95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16" descr="/home/ahmed/Projects/ai_llm_slides/videos/machine-learning/02_linear-regression-classification-MSSE/recreated_pptx/build/assets/eq018_rb_Y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52508" y="2631695"/>
                <a:ext cx="233172" cy="269748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Shape 20"/>
          <p:cNvSpPr/>
          <p:nvPr/>
        </p:nvSpPr>
        <p:spPr>
          <a:xfrm>
            <a:off x="9671050" y="2908300"/>
            <a:ext cx="209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0" name="Shape 21"/>
          <p:cNvSpPr/>
          <p:nvPr/>
        </p:nvSpPr>
        <p:spPr>
          <a:xfrm>
            <a:off x="10433050" y="2514600"/>
            <a:ext cx="469900" cy="469900"/>
          </a:xfrm>
          <a:prstGeom prst="smileyFace">
            <a:avLst/>
          </a:prstGeom>
          <a:solidFill>
            <a:srgbClr val="F2DD4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3400" y="645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-65" kern="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Calculation of Model Parameter </a:t>
            </a:r>
            <a:pPr algn="ctr" indent="0" marL="0">
              <a:buNone/>
            </a:pPr>
            <a:r>
              <a:rPr lang="en-US" sz="2000" b="1" dirty="0">
                <a:solidFill>
                  <a:srgbClr val="0000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12850" y="1524000"/>
            <a:ext cx="6038850" cy="2444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7" name="Image 0" descr="/home/ahmed/Projects/ai_llm_slides/videos/machine-learning/02_linear-regression-classification-MSSE/recreated_pptx/build/components/assets/eq018_eq1_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408" y="1853947"/>
            <a:ext cx="266703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71600" y="2184400"/>
            <a:ext cx="2349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9" name="Image 1" descr="/home/ahmed/Projects/ai_llm_slides/videos/machine-learning/02_linear-regression-classification-MSSE/recreated_pptx/build/components/assets/eq018_eq1_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1971931"/>
            <a:ext cx="248415" cy="126489"/>
          </a:xfrm>
          <a:prstGeom prst="rect">
            <a:avLst/>
          </a:prstGeom>
        </p:spPr>
      </p:pic>
      <p:pic>
        <p:nvPicPr>
          <p:cNvPr id="10" name="Image 2" descr="/home/ahmed/Projects/ai_llm_slides/videos/machine-learning/02_linear-regression-classification-MSSE/recreated_pptx/build/components/assets/eq018_eq1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708" y="1845821"/>
            <a:ext cx="320040" cy="304797"/>
          </a:xfrm>
          <a:prstGeom prst="rect">
            <a:avLst/>
          </a:prstGeom>
        </p:spPr>
      </p:pic>
      <p:pic>
        <p:nvPicPr>
          <p:cNvPr id="11" name="Image 3" descr="/home/ahmed/Projects/ai_llm_slides/videos/machine-learning/02_linear-regression-classification-MSSE/recreated_pptx/build/components/assets/eq018_eq1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708" y="1901191"/>
            <a:ext cx="330711" cy="26974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368550" y="2184400"/>
            <a:ext cx="3111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347470" y="2419350"/>
            <a:ext cx="127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spc="3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Where:</a:t>
            </a:r>
            <a:endParaRPr lang="en-US" sz="2400" dirty="0"/>
          </a:p>
        </p:txBody>
      </p:sp>
      <p:pic>
        <p:nvPicPr>
          <p:cNvPr id="14" name="Image 4" descr="/home/ahmed/Projects/ai_llm_slides/videos/machine-learning/02_linear-regression-classification-MSSE/recreated_pptx/build/components/assets/eq018_A_X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658" y="2388363"/>
            <a:ext cx="310896" cy="2971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2228850" y="2686050"/>
            <a:ext cx="27305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pic>
        <p:nvPicPr>
          <p:cNvPr id="16" name="Image 5" descr="/home/ahmed/Projects/ai_llm_slides/videos/machine-learning/02_linear-regression-classification-MSSE/recreated_pptx/build/components/assets/eq018_A_s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7808" y="2628141"/>
            <a:ext cx="888495" cy="19506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571240" y="24193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4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 matrix</a:t>
            </a:r>
            <a:endParaRPr lang="en-US" sz="2400" dirty="0"/>
          </a:p>
        </p:txBody>
      </p:sp>
      <p:pic>
        <p:nvPicPr>
          <p:cNvPr id="18" name="Image 6" descr="/home/ahmed/Projects/ai_llm_slides/videos/machine-learning/02_linear-regression-classification-MSSE/recreated_pptx/build/components/assets/eq018_A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008" y="2476752"/>
            <a:ext cx="265176" cy="20269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937250" y="24193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Given</a:t>
            </a:r>
            <a:endParaRPr lang="en-US" sz="2400" dirty="0"/>
          </a:p>
        </p:txBody>
      </p:sp>
      <p:pic>
        <p:nvPicPr>
          <p:cNvPr id="20" name="Image 7" descr="/home/ahmed/Projects/ai_llm_slides/videos/machine-learning/02_linear-regression-classification-MSSE/recreated_pptx/build/components/assets/eq018_B_Y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708" y="2977898"/>
            <a:ext cx="234699" cy="272793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2247900" y="3257550"/>
            <a:ext cx="2349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22" name="Image 8" descr="/home/ahmed/Projects/ai_llm_slides/videos/machine-learning/02_linear-regression-classification-MSSE/recreated_pptx/build/components/assets/eq018_B_su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4158" y="3211325"/>
            <a:ext cx="329184" cy="126489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014980" y="29527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8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labels vector</a:t>
            </a:r>
            <a:endParaRPr lang="en-US" sz="2400" dirty="0"/>
          </a:p>
        </p:txBody>
      </p:sp>
      <p:pic>
        <p:nvPicPr>
          <p:cNvPr id="24" name="Image 9" descr="/home/ahmed/Projects/ai_llm_slides/videos/machine-learning/02_linear-regression-classification-MSSE/recreated_pptx/build/components/assets/eq018_B_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2908" y="3020060"/>
            <a:ext cx="239271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883910" y="29527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Given</a:t>
            </a:r>
            <a:endParaRPr lang="en-US" sz="2400" dirty="0"/>
          </a:p>
        </p:txBody>
      </p:sp>
      <p:pic>
        <p:nvPicPr>
          <p:cNvPr id="26" name="Image 10" descr="/home/ahmed/Projects/ai_llm_slides/videos/machine-learning/02_linear-regression-classification-MSSE/recreated_pptx/build/components/assets/eq018_C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9358" y="3431792"/>
            <a:ext cx="240789" cy="19812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2670810" y="33464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14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Model Parameter</a:t>
            </a:r>
            <a:endParaRPr lang="en-US" sz="2400" dirty="0"/>
          </a:p>
        </p:txBody>
      </p:sp>
      <p:pic>
        <p:nvPicPr>
          <p:cNvPr id="28" name="Image 11" descr="/home/ahmed/Projects/ai_llm_slides/videos/machine-learning/02_linear-regression-classification-MSSE/recreated_pptx/build/components/assets/eq018_C_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20208" y="3403852"/>
            <a:ext cx="265176" cy="202695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890260" y="334645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16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</a:t>
            </a:r>
            <a:endParaRPr lang="en-US" sz="2400" dirty="0"/>
          </a:p>
        </p:txBody>
      </p:sp>
      <p:sp>
        <p:nvSpPr>
          <p:cNvPr id="30" name="Shape 16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7302500" y="2660650"/>
                </a:moveTo>
                <a:lnTo>
                  <a:pt x="7747000" y="2660650"/>
                </a:lnTo>
                <a:lnTo>
                  <a:pt x="7747000" y="2597150"/>
                </a:lnTo>
                <a:lnTo>
                  <a:pt x="7899400" y="2752725"/>
                </a:lnTo>
                <a:lnTo>
                  <a:pt x="7747000" y="2908300"/>
                </a:lnTo>
                <a:lnTo>
                  <a:pt x="7747000" y="2838450"/>
                </a:lnTo>
                <a:lnTo>
                  <a:pt x="7302500" y="283845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17"/>
          <p:cNvSpPr/>
          <p:nvPr/>
        </p:nvSpPr>
        <p:spPr>
          <a:xfrm>
            <a:off x="8007350" y="2387600"/>
            <a:ext cx="3092450" cy="717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32" name="Image 12" descr="/home/ahmed/Projects/ai_llm_slides/videos/machine-learning/02_linear-regression-classification-MSSE/recreated_pptx/build/components/assets/eq018_rb_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7408" y="2617976"/>
            <a:ext cx="355089" cy="289563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8229600" y="2908300"/>
            <a:ext cx="323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34" name="Image 13" descr="/home/ahmed/Projects/ai_llm_slides/videos/machine-learning/02_linear-regression-classification-MSSE/recreated_pptx/build/components/assets/eq018_rb_eq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11108" y="2703703"/>
            <a:ext cx="242316" cy="123444"/>
          </a:xfrm>
          <a:prstGeom prst="rect">
            <a:avLst/>
          </a:prstGeom>
        </p:spPr>
      </p:pic>
      <p:pic>
        <p:nvPicPr>
          <p:cNvPr id="35" name="Image 14" descr="/home/ahmed/Projects/ai_llm_slides/videos/machine-learning/02_linear-regression-classification-MSSE/recreated_pptx/build/components/assets/eq018_rb_X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8608" y="2572260"/>
            <a:ext cx="303279" cy="291081"/>
          </a:xfrm>
          <a:prstGeom prst="rect">
            <a:avLst/>
          </a:prstGeom>
        </p:spPr>
      </p:pic>
      <p:sp>
        <p:nvSpPr>
          <p:cNvPr id="36" name="Shape 19"/>
          <p:cNvSpPr/>
          <p:nvPr/>
        </p:nvSpPr>
        <p:spPr>
          <a:xfrm>
            <a:off x="8940800" y="2870200"/>
            <a:ext cx="2413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pic>
        <p:nvPicPr>
          <p:cNvPr id="37" name="Image 15" descr="/home/ahmed/Projects/ai_llm_slides/videos/machine-learning/02_linear-regression-classification-MSSE/recreated_pptx/build/components/assets/eq018_rb_su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908" y="2458723"/>
            <a:ext cx="277365" cy="195069"/>
          </a:xfrm>
          <a:prstGeom prst="rect">
            <a:avLst/>
          </a:prstGeom>
        </p:spPr>
      </p:pic>
      <p:pic>
        <p:nvPicPr>
          <p:cNvPr id="38" name="Image 16" descr="/home/ahmed/Projects/ai_llm_slides/videos/machine-learning/02_linear-regression-classification-MSSE/recreated_pptx/build/components/assets/eq018_rb_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2508" y="2631695"/>
            <a:ext cx="233172" cy="269748"/>
          </a:xfrm>
          <a:prstGeom prst="rect">
            <a:avLst/>
          </a:prstGeom>
        </p:spPr>
      </p:pic>
      <p:sp>
        <p:nvSpPr>
          <p:cNvPr id="39" name="Shape 20"/>
          <p:cNvSpPr/>
          <p:nvPr/>
        </p:nvSpPr>
        <p:spPr>
          <a:xfrm>
            <a:off x="9671050" y="2908300"/>
            <a:ext cx="209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0" name="Shape 21"/>
          <p:cNvSpPr/>
          <p:nvPr/>
        </p:nvSpPr>
        <p:spPr>
          <a:xfrm>
            <a:off x="10433050" y="2514600"/>
            <a:ext cx="469900" cy="469900"/>
          </a:xfrm>
          <a:prstGeom prst="smileyFace">
            <a:avLst/>
          </a:prstGeom>
          <a:solidFill>
            <a:srgbClr val="F2DD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22"/>
          <p:cNvSpPr/>
          <p:nvPr/>
        </p:nvSpPr>
        <p:spPr>
          <a:xfrm>
            <a:off x="1212850" y="4165600"/>
            <a:ext cx="477520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2" name="Equation OMML" descr="W"/>
              <p:cNvSpPr txBox="1"/>
              <p:nvPr/>
            </p:nvSpPr>
            <p:spPr>
              <a:xfrm>
                <a:off x="1283208" y="4569462"/>
                <a:ext cx="367287" cy="30022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24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17" descr="/home/ahmed/Projects/ai_llm_slides/videos/machine-learning/02_linear-regression-classification-MSSE/recreated_pptx/build/assets/eq019_lb19_W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83208" y="4569462"/>
                <a:ext cx="367287" cy="300225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Shape 23"/>
          <p:cNvSpPr/>
          <p:nvPr/>
        </p:nvSpPr>
        <p:spPr>
          <a:xfrm>
            <a:off x="1289050" y="4889500"/>
            <a:ext cx="355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4" name="Equation OMML" descr="="/>
              <p:cNvSpPr txBox="1"/>
              <p:nvPr/>
            </p:nvSpPr>
            <p:spPr>
              <a:xfrm>
                <a:off x="1676908" y="4670806"/>
                <a:ext cx="260604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168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18" descr="/home/ahmed/Projects/ai_llm_slides/videos/machine-learning/02_linear-regression-classification-MSSE/recreated_pptx/build/assets/eq019_lb19_eq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76908" y="4670806"/>
                <a:ext cx="260604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("/>
              <p:cNvSpPr txBox="1"/>
              <p:nvPr/>
            </p:nvSpPr>
            <p:spPr>
              <a:xfrm>
                <a:off x="1975358" y="4429633"/>
                <a:ext cx="184407" cy="5577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493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19" descr="/home/ahmed/Projects/ai_llm_slides/videos/machine-learning/02_linear-regression-classification-MSSE/recreated_pptx/build/assets/eq019_lb19_po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75358" y="4429633"/>
                <a:ext cx="184407" cy="5577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X"/>
              <p:cNvSpPr txBox="1"/>
              <p:nvPr/>
            </p:nvSpPr>
            <p:spPr>
              <a:xfrm>
                <a:off x="2146808" y="4511547"/>
                <a:ext cx="365760" cy="3520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947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20" descr="/home/ahmed/Projects/ai_llm_slides/videos/machine-learning/02_linear-regression-classification-MSSE/recreated_pptx/build/assets/eq019_lb19_X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46808" y="4511547"/>
                <a:ext cx="365760" cy="3520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7" name="Equation OMML" descr="N\times d"/>
              <p:cNvSpPr txBox="1"/>
              <p:nvPr/>
            </p:nvSpPr>
            <p:spPr>
              <a:xfrm>
                <a:off x="2483358" y="4799581"/>
                <a:ext cx="381003" cy="18440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68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N×d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7" name="Image 21" descr="/home/ahmed/Projects/ai_llm_slides/videos/machine-learning/02_linear-regression-classification-MSSE/recreated_pptx/build/assets/eq019_lb19_sub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83358" y="4799581"/>
                <a:ext cx="381003" cy="18440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8" name="Equation OMML" descr=")"/>
              <p:cNvSpPr txBox="1"/>
              <p:nvPr/>
            </p:nvSpPr>
            <p:spPr>
              <a:xfrm>
                <a:off x="2908808" y="4431794"/>
                <a:ext cx="178308" cy="54711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4812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22" descr="/home/ahmed/Projects/ai_llm_slides/videos/machine-learning/02_linear-regression-classification-MSSE/recreated_pptx/build/assets/eq019_lb19_pc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08808" y="4431794"/>
                <a:ext cx="178308" cy="54711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9" name="Equation OMML" descr="{-1}"/>
              <p:cNvSpPr txBox="1"/>
              <p:nvPr/>
            </p:nvSpPr>
            <p:spPr>
              <a:xfrm>
                <a:off x="3048508" y="4389631"/>
                <a:ext cx="355089" cy="24536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69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 xml:space="preserve">-1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9" name="Image 23" descr="/home/ahmed/Projects/ai_llm_slides/videos/machine-learning/02_linear-regression-classification-MSSE/recreated_pptx/build/assets/eq019_lb19_sup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48508" y="4389631"/>
                <a:ext cx="355089" cy="24536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0" name="Equation OMML" descr="Y"/>
              <p:cNvSpPr txBox="1"/>
              <p:nvPr/>
            </p:nvSpPr>
            <p:spPr>
              <a:xfrm>
                <a:off x="3442208" y="4552697"/>
                <a:ext cx="266703" cy="3108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44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0" name="Image 24" descr="/home/ahmed/Projects/ai_llm_slides/videos/machine-learning/02_linear-regression-classification-MSSE/recreated_pptx/build/assets/eq019_lb19_Y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42208" y="4552697"/>
                <a:ext cx="266703" cy="310896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Shape 24"/>
          <p:cNvSpPr/>
          <p:nvPr/>
        </p:nvSpPr>
        <p:spPr>
          <a:xfrm>
            <a:off x="3448050" y="4889500"/>
            <a:ext cx="241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2" name="Text 25"/>
          <p:cNvSpPr/>
          <p:nvPr/>
        </p:nvSpPr>
        <p:spPr>
          <a:xfrm>
            <a:off x="1311910" y="5173828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3200" dirty="0"/>
          </a:p>
        </p:txBody>
      </p:sp>
      <p:pic>
        <p:nvPicPr>
          <p:cNvPr id="53" name="Image 25" descr="/home/ahmed/Projects/ai_llm_slides/videos/machine-learning/02_linear-regression-classification-MSSE/recreated_pptx/build/assets/eq019_lb2s_N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00708" y="5489446"/>
            <a:ext cx="182880" cy="166119"/>
          </a:xfrm>
          <a:prstGeom prst="rect">
            <a:avLst/>
          </a:prstGeom>
        </p:spPr>
      </p:pic>
      <p:pic>
        <p:nvPicPr>
          <p:cNvPr id="54" name="Image 26" descr="/home/ahmed/Projects/ai_llm_slides/videos/machine-learning/02_linear-regression-classification-MSSE/recreated_pptx/build/assets/eq019_lb2s_x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65808" y="5530599"/>
            <a:ext cx="126489" cy="126489"/>
          </a:xfrm>
          <a:prstGeom prst="rect">
            <a:avLst/>
          </a:prstGeom>
        </p:spPr>
      </p:pic>
      <p:pic>
        <p:nvPicPr>
          <p:cNvPr id="55" name="Image 27" descr="/home/ahmed/Projects/ai_llm_slides/videos/machine-learning/02_linear-regression-classification-MSSE/recreated_pptx/build/assets/eq019_lb2s_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5508" y="5487923"/>
            <a:ext cx="131061" cy="164592"/>
          </a:xfrm>
          <a:prstGeom prst="rect">
            <a:avLst/>
          </a:prstGeom>
        </p:spPr>
      </p:pic>
      <p:sp>
        <p:nvSpPr>
          <p:cNvPr id="56" name="Text 26"/>
          <p:cNvSpPr/>
          <p:nvPr/>
        </p:nvSpPr>
        <p:spPr>
          <a:xfrm>
            <a:off x="2269490" y="5270703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120" kern="0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non-square matrix</a:t>
            </a:r>
            <a:endParaRPr lang="en-US" sz="2400" dirty="0"/>
          </a:p>
        </p:txBody>
      </p:sp>
      <p:sp>
        <p:nvSpPr>
          <p:cNvPr id="57" name="Text 27"/>
          <p:cNvSpPr/>
          <p:nvPr/>
        </p:nvSpPr>
        <p:spPr>
          <a:xfrm>
            <a:off x="1352550" y="5672950"/>
            <a:ext cx="292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Inverse</a:t>
            </a:r>
            <a:endParaRPr lang="en-US" sz="2100" dirty="0"/>
          </a:p>
        </p:txBody>
      </p:sp>
      <p:sp>
        <p:nvSpPr>
          <p:cNvPr id="58" name="Shape 28"/>
          <p:cNvSpPr/>
          <p:nvPr/>
        </p:nvSpPr>
        <p:spPr>
          <a:xfrm>
            <a:off x="4946650" y="5276850"/>
            <a:ext cx="723900" cy="723900"/>
          </a:xfrm>
          <a:prstGeom prst="ellipse">
            <a:avLst/>
          </a:prstGeom>
          <a:solidFill>
            <a:srgbClr val="F2DD49"/>
          </a:solidFill>
          <a:ln/>
        </p:spPr>
      </p:sp>
      <p:sp>
        <p:nvSpPr>
          <p:cNvPr id="59" name="Shape 29"/>
          <p:cNvSpPr/>
          <p:nvPr/>
        </p:nvSpPr>
        <p:spPr>
          <a:xfrm>
            <a:off x="5143500" y="5524500"/>
            <a:ext cx="69850" cy="698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30"/>
          <p:cNvSpPr/>
          <p:nvPr/>
        </p:nvSpPr>
        <p:spPr>
          <a:xfrm>
            <a:off x="5403850" y="5524500"/>
            <a:ext cx="69850" cy="698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31"/>
          <p:cNvSpPr/>
          <p:nvPr/>
        </p:nvSpPr>
        <p:spPr>
          <a:xfrm>
            <a:off x="5143500" y="5664200"/>
            <a:ext cx="330200" cy="330200"/>
          </a:xfrm>
          <a:prstGeom prst="arc">
            <a:avLst>
              <a:gd name="adj1" fmla="val 10800000"/>
              <a:gd name="adj2" fmla="val 21600000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612900"/>
            <a:ext cx="103632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0" y="1765300"/>
            <a:ext cx="2844800" cy="406400"/>
          </a:xfrm>
          <a:prstGeom prst="rect">
            <a:avLst/>
          </a:prstGeom>
          <a:solidFill>
            <a:srgbClr val="F4E7D4"/>
          </a:solidFill>
          <a:ln/>
        </p:spPr>
      </p:sp>
      <p:sp>
        <p:nvSpPr>
          <p:cNvPr id="7" name="Text 5"/>
          <p:cNvSpPr/>
          <p:nvPr/>
        </p:nvSpPr>
        <p:spPr>
          <a:xfrm>
            <a:off x="4876800" y="1739900"/>
            <a:ext cx="284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Sample with Label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89100" y="2984500"/>
            <a:ext cx="1701800" cy="749300"/>
          </a:xfrm>
          <a:prstGeom prst="rect">
            <a:avLst/>
          </a:prstGeom>
          <a:solidFill>
            <a:srgbClr val="098839"/>
          </a:solidFill>
          <a:ln/>
        </p:spPr>
      </p:sp>
      <p:sp>
        <p:nvSpPr>
          <p:cNvPr id="9" name="Text 7"/>
          <p:cNvSpPr/>
          <p:nvPr/>
        </p:nvSpPr>
        <p:spPr>
          <a:xfrm>
            <a:off x="1689100" y="2959100"/>
            <a:ext cx="17018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0" y="2603500"/>
            <a:ext cx="2438400" cy="1511300"/>
          </a:xfrm>
          <a:prstGeom prst="rect">
            <a:avLst/>
          </a:prstGeom>
          <a:solidFill>
            <a:srgbClr val="9F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603500"/>
            <a:ext cx="2438400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7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Model</a:t>
            </a:r>
            <a:endParaRPr lang="en-US" sz="17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85000" y="2870200"/>
            <a:ext cx="1333500" cy="977900"/>
          </a:xfrm>
          <a:prstGeom prst="rect">
            <a:avLst/>
          </a:prstGeom>
          <a:solidFill>
            <a:srgbClr val="DFFCFB"/>
          </a:solidFill>
          <a:ln/>
        </p:spPr>
      </p:sp>
      <p:sp>
        <p:nvSpPr>
          <p:cNvPr id="13" name="Text 11"/>
          <p:cNvSpPr/>
          <p:nvPr/>
        </p:nvSpPr>
        <p:spPr>
          <a:xfrm>
            <a:off x="6985000" y="2870200"/>
            <a:ext cx="13335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(Label)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77100" y="3244850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5700" y="2616200"/>
            <a:ext cx="457200" cy="1485900"/>
          </a:xfrm>
          <a:prstGeom prst="rect">
            <a:avLst/>
          </a:prstGeom>
          <a:solidFill>
            <a:srgbClr val="F6DEC6"/>
          </a:solidFill>
          <a:ln/>
        </p:spPr>
      </p:sp>
      <p:sp>
        <p:nvSpPr>
          <p:cNvPr id="16" name="Text 14"/>
          <p:cNvSpPr/>
          <p:nvPr/>
        </p:nvSpPr>
        <p:spPr>
          <a:xfrm>
            <a:off x="8807450" y="2616200"/>
            <a:ext cx="457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64700" y="3022600"/>
            <a:ext cx="1257300" cy="685800"/>
          </a:xfrm>
          <a:prstGeom prst="rect">
            <a:avLst/>
          </a:prstGeom>
          <a:solidFill>
            <a:srgbClr val="FAFFD6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3022600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Label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Sample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03600" y="3365500"/>
            <a:ext cx="5715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3975100" y="3289300"/>
            <a:ext cx="127000" cy="127000"/>
          </a:xfrm>
          <a:prstGeom prst="triangl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3200" y="3365500"/>
            <a:ext cx="2667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819900" y="3302000"/>
            <a:ext cx="101600" cy="114300"/>
          </a:xfrm>
          <a:prstGeom prst="triangl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9300" y="3365500"/>
            <a:ext cx="2540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8623300" y="3302000"/>
            <a:ext cx="114300" cy="114300"/>
          </a:xfrm>
          <a:prstGeom prst="triangl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3365500"/>
            <a:ext cx="2032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6200000">
            <a:off x="9245600" y="3302000"/>
            <a:ext cx="114300" cy="114300"/>
          </a:xfrm>
          <a:prstGeom prst="triangl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4200" y="2832100"/>
            <a:ext cx="1409700" cy="1016000"/>
          </a:xfrm>
          <a:prstGeom prst="rect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2946400"/>
            <a:ext cx="1346200" cy="825500"/>
          </a:xfrm>
          <a:prstGeom prst="rect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800600" y="1905000"/>
                </a:moveTo>
                <a:cubicBezTo>
                  <a:pt x="4084320" y="2033270"/>
                  <a:pt x="2602230" y="1911350"/>
                  <a:pt x="2527300" y="2959100"/>
                </a:cubicBezTo>
              </a:path>
            </a:pathLst>
          </a:cu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7734300" y="2159000"/>
                </a:moveTo>
                <a:cubicBezTo>
                  <a:pt x="7844790" y="1992630"/>
                  <a:pt x="10342880" y="1846580"/>
                  <a:pt x="10198100" y="2882900"/>
                </a:cubicBezTo>
              </a:path>
            </a:pathLst>
          </a:cu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2463800" y="2882900"/>
            <a:ext cx="114300" cy="127000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0800000">
            <a:off x="10147300" y="2806700"/>
            <a:ext cx="114300" cy="127000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70200" y="2311400"/>
            <a:ext cx="48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2997200" y="2806700"/>
            <a:ext cx="139700" cy="0"/>
          </a:xfrm>
          <a:prstGeom prst="line">
            <a:avLst/>
          </a:prstGeom>
          <a:noFill/>
          <a:ln w="1905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5" name="Equation OMML" descr="\hat{y}"/>
              <p:cNvSpPr txBox="1"/>
              <p:nvPr/>
            </p:nvSpPr>
            <p:spPr>
              <a:xfrm>
                <a:off x="7637780" y="2362200"/>
                <a:ext cx="268224" cy="4572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^"/>
                          <m:ctrlPr>
                            <a:rPr lang="en-US" i="1" smtClean="0" sz="16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16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0" descr="/home/ahmed/Projects/ai_llm_slides/videos/machine-learning/02_linear-regression-classification-MSSE/recreated_pptx/build/assets/eq_yhat_020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637780" y="2362200"/>
                <a:ext cx="268224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 33"/>
          <p:cNvSpPr/>
          <p:nvPr/>
        </p:nvSpPr>
        <p:spPr>
          <a:xfrm>
            <a:off x="10134600" y="2362200"/>
            <a:ext cx="43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895350" y="4476750"/>
            <a:ext cx="925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obtain model parameters by minimizing the </a:t>
            </a:r>
            <a:pPr algn="ctr" indent="0" marL="0">
              <a:buNone/>
            </a:pPr>
            <a:r>
              <a:rPr lang="en-US" sz="192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pPr algn="ctr" indent="0" marL="0">
              <a:buNone/>
            </a:pPr>
            <a:r>
              <a:rPr lang="en-US" sz="192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(Loss Function)</a:t>
            </a:r>
            <a:endParaRPr lang="en-US" sz="1920" dirty="0"/>
          </a:p>
        </p:txBody>
      </p:sp>
      <p:sp>
        <p:nvSpPr>
          <p:cNvPr id="38" name="Shape 35"/>
          <p:cNvSpPr/>
          <p:nvPr/>
        </p:nvSpPr>
        <p:spPr>
          <a:xfrm>
            <a:off x="1308100" y="5105400"/>
            <a:ext cx="9740900" cy="1384300"/>
          </a:xfrm>
          <a:prstGeom prst="rect">
            <a:avLst/>
          </a:prstGeom>
          <a:solidFill>
            <a:srgbClr val="FFFDE7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422400" y="5302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1422400" y="572770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three terms that are commonly used interchangeably </a:t>
            </a:r>
            <a:pPr algn="l" indent="0" marL="0">
              <a:buNone/>
            </a:pPr>
            <a:r>
              <a:rPr lang="en-US" sz="19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(though there is a difference)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1422400" y="611505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function , </a:t>
            </a:r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function, and </a:t>
            </a:r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function </a:t>
            </a:r>
            <a:endParaRPr lang="en-US" sz="1900" dirty="0"/>
          </a:p>
        </p:txBody>
      </p:sp>
      <p:sp>
        <p:nvSpPr>
          <p:cNvPr id="42" name="Text 39"/>
          <p:cNvSpPr/>
          <p:nvPr/>
        </p:nvSpPr>
        <p:spPr>
          <a:xfrm>
            <a:off x="7086600" y="6115050"/>
            <a:ext cx="2476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(to be discussed later)</a:t>
            </a:r>
            <a:endParaRPr lang="en-US" sz="1950" dirty="0"/>
          </a:p>
        </p:txBody>
      </p:sp>
      <p:sp>
        <p:nvSpPr>
          <p:cNvPr id="43" name="Text 40"/>
          <p:cNvSpPr/>
          <p:nvPr/>
        </p:nvSpPr>
        <p:spPr>
          <a:xfrm>
            <a:off x="9550400" y="6019800"/>
            <a:ext cx="88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762000" y="914400"/>
            <a:ext cx="1069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obtain the BEST model parameters </a:t>
            </a:r>
            <a:pPr algn="ctr" indent="0" marL="0">
              <a:buNone/>
            </a:pPr>
            <a:r>
              <a:rPr lang="en-US" sz="25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(W)</a:t>
            </a:r>
            <a:endParaRPr lang="en-US" sz="2550" dirty="0"/>
          </a:p>
        </p:txBody>
      </p:sp>
      <p:sp>
        <p:nvSpPr>
          <p:cNvPr id="45" name="Shape 42"/>
          <p:cNvSpPr/>
          <p:nvPr/>
        </p:nvSpPr>
        <p:spPr>
          <a:xfrm>
            <a:off x="9296400" y="1295400"/>
            <a:ext cx="342900" cy="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6900" y="336550"/>
            <a:ext cx="10655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 of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</a:t>
            </a:r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Function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16000" y="1270000"/>
            <a:ext cx="4483100" cy="175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179705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  </a:t>
            </a:r>
            <a:pPr algn="l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=</a:t>
            </a:r>
            <a:endParaRPr lang="en-US" sz="2000" dirty="0"/>
          </a:p>
        </p:txBody>
      </p:sp>
      <p:pic>
        <p:nvPicPr>
          <p:cNvPr id="8" name="Image 0" descr="/home/ahmed/Projects/ai_llm_slides/videos/machine-learning/02_linear-regression-classification-MSSE/recreated_pptx/build/assets/vec_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1397000"/>
            <a:ext cx="761997" cy="13456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40100" y="168275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Labels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895600" y="201295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Training Samples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803900" y="1270000"/>
            <a:ext cx="4495800" cy="175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67400" y="187325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  </a:t>
            </a:r>
            <a:pPr algn="l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=</a:t>
            </a:r>
            <a:endParaRPr lang="en-US" sz="2000" dirty="0"/>
          </a:p>
        </p:txBody>
      </p:sp>
      <p:pic>
        <p:nvPicPr>
          <p:cNvPr id="13" name="Image 1" descr="/home/ahmed/Projects/ai_llm_slides/videos/machine-learning/02_linear-regression-classification-MSSE/recreated_pptx/build/assets/vec_Y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1435100"/>
            <a:ext cx="736092" cy="138378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39100" y="17018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Labels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734300" y="211455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Model  </a:t>
            </a:r>
            <a:pPr algn="l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= </a:t>
            </a:r>
            <a:pPr algn="l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</a:t>
            </a:r>
            <a:pPr algn="l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1117600" y="3098800"/>
            <a:ext cx="2832100" cy="7239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43000" y="3124200"/>
            <a:ext cx="27813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spc="5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is </a:t>
            </a:r>
            <a:pPr algn="ctr" indent="0" marL="0">
              <a:buNone/>
            </a:pPr>
            <a:r>
              <a:rPr lang="en-US" sz="2100" b="1" u="sng" spc="5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pPr algn="ctr" indent="0" marL="0">
              <a:buNone/>
            </a:pPr>
            <a:r>
              <a:rPr lang="en-US" sz="2100" b="1" spc="5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pPr algn="ctr" indent="0" marL="0">
              <a:buNone/>
            </a:pPr>
            <a:r>
              <a:rPr lang="en-US" sz="2100" b="1" u="sng" spc="5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1117600" y="3810000"/>
            <a:ext cx="5194300" cy="8255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43000" y="3835400"/>
            <a:ext cx="51435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   </a:t>
            </a:r>
            <a:pPr algn="ctr" indent="0" marL="0">
              <a:buNone/>
            </a:pPr>
            <a:r>
              <a:rPr lang="en-US" sz="2000" b="1" u="sng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pPr algn="ctr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≠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</a:t>
            </a:r>
            <a:pPr algn="ctr" indent="0" marL="0">
              <a:buNone/>
            </a:pPr>
            <a:r>
              <a:rPr lang="en-US" sz="2000" b="1" u="sng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2000" b="1" spc="60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    ⇒  </a:t>
            </a:r>
            <a:pPr algn="ctr" indent="0" marL="0">
              <a:buNone/>
            </a:pPr>
            <a:r>
              <a:rPr lang="en-US" sz="2000" spc="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</a:t>
            </a:r>
            <a:pPr algn="ctr" indent="0" marL="0">
              <a:buNone/>
            </a:pPr>
            <a:r>
              <a:rPr lang="en-US" sz="2000" spc="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is</a:t>
            </a:r>
            <a:pPr algn="ctr" indent="0" marL="0">
              <a:buNone/>
            </a:pPr>
            <a:r>
              <a:rPr lang="en-US" sz="2000" spc="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an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</a:t>
            </a:r>
            <a:pPr algn="ctr" indent="0" marL="0">
              <a:buNone/>
            </a:pPr>
            <a:r>
              <a:rPr lang="en-US" sz="2000" b="1" i="1" spc="72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</a:t>
            </a:r>
            <a:pPr algn="ctr" indent="0" marL="0">
              <a:buNone/>
            </a:pPr>
            <a:r>
              <a:rPr lang="en-US" sz="2000" b="1" i="1" spc="50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(Loss)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1117600" y="4826000"/>
            <a:ext cx="7315200" cy="723900"/>
          </a:xfrm>
          <a:prstGeom prst="rect">
            <a:avLst/>
          </a:prstGeom>
          <a:solidFill>
            <a:srgbClr val="FCE4D6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43000" y="4851400"/>
            <a:ext cx="72390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   </a:t>
            </a:r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</a:t>
            </a:r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 function as   </a:t>
            </a:r>
            <a:pPr algn="l" indent="0" marL="0">
              <a:buNone/>
            </a:pPr>
            <a:r>
              <a:rPr lang="en-US" sz="21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squared distance</a:t>
            </a:r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between   </a:t>
            </a:r>
            <a:pPr algn="l" indent="0" marL="0">
              <a:buNone/>
            </a:pPr>
            <a:r>
              <a:rPr lang="en-US" sz="21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  and  </a:t>
            </a:r>
            <a:pPr algn="l" indent="0" marL="0">
              <a:buNone/>
            </a:pPr>
            <a:r>
              <a:rPr lang="en-US" sz="21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1117600" y="5791200"/>
            <a:ext cx="5194300" cy="7239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3" name="Equation OMML" descr="Loss"/>
              <p:cNvSpPr txBox="1"/>
              <p:nvPr/>
            </p:nvSpPr>
            <p:spPr>
              <a:xfrm>
                <a:off x="1308100" y="6006592"/>
                <a:ext cx="481587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3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Loss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" name="Image 2" descr="/home/ahmed/Projects/ai_llm_slides/videos/machine-learning/02_linear-regression-classification-MSSE/recreated_pptx/build/assets/eq_loss_head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8100" y="6006592"/>
                <a:ext cx="481587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" name="Equation OMML" descr="= \Vert Y - \hat{Y}\Vert_{2}\;=\;(Y - \hat{Y})^{T}\,(Y - \hat{Y})"/>
              <p:cNvSpPr txBox="1"/>
              <p:nvPr/>
            </p:nvSpPr>
            <p:spPr>
              <a:xfrm>
                <a:off x="1841500" y="5938011"/>
                <a:ext cx="3243075" cy="3337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8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=‖Y-</m:t>
                      </m:r>
                      <m:acc>
                        <m:accPr>
                          <m:chr m:val="^"/>
                          <m:ctrlP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sSub>
                        <m:sSubPr>
                          <m:ctrlP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‖</m:t>
                          </m:r>
                        </m:e>
                        <m:sub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178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 = (Y-</m:t>
                      </m:r>
                      <m:acc>
                        <m:accPr>
                          <m:chr m:val="^"/>
                          <m:ctrlP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sSup>
                        <m:sSupPr>
                          <m:ctrlP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178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(Y-</m:t>
                      </m:r>
                      <m:acc>
                        <m:accPr>
                          <m:chr m:val="^"/>
                          <m:ctrlP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178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r>
                        <a:rPr lang="en-US" i="1" smtClean="0" sz="178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3" descr="/home/ahmed/Projects/ai_llm_slides/videos/machine-learning/02_linear-regression-classification-MSSE/recreated_pptx/build/assets/eq_loss_body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1500" y="5938011"/>
                <a:ext cx="3243075" cy="33375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hape 19"/>
          <p:cNvSpPr/>
          <p:nvPr/>
        </p:nvSpPr>
        <p:spPr>
          <a:xfrm>
            <a:off x="9880600" y="4724400"/>
            <a:ext cx="1231900" cy="6604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906000" y="46609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27" name="Equation OMML" descr="\Vert a\Vert_{2} = a^{T}a"/>
              <p:cNvSpPr txBox="1"/>
              <p:nvPr/>
            </p:nvSpPr>
            <p:spPr>
              <a:xfrm>
                <a:off x="10033000" y="5076866"/>
                <a:ext cx="1069848" cy="2636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‖a</m:t>
                      </m:r>
                      <m:sSub>
                        <m:sSubPr>
                          <m:ctrlPr>
                            <a:rPr lang="en-US" i="1" smtClean="0" sz="19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‖</m:t>
                          </m:r>
                        </m:e>
                        <m:sub>
                          <m:r>
                            <a:rPr lang="en-US" i="1" smtClean="0" sz="19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19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p>
                        <m:sSupPr>
                          <m:ctrlPr>
                            <a:rPr lang="en-US" i="1" smtClean="0" sz="19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9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e>
                        <m:sup>
                          <m:r>
                            <a:rPr lang="en-US" i="1" smtClean="0" sz="19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19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7" name="Image 4" descr="/home/ahmed/Projects/ai_llm_slides/videos/machine-learning/02_linear-regression-classification-MSSE/recreated_pptx/build/assets/eq_remember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33000" y="5076866"/>
                <a:ext cx="1069848" cy="26364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08100" y="1562100"/>
            <a:ext cx="2540000" cy="26543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29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02200" y="1562100"/>
            <a:ext cx="2552700" cy="26543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29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1562100"/>
            <a:ext cx="2552700" cy="26543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29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86900" y="1714500"/>
            <a:ext cx="0" cy="2324100"/>
          </a:xfrm>
          <a:prstGeom prst="line">
            <a:avLst/>
          </a:prstGeom>
          <a:noFill/>
          <a:ln w="12700">
            <a:solidFill>
              <a:srgbClr val="E2CB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96500" y="1714500"/>
            <a:ext cx="0" cy="2324100"/>
          </a:xfrm>
          <a:prstGeom prst="line">
            <a:avLst/>
          </a:prstGeom>
          <a:noFill/>
          <a:ln w="12700">
            <a:solidFill>
              <a:srgbClr val="E2CB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4850" y="2616200"/>
            <a:ext cx="0" cy="115570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1917700" y="248285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12" name="Shape 10"/>
          <p:cNvSpPr/>
          <p:nvPr/>
        </p:nvSpPr>
        <p:spPr>
          <a:xfrm>
            <a:off x="2159000" y="3702050"/>
            <a:ext cx="469900" cy="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rot="5400000">
            <a:off x="2654300" y="364490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14" name="Shape 12"/>
          <p:cNvSpPr/>
          <p:nvPr/>
        </p:nvSpPr>
        <p:spPr>
          <a:xfrm>
            <a:off x="5429250" y="1930400"/>
            <a:ext cx="0" cy="127000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 flipV="1">
            <a:off x="5372100" y="321945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99100" y="3733800"/>
            <a:ext cx="571500" cy="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 rot="5400000">
            <a:off x="6083300" y="367665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8250" y="2540000"/>
            <a:ext cx="0" cy="49530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 flipV="1">
            <a:off x="8801100" y="305435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20" name="Shape 18"/>
          <p:cNvSpPr/>
          <p:nvPr/>
        </p:nvSpPr>
        <p:spPr>
          <a:xfrm>
            <a:off x="9975850" y="2781300"/>
            <a:ext cx="0" cy="96520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9918700" y="263525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09250" y="2476500"/>
            <a:ext cx="0" cy="55880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 flipV="1">
            <a:off x="10452100" y="305435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24" name="Shape 22"/>
          <p:cNvSpPr/>
          <p:nvPr/>
        </p:nvSpPr>
        <p:spPr>
          <a:xfrm>
            <a:off x="8712200" y="3803650"/>
            <a:ext cx="571500" cy="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 rot="5400000">
            <a:off x="9290050" y="374650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26" name="Shape 24"/>
          <p:cNvSpPr/>
          <p:nvPr/>
        </p:nvSpPr>
        <p:spPr>
          <a:xfrm>
            <a:off x="9461500" y="3803650"/>
            <a:ext cx="469900" cy="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 rot="5400000">
            <a:off x="9937750" y="374650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0" y="3803650"/>
            <a:ext cx="622300" cy="0"/>
          </a:xfrm>
          <a:prstGeom prst="line">
            <a:avLst/>
          </a:prstGeom>
          <a:noFill/>
          <a:ln w="12700">
            <a:solidFill>
              <a:srgbClr val="9DBE85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 rot="5400000">
            <a:off x="10788650" y="3746500"/>
            <a:ext cx="114300" cy="114300"/>
          </a:xfrm>
          <a:prstGeom prst="triangle">
            <a:avLst/>
          </a:prstGeom>
          <a:solidFill>
            <a:srgbClr val="45771D"/>
          </a:solidFill>
          <a:ln/>
        </p:spPr>
      </p:sp>
      <p:pic>
        <p:nvPicPr>
          <p:cNvPr id="30" name="Image 0" descr="/home/ahmed/Projects/ai_llm_slides/videos/machine-learning/02_linear-regression-classification-MSSE/recreated_pptx/build/assets/slide022_p1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1562100"/>
            <a:ext cx="2540000" cy="2654300"/>
          </a:xfrm>
          <a:prstGeom prst="rect">
            <a:avLst/>
          </a:prstGeom>
        </p:spPr>
      </p:pic>
      <p:pic>
        <p:nvPicPr>
          <p:cNvPr id="31" name="Image 1" descr="/home/ahmed/Projects/ai_llm_slides/videos/machine-learning/02_linear-regression-classification-MSSE/recreated_pptx/build/assets/slide022_p2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1562100"/>
            <a:ext cx="2552700" cy="2654300"/>
          </a:xfrm>
          <a:prstGeom prst="rect">
            <a:avLst/>
          </a:prstGeom>
        </p:spPr>
      </p:pic>
      <p:pic>
        <p:nvPicPr>
          <p:cNvPr id="32" name="Image 2" descr="/home/ahmed/Projects/ai_llm_slides/videos/machine-learning/02_linear-regression-classification-MSSE/recreated_pptx/build/assets/slide022_p3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562100"/>
            <a:ext cx="2552700" cy="265430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1511300" y="1803400"/>
            <a:ext cx="0" cy="20955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511300" y="3905250"/>
            <a:ext cx="20447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454150" y="1689100"/>
            <a:ext cx="1143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6" name="Shape 31"/>
          <p:cNvSpPr/>
          <p:nvPr/>
        </p:nvSpPr>
        <p:spPr>
          <a:xfrm rot="5400000">
            <a:off x="3556000" y="3848100"/>
            <a:ext cx="1143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" name="Text 32"/>
          <p:cNvSpPr/>
          <p:nvPr/>
        </p:nvSpPr>
        <p:spPr>
          <a:xfrm>
            <a:off x="1574800" y="17526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3327400" y="3949700"/>
            <a:ext cx="3429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5130800" y="1828800"/>
            <a:ext cx="0" cy="20955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130800" y="3930650"/>
            <a:ext cx="19939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073650" y="1714500"/>
            <a:ext cx="1143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2" name="Shape 37"/>
          <p:cNvSpPr/>
          <p:nvPr/>
        </p:nvSpPr>
        <p:spPr>
          <a:xfrm rot="5400000">
            <a:off x="7124700" y="3873500"/>
            <a:ext cx="1143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3" name="Text 38"/>
          <p:cNvSpPr/>
          <p:nvPr/>
        </p:nvSpPr>
        <p:spPr>
          <a:xfrm>
            <a:off x="5207000" y="17526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858000" y="3949700"/>
            <a:ext cx="3429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8661400" y="1841500"/>
            <a:ext cx="0" cy="2108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661400" y="3956050"/>
            <a:ext cx="20066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604250" y="1727200"/>
            <a:ext cx="1143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8" name="Shape 43"/>
          <p:cNvSpPr/>
          <p:nvPr/>
        </p:nvSpPr>
        <p:spPr>
          <a:xfrm rot="5400000">
            <a:off x="10674350" y="3898900"/>
            <a:ext cx="1143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9" name="Text 44"/>
          <p:cNvSpPr/>
          <p:nvPr/>
        </p:nvSpPr>
        <p:spPr>
          <a:xfrm>
            <a:off x="8737600" y="17907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10439400" y="3937000"/>
            <a:ext cx="3429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I/P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2203450" y="60960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Functions</a:t>
            </a:r>
            <a:endParaRPr lang="en-US" sz="3000" dirty="0"/>
          </a:p>
        </p:txBody>
      </p:sp>
      <p:sp>
        <p:nvSpPr>
          <p:cNvPr id="52" name="Text 47"/>
          <p:cNvSpPr/>
          <p:nvPr/>
        </p:nvSpPr>
        <p:spPr>
          <a:xfrm>
            <a:off x="1377950" y="4483100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Monotonically</a:t>
            </a:r>
            <a:endParaRPr lang="en-US" sz="22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</a:t>
            </a:r>
            <a:endParaRPr lang="en-US" sz="2200" dirty="0"/>
          </a:p>
        </p:txBody>
      </p:sp>
      <p:sp>
        <p:nvSpPr>
          <p:cNvPr id="53" name="Text 48"/>
          <p:cNvSpPr/>
          <p:nvPr/>
        </p:nvSpPr>
        <p:spPr>
          <a:xfrm>
            <a:off x="5092700" y="4483100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Monotonically</a:t>
            </a:r>
            <a:endParaRPr lang="en-US" sz="22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</a:t>
            </a:r>
            <a:endParaRPr lang="en-US" sz="2200" dirty="0"/>
          </a:p>
        </p:txBody>
      </p:sp>
      <p:sp>
        <p:nvSpPr>
          <p:cNvPr id="54" name="Text 49"/>
          <p:cNvSpPr/>
          <p:nvPr/>
        </p:nvSpPr>
        <p:spPr>
          <a:xfrm>
            <a:off x="8775700" y="4483100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22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</a:t>
            </a:r>
            <a:endParaRPr lang="en-US" sz="2200" dirty="0"/>
          </a:p>
        </p:txBody>
      </p:sp>
      <p:sp>
        <p:nvSpPr>
          <p:cNvPr id="55" name="Shape 50"/>
          <p:cNvSpPr/>
          <p:nvPr/>
        </p:nvSpPr>
        <p:spPr>
          <a:xfrm>
            <a:off x="1498600" y="5422900"/>
            <a:ext cx="9461500" cy="965200"/>
          </a:xfrm>
          <a:prstGeom prst="rect">
            <a:avLst/>
          </a:prstGeom>
          <a:solidFill>
            <a:srgbClr val="FAFCE7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1612900" y="5461000"/>
            <a:ext cx="901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900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Monotonically </a:t>
            </a:r>
            <a:pPr algn="l" indent="0" marL="0">
              <a:lnSpc>
                <a:spcPts val="3300"/>
              </a:lnSpc>
              <a:buNone/>
            </a:pPr>
            <a:r>
              <a:rPr lang="en-US" sz="1900" b="1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</a:t>
            </a:r>
            <a:pPr algn="l" indent="0" marL="0">
              <a:lnSpc>
                <a:spcPts val="3300"/>
              </a:lnSpc>
              <a:buNone/>
            </a:pPr>
            <a:r>
              <a:rPr lang="en-US" sz="1900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function:  When Input </a:t>
            </a:r>
            <a:pPr algn="l" indent="0" marL="0">
              <a:lnSpc>
                <a:spcPts val="3300"/>
              </a:lnSpc>
              <a:buNone/>
            </a:pPr>
            <a:r>
              <a:rPr lang="en-US" sz="1900" b="1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increases</a:t>
            </a:r>
            <a:pPr algn="l" indent="0" marL="0">
              <a:lnSpc>
                <a:spcPts val="3300"/>
              </a:lnSpc>
              <a:buNone/>
            </a:pPr>
            <a:r>
              <a:rPr lang="en-US" sz="1900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Output </a:t>
            </a:r>
            <a:pPr algn="l" indent="0" marL="0">
              <a:lnSpc>
                <a:spcPts val="3300"/>
              </a:lnSpc>
              <a:buNone/>
            </a:pPr>
            <a:r>
              <a:rPr lang="en-US" sz="1900" b="1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increases</a:t>
            </a:r>
            <a:pPr algn="l" indent="0" marL="0">
              <a:lnSpc>
                <a:spcPts val="3300"/>
              </a:lnSpc>
              <a:buNone/>
            </a:pPr>
            <a:endParaRPr lang="en-US" sz="19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900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Monotonically </a:t>
            </a:r>
            <a:pPr algn="l" indent="0" marL="0">
              <a:lnSpc>
                <a:spcPts val="3300"/>
              </a:lnSpc>
              <a:buNone/>
            </a:pPr>
            <a:r>
              <a:rPr lang="en-US" sz="1900" b="1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decrease</a:t>
            </a:r>
            <a:pPr algn="l" indent="0" marL="0">
              <a:lnSpc>
                <a:spcPts val="3300"/>
              </a:lnSpc>
              <a:buNone/>
            </a:pPr>
            <a:r>
              <a:rPr lang="en-US" sz="1900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function:  When Input </a:t>
            </a:r>
            <a:pPr algn="l" indent="0" marL="0">
              <a:lnSpc>
                <a:spcPts val="3300"/>
              </a:lnSpc>
              <a:buNone/>
            </a:pPr>
            <a:r>
              <a:rPr lang="en-US" sz="1900" b="1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increases</a:t>
            </a:r>
            <a:pPr algn="l" indent="0" marL="0">
              <a:lnSpc>
                <a:spcPts val="3300"/>
              </a:lnSpc>
              <a:buNone/>
            </a:pPr>
            <a:r>
              <a:rPr lang="en-US" sz="1900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Output </a:t>
            </a:r>
            <a:pPr algn="l" indent="0" marL="0">
              <a:lnSpc>
                <a:spcPts val="3300"/>
              </a:lnSpc>
              <a:buNone/>
            </a:pPr>
            <a:r>
              <a:rPr lang="en-US" sz="1900" b="1" dirty="0">
                <a:solidFill>
                  <a:srgbClr val="26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decreases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7100" y="762000"/>
            <a:ext cx="10655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Monotonically increase  Functions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27200" y="1676400"/>
            <a:ext cx="250825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8D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392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712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2031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351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4670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309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629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948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268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587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9900" y="219138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9900" y="236093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9900" y="253047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9900" y="270002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9900" y="286956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9900" y="303911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9900" y="320865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9900" y="354774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9900" y="371729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9900" y="388683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9900" y="1981200"/>
            <a:ext cx="0" cy="19177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044700" y="3378200"/>
            <a:ext cx="19304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2247900" y="2895600"/>
            <a:ext cx="1663700" cy="863600"/>
          </a:xfrm>
          <a:prstGeom prst="line">
            <a:avLst/>
          </a:prstGeom>
          <a:noFill/>
          <a:ln w="19050">
            <a:solidFill>
              <a:srgbClr val="6A5E8C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43250" y="3267710"/>
            <a:ext cx="50800" cy="50800"/>
          </a:xfrm>
          <a:prstGeom prst="ellipse">
            <a:avLst/>
          </a:prstGeom>
          <a:solidFill>
            <a:srgbClr val="D89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7280" y="3013710"/>
            <a:ext cx="50800" cy="50800"/>
          </a:xfrm>
          <a:prstGeom prst="ellipse">
            <a:avLst/>
          </a:prstGeom>
          <a:solidFill>
            <a:srgbClr val="D89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3105150" y="2641600"/>
            <a:ext cx="0" cy="96520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105150" y="3606800"/>
            <a:ext cx="603250" cy="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060700" y="251460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p:sp>
        <p:nvSpPr>
          <p:cNvPr id="35" name="Shape 33"/>
          <p:cNvSpPr/>
          <p:nvPr/>
        </p:nvSpPr>
        <p:spPr>
          <a:xfrm rot="5400000">
            <a:off x="3714750" y="354330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mc:AlternateContent>
        <mc:Choice xmlns:a14="http://schemas.microsoft.com/office/drawing/2010/main" Requires="a14">
          <p:sp>
            <p:nvSpPr>
              <p:cNvPr id="36" name="Equation OMML" descr="y=\frac{1}{2}x"/>
              <p:cNvSpPr txBox="1"/>
              <p:nvPr/>
            </p:nvSpPr>
            <p:spPr>
              <a:xfrm>
                <a:off x="3239008" y="2324608"/>
                <a:ext cx="536448" cy="3825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  <m:f>
                        <m:fPr>
                          <m:ctrlPr>
                            <a:rPr lang="en-US" i="1" smtClean="0" sz="126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26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260">
                              <a:solidFill>
                                <a:srgbClr val="8B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  <m:r>
                        <a:rPr lang="en-US" i="1" smtClean="0" sz="1260">
                          <a:solidFill>
                            <a:srgbClr val="8B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0" descr="/home/ahmed/Projects/ai_llm_slides/videos/machine-learning/02_linear-regression-classification-MSSE/recreated_pptx/build/assets/slide023_eq_left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239008" y="2324608"/>
                <a:ext cx="536448" cy="382524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Shape 34"/>
          <p:cNvSpPr/>
          <p:nvPr/>
        </p:nvSpPr>
        <p:spPr>
          <a:xfrm>
            <a:off x="4762500" y="1676400"/>
            <a:ext cx="243205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8D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2442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27621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5211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2800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0390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7979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5569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3158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0748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8337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927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3516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75200" y="1860575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775200" y="2042605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75200" y="2224634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775200" y="2406663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75200" y="2588692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775200" y="2770721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775200" y="3134779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775200" y="3316808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75200" y="3498837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775200" y="3680866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75200" y="3862896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775200" y="4044925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105400" y="1708150"/>
            <a:ext cx="0" cy="24892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4768850" y="2952750"/>
            <a:ext cx="241935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4" name="Text 61"/>
          <p:cNvSpPr/>
          <p:nvPr/>
        </p:nvSpPr>
        <p:spPr>
          <a:xfrm>
            <a:off x="4908550" y="17716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4908550" y="19532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4908550" y="21361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908550" y="23177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908550" y="24993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4908550" y="26822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4876800" y="30454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6800" y="32283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4876800" y="34099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4876800" y="35915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4876800" y="37744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4876800" y="39560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7625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51562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53276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54991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56769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58483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0198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61976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63690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65405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67246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68897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5048250" y="17589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6997700" y="2844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pic>
        <p:nvPicPr>
          <p:cNvPr id="90" name="Image 1" descr="/home/ahmed/Projects/ai_llm_slides/videos/machine-learning/02_linear-regression-classification-MSSE/recreated_pptx/build/assets/slide023_curve_lo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701800"/>
            <a:ext cx="2424684" cy="2500884"/>
          </a:xfrm>
          <a:prstGeom prst="rect">
            <a:avLst/>
          </a:prstGeom>
        </p:spPr>
      </p:pic>
      <p:sp>
        <p:nvSpPr>
          <p:cNvPr id="91" name="Shape 87"/>
          <p:cNvSpPr/>
          <p:nvPr/>
        </p:nvSpPr>
        <p:spPr>
          <a:xfrm>
            <a:off x="5340350" y="2209800"/>
            <a:ext cx="0" cy="99060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92" name="Shape 88"/>
          <p:cNvSpPr/>
          <p:nvPr/>
        </p:nvSpPr>
        <p:spPr>
          <a:xfrm>
            <a:off x="5340350" y="3200400"/>
            <a:ext cx="590550" cy="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93" name="Shape 89"/>
          <p:cNvSpPr/>
          <p:nvPr/>
        </p:nvSpPr>
        <p:spPr>
          <a:xfrm>
            <a:off x="5289550" y="2095500"/>
            <a:ext cx="101600" cy="114300"/>
          </a:xfrm>
          <a:prstGeom prst="triangle">
            <a:avLst/>
          </a:prstGeom>
          <a:solidFill>
            <a:srgbClr val="228B22"/>
          </a:solidFill>
          <a:ln/>
        </p:spPr>
      </p:sp>
      <p:sp>
        <p:nvSpPr>
          <p:cNvPr id="94" name="Shape 90"/>
          <p:cNvSpPr/>
          <p:nvPr/>
        </p:nvSpPr>
        <p:spPr>
          <a:xfrm rot="5400000">
            <a:off x="5943600" y="313055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mc:AlternateContent>
        <mc:Choice xmlns:a14="http://schemas.microsoft.com/office/drawing/2010/main" Requires="a14">
          <p:sp>
            <p:nvSpPr>
              <p:cNvPr id="95" name="Equation OMML" descr="y=\log_2(x)"/>
              <p:cNvSpPr txBox="1"/>
              <p:nvPr/>
            </p:nvSpPr>
            <p:spPr>
              <a:xfrm>
                <a:off x="6477508" y="2099818"/>
                <a:ext cx="635508" cy="1371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9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  <m:sSub>
                        <m:sSubPr>
                          <m:ctrlPr>
                            <a:rPr lang="en-US" i="1" smtClean="0" sz="909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 sz="909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log</m:t>
                          </m:r>
                        </m:e>
                        <m:sub>
                          <m:r>
                            <a:rPr lang="en-US" i="1" smtClean="0" sz="909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909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2" descr="/home/ahmed/Projects/ai_llm_slides/videos/machine-learning/02_linear-regression-classification-MSSE/recreated_pptx/build/assets/slide023_eq_center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7508" y="2099818"/>
                <a:ext cx="635508" cy="137160"/>
              </a:xfrm>
              <a:prstGeom prst="rect">
                <a:avLst/>
              </a:prstGeom>
            </p:spPr>
          </p:pic>
        </mc:Fallback>
      </mc:AlternateContent>
      <p:sp>
        <p:nvSpPr>
          <p:cNvPr id="96" name="Shape 91"/>
          <p:cNvSpPr/>
          <p:nvPr/>
        </p:nvSpPr>
        <p:spPr>
          <a:xfrm>
            <a:off x="7747000" y="1676400"/>
            <a:ext cx="34925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8DB2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810545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821372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832199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843026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53852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864679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75506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86333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7159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07986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18813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29640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940466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951293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962120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972947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983773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994600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1005427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1016254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1027080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37907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8734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1059561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1070387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1081214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1092041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1102868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1113694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7759700" y="179070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7759700" y="192659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7759700" y="206248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7759700" y="219837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7759700" y="233426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7759700" y="247015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7759700" y="260604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7759700" y="274193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7759700" y="287782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7759700" y="314960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7759700" y="328549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7759700" y="342138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7759700" y="355727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7759700" y="369316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7759700" y="382905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7759700" y="396494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7759700" y="410083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7772400" y="3014980"/>
            <a:ext cx="34417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8001000" y="1930400"/>
            <a:ext cx="0" cy="219710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  <a:headEnd type="triangle"/>
            <a:tailEnd type="triangle"/>
          </a:ln>
        </p:spPr>
      </p:sp>
      <p:sp>
        <p:nvSpPr>
          <p:cNvPr id="145" name="Text 140"/>
          <p:cNvSpPr/>
          <p:nvPr/>
        </p:nvSpPr>
        <p:spPr>
          <a:xfrm>
            <a:off x="82994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6" name="Text 141"/>
          <p:cNvSpPr/>
          <p:nvPr/>
        </p:nvSpPr>
        <p:spPr>
          <a:xfrm>
            <a:off x="87312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47" name="Text 142"/>
          <p:cNvSpPr/>
          <p:nvPr/>
        </p:nvSpPr>
        <p:spPr>
          <a:xfrm>
            <a:off x="91630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48" name="Text 143"/>
          <p:cNvSpPr/>
          <p:nvPr/>
        </p:nvSpPr>
        <p:spPr>
          <a:xfrm>
            <a:off x="95948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49" name="Text 144"/>
          <p:cNvSpPr/>
          <p:nvPr/>
        </p:nvSpPr>
        <p:spPr>
          <a:xfrm>
            <a:off x="1003300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50" name="Text 145"/>
          <p:cNvSpPr/>
          <p:nvPr/>
        </p:nvSpPr>
        <p:spPr>
          <a:xfrm>
            <a:off x="1046480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51" name="Text 146"/>
          <p:cNvSpPr/>
          <p:nvPr/>
        </p:nvSpPr>
        <p:spPr>
          <a:xfrm>
            <a:off x="1089660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52" name="Text 147"/>
          <p:cNvSpPr/>
          <p:nvPr/>
        </p:nvSpPr>
        <p:spPr>
          <a:xfrm>
            <a:off x="7823200" y="24066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53" name="Text 148"/>
          <p:cNvSpPr/>
          <p:nvPr/>
        </p:nvSpPr>
        <p:spPr>
          <a:xfrm>
            <a:off x="7823200" y="3479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700" dirty="0"/>
          </a:p>
        </p:txBody>
      </p:sp>
      <p:pic>
        <p:nvPicPr>
          <p:cNvPr id="154" name="Image 3" descr="/home/ahmed/Projects/ai_llm_slides/videos/machine-learning/02_linear-regression-classification-MSSE/recreated_pptx/build/assets/slide023_curve_l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700" y="1701800"/>
            <a:ext cx="3467100" cy="2500884"/>
          </a:xfrm>
          <a:prstGeom prst="rect">
            <a:avLst/>
          </a:prstGeom>
        </p:spPr>
      </p:pic>
      <p:sp>
        <p:nvSpPr>
          <p:cNvPr id="155" name="Shape 149"/>
          <p:cNvSpPr/>
          <p:nvPr/>
        </p:nvSpPr>
        <p:spPr>
          <a:xfrm>
            <a:off x="8343900" y="2247900"/>
            <a:ext cx="0" cy="97790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156" name="Shape 150"/>
          <p:cNvSpPr/>
          <p:nvPr/>
        </p:nvSpPr>
        <p:spPr>
          <a:xfrm>
            <a:off x="8343900" y="3225800"/>
            <a:ext cx="571500" cy="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157" name="Shape 151"/>
          <p:cNvSpPr/>
          <p:nvPr/>
        </p:nvSpPr>
        <p:spPr>
          <a:xfrm>
            <a:off x="8302625" y="2133600"/>
            <a:ext cx="82550" cy="114300"/>
          </a:xfrm>
          <a:prstGeom prst="triangle">
            <a:avLst/>
          </a:prstGeom>
          <a:solidFill>
            <a:srgbClr val="228B22"/>
          </a:solidFill>
          <a:ln/>
        </p:spPr>
      </p:sp>
      <p:sp>
        <p:nvSpPr>
          <p:cNvPr id="158" name="Shape 152"/>
          <p:cNvSpPr/>
          <p:nvPr/>
        </p:nvSpPr>
        <p:spPr>
          <a:xfrm rot="5400000">
            <a:off x="8947150" y="316865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mc:AlternateContent>
        <mc:Choice xmlns:a14="http://schemas.microsoft.com/office/drawing/2010/main" Requires="a14">
          <p:sp>
            <p:nvSpPr>
              <p:cNvPr id="159" name="Equation OMML" descr="f(x)=\ln(x)"/>
              <p:cNvSpPr txBox="1"/>
              <p:nvPr/>
            </p:nvSpPr>
            <p:spPr>
              <a:xfrm>
                <a:off x="8827008" y="2146808"/>
                <a:ext cx="1103376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72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f(x)=</m:t>
                      </m:r>
                      <m:r>
                        <m:rPr>
                          <m:sty m:val="p"/>
                        </m:rPr>
                        <a:rPr lang="en-US" i="0" smtClean="0" sz="1672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ln</m:t>
                      </m:r>
                      <m:r>
                        <a:rPr lang="en-US" i="1" smtClean="0" sz="1672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9" name="Image 4" descr="/home/ahmed/Projects/ai_llm_slides/videos/machine-learning/02_linear-regression-classification-MSSE/recreated_pptx/build/assets/slide023_eq_right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7008" y="2146808"/>
                <a:ext cx="1103376" cy="21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7100" y="762000"/>
            <a:ext cx="10655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Monotonically increase  Functions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27200" y="1676400"/>
            <a:ext cx="250825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8D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392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712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2031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351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4670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309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629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948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268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587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9900" y="219138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9900" y="236093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9900" y="253047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9900" y="270002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9900" y="286956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9900" y="303911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9900" y="320865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9900" y="354774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9900" y="3717290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9900" y="3886835"/>
            <a:ext cx="24765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9900" y="1981200"/>
            <a:ext cx="0" cy="19177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044700" y="3378200"/>
            <a:ext cx="19304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2247900" y="2895600"/>
            <a:ext cx="1663700" cy="863600"/>
          </a:xfrm>
          <a:prstGeom prst="line">
            <a:avLst/>
          </a:prstGeom>
          <a:noFill/>
          <a:ln w="19050">
            <a:solidFill>
              <a:srgbClr val="6A5E8C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43250" y="3267710"/>
            <a:ext cx="50800" cy="50800"/>
          </a:xfrm>
          <a:prstGeom prst="ellipse">
            <a:avLst/>
          </a:prstGeom>
          <a:solidFill>
            <a:srgbClr val="D89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7280" y="3013710"/>
            <a:ext cx="50800" cy="50800"/>
          </a:xfrm>
          <a:prstGeom prst="ellipse">
            <a:avLst/>
          </a:prstGeom>
          <a:solidFill>
            <a:srgbClr val="D89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3105150" y="2641600"/>
            <a:ext cx="0" cy="96520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105150" y="3606800"/>
            <a:ext cx="603250" cy="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060700" y="251460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p:sp>
        <p:nvSpPr>
          <p:cNvPr id="35" name="Shape 33"/>
          <p:cNvSpPr/>
          <p:nvPr/>
        </p:nvSpPr>
        <p:spPr>
          <a:xfrm rot="5400000">
            <a:off x="3714750" y="354330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p:pic>
        <p:nvPicPr>
          <p:cNvPr id="36" name="Image 0" descr="/home/ahmed/Projects/ai_llm_slides/videos/machine-learning/02_linear-regression-classification-MSSE/recreated_pptx/build/assets/slide023_eq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008" y="2324608"/>
            <a:ext cx="536448" cy="382524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4762500" y="1676400"/>
            <a:ext cx="243205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8D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2442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27621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5211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2800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0390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7979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5569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3158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0748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8337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927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3516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75200" y="1860575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775200" y="2042605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75200" y="2224634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775200" y="2406663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75200" y="2588692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775200" y="2770721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775200" y="3134779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775200" y="3316808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75200" y="3498837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775200" y="3680866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75200" y="3862896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775200" y="4044925"/>
            <a:ext cx="24130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105400" y="1708150"/>
            <a:ext cx="0" cy="24892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4768850" y="2952750"/>
            <a:ext cx="241935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4" name="Text 61"/>
          <p:cNvSpPr/>
          <p:nvPr/>
        </p:nvSpPr>
        <p:spPr>
          <a:xfrm>
            <a:off x="4908550" y="17716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4908550" y="19532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4908550" y="21361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908550" y="23177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908550" y="24993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4908550" y="26822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4876800" y="30454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6800" y="32283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4876800" y="34099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4876800" y="359156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4876800" y="377444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4876800" y="39560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7625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51562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53276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54991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56769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58483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0198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61976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63690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654050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67246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6889750" y="29464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5048250" y="17589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6997700" y="2844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pic>
        <p:nvPicPr>
          <p:cNvPr id="90" name="Image 1" descr="/home/ahmed/Projects/ai_llm_slides/videos/machine-learning/02_linear-regression-classification-MSSE/recreated_pptx/build/assets/slide023_curve_lo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701800"/>
            <a:ext cx="2424684" cy="2500884"/>
          </a:xfrm>
          <a:prstGeom prst="rect">
            <a:avLst/>
          </a:prstGeom>
        </p:spPr>
      </p:pic>
      <p:sp>
        <p:nvSpPr>
          <p:cNvPr id="91" name="Shape 87"/>
          <p:cNvSpPr/>
          <p:nvPr/>
        </p:nvSpPr>
        <p:spPr>
          <a:xfrm>
            <a:off x="5340350" y="2209800"/>
            <a:ext cx="0" cy="99060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92" name="Shape 88"/>
          <p:cNvSpPr/>
          <p:nvPr/>
        </p:nvSpPr>
        <p:spPr>
          <a:xfrm>
            <a:off x="5340350" y="3200400"/>
            <a:ext cx="590550" cy="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93" name="Shape 89"/>
          <p:cNvSpPr/>
          <p:nvPr/>
        </p:nvSpPr>
        <p:spPr>
          <a:xfrm>
            <a:off x="5289550" y="2095500"/>
            <a:ext cx="101600" cy="114300"/>
          </a:xfrm>
          <a:prstGeom prst="triangle">
            <a:avLst/>
          </a:prstGeom>
          <a:solidFill>
            <a:srgbClr val="228B22"/>
          </a:solidFill>
          <a:ln/>
        </p:spPr>
      </p:sp>
      <p:sp>
        <p:nvSpPr>
          <p:cNvPr id="94" name="Shape 90"/>
          <p:cNvSpPr/>
          <p:nvPr/>
        </p:nvSpPr>
        <p:spPr>
          <a:xfrm rot="5400000">
            <a:off x="5943600" y="313055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p:pic>
        <p:nvPicPr>
          <p:cNvPr id="95" name="Image 2" descr="/home/ahmed/Projects/ai_llm_slides/videos/machine-learning/02_linear-regression-classification-MSSE/recreated_pptx/build/assets/slide023_eq_cen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508" y="2099818"/>
            <a:ext cx="635508" cy="137160"/>
          </a:xfrm>
          <a:prstGeom prst="rect">
            <a:avLst/>
          </a:prstGeom>
        </p:spPr>
      </p:pic>
      <p:sp>
        <p:nvSpPr>
          <p:cNvPr id="96" name="Shape 91"/>
          <p:cNvSpPr/>
          <p:nvPr/>
        </p:nvSpPr>
        <p:spPr>
          <a:xfrm>
            <a:off x="7747000" y="1676400"/>
            <a:ext cx="34925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8DB2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810545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821372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832199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843026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53852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864679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75506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86333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7159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07986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18813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29640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940466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951293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962120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972947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983773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994600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1005427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1016254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1027080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37907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8734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1059561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1070387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10812145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10920413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11028680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11136948" y="1701800"/>
            <a:ext cx="0" cy="25019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7759700" y="179070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7759700" y="192659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7759700" y="206248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7759700" y="219837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7759700" y="233426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7759700" y="247015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7759700" y="260604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7759700" y="274193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7759700" y="287782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7759700" y="314960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7759700" y="328549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7759700" y="342138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7759700" y="355727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7759700" y="369316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7759700" y="382905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7759700" y="396494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7759700" y="4100830"/>
            <a:ext cx="34671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7772400" y="3014980"/>
            <a:ext cx="34417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8001000" y="1930400"/>
            <a:ext cx="0" cy="219710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  <a:headEnd type="triangle"/>
            <a:tailEnd type="triangle"/>
          </a:ln>
        </p:spPr>
      </p:sp>
      <p:sp>
        <p:nvSpPr>
          <p:cNvPr id="145" name="Text 140"/>
          <p:cNvSpPr/>
          <p:nvPr/>
        </p:nvSpPr>
        <p:spPr>
          <a:xfrm>
            <a:off x="82994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6" name="Text 141"/>
          <p:cNvSpPr/>
          <p:nvPr/>
        </p:nvSpPr>
        <p:spPr>
          <a:xfrm>
            <a:off x="87312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47" name="Text 142"/>
          <p:cNvSpPr/>
          <p:nvPr/>
        </p:nvSpPr>
        <p:spPr>
          <a:xfrm>
            <a:off x="91630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48" name="Text 143"/>
          <p:cNvSpPr/>
          <p:nvPr/>
        </p:nvSpPr>
        <p:spPr>
          <a:xfrm>
            <a:off x="959485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49" name="Text 144"/>
          <p:cNvSpPr/>
          <p:nvPr/>
        </p:nvSpPr>
        <p:spPr>
          <a:xfrm>
            <a:off x="1003300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50" name="Text 145"/>
          <p:cNvSpPr/>
          <p:nvPr/>
        </p:nvSpPr>
        <p:spPr>
          <a:xfrm>
            <a:off x="1046480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51" name="Text 146"/>
          <p:cNvSpPr/>
          <p:nvPr/>
        </p:nvSpPr>
        <p:spPr>
          <a:xfrm>
            <a:off x="10896600" y="29845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52" name="Text 147"/>
          <p:cNvSpPr/>
          <p:nvPr/>
        </p:nvSpPr>
        <p:spPr>
          <a:xfrm>
            <a:off x="7823200" y="240665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53" name="Text 148"/>
          <p:cNvSpPr/>
          <p:nvPr/>
        </p:nvSpPr>
        <p:spPr>
          <a:xfrm>
            <a:off x="7823200" y="3479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700" dirty="0"/>
          </a:p>
        </p:txBody>
      </p:sp>
      <p:pic>
        <p:nvPicPr>
          <p:cNvPr id="154" name="Image 3" descr="/home/ahmed/Projects/ai_llm_slides/videos/machine-learning/02_linear-regression-classification-MSSE/recreated_pptx/build/assets/slide023_curve_l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700" y="1701800"/>
            <a:ext cx="3467100" cy="2500884"/>
          </a:xfrm>
          <a:prstGeom prst="rect">
            <a:avLst/>
          </a:prstGeom>
        </p:spPr>
      </p:pic>
      <p:sp>
        <p:nvSpPr>
          <p:cNvPr id="155" name="Shape 149"/>
          <p:cNvSpPr/>
          <p:nvPr/>
        </p:nvSpPr>
        <p:spPr>
          <a:xfrm>
            <a:off x="8343900" y="2247900"/>
            <a:ext cx="0" cy="97790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156" name="Shape 150"/>
          <p:cNvSpPr/>
          <p:nvPr/>
        </p:nvSpPr>
        <p:spPr>
          <a:xfrm>
            <a:off x="8343900" y="3225800"/>
            <a:ext cx="571500" cy="0"/>
          </a:xfrm>
          <a:prstGeom prst="line">
            <a:avLst/>
          </a:prstGeom>
          <a:noFill/>
          <a:ln w="12700">
            <a:solidFill>
              <a:srgbClr val="228B22"/>
            </a:solidFill>
            <a:prstDash val="dash"/>
          </a:ln>
        </p:spPr>
      </p:sp>
      <p:sp>
        <p:nvSpPr>
          <p:cNvPr id="157" name="Shape 151"/>
          <p:cNvSpPr/>
          <p:nvPr/>
        </p:nvSpPr>
        <p:spPr>
          <a:xfrm>
            <a:off x="8302625" y="2133600"/>
            <a:ext cx="82550" cy="114300"/>
          </a:xfrm>
          <a:prstGeom prst="triangle">
            <a:avLst/>
          </a:prstGeom>
          <a:solidFill>
            <a:srgbClr val="228B22"/>
          </a:solidFill>
          <a:ln/>
        </p:spPr>
      </p:sp>
      <p:sp>
        <p:nvSpPr>
          <p:cNvPr id="158" name="Shape 152"/>
          <p:cNvSpPr/>
          <p:nvPr/>
        </p:nvSpPr>
        <p:spPr>
          <a:xfrm rot="5400000">
            <a:off x="8947150" y="3168650"/>
            <a:ext cx="88900" cy="127000"/>
          </a:xfrm>
          <a:prstGeom prst="triangle">
            <a:avLst/>
          </a:prstGeom>
          <a:solidFill>
            <a:srgbClr val="228B22"/>
          </a:solidFill>
          <a:ln/>
        </p:spPr>
      </p:sp>
      <p:pic>
        <p:nvPicPr>
          <p:cNvPr id="159" name="Image 4" descr="/home/ahmed/Projects/ai_llm_slides/videos/machine-learning/02_linear-regression-classification-MSSE/recreated_pptx/build/assets/slide023_eq_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008" y="2146808"/>
            <a:ext cx="1103376" cy="213360"/>
          </a:xfrm>
          <a:prstGeom prst="rect">
            <a:avLst/>
          </a:prstGeom>
        </p:spPr>
      </p:pic>
      <p:sp>
        <p:nvSpPr>
          <p:cNvPr id="160" name="Shape 153"/>
          <p:cNvSpPr/>
          <p:nvPr/>
        </p:nvSpPr>
        <p:spPr>
          <a:xfrm>
            <a:off x="1016000" y="4413250"/>
            <a:ext cx="10128250" cy="2343150"/>
          </a:xfrm>
          <a:prstGeom prst="rect">
            <a:avLst/>
          </a:prstGeom>
          <a:solidFill>
            <a:srgbClr val="FAFCE6"/>
          </a:solidFill>
          <a:ln w="12700">
            <a:solidFill>
              <a:srgbClr val="CC9999"/>
            </a:solidFill>
            <a:prstDash val="solid"/>
          </a:ln>
        </p:spPr>
      </p:sp>
      <p:sp>
        <p:nvSpPr>
          <p:cNvPr id="161" name="Text 154"/>
          <p:cNvSpPr/>
          <p:nvPr/>
        </p:nvSpPr>
        <p:spPr>
          <a:xfrm>
            <a:off x="1162050" y="44586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monotonically increase function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62" name="Equation OMML" descr="\Phi"/>
              <p:cNvSpPr txBox="1"/>
              <p:nvPr/>
            </p:nvSpPr>
            <p:spPr>
              <a:xfrm>
                <a:off x="5486908" y="4537710"/>
                <a:ext cx="18135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2" name="Image 5" descr="/home/ahmed/Projects/ai_llm_slides/videos/machine-learning/02_linear-regression-classification-MSSE/recreated_pptx/build/assets/slide024_phi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6908" y="4537710"/>
                <a:ext cx="181356" cy="196596"/>
              </a:xfrm>
              <a:prstGeom prst="rect">
                <a:avLst/>
              </a:prstGeom>
            </p:spPr>
          </p:pic>
        </mc:Fallback>
      </mc:AlternateContent>
      <p:sp>
        <p:nvSpPr>
          <p:cNvPr id="163" name="Text 155"/>
          <p:cNvSpPr/>
          <p:nvPr/>
        </p:nvSpPr>
        <p:spPr>
          <a:xfrm>
            <a:off x="5797550" y="4458653"/>
            <a:ext cx="561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Loss function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64" name="Equation OMML" descr="L(x)"/>
              <p:cNvSpPr txBox="1"/>
              <p:nvPr/>
            </p:nvSpPr>
            <p:spPr>
              <a:xfrm>
                <a:off x="7722108" y="4516374"/>
                <a:ext cx="486156" cy="2392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L(x)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4" name="Image 6" descr="/home/ahmed/Projects/ai_llm_slides/videos/machine-learning/02_linear-regression-classification-MSSE/recreated_pptx/build/assets/slide024_lx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22108" y="4516374"/>
                <a:ext cx="486156" cy="2392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5" name="Equation OMML" descr="\Rightarrow"/>
              <p:cNvSpPr txBox="1"/>
              <p:nvPr/>
            </p:nvSpPr>
            <p:spPr>
              <a:xfrm>
                <a:off x="8585708" y="4593082"/>
                <a:ext cx="192024" cy="1112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5" name="Image 7" descr="/home/ahmed/Projects/ai_llm_slides/videos/machine-learning/02_linear-regression-classification-MSSE/recreated_pptx/build/assets/slide024_rightarrow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85708" y="4593082"/>
                <a:ext cx="192024" cy="1112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6" name="Equation OMML" descr="\Phi"/>
              <p:cNvSpPr txBox="1"/>
              <p:nvPr/>
            </p:nvSpPr>
            <p:spPr>
              <a:xfrm>
                <a:off x="9220708" y="4537710"/>
                <a:ext cx="18135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6" name="Image 8" descr="/home/ahmed/Projects/ai_llm_slides/videos/machine-learning/02_linear-regression-classification-MSSE/recreated_pptx/build/assets/slide024_phi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20708" y="4537710"/>
                <a:ext cx="18135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7" name="Equation OMML" descr="(L(x))"/>
              <p:cNvSpPr txBox="1"/>
              <p:nvPr/>
            </p:nvSpPr>
            <p:spPr>
              <a:xfrm>
                <a:off x="9449308" y="4511040"/>
                <a:ext cx="710184" cy="2499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(L(x))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7" name="Image 9" descr="/home/ahmed/Projects/ai_llm_slides/videos/machine-learning/02_linear-regression-classification-MSSE/recreated_pptx/build/assets/slide024_plx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49308" y="4511040"/>
                <a:ext cx="710184" cy="249936"/>
              </a:xfrm>
              <a:prstGeom prst="rect">
                <a:avLst/>
              </a:prstGeom>
            </p:spPr>
          </p:pic>
        </mc:Fallback>
      </mc:AlternateContent>
      <p:sp>
        <p:nvSpPr>
          <p:cNvPr id="168" name="Text 156"/>
          <p:cNvSpPr/>
          <p:nvPr/>
        </p:nvSpPr>
        <p:spPr>
          <a:xfrm>
            <a:off x="1162050" y="48015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69" name="Equation OMML" descr="L(x)"/>
              <p:cNvSpPr txBox="1"/>
              <p:nvPr/>
            </p:nvSpPr>
            <p:spPr>
              <a:xfrm>
                <a:off x="1791208" y="4859274"/>
                <a:ext cx="486156" cy="2392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L(x)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9" name="Image 10" descr="/home/ahmed/Projects/ai_llm_slides/videos/machine-learning/02_linear-regression-classification-MSSE/recreated_pptx/build/assets/slide024_lx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91208" y="4859274"/>
                <a:ext cx="486156" cy="239268"/>
              </a:xfrm>
              <a:prstGeom prst="rect">
                <a:avLst/>
              </a:prstGeom>
            </p:spPr>
          </p:pic>
        </mc:Fallback>
      </mc:AlternateContent>
      <p:sp>
        <p:nvSpPr>
          <p:cNvPr id="170" name="Text 157"/>
          <p:cNvSpPr/>
          <p:nvPr/>
        </p:nvSpPr>
        <p:spPr>
          <a:xfrm>
            <a:off x="2330450" y="48015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minimized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71" name="Equation OMML" descr="\Rightarrow"/>
              <p:cNvSpPr txBox="1"/>
              <p:nvPr/>
            </p:nvSpPr>
            <p:spPr>
              <a:xfrm>
                <a:off x="4013708" y="4923282"/>
                <a:ext cx="192024" cy="1112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1" name="Image 11" descr="/home/ahmed/Projects/ai_llm_slides/videos/machine-learning/02_linear-regression-classification-MSSE/recreated_pptx/build/assets/slide024_rightarrow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13708" y="4923282"/>
                <a:ext cx="192024" cy="1112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2" name="Equation OMML" descr="\Phi"/>
              <p:cNvSpPr txBox="1"/>
              <p:nvPr/>
            </p:nvSpPr>
            <p:spPr>
              <a:xfrm>
                <a:off x="4642358" y="4880610"/>
                <a:ext cx="18135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2" name="Image 12" descr="/home/ahmed/Projects/ai_llm_slides/videos/machine-learning/02_linear-regression-classification-MSSE/recreated_pptx/build/assets/slide024_phi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42358" y="4880610"/>
                <a:ext cx="18135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3" name="Equation OMML" descr="(L(x))"/>
              <p:cNvSpPr txBox="1"/>
              <p:nvPr/>
            </p:nvSpPr>
            <p:spPr>
              <a:xfrm>
                <a:off x="4877308" y="4853940"/>
                <a:ext cx="710184" cy="2499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(L(x))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3" name="Image 13" descr="/home/ahmed/Projects/ai_llm_slides/videos/machine-learning/02_linear-regression-classification-MSSE/recreated_pptx/build/assets/slide024_plx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77308" y="4853940"/>
                <a:ext cx="710184" cy="249936"/>
              </a:xfrm>
              <a:prstGeom prst="rect">
                <a:avLst/>
              </a:prstGeom>
            </p:spPr>
          </p:pic>
        </mc:Fallback>
      </mc:AlternateContent>
      <p:sp>
        <p:nvSpPr>
          <p:cNvPr id="174" name="Text 158"/>
          <p:cNvSpPr/>
          <p:nvPr/>
        </p:nvSpPr>
        <p:spPr>
          <a:xfrm>
            <a:off x="5708650" y="4801553"/>
            <a:ext cx="570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minimized</a:t>
            </a:r>
            <a:endParaRPr lang="en-US" sz="2200" dirty="0"/>
          </a:p>
        </p:txBody>
      </p:sp>
      <p:sp>
        <p:nvSpPr>
          <p:cNvPr id="175" name="Text 159"/>
          <p:cNvSpPr/>
          <p:nvPr/>
        </p:nvSpPr>
        <p:spPr>
          <a:xfrm>
            <a:off x="1162050" y="53476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u="sng" spc="-75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</a:t>
            </a:r>
            <a:endParaRPr lang="en-US" sz="2200" dirty="0"/>
          </a:p>
        </p:txBody>
      </p:sp>
      <p:sp>
        <p:nvSpPr>
          <p:cNvPr id="176" name="Text 160"/>
          <p:cNvSpPr/>
          <p:nvPr/>
        </p:nvSpPr>
        <p:spPr>
          <a:xfrm>
            <a:off x="2635250" y="53476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using</a:t>
            </a:r>
            <a:endParaRPr lang="en-US" sz="2200" dirty="0"/>
          </a:p>
        </p:txBody>
      </p:sp>
      <p:sp>
        <p:nvSpPr>
          <p:cNvPr id="177" name="Text 161"/>
          <p:cNvSpPr/>
          <p:nvPr/>
        </p:nvSpPr>
        <p:spPr>
          <a:xfrm>
            <a:off x="4362450" y="53476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</a:t>
            </a:r>
            <a:endParaRPr lang="en-US" sz="2200" dirty="0"/>
          </a:p>
        </p:txBody>
      </p:sp>
      <p:sp>
        <p:nvSpPr>
          <p:cNvPr id="178" name="Text 162"/>
          <p:cNvSpPr/>
          <p:nvPr/>
        </p:nvSpPr>
        <p:spPr>
          <a:xfrm>
            <a:off x="4921250" y="53476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79" name="Equation OMML" descr="L(x)"/>
              <p:cNvSpPr txBox="1"/>
              <p:nvPr/>
            </p:nvSpPr>
            <p:spPr>
              <a:xfrm>
                <a:off x="5855208" y="5392674"/>
                <a:ext cx="486156" cy="2392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L(x)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9" name="Image 14" descr="/home/ahmed/Projects/ai_llm_slides/videos/machine-learning/02_linear-regression-classification-MSSE/recreated_pptx/build/assets/slide024_lx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5208" y="5392674"/>
                <a:ext cx="486156" cy="239268"/>
              </a:xfrm>
              <a:prstGeom prst="rect">
                <a:avLst/>
              </a:prstGeom>
            </p:spPr>
          </p:pic>
        </mc:Fallback>
      </mc:AlternateContent>
      <p:sp>
        <p:nvSpPr>
          <p:cNvPr id="180" name="Text 163"/>
          <p:cNvSpPr/>
          <p:nvPr/>
        </p:nvSpPr>
        <p:spPr>
          <a:xfrm>
            <a:off x="6394450" y="5347653"/>
            <a:ext cx="501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training ,</a:t>
            </a:r>
            <a:endParaRPr lang="en-US" sz="2200" dirty="0"/>
          </a:p>
        </p:txBody>
      </p:sp>
      <p:sp>
        <p:nvSpPr>
          <p:cNvPr id="181" name="Text 164"/>
          <p:cNvSpPr/>
          <p:nvPr/>
        </p:nvSpPr>
        <p:spPr>
          <a:xfrm>
            <a:off x="8451850" y="5347653"/>
            <a:ext cx="295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can use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82" name="Equation OMML" descr="\Phi"/>
              <p:cNvSpPr txBox="1"/>
              <p:nvPr/>
            </p:nvSpPr>
            <p:spPr>
              <a:xfrm>
                <a:off x="9881108" y="5414010"/>
                <a:ext cx="18135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2" name="Image 15" descr="/home/ahmed/Projects/ai_llm_slides/videos/machine-learning/02_linear-regression-classification-MSSE/recreated_pptx/build/assets/slide024_phi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81108" y="5414010"/>
                <a:ext cx="18135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3" name="Equation OMML" descr="(L(x))"/>
              <p:cNvSpPr txBox="1"/>
              <p:nvPr/>
            </p:nvSpPr>
            <p:spPr>
              <a:xfrm>
                <a:off x="10122408" y="5387340"/>
                <a:ext cx="710184" cy="2499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(L(x))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3" name="Image 16" descr="/home/ahmed/Projects/ai_llm_slides/videos/machine-learning/02_linear-regression-classification-MSSE/recreated_pptx/build/assets/slide024_plx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22408" y="5387340"/>
                <a:ext cx="710184" cy="249936"/>
              </a:xfrm>
              <a:prstGeom prst="rect">
                <a:avLst/>
              </a:prstGeom>
            </p:spPr>
          </p:pic>
        </mc:Fallback>
      </mc:AlternateContent>
      <p:sp>
        <p:nvSpPr>
          <p:cNvPr id="184" name="Text 165"/>
          <p:cNvSpPr/>
          <p:nvPr/>
        </p:nvSpPr>
        <p:spPr>
          <a:xfrm>
            <a:off x="2635250" y="56778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85" name="Equation OMML" descr="\Phi"/>
              <p:cNvSpPr txBox="1"/>
              <p:nvPr/>
            </p:nvSpPr>
            <p:spPr>
              <a:xfrm>
                <a:off x="3442208" y="5756910"/>
                <a:ext cx="18135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5" name="Image 17" descr="/home/ahmed/Projects/ai_llm_slides/videos/machine-learning/02_linear-regression-classification-MSSE/recreated_pptx/build/assets/slide024_phi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42208" y="5756910"/>
                <a:ext cx="181356" cy="196596"/>
              </a:xfrm>
              <a:prstGeom prst="rect">
                <a:avLst/>
              </a:prstGeom>
            </p:spPr>
          </p:pic>
        </mc:Fallback>
      </mc:AlternateContent>
      <p:sp>
        <p:nvSpPr>
          <p:cNvPr id="186" name="Text 166"/>
          <p:cNvSpPr/>
          <p:nvPr/>
        </p:nvSpPr>
        <p:spPr>
          <a:xfrm>
            <a:off x="3778250" y="5677853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any monotonically increase function</a:t>
            </a:r>
            <a:endParaRPr lang="en-US" sz="2200" dirty="0"/>
          </a:p>
        </p:txBody>
      </p:sp>
      <p:sp>
        <p:nvSpPr>
          <p:cNvPr id="187" name="Shape 167"/>
          <p:cNvSpPr/>
          <p:nvPr/>
        </p:nvSpPr>
        <p:spPr>
          <a:xfrm>
            <a:off x="1270000" y="6159500"/>
            <a:ext cx="9099550" cy="495300"/>
          </a:xfrm>
          <a:prstGeom prst="rect">
            <a:avLst/>
          </a:prstGeom>
          <a:solidFill>
            <a:srgbClr val="FAE9D7"/>
          </a:solidFill>
          <a:ln w="9525">
            <a:solidFill>
              <a:srgbClr val="CC9999"/>
            </a:solidFill>
            <a:prstDash val="solid"/>
          </a:ln>
        </p:spPr>
      </p:sp>
      <p:sp>
        <p:nvSpPr>
          <p:cNvPr id="188" name="Text 168"/>
          <p:cNvSpPr/>
          <p:nvPr/>
        </p:nvSpPr>
        <p:spPr>
          <a:xfrm>
            <a:off x="1301750" y="6201092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will use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89" name="Equation OMML" descr="\frac{1}{2}"/>
              <p:cNvSpPr txBox="1"/>
              <p:nvPr/>
            </p:nvSpPr>
            <p:spPr>
              <a:xfrm>
                <a:off x="2743708" y="6193028"/>
                <a:ext cx="146304" cy="4038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9" name="Image 18" descr="/home/ahmed/Projects/ai_llm_slides/videos/machine-learning/02_linear-regression-classification-MSSE/recreated_pptx/build/assets/slide024_frac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43708" y="6193028"/>
                <a:ext cx="146304" cy="4038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90" name="Equation OMML" descr="L(x)"/>
              <p:cNvSpPr txBox="1"/>
              <p:nvPr/>
            </p:nvSpPr>
            <p:spPr>
              <a:xfrm>
                <a:off x="2934208" y="6258814"/>
                <a:ext cx="486156" cy="2392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L(x)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0" name="Image 19" descr="/home/ahmed/Projects/ai_llm_slides/videos/machine-learning/02_linear-regression-classification-MSSE/recreated_pptx/build/assets/slide024_lx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34208" y="6258814"/>
                <a:ext cx="486156" cy="239268"/>
              </a:xfrm>
              <a:prstGeom prst="rect">
                <a:avLst/>
              </a:prstGeom>
            </p:spPr>
          </p:pic>
        </mc:Fallback>
      </mc:AlternateContent>
      <p:sp>
        <p:nvSpPr>
          <p:cNvPr id="191" name="Text 169"/>
          <p:cNvSpPr/>
          <p:nvPr/>
        </p:nvSpPr>
        <p:spPr>
          <a:xfrm>
            <a:off x="3562350" y="6201092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</a:t>
            </a:r>
            <a:endParaRPr lang="en-US" sz="2200" dirty="0"/>
          </a:p>
        </p:txBody>
      </p:sp>
      <mc:AlternateContent>
        <mc:Choice xmlns:a14="http://schemas.microsoft.com/office/drawing/2010/main" Requires="a14">
          <p:sp>
            <p:nvSpPr>
              <p:cNvPr id="192" name="Equation OMML" descr="L(x)"/>
              <p:cNvSpPr txBox="1"/>
              <p:nvPr/>
            </p:nvSpPr>
            <p:spPr>
              <a:xfrm>
                <a:off x="4788408" y="6258814"/>
                <a:ext cx="486156" cy="2392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6A5ACD"/>
                          </a:solidFill>
                          <a:latin typeface="Cambria Math" panose="02040503050406030204" pitchFamily="18" charset="0"/>
                        </a:rPr>
                        <m:t xml:space="preserve">L(x)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2" name="Image 20" descr="/home/ahmed/Projects/ai_llm_slides/videos/machine-learning/02_linear-regression-classification-MSSE/recreated_pptx/build/assets/slide024_lx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88408" y="6258814"/>
                <a:ext cx="486156" cy="239268"/>
              </a:xfrm>
              <a:prstGeom prst="rect">
                <a:avLst/>
              </a:prstGeom>
            </p:spPr>
          </p:pic>
        </mc:Fallback>
      </mc:AlternateContent>
      <p:sp>
        <p:nvSpPr>
          <p:cNvPr id="193" name="Text 170"/>
          <p:cNvSpPr/>
          <p:nvPr/>
        </p:nvSpPr>
        <p:spPr>
          <a:xfrm>
            <a:off x="5416550" y="6201092"/>
            <a:ext cx="599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-7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minimization</a:t>
            </a:r>
            <a:endParaRPr lang="en-US" sz="2200" dirty="0"/>
          </a:p>
        </p:txBody>
      </p:sp>
      <p:sp>
        <p:nvSpPr>
          <p:cNvPr id="194" name="Text 171"/>
          <p:cNvSpPr/>
          <p:nvPr/>
        </p:nvSpPr>
        <p:spPr>
          <a:xfrm>
            <a:off x="7727950" y="6218238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-50" kern="0" dirty="0">
                <a:solidFill>
                  <a:srgbClr val="6A5AC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(to Simplify Math operations)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8200" y="691958"/>
            <a:ext cx="1064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40" b="1" dirty="0">
                <a:solidFill>
                  <a:srgbClr val="97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Minimization of Loss function to obtain </a:t>
            </a:r>
            <a:pPr algn="ctr" indent="0" marL="0">
              <a:buNone/>
            </a:pPr>
            <a:r>
              <a:rPr lang="en-US" sz="2140" b="1" dirty="0">
                <a:solidFill>
                  <a:srgbClr val="100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pPr algn="ctr" indent="0" marL="0">
              <a:buNone/>
            </a:pPr>
            <a:r>
              <a:rPr lang="en-US" sz="2140" b="1" dirty="0">
                <a:solidFill>
                  <a:srgbClr val="97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parameters</a:t>
            </a:r>
            <a:endParaRPr lang="en-US" sz="2140" dirty="0"/>
          </a:p>
        </p:txBody>
      </p:sp>
      <p:sp>
        <p:nvSpPr>
          <p:cNvPr id="6" name="Shape 4"/>
          <p:cNvSpPr/>
          <p:nvPr/>
        </p:nvSpPr>
        <p:spPr>
          <a:xfrm>
            <a:off x="914400" y="1295400"/>
            <a:ext cx="10414000" cy="2222500"/>
          </a:xfrm>
          <a:prstGeom prst="rect">
            <a:avLst/>
          </a:prstGeom>
          <a:solidFill>
            <a:srgbClr val="FBFDE5"/>
          </a:solidFill>
          <a:ln w="12700">
            <a:solidFill>
              <a:srgbClr val="C2C5C1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" name="Equation OMML" descr="\mathrm{Loss}"/>
              <p:cNvSpPr txBox="1"/>
              <p:nvPr/>
            </p:nvSpPr>
            <p:spPr>
              <a:xfrm>
                <a:off x="1233932" y="1523999"/>
                <a:ext cx="478533" cy="2057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Loss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" name="Image 0" descr="/home/ahmed/Projects/ai_llm_slides/videos/machine-learning/02_linear-regression-classification-MSSE/recreated_pptx/build/assets/eq025_loss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3932" y="1523999"/>
                <a:ext cx="478533" cy="2057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" name="Equation OMML" descr="="/>
              <p:cNvSpPr txBox="1"/>
              <p:nvPr/>
            </p:nvSpPr>
            <p:spPr>
              <a:xfrm>
                <a:off x="1753108" y="1598676"/>
                <a:ext cx="179835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" name="Image 1" descr="/home/ahmed/Projects/ai_llm_slides/videos/machine-learning/02_linear-regression-classification-MSSE/recreated_pptx/build/assets/eq025_eq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53108" y="1598676"/>
                <a:ext cx="179835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" name="Equation OMML" descr="\dfrac{1}{2}"/>
              <p:cNvSpPr txBox="1"/>
              <p:nvPr/>
            </p:nvSpPr>
            <p:spPr>
              <a:xfrm>
                <a:off x="1967484" y="1321311"/>
                <a:ext cx="178308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2" descr="/home/ahmed/Projects/ai_llm_slides/videos/machine-learning/02_linear-regression-classification-MSSE/recreated_pptx/build/assets/eq025_frac_red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7484" y="1321311"/>
                <a:ext cx="178308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" name="Equation OMML" descr="(Y - \hat{Y})^{T}\,(Y - \hat{Y})"/>
              <p:cNvSpPr txBox="1"/>
              <p:nvPr/>
            </p:nvSpPr>
            <p:spPr>
              <a:xfrm>
                <a:off x="2172208" y="1449324"/>
                <a:ext cx="1776981" cy="3246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(Y-</m:t>
                      </m:r>
                      <m:acc>
                        <m:accPr>
                          <m:chr m:val="^"/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 (Y-</m:t>
                      </m:r>
                      <m:acc>
                        <m:accPr>
                          <m:chr m:val="^"/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" name="Image 3" descr="/home/ahmed/Projects/ai_llm_slides/videos/machine-learning/02_linear-regression-classification-MSSE/recreated_pptx/build/assets/eq025_c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2208" y="1449324"/>
                <a:ext cx="1776981" cy="324612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e 4" descr="/home/ahmed/Projects/ai_llm_slides/videos/machine-learning/02_linear-regression-classification-MSSE/recreated_pptx/build/assets/eq025_e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808" y="1598676"/>
            <a:ext cx="179835" cy="9601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2" name="Equation OMML" descr="\dfrac{1}{2}"/>
              <p:cNvSpPr txBox="1"/>
              <p:nvPr/>
            </p:nvSpPr>
            <p:spPr>
              <a:xfrm>
                <a:off x="4316984" y="1321311"/>
                <a:ext cx="178308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5" descr="/home/ahmed/Projects/ai_llm_slides/videos/machine-learning/02_linear-regression-classification-MSSE/recreated_pptx/build/assets/eq025_frac_blk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16984" y="1321311"/>
                <a:ext cx="178308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" name="Equation OMML" descr="(Y - X\;W)^{T}\,(Y - X\;W)"/>
              <p:cNvSpPr txBox="1"/>
              <p:nvPr/>
            </p:nvSpPr>
            <p:spPr>
              <a:xfrm>
                <a:off x="4521708" y="1470658"/>
                <a:ext cx="2398773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(Y-X W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 (Y-X W)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6" descr="/home/ahmed/Projects/ai_llm_slides/videos/machine-learning/02_linear-regression-classification-MSSE/recreated_pptx/build/assets/eq025_f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21708" y="1470658"/>
                <a:ext cx="2398773" cy="303279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 7" descr="/home/ahmed/Projects/ai_llm_slides/videos/machine-learning/02_linear-regression-classification-MSSE/recreated_pptx/build/assets/eq025_los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932" y="2336799"/>
            <a:ext cx="478533" cy="205740"/>
          </a:xfrm>
          <a:prstGeom prst="rect">
            <a:avLst/>
          </a:prstGeom>
        </p:spPr>
      </p:pic>
      <p:pic>
        <p:nvPicPr>
          <p:cNvPr id="15" name="Image 8" descr="/home/ahmed/Projects/ai_llm_slides/videos/machine-learning/02_linear-regression-classification-MSSE/recreated_pptx/build/assets/eq025_eq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3108" y="2411476"/>
            <a:ext cx="179835" cy="96012"/>
          </a:xfrm>
          <a:prstGeom prst="rect">
            <a:avLst/>
          </a:prstGeom>
        </p:spPr>
      </p:pic>
      <p:pic>
        <p:nvPicPr>
          <p:cNvPr id="16" name="Image 9" descr="/home/ahmed/Projects/ai_llm_slides/videos/machine-learning/02_linear-regression-classification-MSSE/recreated_pptx/build/assets/eq025_frac_bl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7484" y="2134111"/>
            <a:ext cx="178308" cy="606549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7" name="Equation OMML" descr="[\,Y^{T}\;Y\;+\;(X\;W)^{T}\;(X\;W)\;-\;Y^{T}\;(X\;W)\;-\;(X\;W)^{T}\;Y\,]"/>
              <p:cNvSpPr txBox="1"/>
              <p:nvPr/>
            </p:nvSpPr>
            <p:spPr>
              <a:xfrm>
                <a:off x="2145284" y="2283458"/>
                <a:ext cx="5903979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 Y + (X W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10" descr="/home/ahmed/Projects/ai_llm_slides/videos/machine-learning/02_linear-regression-classification-MSSE/recreated_pptx/build/assets/eq025_d2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5284" y="2283458"/>
                <a:ext cx="5903979" cy="303279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Image 11" descr="/home/ahmed/Projects/ai_llm_slides/videos/machine-learning/02_linear-regression-classification-MSSE/recreated_pptx/build/assets/eq025_los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3932" y="3060699"/>
            <a:ext cx="478533" cy="205740"/>
          </a:xfrm>
          <a:prstGeom prst="rect">
            <a:avLst/>
          </a:prstGeom>
        </p:spPr>
      </p:pic>
      <p:pic>
        <p:nvPicPr>
          <p:cNvPr id="19" name="Image 12" descr="/home/ahmed/Projects/ai_llm_slides/videos/machine-learning/02_linear-regression-classification-MSSE/recreated_pptx/build/assets/eq025_eq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3108" y="3135376"/>
            <a:ext cx="179835" cy="96012"/>
          </a:xfrm>
          <a:prstGeom prst="rect">
            <a:avLst/>
          </a:prstGeom>
        </p:spPr>
      </p:pic>
      <p:pic>
        <p:nvPicPr>
          <p:cNvPr id="20" name="Image 13" descr="/home/ahmed/Projects/ai_llm_slides/videos/machine-learning/02_linear-regression-classification-MSSE/recreated_pptx/build/assets/eq025_frac_bl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7484" y="2858011"/>
            <a:ext cx="178308" cy="606549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1" name="Equation OMML" descr="[\,Y^{T}\;Y\;+\;(X\;W)^{T}\;(X\;W)\;-\;2\,(X\;W)^{T}\;Y\,]"/>
              <p:cNvSpPr txBox="1"/>
              <p:nvPr/>
            </p:nvSpPr>
            <p:spPr>
              <a:xfrm>
                <a:off x="2146808" y="3007358"/>
                <a:ext cx="4520181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 Y + (X W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 (X W) - 2 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14" descr="/home/ahmed/Projects/ai_llm_slides/videos/machine-learning/02_linear-regression-classification-MSSE/recreated_pptx/build/assets/eq025_d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46808" y="3007358"/>
                <a:ext cx="4520181" cy="303279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Shape 5"/>
          <p:cNvSpPr/>
          <p:nvPr/>
        </p:nvSpPr>
        <p:spPr>
          <a:xfrm>
            <a:off x="2286000" y="17386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6"/>
          <p:cNvSpPr/>
          <p:nvPr/>
        </p:nvSpPr>
        <p:spPr>
          <a:xfrm>
            <a:off x="2743200" y="17386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7"/>
          <p:cNvSpPr/>
          <p:nvPr/>
        </p:nvSpPr>
        <p:spPr>
          <a:xfrm>
            <a:off x="3263900" y="17386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8"/>
          <p:cNvSpPr/>
          <p:nvPr/>
        </p:nvSpPr>
        <p:spPr>
          <a:xfrm>
            <a:off x="3721100" y="17386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9"/>
          <p:cNvSpPr/>
          <p:nvPr/>
        </p:nvSpPr>
        <p:spPr>
          <a:xfrm>
            <a:off x="4634230" y="1738630"/>
            <a:ext cx="15367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10"/>
          <p:cNvSpPr/>
          <p:nvPr/>
        </p:nvSpPr>
        <p:spPr>
          <a:xfrm>
            <a:off x="5332730" y="1738630"/>
            <a:ext cx="2108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11"/>
          <p:cNvSpPr/>
          <p:nvPr/>
        </p:nvSpPr>
        <p:spPr>
          <a:xfrm>
            <a:off x="5920740" y="1738630"/>
            <a:ext cx="1524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12"/>
          <p:cNvSpPr/>
          <p:nvPr/>
        </p:nvSpPr>
        <p:spPr>
          <a:xfrm>
            <a:off x="6619240" y="1738630"/>
            <a:ext cx="2108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13"/>
          <p:cNvSpPr/>
          <p:nvPr/>
        </p:nvSpPr>
        <p:spPr>
          <a:xfrm>
            <a:off x="2298700" y="25514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14"/>
          <p:cNvSpPr/>
          <p:nvPr/>
        </p:nvSpPr>
        <p:spPr>
          <a:xfrm>
            <a:off x="2692400" y="25514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15"/>
          <p:cNvSpPr/>
          <p:nvPr/>
        </p:nvSpPr>
        <p:spPr>
          <a:xfrm>
            <a:off x="3657600" y="25514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16"/>
          <p:cNvSpPr/>
          <p:nvPr/>
        </p:nvSpPr>
        <p:spPr>
          <a:xfrm>
            <a:off x="4546600" y="25514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17"/>
          <p:cNvSpPr/>
          <p:nvPr/>
        </p:nvSpPr>
        <p:spPr>
          <a:xfrm>
            <a:off x="5353050" y="2551430"/>
            <a:ext cx="1651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18"/>
          <p:cNvSpPr/>
          <p:nvPr/>
        </p:nvSpPr>
        <p:spPr>
          <a:xfrm>
            <a:off x="6089650" y="2551430"/>
            <a:ext cx="2159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19"/>
          <p:cNvSpPr/>
          <p:nvPr/>
        </p:nvSpPr>
        <p:spPr>
          <a:xfrm>
            <a:off x="7239000" y="25514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20"/>
          <p:cNvSpPr/>
          <p:nvPr/>
        </p:nvSpPr>
        <p:spPr>
          <a:xfrm>
            <a:off x="7785100" y="25514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21"/>
          <p:cNvSpPr/>
          <p:nvPr/>
        </p:nvSpPr>
        <p:spPr>
          <a:xfrm>
            <a:off x="2298700" y="32753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2692400" y="32753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23"/>
          <p:cNvSpPr/>
          <p:nvPr/>
        </p:nvSpPr>
        <p:spPr>
          <a:xfrm>
            <a:off x="3657600" y="3275330"/>
            <a:ext cx="2095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4533900" y="32753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25"/>
          <p:cNvSpPr/>
          <p:nvPr/>
        </p:nvSpPr>
        <p:spPr>
          <a:xfrm>
            <a:off x="5867400" y="3275330"/>
            <a:ext cx="2095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26"/>
          <p:cNvSpPr/>
          <p:nvPr/>
        </p:nvSpPr>
        <p:spPr>
          <a:xfrm>
            <a:off x="6400800" y="3275330"/>
            <a:ext cx="1651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27"/>
          <p:cNvSpPr/>
          <p:nvPr/>
        </p:nvSpPr>
        <p:spPr>
          <a:xfrm>
            <a:off x="8585200" y="1689100"/>
            <a:ext cx="2616200" cy="1333500"/>
          </a:xfrm>
          <a:prstGeom prst="rect">
            <a:avLst/>
          </a:prstGeom>
          <a:solidFill>
            <a:srgbClr val="DAECFA"/>
          </a:solidFill>
          <a:ln w="12700">
            <a:solidFill>
              <a:srgbClr val="9BAFB9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8610600" y="1547178"/>
            <a:ext cx="165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716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endParaRPr lang="en-US" sz="1800" dirty="0"/>
          </a:p>
        </p:txBody>
      </p:sp>
      <p:sp>
        <p:nvSpPr>
          <p:cNvPr id="46" name="Text 29"/>
          <p:cNvSpPr/>
          <p:nvPr/>
        </p:nvSpPr>
        <p:spPr>
          <a:xfrm>
            <a:off x="8623300" y="1801178"/>
            <a:ext cx="2730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matrix, </a:t>
            </a:r>
            <a:pPr algn="l" indent="0" marL="0">
              <a:buNone/>
            </a:pPr>
            <a:r>
              <a:rPr lang="en-US" sz="1800" i="1" dirty="0">
                <a:solidFill>
                  <a:srgbClr val="1000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vector,</a:t>
            </a:r>
            <a:endParaRPr lang="en-US" sz="1800" dirty="0"/>
          </a:p>
        </p:txBody>
      </p:sp>
      <p:sp>
        <p:nvSpPr>
          <p:cNvPr id="47" name="Text 30"/>
          <p:cNvSpPr/>
          <p:nvPr/>
        </p:nvSpPr>
        <p:spPr>
          <a:xfrm>
            <a:off x="8636000" y="2067878"/>
            <a:ext cx="165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W</a:t>
            </a:r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vector</a:t>
            </a:r>
            <a:endParaRPr lang="en-US" sz="1800" dirty="0"/>
          </a:p>
        </p:txBody>
      </p:sp>
      <p:sp>
        <p:nvSpPr>
          <p:cNvPr id="48" name="Shape 31"/>
          <p:cNvSpPr/>
          <p:nvPr/>
        </p:nvSpPr>
        <p:spPr>
          <a:xfrm>
            <a:off x="9880600" y="2186940"/>
            <a:ext cx="203200" cy="0"/>
          </a:xfrm>
          <a:prstGeom prst="line">
            <a:avLst/>
          </a:prstGeom>
          <a:noFill/>
          <a:ln w="12700">
            <a:solidFill>
              <a:srgbClr val="1000A6"/>
            </a:solidFill>
            <a:prstDash val="solid"/>
          </a:ln>
        </p:spPr>
      </p:sp>
      <p:sp>
        <p:nvSpPr>
          <p:cNvPr id="49" name="Shape 32"/>
          <p:cNvSpPr/>
          <p:nvPr/>
        </p:nvSpPr>
        <p:spPr>
          <a:xfrm>
            <a:off x="8839200" y="2440940"/>
            <a:ext cx="20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0" name="Equation OMML" descr="Y^{T}\;(X\;W)\;=\;(X\;W)^{T}\;Y"/>
              <p:cNvSpPr txBox="1"/>
              <p:nvPr/>
            </p:nvSpPr>
            <p:spPr>
              <a:xfrm>
                <a:off x="8623808" y="2702558"/>
                <a:ext cx="2359152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 (X W) = (X W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0" name="Image 15" descr="/home/ahmed/Projects/ai_llm_slides/videos/machine-learning/02_linear-regression-classification-MSSE/recreated_pptx/build/assets/eq025_r1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23808" y="2702558"/>
                <a:ext cx="2359152" cy="303279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Shape 33"/>
          <p:cNvSpPr/>
          <p:nvPr/>
        </p:nvSpPr>
        <p:spPr>
          <a:xfrm>
            <a:off x="8636000" y="2948940"/>
            <a:ext cx="1524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34"/>
          <p:cNvSpPr/>
          <p:nvPr/>
        </p:nvSpPr>
        <p:spPr>
          <a:xfrm>
            <a:off x="9296400" y="2948940"/>
            <a:ext cx="20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10337800" y="2948940"/>
            <a:ext cx="20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10820400" y="2948940"/>
            <a:ext cx="1524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37"/>
          <p:cNvSpPr/>
          <p:nvPr/>
        </p:nvSpPr>
        <p:spPr>
          <a:xfrm>
            <a:off x="914400" y="3644900"/>
            <a:ext cx="5524500" cy="711200"/>
          </a:xfrm>
          <a:prstGeom prst="rect">
            <a:avLst/>
          </a:prstGeom>
          <a:solidFill>
            <a:srgbClr val="F7CFD2"/>
          </a:solidFill>
          <a:ln w="12700">
            <a:solidFill>
              <a:srgbClr val="911E3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6" name="Equation OMML" descr="\dfrac{\partial\;\mathrm{Loss}}{\partial\;W}\;=\;0"/>
              <p:cNvSpPr txBox="1"/>
              <p:nvPr/>
            </p:nvSpPr>
            <p:spPr>
              <a:xfrm>
                <a:off x="992632" y="3692908"/>
                <a:ext cx="1098807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</m:t>
                          </m:r>
                          <m:r>
                            <m:rPr>
                              <m:sty m:val="p"/>
                            </m:rPr>
                            <a:rPr lang="en-US" i="0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Loss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∂ W</m:t>
                          </m:r>
                        </m:den>
                      </m:f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 = 0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16" descr="/home/ahmed/Projects/ai_llm_slides/videos/machine-learning/02_linear-regression-classification-MSSE/recreated_pptx/build/assets/eq025_p1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2632" y="3692908"/>
                <a:ext cx="1098807" cy="608076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 38"/>
          <p:cNvSpPr/>
          <p:nvPr/>
        </p:nvSpPr>
        <p:spPr>
          <a:xfrm>
            <a:off x="2489200" y="3715290"/>
            <a:ext cx="431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Best </a:t>
            </a:r>
            <a:pPr algn="l" indent="0" marL="0">
              <a:buNone/>
            </a:pPr>
            <a:r>
              <a:rPr lang="en-US" sz="218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218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minimizes the loss</a:t>
            </a:r>
            <a:endParaRPr lang="en-US" sz="2180" dirty="0"/>
          </a:p>
        </p:txBody>
      </p:sp>
    </p:spTree>
  </p:cSld>
  <p:clrMapOvr>
    <a:masterClrMapping/>
  </p:clrMapOvr>
</p:sld>
</file>

<file path=ppt/slides/slide26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8200" y="691958"/>
            <a:ext cx="1064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40" b="1" dirty="0">
                <a:solidFill>
                  <a:srgbClr val="97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Minimization of Loss function to obtain </a:t>
            </a:r>
            <a:pPr algn="ctr" indent="0" marL="0">
              <a:buNone/>
            </a:pPr>
            <a:r>
              <a:rPr lang="en-US" sz="2140" b="1" dirty="0">
                <a:solidFill>
                  <a:srgbClr val="100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pPr algn="ctr" indent="0" marL="0">
              <a:buNone/>
            </a:pPr>
            <a:r>
              <a:rPr lang="en-US" sz="2140" b="1" dirty="0">
                <a:solidFill>
                  <a:srgbClr val="97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parameters</a:t>
            </a:r>
            <a:endParaRPr lang="en-US" sz="2140" dirty="0"/>
          </a:p>
        </p:txBody>
      </p:sp>
      <p:sp>
        <p:nvSpPr>
          <p:cNvPr id="6" name="Shape 4"/>
          <p:cNvSpPr/>
          <p:nvPr/>
        </p:nvSpPr>
        <p:spPr>
          <a:xfrm>
            <a:off x="914400" y="1295400"/>
            <a:ext cx="10414000" cy="2222500"/>
          </a:xfrm>
          <a:prstGeom prst="rect">
            <a:avLst/>
          </a:prstGeom>
          <a:solidFill>
            <a:srgbClr val="FBFDE5"/>
          </a:solidFill>
          <a:ln w="12700">
            <a:solidFill>
              <a:srgbClr val="C2C5C1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" name="Equation OMML" descr="\mathrm{Loss}"/>
              <p:cNvSpPr txBox="1"/>
              <p:nvPr/>
            </p:nvSpPr>
            <p:spPr>
              <a:xfrm>
                <a:off x="1233932" y="1523999"/>
                <a:ext cx="478533" cy="2057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Loss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" name="Image 0" descr="/home/ahmed/Projects/ai_llm_slides/videos/machine-learning/02_linear-regression-classification-MSSE/recreated_pptx/build/components/assets/eq025_loss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3932" y="1523999"/>
                <a:ext cx="478533" cy="2057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" name="Equation OMML" descr="="/>
              <p:cNvSpPr txBox="1"/>
              <p:nvPr/>
            </p:nvSpPr>
            <p:spPr>
              <a:xfrm>
                <a:off x="1753108" y="1598676"/>
                <a:ext cx="179835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" name="Image 1" descr="/home/ahmed/Projects/ai_llm_slides/videos/machine-learning/02_linear-regression-classification-MSSE/recreated_pptx/build/components/assets/eq025_eq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53108" y="1598676"/>
                <a:ext cx="179835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" name="Equation OMML" descr="\dfrac{1}{2}"/>
              <p:cNvSpPr txBox="1"/>
              <p:nvPr/>
            </p:nvSpPr>
            <p:spPr>
              <a:xfrm>
                <a:off x="1967484" y="1321311"/>
                <a:ext cx="178308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2" descr="/home/ahmed/Projects/ai_llm_slides/videos/machine-learning/02_linear-regression-classification-MSSE/recreated_pptx/build/components/assets/eq025_frac_red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7484" y="1321311"/>
                <a:ext cx="178308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" name="Equation OMML" descr="(Y - \hat{Y})^{T}\,(Y - \hat{Y})"/>
              <p:cNvSpPr txBox="1"/>
              <p:nvPr/>
            </p:nvSpPr>
            <p:spPr>
              <a:xfrm>
                <a:off x="2172208" y="1449324"/>
                <a:ext cx="1776981" cy="3246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(Y-</m:t>
                      </m:r>
                      <m:acc>
                        <m:accPr>
                          <m:chr m:val="^"/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 (Y-</m:t>
                      </m:r>
                      <m:acc>
                        <m:accPr>
                          <m:chr m:val="^"/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</m:acc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" name="Image 3" descr="/home/ahmed/Projects/ai_llm_slides/videos/machine-learning/02_linear-regression-classification-MSSE/recreated_pptx/build/components/assets/eq025_c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2208" y="1449324"/>
                <a:ext cx="1776981" cy="3246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" name="Equation OMML" descr="="/>
              <p:cNvSpPr txBox="1"/>
              <p:nvPr/>
            </p:nvSpPr>
            <p:spPr>
              <a:xfrm>
                <a:off x="4051808" y="1598676"/>
                <a:ext cx="179835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4" descr="/home/ahmed/Projects/ai_llm_slides/videos/machine-learning/02_linear-regression-classification-MSSE/recreated_pptx/build/components/assets/eq025_eq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1808" y="1598676"/>
                <a:ext cx="179835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" name="Equation OMML" descr="\dfrac{1}{2}"/>
              <p:cNvSpPr txBox="1"/>
              <p:nvPr/>
            </p:nvSpPr>
            <p:spPr>
              <a:xfrm>
                <a:off x="4316984" y="1321311"/>
                <a:ext cx="178308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5" descr="/home/ahmed/Projects/ai_llm_slides/videos/machine-learning/02_linear-regression-classification-MSSE/recreated_pptx/build/components/assets/eq025_frac_blk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16984" y="1321311"/>
                <a:ext cx="178308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" name="Equation OMML" descr="(Y - X\;W)^{T}\,(Y - X\;W)"/>
              <p:cNvSpPr txBox="1"/>
              <p:nvPr/>
            </p:nvSpPr>
            <p:spPr>
              <a:xfrm>
                <a:off x="4521708" y="1470658"/>
                <a:ext cx="2398773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(Y-X W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 (Y-X W)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6" descr="/home/ahmed/Projects/ai_llm_slides/videos/machine-learning/02_linear-regression-classification-MSSE/recreated_pptx/build/components/assets/eq025_f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21708" y="1470658"/>
                <a:ext cx="2398773" cy="30327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" name="Equation OMML" descr="\mathrm{Loss}"/>
              <p:cNvSpPr txBox="1"/>
              <p:nvPr/>
            </p:nvSpPr>
            <p:spPr>
              <a:xfrm>
                <a:off x="1233932" y="2336799"/>
                <a:ext cx="478533" cy="2057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Loss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7" descr="/home/ahmed/Projects/ai_llm_slides/videos/machine-learning/02_linear-regression-classification-MSSE/recreated_pptx/build/components/assets/eq025_loss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3932" y="2336799"/>
                <a:ext cx="478533" cy="2057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" name="Equation OMML" descr="="/>
              <p:cNvSpPr txBox="1"/>
              <p:nvPr/>
            </p:nvSpPr>
            <p:spPr>
              <a:xfrm>
                <a:off x="1753108" y="2411476"/>
                <a:ext cx="179835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8" descr="/home/ahmed/Projects/ai_llm_slides/videos/machine-learning/02_linear-regression-classification-MSSE/recreated_pptx/build/components/assets/eq025_eq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53108" y="2411476"/>
                <a:ext cx="179835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\dfrac{1}{2}"/>
              <p:cNvSpPr txBox="1"/>
              <p:nvPr/>
            </p:nvSpPr>
            <p:spPr>
              <a:xfrm>
                <a:off x="1967484" y="2134111"/>
                <a:ext cx="178308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9" descr="/home/ahmed/Projects/ai_llm_slides/videos/machine-learning/02_linear-regression-classification-MSSE/recreated_pptx/build/components/assets/eq025_frac_blk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7484" y="2134111"/>
                <a:ext cx="178308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" name="Equation OMML" descr="[\,Y^{T}\;Y\;+\;(X\;W)^{T}\;(X\;W)\;-\;Y^{T}\;(X\;W)\;-\;(X\;W)^{T}\;Y\,]"/>
              <p:cNvSpPr txBox="1"/>
              <p:nvPr/>
            </p:nvSpPr>
            <p:spPr>
              <a:xfrm>
                <a:off x="2145284" y="2283458"/>
                <a:ext cx="5903979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 Y + (X W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10" descr="/home/ahmed/Projects/ai_llm_slides/videos/machine-learning/02_linear-regression-classification-MSSE/recreated_pptx/build/components/assets/eq025_d2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5284" y="2283458"/>
                <a:ext cx="5903979" cy="30327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" name="Equation OMML" descr="\mathrm{Loss}"/>
              <p:cNvSpPr txBox="1"/>
              <p:nvPr/>
            </p:nvSpPr>
            <p:spPr>
              <a:xfrm>
                <a:off x="1233932" y="3060699"/>
                <a:ext cx="478533" cy="2057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Loss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11" descr="/home/ahmed/Projects/ai_llm_slides/videos/machine-learning/02_linear-regression-classification-MSSE/recreated_pptx/build/components/assets/eq025_loss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33932" y="3060699"/>
                <a:ext cx="478533" cy="2057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9" name="Equation OMML" descr="="/>
              <p:cNvSpPr txBox="1"/>
              <p:nvPr/>
            </p:nvSpPr>
            <p:spPr>
              <a:xfrm>
                <a:off x="1753108" y="3135376"/>
                <a:ext cx="179835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" name="Image 12" descr="/home/ahmed/Projects/ai_llm_slides/videos/machine-learning/02_linear-regression-classification-MSSE/recreated_pptx/build/components/assets/eq025_eq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3108" y="3135376"/>
                <a:ext cx="179835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" name="Equation OMML" descr="\dfrac{1}{2}"/>
              <p:cNvSpPr txBox="1"/>
              <p:nvPr/>
            </p:nvSpPr>
            <p:spPr>
              <a:xfrm>
                <a:off x="1967484" y="2858011"/>
                <a:ext cx="178308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13" descr="/home/ahmed/Projects/ai_llm_slides/videos/machine-learning/02_linear-regression-classification-MSSE/recreated_pptx/build/components/assets/eq025_frac_blk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67484" y="2858011"/>
                <a:ext cx="178308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" name="Equation OMML" descr="[\,Y^{T}\;Y\;+\;(X\;W)^{T}\;(X\;W)\;-\;2\,(X\;W)^{T}\;Y\,]"/>
              <p:cNvSpPr txBox="1"/>
              <p:nvPr/>
            </p:nvSpPr>
            <p:spPr>
              <a:xfrm>
                <a:off x="2146808" y="3007358"/>
                <a:ext cx="4520181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 Y + (X W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 (X W) - 2 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14" descr="/home/ahmed/Projects/ai_llm_slides/videos/machine-learning/02_linear-regression-classification-MSSE/recreated_pptx/build/components/assets/eq025_d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46808" y="3007358"/>
                <a:ext cx="4520181" cy="303279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Shape 5"/>
          <p:cNvSpPr/>
          <p:nvPr/>
        </p:nvSpPr>
        <p:spPr>
          <a:xfrm>
            <a:off x="2286000" y="17386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6"/>
          <p:cNvSpPr/>
          <p:nvPr/>
        </p:nvSpPr>
        <p:spPr>
          <a:xfrm>
            <a:off x="2743200" y="17386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7"/>
          <p:cNvSpPr/>
          <p:nvPr/>
        </p:nvSpPr>
        <p:spPr>
          <a:xfrm>
            <a:off x="3263900" y="17386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8"/>
          <p:cNvSpPr/>
          <p:nvPr/>
        </p:nvSpPr>
        <p:spPr>
          <a:xfrm>
            <a:off x="3721100" y="17386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9"/>
          <p:cNvSpPr/>
          <p:nvPr/>
        </p:nvSpPr>
        <p:spPr>
          <a:xfrm>
            <a:off x="4634230" y="1738630"/>
            <a:ext cx="15367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10"/>
          <p:cNvSpPr/>
          <p:nvPr/>
        </p:nvSpPr>
        <p:spPr>
          <a:xfrm>
            <a:off x="5332730" y="1738630"/>
            <a:ext cx="2108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11"/>
          <p:cNvSpPr/>
          <p:nvPr/>
        </p:nvSpPr>
        <p:spPr>
          <a:xfrm>
            <a:off x="5920740" y="1738630"/>
            <a:ext cx="1524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12"/>
          <p:cNvSpPr/>
          <p:nvPr/>
        </p:nvSpPr>
        <p:spPr>
          <a:xfrm>
            <a:off x="6619240" y="1738630"/>
            <a:ext cx="2108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13"/>
          <p:cNvSpPr/>
          <p:nvPr/>
        </p:nvSpPr>
        <p:spPr>
          <a:xfrm>
            <a:off x="2298700" y="25514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14"/>
          <p:cNvSpPr/>
          <p:nvPr/>
        </p:nvSpPr>
        <p:spPr>
          <a:xfrm>
            <a:off x="2692400" y="25514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15"/>
          <p:cNvSpPr/>
          <p:nvPr/>
        </p:nvSpPr>
        <p:spPr>
          <a:xfrm>
            <a:off x="3657600" y="25514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16"/>
          <p:cNvSpPr/>
          <p:nvPr/>
        </p:nvSpPr>
        <p:spPr>
          <a:xfrm>
            <a:off x="4546600" y="25514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17"/>
          <p:cNvSpPr/>
          <p:nvPr/>
        </p:nvSpPr>
        <p:spPr>
          <a:xfrm>
            <a:off x="5353050" y="2551430"/>
            <a:ext cx="1651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18"/>
          <p:cNvSpPr/>
          <p:nvPr/>
        </p:nvSpPr>
        <p:spPr>
          <a:xfrm>
            <a:off x="6089650" y="2551430"/>
            <a:ext cx="2159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19"/>
          <p:cNvSpPr/>
          <p:nvPr/>
        </p:nvSpPr>
        <p:spPr>
          <a:xfrm>
            <a:off x="7239000" y="25514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20"/>
          <p:cNvSpPr/>
          <p:nvPr/>
        </p:nvSpPr>
        <p:spPr>
          <a:xfrm>
            <a:off x="7785100" y="25514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21"/>
          <p:cNvSpPr/>
          <p:nvPr/>
        </p:nvSpPr>
        <p:spPr>
          <a:xfrm>
            <a:off x="2298700" y="32753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2692400" y="3275330"/>
            <a:ext cx="1587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23"/>
          <p:cNvSpPr/>
          <p:nvPr/>
        </p:nvSpPr>
        <p:spPr>
          <a:xfrm>
            <a:off x="3657600" y="3275330"/>
            <a:ext cx="2095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4533900" y="3275330"/>
            <a:ext cx="2222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25"/>
          <p:cNvSpPr/>
          <p:nvPr/>
        </p:nvSpPr>
        <p:spPr>
          <a:xfrm>
            <a:off x="5867400" y="3275330"/>
            <a:ext cx="20955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26"/>
          <p:cNvSpPr/>
          <p:nvPr/>
        </p:nvSpPr>
        <p:spPr>
          <a:xfrm>
            <a:off x="6400800" y="3275330"/>
            <a:ext cx="1651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27"/>
          <p:cNvSpPr/>
          <p:nvPr/>
        </p:nvSpPr>
        <p:spPr>
          <a:xfrm>
            <a:off x="8585200" y="1689100"/>
            <a:ext cx="2616200" cy="1333500"/>
          </a:xfrm>
          <a:prstGeom prst="rect">
            <a:avLst/>
          </a:prstGeom>
          <a:solidFill>
            <a:srgbClr val="DAECFA"/>
          </a:solidFill>
          <a:ln w="12700">
            <a:solidFill>
              <a:srgbClr val="9BAFB9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8610600" y="1547178"/>
            <a:ext cx="165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716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endParaRPr lang="en-US" sz="1800" dirty="0"/>
          </a:p>
        </p:txBody>
      </p:sp>
      <p:sp>
        <p:nvSpPr>
          <p:cNvPr id="46" name="Text 29"/>
          <p:cNvSpPr/>
          <p:nvPr/>
        </p:nvSpPr>
        <p:spPr>
          <a:xfrm>
            <a:off x="8623300" y="1801178"/>
            <a:ext cx="2730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matrix, </a:t>
            </a:r>
            <a:pPr algn="l" indent="0" marL="0">
              <a:buNone/>
            </a:pPr>
            <a:r>
              <a:rPr lang="en-US" sz="1800" i="1" dirty="0">
                <a:solidFill>
                  <a:srgbClr val="1000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vector,</a:t>
            </a:r>
            <a:endParaRPr lang="en-US" sz="1800" dirty="0"/>
          </a:p>
        </p:txBody>
      </p:sp>
      <p:sp>
        <p:nvSpPr>
          <p:cNvPr id="47" name="Text 30"/>
          <p:cNvSpPr/>
          <p:nvPr/>
        </p:nvSpPr>
        <p:spPr>
          <a:xfrm>
            <a:off x="8636000" y="2067878"/>
            <a:ext cx="165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W</a:t>
            </a:r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vector</a:t>
            </a:r>
            <a:endParaRPr lang="en-US" sz="1800" dirty="0"/>
          </a:p>
        </p:txBody>
      </p:sp>
      <p:sp>
        <p:nvSpPr>
          <p:cNvPr id="48" name="Shape 31"/>
          <p:cNvSpPr/>
          <p:nvPr/>
        </p:nvSpPr>
        <p:spPr>
          <a:xfrm>
            <a:off x="9880600" y="2186940"/>
            <a:ext cx="203200" cy="0"/>
          </a:xfrm>
          <a:prstGeom prst="line">
            <a:avLst/>
          </a:prstGeom>
          <a:noFill/>
          <a:ln w="12700">
            <a:solidFill>
              <a:srgbClr val="1000A6"/>
            </a:solidFill>
            <a:prstDash val="solid"/>
          </a:ln>
        </p:spPr>
      </p:sp>
      <p:sp>
        <p:nvSpPr>
          <p:cNvPr id="49" name="Shape 32"/>
          <p:cNvSpPr/>
          <p:nvPr/>
        </p:nvSpPr>
        <p:spPr>
          <a:xfrm>
            <a:off x="8839200" y="2440940"/>
            <a:ext cx="20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0" name="Equation OMML" descr="Y^{T}\;(X\;W)\;=\;(X\;W)^{T}\;Y"/>
              <p:cNvSpPr txBox="1"/>
              <p:nvPr/>
            </p:nvSpPr>
            <p:spPr>
              <a:xfrm>
                <a:off x="8623808" y="2702558"/>
                <a:ext cx="2359152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 (X W) = (X W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0" name="Image 15" descr="/home/ahmed/Projects/ai_llm_slides/videos/machine-learning/02_linear-regression-classification-MSSE/recreated_pptx/build/components/assets/eq025_r1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23808" y="2702558"/>
                <a:ext cx="2359152" cy="303279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Shape 33"/>
          <p:cNvSpPr/>
          <p:nvPr/>
        </p:nvSpPr>
        <p:spPr>
          <a:xfrm>
            <a:off x="8636000" y="2948940"/>
            <a:ext cx="1524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34"/>
          <p:cNvSpPr/>
          <p:nvPr/>
        </p:nvSpPr>
        <p:spPr>
          <a:xfrm>
            <a:off x="9296400" y="2948940"/>
            <a:ext cx="20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10337800" y="2948940"/>
            <a:ext cx="20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10820400" y="2948940"/>
            <a:ext cx="1524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37"/>
          <p:cNvSpPr/>
          <p:nvPr/>
        </p:nvSpPr>
        <p:spPr>
          <a:xfrm>
            <a:off x="914400" y="3644900"/>
            <a:ext cx="5524500" cy="711200"/>
          </a:xfrm>
          <a:prstGeom prst="rect">
            <a:avLst/>
          </a:prstGeom>
          <a:solidFill>
            <a:srgbClr val="F7CFD2"/>
          </a:solidFill>
          <a:ln w="12700">
            <a:solidFill>
              <a:srgbClr val="911E3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6" name="Equation OMML" descr="\dfrac{\partial\;\mathrm{Loss}}{\partial\;W}\;=\;0"/>
              <p:cNvSpPr txBox="1"/>
              <p:nvPr/>
            </p:nvSpPr>
            <p:spPr>
              <a:xfrm>
                <a:off x="992632" y="3692908"/>
                <a:ext cx="1098807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</m:t>
                          </m:r>
                          <m:r>
                            <m:rPr>
                              <m:sty m:val="p"/>
                            </m:rPr>
                            <a:rPr lang="en-US" i="0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Loss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∂ W</m:t>
                          </m:r>
                        </m:den>
                      </m:f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 = 0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16" descr="/home/ahmed/Projects/ai_llm_slides/videos/machine-learning/02_linear-regression-classification-MSSE/recreated_pptx/build/components/assets/eq025_p1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2632" y="3692908"/>
                <a:ext cx="1098807" cy="608076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 38"/>
          <p:cNvSpPr/>
          <p:nvPr/>
        </p:nvSpPr>
        <p:spPr>
          <a:xfrm>
            <a:off x="2489200" y="3715290"/>
            <a:ext cx="431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Best </a:t>
            </a:r>
            <a:pPr algn="l" indent="0" marL="0">
              <a:buNone/>
            </a:pPr>
            <a:r>
              <a:rPr lang="en-US" sz="218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218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minimizes the loss</a:t>
            </a:r>
            <a:endParaRPr lang="en-US" sz="2180" dirty="0"/>
          </a:p>
        </p:txBody>
      </p:sp>
      <p:sp>
        <p:nvSpPr>
          <p:cNvPr id="58" name="Shape 39"/>
          <p:cNvSpPr/>
          <p:nvPr/>
        </p:nvSpPr>
        <p:spPr>
          <a:xfrm>
            <a:off x="914400" y="4521200"/>
            <a:ext cx="10414000" cy="2108200"/>
          </a:xfrm>
          <a:prstGeom prst="rect">
            <a:avLst/>
          </a:prstGeom>
          <a:solidFill>
            <a:srgbClr val="FBFDE5"/>
          </a:solidFill>
          <a:ln w="12700">
            <a:solidFill>
              <a:srgbClr val="C2C5C1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9" name="Equation OMML" descr="\dfrac{\partial\;\mathrm{Loss}}{\partial\;W}"/>
              <p:cNvSpPr txBox="1"/>
              <p:nvPr/>
            </p:nvSpPr>
            <p:spPr>
              <a:xfrm>
                <a:off x="1207008" y="4734308"/>
                <a:ext cx="760479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</m:t>
                          </m:r>
                          <m:r>
                            <m:rPr>
                              <m:sty m:val="p"/>
                            </m:rPr>
                            <a:rPr lang="en-US" i="0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Loss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∂ W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17" descr="/home/ahmed/Projects/ai_llm_slides/videos/machine-learning/02_linear-regression-classification-MSSE/recreated_pptx/build/assets/eq026_h1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07008" y="4734308"/>
                <a:ext cx="760479" cy="6080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="/>
              <p:cNvSpPr txBox="1"/>
              <p:nvPr/>
            </p:nvSpPr>
            <p:spPr>
              <a:xfrm>
                <a:off x="2073656" y="5008626"/>
                <a:ext cx="144777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18" descr="/home/ahmed/Projects/ai_llm_slides/videos/machine-learning/02_linear-regression-classification-MSSE/recreated_pptx/build/assets/eq026_eq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3656" y="5008626"/>
                <a:ext cx="144777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0"/>
              <p:cNvSpPr txBox="1"/>
              <p:nvPr/>
            </p:nvSpPr>
            <p:spPr>
              <a:xfrm>
                <a:off x="2311908" y="4929377"/>
                <a:ext cx="15087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19" descr="/home/ahmed/Projects/ai_llm_slides/videos/machine-learning/02_linear-regression-classification-MSSE/recreated_pptx/build/assets/eq026_z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311908" y="4929377"/>
                <a:ext cx="150876" cy="2103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="/>
              <p:cNvSpPr txBox="1"/>
              <p:nvPr/>
            </p:nvSpPr>
            <p:spPr>
              <a:xfrm>
                <a:off x="2567432" y="5008626"/>
                <a:ext cx="160020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20" descr="/home/ahmed/Projects/ai_llm_slides/videos/machine-learning/02_linear-regression-classification-MSSE/recreated_pptx/build/assets/eq026_eq2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7432" y="5008626"/>
                <a:ext cx="160020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\dfrac{1}{2}"/>
              <p:cNvSpPr txBox="1"/>
              <p:nvPr/>
            </p:nvSpPr>
            <p:spPr>
              <a:xfrm>
                <a:off x="2816860" y="4731261"/>
                <a:ext cx="193551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21" descr="/home/ahmed/Projects/ai_llm_slides/videos/machine-learning/02_linear-regression-classification-MSSE/recreated_pptx/build/assets/eq026_half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16860" y="4731261"/>
                <a:ext cx="193551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[\,(X\;W)^{T}\;(X)\;+\;(X)^{T}\;(X\;W)\;-\;2\,(X)^{T}\;Y\,]"/>
              <p:cNvSpPr txBox="1"/>
              <p:nvPr/>
            </p:nvSpPr>
            <p:spPr>
              <a:xfrm>
                <a:off x="3023108" y="4880608"/>
                <a:ext cx="4532379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[ 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 (X) + (X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 (X W) - 2 (X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22" descr="/home/ahmed/Projects/ai_llm_slides/videos/machine-learning/02_linear-regression-classification-MSSE/recreated_pptx/build/assets/eq026_b4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23108" y="4880608"/>
                <a:ext cx="4532379" cy="30327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\dfrac{\partial\;\mathrm{Loss}}{\partial\;W}"/>
              <p:cNvSpPr txBox="1"/>
              <p:nvPr/>
            </p:nvSpPr>
            <p:spPr>
              <a:xfrm>
                <a:off x="1207008" y="5801108"/>
                <a:ext cx="760479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</m:t>
                          </m:r>
                          <m:r>
                            <m:rPr>
                              <m:sty m:val="p"/>
                            </m:rPr>
                            <a:rPr lang="en-US" i="0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Loss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∂ W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23" descr="/home/ahmed/Projects/ai_llm_slides/videos/machine-learning/02_linear-regression-classification-MSSE/recreated_pptx/build/assets/eq026_h1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07008" y="5801108"/>
                <a:ext cx="760479" cy="6080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="/>
              <p:cNvSpPr txBox="1"/>
              <p:nvPr/>
            </p:nvSpPr>
            <p:spPr>
              <a:xfrm>
                <a:off x="2073656" y="6075426"/>
                <a:ext cx="144777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24" descr="/home/ahmed/Projects/ai_llm_slides/videos/machine-learning/02_linear-regression-classification-MSSE/recreated_pptx/build/assets/eq026_eq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73656" y="6075426"/>
                <a:ext cx="144777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0"/>
              <p:cNvSpPr txBox="1"/>
              <p:nvPr/>
            </p:nvSpPr>
            <p:spPr>
              <a:xfrm>
                <a:off x="2311908" y="5996177"/>
                <a:ext cx="15087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25" descr="/home/ahmed/Projects/ai_llm_slides/videos/machine-learning/02_linear-regression-classification-MSSE/recreated_pptx/build/assets/eq026_z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11908" y="5996177"/>
                <a:ext cx="150876" cy="2103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="/>
              <p:cNvSpPr txBox="1"/>
              <p:nvPr/>
            </p:nvSpPr>
            <p:spPr>
              <a:xfrm>
                <a:off x="2567432" y="6075426"/>
                <a:ext cx="160020" cy="960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26" descr="/home/ahmed/Projects/ai_llm_slides/videos/machine-learning/02_linear-regression-classification-MSSE/recreated_pptx/build/assets/eq026_eq2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67432" y="6075426"/>
                <a:ext cx="160020" cy="960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dfrac{1}{2}"/>
              <p:cNvSpPr txBox="1"/>
              <p:nvPr/>
            </p:nvSpPr>
            <p:spPr>
              <a:xfrm>
                <a:off x="2816860" y="5798061"/>
                <a:ext cx="193551" cy="6065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27" descr="/home/ahmed/Projects/ai_llm_slides/videos/machine-learning/02_linear-regression-classification-MSSE/recreated_pptx/build/assets/eq026_half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16860" y="5798061"/>
                <a:ext cx="193551" cy="6065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[\,2\,X^{T}\;X\;W\;-\;2\,X^{T}\;Y\,]"/>
              <p:cNvSpPr txBox="1"/>
              <p:nvPr/>
            </p:nvSpPr>
            <p:spPr>
              <a:xfrm>
                <a:off x="3023108" y="5947411"/>
                <a:ext cx="2359152" cy="2971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[ 2 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 X W - 2 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28" descr="/home/ahmed/Projects/ai_llm_slides/videos/machine-learning/02_linear-regression-classification-MSSE/recreated_pptx/build/assets/eq026_b5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23108" y="5947411"/>
                <a:ext cx="2359152" cy="2971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(X^{T}\;X)\;W\;=\;X^{T}\;Y"/>
              <p:cNvSpPr txBox="1"/>
              <p:nvPr/>
            </p:nvSpPr>
            <p:spPr>
              <a:xfrm>
                <a:off x="6045708" y="5960108"/>
                <a:ext cx="2080260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 X) W = 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29" descr="/home/ahmed/Projects/ai_llm_slides/videos/machine-learning/02_linear-regression-classification-MSSE/recreated_pptx/build/assets/eq026_e6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45708" y="5960108"/>
                <a:ext cx="2080260" cy="303279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Shape 40"/>
          <p:cNvSpPr/>
          <p:nvPr/>
        </p:nvSpPr>
        <p:spPr>
          <a:xfrm>
            <a:off x="6885940" y="6225540"/>
            <a:ext cx="22987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41"/>
          <p:cNvSpPr/>
          <p:nvPr/>
        </p:nvSpPr>
        <p:spPr>
          <a:xfrm>
            <a:off x="7960360" y="6225540"/>
            <a:ext cx="15367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42"/>
          <p:cNvSpPr/>
          <p:nvPr/>
        </p:nvSpPr>
        <p:spPr>
          <a:xfrm>
            <a:off x="8318500" y="4711700"/>
            <a:ext cx="2768600" cy="654050"/>
          </a:xfrm>
          <a:prstGeom prst="rect">
            <a:avLst/>
          </a:prstGeom>
          <a:solidFill>
            <a:srgbClr val="DAECFA"/>
          </a:solidFill>
          <a:ln w="12700">
            <a:solidFill>
              <a:srgbClr val="9BAFB9"/>
            </a:solidFill>
            <a:prstDash val="solid"/>
          </a:ln>
        </p:spPr>
      </p:sp>
      <p:sp>
        <p:nvSpPr>
          <p:cNvPr id="75" name="Text 43"/>
          <p:cNvSpPr/>
          <p:nvPr/>
        </p:nvSpPr>
        <p:spPr>
          <a:xfrm>
            <a:off x="8356600" y="4576128"/>
            <a:ext cx="165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716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76" name="Equation OMML" descr="X^{T}\;(X\;W)\;=\;(X\;W)^{T}\;X"/>
              <p:cNvSpPr txBox="1"/>
              <p:nvPr/>
            </p:nvSpPr>
            <p:spPr>
              <a:xfrm>
                <a:off x="8342884" y="5026658"/>
                <a:ext cx="2691381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 (X W) = (X W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30" descr="/home/ahmed/Projects/ai_llm_slides/videos/machine-learning/02_linear-regression-classification-MSSE/recreated_pptx/build/assets/eq026_r2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42884" y="5026658"/>
                <a:ext cx="2691381" cy="303279"/>
              </a:xfrm>
              <a:prstGeom prst="rect">
                <a:avLst/>
              </a:prstGeom>
            </p:spPr>
          </p:pic>
        </mc:Fallback>
      </mc:AlternateContent>
      <p:sp>
        <p:nvSpPr>
          <p:cNvPr id="77" name="Shape 44"/>
          <p:cNvSpPr/>
          <p:nvPr/>
        </p:nvSpPr>
        <p:spPr>
          <a:xfrm>
            <a:off x="8356600" y="5285740"/>
            <a:ext cx="1981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45"/>
          <p:cNvSpPr/>
          <p:nvPr/>
        </p:nvSpPr>
        <p:spPr>
          <a:xfrm>
            <a:off x="9147810" y="5285740"/>
            <a:ext cx="22733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46"/>
          <p:cNvSpPr/>
          <p:nvPr/>
        </p:nvSpPr>
        <p:spPr>
          <a:xfrm>
            <a:off x="10307320" y="5285740"/>
            <a:ext cx="22733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47"/>
          <p:cNvSpPr/>
          <p:nvPr/>
        </p:nvSpPr>
        <p:spPr>
          <a:xfrm>
            <a:off x="10824210" y="5285740"/>
            <a:ext cx="1981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48"/>
          <p:cNvSpPr/>
          <p:nvPr/>
        </p:nvSpPr>
        <p:spPr>
          <a:xfrm>
            <a:off x="8763000" y="5905500"/>
            <a:ext cx="2387600" cy="406400"/>
          </a:xfrm>
          <a:prstGeom prst="rect">
            <a:avLst/>
          </a:prstGeom>
          <a:solidFill>
            <a:srgbClr val="CEFCE2"/>
          </a:solidFill>
          <a:ln w="12700">
            <a:solidFill>
              <a:srgbClr val="40943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2" name="Equation OMML" descr="W\;=\;(X^{T}\;X)^{-1}\;X^{T}\;Y"/>
              <p:cNvSpPr txBox="1"/>
              <p:nvPr/>
            </p:nvSpPr>
            <p:spPr>
              <a:xfrm>
                <a:off x="8814308" y="5955536"/>
                <a:ext cx="2296671" cy="30785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W = (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 X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sSup>
                        <m:sSupPr>
                          <m:ctrlP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1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21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 xml:space="preserve"> Y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31" descr="/home/ahmed/Projects/ai_llm_slides/videos/machine-learning/02_linear-regression-classification-MSSE/recreated_pptx/build/assets/eq026_g1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14308" y="5955536"/>
                <a:ext cx="2296671" cy="307851"/>
              </a:xfrm>
              <a:prstGeom prst="rect">
                <a:avLst/>
              </a:prstGeom>
            </p:spPr>
          </p:pic>
        </mc:Fallback>
      </mc:AlternateContent>
      <p:sp>
        <p:nvSpPr>
          <p:cNvPr id="83" name="Shape 49"/>
          <p:cNvSpPr/>
          <p:nvPr/>
        </p:nvSpPr>
        <p:spPr>
          <a:xfrm>
            <a:off x="8827770" y="6225540"/>
            <a:ext cx="22733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50"/>
          <p:cNvSpPr/>
          <p:nvPr/>
        </p:nvSpPr>
        <p:spPr>
          <a:xfrm>
            <a:off x="10946130" y="6225540"/>
            <a:ext cx="15113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5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448300" y="6045200"/>
                </a:moveTo>
                <a:lnTo>
                  <a:pt x="5778500" y="6045200"/>
                </a:lnTo>
                <a:lnTo>
                  <a:pt x="5778500" y="5969000"/>
                </a:lnTo>
                <a:lnTo>
                  <a:pt x="5854700" y="6115050"/>
                </a:lnTo>
                <a:lnTo>
                  <a:pt x="5778500" y="6261100"/>
                </a:lnTo>
                <a:lnTo>
                  <a:pt x="5778500" y="6197600"/>
                </a:lnTo>
                <a:lnTo>
                  <a:pt x="5448300" y="61976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4B6C2"/>
            </a:solidFill>
            <a:prstDash val="solid"/>
          </a:ln>
        </p:spPr>
      </p:sp>
      <p:sp>
        <p:nvSpPr>
          <p:cNvPr id="86" name="Shape 5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204200" y="6045200"/>
                </a:moveTo>
                <a:lnTo>
                  <a:pt x="8534400" y="6045200"/>
                </a:lnTo>
                <a:lnTo>
                  <a:pt x="8534400" y="5969000"/>
                </a:lnTo>
                <a:lnTo>
                  <a:pt x="8610600" y="6115050"/>
                </a:lnTo>
                <a:lnTo>
                  <a:pt x="8534400" y="6261100"/>
                </a:lnTo>
                <a:lnTo>
                  <a:pt x="8534400" y="6197600"/>
                </a:lnTo>
                <a:lnTo>
                  <a:pt x="8204200" y="61976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4B6C2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6900" y="732790"/>
            <a:ext cx="1065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0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Sum Squared Error (MSSE) Technique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03600" y="1148080"/>
            <a:ext cx="508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60" b="1" dirty="0">
                <a:solidFill>
                  <a:srgbClr val="030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(Least Squares)</a:t>
            </a:r>
            <a:endParaRPr lang="en-US" sz="2760" dirty="0"/>
          </a:p>
        </p:txBody>
      </p:sp>
      <p:sp>
        <p:nvSpPr>
          <p:cNvPr id="7" name="Shape 5"/>
          <p:cNvSpPr/>
          <p:nvPr/>
        </p:nvSpPr>
        <p:spPr>
          <a:xfrm>
            <a:off x="1041400" y="2159000"/>
            <a:ext cx="3898900" cy="217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1400" y="4508500"/>
            <a:ext cx="3898900" cy="939800"/>
          </a:xfrm>
          <a:prstGeom prst="rect">
            <a:avLst/>
          </a:prstGeom>
          <a:solidFill>
            <a:srgbClr val="FFFFC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1100" y="3162300"/>
            <a:ext cx="4800600" cy="1155700"/>
          </a:xfrm>
          <a:prstGeom prst="rect">
            <a:avLst/>
          </a:prstGeom>
          <a:solidFill>
            <a:srgbClr val="F8C8D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7600" y="4749800"/>
            <a:ext cx="38989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3400" y="2387600"/>
            <a:ext cx="1727200" cy="711200"/>
          </a:xfrm>
          <a:prstGeom prst="roundRect">
            <a:avLst>
              <a:gd name="adj" fmla="val 9000"/>
            </a:avLst>
          </a:prstGeom>
          <a:solidFill>
            <a:srgbClr val="F8A5C2"/>
          </a:solidFill>
          <a:ln/>
        </p:spPr>
      </p:sp>
      <p:sp>
        <p:nvSpPr>
          <p:cNvPr id="12" name="Shape 10"/>
          <p:cNvSpPr/>
          <p:nvPr/>
        </p:nvSpPr>
        <p:spPr>
          <a:xfrm>
            <a:off x="2235200" y="4622800"/>
            <a:ext cx="1930400" cy="711200"/>
          </a:xfrm>
          <a:prstGeom prst="roundRect">
            <a:avLst>
              <a:gd name="adj" fmla="val 9000"/>
            </a:avLst>
          </a:prstGeom>
          <a:solidFill>
            <a:srgbClr val="F8A5C2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4600" y="4889500"/>
            <a:ext cx="2997200" cy="711200"/>
          </a:xfrm>
          <a:prstGeom prst="roundRect">
            <a:avLst>
              <a:gd name="adj" fmla="val 9000"/>
            </a:avLst>
          </a:prstGeom>
          <a:solidFill>
            <a:srgbClr val="CCE5FF"/>
          </a:solidFill>
          <a:ln/>
        </p:spPr>
      </p:sp>
      <p:pic>
        <p:nvPicPr>
          <p:cNvPr id="14" name="Image 0" descr="/home/ahmed/Projects/ai_llm_slides/videos/machine-learning/02_linear-regression-classification-MSSE/recreated_pptx/build/assets/eq_027_b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3528" y="2059940"/>
            <a:ext cx="591315" cy="351129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5" name="Equation OMML" descr="W"/>
              <p:cNvSpPr txBox="1"/>
              <p:nvPr/>
            </p:nvSpPr>
            <p:spPr>
              <a:xfrm>
                <a:off x="1143508" y="2591310"/>
                <a:ext cx="361188" cy="29108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880">
                          <a:solidFill>
                            <a:srgbClr val="0204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1" descr="/home/ahmed/Projects/ai_llm_slides/videos/machine-learning/02_linear-regression-classification-MSSE/recreated_pptx/build/assets/eq_027_lt_W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43508" y="2591310"/>
                <a:ext cx="361188" cy="291081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="/>
              <p:cNvSpPr txBox="1"/>
              <p:nvPr/>
            </p:nvSpPr>
            <p:spPr>
              <a:xfrm>
                <a:off x="1537208" y="2680585"/>
                <a:ext cx="227073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210">
                          <a:solidFill>
                            <a:srgbClr val="30303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2" descr="/home/ahmed/Projects/ai_llm_slides/videos/machine-learning/02_linear-regression-classification-MSSE/recreated_pptx/build/assets/eq_027_lt_eq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7208" y="2680585"/>
                <a:ext cx="227073" cy="13868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" name="Equation OMML" descr="(X_{N\times d})^{-1}"/>
              <p:cNvSpPr txBox="1"/>
              <p:nvPr/>
            </p:nvSpPr>
            <p:spPr>
              <a:xfrm>
                <a:off x="1816608" y="2430271"/>
                <a:ext cx="1408176" cy="5577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890">
                          <a:solidFill>
                            <a:srgbClr val="4F0078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3890">
                              <a:solidFill>
                                <a:srgbClr val="4F00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3890">
                              <a:solidFill>
                                <a:srgbClr val="4F0078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3890">
                              <a:solidFill>
                                <a:srgbClr val="4F0078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b>
                      </m:sSub>
                      <m:sSup>
                        <m:sSupPr>
                          <m:ctrlPr>
                            <a:rPr lang="en-US" i="1" smtClean="0" sz="3890">
                              <a:solidFill>
                                <a:srgbClr val="4F00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890">
                              <a:solidFill>
                                <a:srgbClr val="4F0078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3890">
                              <a:solidFill>
                                <a:srgbClr val="4F0078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3" descr="/home/ahmed/Projects/ai_llm_slides/videos/machine-learning/02_linear-regression-classification-MSSE/recreated_pptx/build/assets/eq_027_lt_C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6608" y="2430271"/>
                <a:ext cx="1408176" cy="5577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" name="Equation OMML" descr="Y"/>
              <p:cNvSpPr txBox="1"/>
              <p:nvPr/>
            </p:nvSpPr>
            <p:spPr>
              <a:xfrm>
                <a:off x="3302508" y="2606550"/>
                <a:ext cx="248415" cy="29108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880">
                          <a:solidFill>
                            <a:srgbClr val="A7001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4" descr="/home/ahmed/Projects/ai_llm_slides/videos/machine-learning/02_linear-regression-classification-MSSE/recreated_pptx/build/assets/eq_027_lt_Y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02508" y="2606550"/>
                <a:ext cx="248415" cy="291081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Shape 12"/>
          <p:cNvSpPr/>
          <p:nvPr/>
        </p:nvSpPr>
        <p:spPr>
          <a:xfrm>
            <a:off x="1155700" y="2901950"/>
            <a:ext cx="33020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3314700" y="2901950"/>
            <a:ext cx="203200" cy="0"/>
          </a:xfrm>
          <a:prstGeom prst="line">
            <a:avLst/>
          </a:prstGeom>
          <a:noFill/>
          <a:ln w="12700">
            <a:solidFill>
              <a:srgbClr val="A70010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064000" y="2438400"/>
            <a:ext cx="711200" cy="736600"/>
          </a:xfrm>
          <a:prstGeom prst="ellipse">
            <a:avLst/>
          </a:prstGeom>
          <a:solidFill>
            <a:srgbClr val="E7C420"/>
          </a:solidFill>
          <a:ln/>
        </p:spPr>
      </p:sp>
      <p:sp>
        <p:nvSpPr>
          <p:cNvPr id="22" name="Shape 15"/>
          <p:cNvSpPr/>
          <p:nvPr/>
        </p:nvSpPr>
        <p:spPr>
          <a:xfrm>
            <a:off x="4241800" y="2679700"/>
            <a:ext cx="82550" cy="95250"/>
          </a:xfrm>
          <a:prstGeom prst="ellipse">
            <a:avLst/>
          </a:prstGeom>
          <a:solidFill>
            <a:srgbClr val="140600"/>
          </a:solidFill>
          <a:ln/>
        </p:spPr>
      </p:sp>
      <p:sp>
        <p:nvSpPr>
          <p:cNvPr id="23" name="Shape 16"/>
          <p:cNvSpPr/>
          <p:nvPr/>
        </p:nvSpPr>
        <p:spPr>
          <a:xfrm>
            <a:off x="4495800" y="2679700"/>
            <a:ext cx="82550" cy="95250"/>
          </a:xfrm>
          <a:prstGeom prst="ellipse">
            <a:avLst/>
          </a:prstGeom>
          <a:solidFill>
            <a:srgbClr val="140600"/>
          </a:solidFill>
          <a:ln/>
        </p:spPr>
      </p:sp>
      <p:pic>
        <p:nvPicPr>
          <p:cNvPr id="24" name="Image 5" descr="/home/ahmed/Projects/ai_llm_slides/videos/machine-learning/02_linear-regression-classification-MSSE/recreated_pptx/build/assets/eq_027_fr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608" y="2858008"/>
            <a:ext cx="434340" cy="170691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5" name="Equation OMML" descr="X_{N\times d}"/>
              <p:cNvSpPr txBox="1"/>
              <p:nvPr/>
            </p:nvSpPr>
            <p:spPr>
              <a:xfrm>
                <a:off x="1130808" y="3302762"/>
                <a:ext cx="710187" cy="3657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3030">
                              <a:solidFill>
                                <a:srgbClr val="13151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3030">
                              <a:solidFill>
                                <a:srgbClr val="131512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3030">
                              <a:solidFill>
                                <a:srgbClr val="131512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6" descr="/home/ahmed/Projects/ai_llm_slides/videos/machine-learning/02_linear-regression-classification-MSSE/recreated_pptx/build/assets/eq_027_lt2_X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0808" y="3302762"/>
                <a:ext cx="710187" cy="36576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 17"/>
          <p:cNvSpPr/>
          <p:nvPr/>
        </p:nvSpPr>
        <p:spPr>
          <a:xfrm>
            <a:off x="2113280" y="3194050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60" spc="-120" kern="0" dirty="0">
                <a:solidFill>
                  <a:srgbClr val="2B1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non-square matrix</a:t>
            </a:r>
            <a:endParaRPr lang="en-US" sz="2160" dirty="0"/>
          </a:p>
        </p:txBody>
      </p:sp>
      <p:sp>
        <p:nvSpPr>
          <p:cNvPr id="27" name="Text 18"/>
          <p:cNvSpPr/>
          <p:nvPr/>
        </p:nvSpPr>
        <p:spPr>
          <a:xfrm>
            <a:off x="1187450" y="3564890"/>
            <a:ext cx="279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i="1" spc="-195" kern="0" dirty="0">
                <a:solidFill>
                  <a:srgbClr val="A70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Inverse</a:t>
            </a:r>
            <a:endParaRPr lang="en-US" sz="2250" dirty="0"/>
          </a:p>
        </p:txBody>
      </p:sp>
      <mc:AlternateContent>
        <mc:Choice xmlns:a14="http://schemas.microsoft.com/office/drawing/2010/main" Requires="a14">
          <p:sp>
            <p:nvSpPr>
              <p:cNvPr id="28" name="Equation OMML" descr="W"/>
              <p:cNvSpPr txBox="1"/>
              <p:nvPr/>
            </p:nvSpPr>
            <p:spPr>
              <a:xfrm>
                <a:off x="1283208" y="4858763"/>
                <a:ext cx="329184" cy="30327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010">
                          <a:solidFill>
                            <a:srgbClr val="0204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8" name="Image 7" descr="/home/ahmed/Projects/ai_llm_slides/videos/machine-learning/02_linear-regression-classification-MSSE/recreated_pptx/build/assets/eq_027_lb_W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3208" y="4858763"/>
                <a:ext cx="329184" cy="30327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9" name="Equation OMML" descr="="/>
              <p:cNvSpPr txBox="1"/>
              <p:nvPr/>
            </p:nvSpPr>
            <p:spPr>
              <a:xfrm>
                <a:off x="1880108" y="4953250"/>
                <a:ext cx="188979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210">
                          <a:solidFill>
                            <a:srgbClr val="2E2E1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9" name="Image 8" descr="/home/ahmed/Projects/ai_llm_slides/videos/machine-learning/02_linear-regression-classification-MSSE/recreated_pptx/build/assets/eq_027_lb_eq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0108" y="4953250"/>
                <a:ext cx="188979" cy="13868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0" name="Equation OMML" descr="(X^T X)^{-1}\; X^T"/>
              <p:cNvSpPr txBox="1"/>
              <p:nvPr/>
            </p:nvSpPr>
            <p:spPr>
              <a:xfrm>
                <a:off x="2223008" y="4770880"/>
                <a:ext cx="1891281" cy="4846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430">
                          <a:solidFill>
                            <a:srgbClr val="51006E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p>
                        <m:sSupPr>
                          <m:ctrlP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3430">
                          <a:solidFill>
                            <a:srgbClr val="51006E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sSup>
                        <m:sSupPr>
                          <m:ctrlP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  <m:r>
                        <a:rPr lang="en-US" i="1" smtClean="0" sz="3430">
                          <a:solidFill>
                            <a:srgbClr val="51006E"/>
                          </a:solidFill>
                          <a:latin typeface="Cambria Math" panose="02040503050406030204" pitchFamily="18" charset="0"/>
                        </a:rPr>
                        <m:t xml:space="preserve"> </m:t>
                      </m:r>
                      <m:sSup>
                        <m:sSupPr>
                          <m:ctrlP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3430">
                              <a:solidFill>
                                <a:srgbClr val="51006E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0" name="Image 9" descr="/home/ahmed/Projects/ai_llm_slides/videos/machine-learning/02_linear-regression-classification-MSSE/recreated_pptx/build/assets/eq_027_lb_C1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23008" y="4770880"/>
                <a:ext cx="1891281" cy="4846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1" name="Equation OMML" descr="Y"/>
              <p:cNvSpPr txBox="1"/>
              <p:nvPr/>
            </p:nvSpPr>
            <p:spPr>
              <a:xfrm>
                <a:off x="4420108" y="4855720"/>
                <a:ext cx="248415" cy="29108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880">
                          <a:solidFill>
                            <a:srgbClr val="BD000E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1" name="Image 10" descr="/home/ahmed/Projects/ai_llm_slides/videos/machine-learning/02_linear-regression-classification-MSSE/recreated_pptx/build/assets/eq_027_lb_Y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20108" y="4855720"/>
                <a:ext cx="248415" cy="291081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Shape 19"/>
          <p:cNvSpPr/>
          <p:nvPr/>
        </p:nvSpPr>
        <p:spPr>
          <a:xfrm>
            <a:off x="1295400" y="5168900"/>
            <a:ext cx="31750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4419600" y="5162550"/>
            <a:ext cx="254000" cy="0"/>
          </a:xfrm>
          <a:prstGeom prst="line">
            <a:avLst/>
          </a:prstGeom>
          <a:noFill/>
          <a:ln w="12700">
            <a:solidFill>
              <a:srgbClr val="BD000E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5683250" y="2646680"/>
            <a:ext cx="508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 Inverse of Non-Square Matrix</a:t>
            </a:r>
            <a:endParaRPr lang="en-US" sz="1600" dirty="0"/>
          </a:p>
        </p:txBody>
      </p:sp>
      <mc:AlternateContent>
        <mc:Choice xmlns:a14="http://schemas.microsoft.com/office/drawing/2010/main" Requires="a14">
          <p:sp>
            <p:nvSpPr>
              <p:cNvPr id="35" name="Equation OMML" descr="(X_{N\times d})^{-1}"/>
              <p:cNvSpPr txBox="1"/>
              <p:nvPr/>
            </p:nvSpPr>
            <p:spPr>
              <a:xfrm>
                <a:off x="6439408" y="3537969"/>
                <a:ext cx="1395987" cy="54711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800">
                          <a:solidFill>
                            <a:srgbClr val="1400A8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38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38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38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b>
                      </m:sSub>
                      <m:sSup>
                        <m:sSupPr>
                          <m:ctrlPr>
                            <a:rPr lang="en-US" i="1" smtClean="0" sz="38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8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38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11" descr="/home/ahmed/Projects/ai_llm_slides/videos/machine-learning/02_linear-regression-classification-MSSE/recreated_pptx/build/assets/eq_027_pb_A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39408" y="3537969"/>
                <a:ext cx="1395987" cy="54711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6" name="Equation OMML" descr="="/>
              <p:cNvSpPr txBox="1"/>
              <p:nvPr/>
            </p:nvSpPr>
            <p:spPr>
              <a:xfrm>
                <a:off x="8039608" y="3745480"/>
                <a:ext cx="227073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21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12" descr="/home/ahmed/Projects/ai_llm_slides/videos/machine-learning/02_linear-regression-classification-MSSE/recreated_pptx/build/assets/eq_027_pb_eq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39608" y="3745480"/>
                <a:ext cx="227073" cy="13868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7" name="Equation OMML" descr="(X^T X)"/>
              <p:cNvSpPr txBox="1"/>
              <p:nvPr/>
            </p:nvSpPr>
            <p:spPr>
              <a:xfrm>
                <a:off x="8458708" y="3524757"/>
                <a:ext cx="1293876" cy="5730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4100">
                          <a:solidFill>
                            <a:srgbClr val="1400A8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p>
                        <m:sSupPr>
                          <m:ctrlPr>
                            <a:rPr lang="en-US" i="1" smtClean="0" sz="41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41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41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  <m:r>
                        <a:rPr lang="en-US" i="1" smtClean="0" sz="4100">
                          <a:solidFill>
                            <a:srgbClr val="1400A8"/>
                          </a:solidFill>
                          <a:latin typeface="Cambria Math" panose="02040503050406030204" pitchFamily="18" charset="0"/>
                        </a:rPr>
                        <m:t xml:space="preserve">X)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13" descr="/home/ahmed/Projects/ai_llm_slides/videos/machine-learning/02_linear-regression-classification-MSSE/recreated_pptx/build/assets/eq_027_pb_C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58708" y="3524757"/>
                <a:ext cx="1293876" cy="57302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\;{}^{-1}"/>
              <p:cNvSpPr txBox="1"/>
              <p:nvPr/>
            </p:nvSpPr>
            <p:spPr>
              <a:xfrm>
                <a:off x="9792208" y="3516889"/>
                <a:ext cx="356616" cy="21335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940">
                              <a:solidFill>
                                <a:srgbClr val="B0021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940">
                              <a:solidFill>
                                <a:srgbClr val="B00218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2940">
                              <a:solidFill>
                                <a:srgbClr val="B00218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14" descr="/home/ahmed/Projects/ai_llm_slides/videos/machine-learning/02_linear-regression-classification-MSSE/recreated_pptx/build/assets/eq_027_pb_D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92208" y="3516889"/>
                <a:ext cx="356616" cy="21335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9" name="Equation OMML" descr="X^T"/>
              <p:cNvSpPr txBox="1"/>
              <p:nvPr/>
            </p:nvSpPr>
            <p:spPr>
              <a:xfrm>
                <a:off x="10224008" y="3530094"/>
                <a:ext cx="519681" cy="4572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37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7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3700">
                              <a:solidFill>
                                <a:srgbClr val="1400A8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9" name="Image 15" descr="/home/ahmed/Projects/ai_llm_slides/videos/machine-learning/02_linear-regression-classification-MSSE/recreated_pptx/build/assets/eq_027_pb_E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24008" y="3530094"/>
                <a:ext cx="519681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Text 22"/>
          <p:cNvSpPr/>
          <p:nvPr/>
        </p:nvSpPr>
        <p:spPr>
          <a:xfrm>
            <a:off x="6419850" y="4748530"/>
            <a:ext cx="152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spc="-280" kern="0" dirty="0">
                <a:solidFill>
                  <a:srgbClr val="9A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41" name="Equation OMML" descr="(X^T_{d\times N}\ X_{N\times d})"/>
              <p:cNvSpPr txBox="1"/>
              <p:nvPr/>
            </p:nvSpPr>
            <p:spPr>
              <a:xfrm>
                <a:off x="6388608" y="5183633"/>
                <a:ext cx="1548381" cy="3794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1A18B8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Sup>
                        <m:sSubSupPr>
                          <m:ctrlP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  <m:t xml:space="preserve">d×N</m:t>
                          </m:r>
                        </m:sub>
                        <m:sup>
                          <m: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bSup>
                      <m:r>
                        <a:rPr lang="en-US" i="1" smtClean="0" sz="2150">
                          <a:solidFill>
                            <a:srgbClr val="1A18B8"/>
                          </a:solidFill>
                          <a:latin typeface="Cambria Math" panose="02040503050406030204" pitchFamily="18" charset="0"/>
                        </a:rPr>
                        <m:t xml:space="preserve"> </m:t>
                      </m:r>
                      <m:sSub>
                        <m:sSubPr>
                          <m:ctrlP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150">
                              <a:solidFill>
                                <a:srgbClr val="1A18B8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b>
                      </m:sSub>
                      <m:r>
                        <a:rPr lang="en-US" i="1" smtClean="0" sz="2150">
                          <a:solidFill>
                            <a:srgbClr val="1A18B8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16" descr="/home/ahmed/Projects/ai_llm_slides/videos/machine-learning/02_linear-regression-classification-MSSE/recreated_pptx/build/assets/eq_027_rm_A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88608" y="5183633"/>
                <a:ext cx="1548381" cy="3794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2" name="Equation OMML" descr="\;{}^{-1}"/>
              <p:cNvSpPr txBox="1"/>
              <p:nvPr/>
            </p:nvSpPr>
            <p:spPr>
              <a:xfrm>
                <a:off x="7950708" y="5195828"/>
                <a:ext cx="201168" cy="12648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570">
                              <a:solidFill>
                                <a:srgbClr val="C020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70">
                              <a:solidFill>
                                <a:srgbClr val="C0202F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1570">
                              <a:solidFill>
                                <a:srgbClr val="C0202F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17" descr="/home/ahmed/Projects/ai_llm_slides/videos/machine-learning/02_linear-regression-classification-MSSE/recreated_pptx/build/assets/eq_027_rm_D1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50708" y="5195828"/>
                <a:ext cx="201168" cy="126489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Shape 23"/>
          <p:cNvSpPr/>
          <p:nvPr/>
        </p:nvSpPr>
        <p:spPr>
          <a:xfrm>
            <a:off x="7952740" y="5269230"/>
            <a:ext cx="101600" cy="0"/>
          </a:xfrm>
          <a:prstGeom prst="line">
            <a:avLst/>
          </a:prstGeom>
          <a:noFill/>
          <a:ln w="25400">
            <a:solidFill>
              <a:srgbClr val="C0202F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4" name="Equation OMML" descr="="/>
              <p:cNvSpPr txBox="1"/>
              <p:nvPr/>
            </p:nvSpPr>
            <p:spPr>
              <a:xfrm>
                <a:off x="8242808" y="5294126"/>
                <a:ext cx="164592" cy="11277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0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18" descr="/home/ahmed/Projects/ai_llm_slides/videos/machine-learning/02_linear-regression-classification-MSSE/recreated_pptx/build/assets/eq_027_rm_eq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42808" y="5294126"/>
                <a:ext cx="164592" cy="112773"/>
              </a:xfrm>
              <a:prstGeom prst="rect">
                <a:avLst/>
              </a:prstGeom>
            </p:spPr>
          </p:pic>
        </mc:Fallback>
      </mc:AlternateContent>
      <p:pic>
        <p:nvPicPr>
          <p:cNvPr id="45" name="Image 19" descr="/home/ahmed/Projects/ai_llm_slides/videos/machine-learning/02_linear-regression-classification-MSSE/recreated_pptx/build/assets/eq_027_rm_C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99856" y="5224780"/>
            <a:ext cx="400809" cy="286509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46" name="Equation OMML" descr="\;{}^{-1}"/>
              <p:cNvSpPr txBox="1"/>
              <p:nvPr/>
            </p:nvSpPr>
            <p:spPr>
              <a:xfrm>
                <a:off x="8915908" y="5198359"/>
                <a:ext cx="176781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760">
                              <a:solidFill>
                                <a:srgbClr val="C020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60">
                              <a:solidFill>
                                <a:srgbClr val="C0202F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1760">
                              <a:solidFill>
                                <a:srgbClr val="C0202F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20" descr="/home/ahmed/Projects/ai_llm_slides/videos/machine-learning/02_linear-regression-classification-MSSE/recreated_pptx/build/assets/eq_027_rm_D2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15908" y="5198359"/>
                <a:ext cx="176781" cy="138687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7" name="Equation OMML" descr="d"/>
              <p:cNvSpPr txBox="1"/>
              <p:nvPr/>
            </p:nvSpPr>
            <p:spPr>
              <a:xfrm>
                <a:off x="8890508" y="5398008"/>
                <a:ext cx="131061" cy="1645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20">
                          <a:solidFill>
                            <a:srgbClr val="1A18B8"/>
                          </a:solidFill>
                          <a:latin typeface="Cambria Math" panose="02040503050406030204" pitchFamily="18" charset="0"/>
                        </a:rPr>
                        <m:t xml:space="preserve">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7" name="Image 21" descr="/home/ahmed/Projects/ai_llm_slides/videos/machine-learning/02_linear-regression-classification-MSSE/recreated_pptx/build/assets/eq_027_rm_S1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890508" y="5398008"/>
                <a:ext cx="131061" cy="1645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8" name="Equation OMML" descr="\times"/>
              <p:cNvSpPr txBox="1"/>
              <p:nvPr/>
            </p:nvSpPr>
            <p:spPr>
              <a:xfrm>
                <a:off x="9030208" y="5436111"/>
                <a:ext cx="124971" cy="12648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20">
                          <a:solidFill>
                            <a:srgbClr val="1A18B8"/>
                          </a:solidFill>
                          <a:latin typeface="Cambria Math" panose="02040503050406030204" pitchFamily="18" charset="0"/>
                        </a:rPr>
                        <m:t xml:space="preserve"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22" descr="/home/ahmed/Projects/ai_llm_slides/videos/machine-learning/02_linear-regression-classification-MSSE/recreated_pptx/build/assets/eq_027_rm_S2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30208" y="5436111"/>
                <a:ext cx="124971" cy="12648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9" name="Equation OMML" descr="d"/>
              <p:cNvSpPr txBox="1"/>
              <p:nvPr/>
            </p:nvSpPr>
            <p:spPr>
              <a:xfrm>
                <a:off x="9157208" y="5398008"/>
                <a:ext cx="131061" cy="1645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20">
                          <a:solidFill>
                            <a:srgbClr val="1A18B8"/>
                          </a:solidFill>
                          <a:latin typeface="Cambria Math" panose="02040503050406030204" pitchFamily="18" charset="0"/>
                        </a:rPr>
                        <m:t xml:space="preserve">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9" name="Image 23" descr="/home/ahmed/Projects/ai_llm_slides/videos/machine-learning/02_linear-regression-classification-MSSE/recreated_pptx/build/assets/eq_027_rm_S3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57208" y="5398008"/>
                <a:ext cx="131061" cy="164592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 24"/>
          <p:cNvSpPr/>
          <p:nvPr/>
        </p:nvSpPr>
        <p:spPr>
          <a:xfrm>
            <a:off x="6438900" y="5751830"/>
            <a:ext cx="127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General:</a:t>
            </a:r>
            <a:endParaRPr lang="en-US" sz="1600" dirty="0"/>
          </a:p>
        </p:txBody>
      </p:sp>
      <mc:AlternateContent>
        <mc:Choice xmlns:a14="http://schemas.microsoft.com/office/drawing/2010/main" Requires="a14">
          <p:sp>
            <p:nvSpPr>
              <p:cNvPr id="51" name="Equation OMML" descr="d"/>
              <p:cNvSpPr txBox="1"/>
              <p:nvPr/>
            </p:nvSpPr>
            <p:spPr>
              <a:xfrm>
                <a:off x="7607808" y="5903216"/>
                <a:ext cx="179835" cy="22707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60">
                          <a:solidFill>
                            <a:srgbClr val="A5081C"/>
                          </a:solidFill>
                          <a:latin typeface="Cambria Math" panose="02040503050406030204" pitchFamily="18" charset="0"/>
                        </a:rPr>
                        <m:t xml:space="preserve">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24" descr="/home/ahmed/Projects/ai_llm_slides/videos/machine-learning/02_linear-regression-classification-MSSE/recreated_pptx/build/assets/eq_027_rm_d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07808" y="5903216"/>
                <a:ext cx="179835" cy="227073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Text 25"/>
          <p:cNvSpPr/>
          <p:nvPr/>
        </p:nvSpPr>
        <p:spPr>
          <a:xfrm>
            <a:off x="7890510" y="5751830"/>
            <a:ext cx="57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2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&lt;&lt;&lt;</a:t>
            </a:r>
            <a:endParaRPr lang="en-US" sz="2000" dirty="0"/>
          </a:p>
        </p:txBody>
      </p:sp>
      <mc:AlternateContent>
        <mc:Choice xmlns:a14="http://schemas.microsoft.com/office/drawing/2010/main" Requires="a14">
          <p:sp>
            <p:nvSpPr>
              <p:cNvPr id="53" name="Equation OMML" descr="N"/>
              <p:cNvSpPr txBox="1"/>
              <p:nvPr/>
            </p:nvSpPr>
            <p:spPr>
              <a:xfrm>
                <a:off x="8458708" y="5901686"/>
                <a:ext cx="216411" cy="22555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90">
                          <a:solidFill>
                            <a:srgbClr val="AC1028"/>
                          </a:solidFill>
                          <a:latin typeface="Cambria Math" panose="02040503050406030204" pitchFamily="18" charset="0"/>
                        </a:rPr>
                        <m:t xml:space="preserve">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3" name="Image 25" descr="/home/ahmed/Projects/ai_llm_slides/videos/machine-learning/02_linear-regression-classification-MSSE/recreated_pptx/build/assets/eq_027_rm_N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58708" y="5901686"/>
                <a:ext cx="216411" cy="225555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Shape 26"/>
          <p:cNvSpPr/>
          <p:nvPr/>
        </p:nvSpPr>
        <p:spPr>
          <a:xfrm>
            <a:off x="8940800" y="5791200"/>
            <a:ext cx="431800" cy="469900"/>
          </a:xfrm>
          <a:prstGeom prst="smileyFace">
            <a:avLst/>
          </a:prstGeom>
          <a:solidFill>
            <a:srgbClr val="F2DD4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3800" y="40132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Example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0750" y="1149350"/>
            <a:ext cx="73914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" name="Equation OMML" descr="x"/>
              <p:cNvSpPr txBox="1"/>
              <p:nvPr/>
            </p:nvSpPr>
            <p:spPr>
              <a:xfrm>
                <a:off x="1029208" y="1358645"/>
                <a:ext cx="167640" cy="1630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" name="Image 0" descr="/home/ahmed/Projects/ai_llm_slides/videos/machine-learning/02_linear-regression-classification-MSSE/recreated_pptx/build/assets/lx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29208" y="1358645"/>
                <a:ext cx="167640" cy="1630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" name="Equation OMML" descr="x"/>
              <p:cNvSpPr txBox="1"/>
              <p:nvPr/>
            </p:nvSpPr>
            <p:spPr>
              <a:xfrm>
                <a:off x="1029208" y="1726945"/>
                <a:ext cx="167640" cy="1630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" name="Image 1" descr="/home/ahmed/Projects/ai_llm_slides/videos/machine-learning/02_linear-regression-classification-MSSE/recreated_pptx/build/assets/lx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9208" y="1726945"/>
                <a:ext cx="167640" cy="1630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" name="Equation OMML" descr="1"/>
              <p:cNvSpPr txBox="1"/>
              <p:nvPr/>
            </p:nvSpPr>
            <p:spPr>
              <a:xfrm>
                <a:off x="1178433" y="1448053"/>
                <a:ext cx="68580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2" descr="/home/ahmed/Projects/ai_llm_slides/videos/machine-learning/02_linear-regression-classification-MSSE/recreated_pptx/build/assets/xs1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8433" y="1448053"/>
                <a:ext cx="68580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" name="Equation OMML" descr="2"/>
              <p:cNvSpPr txBox="1"/>
              <p:nvPr/>
            </p:nvSpPr>
            <p:spPr>
              <a:xfrm>
                <a:off x="1178433" y="1816353"/>
                <a:ext cx="96012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" name="Image 3" descr="/home/ahmed/Projects/ai_llm_slides/videos/machine-learning/02_linear-regression-classification-MSSE/recreated_pptx/build/assets/xs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8433" y="1816353"/>
                <a:ext cx="96012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" name="Equation OMML" descr="\Rightarrow"/>
              <p:cNvSpPr txBox="1"/>
              <p:nvPr/>
            </p:nvSpPr>
            <p:spPr>
              <a:xfrm>
                <a:off x="1499108" y="133756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4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9108" y="1337564"/>
                <a:ext cx="204216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" name="Equation OMML" descr="\Rightarrow"/>
              <p:cNvSpPr txBox="1"/>
              <p:nvPr/>
            </p:nvSpPr>
            <p:spPr>
              <a:xfrm>
                <a:off x="1499108" y="170586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5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9108" y="1705864"/>
                <a:ext cx="204216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" name="Equation OMML" descr="X_1"/>
              <p:cNvSpPr txBox="1"/>
              <p:nvPr/>
            </p:nvSpPr>
            <p:spPr>
              <a:xfrm>
                <a:off x="1892808" y="1437386"/>
                <a:ext cx="297180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6" descr="/home/ahmed/Projects/ai_llm_slides/videos/machine-learning/02_linear-regression-classification-MSSE/recreated_pptx/build/assets/vx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2808" y="1437386"/>
                <a:ext cx="297180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" name="Equation OMML" descr="X_2"/>
              <p:cNvSpPr txBox="1"/>
              <p:nvPr/>
            </p:nvSpPr>
            <p:spPr>
              <a:xfrm>
                <a:off x="3035808" y="1437386"/>
                <a:ext cx="31394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7" descr="/home/ahmed/Projects/ai_llm_slides/videos/machine-learning/02_linear-regression-classification-MSSE/recreated_pptx/build/assets/vx2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35808" y="1437386"/>
                <a:ext cx="31394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" name="Equation OMML" descr="X_3"/>
              <p:cNvSpPr txBox="1"/>
              <p:nvPr/>
            </p:nvSpPr>
            <p:spPr>
              <a:xfrm>
                <a:off x="4166108" y="1437385"/>
                <a:ext cx="306324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8" descr="/home/ahmed/Projects/ai_llm_slides/videos/machine-learning/02_linear-regression-classification-MSSE/recreated_pptx/build/assets/vx3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66108" y="1437385"/>
                <a:ext cx="306324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X_4"/>
              <p:cNvSpPr txBox="1"/>
              <p:nvPr/>
            </p:nvSpPr>
            <p:spPr>
              <a:xfrm>
                <a:off x="5271008" y="1437386"/>
                <a:ext cx="31394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9" descr="/home/ahmed/Projects/ai_llm_slides/videos/machine-learning/02_linear-regression-classification-MSSE/recreated_pptx/build/assets/vx4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71008" y="1437386"/>
                <a:ext cx="31394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" name="Equation OMML" descr="="/>
              <p:cNvSpPr txBox="1"/>
              <p:nvPr/>
            </p:nvSpPr>
            <p:spPr>
              <a:xfrm>
                <a:off x="22103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10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03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" name="Equation OMML" descr="="/>
              <p:cNvSpPr txBox="1"/>
              <p:nvPr/>
            </p:nvSpPr>
            <p:spPr>
              <a:xfrm>
                <a:off x="33533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11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533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9" name="Equation OMML" descr="="/>
              <p:cNvSpPr txBox="1"/>
              <p:nvPr/>
            </p:nvSpPr>
            <p:spPr>
              <a:xfrm>
                <a:off x="44582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" name="Image 12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582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" name="Equation OMML" descr="="/>
              <p:cNvSpPr txBox="1"/>
              <p:nvPr/>
            </p:nvSpPr>
            <p:spPr>
              <a:xfrm>
                <a:off x="55885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13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885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" name="Equation OMML" descr="1"/>
              <p:cNvSpPr txBox="1"/>
              <p:nvPr/>
            </p:nvSpPr>
            <p:spPr>
              <a:xfrm>
                <a:off x="2502408" y="13007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14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408" y="13007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" name="Equation OMML" descr="1"/>
              <p:cNvSpPr txBox="1"/>
              <p:nvPr/>
            </p:nvSpPr>
            <p:spPr>
              <a:xfrm>
                <a:off x="2502408" y="16182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" name="Image 15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02408" y="16182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" name="Equation OMML" descr="2"/>
              <p:cNvSpPr txBox="1"/>
              <p:nvPr/>
            </p:nvSpPr>
            <p:spPr>
              <a:xfrm>
                <a:off x="3632708" y="13007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" name="Image 16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32708" y="1300734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" name="Equation OMML" descr="2"/>
              <p:cNvSpPr txBox="1"/>
              <p:nvPr/>
            </p:nvSpPr>
            <p:spPr>
              <a:xfrm>
                <a:off x="3632708" y="16182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17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32708" y="1618234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5" name="Equation OMML" descr="2"/>
              <p:cNvSpPr txBox="1"/>
              <p:nvPr/>
            </p:nvSpPr>
            <p:spPr>
              <a:xfrm>
                <a:off x="4750308" y="13007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18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50308" y="1300734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6" name="Equation OMML" descr="1"/>
              <p:cNvSpPr txBox="1"/>
              <p:nvPr/>
            </p:nvSpPr>
            <p:spPr>
              <a:xfrm>
                <a:off x="4750308" y="16182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6" name="Image 19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50308" y="16182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7" name="Equation OMML" descr="1"/>
              <p:cNvSpPr txBox="1"/>
              <p:nvPr/>
            </p:nvSpPr>
            <p:spPr>
              <a:xfrm>
                <a:off x="5880608" y="13007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7" name="Image 20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80608" y="13007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8" name="Equation OMML" descr="2"/>
              <p:cNvSpPr txBox="1"/>
              <p:nvPr/>
            </p:nvSpPr>
            <p:spPr>
              <a:xfrm>
                <a:off x="5867908" y="16182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8" name="Image 21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67908" y="1618234"/>
                <a:ext cx="150876" cy="216408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Image 22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3000" y="1320800"/>
            <a:ext cx="38100" cy="501396"/>
          </a:xfrm>
          <a:prstGeom prst="rect">
            <a:avLst/>
          </a:prstGeom>
        </p:spPr>
      </p:pic>
      <p:pic>
        <p:nvPicPr>
          <p:cNvPr id="30" name="Image 23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54300" y="1320800"/>
            <a:ext cx="38100" cy="501396"/>
          </a:xfrm>
          <a:prstGeom prst="rect">
            <a:avLst/>
          </a:prstGeom>
        </p:spPr>
      </p:pic>
      <p:pic>
        <p:nvPicPr>
          <p:cNvPr id="31" name="Image 24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8700" y="1320800"/>
            <a:ext cx="38100" cy="501396"/>
          </a:xfrm>
          <a:prstGeom prst="rect">
            <a:avLst/>
          </a:prstGeom>
        </p:spPr>
      </p:pic>
      <p:pic>
        <p:nvPicPr>
          <p:cNvPr id="32" name="Image 25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97300" y="1320800"/>
            <a:ext cx="38100" cy="501396"/>
          </a:xfrm>
          <a:prstGeom prst="rect">
            <a:avLst/>
          </a:prstGeom>
        </p:spPr>
      </p:pic>
      <p:pic>
        <p:nvPicPr>
          <p:cNvPr id="33" name="Image 26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86300" y="1320800"/>
            <a:ext cx="38100" cy="501396"/>
          </a:xfrm>
          <a:prstGeom prst="rect">
            <a:avLst/>
          </a:prstGeom>
        </p:spPr>
      </p:pic>
      <p:pic>
        <p:nvPicPr>
          <p:cNvPr id="34" name="Image 27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27600" y="1320800"/>
            <a:ext cx="38100" cy="501396"/>
          </a:xfrm>
          <a:prstGeom prst="rect">
            <a:avLst/>
          </a:prstGeom>
        </p:spPr>
      </p:pic>
      <p:pic>
        <p:nvPicPr>
          <p:cNvPr id="35" name="Image 28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03900" y="1320800"/>
            <a:ext cx="38100" cy="501396"/>
          </a:xfrm>
          <a:prstGeom prst="rect">
            <a:avLst/>
          </a:prstGeom>
        </p:spPr>
      </p:pic>
      <p:pic>
        <p:nvPicPr>
          <p:cNvPr id="36" name="Image 29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45200" y="1320800"/>
            <a:ext cx="38100" cy="50139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37" name="Equation OMML" descr="y_1"/>
              <p:cNvSpPr txBox="1"/>
              <p:nvPr/>
            </p:nvSpPr>
            <p:spPr>
              <a:xfrm>
                <a:off x="1880108" y="2031746"/>
                <a:ext cx="25146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30" descr="/home/ahmed/Projects/ai_llm_slides/videos/machine-learning/02_linear-regression-classification-MSSE/recreated_pptx/build/assets/vy1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80108" y="2031746"/>
                <a:ext cx="25146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y_2"/>
              <p:cNvSpPr txBox="1"/>
              <p:nvPr/>
            </p:nvSpPr>
            <p:spPr>
              <a:xfrm>
                <a:off x="3035808" y="2031746"/>
                <a:ext cx="268224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31" descr="/home/ahmed/Projects/ai_llm_slides/videos/machine-learning/02_linear-regression-classification-MSSE/recreated_pptx/build/assets/vy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035808" y="2031746"/>
                <a:ext cx="268224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9" name="Equation OMML" descr="y_3"/>
              <p:cNvSpPr txBox="1"/>
              <p:nvPr/>
            </p:nvSpPr>
            <p:spPr>
              <a:xfrm>
                <a:off x="4153408" y="2031746"/>
                <a:ext cx="2590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9" name="Image 32" descr="/home/ahmed/Projects/ai_llm_slides/videos/machine-learning/02_linear-regression-classification-MSSE/recreated_pptx/build/assets/vy3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53408" y="2031746"/>
                <a:ext cx="2590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0" name="Equation OMML" descr="y_4"/>
              <p:cNvSpPr txBox="1"/>
              <p:nvPr/>
            </p:nvSpPr>
            <p:spPr>
              <a:xfrm>
                <a:off x="5258308" y="2031746"/>
                <a:ext cx="268224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0" name="Image 33" descr="/home/ahmed/Projects/ai_llm_slides/videos/machine-learning/02_linear-regression-classification-MSSE/recreated_pptx/build/assets/vy4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258308" y="2031746"/>
                <a:ext cx="268224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1" name="Equation OMML" descr="="/>
              <p:cNvSpPr txBox="1"/>
              <p:nvPr/>
            </p:nvSpPr>
            <p:spPr>
              <a:xfrm>
                <a:off x="21595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34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595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2" name="Equation OMML" descr="="/>
              <p:cNvSpPr txBox="1"/>
              <p:nvPr/>
            </p:nvSpPr>
            <p:spPr>
              <a:xfrm>
                <a:off x="33152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35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152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3" name="Equation OMML" descr="="/>
              <p:cNvSpPr txBox="1"/>
              <p:nvPr/>
            </p:nvSpPr>
            <p:spPr>
              <a:xfrm>
                <a:off x="44201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3" name="Image 36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201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4" name="Equation OMML" descr="="/>
              <p:cNvSpPr txBox="1"/>
              <p:nvPr/>
            </p:nvSpPr>
            <p:spPr>
              <a:xfrm>
                <a:off x="55377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37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377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10"/>
              <p:cNvSpPr txBox="1"/>
              <p:nvPr/>
            </p:nvSpPr>
            <p:spPr>
              <a:xfrm>
                <a:off x="2377948" y="1979929"/>
                <a:ext cx="259080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38" descr="/home/ahmed/Projects/ai_llm_slides/videos/machine-learning/02_linear-regression-classification-MSSE/recreated_pptx/build/assets/vp10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77948" y="1979929"/>
                <a:ext cx="259080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15"/>
              <p:cNvSpPr txBox="1"/>
              <p:nvPr/>
            </p:nvSpPr>
            <p:spPr>
              <a:xfrm>
                <a:off x="3525520" y="1976881"/>
                <a:ext cx="249936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39" descr="/home/ahmed/Projects/ai_llm_slides/videos/machine-learning/02_linear-regression-classification-MSSE/recreated_pptx/build/assets/vp15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25520" y="1976881"/>
                <a:ext cx="249936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7" name="Equation OMML" descr="13"/>
              <p:cNvSpPr txBox="1"/>
              <p:nvPr/>
            </p:nvSpPr>
            <p:spPr>
              <a:xfrm>
                <a:off x="4644644" y="1979929"/>
                <a:ext cx="24688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7" name="Image 40" descr="/home/ahmed/Projects/ai_llm_slides/videos/machine-learning/02_linear-regression-classification-MSSE/recreated_pptx/build/assets/vp13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44644" y="1979929"/>
                <a:ext cx="24688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8" name="Equation OMML" descr="12"/>
              <p:cNvSpPr txBox="1"/>
              <p:nvPr/>
            </p:nvSpPr>
            <p:spPr>
              <a:xfrm>
                <a:off x="5750560" y="1979930"/>
                <a:ext cx="25755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41" descr="/home/ahmed/Projects/ai_llm_slides/videos/machine-learning/02_linear-regression-classification-MSSE/recreated_pptx/build/assets/vp12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750560" y="1979930"/>
                <a:ext cx="257556" cy="210312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 5"/>
          <p:cNvSpPr/>
          <p:nvPr/>
        </p:nvSpPr>
        <p:spPr>
          <a:xfrm>
            <a:off x="6464300" y="1299845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i="1" spc="-120" kern="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850" dirty="0"/>
          </a:p>
        </p:txBody>
      </p:sp>
      <mc:AlternateContent>
        <mc:Choice xmlns:a14="http://schemas.microsoft.com/office/drawing/2010/main" Requires="a14">
          <p:sp>
            <p:nvSpPr>
              <p:cNvPr id="50" name="Equation OMML" descr="X"/>
              <p:cNvSpPr txBox="1"/>
              <p:nvPr/>
            </p:nvSpPr>
            <p:spPr>
              <a:xfrm>
                <a:off x="7341108" y="1437387"/>
                <a:ext cx="228600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0" name="Image 42" descr="/home/ahmed/Projects/ai_llm_slides/videos/machine-learning/02_linear-regression-classification-MSSE/recreated_pptx/build/assets/vxq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41108" y="1437387"/>
                <a:ext cx="228600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1" name="Equation OMML" descr="="/>
              <p:cNvSpPr txBox="1"/>
              <p:nvPr/>
            </p:nvSpPr>
            <p:spPr>
              <a:xfrm>
                <a:off x="75697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43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5697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2" name="Equation OMML" descr="7"/>
              <p:cNvSpPr txBox="1"/>
              <p:nvPr/>
            </p:nvSpPr>
            <p:spPr>
              <a:xfrm>
                <a:off x="7874508" y="1303782"/>
                <a:ext cx="14630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2" name="Image 44" descr="/home/ahmed/Projects/ai_llm_slides/videos/machine-learning/02_linear-regression-classification-MSSE/recreated_pptx/build/assets/vd7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74508" y="1303782"/>
                <a:ext cx="146304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3" name="Equation OMML" descr="3"/>
              <p:cNvSpPr txBox="1"/>
              <p:nvPr/>
            </p:nvSpPr>
            <p:spPr>
              <a:xfrm>
                <a:off x="7874508" y="1618234"/>
                <a:ext cx="134112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3" name="Image 45" descr="/home/ahmed/Projects/ai_llm_slides/videos/machine-learning/02_linear-regression-classification-MSSE/recreated_pptx/build/assets/vd3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874508" y="1618234"/>
                <a:ext cx="134112" cy="220980"/>
              </a:xfrm>
              <a:prstGeom prst="rect">
                <a:avLst/>
              </a:prstGeom>
            </p:spPr>
          </p:pic>
        </mc:Fallback>
      </mc:AlternateContent>
      <p:pic>
        <p:nvPicPr>
          <p:cNvPr id="54" name="Image 46" descr="/home/ahmed/Projects/ai_llm_slides/videos/machine-learning/02_linear-regression-classification-MSSE/recreated_pptx/build/assets/dl028_ql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797800" y="1358900"/>
            <a:ext cx="38100" cy="477012"/>
          </a:xfrm>
          <a:prstGeom prst="rect">
            <a:avLst/>
          </a:prstGeom>
        </p:spPr>
      </p:pic>
      <p:pic>
        <p:nvPicPr>
          <p:cNvPr id="55" name="Image 47" descr="/home/ahmed/Projects/ai_llm_slides/videos/machine-learning/02_linear-regression-classification-MSSE/recreated_pptx/build/assets/dl028_qr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39100" y="1358900"/>
            <a:ext cx="38100" cy="47701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56" name="Equation OMML" descr="y=???"/>
              <p:cNvSpPr txBox="1"/>
              <p:nvPr/>
            </p:nvSpPr>
            <p:spPr>
              <a:xfrm>
                <a:off x="7264908" y="1960118"/>
                <a:ext cx="894588" cy="2926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y=???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48" descr="/home/ahmed/Projects/ai_llm_slides/videos/machine-learning/02_linear-regression-classification-MSSE/recreated_pptx/build/assets/vyq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264908" y="1960118"/>
                <a:ext cx="894588" cy="292608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Shape 6"/>
          <p:cNvSpPr/>
          <p:nvPr/>
        </p:nvSpPr>
        <p:spPr>
          <a:xfrm>
            <a:off x="8496300" y="1295400"/>
            <a:ext cx="2774950" cy="457200"/>
          </a:xfrm>
          <a:prstGeom prst="rect">
            <a:avLst/>
          </a:prstGeom>
          <a:solidFill>
            <a:srgbClr val="F7FADB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58" name="Shape 7"/>
          <p:cNvSpPr/>
          <p:nvPr/>
        </p:nvSpPr>
        <p:spPr>
          <a:xfrm>
            <a:off x="9671050" y="1879600"/>
            <a:ext cx="1333500" cy="457200"/>
          </a:xfrm>
          <a:prstGeom prst="rect">
            <a:avLst/>
          </a:prstGeom>
          <a:solidFill>
            <a:srgbClr val="E6F9F8"/>
          </a:solidFill>
          <a:ln w="254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9" name="Equation OMML" descr="W"/>
              <p:cNvSpPr txBox="1"/>
              <p:nvPr/>
            </p:nvSpPr>
            <p:spPr>
              <a:xfrm>
                <a:off x="8611108" y="1470405"/>
                <a:ext cx="263652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49" descr="/home/ahmed/Projects/ai_llm_slides/videos/machine-learning/02_linear-regression-classification-MSSE/recreated_pptx/build/assets/eW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611108" y="1470405"/>
                <a:ext cx="263652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="/>
              <p:cNvSpPr txBox="1"/>
              <p:nvPr/>
            </p:nvSpPr>
            <p:spPr>
              <a:xfrm>
                <a:off x="9055608" y="152628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50" descr="/home/ahmed/Projects/ai_llm_slides/videos/machine-learning/02_linear-regression-classification-MSSE/recreated_pptx/build/assets/eeq.png">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55608" y="1526286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61" name="Image 51" descr="/home/ahmed/Projects/ai_llm_slides/videos/machine-learning/02_linear-regression-classification-MSSE/recreated_pptx/build/assets/pl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309608" y="1406017"/>
            <a:ext cx="82296" cy="31699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62" name="Equation OMML" descr="X"/>
              <p:cNvSpPr txBox="1"/>
              <p:nvPr/>
            </p:nvSpPr>
            <p:spPr>
              <a:xfrm>
                <a:off x="9423908" y="1470405"/>
                <a:ext cx="219456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52" descr="/home/ahmed/Projects/ai_llm_slides/videos/machine-learning/02_linear-regression-classification-MSSE/recreated_pptx/build/assets/Xa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423908" y="1470405"/>
                <a:ext cx="219456" cy="2118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T"/>
              <p:cNvSpPr txBox="1"/>
              <p:nvPr/>
            </p:nvSpPr>
            <p:spPr>
              <a:xfrm>
                <a:off x="9639808" y="1407922"/>
                <a:ext cx="117348" cy="1341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53" descr="/home/ahmed/Projects/ai_llm_slides/videos/machine-learning/02_linear-regression-classification-MSSE/recreated_pptx/build/assets/T1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639808" y="1407922"/>
                <a:ext cx="117348" cy="1341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X"/>
              <p:cNvSpPr txBox="1"/>
              <p:nvPr/>
            </p:nvSpPr>
            <p:spPr>
              <a:xfrm>
                <a:off x="9779508" y="1470405"/>
                <a:ext cx="219456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54" descr="/home/ahmed/Projects/ai_llm_slides/videos/machine-learning/02_linear-regression-classification-MSSE/recreated_pptx/build/assets/Xb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79508" y="1470405"/>
                <a:ext cx="219456" cy="211836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Image 55" descr="/home/ahmed/Projects/ai_llm_slides/videos/machine-learning/02_linear-regression-classification-MSSE/recreated_pptx/build/assets/pr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008108" y="1406017"/>
            <a:ext cx="82296" cy="31699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66" name="Equation OMML" descr="\;{}^{-1}"/>
              <p:cNvSpPr txBox="1"/>
              <p:nvPr/>
            </p:nvSpPr>
            <p:spPr>
              <a:xfrm>
                <a:off x="10109708" y="1396365"/>
                <a:ext cx="228600" cy="1584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25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25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225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56" descr="/home/ahmed/Projects/ai_llm_slides/videos/machine-learning/02_linear-regression-classification-MSSE/recreated_pptx/build/assets/inv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09708" y="1396365"/>
                <a:ext cx="228600" cy="1584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X^T"/>
              <p:cNvSpPr txBox="1"/>
              <p:nvPr/>
            </p:nvSpPr>
            <p:spPr>
              <a:xfrm>
                <a:off x="10351008" y="1407921"/>
                <a:ext cx="364236" cy="2743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2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2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2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57" descr="/home/ahmed/Projects/ai_llm_slides/videos/machine-learning/02_linear-regression-classification-MSSE/recreated_pptx/build/assets/XT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351008" y="1407921"/>
                <a:ext cx="364236" cy="2743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Y"/>
              <p:cNvSpPr txBox="1"/>
              <p:nvPr/>
            </p:nvSpPr>
            <p:spPr>
              <a:xfrm>
                <a:off x="10897108" y="1470405"/>
                <a:ext cx="182880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58" descr="/home/ahmed/Projects/ai_llm_slides/videos/machine-learning/02_linear-regression-classification-MSSE/recreated_pptx/build/assets/eY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897108" y="1470405"/>
                <a:ext cx="182880" cy="211836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Shape 8"/>
          <p:cNvSpPr/>
          <p:nvPr/>
        </p:nvSpPr>
        <p:spPr>
          <a:xfrm>
            <a:off x="8623300" y="1695450"/>
            <a:ext cx="2349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9"/>
          <p:cNvSpPr/>
          <p:nvPr/>
        </p:nvSpPr>
        <p:spPr>
          <a:xfrm>
            <a:off x="10902950" y="1695450"/>
            <a:ext cx="16510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1" name="Equation OMML" descr="y="/>
              <p:cNvSpPr txBox="1"/>
              <p:nvPr/>
            </p:nvSpPr>
            <p:spPr>
              <a:xfrm>
                <a:off x="9766808" y="2067051"/>
                <a:ext cx="446532" cy="2346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59" descr="/home/ahmed/Projects/ai_llm_slides/videos/machine-learning/02_linear-regression-classification-MSSE/recreated_pptx/build/assets/ey2.png">    </p:cNvPr>
              <p:cNvPicPr>
                <a:picLocks noChangeAspect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766808" y="2067051"/>
                <a:ext cx="446532" cy="2346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W^T"/>
              <p:cNvSpPr txBox="1"/>
              <p:nvPr/>
            </p:nvSpPr>
            <p:spPr>
              <a:xfrm>
                <a:off x="10249408" y="1961641"/>
                <a:ext cx="448056" cy="3108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5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5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25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60" descr="/home/ahmed/Projects/ai_llm_slides/videos/machine-learning/02_linear-regression-classification-MSSE/recreated_pptx/build/assets/eWT.png">    </p:cNvPr>
              <p:cNvPicPr>
                <a:picLocks noChangeAspect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249408" y="1961641"/>
                <a:ext cx="448056" cy="3108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X"/>
              <p:cNvSpPr txBox="1"/>
              <p:nvPr/>
            </p:nvSpPr>
            <p:spPr>
              <a:xfrm>
                <a:off x="10717784" y="2022095"/>
                <a:ext cx="242316" cy="2301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61" descr="/home/ahmed/Projects/ai_llm_slides/videos/machine-learning/02_linear-regression-classification-MSSE/recreated_pptx/build/assets/eX.png">    </p:cNvPr>
              <p:cNvPicPr>
                <a:picLocks noChangeAspect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717784" y="2022095"/>
                <a:ext cx="242316" cy="230124"/>
              </a:xfrm>
              <a:prstGeom prst="rect">
                <a:avLst/>
              </a:prstGeom>
            </p:spPr>
          </p:pic>
        </mc:Fallback>
      </mc:AlternateContent>
      <p:sp>
        <p:nvSpPr>
          <p:cNvPr id="74" name="Shape 10"/>
          <p:cNvSpPr/>
          <p:nvPr/>
        </p:nvSpPr>
        <p:spPr>
          <a:xfrm>
            <a:off x="10274300" y="2272030"/>
            <a:ext cx="260350" cy="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75" name="Shape 11"/>
          <p:cNvSpPr/>
          <p:nvPr/>
        </p:nvSpPr>
        <p:spPr>
          <a:xfrm>
            <a:off x="10756900" y="2254250"/>
            <a:ext cx="15875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3800" y="40132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Example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0750" y="1149350"/>
            <a:ext cx="73914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" name="Equation OMML" descr="x"/>
              <p:cNvSpPr txBox="1"/>
              <p:nvPr/>
            </p:nvSpPr>
            <p:spPr>
              <a:xfrm>
                <a:off x="1029208" y="1358645"/>
                <a:ext cx="167640" cy="1630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" name="Image 0" descr="/home/ahmed/Projects/ai_llm_slides/videos/machine-learning/02_linear-regression-classification-MSSE/recreated_pptx/build/assets/lx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29208" y="1358645"/>
                <a:ext cx="167640" cy="1630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" name="Equation OMML" descr="x"/>
              <p:cNvSpPr txBox="1"/>
              <p:nvPr/>
            </p:nvSpPr>
            <p:spPr>
              <a:xfrm>
                <a:off x="1029208" y="1726945"/>
                <a:ext cx="167640" cy="1630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" name="Image 1" descr="/home/ahmed/Projects/ai_llm_slides/videos/machine-learning/02_linear-regression-classification-MSSE/recreated_pptx/build/assets/lx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9208" y="1726945"/>
                <a:ext cx="167640" cy="1630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" name="Equation OMML" descr="1"/>
              <p:cNvSpPr txBox="1"/>
              <p:nvPr/>
            </p:nvSpPr>
            <p:spPr>
              <a:xfrm>
                <a:off x="1178433" y="1448053"/>
                <a:ext cx="68580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2" descr="/home/ahmed/Projects/ai_llm_slides/videos/machine-learning/02_linear-regression-classification-MSSE/recreated_pptx/build/assets/xs1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8433" y="1448053"/>
                <a:ext cx="68580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" name="Equation OMML" descr="2"/>
              <p:cNvSpPr txBox="1"/>
              <p:nvPr/>
            </p:nvSpPr>
            <p:spPr>
              <a:xfrm>
                <a:off x="1178433" y="1816353"/>
                <a:ext cx="96012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" name="Image 3" descr="/home/ahmed/Projects/ai_llm_slides/videos/machine-learning/02_linear-regression-classification-MSSE/recreated_pptx/build/assets/xs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8433" y="1816353"/>
                <a:ext cx="96012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" name="Equation OMML" descr="\Rightarrow"/>
              <p:cNvSpPr txBox="1"/>
              <p:nvPr/>
            </p:nvSpPr>
            <p:spPr>
              <a:xfrm>
                <a:off x="1499108" y="133756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4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9108" y="1337564"/>
                <a:ext cx="204216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" name="Equation OMML" descr="\Rightarrow"/>
              <p:cNvSpPr txBox="1"/>
              <p:nvPr/>
            </p:nvSpPr>
            <p:spPr>
              <a:xfrm>
                <a:off x="1499108" y="170586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5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9108" y="1705864"/>
                <a:ext cx="204216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" name="Equation OMML" descr="X_1"/>
              <p:cNvSpPr txBox="1"/>
              <p:nvPr/>
            </p:nvSpPr>
            <p:spPr>
              <a:xfrm>
                <a:off x="1892808" y="1437386"/>
                <a:ext cx="297180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6" descr="/home/ahmed/Projects/ai_llm_slides/videos/machine-learning/02_linear-regression-classification-MSSE/recreated_pptx/build/assets/vx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2808" y="1437386"/>
                <a:ext cx="297180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" name="Equation OMML" descr="X_2"/>
              <p:cNvSpPr txBox="1"/>
              <p:nvPr/>
            </p:nvSpPr>
            <p:spPr>
              <a:xfrm>
                <a:off x="3035808" y="1437386"/>
                <a:ext cx="31394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7" descr="/home/ahmed/Projects/ai_llm_slides/videos/machine-learning/02_linear-regression-classification-MSSE/recreated_pptx/build/assets/vx2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35808" y="1437386"/>
                <a:ext cx="31394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" name="Equation OMML" descr="X_3"/>
              <p:cNvSpPr txBox="1"/>
              <p:nvPr/>
            </p:nvSpPr>
            <p:spPr>
              <a:xfrm>
                <a:off x="4166108" y="1437385"/>
                <a:ext cx="306324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8" descr="/home/ahmed/Projects/ai_llm_slides/videos/machine-learning/02_linear-regression-classification-MSSE/recreated_pptx/build/assets/vx3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66108" y="1437385"/>
                <a:ext cx="306324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X_4"/>
              <p:cNvSpPr txBox="1"/>
              <p:nvPr/>
            </p:nvSpPr>
            <p:spPr>
              <a:xfrm>
                <a:off x="5271008" y="1437386"/>
                <a:ext cx="31394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9" descr="/home/ahmed/Projects/ai_llm_slides/videos/machine-learning/02_linear-regression-classification-MSSE/recreated_pptx/build/assets/vx4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71008" y="1437386"/>
                <a:ext cx="31394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" name="Equation OMML" descr="="/>
              <p:cNvSpPr txBox="1"/>
              <p:nvPr/>
            </p:nvSpPr>
            <p:spPr>
              <a:xfrm>
                <a:off x="22103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10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03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" name="Equation OMML" descr="="/>
              <p:cNvSpPr txBox="1"/>
              <p:nvPr/>
            </p:nvSpPr>
            <p:spPr>
              <a:xfrm>
                <a:off x="33533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11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533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9" name="Equation OMML" descr="="/>
              <p:cNvSpPr txBox="1"/>
              <p:nvPr/>
            </p:nvSpPr>
            <p:spPr>
              <a:xfrm>
                <a:off x="44582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" name="Image 12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582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" name="Equation OMML" descr="="/>
              <p:cNvSpPr txBox="1"/>
              <p:nvPr/>
            </p:nvSpPr>
            <p:spPr>
              <a:xfrm>
                <a:off x="55885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13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885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" name="Equation OMML" descr="1"/>
              <p:cNvSpPr txBox="1"/>
              <p:nvPr/>
            </p:nvSpPr>
            <p:spPr>
              <a:xfrm>
                <a:off x="2502408" y="13007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14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408" y="13007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" name="Equation OMML" descr="1"/>
              <p:cNvSpPr txBox="1"/>
              <p:nvPr/>
            </p:nvSpPr>
            <p:spPr>
              <a:xfrm>
                <a:off x="2502408" y="16182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" name="Image 15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02408" y="16182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" name="Equation OMML" descr="2"/>
              <p:cNvSpPr txBox="1"/>
              <p:nvPr/>
            </p:nvSpPr>
            <p:spPr>
              <a:xfrm>
                <a:off x="3632708" y="13007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" name="Image 16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32708" y="1300734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" name="Equation OMML" descr="2"/>
              <p:cNvSpPr txBox="1"/>
              <p:nvPr/>
            </p:nvSpPr>
            <p:spPr>
              <a:xfrm>
                <a:off x="3632708" y="16182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17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32708" y="1618234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5" name="Equation OMML" descr="2"/>
              <p:cNvSpPr txBox="1"/>
              <p:nvPr/>
            </p:nvSpPr>
            <p:spPr>
              <a:xfrm>
                <a:off x="4750308" y="13007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18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50308" y="1300734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6" name="Equation OMML" descr="1"/>
              <p:cNvSpPr txBox="1"/>
              <p:nvPr/>
            </p:nvSpPr>
            <p:spPr>
              <a:xfrm>
                <a:off x="4750308" y="16182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6" name="Image 19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50308" y="16182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7" name="Equation OMML" descr="1"/>
              <p:cNvSpPr txBox="1"/>
              <p:nvPr/>
            </p:nvSpPr>
            <p:spPr>
              <a:xfrm>
                <a:off x="5880608" y="1300734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7" name="Image 20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80608" y="1300734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8" name="Equation OMML" descr="2"/>
              <p:cNvSpPr txBox="1"/>
              <p:nvPr/>
            </p:nvSpPr>
            <p:spPr>
              <a:xfrm>
                <a:off x="5867908" y="1618234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8" name="Image 21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67908" y="1618234"/>
                <a:ext cx="150876" cy="216408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Image 22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3000" y="1320800"/>
            <a:ext cx="38100" cy="501396"/>
          </a:xfrm>
          <a:prstGeom prst="rect">
            <a:avLst/>
          </a:prstGeom>
        </p:spPr>
      </p:pic>
      <p:pic>
        <p:nvPicPr>
          <p:cNvPr id="30" name="Image 23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54300" y="1320800"/>
            <a:ext cx="38100" cy="501396"/>
          </a:xfrm>
          <a:prstGeom prst="rect">
            <a:avLst/>
          </a:prstGeom>
        </p:spPr>
      </p:pic>
      <p:pic>
        <p:nvPicPr>
          <p:cNvPr id="31" name="Image 24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8700" y="1320800"/>
            <a:ext cx="38100" cy="501396"/>
          </a:xfrm>
          <a:prstGeom prst="rect">
            <a:avLst/>
          </a:prstGeom>
        </p:spPr>
      </p:pic>
      <p:pic>
        <p:nvPicPr>
          <p:cNvPr id="32" name="Image 25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97300" y="1320800"/>
            <a:ext cx="38100" cy="501396"/>
          </a:xfrm>
          <a:prstGeom prst="rect">
            <a:avLst/>
          </a:prstGeom>
        </p:spPr>
      </p:pic>
      <p:pic>
        <p:nvPicPr>
          <p:cNvPr id="33" name="Image 26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86300" y="1320800"/>
            <a:ext cx="38100" cy="501396"/>
          </a:xfrm>
          <a:prstGeom prst="rect">
            <a:avLst/>
          </a:prstGeom>
        </p:spPr>
      </p:pic>
      <p:pic>
        <p:nvPicPr>
          <p:cNvPr id="34" name="Image 27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27600" y="1320800"/>
            <a:ext cx="38100" cy="501396"/>
          </a:xfrm>
          <a:prstGeom prst="rect">
            <a:avLst/>
          </a:prstGeom>
        </p:spPr>
      </p:pic>
      <p:pic>
        <p:nvPicPr>
          <p:cNvPr id="35" name="Image 28" descr="/home/ahmed/Projects/ai_llm_slides/videos/machine-learning/02_linear-regression-classification-MSSE/recreated_pptx/build/assets/dl028_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03900" y="1320800"/>
            <a:ext cx="38100" cy="501396"/>
          </a:xfrm>
          <a:prstGeom prst="rect">
            <a:avLst/>
          </a:prstGeom>
        </p:spPr>
      </p:pic>
      <p:pic>
        <p:nvPicPr>
          <p:cNvPr id="36" name="Image 29" descr="/home/ahmed/Projects/ai_llm_slides/videos/machine-learning/02_linear-regression-classification-MSSE/recreated_pptx/build/assets/dl028_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45200" y="1320800"/>
            <a:ext cx="38100" cy="50139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37" name="Equation OMML" descr="y_1"/>
              <p:cNvSpPr txBox="1"/>
              <p:nvPr/>
            </p:nvSpPr>
            <p:spPr>
              <a:xfrm>
                <a:off x="1880108" y="2031746"/>
                <a:ext cx="25146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30" descr="/home/ahmed/Projects/ai_llm_slides/videos/machine-learning/02_linear-regression-classification-MSSE/recreated_pptx/build/assets/vy1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80108" y="2031746"/>
                <a:ext cx="25146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y_2"/>
              <p:cNvSpPr txBox="1"/>
              <p:nvPr/>
            </p:nvSpPr>
            <p:spPr>
              <a:xfrm>
                <a:off x="3035808" y="2031746"/>
                <a:ext cx="268224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31" descr="/home/ahmed/Projects/ai_llm_slides/videos/machine-learning/02_linear-regression-classification-MSSE/recreated_pptx/build/assets/vy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035808" y="2031746"/>
                <a:ext cx="268224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9" name="Equation OMML" descr="y_3"/>
              <p:cNvSpPr txBox="1"/>
              <p:nvPr/>
            </p:nvSpPr>
            <p:spPr>
              <a:xfrm>
                <a:off x="4153408" y="2031746"/>
                <a:ext cx="2590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9" name="Image 32" descr="/home/ahmed/Projects/ai_llm_slides/videos/machine-learning/02_linear-regression-classification-MSSE/recreated_pptx/build/assets/vy3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53408" y="2031746"/>
                <a:ext cx="2590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0" name="Equation OMML" descr="y_4"/>
              <p:cNvSpPr txBox="1"/>
              <p:nvPr/>
            </p:nvSpPr>
            <p:spPr>
              <a:xfrm>
                <a:off x="5258308" y="2031746"/>
                <a:ext cx="268224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0" name="Image 33" descr="/home/ahmed/Projects/ai_llm_slides/videos/machine-learning/02_linear-regression-classification-MSSE/recreated_pptx/build/assets/vy4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258308" y="2031746"/>
                <a:ext cx="268224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1" name="Equation OMML" descr="="/>
              <p:cNvSpPr txBox="1"/>
              <p:nvPr/>
            </p:nvSpPr>
            <p:spPr>
              <a:xfrm>
                <a:off x="21595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34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595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2" name="Equation OMML" descr="="/>
              <p:cNvSpPr txBox="1"/>
              <p:nvPr/>
            </p:nvSpPr>
            <p:spPr>
              <a:xfrm>
                <a:off x="33152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35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152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3" name="Equation OMML" descr="="/>
              <p:cNvSpPr txBox="1"/>
              <p:nvPr/>
            </p:nvSpPr>
            <p:spPr>
              <a:xfrm>
                <a:off x="44201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3" name="Image 36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201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4" name="Equation OMML" descr="="/>
              <p:cNvSpPr txBox="1"/>
              <p:nvPr/>
            </p:nvSpPr>
            <p:spPr>
              <a:xfrm>
                <a:off x="5537708" y="20476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37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37708" y="20476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10"/>
              <p:cNvSpPr txBox="1"/>
              <p:nvPr/>
            </p:nvSpPr>
            <p:spPr>
              <a:xfrm>
                <a:off x="2377948" y="1979929"/>
                <a:ext cx="259080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38" descr="/home/ahmed/Projects/ai_llm_slides/videos/machine-learning/02_linear-regression-classification-MSSE/recreated_pptx/build/assets/vp10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77948" y="1979929"/>
                <a:ext cx="259080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15"/>
              <p:cNvSpPr txBox="1"/>
              <p:nvPr/>
            </p:nvSpPr>
            <p:spPr>
              <a:xfrm>
                <a:off x="3525520" y="1976881"/>
                <a:ext cx="249936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39" descr="/home/ahmed/Projects/ai_llm_slides/videos/machine-learning/02_linear-regression-classification-MSSE/recreated_pptx/build/assets/vp15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25520" y="1976881"/>
                <a:ext cx="249936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7" name="Equation OMML" descr="13"/>
              <p:cNvSpPr txBox="1"/>
              <p:nvPr/>
            </p:nvSpPr>
            <p:spPr>
              <a:xfrm>
                <a:off x="4644644" y="1979929"/>
                <a:ext cx="24688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7" name="Image 40" descr="/home/ahmed/Projects/ai_llm_slides/videos/machine-learning/02_linear-regression-classification-MSSE/recreated_pptx/build/assets/vp13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44644" y="1979929"/>
                <a:ext cx="24688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8" name="Equation OMML" descr="12"/>
              <p:cNvSpPr txBox="1"/>
              <p:nvPr/>
            </p:nvSpPr>
            <p:spPr>
              <a:xfrm>
                <a:off x="5750560" y="1979930"/>
                <a:ext cx="25755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41" descr="/home/ahmed/Projects/ai_llm_slides/videos/machine-learning/02_linear-regression-classification-MSSE/recreated_pptx/build/assets/vp12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750560" y="1979930"/>
                <a:ext cx="257556" cy="210312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 5"/>
          <p:cNvSpPr/>
          <p:nvPr/>
        </p:nvSpPr>
        <p:spPr>
          <a:xfrm>
            <a:off x="6464300" y="1299845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i="1" spc="-120" kern="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850" dirty="0"/>
          </a:p>
        </p:txBody>
      </p:sp>
      <mc:AlternateContent>
        <mc:Choice xmlns:a14="http://schemas.microsoft.com/office/drawing/2010/main" Requires="a14">
          <p:sp>
            <p:nvSpPr>
              <p:cNvPr id="50" name="Equation OMML" descr="X"/>
              <p:cNvSpPr txBox="1"/>
              <p:nvPr/>
            </p:nvSpPr>
            <p:spPr>
              <a:xfrm>
                <a:off x="7341108" y="1437387"/>
                <a:ext cx="228600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0" name="Image 42" descr="/home/ahmed/Projects/ai_llm_slides/videos/machine-learning/02_linear-regression-classification-MSSE/recreated_pptx/build/assets/vxq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41108" y="1437387"/>
                <a:ext cx="228600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1" name="Equation OMML" descr="="/>
              <p:cNvSpPr txBox="1"/>
              <p:nvPr/>
            </p:nvSpPr>
            <p:spPr>
              <a:xfrm>
                <a:off x="7569708" y="14888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43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569708" y="14888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2" name="Equation OMML" descr="7"/>
              <p:cNvSpPr txBox="1"/>
              <p:nvPr/>
            </p:nvSpPr>
            <p:spPr>
              <a:xfrm>
                <a:off x="7874508" y="1303782"/>
                <a:ext cx="14630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2" name="Image 44" descr="/home/ahmed/Projects/ai_llm_slides/videos/machine-learning/02_linear-regression-classification-MSSE/recreated_pptx/build/assets/vd7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74508" y="1303782"/>
                <a:ext cx="146304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3" name="Equation OMML" descr="3"/>
              <p:cNvSpPr txBox="1"/>
              <p:nvPr/>
            </p:nvSpPr>
            <p:spPr>
              <a:xfrm>
                <a:off x="7874508" y="1618234"/>
                <a:ext cx="134112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3" name="Image 45" descr="/home/ahmed/Projects/ai_llm_slides/videos/machine-learning/02_linear-regression-classification-MSSE/recreated_pptx/build/assets/vd3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874508" y="1618234"/>
                <a:ext cx="134112" cy="220980"/>
              </a:xfrm>
              <a:prstGeom prst="rect">
                <a:avLst/>
              </a:prstGeom>
            </p:spPr>
          </p:pic>
        </mc:Fallback>
      </mc:AlternateContent>
      <p:pic>
        <p:nvPicPr>
          <p:cNvPr id="54" name="Image 46" descr="/home/ahmed/Projects/ai_llm_slides/videos/machine-learning/02_linear-regression-classification-MSSE/recreated_pptx/build/assets/dl028_ql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797800" y="1358900"/>
            <a:ext cx="38100" cy="477012"/>
          </a:xfrm>
          <a:prstGeom prst="rect">
            <a:avLst/>
          </a:prstGeom>
        </p:spPr>
      </p:pic>
      <p:pic>
        <p:nvPicPr>
          <p:cNvPr id="55" name="Image 47" descr="/home/ahmed/Projects/ai_llm_slides/videos/machine-learning/02_linear-regression-classification-MSSE/recreated_pptx/build/assets/dl028_qr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39100" y="1358900"/>
            <a:ext cx="38100" cy="47701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56" name="Equation OMML" descr="y=???"/>
              <p:cNvSpPr txBox="1"/>
              <p:nvPr/>
            </p:nvSpPr>
            <p:spPr>
              <a:xfrm>
                <a:off x="7264908" y="1960118"/>
                <a:ext cx="894588" cy="2926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y=???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48" descr="/home/ahmed/Projects/ai_llm_slides/videos/machine-learning/02_linear-regression-classification-MSSE/recreated_pptx/build/assets/vyq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264908" y="1960118"/>
                <a:ext cx="894588" cy="292608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Shape 6"/>
          <p:cNvSpPr/>
          <p:nvPr/>
        </p:nvSpPr>
        <p:spPr>
          <a:xfrm>
            <a:off x="8496300" y="1295400"/>
            <a:ext cx="2774950" cy="457200"/>
          </a:xfrm>
          <a:prstGeom prst="rect">
            <a:avLst/>
          </a:prstGeom>
          <a:solidFill>
            <a:srgbClr val="F7FADB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58" name="Shape 7"/>
          <p:cNvSpPr/>
          <p:nvPr/>
        </p:nvSpPr>
        <p:spPr>
          <a:xfrm>
            <a:off x="9671050" y="1879600"/>
            <a:ext cx="1333500" cy="457200"/>
          </a:xfrm>
          <a:prstGeom prst="rect">
            <a:avLst/>
          </a:prstGeom>
          <a:solidFill>
            <a:srgbClr val="E6F9F8"/>
          </a:solidFill>
          <a:ln w="254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9" name="Equation OMML" descr="W"/>
              <p:cNvSpPr txBox="1"/>
              <p:nvPr/>
            </p:nvSpPr>
            <p:spPr>
              <a:xfrm>
                <a:off x="8611108" y="1470405"/>
                <a:ext cx="263652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49" descr="/home/ahmed/Projects/ai_llm_slides/videos/machine-learning/02_linear-regression-classification-MSSE/recreated_pptx/build/assets/eW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611108" y="1470405"/>
                <a:ext cx="263652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="/>
              <p:cNvSpPr txBox="1"/>
              <p:nvPr/>
            </p:nvSpPr>
            <p:spPr>
              <a:xfrm>
                <a:off x="9055608" y="152628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50" descr="/home/ahmed/Projects/ai_llm_slides/videos/machine-learning/02_linear-regression-classification-MSSE/recreated_pptx/build/assets/eeq.png">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55608" y="1526286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61" name="Image 51" descr="/home/ahmed/Projects/ai_llm_slides/videos/machine-learning/02_linear-regression-classification-MSSE/recreated_pptx/build/assets/pl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309608" y="1406017"/>
            <a:ext cx="82296" cy="31699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62" name="Equation OMML" descr="X"/>
              <p:cNvSpPr txBox="1"/>
              <p:nvPr/>
            </p:nvSpPr>
            <p:spPr>
              <a:xfrm>
                <a:off x="9423908" y="1470405"/>
                <a:ext cx="219456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52" descr="/home/ahmed/Projects/ai_llm_slides/videos/machine-learning/02_linear-regression-classification-MSSE/recreated_pptx/build/assets/Xa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423908" y="1470405"/>
                <a:ext cx="219456" cy="2118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T"/>
              <p:cNvSpPr txBox="1"/>
              <p:nvPr/>
            </p:nvSpPr>
            <p:spPr>
              <a:xfrm>
                <a:off x="9639808" y="1407922"/>
                <a:ext cx="117348" cy="1341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53" descr="/home/ahmed/Projects/ai_llm_slides/videos/machine-learning/02_linear-regression-classification-MSSE/recreated_pptx/build/assets/T1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639808" y="1407922"/>
                <a:ext cx="117348" cy="1341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X"/>
              <p:cNvSpPr txBox="1"/>
              <p:nvPr/>
            </p:nvSpPr>
            <p:spPr>
              <a:xfrm>
                <a:off x="9779508" y="1470405"/>
                <a:ext cx="219456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54" descr="/home/ahmed/Projects/ai_llm_slides/videos/machine-learning/02_linear-regression-classification-MSSE/recreated_pptx/build/assets/Xb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79508" y="1470405"/>
                <a:ext cx="219456" cy="211836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Image 55" descr="/home/ahmed/Projects/ai_llm_slides/videos/machine-learning/02_linear-regression-classification-MSSE/recreated_pptx/build/assets/pr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008108" y="1406017"/>
            <a:ext cx="82296" cy="31699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66" name="Equation OMML" descr="\;{}^{-1}"/>
              <p:cNvSpPr txBox="1"/>
              <p:nvPr/>
            </p:nvSpPr>
            <p:spPr>
              <a:xfrm>
                <a:off x="10109708" y="1396365"/>
                <a:ext cx="228600" cy="1584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25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25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225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56" descr="/home/ahmed/Projects/ai_llm_slides/videos/machine-learning/02_linear-regression-classification-MSSE/recreated_pptx/build/assets/inv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09708" y="1396365"/>
                <a:ext cx="228600" cy="1584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X^T"/>
              <p:cNvSpPr txBox="1"/>
              <p:nvPr/>
            </p:nvSpPr>
            <p:spPr>
              <a:xfrm>
                <a:off x="10351008" y="1407921"/>
                <a:ext cx="364236" cy="2743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2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2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22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57" descr="/home/ahmed/Projects/ai_llm_slides/videos/machine-learning/02_linear-regression-classification-MSSE/recreated_pptx/build/assets/XT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351008" y="1407921"/>
                <a:ext cx="364236" cy="2743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Y"/>
              <p:cNvSpPr txBox="1"/>
              <p:nvPr/>
            </p:nvSpPr>
            <p:spPr>
              <a:xfrm>
                <a:off x="10897108" y="1470405"/>
                <a:ext cx="182880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58" descr="/home/ahmed/Projects/ai_llm_slides/videos/machine-learning/02_linear-regression-classification-MSSE/recreated_pptx/build/assets/eY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897108" y="1470405"/>
                <a:ext cx="182880" cy="211836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Shape 8"/>
          <p:cNvSpPr/>
          <p:nvPr/>
        </p:nvSpPr>
        <p:spPr>
          <a:xfrm>
            <a:off x="8623300" y="1695450"/>
            <a:ext cx="2349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9"/>
          <p:cNvSpPr/>
          <p:nvPr/>
        </p:nvSpPr>
        <p:spPr>
          <a:xfrm>
            <a:off x="10902950" y="1695450"/>
            <a:ext cx="16510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71" name="Equation OMML" descr="y="/>
              <p:cNvSpPr txBox="1"/>
              <p:nvPr/>
            </p:nvSpPr>
            <p:spPr>
              <a:xfrm>
                <a:off x="9766808" y="2067051"/>
                <a:ext cx="446532" cy="2346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59" descr="/home/ahmed/Projects/ai_llm_slides/videos/machine-learning/02_linear-regression-classification-MSSE/recreated_pptx/build/assets/ey2.png">    </p:cNvPr>
              <p:cNvPicPr>
                <a:picLocks noChangeAspect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766808" y="2067051"/>
                <a:ext cx="446532" cy="2346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W^T"/>
              <p:cNvSpPr txBox="1"/>
              <p:nvPr/>
            </p:nvSpPr>
            <p:spPr>
              <a:xfrm>
                <a:off x="10249408" y="1961641"/>
                <a:ext cx="448056" cy="3108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5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5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25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60" descr="/home/ahmed/Projects/ai_llm_slides/videos/machine-learning/02_linear-regression-classification-MSSE/recreated_pptx/build/assets/eWT.png">    </p:cNvPr>
              <p:cNvPicPr>
                <a:picLocks noChangeAspect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249408" y="1961641"/>
                <a:ext cx="448056" cy="3108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X"/>
              <p:cNvSpPr txBox="1"/>
              <p:nvPr/>
            </p:nvSpPr>
            <p:spPr>
              <a:xfrm>
                <a:off x="10717784" y="2022095"/>
                <a:ext cx="242316" cy="2301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61" descr="/home/ahmed/Projects/ai_llm_slides/videos/machine-learning/02_linear-regression-classification-MSSE/recreated_pptx/build/assets/eX.png">    </p:cNvPr>
              <p:cNvPicPr>
                <a:picLocks noChangeAspect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717784" y="2022095"/>
                <a:ext cx="242316" cy="230124"/>
              </a:xfrm>
              <a:prstGeom prst="rect">
                <a:avLst/>
              </a:prstGeom>
            </p:spPr>
          </p:pic>
        </mc:Fallback>
      </mc:AlternateContent>
      <p:sp>
        <p:nvSpPr>
          <p:cNvPr id="74" name="Shape 10"/>
          <p:cNvSpPr/>
          <p:nvPr/>
        </p:nvSpPr>
        <p:spPr>
          <a:xfrm>
            <a:off x="10274300" y="2272030"/>
            <a:ext cx="260350" cy="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75" name="Shape 11"/>
          <p:cNvSpPr/>
          <p:nvPr/>
        </p:nvSpPr>
        <p:spPr>
          <a:xfrm>
            <a:off x="10756900" y="2254250"/>
            <a:ext cx="15875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</p:sp>
      <p:sp>
        <p:nvSpPr>
          <p:cNvPr id="76" name="Shape 12"/>
          <p:cNvSpPr/>
          <p:nvPr/>
        </p:nvSpPr>
        <p:spPr>
          <a:xfrm>
            <a:off x="920750" y="2393950"/>
            <a:ext cx="76962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0"/>
            </a:solidFill>
            <a:prstDash val="solid"/>
          </a:ln>
        </p:spPr>
      </p:sp>
      <p:sp>
        <p:nvSpPr>
          <p:cNvPr id="77" name="Shape 13"/>
          <p:cNvSpPr/>
          <p:nvPr/>
        </p:nvSpPr>
        <p:spPr>
          <a:xfrm>
            <a:off x="3581400" y="2451100"/>
            <a:ext cx="0" cy="965200"/>
          </a:xfrm>
          <a:prstGeom prst="line">
            <a:avLst/>
          </a:prstGeom>
          <a:noFill/>
          <a:ln w="12700">
            <a:solidFill>
              <a:srgbClr val="9C9AC0"/>
            </a:solidFill>
            <a:prstDash val="solid"/>
          </a:ln>
        </p:spPr>
      </p:sp>
      <p:sp>
        <p:nvSpPr>
          <p:cNvPr id="78" name="Shape 14"/>
          <p:cNvSpPr/>
          <p:nvPr/>
        </p:nvSpPr>
        <p:spPr>
          <a:xfrm>
            <a:off x="3810000" y="2451100"/>
            <a:ext cx="0" cy="965200"/>
          </a:xfrm>
          <a:prstGeom prst="line">
            <a:avLst/>
          </a:prstGeom>
          <a:noFill/>
          <a:ln w="12700">
            <a:solidFill>
              <a:srgbClr val="9C9AC0"/>
            </a:solidFill>
            <a:prstDash val="solid"/>
          </a:ln>
        </p:spPr>
      </p:sp>
      <p:sp>
        <p:nvSpPr>
          <p:cNvPr id="79" name="Shape 15"/>
          <p:cNvSpPr/>
          <p:nvPr/>
        </p:nvSpPr>
        <p:spPr>
          <a:xfrm>
            <a:off x="4699000" y="2451100"/>
            <a:ext cx="0" cy="965200"/>
          </a:xfrm>
          <a:prstGeom prst="line">
            <a:avLst/>
          </a:prstGeom>
          <a:noFill/>
          <a:ln w="12700">
            <a:solidFill>
              <a:srgbClr val="9C9AC0"/>
            </a:solidFill>
            <a:prstDash val="solid"/>
          </a:ln>
        </p:spPr>
      </p:sp>
      <p:sp>
        <p:nvSpPr>
          <p:cNvPr id="80" name="Shape 16"/>
          <p:cNvSpPr/>
          <p:nvPr/>
        </p:nvSpPr>
        <p:spPr>
          <a:xfrm>
            <a:off x="4940300" y="2451100"/>
            <a:ext cx="0" cy="965200"/>
          </a:xfrm>
          <a:prstGeom prst="line">
            <a:avLst/>
          </a:prstGeom>
          <a:noFill/>
          <a:ln w="12700">
            <a:solidFill>
              <a:srgbClr val="9C9AC0"/>
            </a:solidFill>
            <a:prstDash val="solid"/>
          </a:ln>
        </p:spPr>
      </p:sp>
      <p:sp>
        <p:nvSpPr>
          <p:cNvPr id="81" name="Shape 17"/>
          <p:cNvSpPr/>
          <p:nvPr/>
        </p:nvSpPr>
        <p:spPr>
          <a:xfrm>
            <a:off x="5816600" y="2451100"/>
            <a:ext cx="0" cy="965200"/>
          </a:xfrm>
          <a:prstGeom prst="line">
            <a:avLst/>
          </a:prstGeom>
          <a:noFill/>
          <a:ln w="12700">
            <a:solidFill>
              <a:srgbClr val="9C9AC0"/>
            </a:solidFill>
            <a:prstDash val="solid"/>
          </a:ln>
        </p:spPr>
      </p:sp>
      <p:sp>
        <p:nvSpPr>
          <p:cNvPr id="82" name="Shape 18"/>
          <p:cNvSpPr/>
          <p:nvPr/>
        </p:nvSpPr>
        <p:spPr>
          <a:xfrm>
            <a:off x="6057900" y="2451100"/>
            <a:ext cx="0" cy="965200"/>
          </a:xfrm>
          <a:prstGeom prst="line">
            <a:avLst/>
          </a:prstGeom>
          <a:noFill/>
          <a:ln w="12700">
            <a:solidFill>
              <a:srgbClr val="9C9AC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3" name="Equation OMML" descr="1"/>
              <p:cNvSpPr txBox="1"/>
              <p:nvPr/>
            </p:nvSpPr>
            <p:spPr>
              <a:xfrm>
                <a:off x="1092708" y="25024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62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92708" y="25024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x"/>
              <p:cNvSpPr txBox="1"/>
              <p:nvPr/>
            </p:nvSpPr>
            <p:spPr>
              <a:xfrm>
                <a:off x="1029208" y="2882645"/>
                <a:ext cx="167640" cy="1630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63" descr="/home/ahmed/Projects/ai_llm_slides/videos/machine-learning/02_linear-regression-classification-MSSE/recreated_pptx/build/assets/lx.png">    </p:cNvPr>
              <p:cNvPicPr>
                <a:picLocks noChangeAspect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29208" y="2882645"/>
                <a:ext cx="167640" cy="1630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1"/>
              <p:cNvSpPr txBox="1"/>
              <p:nvPr/>
            </p:nvSpPr>
            <p:spPr>
              <a:xfrm>
                <a:off x="1178433" y="2972053"/>
                <a:ext cx="68580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64" descr="/home/ahmed/Projects/ai_llm_slides/videos/machine-learning/02_linear-regression-classification-MSSE/recreated_pptx/build/assets/xs1.png">    </p:cNvPr>
              <p:cNvPicPr>
                <a:picLocks noChangeAspect="1"/>
              </p:cNvPicPr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78433" y="2972053"/>
                <a:ext cx="68580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x"/>
              <p:cNvSpPr txBox="1"/>
              <p:nvPr/>
            </p:nvSpPr>
            <p:spPr>
              <a:xfrm>
                <a:off x="1029208" y="3238245"/>
                <a:ext cx="167640" cy="1630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65" descr="/home/ahmed/Projects/ai_llm_slides/videos/machine-learning/02_linear-regression-classification-MSSE/recreated_pptx/build/assets/lx.png">    </p:cNvPr>
              <p:cNvPicPr>
                <a:picLocks noChangeAspect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29208" y="3238245"/>
                <a:ext cx="167640" cy="1630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2"/>
              <p:cNvSpPr txBox="1"/>
              <p:nvPr/>
            </p:nvSpPr>
            <p:spPr>
              <a:xfrm>
                <a:off x="1178433" y="3327653"/>
                <a:ext cx="96012" cy="1325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66" descr="/home/ahmed/Projects/ai_llm_slides/videos/machine-learning/02_linear-regression-classification-MSSE/recreated_pptx/build/assets/xs2.png">    </p:cNvPr>
              <p:cNvPicPr>
                <a:picLocks noChangeAspect="1"/>
              </p:cNvPicPr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78433" y="3327653"/>
                <a:ext cx="96012" cy="1325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\Rightarrow"/>
              <p:cNvSpPr txBox="1"/>
              <p:nvPr/>
            </p:nvSpPr>
            <p:spPr>
              <a:xfrm>
                <a:off x="1448308" y="253771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67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448308" y="2537714"/>
                <a:ext cx="204216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\Rightarrow"/>
              <p:cNvSpPr txBox="1"/>
              <p:nvPr/>
            </p:nvSpPr>
            <p:spPr>
              <a:xfrm>
                <a:off x="1499108" y="285521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68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499108" y="2855214"/>
                <a:ext cx="204216" cy="1554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\Rightarrow"/>
              <p:cNvSpPr txBox="1"/>
              <p:nvPr/>
            </p:nvSpPr>
            <p:spPr>
              <a:xfrm>
                <a:off x="1499108" y="3223514"/>
                <a:ext cx="204216" cy="1554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69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499108" y="3223514"/>
                <a:ext cx="204216" cy="155448"/>
              </a:xfrm>
              <a:prstGeom prst="rect">
                <a:avLst/>
              </a:prstGeom>
            </p:spPr>
          </p:pic>
        </mc:Fallback>
      </mc:AlternateContent>
      <p:pic>
        <p:nvPicPr>
          <p:cNvPr id="91" name="Image 70" descr="/home/ahmed/Projects/ai_llm_slides/videos/machine-learning/02_linear-regression-classification-MSSE/recreated_pptx/build/assets/dAugL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400300" y="2451100"/>
            <a:ext cx="64008" cy="990600"/>
          </a:xfrm>
          <a:prstGeom prst="rect">
            <a:avLst/>
          </a:prstGeom>
        </p:spPr>
      </p:pic>
      <p:pic>
        <p:nvPicPr>
          <p:cNvPr id="92" name="Image 71" descr="/home/ahmed/Projects/ai_llm_slides/videos/machine-learning/02_linear-regression-classification-MSSE/recreated_pptx/build/assets/dAugR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628900" y="2438400"/>
            <a:ext cx="64008" cy="100279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93" name="Equation OMML" descr="1"/>
              <p:cNvSpPr txBox="1"/>
              <p:nvPr/>
            </p:nvSpPr>
            <p:spPr>
              <a:xfrm>
                <a:off x="2502408" y="25278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72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02408" y="25278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1"/>
              <p:cNvSpPr txBox="1"/>
              <p:nvPr/>
            </p:nvSpPr>
            <p:spPr>
              <a:xfrm>
                <a:off x="2489708" y="2845308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73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489708" y="2845308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1"/>
              <p:cNvSpPr txBox="1"/>
              <p:nvPr/>
            </p:nvSpPr>
            <p:spPr>
              <a:xfrm>
                <a:off x="2502408" y="3175508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74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502408" y="3175508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1"/>
              <p:cNvSpPr txBox="1"/>
              <p:nvPr/>
            </p:nvSpPr>
            <p:spPr>
              <a:xfrm>
                <a:off x="3645408" y="25278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75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645408" y="25278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2"/>
              <p:cNvSpPr txBox="1"/>
              <p:nvPr/>
            </p:nvSpPr>
            <p:spPr>
              <a:xfrm>
                <a:off x="3632708" y="2845308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76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632708" y="2845308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2"/>
              <p:cNvSpPr txBox="1"/>
              <p:nvPr/>
            </p:nvSpPr>
            <p:spPr>
              <a:xfrm>
                <a:off x="3632708" y="3162808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77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632708" y="3162808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1"/>
              <p:cNvSpPr txBox="1"/>
              <p:nvPr/>
            </p:nvSpPr>
            <p:spPr>
              <a:xfrm>
                <a:off x="4775708" y="25278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78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775708" y="25278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2"/>
              <p:cNvSpPr txBox="1"/>
              <p:nvPr/>
            </p:nvSpPr>
            <p:spPr>
              <a:xfrm>
                <a:off x="4750308" y="2845308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79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750308" y="2845308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1"/>
              <p:cNvSpPr txBox="1"/>
              <p:nvPr/>
            </p:nvSpPr>
            <p:spPr>
              <a:xfrm>
                <a:off x="4763008" y="3175508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80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63008" y="3175508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1"/>
              <p:cNvSpPr txBox="1"/>
              <p:nvPr/>
            </p:nvSpPr>
            <p:spPr>
              <a:xfrm>
                <a:off x="5893308" y="25278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81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893308" y="25278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1"/>
              <p:cNvSpPr txBox="1"/>
              <p:nvPr/>
            </p:nvSpPr>
            <p:spPr>
              <a:xfrm>
                <a:off x="5880608" y="2845308"/>
                <a:ext cx="10515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82" descr="/home/ahmed/Projects/ai_llm_slides/videos/machine-learning/02_linear-regression-classification-MSSE/recreated_pptx/build/assets/vd1.png">    </p:cNvPr>
              <p:cNvPicPr>
                <a:picLocks noChangeAspect="1"/>
              </p:cNvPicPr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80608" y="2845308"/>
                <a:ext cx="10515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2"/>
              <p:cNvSpPr txBox="1"/>
              <p:nvPr/>
            </p:nvSpPr>
            <p:spPr>
              <a:xfrm>
                <a:off x="5867908" y="3162808"/>
                <a:ext cx="150876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83" descr="/home/ahmed/Projects/ai_llm_slides/videos/machine-learning/02_linear-regression-classification-MSSE/recreated_pptx/build/assets/vd2.png">    </p:cNvPr>
              <p:cNvPicPr>
                <a:picLocks noChangeAspect="1"/>
              </p:cNvPicPr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867908" y="3162808"/>
                <a:ext cx="150876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5" name="Equation OMML" descr="X_1"/>
              <p:cNvSpPr txBox="1"/>
              <p:nvPr/>
            </p:nvSpPr>
            <p:spPr>
              <a:xfrm>
                <a:off x="1892808" y="2794508"/>
                <a:ext cx="297180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5" name="Image 84" descr="/home/ahmed/Projects/ai_llm_slides/videos/machine-learning/02_linear-regression-classification-MSSE/recreated_pptx/build/assets/vx1.png">    </p:cNvPr>
              <p:cNvPicPr>
                <a:picLocks noChangeAspect="1"/>
              </p:cNvPicPr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892808" y="2794508"/>
                <a:ext cx="297180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6" name="Equation OMML" descr="X_2"/>
              <p:cNvSpPr txBox="1"/>
              <p:nvPr/>
            </p:nvSpPr>
            <p:spPr>
              <a:xfrm>
                <a:off x="3035808" y="2794508"/>
                <a:ext cx="31394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6" name="Image 85" descr="/home/ahmed/Projects/ai_llm_slides/videos/machine-learning/02_linear-regression-classification-MSSE/recreated_pptx/build/assets/vx2.png">    </p:cNvPr>
              <p:cNvPicPr>
                <a:picLocks noChangeAspect="1"/>
              </p:cNvPicPr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035808" y="2794508"/>
                <a:ext cx="31394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7" name="Equation OMML" descr="X_3"/>
              <p:cNvSpPr txBox="1"/>
              <p:nvPr/>
            </p:nvSpPr>
            <p:spPr>
              <a:xfrm>
                <a:off x="4153408" y="2807208"/>
                <a:ext cx="306324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7" name="Image 86" descr="/home/ahmed/Projects/ai_llm_slides/videos/machine-learning/02_linear-regression-classification-MSSE/recreated_pptx/build/assets/vx3.png">    </p:cNvPr>
              <p:cNvPicPr>
                <a:picLocks noChangeAspect="1"/>
              </p:cNvPicPr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53408" y="2807208"/>
                <a:ext cx="306324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8" name="Equation OMML" descr="X_4"/>
              <p:cNvSpPr txBox="1"/>
              <p:nvPr/>
            </p:nvSpPr>
            <p:spPr>
              <a:xfrm>
                <a:off x="5258308" y="2807208"/>
                <a:ext cx="31394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35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8" name="Image 87" descr="/home/ahmed/Projects/ai_llm_slides/videos/machine-learning/02_linear-regression-classification-MSSE/recreated_pptx/build/assets/vx4.png">    </p:cNvPr>
              <p:cNvPicPr>
                <a:picLocks noChangeAspect="1"/>
              </p:cNvPicPr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258308" y="2807208"/>
                <a:ext cx="31394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9" name="Equation OMML" descr="="/>
              <p:cNvSpPr txBox="1"/>
              <p:nvPr/>
            </p:nvSpPr>
            <p:spPr>
              <a:xfrm>
                <a:off x="2210308" y="285724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9" name="Image 88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210308" y="285724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0" name="Equation OMML" descr="="/>
              <p:cNvSpPr txBox="1"/>
              <p:nvPr/>
            </p:nvSpPr>
            <p:spPr>
              <a:xfrm>
                <a:off x="3353308" y="285724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0" name="Image 89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353308" y="285724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1" name="Equation OMML" descr="="/>
              <p:cNvSpPr txBox="1"/>
              <p:nvPr/>
            </p:nvSpPr>
            <p:spPr>
              <a:xfrm>
                <a:off x="4458208" y="285724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1" name="Image 90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458208" y="285724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2" name="Equation OMML" descr="="/>
              <p:cNvSpPr txBox="1"/>
              <p:nvPr/>
            </p:nvSpPr>
            <p:spPr>
              <a:xfrm>
                <a:off x="5588508" y="285724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2" name="Image 91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588508" y="285724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3" name="Equation OMML" descr="y_1"/>
              <p:cNvSpPr txBox="1"/>
              <p:nvPr/>
            </p:nvSpPr>
            <p:spPr>
              <a:xfrm>
                <a:off x="1880108" y="3581908"/>
                <a:ext cx="25146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3" name="Image 92" descr="/home/ahmed/Projects/ai_llm_slides/videos/machine-learning/02_linear-regression-classification-MSSE/recreated_pptx/build/assets/vy1.png">    </p:cNvPr>
              <p:cNvPicPr>
                <a:picLocks noChangeAspect="1"/>
              </p:cNvPicPr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880108" y="3581908"/>
                <a:ext cx="25146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4" name="Equation OMML" descr="y_2"/>
              <p:cNvSpPr txBox="1"/>
              <p:nvPr/>
            </p:nvSpPr>
            <p:spPr>
              <a:xfrm>
                <a:off x="3035808" y="3581908"/>
                <a:ext cx="268224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4" name="Image 93" descr="/home/ahmed/Projects/ai_llm_slides/videos/machine-learning/02_linear-regression-classification-MSSE/recreated_pptx/build/assets/vy2.png">    </p:cNvPr>
              <p:cNvPicPr>
                <a:picLocks noChangeAspect="1"/>
              </p:cNvPicPr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035808" y="3581908"/>
                <a:ext cx="268224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5" name="Equation OMML" descr="y_3"/>
              <p:cNvSpPr txBox="1"/>
              <p:nvPr/>
            </p:nvSpPr>
            <p:spPr>
              <a:xfrm>
                <a:off x="4153408" y="3581908"/>
                <a:ext cx="2590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5" name="Image 94" descr="/home/ahmed/Projects/ai_llm_slides/videos/machine-learning/02_linear-regression-classification-MSSE/recreated_pptx/build/assets/vy3.png">    </p:cNvPr>
              <p:cNvPicPr>
                <a:picLocks noChangeAspect="1"/>
              </p:cNvPicPr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153408" y="3581908"/>
                <a:ext cx="2590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6" name="Equation OMML" descr="y_4"/>
              <p:cNvSpPr txBox="1"/>
              <p:nvPr/>
            </p:nvSpPr>
            <p:spPr>
              <a:xfrm>
                <a:off x="5258308" y="3581908"/>
                <a:ext cx="268224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6" name="Image 95" descr="/home/ahmed/Projects/ai_llm_slides/videos/machine-learning/02_linear-regression-classification-MSSE/recreated_pptx/build/assets/vy4.png">    </p:cNvPr>
              <p:cNvPicPr>
                <a:picLocks noChangeAspect="1"/>
              </p:cNvPicPr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258308" y="3581908"/>
                <a:ext cx="268224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7" name="Equation OMML" descr="="/>
              <p:cNvSpPr txBox="1"/>
              <p:nvPr/>
            </p:nvSpPr>
            <p:spPr>
              <a:xfrm>
                <a:off x="2159508" y="35970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7" name="Image 96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159508" y="35970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8" name="Equation OMML" descr="="/>
              <p:cNvSpPr txBox="1"/>
              <p:nvPr/>
            </p:nvSpPr>
            <p:spPr>
              <a:xfrm>
                <a:off x="3315208" y="35970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8" name="Image 97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315208" y="35970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9" name="Equation OMML" descr="="/>
              <p:cNvSpPr txBox="1"/>
              <p:nvPr/>
            </p:nvSpPr>
            <p:spPr>
              <a:xfrm>
                <a:off x="4420108" y="35970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9" name="Image 98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420108" y="35970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0" name="Equation OMML" descr="="/>
              <p:cNvSpPr txBox="1"/>
              <p:nvPr/>
            </p:nvSpPr>
            <p:spPr>
              <a:xfrm>
                <a:off x="5537708" y="3597021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0" name="Image 99" descr="/home/ahmed/Projects/ai_llm_slides/videos/machine-learning/02_linear-regression-classification-MSSE/recreated_pptx/build/assets/vyeq.png">    </p:cNvPr>
              <p:cNvPicPr>
                <a:picLocks noChangeAspect="1"/>
              </p:cNvPicPr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537708" y="3597021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1" name="Equation OMML" descr="10"/>
              <p:cNvSpPr txBox="1"/>
              <p:nvPr/>
            </p:nvSpPr>
            <p:spPr>
              <a:xfrm>
                <a:off x="2377948" y="3531108"/>
                <a:ext cx="259080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1" name="Image 100" descr="/home/ahmed/Projects/ai_llm_slides/videos/machine-learning/02_linear-regression-classification-MSSE/recreated_pptx/build/assets/vp10.png">    </p:cNvPr>
              <p:cNvPicPr>
                <a:picLocks noChangeAspect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377948" y="3531108"/>
                <a:ext cx="259080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2" name="Equation OMML" descr="15"/>
              <p:cNvSpPr txBox="1"/>
              <p:nvPr/>
            </p:nvSpPr>
            <p:spPr>
              <a:xfrm>
                <a:off x="3525520" y="3531108"/>
                <a:ext cx="249936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2" name="Image 101" descr="/home/ahmed/Projects/ai_llm_slides/videos/machine-learning/02_linear-regression-classification-MSSE/recreated_pptx/build/assets/vp15.png">    </p:cNvPr>
              <p:cNvPicPr>
                <a:picLocks noChangeAspect="1"/>
              </p:cNvPicPr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525520" y="3531108"/>
                <a:ext cx="249936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3" name="Equation OMML" descr="13"/>
              <p:cNvSpPr txBox="1"/>
              <p:nvPr/>
            </p:nvSpPr>
            <p:spPr>
              <a:xfrm>
                <a:off x="4644644" y="3531108"/>
                <a:ext cx="24688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3" name="Image 102" descr="/home/ahmed/Projects/ai_llm_slides/videos/machine-learning/02_linear-regression-classification-MSSE/recreated_pptx/build/assets/vp13.png">    </p:cNvPr>
              <p:cNvPicPr>
                <a:picLocks noChangeAspect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644644" y="3531108"/>
                <a:ext cx="24688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24" name="Equation OMML" descr="12"/>
              <p:cNvSpPr txBox="1"/>
              <p:nvPr/>
            </p:nvSpPr>
            <p:spPr>
              <a:xfrm>
                <a:off x="5750560" y="3543808"/>
                <a:ext cx="25755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4" name="Image 103" descr="/home/ahmed/Projects/ai_llm_slides/videos/machine-learning/02_linear-regression-classification-MSSE/recreated_pptx/build/assets/vp12.png">    </p:cNvPr>
              <p:cNvPicPr>
                <a:picLocks noChangeAspect="1"/>
              </p:cNvPicPr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750560" y="3543808"/>
                <a:ext cx="257556" cy="210312"/>
              </a:xfrm>
              <a:prstGeom prst="rect">
                <a:avLst/>
              </a:prstGeom>
            </p:spPr>
          </p:pic>
        </mc:Fallback>
      </mc:AlternateContent>
      <p:sp>
        <p:nvSpPr>
          <p:cNvPr id="125" name="Text 19"/>
          <p:cNvSpPr/>
          <p:nvPr/>
        </p:nvSpPr>
        <p:spPr>
          <a:xfrm>
            <a:off x="6680200" y="2820670"/>
            <a:ext cx="203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i="1" spc="-70" kern="0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Vectors</a:t>
            </a:r>
            <a:endParaRPr lang="en-US" sz="1650" dirty="0"/>
          </a:p>
        </p:txBody>
      </p:sp>
      <p:sp>
        <p:nvSpPr>
          <p:cNvPr id="126" name="Shape 20"/>
          <p:cNvSpPr/>
          <p:nvPr/>
        </p:nvSpPr>
        <p:spPr>
          <a:xfrm>
            <a:off x="920750" y="3943350"/>
            <a:ext cx="1168400" cy="1454150"/>
          </a:xfrm>
          <a:prstGeom prst="rect">
            <a:avLst/>
          </a:prstGeom>
          <a:solidFill>
            <a:srgbClr val="EDFDFA"/>
          </a:solidFill>
          <a:ln w="12700">
            <a:solidFill>
              <a:srgbClr val="B4BAC0"/>
            </a:solidFill>
            <a:prstDash val="solid"/>
          </a:ln>
        </p:spPr>
      </p:sp>
      <p:pic>
        <p:nvPicPr>
          <p:cNvPr id="127" name="Image 104" descr="/home/ahmed/Projects/ai_llm_slides/videos/machine-learning/02_linear-regression-classification-MSSE/recreated_pptx/build/assets/dYvL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536700" y="4114800"/>
            <a:ext cx="64008" cy="1143000"/>
          </a:xfrm>
          <a:prstGeom prst="rect">
            <a:avLst/>
          </a:prstGeom>
        </p:spPr>
      </p:pic>
      <p:pic>
        <p:nvPicPr>
          <p:cNvPr id="128" name="Image 105" descr="/home/ahmed/Projects/ai_llm_slides/videos/machine-learning/02_linear-regression-classification-MSSE/recreated_pptx/build/assets/dYvR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905000" y="4165600"/>
            <a:ext cx="64008" cy="10287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29" name="Equation OMML" descr="y"/>
              <p:cNvSpPr txBox="1"/>
              <p:nvPr/>
            </p:nvSpPr>
            <p:spPr>
              <a:xfrm>
                <a:off x="1016508" y="4610608"/>
                <a:ext cx="15544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5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9" name="Image 106" descr="/home/ahmed/Projects/ai_llm_slides/videos/machine-learning/02_linear-regression-classification-MSSE/recreated_pptx/build/assets/yv.png">    </p:cNvPr>
              <p:cNvPicPr>
                <a:picLocks noChangeAspect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6508" y="4610608"/>
                <a:ext cx="15544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0" name="Equation OMML" descr="y="/>
              <p:cNvSpPr txBox="1"/>
              <p:nvPr/>
            </p:nvSpPr>
            <p:spPr>
              <a:xfrm>
                <a:off x="1295908" y="4610608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0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0" name="Image 107" descr="/home/ahmed/Projects/ai_llm_slides/videos/machine-learning/02_linear-regression-classification-MSSE/recreated_pptx/build/assets/yeq.png">    </p:cNvPr>
              <p:cNvPicPr>
                <a:picLocks noChangeAspect="1"/>
              </p:cNvPicPr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295908" y="4610608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1" name="Equation OMML" descr="10"/>
              <p:cNvSpPr txBox="1"/>
              <p:nvPr/>
            </p:nvSpPr>
            <p:spPr>
              <a:xfrm>
                <a:off x="1626108" y="4102608"/>
                <a:ext cx="259080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1" name="Image 108" descr="/home/ahmed/Projects/ai_llm_slides/videos/machine-learning/02_linear-regression-classification-MSSE/recreated_pptx/build/assets/vp10.png">    </p:cNvPr>
              <p:cNvPicPr>
                <a:picLocks noChangeAspect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26108" y="4102608"/>
                <a:ext cx="259080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2" name="Equation OMML" descr="15"/>
              <p:cNvSpPr txBox="1"/>
              <p:nvPr/>
            </p:nvSpPr>
            <p:spPr>
              <a:xfrm>
                <a:off x="1638808" y="4426458"/>
                <a:ext cx="249936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2" name="Image 109" descr="/home/ahmed/Projects/ai_llm_slides/videos/machine-learning/02_linear-regression-classification-MSSE/recreated_pptx/build/assets/vp15.png">    </p:cNvPr>
              <p:cNvPicPr>
                <a:picLocks noChangeAspect="1"/>
              </p:cNvPicPr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638808" y="4426458"/>
                <a:ext cx="249936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3" name="Equation OMML" descr="13"/>
              <p:cNvSpPr txBox="1"/>
              <p:nvPr/>
            </p:nvSpPr>
            <p:spPr>
              <a:xfrm>
                <a:off x="1626108" y="4750308"/>
                <a:ext cx="24688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3" name="Image 110" descr="/home/ahmed/Projects/ai_llm_slides/videos/machine-learning/02_linear-regression-classification-MSSE/recreated_pptx/build/assets/vp13.png">    </p:cNvPr>
              <p:cNvPicPr>
                <a:picLocks noChangeAspect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26108" y="4750308"/>
                <a:ext cx="24688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4" name="Equation OMML" descr="12"/>
              <p:cNvSpPr txBox="1"/>
              <p:nvPr/>
            </p:nvSpPr>
            <p:spPr>
              <a:xfrm>
                <a:off x="1626108" y="5080508"/>
                <a:ext cx="25755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5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4" name="Image 111" descr="/home/ahmed/Projects/ai_llm_slides/videos/machine-learning/02_linear-regression-classification-MSSE/recreated_pptx/build/assets/vp12.png">    </p:cNvPr>
              <p:cNvPicPr>
                <a:picLocks noChangeAspect="1"/>
              </p:cNvPicPr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626108" y="5080508"/>
                <a:ext cx="257556" cy="210312"/>
              </a:xfrm>
              <a:prstGeom prst="rect">
                <a:avLst/>
              </a:prstGeom>
            </p:spPr>
          </p:pic>
        </mc:Fallback>
      </mc:AlternateContent>
      <p:sp>
        <p:nvSpPr>
          <p:cNvPr id="135" name="Shape 21"/>
          <p:cNvSpPr/>
          <p:nvPr/>
        </p:nvSpPr>
        <p:spPr>
          <a:xfrm>
            <a:off x="2292350" y="3943350"/>
            <a:ext cx="1905000" cy="1454150"/>
          </a:xfrm>
          <a:prstGeom prst="rect">
            <a:avLst/>
          </a:prstGeom>
          <a:solidFill>
            <a:srgbClr val="EDFDFA"/>
          </a:solidFill>
          <a:ln w="12700">
            <a:solidFill>
              <a:srgbClr val="B4BAC0"/>
            </a:solidFill>
            <a:prstDash val="solid"/>
          </a:ln>
        </p:spPr>
      </p:sp>
      <p:pic>
        <p:nvPicPr>
          <p:cNvPr id="136" name="Image 112" descr="/home/ahmed/Projects/ai_llm_slides/videos/machine-learning/02_linear-regression-classification-MSSE/recreated_pptx/build/assets/dXmL.png">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2997200" y="4000500"/>
            <a:ext cx="88392" cy="1371600"/>
          </a:xfrm>
          <a:prstGeom prst="rect">
            <a:avLst/>
          </a:prstGeom>
        </p:spPr>
      </p:pic>
      <p:pic>
        <p:nvPicPr>
          <p:cNvPr id="137" name="Image 113" descr="/home/ahmed/Projects/ai_llm_slides/videos/machine-learning/02_linear-regression-classification-MSSE/recreated_pptx/build/assets/dXmR.png">    </p:cNvPr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3987800" y="4000500"/>
            <a:ext cx="76200" cy="13716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38" name="Equation OMML" descr="X"/>
              <p:cNvSpPr txBox="1"/>
              <p:nvPr/>
            </p:nvSpPr>
            <p:spPr>
              <a:xfrm>
                <a:off x="2337308" y="4496308"/>
                <a:ext cx="316992" cy="3048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6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8" name="Image 114" descr="/home/ahmed/Projects/ai_llm_slides/videos/machine-learning/02_linear-regression-classification-MSSE/recreated_pptx/build/assets/Xh.png">    </p:cNvPr>
              <p:cNvPicPr>
                <a:picLocks noChangeAspect="1"/>
              </p:cNvPicPr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337308" y="4496308"/>
                <a:ext cx="316992" cy="3048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39" name="Equation OMML" descr="="/>
              <p:cNvSpPr txBox="1"/>
              <p:nvPr/>
            </p:nvSpPr>
            <p:spPr>
              <a:xfrm>
                <a:off x="2756408" y="4636008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9" name="Image 115" descr="/home/ahmed/Projects/ai_llm_slides/videos/machine-learning/02_linear-regression-classification-MSSE/recreated_pptx/build/assets/heq.png">    </p:cNvPr>
              <p:cNvPicPr>
                <a:picLocks noChangeAspect="1"/>
              </p:cNvPicPr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756408" y="4636008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0" name="Equation OMML" descr="1"/>
              <p:cNvSpPr txBox="1"/>
              <p:nvPr/>
            </p:nvSpPr>
            <p:spPr>
              <a:xfrm>
                <a:off x="3099308" y="41026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0" name="Image 116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099308" y="41026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1" name="Equation OMML" descr="1"/>
              <p:cNvSpPr txBox="1"/>
              <p:nvPr/>
            </p:nvSpPr>
            <p:spPr>
              <a:xfrm>
                <a:off x="3493008" y="41026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1" name="Image 117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493008" y="41026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2" name="Equation OMML" descr="1"/>
              <p:cNvSpPr txBox="1"/>
              <p:nvPr/>
            </p:nvSpPr>
            <p:spPr>
              <a:xfrm>
                <a:off x="3861308" y="41026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2" name="Image 118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861308" y="41026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3" name="Equation OMML" descr="1"/>
              <p:cNvSpPr txBox="1"/>
              <p:nvPr/>
            </p:nvSpPr>
            <p:spPr>
              <a:xfrm>
                <a:off x="3099308" y="44328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3" name="Image 119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099308" y="44328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4" name="Equation OMML" descr="2"/>
              <p:cNvSpPr txBox="1"/>
              <p:nvPr/>
            </p:nvSpPr>
            <p:spPr>
              <a:xfrm>
                <a:off x="3467608" y="44201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4" name="Image 120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67608" y="4420108"/>
                <a:ext cx="15849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5" name="Equation OMML" descr="2"/>
              <p:cNvSpPr txBox="1"/>
              <p:nvPr/>
            </p:nvSpPr>
            <p:spPr>
              <a:xfrm>
                <a:off x="3848608" y="44201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5" name="Image 121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848608" y="4420108"/>
                <a:ext cx="15849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6" name="Equation OMML" descr="1"/>
              <p:cNvSpPr txBox="1"/>
              <p:nvPr/>
            </p:nvSpPr>
            <p:spPr>
              <a:xfrm>
                <a:off x="3099308" y="47503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6" name="Image 122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099308" y="47503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7" name="Equation OMML" descr="2"/>
              <p:cNvSpPr txBox="1"/>
              <p:nvPr/>
            </p:nvSpPr>
            <p:spPr>
              <a:xfrm>
                <a:off x="3467608" y="47503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7" name="Image 123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467608" y="4750308"/>
                <a:ext cx="15849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8" name="Equation OMML" descr="1"/>
              <p:cNvSpPr txBox="1"/>
              <p:nvPr/>
            </p:nvSpPr>
            <p:spPr>
              <a:xfrm>
                <a:off x="3861308" y="47503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8" name="Image 124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61308" y="47503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49" name="Equation OMML" descr="1"/>
              <p:cNvSpPr txBox="1"/>
              <p:nvPr/>
            </p:nvSpPr>
            <p:spPr>
              <a:xfrm>
                <a:off x="3099308" y="50805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9" name="Image 125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099308" y="50805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0" name="Equation OMML" descr="1"/>
              <p:cNvSpPr txBox="1"/>
              <p:nvPr/>
            </p:nvSpPr>
            <p:spPr>
              <a:xfrm>
                <a:off x="3480308" y="50805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0" name="Image 126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480308" y="50805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1" name="Equation OMML" descr="2"/>
              <p:cNvSpPr txBox="1"/>
              <p:nvPr/>
            </p:nvSpPr>
            <p:spPr>
              <a:xfrm>
                <a:off x="3848608" y="50678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1" name="Image 127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848608" y="5067808"/>
                <a:ext cx="158496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152" name="Shape 22"/>
          <p:cNvSpPr/>
          <p:nvPr/>
        </p:nvSpPr>
        <p:spPr>
          <a:xfrm>
            <a:off x="4819650" y="3943350"/>
            <a:ext cx="2438400" cy="1454150"/>
          </a:xfrm>
          <a:prstGeom prst="rect">
            <a:avLst/>
          </a:prstGeom>
          <a:solidFill>
            <a:srgbClr val="EDFDFA"/>
          </a:solidFill>
          <a:ln w="12700">
            <a:solidFill>
              <a:srgbClr val="B4BAC0"/>
            </a:solidFill>
            <a:prstDash val="solid"/>
          </a:ln>
        </p:spPr>
      </p:sp>
      <p:pic>
        <p:nvPicPr>
          <p:cNvPr id="153" name="Image 128" descr="/home/ahmed/Projects/ai_llm_slides/videos/machine-learning/02_linear-regression-classification-MSSE/recreated_pptx/build/assets/dXtL.png">    </p:cNvPr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5702300" y="4178300"/>
            <a:ext cx="64008" cy="1016508"/>
          </a:xfrm>
          <a:prstGeom prst="rect">
            <a:avLst/>
          </a:prstGeom>
        </p:spPr>
      </p:pic>
      <p:pic>
        <p:nvPicPr>
          <p:cNvPr id="154" name="Image 129" descr="/home/ahmed/Projects/ai_llm_slides/videos/machine-learning/02_linear-regression-classification-MSSE/recreated_pptx/build/assets/dXtR.png">    </p:cNvPr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7061200" y="4178300"/>
            <a:ext cx="76200" cy="1016508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55" name="Equation OMML" descr="X^T"/>
              <p:cNvSpPr txBox="1"/>
              <p:nvPr/>
            </p:nvSpPr>
            <p:spPr>
              <a:xfrm>
                <a:off x="4864608" y="4394708"/>
                <a:ext cx="544068" cy="4053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3444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3444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3444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5" name="Image 130" descr="/home/ahmed/Projects/ai_llm_slides/videos/machine-learning/02_linear-regression-classification-MSSE/recreated_pptx/build/assets/XTh.png">    </p:cNvPr>
              <p:cNvPicPr>
                <a:picLocks noChangeAspect="1"/>
              </p:cNvPicPr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864608" y="4394708"/>
                <a:ext cx="544068" cy="4053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6" name="Equation OMML" descr="="/>
              <p:cNvSpPr txBox="1"/>
              <p:nvPr/>
            </p:nvSpPr>
            <p:spPr>
              <a:xfrm>
                <a:off x="5461508" y="4636008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6" name="Image 131" descr="/home/ahmed/Projects/ai_llm_slides/videos/machine-learning/02_linear-regression-classification-MSSE/recreated_pptx/build/assets/heq.png">    </p:cNvPr>
              <p:cNvPicPr>
                <a:picLocks noChangeAspect="1"/>
              </p:cNvPicPr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461508" y="4636008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7" name="Equation OMML" descr="1"/>
              <p:cNvSpPr txBox="1"/>
              <p:nvPr/>
            </p:nvSpPr>
            <p:spPr>
              <a:xfrm>
                <a:off x="5804408" y="42677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7" name="Image 132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804408" y="42677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8" name="Equation OMML" descr="1"/>
              <p:cNvSpPr txBox="1"/>
              <p:nvPr/>
            </p:nvSpPr>
            <p:spPr>
              <a:xfrm>
                <a:off x="6172708" y="42677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8" name="Image 133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172708" y="42677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9" name="Equation OMML" descr="1"/>
              <p:cNvSpPr txBox="1"/>
              <p:nvPr/>
            </p:nvSpPr>
            <p:spPr>
              <a:xfrm>
                <a:off x="6553708" y="42677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9" name="Image 134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553708" y="42677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0" name="Equation OMML" descr="1"/>
              <p:cNvSpPr txBox="1"/>
              <p:nvPr/>
            </p:nvSpPr>
            <p:spPr>
              <a:xfrm>
                <a:off x="6934708" y="42677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0" name="Image 135" descr="/home/ahmed/Projects/ai_llm_slides/videos/machine-learning/02_linear-regression-classification-MSSE/recreated_pptx/build/assets/r1.png">    </p:cNvPr>
              <p:cNvPicPr>
                <a:picLocks noChangeAspect="1"/>
              </p:cNvPicPr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934708" y="42677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1" name="Equation OMML" descr="1"/>
              <p:cNvSpPr txBox="1"/>
              <p:nvPr/>
            </p:nvSpPr>
            <p:spPr>
              <a:xfrm>
                <a:off x="5804408" y="45852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1" name="Image 136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804408" y="45852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2" name="Equation OMML" descr="2"/>
              <p:cNvSpPr txBox="1"/>
              <p:nvPr/>
            </p:nvSpPr>
            <p:spPr>
              <a:xfrm>
                <a:off x="6160008" y="45852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2" name="Image 137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160008" y="4585208"/>
                <a:ext cx="15849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3" name="Equation OMML" descr="2"/>
              <p:cNvSpPr txBox="1"/>
              <p:nvPr/>
            </p:nvSpPr>
            <p:spPr>
              <a:xfrm>
                <a:off x="6541008" y="45852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3" name="Image 138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541008" y="4585208"/>
                <a:ext cx="15849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4" name="Equation OMML" descr="1"/>
              <p:cNvSpPr txBox="1"/>
              <p:nvPr/>
            </p:nvSpPr>
            <p:spPr>
              <a:xfrm>
                <a:off x="6934708" y="45852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4" name="Image 139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934708" y="45852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5" name="Equation OMML" descr="1"/>
              <p:cNvSpPr txBox="1"/>
              <p:nvPr/>
            </p:nvSpPr>
            <p:spPr>
              <a:xfrm>
                <a:off x="5804408" y="49154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5" name="Image 140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804408" y="49154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6" name="Equation OMML" descr="2"/>
              <p:cNvSpPr txBox="1"/>
              <p:nvPr/>
            </p:nvSpPr>
            <p:spPr>
              <a:xfrm>
                <a:off x="6160008" y="49027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6" name="Image 141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160008" y="4902708"/>
                <a:ext cx="15849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7" name="Equation OMML" descr="1"/>
              <p:cNvSpPr txBox="1"/>
              <p:nvPr/>
            </p:nvSpPr>
            <p:spPr>
              <a:xfrm>
                <a:off x="6566408" y="49027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7" name="Image 142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566408" y="49027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8" name="Equation OMML" descr="2"/>
              <p:cNvSpPr txBox="1"/>
              <p:nvPr/>
            </p:nvSpPr>
            <p:spPr>
              <a:xfrm>
                <a:off x="6909308" y="4902708"/>
                <a:ext cx="15849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6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8" name="Image 143" descr="/home/ahmed/Projects/ai_llm_slides/videos/machine-learning/02_linear-regression-classification-MSSE/recreated_pptx/build/assets/k2.png">    </p:cNvPr>
              <p:cNvPicPr>
                <a:picLocks noChangeAspect="1"/>
              </p:cNvPicPr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909308" y="4902708"/>
                <a:ext cx="158496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169" name="Shape 23"/>
          <p:cNvSpPr/>
          <p:nvPr/>
        </p:nvSpPr>
        <p:spPr>
          <a:xfrm>
            <a:off x="8007350" y="3943350"/>
            <a:ext cx="2552700" cy="1454150"/>
          </a:xfrm>
          <a:prstGeom prst="rect">
            <a:avLst/>
          </a:prstGeom>
          <a:solidFill>
            <a:srgbClr val="EDFDFA"/>
          </a:solidFill>
          <a:ln w="12700">
            <a:solidFill>
              <a:srgbClr val="B4BAC0"/>
            </a:solidFill>
            <a:prstDash val="solid"/>
          </a:ln>
        </p:spPr>
      </p:sp>
      <p:pic>
        <p:nvPicPr>
          <p:cNvPr id="170" name="Image 144" descr="/home/ahmed/Projects/ai_llm_slides/videos/machine-learning/02_linear-regression-classification-MSSE/recreated_pptx/build/assets/dX2L.png">    </p:cNvPr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9245600" y="4165600"/>
            <a:ext cx="76200" cy="1040892"/>
          </a:xfrm>
          <a:prstGeom prst="rect">
            <a:avLst/>
          </a:prstGeom>
        </p:spPr>
      </p:pic>
      <p:pic>
        <p:nvPicPr>
          <p:cNvPr id="171" name="Image 145" descr="/home/ahmed/Projects/ai_llm_slides/videos/machine-learning/02_linear-regression-classification-MSSE/recreated_pptx/build/assets/dX2R.png">    </p:cNvPr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10375900" y="4178300"/>
            <a:ext cx="76200" cy="1016508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72" name="Equation OMML" descr="X"/>
              <p:cNvSpPr txBox="1"/>
              <p:nvPr/>
            </p:nvSpPr>
            <p:spPr>
              <a:xfrm>
                <a:off x="8039608" y="4496308"/>
                <a:ext cx="316992" cy="3048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6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2" name="Image 146" descr="/home/ahmed/Projects/ai_llm_slides/videos/machine-learning/02_linear-regression-classification-MSSE/recreated_pptx/build/assets/Xh.png">    </p:cNvPr>
              <p:cNvPicPr>
                <a:picLocks noChangeAspect="1"/>
              </p:cNvPicPr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039608" y="4496308"/>
                <a:ext cx="316992" cy="3048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3" name="Equation OMML" descr="T"/>
              <p:cNvSpPr txBox="1"/>
              <p:nvPr/>
            </p:nvSpPr>
            <p:spPr>
              <a:xfrm>
                <a:off x="8344408" y="4407408"/>
                <a:ext cx="213360" cy="2377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9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3" name="Image 147" descr="/home/ahmed/Projects/ai_llm_slides/videos/machine-learning/02_linear-regression-classification-MSSE/recreated_pptx/build/assets/hT.png">    </p:cNvPr>
              <p:cNvPicPr>
                <a:picLocks noChangeAspect="1"/>
              </p:cNvPicPr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344408" y="4407408"/>
                <a:ext cx="213360" cy="2377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4" name="Equation OMML" descr="X"/>
              <p:cNvSpPr txBox="1"/>
              <p:nvPr/>
            </p:nvSpPr>
            <p:spPr>
              <a:xfrm>
                <a:off x="8573008" y="4483608"/>
                <a:ext cx="316992" cy="3048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6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4" name="Image 148" descr="/home/ahmed/Projects/ai_llm_slides/videos/machine-learning/02_linear-regression-classification-MSSE/recreated_pptx/build/assets/Xh.png">    </p:cNvPr>
              <p:cNvPicPr>
                <a:picLocks noChangeAspect="1"/>
              </p:cNvPicPr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573008" y="4483608"/>
                <a:ext cx="316992" cy="3048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5" name="Equation OMML" descr="="/>
              <p:cNvSpPr txBox="1"/>
              <p:nvPr/>
            </p:nvSpPr>
            <p:spPr>
              <a:xfrm>
                <a:off x="9004808" y="4636008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5" name="Image 149" descr="/home/ahmed/Projects/ai_llm_slides/videos/machine-learning/02_linear-regression-classification-MSSE/recreated_pptx/build/assets/heq.png">    </p:cNvPr>
              <p:cNvPicPr>
                <a:picLocks noChangeAspect="1"/>
              </p:cNvPicPr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004808" y="4636008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6" name="Equation OMML" descr="4"/>
              <p:cNvSpPr txBox="1"/>
              <p:nvPr/>
            </p:nvSpPr>
            <p:spPr>
              <a:xfrm>
                <a:off x="9385808" y="4267708"/>
                <a:ext cx="15392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6" name="Image 150" descr="/home/ahmed/Projects/ai_llm_slides/videos/machine-learning/02_linear-regression-classification-MSSE/recreated_pptx/build/assets/k4.png">    </p:cNvPr>
              <p:cNvPicPr>
                <a:picLocks noChangeAspect="1"/>
              </p:cNvPicPr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385808" y="4267708"/>
                <a:ext cx="153924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7" name="Equation OMML" descr="6"/>
              <p:cNvSpPr txBox="1"/>
              <p:nvPr/>
            </p:nvSpPr>
            <p:spPr>
              <a:xfrm>
                <a:off x="9792208" y="4267708"/>
                <a:ext cx="1417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7" name="Image 151" descr="/home/ahmed/Projects/ai_llm_slides/videos/machine-learning/02_linear-regression-classification-MSSE/recreated_pptx/build/assets/k6.png">    </p:cNvPr>
              <p:cNvPicPr>
                <a:picLocks noChangeAspect="1"/>
              </p:cNvPicPr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792208" y="4267708"/>
                <a:ext cx="1417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8" name="Equation OMML" descr="6"/>
              <p:cNvSpPr txBox="1"/>
              <p:nvPr/>
            </p:nvSpPr>
            <p:spPr>
              <a:xfrm>
                <a:off x="10160508" y="4267708"/>
                <a:ext cx="1417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8" name="Image 152" descr="/home/ahmed/Projects/ai_llm_slides/videos/machine-learning/02_linear-regression-classification-MSSE/recreated_pptx/build/assets/k6.png">    </p:cNvPr>
              <p:cNvPicPr>
                <a:picLocks noChangeAspect="1"/>
              </p:cNvPicPr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160508" y="4267708"/>
                <a:ext cx="1417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79" name="Equation OMML" descr="6"/>
              <p:cNvSpPr txBox="1"/>
              <p:nvPr/>
            </p:nvSpPr>
            <p:spPr>
              <a:xfrm>
                <a:off x="9322308" y="4585208"/>
                <a:ext cx="1417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9" name="Image 153" descr="/home/ahmed/Projects/ai_llm_slides/videos/machine-learning/02_linear-regression-classification-MSSE/recreated_pptx/build/assets/k6.png">    </p:cNvPr>
              <p:cNvPicPr>
                <a:picLocks noChangeAspect="1"/>
              </p:cNvPicPr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322308" y="4585208"/>
                <a:ext cx="1417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0" name="Equation OMML" descr="10"/>
              <p:cNvSpPr txBox="1"/>
              <p:nvPr/>
            </p:nvSpPr>
            <p:spPr>
              <a:xfrm>
                <a:off x="9728708" y="4585208"/>
                <a:ext cx="28041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3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0" name="Image 154" descr="/home/ahmed/Projects/ai_llm_slides/videos/machine-learning/02_linear-regression-classification-MSSE/recreated_pptx/build/assets/k10.png">    </p:cNvPr>
              <p:cNvPicPr>
                <a:picLocks noChangeAspect="1"/>
              </p:cNvPicPr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728708" y="4585208"/>
                <a:ext cx="28041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1" name="Equation OMML" descr="9"/>
              <p:cNvSpPr txBox="1"/>
              <p:nvPr/>
            </p:nvSpPr>
            <p:spPr>
              <a:xfrm>
                <a:off x="10224008" y="4585208"/>
                <a:ext cx="141732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6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1" name="Image 155" descr="/home/ahmed/Projects/ai_llm_slides/videos/machine-learning/02_linear-regression-classification-MSSE/recreated_pptx/build/assets/k9.png">    </p:cNvPr>
              <p:cNvPicPr>
                <a:picLocks noChangeAspect="1"/>
              </p:cNvPicPr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224008" y="4585208"/>
                <a:ext cx="141732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2" name="Equation OMML" descr="6"/>
              <p:cNvSpPr txBox="1"/>
              <p:nvPr/>
            </p:nvSpPr>
            <p:spPr>
              <a:xfrm>
                <a:off x="9335008" y="4902708"/>
                <a:ext cx="1417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2" name="Image 156" descr="/home/ahmed/Projects/ai_llm_slides/videos/machine-learning/02_linear-regression-classification-MSSE/recreated_pptx/build/assets/k6.png">    </p:cNvPr>
              <p:cNvPicPr>
                <a:picLocks noChangeAspect="1"/>
              </p:cNvPicPr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335008" y="4902708"/>
                <a:ext cx="1417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3" name="Equation OMML" descr="9"/>
              <p:cNvSpPr txBox="1"/>
              <p:nvPr/>
            </p:nvSpPr>
            <p:spPr>
              <a:xfrm>
                <a:off x="9716008" y="4902708"/>
                <a:ext cx="141732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6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3" name="Image 157" descr="/home/ahmed/Projects/ai_llm_slides/videos/machine-learning/02_linear-regression-classification-MSSE/recreated_pptx/build/assets/k9.png">    </p:cNvPr>
              <p:cNvPicPr>
                <a:picLocks noChangeAspect="1"/>
              </p:cNvPicPr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9716008" y="4902708"/>
                <a:ext cx="141732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84" name="Equation OMML" descr="10"/>
              <p:cNvSpPr txBox="1"/>
              <p:nvPr/>
            </p:nvSpPr>
            <p:spPr>
              <a:xfrm>
                <a:off x="10116058" y="4902708"/>
                <a:ext cx="28041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3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4" name="Image 158" descr="/home/ahmed/Projects/ai_llm_slides/videos/machine-learning/02_linear-regression-classification-MSSE/recreated_pptx/build/assets/k10.png">    </p:cNvPr>
              <p:cNvPicPr>
                <a:picLocks noChangeAspect="1"/>
              </p:cNvPicPr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16058" y="4902708"/>
                <a:ext cx="280416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185" name="Shape 24"/>
          <p:cNvSpPr/>
          <p:nvPr/>
        </p:nvSpPr>
        <p:spPr>
          <a:xfrm>
            <a:off x="9658350" y="2978150"/>
            <a:ext cx="1422400" cy="666750"/>
          </a:xfrm>
          <a:prstGeom prst="rect">
            <a:avLst/>
          </a:prstGeom>
          <a:solidFill>
            <a:srgbClr val="F9EDDD"/>
          </a:solidFill>
          <a:ln w="3175">
            <a:solidFill>
              <a:srgbClr val="F9EDDD"/>
            </a:solidFill>
            <a:prstDash val="solid"/>
          </a:ln>
        </p:spPr>
      </p:sp>
      <p:sp>
        <p:nvSpPr>
          <p:cNvPr id="186" name="Shape 25"/>
          <p:cNvSpPr/>
          <p:nvPr/>
        </p:nvSpPr>
        <p:spPr>
          <a:xfrm>
            <a:off x="9690100" y="3003550"/>
            <a:ext cx="1365250" cy="0"/>
          </a:xfrm>
          <a:prstGeom prst="line">
            <a:avLst/>
          </a:prstGeom>
          <a:noFill/>
          <a:ln w="12700">
            <a:solidFill>
              <a:srgbClr val="D8C4AC"/>
            </a:solidFill>
            <a:prstDash val="solid"/>
          </a:ln>
        </p:spPr>
      </p:sp>
      <p:sp>
        <p:nvSpPr>
          <p:cNvPr id="187" name="Shape 26"/>
          <p:cNvSpPr/>
          <p:nvPr/>
        </p:nvSpPr>
        <p:spPr>
          <a:xfrm>
            <a:off x="9677400" y="2997200"/>
            <a:ext cx="0" cy="647700"/>
          </a:xfrm>
          <a:prstGeom prst="line">
            <a:avLst/>
          </a:prstGeom>
          <a:noFill/>
          <a:ln w="9525">
            <a:solidFill>
              <a:srgbClr val="CDCDCD"/>
            </a:solidFill>
            <a:prstDash val="solid"/>
          </a:ln>
        </p:spPr>
      </p:sp>
      <p:sp>
        <p:nvSpPr>
          <p:cNvPr id="188" name="Text 27"/>
          <p:cNvSpPr/>
          <p:nvPr/>
        </p:nvSpPr>
        <p:spPr>
          <a:xfrm>
            <a:off x="9690100" y="30226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200" dirty="0"/>
          </a:p>
        </p:txBody>
      </p:sp>
      <p:sp>
        <p:nvSpPr>
          <p:cNvPr id="189" name="Text 28"/>
          <p:cNvSpPr/>
          <p:nvPr/>
        </p:nvSpPr>
        <p:spPr>
          <a:xfrm>
            <a:off x="9690100" y="32004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</a:t>
            </a:r>
            <a:endParaRPr lang="en-US" sz="1200" dirty="0"/>
          </a:p>
        </p:txBody>
      </p:sp>
      <p:sp>
        <p:nvSpPr>
          <p:cNvPr id="190" name="Text 29"/>
          <p:cNvSpPr/>
          <p:nvPr/>
        </p:nvSpPr>
        <p:spPr>
          <a:xfrm>
            <a:off x="9690100" y="337185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 its inverse)</a:t>
            </a:r>
            <a:endParaRPr lang="en-US" sz="1200" dirty="0"/>
          </a:p>
        </p:txBody>
      </p:sp>
      <p:sp>
        <p:nvSpPr>
          <p:cNvPr id="191" name="Shape 30"/>
          <p:cNvSpPr/>
          <p:nvPr/>
        </p:nvSpPr>
        <p:spPr>
          <a:xfrm flipH="1">
            <a:off x="9398000" y="3213100"/>
            <a:ext cx="177800" cy="101600"/>
          </a:xfrm>
          <a:prstGeom prst="line">
            <a:avLst/>
          </a:prstGeom>
          <a:noFill/>
          <a:ln w="9525">
            <a:solidFill>
              <a:srgbClr val="D0CDC6"/>
            </a:solidFill>
            <a:prstDash val="solid"/>
          </a:ln>
        </p:spPr>
      </p:sp>
      <p:sp>
        <p:nvSpPr>
          <p:cNvPr id="192" name="Shape 31"/>
          <p:cNvSpPr/>
          <p:nvPr/>
        </p:nvSpPr>
        <p:spPr>
          <a:xfrm flipH="1">
            <a:off x="9220200" y="3314700"/>
            <a:ext cx="177800" cy="139700"/>
          </a:xfrm>
          <a:prstGeom prst="line">
            <a:avLst/>
          </a:prstGeom>
          <a:noFill/>
          <a:ln w="9525">
            <a:solidFill>
              <a:srgbClr val="D0CDC6"/>
            </a:solidFill>
            <a:prstDash val="solid"/>
          </a:ln>
        </p:spPr>
      </p:sp>
      <p:sp>
        <p:nvSpPr>
          <p:cNvPr id="193" name="Shape 32"/>
          <p:cNvSpPr/>
          <p:nvPr/>
        </p:nvSpPr>
        <p:spPr>
          <a:xfrm flipH="1">
            <a:off x="9131300" y="3454400"/>
            <a:ext cx="88900" cy="152400"/>
          </a:xfrm>
          <a:prstGeom prst="line">
            <a:avLst/>
          </a:prstGeom>
          <a:noFill/>
          <a:ln w="9525">
            <a:solidFill>
              <a:srgbClr val="D0CDC6"/>
            </a:solidFill>
            <a:prstDash val="solid"/>
          </a:ln>
        </p:spPr>
      </p:sp>
      <p:sp>
        <p:nvSpPr>
          <p:cNvPr id="194" name="Shape 33"/>
          <p:cNvSpPr/>
          <p:nvPr/>
        </p:nvSpPr>
        <p:spPr>
          <a:xfrm flipH="1">
            <a:off x="8997950" y="3606800"/>
            <a:ext cx="133350" cy="323850"/>
          </a:xfrm>
          <a:prstGeom prst="line">
            <a:avLst/>
          </a:prstGeom>
          <a:noFill/>
          <a:ln w="9525">
            <a:solidFill>
              <a:srgbClr val="D0CDC6"/>
            </a:solidFill>
            <a:prstDash val="solid"/>
          </a:ln>
        </p:spPr>
      </p:sp>
      <p:sp>
        <p:nvSpPr>
          <p:cNvPr id="195" name="Shape 34"/>
          <p:cNvSpPr/>
          <p:nvPr/>
        </p:nvSpPr>
        <p:spPr>
          <a:xfrm>
            <a:off x="996950" y="5518150"/>
            <a:ext cx="4222750" cy="1244600"/>
          </a:xfrm>
          <a:prstGeom prst="rect">
            <a:avLst/>
          </a:prstGeom>
          <a:solidFill>
            <a:srgbClr val="EDFDFA"/>
          </a:solidFill>
          <a:ln w="12700">
            <a:solidFill>
              <a:srgbClr val="B4BAC0"/>
            </a:solidFill>
            <a:prstDash val="solid"/>
          </a:ln>
        </p:spPr>
      </p:sp>
      <p:pic>
        <p:nvPicPr>
          <p:cNvPr id="196" name="Image 159" descr="/home/ahmed/Projects/ai_llm_slides/videos/machine-learning/02_linear-regression-classification-MSSE/recreated_pptx/build/assets/dIlL.png">    </p:cNvPr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1066800" y="5829300"/>
            <a:ext cx="126492" cy="521208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97" name="Equation OMML" descr="X"/>
              <p:cNvSpPr txBox="1"/>
              <p:nvPr/>
            </p:nvSpPr>
            <p:spPr>
              <a:xfrm>
                <a:off x="1232408" y="5931408"/>
                <a:ext cx="316992" cy="3048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6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7" name="Image 160" descr="/home/ahmed/Projects/ai_llm_slides/videos/machine-learning/02_linear-regression-classification-MSSE/recreated_pptx/build/assets/Xh.png">    </p:cNvPr>
              <p:cNvPicPr>
                <a:picLocks noChangeAspect="1"/>
              </p:cNvPicPr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232408" y="5931408"/>
                <a:ext cx="316992" cy="3048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98" name="Equation OMML" descr="T"/>
              <p:cNvSpPr txBox="1"/>
              <p:nvPr/>
            </p:nvSpPr>
            <p:spPr>
              <a:xfrm>
                <a:off x="1562608" y="5829808"/>
                <a:ext cx="179832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8" name="Image 161" descr="/home/ahmed/Projects/ai_llm_slides/videos/machine-learning/02_linear-regression-classification-MSSE/recreated_pptx/build/assets/Th.png">    </p:cNvPr>
              <p:cNvPicPr>
                <a:picLocks noChangeAspect="1"/>
              </p:cNvPicPr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562608" y="5829808"/>
                <a:ext cx="179832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99" name="Equation OMML" descr="X"/>
              <p:cNvSpPr txBox="1"/>
              <p:nvPr/>
            </p:nvSpPr>
            <p:spPr>
              <a:xfrm>
                <a:off x="1765808" y="5931408"/>
                <a:ext cx="316992" cy="3048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6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9" name="Image 162" descr="/home/ahmed/Projects/ai_llm_slides/videos/machine-learning/02_linear-regression-classification-MSSE/recreated_pptx/build/assets/Xh.png">    </p:cNvPr>
              <p:cNvPicPr>
                <a:picLocks noChangeAspect="1"/>
              </p:cNvPicPr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65808" y="5931408"/>
                <a:ext cx="316992" cy="304800"/>
              </a:xfrm>
              <a:prstGeom prst="rect">
                <a:avLst/>
              </a:prstGeom>
            </p:spPr>
          </p:pic>
        </mc:Fallback>
      </mc:AlternateContent>
      <p:pic>
        <p:nvPicPr>
          <p:cNvPr id="200" name="Image 163" descr="/home/ahmed/Projects/ai_llm_slides/videos/machine-learning/02_linear-regression-classification-MSSE/recreated_pptx/build/assets/dIlR.png">    </p:cNvPr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2108200" y="5829300"/>
            <a:ext cx="140208" cy="5334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01" name="Equation OMML" descr="\;{}^{-1}"/>
              <p:cNvSpPr txBox="1"/>
              <p:nvPr/>
            </p:nvSpPr>
            <p:spPr>
              <a:xfrm>
                <a:off x="2248408" y="5829808"/>
                <a:ext cx="292608" cy="2042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2974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2974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2974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1" name="Image 164" descr="/home/ahmed/Projects/ai_llm_slides/videos/machine-learning/02_linear-regression-classification-MSSE/recreated_pptx/build/assets/invB2.png">    </p:cNvPr>
              <p:cNvPicPr>
                <a:picLocks noChangeAspect="1"/>
              </p:cNvPicPr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248408" y="5829808"/>
                <a:ext cx="292608" cy="2042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2" name="Equation OMML" descr="="/>
              <p:cNvSpPr txBox="1"/>
              <p:nvPr/>
            </p:nvSpPr>
            <p:spPr>
              <a:xfrm>
                <a:off x="2680208" y="6071108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2" name="Image 165" descr="/home/ahmed/Projects/ai_llm_slides/videos/machine-learning/02_linear-regression-classification-MSSE/recreated_pptx/build/assets/heq.png">    </p:cNvPr>
              <p:cNvPicPr>
                <a:picLocks noChangeAspect="1"/>
              </p:cNvPicPr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680208" y="6071108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203" name="Image 166" descr="/home/ahmed/Projects/ai_llm_slides/videos/machine-learning/02_linear-regression-classification-MSSE/recreated_pptx/build/assets/dImL.png">    </p:cNvPr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2921000" y="5600700"/>
            <a:ext cx="76200" cy="1040892"/>
          </a:xfrm>
          <a:prstGeom prst="rect">
            <a:avLst/>
          </a:prstGeom>
        </p:spPr>
      </p:pic>
      <p:pic>
        <p:nvPicPr>
          <p:cNvPr id="204" name="Image 167" descr="/home/ahmed/Projects/ai_llm_slides/videos/machine-learning/02_linear-regression-classification-MSSE/recreated_pptx/build/assets/dImR.png">    </p:cNvPr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5067300" y="5613400"/>
            <a:ext cx="88392" cy="10287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05" name="Equation OMML" descr="4.75"/>
              <p:cNvSpPr txBox="1"/>
              <p:nvPr/>
            </p:nvSpPr>
            <p:spPr>
              <a:xfrm>
                <a:off x="2997708" y="5702808"/>
                <a:ext cx="48158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4.75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5" name="Image 168" descr="/home/ahmed/Projects/ai_llm_slides/videos/machine-learning/02_linear-regression-classification-MSSE/recreated_pptx/build/assets/k475.png">    </p:cNvPr>
              <p:cNvPicPr>
                <a:picLocks noChangeAspect="1"/>
              </p:cNvPicPr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997708" y="5702808"/>
                <a:ext cx="48158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6" name="Equation OMML" descr="-1.5"/>
              <p:cNvSpPr txBox="1"/>
              <p:nvPr/>
            </p:nvSpPr>
            <p:spPr>
              <a:xfrm>
                <a:off x="3753358" y="5702808"/>
                <a:ext cx="518160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6" name="Image 169" descr="/home/ahmed/Projects/ai_llm_slides/videos/machine-learning/02_linear-regression-classification-MSSE/recreated_pptx/build/assets/km15.png">    </p:cNvPr>
              <p:cNvPicPr>
                <a:picLocks noChangeAspect="1"/>
              </p:cNvPicPr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753358" y="5702808"/>
                <a:ext cx="518160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7" name="Equation OMML" descr="-1.5"/>
              <p:cNvSpPr txBox="1"/>
              <p:nvPr/>
            </p:nvSpPr>
            <p:spPr>
              <a:xfrm>
                <a:off x="4540758" y="5702808"/>
                <a:ext cx="518160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7" name="Image 170" descr="/home/ahmed/Projects/ai_llm_slides/videos/machine-learning/02_linear-regression-classification-MSSE/recreated_pptx/build/assets/km15.png">    </p:cNvPr>
              <p:cNvPicPr>
                <a:picLocks noChangeAspect="1"/>
              </p:cNvPicPr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540758" y="5702808"/>
                <a:ext cx="518160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8" name="Equation OMML" descr="-1.5"/>
              <p:cNvSpPr txBox="1"/>
              <p:nvPr/>
            </p:nvSpPr>
            <p:spPr>
              <a:xfrm>
                <a:off x="3042158" y="6020308"/>
                <a:ext cx="518160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8" name="Image 171" descr="/home/ahmed/Projects/ai_llm_slides/videos/machine-learning/02_linear-regression-classification-MSSE/recreated_pptx/build/assets/km15.png">    </p:cNvPr>
              <p:cNvPicPr>
                <a:picLocks noChangeAspect="1"/>
              </p:cNvPicPr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042158" y="6020308"/>
                <a:ext cx="518160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9" name="Equation OMML" descr="1"/>
              <p:cNvSpPr txBox="1"/>
              <p:nvPr/>
            </p:nvSpPr>
            <p:spPr>
              <a:xfrm>
                <a:off x="4166108" y="60203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9" name="Image 172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166108" y="6020308"/>
                <a:ext cx="10363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0" name="Equation OMML" descr="0"/>
              <p:cNvSpPr txBox="1"/>
              <p:nvPr/>
            </p:nvSpPr>
            <p:spPr>
              <a:xfrm>
                <a:off x="4788408" y="6020308"/>
                <a:ext cx="14782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6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0" name="Image 173" descr="/home/ahmed/Projects/ai_llm_slides/videos/machine-learning/02_linear-regression-classification-MSSE/recreated_pptx/build/assets/k0.png">    </p:cNvPr>
              <p:cNvPicPr>
                <a:picLocks noChangeAspect="1"/>
              </p:cNvPicPr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788408" y="6020308"/>
                <a:ext cx="14782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1" name="Equation OMML" descr="-1.5"/>
              <p:cNvSpPr txBox="1"/>
              <p:nvPr/>
            </p:nvSpPr>
            <p:spPr>
              <a:xfrm>
                <a:off x="3080258" y="6350508"/>
                <a:ext cx="518160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1" name="Image 174" descr="/home/ahmed/Projects/ai_llm_slides/videos/machine-learning/02_linear-regression-classification-MSSE/recreated_pptx/build/assets/km15.png">    </p:cNvPr>
              <p:cNvPicPr>
                <a:picLocks noChangeAspect="1"/>
              </p:cNvPicPr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080258" y="6350508"/>
                <a:ext cx="518160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2" name="Equation OMML" descr="0"/>
              <p:cNvSpPr txBox="1"/>
              <p:nvPr/>
            </p:nvSpPr>
            <p:spPr>
              <a:xfrm>
                <a:off x="4102608" y="6350508"/>
                <a:ext cx="147828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6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2" name="Image 175" descr="/home/ahmed/Projects/ai_llm_slides/videos/machine-learning/02_linear-regression-classification-MSSE/recreated_pptx/build/assets/k0.png">    </p:cNvPr>
              <p:cNvPicPr>
                <a:picLocks noChangeAspect="1"/>
              </p:cNvPicPr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102608" y="6350508"/>
                <a:ext cx="147828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3" name="Equation OMML" descr="1"/>
              <p:cNvSpPr txBox="1"/>
              <p:nvPr/>
            </p:nvSpPr>
            <p:spPr>
              <a:xfrm>
                <a:off x="4788408" y="6350508"/>
                <a:ext cx="10363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3" name="Image 176" descr="/home/ahmed/Projects/ai_llm_slides/videos/machine-learning/02_linear-regression-classification-MSSE/recreated_pptx/build/assets/k1.png">    </p:cNvPr>
              <p:cNvPicPr>
                <a:picLocks noChangeAspect="1"/>
              </p:cNvPicPr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788408" y="6350508"/>
                <a:ext cx="103632" cy="214884"/>
              </a:xfrm>
              <a:prstGeom prst="rect">
                <a:avLst/>
              </a:prstGeom>
            </p:spPr>
          </p:pic>
        </mc:Fallback>
      </mc:AlternateContent>
      <p:sp>
        <p:nvSpPr>
          <p:cNvPr id="214" name="Shape 35"/>
          <p:cNvSpPr/>
          <p:nvPr/>
        </p:nvSpPr>
        <p:spPr>
          <a:xfrm>
            <a:off x="6324600" y="5518150"/>
            <a:ext cx="4216400" cy="1244600"/>
          </a:xfrm>
          <a:prstGeom prst="rect">
            <a:avLst/>
          </a:prstGeom>
          <a:solidFill>
            <a:srgbClr val="DAFFEA"/>
          </a:solidFill>
          <a:ln w="12700">
            <a:solidFill>
              <a:srgbClr val="B2C6BE"/>
            </a:solidFill>
            <a:prstDash val="solid"/>
          </a:ln>
        </p:spPr>
      </p:sp>
      <p:sp>
        <p:nvSpPr>
          <p:cNvPr id="215" name="Shape 36"/>
          <p:cNvSpPr/>
          <p:nvPr/>
        </p:nvSpPr>
        <p:spPr>
          <a:xfrm>
            <a:off x="6432550" y="6273800"/>
            <a:ext cx="2209800" cy="419100"/>
          </a:xfrm>
          <a:prstGeom prst="rect">
            <a:avLst/>
          </a:prstGeom>
          <a:solidFill>
            <a:srgbClr val="FFFFCC"/>
          </a:solidFill>
          <a:ln w="12700">
            <a:solidFill>
              <a:srgbClr val="BCC3A4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16" name="Equation OMML" descr="W"/>
              <p:cNvSpPr txBox="1"/>
              <p:nvPr/>
            </p:nvSpPr>
            <p:spPr>
              <a:xfrm>
                <a:off x="6464808" y="5944108"/>
                <a:ext cx="292608" cy="2407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2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6" name="Image 177" descr="/home/ahmed/Projects/ai_llm_slides/videos/machine-learning/02_linear-regression-classification-MSSE/recreated_pptx/build/assets/We.png">    </p:cNvPr>
              <p:cNvPicPr>
                <a:picLocks noChangeAspect="1"/>
              </p:cNvPicPr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6464808" y="5944108"/>
                <a:ext cx="292608" cy="2407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7" name="Equation OMML" descr="="/>
              <p:cNvSpPr txBox="1"/>
              <p:nvPr/>
            </p:nvSpPr>
            <p:spPr>
              <a:xfrm>
                <a:off x="6896608" y="5994908"/>
                <a:ext cx="220980" cy="1127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7" name="Image 178" descr="/home/ahmed/Projects/ai_llm_slides/videos/machine-learning/02_linear-regression-classification-MSSE/recreated_pptx/build/assets/gEq.png">    </p:cNvPr>
              <p:cNvPicPr>
                <a:picLocks noChangeAspect="1"/>
              </p:cNvPicPr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896608" y="5994908"/>
                <a:ext cx="220980" cy="112776"/>
              </a:xfrm>
              <a:prstGeom prst="rect">
                <a:avLst/>
              </a:prstGeom>
            </p:spPr>
          </p:pic>
        </mc:Fallback>
      </mc:AlternateContent>
      <p:pic>
        <p:nvPicPr>
          <p:cNvPr id="218" name="Image 179" descr="/home/ahmed/Projects/ai_llm_slides/videos/machine-learning/02_linear-regression-classification-MSSE/recreated_pptx/build/assets/dGwlL.png">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7137400" y="5880100"/>
            <a:ext cx="102108" cy="368808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19" name="Equation OMML" descr="X"/>
              <p:cNvSpPr txBox="1"/>
              <p:nvPr/>
            </p:nvSpPr>
            <p:spPr>
              <a:xfrm>
                <a:off x="7264908" y="5944108"/>
                <a:ext cx="22250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8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9" name="Image 180" descr="/home/ahmed/Projects/ai_llm_slides/videos/machine-learning/02_linear-regression-classification-MSSE/recreated_pptx/build/assets/gX.png">    </p:cNvPr>
              <p:cNvPicPr>
                <a:picLocks noChangeAspect="1"/>
              </p:cNvPicPr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264908" y="5944108"/>
                <a:ext cx="222504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0" name="Equation OMML" descr="T"/>
              <p:cNvSpPr txBox="1"/>
              <p:nvPr/>
            </p:nvSpPr>
            <p:spPr>
              <a:xfrm>
                <a:off x="7480808" y="5880608"/>
                <a:ext cx="121920" cy="1371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54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0" name="Image 181" descr="/home/ahmed/Projects/ai_llm_slides/videos/machine-learning/02_linear-regression-classification-MSSE/recreated_pptx/build/assets/gT.png">    </p:cNvPr>
              <p:cNvPicPr>
                <a:picLocks noChangeAspect="1"/>
              </p:cNvPicPr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480808" y="5880608"/>
                <a:ext cx="121920" cy="1371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1" name="Equation OMML" descr="X"/>
              <p:cNvSpPr txBox="1"/>
              <p:nvPr/>
            </p:nvSpPr>
            <p:spPr>
              <a:xfrm>
                <a:off x="7633208" y="5944108"/>
                <a:ext cx="22250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8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1" name="Image 182" descr="/home/ahmed/Projects/ai_llm_slides/videos/machine-learning/02_linear-regression-classification-MSSE/recreated_pptx/build/assets/gX.png">    </p:cNvPr>
              <p:cNvPicPr>
                <a:picLocks noChangeAspect="1"/>
              </p:cNvPicPr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633208" y="5944108"/>
                <a:ext cx="222504" cy="214884"/>
              </a:xfrm>
              <a:prstGeom prst="rect">
                <a:avLst/>
              </a:prstGeom>
            </p:spPr>
          </p:pic>
        </mc:Fallback>
      </mc:AlternateContent>
      <p:pic>
        <p:nvPicPr>
          <p:cNvPr id="222" name="Image 183" descr="/home/ahmed/Projects/ai_llm_slides/videos/machine-learning/02_linear-regression-classification-MSSE/recreated_pptx/build/assets/dGwlr.png">    </p:cNvPr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7848600" y="5880100"/>
            <a:ext cx="102108" cy="368808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23" name="Equation OMML" descr="\;{}^{-1}"/>
              <p:cNvSpPr txBox="1"/>
              <p:nvPr/>
            </p:nvSpPr>
            <p:spPr>
              <a:xfrm>
                <a:off x="7950708" y="5880608"/>
                <a:ext cx="193548" cy="1371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94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894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 </m:t>
                          </m:r>
                        </m:e>
                        <m:sup>
                          <m:r>
                            <a:rPr lang="en-US" i="1" smtClean="0" sz="1894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3" name="Image 184" descr="/home/ahmed/Projects/ai_llm_slides/videos/machine-learning/02_linear-regression-classification-MSSE/recreated_pptx/build/assets/ginv.png">    </p:cNvPr>
              <p:cNvPicPr>
                <a:picLocks noChangeAspect="1"/>
              </p:cNvPicPr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950708" y="5880608"/>
                <a:ext cx="193548" cy="1371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4" name="Equation OMML" descr="X"/>
              <p:cNvSpPr txBox="1"/>
              <p:nvPr/>
            </p:nvSpPr>
            <p:spPr>
              <a:xfrm>
                <a:off x="8204708" y="5944108"/>
                <a:ext cx="222504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8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4" name="Image 185" descr="/home/ahmed/Projects/ai_llm_slides/videos/machine-learning/02_linear-regression-classification-MSSE/recreated_pptx/build/assets/gX.png">    </p:cNvPr>
              <p:cNvPicPr>
                <a:picLocks noChangeAspect="1"/>
              </p:cNvPicPr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204708" y="5944108"/>
                <a:ext cx="222504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5" name="Equation OMML" descr="T"/>
              <p:cNvSpPr txBox="1"/>
              <p:nvPr/>
            </p:nvSpPr>
            <p:spPr>
              <a:xfrm>
                <a:off x="8407908" y="5880608"/>
                <a:ext cx="121920" cy="1371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54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5" name="Image 186" descr="/home/ahmed/Projects/ai_llm_slides/videos/machine-learning/02_linear-regression-classification-MSSE/recreated_pptx/build/assets/gT.png">    </p:cNvPr>
              <p:cNvPicPr>
                <a:picLocks noChangeAspect="1"/>
              </p:cNvPicPr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407908" y="5880608"/>
                <a:ext cx="121920" cy="1371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6" name="Equation OMML" descr="Y"/>
              <p:cNvSpPr txBox="1"/>
              <p:nvPr/>
            </p:nvSpPr>
            <p:spPr>
              <a:xfrm>
                <a:off x="8560308" y="5944108"/>
                <a:ext cx="196596" cy="227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45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6" name="Image 187" descr="/home/ahmed/Projects/ai_llm_slides/videos/machine-learning/02_linear-regression-classification-MSSE/recreated_pptx/build/assets/Yb.png">    </p:cNvPr>
              <p:cNvPicPr>
                <a:picLocks noChangeAspect="1"/>
              </p:cNvPicPr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560308" y="5944108"/>
                <a:ext cx="196596" cy="2270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7" name="Equation OMML" descr="\Rightarrow"/>
              <p:cNvSpPr txBox="1"/>
              <p:nvPr/>
            </p:nvSpPr>
            <p:spPr>
              <a:xfrm>
                <a:off x="8941308" y="5994908"/>
                <a:ext cx="198120" cy="1524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96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7" name="Image 188" descr="/home/ahmed/Projects/ai_llm_slides/videos/machine-learning/02_linear-regression-classification-MSSE/recreated_pptx/build/assets/arrr.png">    </p:cNvPr>
              <p:cNvPicPr>
                <a:picLocks noChangeAspect="1"/>
              </p:cNvPicPr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941308" y="5994908"/>
                <a:ext cx="198120" cy="1524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8" name="Equation OMML" descr="W"/>
              <p:cNvSpPr txBox="1"/>
              <p:nvPr/>
            </p:nvSpPr>
            <p:spPr>
              <a:xfrm>
                <a:off x="9462008" y="5944108"/>
                <a:ext cx="277368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87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8" name="Image 189" descr="/home/ahmed/Projects/ai_llm_slides/videos/machine-learning/02_linear-regression-classification-MSSE/recreated_pptx/build/assets/Wr.png">    </p:cNvPr>
              <p:cNvPicPr>
                <a:picLocks noChangeAspect="1"/>
              </p:cNvPicPr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462008" y="5944108"/>
                <a:ext cx="277368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29" name="Equation OMML" descr="="/>
              <p:cNvSpPr txBox="1"/>
              <p:nvPr/>
            </p:nvSpPr>
            <p:spPr>
              <a:xfrm>
                <a:off x="9811258" y="5994908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9" name="Image 190" descr="/home/ahmed/Projects/ai_llm_slides/videos/machine-learning/02_linear-regression-classification-MSSE/recreated_pptx/build/assets/heq.png">    </p:cNvPr>
              <p:cNvPicPr>
                <a:picLocks noChangeAspect="1"/>
              </p:cNvPicPr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811258" y="5994908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230" name="Image 191" descr="/home/ahmed/Projects/ai_llm_slides/videos/machine-learning/02_linear-regression-classification-MSSE/recreated_pptx/build/assets/dGwL.png">    </p:cNvPr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10058400" y="5575300"/>
            <a:ext cx="88392" cy="10287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31" name="Equation OMML" descr="5"/>
              <p:cNvSpPr txBox="1"/>
              <p:nvPr/>
            </p:nvSpPr>
            <p:spPr>
              <a:xfrm>
                <a:off x="10147808" y="5664708"/>
                <a:ext cx="135636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46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1" name="Image 192" descr="/home/ahmed/Projects/ai_llm_slides/videos/machine-learning/02_linear-regression-classification-MSSE/recreated_pptx/build/assets/gw5r.png">    </p:cNvPr>
              <p:cNvPicPr>
                <a:picLocks noChangeAspect="1"/>
              </p:cNvPicPr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147808" y="5664708"/>
                <a:ext cx="135636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2" name="Equation OMML" descr="3"/>
              <p:cNvSpPr txBox="1"/>
              <p:nvPr/>
            </p:nvSpPr>
            <p:spPr>
              <a:xfrm>
                <a:off x="10147808" y="5982208"/>
                <a:ext cx="138684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3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2" name="Image 193" descr="/home/ahmed/Projects/ai_llm_slides/videos/machine-learning/02_linear-regression-classification-MSSE/recreated_pptx/build/assets/gw3b.png">    </p:cNvPr>
              <p:cNvPicPr>
                <a:picLocks noChangeAspect="1"/>
              </p:cNvPicPr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0147808" y="5982208"/>
                <a:ext cx="138684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3" name="Equation OMML" descr="2"/>
              <p:cNvSpPr txBox="1"/>
              <p:nvPr/>
            </p:nvSpPr>
            <p:spPr>
              <a:xfrm>
                <a:off x="10147808" y="6312408"/>
                <a:ext cx="14935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4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3" name="Image 194" descr="/home/ahmed/Projects/ai_llm_slides/videos/machine-learning/02_linear-regression-classification-MSSE/recreated_pptx/build/assets/gw2b.png">    </p:cNvPr>
              <p:cNvPicPr>
                <a:picLocks noChangeAspect="1"/>
              </p:cNvPicPr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147808" y="6312408"/>
                <a:ext cx="149352" cy="214884"/>
              </a:xfrm>
              <a:prstGeom prst="rect">
                <a:avLst/>
              </a:prstGeom>
            </p:spPr>
          </p:pic>
        </mc:Fallback>
      </mc:AlternateContent>
      <p:pic>
        <p:nvPicPr>
          <p:cNvPr id="234" name="Image 195" descr="/home/ahmed/Projects/ai_llm_slides/videos/machine-learning/02_linear-regression-classification-MSSE/recreated_pptx/build/assets/dGwR.png">    </p:cNvPr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10299700" y="5575300"/>
            <a:ext cx="76200" cy="1040892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235" name="Equation OMML" descr="y"/>
              <p:cNvSpPr txBox="1"/>
              <p:nvPr/>
            </p:nvSpPr>
            <p:spPr>
              <a:xfrm>
                <a:off x="6477508" y="6401308"/>
                <a:ext cx="184404" cy="2529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80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5" name="Image 196" descr="/home/ahmed/Projects/ai_llm_slides/videos/machine-learning/02_linear-regression-classification-MSSE/recreated_pptx/build/assets/sy.png">    </p:cNvPr>
              <p:cNvPicPr>
                <a:picLocks noChangeAspect="1"/>
              </p:cNvPicPr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477508" y="6401308"/>
                <a:ext cx="184404" cy="2529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6" name="Equation OMML" descr="="/>
              <p:cNvSpPr txBox="1"/>
              <p:nvPr/>
            </p:nvSpPr>
            <p:spPr>
              <a:xfrm>
                <a:off x="6699758" y="6388608"/>
                <a:ext cx="277368" cy="1386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33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6" name="Image 197" descr="/home/ahmed/Projects/ai_llm_slides/videos/machine-learning/02_linear-regression-classification-MSSE/recreated_pptx/build/assets/seq.png">    </p:cNvPr>
              <p:cNvPicPr>
                <a:picLocks noChangeAspect="1"/>
              </p:cNvPicPr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6699758" y="6388608"/>
                <a:ext cx="277368" cy="1386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7" name="Equation OMML" descr="3"/>
              <p:cNvSpPr txBox="1"/>
              <p:nvPr/>
            </p:nvSpPr>
            <p:spPr>
              <a:xfrm>
                <a:off x="6960108" y="6325108"/>
                <a:ext cx="160020" cy="2667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7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7" name="Image 198" descr="/home/ahmed/Projects/ai_llm_slides/videos/machine-learning/02_linear-regression-classification-MSSE/recreated_pptx/build/assets/s3b.png">    </p:cNvPr>
              <p:cNvPicPr>
                <a:picLocks noChangeAspect="1"/>
              </p:cNvPicPr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960108" y="6325108"/>
                <a:ext cx="160020" cy="2667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8" name="Equation OMML" descr="x_1"/>
              <p:cNvSpPr txBox="1"/>
              <p:nvPr/>
            </p:nvSpPr>
            <p:spPr>
              <a:xfrm>
                <a:off x="7163308" y="6401308"/>
                <a:ext cx="329184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321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321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321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8" name="Image 199" descr="/home/ahmed/Projects/ai_llm_slides/videos/machine-learning/02_linear-regression-classification-MSSE/recreated_pptx/build/assets/sx1.png">    </p:cNvPr>
              <p:cNvPicPr>
                <a:picLocks noChangeAspect="1"/>
              </p:cNvPicPr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163308" y="6401308"/>
                <a:ext cx="329184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39" name="Equation OMML" descr="+"/>
              <p:cNvSpPr txBox="1"/>
              <p:nvPr/>
            </p:nvSpPr>
            <p:spPr>
              <a:xfrm>
                <a:off x="7480808" y="6363208"/>
                <a:ext cx="201168" cy="2011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7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39" name="Image 200" descr="/home/ahmed/Projects/ai_llm_slides/videos/machine-learning/02_linear-regression-classification-MSSE/recreated_pptx/build/assets/spl.png">    </p:cNvPr>
              <p:cNvPicPr>
                <a:picLocks noChangeAspect="1"/>
              </p:cNvPicPr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480808" y="6363208"/>
                <a:ext cx="201168" cy="2011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0" name="Equation OMML" descr="2"/>
              <p:cNvSpPr txBox="1"/>
              <p:nvPr/>
            </p:nvSpPr>
            <p:spPr>
              <a:xfrm>
                <a:off x="7696708" y="6325108"/>
                <a:ext cx="173736" cy="2529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66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0" name="Image 201" descr="/home/ahmed/Projects/ai_llm_slides/videos/machine-learning/02_linear-regression-classification-MSSE/recreated_pptx/build/assets/s2b.png">    </p:cNvPr>
              <p:cNvPicPr>
                <a:picLocks noChangeAspect="1"/>
              </p:cNvPicPr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696708" y="6325108"/>
                <a:ext cx="173736" cy="2529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1" name="Equation OMML" descr="x_2"/>
              <p:cNvSpPr txBox="1"/>
              <p:nvPr/>
            </p:nvSpPr>
            <p:spPr>
              <a:xfrm>
                <a:off x="7899908" y="6401308"/>
                <a:ext cx="350520" cy="2651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321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321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321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1" name="Image 202" descr="/home/ahmed/Projects/ai_llm_slides/videos/machine-learning/02_linear-regression-classification-MSSE/recreated_pptx/build/assets/sx2.png">    </p:cNvPr>
              <p:cNvPicPr>
                <a:picLocks noChangeAspect="1"/>
              </p:cNvPicPr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899908" y="6401308"/>
                <a:ext cx="350520" cy="2651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2" name="Equation OMML" descr="+"/>
              <p:cNvSpPr txBox="1"/>
              <p:nvPr/>
            </p:nvSpPr>
            <p:spPr>
              <a:xfrm>
                <a:off x="8204708" y="6363208"/>
                <a:ext cx="201168" cy="2011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7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2" name="Image 203" descr="/home/ahmed/Projects/ai_llm_slides/videos/machine-learning/02_linear-regression-classification-MSSE/recreated_pptx/build/assets/spl.png">    </p:cNvPr>
              <p:cNvPicPr>
                <a:picLocks noChangeAspect="1"/>
              </p:cNvPicPr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204708" y="6363208"/>
                <a:ext cx="201168" cy="2011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43" name="Equation OMML" descr="5"/>
              <p:cNvSpPr txBox="1"/>
              <p:nvPr/>
            </p:nvSpPr>
            <p:spPr>
              <a:xfrm>
                <a:off x="8420608" y="6325108"/>
                <a:ext cx="156972" cy="2529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79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3" name="Image 204" descr="/home/ahmed/Projects/ai_llm_slides/videos/machine-learning/02_linear-regression-classification-MSSE/recreated_pptx/build/assets/s5.png">    </p:cNvPr>
              <p:cNvPicPr>
                <a:picLocks noChangeAspect="1"/>
              </p:cNvPicPr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420608" y="6325108"/>
                <a:ext cx="156972" cy="25298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3800" y="40132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Example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155700"/>
            <a:ext cx="4305300" cy="54991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7" name="Image 0" descr="/home/ahmed/Projects/ai_llm_slides/videos/machine-learning/02_linear-regression-classification-MSSE/recreated_pptx/build/assets/plot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1181100"/>
            <a:ext cx="4267200" cy="5461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5300" y="1155700"/>
            <a:ext cx="1016000" cy="1098550"/>
          </a:xfrm>
          <a:prstGeom prst="rect">
            <a:avLst/>
          </a:prstGeom>
          <a:solidFill>
            <a:srgbClr val="E7FCF9"/>
          </a:solidFill>
          <a:ln w="12700">
            <a:solidFill>
              <a:srgbClr val="0D07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43700" y="1130300"/>
            <a:ext cx="1066800" cy="1181100"/>
          </a:xfrm>
          <a:prstGeom prst="rect">
            <a:avLst/>
          </a:prstGeom>
          <a:solidFill>
            <a:srgbClr val="E7FCF9"/>
          </a:solidFill>
          <a:ln w="12700">
            <a:solidFill>
              <a:srgbClr val="0D07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77200" y="1117600"/>
            <a:ext cx="2971800" cy="482600"/>
          </a:xfrm>
          <a:prstGeom prst="rect">
            <a:avLst/>
          </a:prstGeom>
          <a:solidFill>
            <a:srgbClr val="E0F8F8"/>
          </a:solidFill>
          <a:ln w="12700">
            <a:solidFill>
              <a:srgbClr val="0D07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26400" y="1676400"/>
            <a:ext cx="2209800" cy="431800"/>
          </a:xfrm>
          <a:prstGeom prst="rect">
            <a:avLst/>
          </a:prstGeom>
          <a:solidFill>
            <a:srgbClr val="FBFFDA"/>
          </a:solidFill>
          <a:ln w="12700">
            <a:solidFill>
              <a:srgbClr val="0D07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71000" y="2603500"/>
            <a:ext cx="1905000" cy="368300"/>
          </a:xfrm>
          <a:prstGeom prst="rect">
            <a:avLst/>
          </a:prstGeom>
          <a:solidFill>
            <a:srgbClr val="F8E7D7"/>
          </a:solidFill>
          <a:ln w="25400">
            <a:solidFill>
              <a:srgbClr val="C090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3500" y="2369820"/>
            <a:ext cx="254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i="1" spc="-5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Equation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5486400" y="2425700"/>
            <a:ext cx="2743200" cy="1447800"/>
          </a:xfrm>
          <a:prstGeom prst="rect">
            <a:avLst/>
          </a:prstGeom>
          <a:solidFill>
            <a:srgbClr val="F8F8F8"/>
          </a:solidFill>
          <a:ln w="12700">
            <a:solidFill>
              <a:srgbClr val="D2D2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0" y="3987800"/>
            <a:ext cx="3327400" cy="2247900"/>
          </a:xfrm>
          <a:prstGeom prst="rect">
            <a:avLst/>
          </a:prstGeom>
          <a:solidFill>
            <a:srgbClr val="F8F8F8"/>
          </a:solidFill>
          <a:ln w="12700">
            <a:solidFill>
              <a:srgbClr val="C8CCD4"/>
            </a:solidFill>
            <a:prstDash val="solid"/>
          </a:ln>
        </p:spPr>
      </p:sp>
      <p:pic>
        <p:nvPicPr>
          <p:cNvPr id="16" name="Image 1" descr="/home/ahmed/Projects/ai_llm_slides/videos/machine-learning/02_linear-regression-classification-MSSE/recreated_pptx/build/assets/eq030_w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958" y="1556258"/>
            <a:ext cx="249936" cy="213360"/>
          </a:xfrm>
          <a:prstGeom prst="rect">
            <a:avLst/>
          </a:prstGeom>
        </p:spPr>
      </p:pic>
      <p:pic>
        <p:nvPicPr>
          <p:cNvPr id="17" name="Image 2" descr="/home/ahmed/Projects/ai_llm_slides/videos/machine-learning/02_linear-regression-classification-MSSE/recreated_pptx/build/assets/eq030_w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480" y="1613408"/>
            <a:ext cx="155448" cy="111252"/>
          </a:xfrm>
          <a:prstGeom prst="rect">
            <a:avLst/>
          </a:prstGeom>
        </p:spPr>
      </p:pic>
      <p:pic>
        <p:nvPicPr>
          <p:cNvPr id="18" name="Image 3" descr="/home/ahmed/Projects/ai_llm_slides/videos/machine-learning/02_linear-regression-classification-MSSE/recreated_pptx/build/assets/eq030_w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108" y="1270508"/>
            <a:ext cx="147828" cy="240792"/>
          </a:xfrm>
          <a:prstGeom prst="rect">
            <a:avLst/>
          </a:prstGeom>
        </p:spPr>
      </p:pic>
      <p:pic>
        <p:nvPicPr>
          <p:cNvPr id="19" name="Image 4" descr="/home/ahmed/Projects/ai_llm_slides/videos/machine-learning/02_linear-regression-classification-MSSE/recreated_pptx/build/assets/eq030_w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408" y="1588008"/>
            <a:ext cx="144780" cy="239268"/>
          </a:xfrm>
          <a:prstGeom prst="rect">
            <a:avLst/>
          </a:prstGeom>
        </p:spPr>
      </p:pic>
      <p:pic>
        <p:nvPicPr>
          <p:cNvPr id="20" name="Image 5" descr="/home/ahmed/Projects/ai_llm_slides/videos/machine-learning/02_linear-regression-classification-MSSE/recreated_pptx/build/assets/eq030_w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108" y="1918208"/>
            <a:ext cx="156972" cy="228600"/>
          </a:xfrm>
          <a:prstGeom prst="rect">
            <a:avLst/>
          </a:prstGeom>
        </p:spPr>
      </p:pic>
      <p:pic>
        <p:nvPicPr>
          <p:cNvPr id="21" name="Image 6" descr="/home/ahmed/Projects/ai_llm_slides/videos/machine-learning/02_linear-regression-classification-MSSE/recreated_pptx/build/assets/dl030_w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844" y="1162558"/>
            <a:ext cx="64008" cy="1088136"/>
          </a:xfrm>
          <a:prstGeom prst="rect">
            <a:avLst/>
          </a:prstGeom>
        </p:spPr>
      </p:pic>
      <p:pic>
        <p:nvPicPr>
          <p:cNvPr id="22" name="Image 7" descr="/home/ahmed/Projects/ai_llm_slides/videos/machine-learning/02_linear-regression-classification-MSSE/recreated_pptx/build/assets/dl030_w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084" y="1162558"/>
            <a:ext cx="64008" cy="1088136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645150" y="1771650"/>
            <a:ext cx="241300" cy="0"/>
          </a:xfrm>
          <a:prstGeom prst="line">
            <a:avLst/>
          </a:prstGeom>
          <a:noFill/>
          <a:ln w="15240">
            <a:solidFill>
              <a:srgbClr val="B02A38"/>
            </a:solidFill>
            <a:prstDash val="solid"/>
          </a:ln>
        </p:spPr>
      </p:sp>
      <p:pic>
        <p:nvPicPr>
          <p:cNvPr id="24" name="Image 8" descr="/home/ahmed/Projects/ai_llm_slides/videos/machine-learning/02_linear-regression-classification-MSSE/recreated_pptx/build/assets/eq030_xX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2882" y="1543558"/>
            <a:ext cx="205740" cy="214884"/>
          </a:xfrm>
          <a:prstGeom prst="rect">
            <a:avLst/>
          </a:prstGeom>
        </p:spPr>
      </p:pic>
      <p:pic>
        <p:nvPicPr>
          <p:cNvPr id="25" name="Image 9" descr="/home/ahmed/Projects/ai_llm_slides/videos/machine-learning/02_linear-regression-classification-MSSE/recreated_pptx/build/assets/eq030_xEq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256" y="1600708"/>
            <a:ext cx="163068" cy="111252"/>
          </a:xfrm>
          <a:prstGeom prst="rect">
            <a:avLst/>
          </a:prstGeom>
        </p:spPr>
      </p:pic>
      <p:pic>
        <p:nvPicPr>
          <p:cNvPr id="26" name="Image 10" descr="/home/ahmed/Projects/ai_llm_slides/videos/machine-learning/02_linear-regression-classification-MSSE/recreated_pptx/build/assets/eq030_x1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6208" y="1245108"/>
            <a:ext cx="108204" cy="225552"/>
          </a:xfrm>
          <a:prstGeom prst="rect">
            <a:avLst/>
          </a:prstGeom>
        </p:spPr>
      </p:pic>
      <p:pic>
        <p:nvPicPr>
          <p:cNvPr id="27" name="Image 11" descr="/home/ahmed/Projects/ai_llm_slides/videos/machine-learning/02_linear-regression-classification-MSSE/recreated_pptx/build/assets/eq030_xx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5408" y="1626108"/>
            <a:ext cx="295656" cy="240792"/>
          </a:xfrm>
          <a:prstGeom prst="rect">
            <a:avLst/>
          </a:prstGeom>
        </p:spPr>
      </p:pic>
      <p:pic>
        <p:nvPicPr>
          <p:cNvPr id="28" name="Image 12" descr="/home/ahmed/Projects/ai_llm_slides/videos/machine-learning/02_linear-regression-classification-MSSE/recreated_pptx/build/assets/eq030_xx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5408" y="1981708"/>
            <a:ext cx="315468" cy="240792"/>
          </a:xfrm>
          <a:prstGeom prst="rect">
            <a:avLst/>
          </a:prstGeom>
        </p:spPr>
      </p:pic>
      <p:pic>
        <p:nvPicPr>
          <p:cNvPr id="29" name="Image 13" descr="/home/ahmed/Projects/ai_llm_slides/videos/machine-learning/02_linear-regression-classification-MSSE/recreated_pptx/build/assets/dl030_x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1334" y="1143508"/>
            <a:ext cx="64008" cy="1139952"/>
          </a:xfrm>
          <a:prstGeom prst="rect">
            <a:avLst/>
          </a:prstGeom>
        </p:spPr>
      </p:pic>
      <p:pic>
        <p:nvPicPr>
          <p:cNvPr id="30" name="Image 14" descr="/home/ahmed/Projects/ai_llm_slides/videos/machine-learning/02_linear-regression-classification-MSSE/recreated_pptx/build/assets/dl030_x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76134" y="1143508"/>
            <a:ext cx="64008" cy="1139952"/>
          </a:xfrm>
          <a:prstGeom prst="rect">
            <a:avLst/>
          </a:prstGeom>
        </p:spPr>
      </p:pic>
      <p:sp>
        <p:nvSpPr>
          <p:cNvPr id="31" name="Shape 14"/>
          <p:cNvSpPr/>
          <p:nvPr/>
        </p:nvSpPr>
        <p:spPr>
          <a:xfrm>
            <a:off x="6800850" y="1771650"/>
            <a:ext cx="228600" cy="0"/>
          </a:xfrm>
          <a:prstGeom prst="line">
            <a:avLst/>
          </a:prstGeom>
          <a:noFill/>
          <a:ln w="15240">
            <a:solidFill>
              <a:srgbClr val="2A3C3C"/>
            </a:solidFill>
            <a:prstDash val="solid"/>
          </a:ln>
        </p:spPr>
      </p:sp>
      <p:pic>
        <p:nvPicPr>
          <p:cNvPr id="32" name="Image 15" descr="/home/ahmed/Projects/ai_llm_slides/videos/machine-learning/02_linear-regression-classification-MSSE/recreated_pptx/build/assets/eq030_t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5808" y="1295908"/>
            <a:ext cx="217932" cy="303276"/>
          </a:xfrm>
          <a:prstGeom prst="rect">
            <a:avLst/>
          </a:prstGeom>
        </p:spPr>
      </p:pic>
      <p:pic>
        <p:nvPicPr>
          <p:cNvPr id="33" name="Image 16" descr="/home/ahmed/Projects/ai_llm_slides/videos/machine-learning/02_linear-regression-classification-MSSE/recreated_pptx/build/assets/eq030_tEq1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2856" y="1308608"/>
            <a:ext cx="222504" cy="135636"/>
          </a:xfrm>
          <a:prstGeom prst="rect">
            <a:avLst/>
          </a:prstGeom>
        </p:spPr>
      </p:pic>
      <p:pic>
        <p:nvPicPr>
          <p:cNvPr id="34" name="Image 17" descr="/home/ahmed/Projects/ai_llm_slides/videos/machine-learning/02_linear-regression-classification-MSSE/recreated_pptx/build/assets/eq030_tW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23808" y="1168908"/>
            <a:ext cx="548640" cy="379476"/>
          </a:xfrm>
          <a:prstGeom prst="rect">
            <a:avLst/>
          </a:prstGeom>
        </p:spPr>
      </p:pic>
      <p:pic>
        <p:nvPicPr>
          <p:cNvPr id="35" name="Image 18" descr="/home/ahmed/Projects/ai_llm_slides/videos/machine-learning/02_linear-regression-classification-MSSE/recreated_pptx/build/assets/eq030_tX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1582" y="1245108"/>
            <a:ext cx="257556" cy="252984"/>
          </a:xfrm>
          <a:prstGeom prst="rect">
            <a:avLst/>
          </a:prstGeom>
        </p:spPr>
      </p:pic>
      <p:pic>
        <p:nvPicPr>
          <p:cNvPr id="36" name="Image 19" descr="/home/ahmed/Projects/ai_llm_slides/videos/machine-learning/02_linear-regression-classification-MSSE/recreated_pptx/build/assets/eq030_tEq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7532" y="1308608"/>
            <a:ext cx="184404" cy="117348"/>
          </a:xfrm>
          <a:prstGeom prst="rect">
            <a:avLst/>
          </a:prstGeom>
        </p:spPr>
      </p:pic>
      <p:pic>
        <p:nvPicPr>
          <p:cNvPr id="37" name="Image 20" descr="/home/ahmed/Projects/ai_llm_slides/videos/machine-learning/02_linear-regression-classification-MSSE/recreated_pptx/build/assets/eq030_tXT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2108" y="1168908"/>
            <a:ext cx="509016" cy="379476"/>
          </a:xfrm>
          <a:prstGeom prst="rect">
            <a:avLst/>
          </a:prstGeom>
        </p:spPr>
      </p:pic>
      <p:pic>
        <p:nvPicPr>
          <p:cNvPr id="38" name="Image 21" descr="/home/ahmed/Projects/ai_llm_slides/videos/machine-learning/02_linear-regression-classification-MSSE/recreated_pptx/build/assets/eq030_t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85780" y="1245108"/>
            <a:ext cx="239268" cy="265176"/>
          </a:xfrm>
          <a:prstGeom prst="rect">
            <a:avLst/>
          </a:prstGeom>
        </p:spPr>
      </p:pic>
      <p:sp>
        <p:nvSpPr>
          <p:cNvPr id="39" name="Shape 15"/>
          <p:cNvSpPr/>
          <p:nvPr/>
        </p:nvSpPr>
        <p:spPr>
          <a:xfrm>
            <a:off x="9124950" y="1511300"/>
            <a:ext cx="241300" cy="0"/>
          </a:xfrm>
          <a:prstGeom prst="line">
            <a:avLst/>
          </a:prstGeom>
          <a:noFill/>
          <a:ln w="15240">
            <a:solidFill>
              <a:srgbClr val="B0303C"/>
            </a:solidFill>
            <a:prstDash val="solid"/>
          </a:ln>
        </p:spPr>
      </p:sp>
      <p:sp>
        <p:nvSpPr>
          <p:cNvPr id="40" name="Shape 16"/>
          <p:cNvSpPr/>
          <p:nvPr/>
        </p:nvSpPr>
        <p:spPr>
          <a:xfrm>
            <a:off x="10699750" y="1511300"/>
            <a:ext cx="266700" cy="0"/>
          </a:xfrm>
          <a:prstGeom prst="line">
            <a:avLst/>
          </a:prstGeom>
          <a:noFill/>
          <a:ln w="15240">
            <a:solidFill>
              <a:srgbClr val="B8505C"/>
            </a:solidFill>
            <a:prstDash val="solid"/>
          </a:ln>
        </p:spPr>
      </p:sp>
      <p:pic>
        <p:nvPicPr>
          <p:cNvPr id="41" name="Image 22" descr="/home/ahmed/Projects/ai_llm_slides/videos/machine-learning/02_linear-regression-classification-MSSE/recreated_pptx/build/assets/eq030_ybY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65008" y="1803908"/>
            <a:ext cx="192024" cy="265176"/>
          </a:xfrm>
          <a:prstGeom prst="rect">
            <a:avLst/>
          </a:prstGeom>
        </p:spPr>
      </p:pic>
      <p:pic>
        <p:nvPicPr>
          <p:cNvPr id="42" name="Image 23" descr="/home/ahmed/Projects/ai_llm_slides/videos/machine-learning/02_linear-regression-classification-MSSE/recreated_pptx/build/assets/eq030_ybEq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82432" y="1803908"/>
            <a:ext cx="242316" cy="135636"/>
          </a:xfrm>
          <a:prstGeom prst="rect">
            <a:avLst/>
          </a:prstGeom>
        </p:spPr>
      </p:pic>
      <p:pic>
        <p:nvPicPr>
          <p:cNvPr id="43" name="Image 24" descr="/home/ahmed/Projects/ai_llm_slides/videos/machine-learning/02_linear-regression-classification-MSSE/recreated_pptx/build/assets/eq030_yb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60308" y="1740408"/>
            <a:ext cx="160020" cy="265176"/>
          </a:xfrm>
          <a:prstGeom prst="rect">
            <a:avLst/>
          </a:prstGeom>
        </p:spPr>
      </p:pic>
      <p:pic>
        <p:nvPicPr>
          <p:cNvPr id="44" name="Image 25" descr="/home/ahmed/Projects/ai_llm_slides/videos/machine-learning/02_linear-regression-classification-MSSE/recreated_pptx/build/assets/eq030_ybx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68080" y="1803908"/>
            <a:ext cx="275844" cy="316992"/>
          </a:xfrm>
          <a:prstGeom prst="rect">
            <a:avLst/>
          </a:prstGeom>
        </p:spPr>
      </p:pic>
      <p:pic>
        <p:nvPicPr>
          <p:cNvPr id="45" name="Image 26" descr="/home/ahmed/Projects/ai_llm_slides/videos/machine-learning/02_linear-regression-classification-MSSE/recreated_pptx/build/assets/eq030_ybP1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85580" y="1765808"/>
            <a:ext cx="163068" cy="227076"/>
          </a:xfrm>
          <a:prstGeom prst="rect">
            <a:avLst/>
          </a:prstGeom>
        </p:spPr>
      </p:pic>
      <p:pic>
        <p:nvPicPr>
          <p:cNvPr id="46" name="Image 27" descr="/home/ahmed/Projects/ai_llm_slides/videos/machine-learning/02_linear-regression-classification-MSSE/recreated_pptx/build/assets/eq030_yb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84208" y="1740408"/>
            <a:ext cx="181356" cy="266700"/>
          </a:xfrm>
          <a:prstGeom prst="rect">
            <a:avLst/>
          </a:prstGeom>
        </p:spPr>
      </p:pic>
      <p:pic>
        <p:nvPicPr>
          <p:cNvPr id="47" name="Image 28" descr="/home/ahmed/Projects/ai_llm_slides/videos/machine-learning/02_linear-regression-classification-MSSE/recreated_pptx/build/assets/eq030_ybx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4680" y="1803908"/>
            <a:ext cx="275844" cy="316992"/>
          </a:xfrm>
          <a:prstGeom prst="rect">
            <a:avLst/>
          </a:prstGeom>
        </p:spPr>
      </p:pic>
      <p:pic>
        <p:nvPicPr>
          <p:cNvPr id="48" name="Image 29" descr="/home/ahmed/Projects/ai_llm_slides/videos/machine-learning/02_linear-regression-classification-MSSE/recreated_pptx/build/assets/eq030_ybP2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95256" y="1778508"/>
            <a:ext cx="163068" cy="213360"/>
          </a:xfrm>
          <a:prstGeom prst="rect">
            <a:avLst/>
          </a:prstGeom>
        </p:spPr>
      </p:pic>
      <p:pic>
        <p:nvPicPr>
          <p:cNvPr id="49" name="Image 30" descr="/home/ahmed/Projects/ai_llm_slides/videos/machine-learning/02_linear-regression-classification-MSSE/recreated_pptx/build/assets/eq030_yb5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08108" y="1740408"/>
            <a:ext cx="164592" cy="265176"/>
          </a:xfrm>
          <a:prstGeom prst="rect">
            <a:avLst/>
          </a:prstGeom>
        </p:spPr>
      </p:pic>
      <p:pic>
        <p:nvPicPr>
          <p:cNvPr id="50" name="Image 31" descr="/home/ahmed/Projects/ai_llm_slides/videos/machine-learning/02_linear-regression-classification-MSSE/recreated_pptx/build/assets/eq030_mY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26608" y="3048508"/>
            <a:ext cx="175260" cy="240792"/>
          </a:xfrm>
          <a:prstGeom prst="rect">
            <a:avLst/>
          </a:prstGeom>
        </p:spPr>
      </p:pic>
      <p:pic>
        <p:nvPicPr>
          <p:cNvPr id="51" name="Image 32" descr="/home/ahmed/Projects/ai_llm_slides/videos/machine-learning/02_linear-regression-classification-MSSE/recreated_pptx/build/assets/eq030_mEq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20156" y="3048508"/>
            <a:ext cx="163068" cy="111252"/>
          </a:xfrm>
          <a:prstGeom prst="rect">
            <a:avLst/>
          </a:prstGeom>
        </p:spPr>
      </p:pic>
      <p:pic>
        <p:nvPicPr>
          <p:cNvPr id="52" name="Image 33" descr="/home/ahmed/Projects/ai_llm_slides/videos/machine-learning/02_linear-regression-classification-MSSE/recreated_pptx/build/assets/eq030_mXT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91656" y="2502408"/>
            <a:ext cx="321564" cy="315468"/>
          </a:xfrm>
          <a:prstGeom prst="rect">
            <a:avLst/>
          </a:prstGeom>
        </p:spPr>
      </p:pic>
      <p:pic>
        <p:nvPicPr>
          <p:cNvPr id="53" name="Image 34" descr="/home/ahmed/Projects/ai_llm_slides/videos/machine-learning/02_linear-regression-classification-MSSE/recreated_pptx/build/assets/eq030_mW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28332" y="2527808"/>
            <a:ext cx="260604" cy="254508"/>
          </a:xfrm>
          <a:prstGeom prst="rect">
            <a:avLst/>
          </a:prstGeom>
        </p:spPr>
      </p:pic>
      <p:pic>
        <p:nvPicPr>
          <p:cNvPr id="54" name="Image 35" descr="/home/ahmed/Projects/ai_llm_slides/videos/machine-learning/02_linear-regression-classification-MSSE/recreated_pptx/build/assets/eq030_m1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09208" y="2908808"/>
            <a:ext cx="108204" cy="225552"/>
          </a:xfrm>
          <a:prstGeom prst="rect">
            <a:avLst/>
          </a:prstGeom>
        </p:spPr>
      </p:pic>
      <p:pic>
        <p:nvPicPr>
          <p:cNvPr id="55" name="Image 36" descr="/home/ahmed/Projects/ai_llm_slides/videos/machine-learning/02_linear-regression-classification-MSSE/recreated_pptx/build/assets/eq030_m7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77508" y="2896108"/>
            <a:ext cx="161544" cy="240792"/>
          </a:xfrm>
          <a:prstGeom prst="rect">
            <a:avLst/>
          </a:prstGeom>
        </p:spPr>
      </p:pic>
      <p:pic>
        <p:nvPicPr>
          <p:cNvPr id="56" name="Image 37" descr="/home/ahmed/Projects/ai_llm_slides/videos/machine-learning/02_linear-regression-classification-MSSE/recreated_pptx/build/assets/eq030_m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58508" y="2896108"/>
            <a:ext cx="144780" cy="239268"/>
          </a:xfrm>
          <a:prstGeom prst="rect">
            <a:avLst/>
          </a:prstGeom>
        </p:spPr>
      </p:pic>
      <p:pic>
        <p:nvPicPr>
          <p:cNvPr id="57" name="Image 38" descr="/home/ahmed/Projects/ai_llm_slides/videos/machine-learning/02_linear-regression-classification-MSSE/recreated_pptx/build/assets/eq030_m5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77608" y="2896108"/>
            <a:ext cx="147828" cy="240792"/>
          </a:xfrm>
          <a:prstGeom prst="rect">
            <a:avLst/>
          </a:prstGeom>
        </p:spPr>
      </p:pic>
      <p:pic>
        <p:nvPicPr>
          <p:cNvPr id="58" name="Image 39" descr="/home/ahmed/Projects/ai_llm_slides/videos/machine-learning/02_linear-regression-classification-MSSE/recreated_pptx/build/assets/eq030_m3b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77608" y="3239008"/>
            <a:ext cx="138684" cy="228600"/>
          </a:xfrm>
          <a:prstGeom prst="rect">
            <a:avLst/>
          </a:prstGeom>
        </p:spPr>
      </p:pic>
      <p:pic>
        <p:nvPicPr>
          <p:cNvPr id="59" name="Image 40" descr="/home/ahmed/Projects/ai_llm_slides/videos/machine-learning/02_linear-regression-classification-MSSE/recreated_pptx/build/assets/eq030_m2b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277608" y="3543808"/>
            <a:ext cx="166116" cy="242316"/>
          </a:xfrm>
          <a:prstGeom prst="rect">
            <a:avLst/>
          </a:prstGeom>
        </p:spPr>
      </p:pic>
      <p:pic>
        <p:nvPicPr>
          <p:cNvPr id="60" name="Image 41" descr="/home/ahmed/Projects/ai_llm_slides/videos/machine-learning/02_linear-regression-classification-MSSE/recreated_pptx/build/assets/eq030_mEq2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98156" y="3048508"/>
            <a:ext cx="146304" cy="91440"/>
          </a:xfrm>
          <a:prstGeom prst="rect">
            <a:avLst/>
          </a:prstGeom>
        </p:spPr>
      </p:pic>
      <p:pic>
        <p:nvPicPr>
          <p:cNvPr id="61" name="Image 42" descr="/home/ahmed/Projects/ai_llm_slides/videos/machine-learning/02_linear-regression-classification-MSSE/recreated_pptx/build/assets/eq030_m32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836408" y="2997708"/>
            <a:ext cx="298704" cy="228600"/>
          </a:xfrm>
          <a:prstGeom prst="rect">
            <a:avLst/>
          </a:prstGeom>
        </p:spPr>
      </p:pic>
      <p:pic>
        <p:nvPicPr>
          <p:cNvPr id="62" name="Image 43" descr="/home/ahmed/Projects/ai_llm_slides/videos/machine-learning/02_linear-regression-classification-MSSE/recreated_pptx/build/assets/dl030_rml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013704" y="2832608"/>
            <a:ext cx="50292" cy="339852"/>
          </a:xfrm>
          <a:prstGeom prst="rect">
            <a:avLst/>
          </a:prstGeom>
        </p:spPr>
      </p:pic>
      <p:pic>
        <p:nvPicPr>
          <p:cNvPr id="63" name="Image 44" descr="/home/ahmed/Projects/ai_llm_slides/videos/machine-learning/02_linear-regression-classification-MSSE/recreated_pptx/build/assets/dl030_rmr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010654" y="2832608"/>
            <a:ext cx="50292" cy="339852"/>
          </a:xfrm>
          <a:prstGeom prst="rect">
            <a:avLst/>
          </a:prstGeom>
        </p:spPr>
      </p:pic>
      <p:pic>
        <p:nvPicPr>
          <p:cNvPr id="64" name="Image 45" descr="/home/ahmed/Projects/ai_llm_slides/videos/machine-learning/02_linear-regression-classification-MSSE/recreated_pptx/build/assets/dl030_mcl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187184" y="2832608"/>
            <a:ext cx="64008" cy="1025652"/>
          </a:xfrm>
          <a:prstGeom prst="rect">
            <a:avLst/>
          </a:prstGeom>
        </p:spPr>
      </p:pic>
      <p:pic>
        <p:nvPicPr>
          <p:cNvPr id="65" name="Image 46" descr="/home/ahmed/Projects/ai_llm_slides/videos/machine-learning/02_linear-regression-classification-MSSE/recreated_pptx/build/assets/dl030_mcr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429246" y="2832608"/>
            <a:ext cx="64008" cy="1025652"/>
          </a:xfrm>
          <a:prstGeom prst="rect">
            <a:avLst/>
          </a:prstGeom>
        </p:spPr>
      </p:pic>
      <p:sp>
        <p:nvSpPr>
          <p:cNvPr id="66" name="Text 17"/>
          <p:cNvSpPr/>
          <p:nvPr/>
        </p:nvSpPr>
        <p:spPr>
          <a:xfrm>
            <a:off x="5207000" y="377825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-70" kern="0" dirty="0">
                <a:solidFill>
                  <a:srgbClr val="6A5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</a:t>
            </a:r>
            <a:pPr algn="ctr" indent="0" marL="0">
              <a:buNone/>
            </a:pPr>
            <a:r>
              <a:rPr lang="en-US" sz="2200" i="1" spc="-7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2200" spc="-70" kern="0" dirty="0">
                <a:solidFill>
                  <a:srgbClr val="6A5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training data</a:t>
            </a:r>
            <a:endParaRPr lang="en-US" sz="2200" dirty="0"/>
          </a:p>
        </p:txBody>
      </p:sp>
      <p:sp>
        <p:nvSpPr>
          <p:cNvPr id="67" name="Shape 18"/>
          <p:cNvSpPr/>
          <p:nvPr/>
        </p:nvSpPr>
        <p:spPr>
          <a:xfrm>
            <a:off x="5715000" y="4337050"/>
            <a:ext cx="2794000" cy="0"/>
          </a:xfrm>
          <a:prstGeom prst="line">
            <a:avLst/>
          </a:prstGeom>
          <a:noFill/>
          <a:ln w="12700">
            <a:solidFill>
              <a:srgbClr val="6A5FB5"/>
            </a:solidFill>
            <a:prstDash val="solid"/>
          </a:ln>
        </p:spPr>
      </p:sp>
      <p:pic>
        <p:nvPicPr>
          <p:cNvPr id="68" name="Image 47" descr="/home/ahmed/Projects/ai_llm_slides/videos/machine-learning/02_linear-regression-classification-MSSE/recreated_pptx/build/assets/eq030_cY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715508" y="4890008"/>
            <a:ext cx="271272" cy="315468"/>
          </a:xfrm>
          <a:prstGeom prst="rect">
            <a:avLst/>
          </a:prstGeom>
        </p:spPr>
      </p:pic>
      <p:pic>
        <p:nvPicPr>
          <p:cNvPr id="69" name="Image 48" descr="/home/ahmed/Projects/ai_llm_slides/videos/machine-learning/02_linear-regression-classification-MSSE/recreated_pptx/build/assets/eq030_cEq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124956" y="5029708"/>
            <a:ext cx="156972" cy="105156"/>
          </a:xfrm>
          <a:prstGeom prst="rect">
            <a:avLst/>
          </a:prstGeom>
        </p:spPr>
      </p:pic>
      <p:sp>
        <p:nvSpPr>
          <p:cNvPr id="70" name="Shape 19"/>
          <p:cNvSpPr/>
          <p:nvPr/>
        </p:nvSpPr>
        <p:spPr>
          <a:xfrm>
            <a:off x="5727700" y="5219700"/>
            <a:ext cx="260350" cy="0"/>
          </a:xfrm>
          <a:prstGeom prst="line">
            <a:avLst/>
          </a:prstGeom>
          <a:noFill/>
          <a:ln w="19050">
            <a:solidFill>
              <a:srgbClr val="5550C8"/>
            </a:solidFill>
            <a:prstDash val="solid"/>
          </a:ln>
        </p:spPr>
      </p:sp>
      <p:sp>
        <p:nvSpPr>
          <p:cNvPr id="71" name="Shape 20"/>
          <p:cNvSpPr/>
          <p:nvPr/>
        </p:nvSpPr>
        <p:spPr>
          <a:xfrm>
            <a:off x="6781800" y="4521200"/>
            <a:ext cx="558800" cy="203200"/>
          </a:xfrm>
          <a:prstGeom prst="rect">
            <a:avLst/>
          </a:prstGeom>
          <a:solidFill>
            <a:srgbClr val="FBFFB2"/>
          </a:solidFill>
          <a:ln/>
        </p:spPr>
      </p:sp>
      <p:sp>
        <p:nvSpPr>
          <p:cNvPr id="72" name="Shape 21"/>
          <p:cNvSpPr/>
          <p:nvPr/>
        </p:nvSpPr>
        <p:spPr>
          <a:xfrm>
            <a:off x="6781800" y="4838700"/>
            <a:ext cx="558800" cy="203200"/>
          </a:xfrm>
          <a:prstGeom prst="rect">
            <a:avLst/>
          </a:prstGeom>
          <a:solidFill>
            <a:srgbClr val="FBFFB2"/>
          </a:solidFill>
          <a:ln/>
        </p:spPr>
      </p:sp>
      <p:sp>
        <p:nvSpPr>
          <p:cNvPr id="73" name="Shape 22"/>
          <p:cNvSpPr/>
          <p:nvPr/>
        </p:nvSpPr>
        <p:spPr>
          <a:xfrm>
            <a:off x="6781800" y="5156200"/>
            <a:ext cx="558800" cy="203200"/>
          </a:xfrm>
          <a:prstGeom prst="rect">
            <a:avLst/>
          </a:prstGeom>
          <a:solidFill>
            <a:srgbClr val="FBFFB2"/>
          </a:solidFill>
          <a:ln/>
        </p:spPr>
      </p:sp>
      <p:sp>
        <p:nvSpPr>
          <p:cNvPr id="74" name="Shape 23"/>
          <p:cNvSpPr/>
          <p:nvPr/>
        </p:nvSpPr>
        <p:spPr>
          <a:xfrm>
            <a:off x="6781800" y="5473700"/>
            <a:ext cx="558800" cy="203200"/>
          </a:xfrm>
          <a:prstGeom prst="rect">
            <a:avLst/>
          </a:prstGeom>
          <a:solidFill>
            <a:srgbClr val="FBFFB2"/>
          </a:solidFill>
          <a:ln/>
        </p:spPr>
      </p:sp>
      <p:pic>
        <p:nvPicPr>
          <p:cNvPr id="75" name="Image 49" descr="/home/ahmed/Projects/ai_llm_slides/videos/machine-learning/02_linear-regression-classification-MSSE/recreated_pptx/build/assets/eq030_c1r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452108" y="4496308"/>
            <a:ext cx="108204" cy="225552"/>
          </a:xfrm>
          <a:prstGeom prst="rect">
            <a:avLst/>
          </a:prstGeom>
        </p:spPr>
      </p:pic>
      <p:pic>
        <p:nvPicPr>
          <p:cNvPr id="76" name="Image 50" descr="/home/ahmed/Projects/ai_llm_slides/videos/machine-learning/02_linear-regression-classification-MSSE/recreated_pptx/build/assets/eq030_c1r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452108" y="4826508"/>
            <a:ext cx="108204" cy="225552"/>
          </a:xfrm>
          <a:prstGeom prst="rect">
            <a:avLst/>
          </a:prstGeom>
        </p:spPr>
      </p:pic>
      <p:pic>
        <p:nvPicPr>
          <p:cNvPr id="77" name="Image 51" descr="/home/ahmed/Projects/ai_llm_slides/videos/machine-learning/02_linear-regression-classification-MSSE/recreated_pptx/build/assets/eq030_c1r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452108" y="5156708"/>
            <a:ext cx="108204" cy="225552"/>
          </a:xfrm>
          <a:prstGeom prst="rect">
            <a:avLst/>
          </a:prstGeom>
        </p:spPr>
      </p:pic>
      <p:pic>
        <p:nvPicPr>
          <p:cNvPr id="78" name="Image 52" descr="/home/ahmed/Projects/ai_llm_slides/videos/machine-learning/02_linear-regression-classification-MSSE/recreated_pptx/build/assets/eq030_c1r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452108" y="5474208"/>
            <a:ext cx="108204" cy="225552"/>
          </a:xfrm>
          <a:prstGeom prst="rect">
            <a:avLst/>
          </a:prstGeom>
        </p:spPr>
      </p:pic>
      <p:pic>
        <p:nvPicPr>
          <p:cNvPr id="79" name="Image 53" descr="/home/ahmed/Projects/ai_llm_slides/videos/machine-learning/02_linear-regression-classification-MSSE/recreated_pptx/build/assets/eq030_c1k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815836" y="4496308"/>
            <a:ext cx="108204" cy="225552"/>
          </a:xfrm>
          <a:prstGeom prst="rect">
            <a:avLst/>
          </a:prstGeom>
        </p:spPr>
      </p:pic>
      <p:pic>
        <p:nvPicPr>
          <p:cNvPr id="80" name="Image 54" descr="/home/ahmed/Projects/ai_llm_slides/videos/machine-learning/02_linear-regression-classification-MSSE/recreated_pptx/build/assets/eq030_c2k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791452" y="4826508"/>
            <a:ext cx="156972" cy="228600"/>
          </a:xfrm>
          <a:prstGeom prst="rect">
            <a:avLst/>
          </a:prstGeom>
        </p:spPr>
      </p:pic>
      <p:pic>
        <p:nvPicPr>
          <p:cNvPr id="81" name="Image 55" descr="/home/ahmed/Projects/ai_llm_slides/videos/machine-learning/02_linear-regression-classification-MSSE/recreated_pptx/build/assets/eq030_c2k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791452" y="5156708"/>
            <a:ext cx="156972" cy="228600"/>
          </a:xfrm>
          <a:prstGeom prst="rect">
            <a:avLst/>
          </a:prstGeom>
        </p:spPr>
      </p:pic>
      <p:pic>
        <p:nvPicPr>
          <p:cNvPr id="82" name="Image 56" descr="/home/ahmed/Projects/ai_llm_slides/videos/machine-learning/02_linear-regression-classification-MSSE/recreated_pptx/build/assets/eq030_c1k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815836" y="5474208"/>
            <a:ext cx="108204" cy="225552"/>
          </a:xfrm>
          <a:prstGeom prst="rect">
            <a:avLst/>
          </a:prstGeom>
        </p:spPr>
      </p:pic>
      <p:pic>
        <p:nvPicPr>
          <p:cNvPr id="83" name="Image 57" descr="/home/ahmed/Projects/ai_llm_slides/videos/machine-learning/02_linear-regression-classification-MSSE/recreated_pptx/build/assets/eq030_c1k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177786" y="4496308"/>
            <a:ext cx="108204" cy="225552"/>
          </a:xfrm>
          <a:prstGeom prst="rect">
            <a:avLst/>
          </a:prstGeom>
        </p:spPr>
      </p:pic>
      <p:pic>
        <p:nvPicPr>
          <p:cNvPr id="84" name="Image 58" descr="/home/ahmed/Projects/ai_llm_slides/videos/machine-learning/02_linear-regression-classification-MSSE/recreated_pptx/build/assets/eq030_c2k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153402" y="4826508"/>
            <a:ext cx="156972" cy="228600"/>
          </a:xfrm>
          <a:prstGeom prst="rect">
            <a:avLst/>
          </a:prstGeom>
        </p:spPr>
      </p:pic>
      <p:pic>
        <p:nvPicPr>
          <p:cNvPr id="85" name="Image 59" descr="/home/ahmed/Projects/ai_llm_slides/videos/machine-learning/02_linear-regression-classification-MSSE/recreated_pptx/build/assets/eq030_c1k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177786" y="5156708"/>
            <a:ext cx="108204" cy="225552"/>
          </a:xfrm>
          <a:prstGeom prst="rect">
            <a:avLst/>
          </a:prstGeom>
        </p:spPr>
      </p:pic>
      <p:pic>
        <p:nvPicPr>
          <p:cNvPr id="86" name="Image 60" descr="/home/ahmed/Projects/ai_llm_slides/videos/machine-learning/02_linear-regression-classification-MSSE/recreated_pptx/build/assets/eq030_c2k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153402" y="5474208"/>
            <a:ext cx="156972" cy="228600"/>
          </a:xfrm>
          <a:prstGeom prst="rect">
            <a:avLst/>
          </a:prstGeom>
        </p:spPr>
      </p:pic>
      <p:pic>
        <p:nvPicPr>
          <p:cNvPr id="87" name="Image 61" descr="/home/ahmed/Projects/ai_llm_slides/videos/machine-learning/02_linear-regression-classification-MSSE/recreated_pptx/build/assets/dl030_chl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368796" y="4407408"/>
            <a:ext cx="64008" cy="1380744"/>
          </a:xfrm>
          <a:prstGeom prst="rect">
            <a:avLst/>
          </a:prstGeom>
        </p:spPr>
      </p:pic>
      <p:pic>
        <p:nvPicPr>
          <p:cNvPr id="88" name="Image 62" descr="/home/ahmed/Projects/ai_llm_slides/videos/machine-learning/02_linear-regression-classification-MSSE/recreated_pptx/build/assets/dl030_chr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327646" y="4407408"/>
            <a:ext cx="64008" cy="1380744"/>
          </a:xfrm>
          <a:prstGeom prst="rect">
            <a:avLst/>
          </a:prstGeom>
        </p:spPr>
      </p:pic>
      <p:pic>
        <p:nvPicPr>
          <p:cNvPr id="89" name="Image 63" descr="/home/ahmed/Projects/ai_llm_slides/videos/machine-learning/02_linear-regression-classification-MSSE/recreated_pptx/build/assets/eq030_cW5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618984" y="4661408"/>
            <a:ext cx="140208" cy="227076"/>
          </a:xfrm>
          <a:prstGeom prst="rect">
            <a:avLst/>
          </a:prstGeom>
        </p:spPr>
      </p:pic>
      <p:pic>
        <p:nvPicPr>
          <p:cNvPr id="90" name="Image 64" descr="/home/ahmed/Projects/ai_llm_slides/videos/machine-learning/02_linear-regression-classification-MSSE/recreated_pptx/build/assets/eq030_cW3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7619746" y="4991608"/>
            <a:ext cx="138684" cy="228600"/>
          </a:xfrm>
          <a:prstGeom prst="rect">
            <a:avLst/>
          </a:prstGeom>
        </p:spPr>
      </p:pic>
      <p:pic>
        <p:nvPicPr>
          <p:cNvPr id="91" name="Image 65" descr="/home/ahmed/Projects/ai_llm_slides/videos/machine-learning/02_linear-regression-classification-MSSE/recreated_pptx/build/assets/eq030_cW2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610602" y="5309108"/>
            <a:ext cx="156972" cy="228600"/>
          </a:xfrm>
          <a:prstGeom prst="rect">
            <a:avLst/>
          </a:prstGeom>
        </p:spPr>
      </p:pic>
      <p:pic>
        <p:nvPicPr>
          <p:cNvPr id="92" name="Image 66" descr="/home/ahmed/Projects/ai_llm_slides/videos/machine-learning/02_linear-regression-classification-MSSE/recreated_pptx/build/assets/dl030_cwl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536434" y="4572508"/>
            <a:ext cx="64008" cy="1025652"/>
          </a:xfrm>
          <a:prstGeom prst="rect">
            <a:avLst/>
          </a:prstGeom>
        </p:spPr>
      </p:pic>
      <p:pic>
        <p:nvPicPr>
          <p:cNvPr id="93" name="Image 67" descr="/home/ahmed/Projects/ai_llm_slides/videos/machine-learning/02_linear-regression-classification-MSSE/recreated_pptx/build/assets/dl030_cwr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765796" y="4572508"/>
            <a:ext cx="64008" cy="1037844"/>
          </a:xfrm>
          <a:prstGeom prst="rect">
            <a:avLst/>
          </a:prstGeom>
        </p:spPr>
      </p:pic>
      <p:pic>
        <p:nvPicPr>
          <p:cNvPr id="94" name="Image 68" descr="/home/ahmed/Projects/ai_llm_slides/videos/machine-learning/02_linear-regression-classification-MSSE/recreated_pptx/build/assets/eq030_cEq2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942580" y="5029708"/>
            <a:ext cx="143256" cy="105156"/>
          </a:xfrm>
          <a:prstGeom prst="rect">
            <a:avLst/>
          </a:prstGeom>
        </p:spPr>
      </p:pic>
      <p:pic>
        <p:nvPicPr>
          <p:cNvPr id="95" name="Image 69" descr="/home/ahmed/Projects/ai_llm_slides/videos/machine-learning/02_linear-regression-classification-MSSE/recreated_pptx/build/assets/eq030_r1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280908" y="4496308"/>
            <a:ext cx="108204" cy="225552"/>
          </a:xfrm>
          <a:prstGeom prst="rect">
            <a:avLst/>
          </a:prstGeom>
        </p:spPr>
      </p:pic>
      <p:pic>
        <p:nvPicPr>
          <p:cNvPr id="96" name="Image 70" descr="/home/ahmed/Projects/ai_llm_slides/videos/machine-learning/02_linear-regression-classification-MSSE/recreated_pptx/build/assets/eq030_r1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280908" y="4826508"/>
            <a:ext cx="108204" cy="225552"/>
          </a:xfrm>
          <a:prstGeom prst="rect">
            <a:avLst/>
          </a:prstGeom>
        </p:spPr>
      </p:pic>
      <p:pic>
        <p:nvPicPr>
          <p:cNvPr id="97" name="Image 71" descr="/home/ahmed/Projects/ai_llm_slides/videos/machine-learning/02_linear-regression-classification-MSSE/recreated_pptx/build/assets/eq030_r1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280908" y="5156708"/>
            <a:ext cx="108204" cy="225552"/>
          </a:xfrm>
          <a:prstGeom prst="rect">
            <a:avLst/>
          </a:prstGeom>
        </p:spPr>
      </p:pic>
      <p:pic>
        <p:nvPicPr>
          <p:cNvPr id="98" name="Image 72" descr="/home/ahmed/Projects/ai_llm_slides/videos/machine-learning/02_linear-regression-classification-MSSE/recreated_pptx/build/assets/eq030_r1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280908" y="5474208"/>
            <a:ext cx="108204" cy="225552"/>
          </a:xfrm>
          <a:prstGeom prst="rect">
            <a:avLst/>
          </a:prstGeom>
        </p:spPr>
      </p:pic>
      <p:pic>
        <p:nvPicPr>
          <p:cNvPr id="99" name="Image 73" descr="/home/ahmed/Projects/ai_llm_slides/videos/machine-learning/02_linear-regression-classification-MSSE/recreated_pptx/build/assets/eq030_r0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8407908" y="4496308"/>
            <a:ext cx="156972" cy="228600"/>
          </a:xfrm>
          <a:prstGeom prst="rect">
            <a:avLst/>
          </a:prstGeom>
        </p:spPr>
      </p:pic>
      <p:pic>
        <p:nvPicPr>
          <p:cNvPr id="100" name="Image 74" descr="/home/ahmed/Projects/ai_llm_slides/videos/machine-learning/02_linear-regression-classification-MSSE/recreated_pptx/build/assets/eq030_r5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8407908" y="4826508"/>
            <a:ext cx="140208" cy="227076"/>
          </a:xfrm>
          <a:prstGeom prst="rect">
            <a:avLst/>
          </a:prstGeom>
        </p:spPr>
      </p:pic>
      <p:pic>
        <p:nvPicPr>
          <p:cNvPr id="101" name="Image 75" descr="/home/ahmed/Projects/ai_llm_slides/videos/machine-learning/02_linear-regression-classification-MSSE/recreated_pptx/build/assets/eq030_r3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8407908" y="5156708"/>
            <a:ext cx="138684" cy="228600"/>
          </a:xfrm>
          <a:prstGeom prst="rect">
            <a:avLst/>
          </a:prstGeom>
        </p:spPr>
      </p:pic>
      <p:pic>
        <p:nvPicPr>
          <p:cNvPr id="102" name="Image 76" descr="/home/ahmed/Projects/ai_llm_slides/videos/machine-learning/02_linear-regression-classification-MSSE/recreated_pptx/build/assets/eq030_r2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8407908" y="5474208"/>
            <a:ext cx="156972" cy="228600"/>
          </a:xfrm>
          <a:prstGeom prst="rect">
            <a:avLst/>
          </a:prstGeom>
        </p:spPr>
      </p:pic>
      <p:pic>
        <p:nvPicPr>
          <p:cNvPr id="103" name="Image 77" descr="/home/ahmed/Projects/ai_llm_slides/videos/machine-learning/02_linear-regression-classification-MSSE/recreated_pptx/build/assets/dl030_rsl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8193786" y="4407408"/>
            <a:ext cx="70104" cy="1368552"/>
          </a:xfrm>
          <a:prstGeom prst="rect">
            <a:avLst/>
          </a:prstGeom>
        </p:spPr>
      </p:pic>
      <p:pic>
        <p:nvPicPr>
          <p:cNvPr id="104" name="Image 78" descr="/home/ahmed/Projects/ai_llm_slides/videos/machine-learning/02_linear-regression-classification-MSSE/recreated_pptx/build/assets/dl030_rsr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531098" y="4407408"/>
            <a:ext cx="70104" cy="1368552"/>
          </a:xfrm>
          <a:prstGeom prst="rect">
            <a:avLst/>
          </a:prstGeom>
        </p:spPr>
      </p:pic>
      <p:sp>
        <p:nvSpPr>
          <p:cNvPr id="105" name="Text 24"/>
          <p:cNvSpPr/>
          <p:nvPr/>
        </p:nvSpPr>
        <p:spPr>
          <a:xfrm>
            <a:off x="5727700" y="555117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50" kern="0" dirty="0">
                <a:solidFill>
                  <a:srgbClr val="3E9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Fit</a:t>
            </a:r>
            <a:endParaRPr lang="en-US" sz="2100" dirty="0"/>
          </a:p>
        </p:txBody>
      </p:sp>
      <p:sp>
        <p:nvSpPr>
          <p:cNvPr id="106" name="Shape 25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107" name="Text 26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3800" y="40132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 </a:t>
            </a:r>
            <a:pPr algn="ctr" indent="0" marL="0">
              <a:buNone/>
            </a:pPr>
            <a:r>
              <a:rPr lang="en-US" sz="2400" b="1" spc="-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46150" y="1377950"/>
            <a:ext cx="4203700" cy="52768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1854200" y="2819400"/>
                </a:moveTo>
                <a:lnTo>
                  <a:pt x="3949700" y="5626100"/>
                </a:lnTo>
                <a:lnTo>
                  <a:pt x="3187700" y="6527800"/>
                </a:lnTo>
                <a:lnTo>
                  <a:pt x="1066800" y="3810000"/>
                </a:lnTo>
                <a:lnTo>
                  <a:pt x="1854200" y="2819400"/>
                </a:lnTo>
              </a:path>
            </a:pathLst>
          </a:custGeom>
          <a:solidFill>
            <a:srgbClr val="FFFF85"/>
          </a:solidFill>
          <a:ln w="12700">
            <a:solidFill>
              <a:srgbClr val="FFFF85"/>
            </a:solidFill>
            <a:prstDash val="solid"/>
          </a:ln>
        </p:spPr>
      </p:sp>
      <p:pic>
        <p:nvPicPr>
          <p:cNvPr id="8" name="Image 0" descr="/home/ahmed/Projects/ai_llm_slides/videos/machine-learning/02_linear-regression-classification-MSSE/recreated_pptx/build/assets/w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958" y="3112008"/>
            <a:ext cx="291084" cy="2179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01800" y="3346450"/>
            <a:ext cx="323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2100" y="5232400"/>
            <a:ext cx="0" cy="-372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2832100" y="1346200"/>
                </a:moveTo>
                <a:lnTo>
                  <a:pt x="2768600" y="1517650"/>
                </a:lnTo>
                <a:lnTo>
                  <a:pt x="2895600" y="1517650"/>
                </a:lnTo>
                <a:lnTo>
                  <a:pt x="2832100" y="13462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2" name="Equation OMML" descr="y"/>
              <p:cNvSpPr txBox="1"/>
              <p:nvPr/>
            </p:nvSpPr>
            <p:spPr>
              <a:xfrm>
                <a:off x="2629408" y="1934211"/>
                <a:ext cx="103632" cy="1402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1" descr="/home/ahmed/Projects/ai_llm_slides/videos/machine-learning/02_linear-regression-classification-MSSE/recreated_pptx/build/assets/axy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29408" y="1934211"/>
                <a:ext cx="103632" cy="140208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hape 9"/>
          <p:cNvSpPr/>
          <p:nvPr/>
        </p:nvSpPr>
        <p:spPr>
          <a:xfrm>
            <a:off x="2832100" y="5232400"/>
            <a:ext cx="1866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4" name="Equation OMML" descr="x_2"/>
              <p:cNvSpPr txBox="1"/>
              <p:nvPr/>
            </p:nvSpPr>
            <p:spPr>
              <a:xfrm>
                <a:off x="4724908" y="5261610"/>
                <a:ext cx="167640" cy="1295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2" descr="/home/ahmed/Projects/ai_llm_slides/videos/machine-learning/02_linear-regression-classification-MSSE/recreated_pptx/build/assets/axx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4908" y="5261610"/>
                <a:ext cx="167640" cy="1295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" name="Equation OMML" descr="1"/>
              <p:cNvSpPr txBox="1"/>
              <p:nvPr/>
            </p:nvSpPr>
            <p:spPr>
              <a:xfrm>
                <a:off x="3404108" y="5070093"/>
                <a:ext cx="62484" cy="1188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3" descr="/home/ahmed/Projects/ai_llm_slides/videos/machine-learning/02_linear-regression-classification-MSSE/recreated_pptx/build/assets/tk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4108" y="5070093"/>
                <a:ext cx="62484" cy="1188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2"/>
              <p:cNvSpPr txBox="1"/>
              <p:nvPr/>
            </p:nvSpPr>
            <p:spPr>
              <a:xfrm>
                <a:off x="3924808" y="5070094"/>
                <a:ext cx="85344" cy="1173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4" descr="/home/ahmed/Projects/ai_llm_slides/videos/machine-learning/02_linear-regression-classification-MSSE/recreated_pptx/build/assets/tk2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4808" y="5070094"/>
                <a:ext cx="85344" cy="117348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hape 10"/>
          <p:cNvSpPr/>
          <p:nvPr/>
        </p:nvSpPr>
        <p:spPr>
          <a:xfrm flipH="1">
            <a:off x="1968500" y="5232400"/>
            <a:ext cx="863600" cy="7556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1841500" y="6096000"/>
                </a:moveTo>
                <a:lnTo>
                  <a:pt x="2004060" y="6031230"/>
                </a:lnTo>
                <a:lnTo>
                  <a:pt x="1927860" y="5944870"/>
                </a:lnTo>
                <a:lnTo>
                  <a:pt x="1841500" y="60960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9" name="Equation OMML" descr="1"/>
              <p:cNvSpPr txBox="1"/>
              <p:nvPr/>
            </p:nvSpPr>
            <p:spPr>
              <a:xfrm>
                <a:off x="2438908" y="5393943"/>
                <a:ext cx="62484" cy="1188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" name="Image 5" descr="/home/ahmed/Projects/ai_llm_slides/videos/machine-learning/02_linear-regression-classification-MSSE/recreated_pptx/build/assets/tk1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8908" y="5393943"/>
                <a:ext cx="62484" cy="1188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" name="Equation OMML" descr="2"/>
              <p:cNvSpPr txBox="1"/>
              <p:nvPr/>
            </p:nvSpPr>
            <p:spPr>
              <a:xfrm>
                <a:off x="2159508" y="5660644"/>
                <a:ext cx="85344" cy="1173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6" descr="/home/ahmed/Projects/ai_llm_slides/videos/machine-learning/02_linear-regression-classification-MSSE/recreated_pptx/build/assets/tk2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9508" y="5660644"/>
                <a:ext cx="85344" cy="1173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" name="Equation OMML" descr="x_1"/>
              <p:cNvSpPr txBox="1"/>
              <p:nvPr/>
            </p:nvSpPr>
            <p:spPr>
              <a:xfrm>
                <a:off x="1422908" y="6417311"/>
                <a:ext cx="158496" cy="1310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7" descr="/home/ahmed/Projects/ai_llm_slides/videos/machine-learning/02_linear-regression-classification-MSSE/recreated_pptx/build/assets/axx1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2908" y="6417311"/>
                <a:ext cx="158496" cy="131064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Shape 12"/>
          <p:cNvSpPr/>
          <p:nvPr/>
        </p:nvSpPr>
        <p:spPr>
          <a:xfrm>
            <a:off x="3067050" y="5435600"/>
            <a:ext cx="127000" cy="1270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2867660" y="5670550"/>
            <a:ext cx="127000" cy="1270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3690620" y="5436870"/>
            <a:ext cx="127000" cy="1270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3460750" y="5676900"/>
            <a:ext cx="127000" cy="1270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2489200" y="5480050"/>
            <a:ext cx="12827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7" name="Shape 17"/>
          <p:cNvSpPr/>
          <p:nvPr/>
        </p:nvSpPr>
        <p:spPr>
          <a:xfrm>
            <a:off x="2235200" y="5759450"/>
            <a:ext cx="12827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8" name="Shape 18"/>
          <p:cNvSpPr/>
          <p:nvPr/>
        </p:nvSpPr>
        <p:spPr>
          <a:xfrm flipH="1">
            <a:off x="3733800" y="5181600"/>
            <a:ext cx="228600" cy="33020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3517900" y="5708650"/>
            <a:ext cx="44450" cy="6350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 rot="2820000">
            <a:off x="1333500" y="4174490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 ( &lt; 0 )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 flipH="1">
            <a:off x="2197100" y="4470400"/>
            <a:ext cx="190500" cy="266700"/>
          </a:xfrm>
          <a:prstGeom prst="line">
            <a:avLst/>
          </a:prstGeom>
          <a:noFill/>
          <a:ln w="15875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32" name="Text 22"/>
          <p:cNvSpPr/>
          <p:nvPr/>
        </p:nvSpPr>
        <p:spPr>
          <a:xfrm rot="3120000">
            <a:off x="654050" y="4657090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( &gt; 0 )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1524000" y="4927600"/>
            <a:ext cx="330200" cy="203200"/>
          </a:xfrm>
          <a:prstGeom prst="line">
            <a:avLst/>
          </a:prstGeom>
          <a:noFill/>
          <a:ln w="15875">
            <a:solidFill>
              <a:srgbClr val="0000CC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5492750" y="1327150"/>
            <a:ext cx="53594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5" name="Equation OMML" descr="x_1"/>
              <p:cNvSpPr txBox="1"/>
              <p:nvPr/>
            </p:nvSpPr>
            <p:spPr>
              <a:xfrm>
                <a:off x="5601208" y="1646683"/>
                <a:ext cx="21336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8" descr="/home/ahmed/Projects/ai_llm_slides/videos/machine-learning/02_linear-regression-classification-MSSE/recreated_pptx/build/assets/x1m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01208" y="1646683"/>
                <a:ext cx="21336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6" name="Equation OMML" descr="x_2"/>
              <p:cNvSpPr txBox="1"/>
              <p:nvPr/>
            </p:nvSpPr>
            <p:spPr>
              <a:xfrm>
                <a:off x="5601208" y="2027683"/>
                <a:ext cx="22860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9" descr="/home/ahmed/Projects/ai_llm_slides/videos/machine-learning/02_linear-regression-classification-MSSE/recreated_pptx/build/assets/x2m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01208" y="2027683"/>
                <a:ext cx="22860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7" name="Equation OMML" descr="\Rightarrow"/>
              <p:cNvSpPr txBox="1"/>
              <p:nvPr/>
            </p:nvSpPr>
            <p:spPr>
              <a:xfrm>
                <a:off x="6078728" y="1554226"/>
                <a:ext cx="198120" cy="1539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10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78728" y="1554226"/>
                <a:ext cx="198120" cy="1539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\Rightarrow"/>
              <p:cNvSpPr txBox="1"/>
              <p:nvPr/>
            </p:nvSpPr>
            <p:spPr>
              <a:xfrm>
                <a:off x="6078728" y="1916176"/>
                <a:ext cx="198120" cy="1539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11" descr="/home/ahmed/Projects/ai_llm_slides/videos/machine-learning/02_linear-regression-classification-MSSE/recreated_pptx/build/assets/arr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78728" y="1916176"/>
                <a:ext cx="198120" cy="1539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9" name="Equation OMML" descr="X_1"/>
              <p:cNvSpPr txBox="1"/>
              <p:nvPr/>
            </p:nvSpPr>
            <p:spPr>
              <a:xfrm>
                <a:off x="6464808" y="1650238"/>
                <a:ext cx="304800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9" name="Image 12" descr="/home/ahmed/Projects/ai_llm_slides/videos/machine-learning/02_linear-regression-classification-MSSE/recreated_pptx/build/assets/Xv1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64808" y="1650238"/>
                <a:ext cx="304800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0" name="Equation OMML" descr="X_2"/>
              <p:cNvSpPr txBox="1"/>
              <p:nvPr/>
            </p:nvSpPr>
            <p:spPr>
              <a:xfrm>
                <a:off x="7620508" y="1650238"/>
                <a:ext cx="320040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0" name="Image 13" descr="/home/ahmed/Projects/ai_llm_slides/videos/machine-learning/02_linear-regression-classification-MSSE/recreated_pptx/build/assets/Xv2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20508" y="1650238"/>
                <a:ext cx="320040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1" name="Equation OMML" descr="X_3"/>
              <p:cNvSpPr txBox="1"/>
              <p:nvPr/>
            </p:nvSpPr>
            <p:spPr>
              <a:xfrm>
                <a:off x="8738108" y="1650238"/>
                <a:ext cx="312420" cy="2712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14" descr="/home/ahmed/Projects/ai_llm_slides/videos/machine-learning/02_linear-regression-classification-MSSE/recreated_pptx/build/assets/Xv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38108" y="1650238"/>
                <a:ext cx="312420" cy="2712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2" name="Equation OMML" descr="X_4"/>
              <p:cNvSpPr txBox="1"/>
              <p:nvPr/>
            </p:nvSpPr>
            <p:spPr>
              <a:xfrm>
                <a:off x="9843008" y="1650238"/>
                <a:ext cx="321564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15" descr="/home/ahmed/Projects/ai_llm_slides/videos/machine-learning/02_linear-regression-classification-MSSE/recreated_pptx/build/assets/Xv4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43008" y="1650238"/>
                <a:ext cx="321564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3" name="Equation OMML" descr="="/>
              <p:cNvSpPr txBox="1"/>
              <p:nvPr/>
            </p:nvSpPr>
            <p:spPr>
              <a:xfrm>
                <a:off x="67670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3" name="Image 16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670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4" name="Equation OMML" descr="="/>
              <p:cNvSpPr txBox="1"/>
              <p:nvPr/>
            </p:nvSpPr>
            <p:spPr>
              <a:xfrm>
                <a:off x="79227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17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227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="/>
              <p:cNvSpPr txBox="1"/>
              <p:nvPr/>
            </p:nvSpPr>
            <p:spPr>
              <a:xfrm>
                <a:off x="90403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18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403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="/>
              <p:cNvSpPr txBox="1"/>
              <p:nvPr/>
            </p:nvSpPr>
            <p:spPr>
              <a:xfrm>
                <a:off x="101452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19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452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47" name="Image 20" descr="/home/ahmed/Projects/ai_llm_slides/videos/machine-learning/02_linear-regression-classification-MSSE/recreated_pptx/build/assets/dlv_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5000" y="1485900"/>
            <a:ext cx="42977" cy="597103"/>
          </a:xfrm>
          <a:prstGeom prst="rect">
            <a:avLst/>
          </a:prstGeom>
        </p:spPr>
      </p:pic>
      <p:pic>
        <p:nvPicPr>
          <p:cNvPr id="48" name="Image 21" descr="/home/ahmed/Projects/ai_llm_slides/videos/machine-learning/02_linear-regression-classification-MSSE/recreated_pptx/build/assets/dlv_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40700" y="1485900"/>
            <a:ext cx="42977" cy="597103"/>
          </a:xfrm>
          <a:prstGeom prst="rect">
            <a:avLst/>
          </a:prstGeom>
        </p:spPr>
      </p:pic>
      <p:pic>
        <p:nvPicPr>
          <p:cNvPr id="49" name="Image 22" descr="/home/ahmed/Projects/ai_llm_slides/videos/machine-learning/02_linear-regression-classification-MSSE/recreated_pptx/build/assets/dlv_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1485900"/>
            <a:ext cx="42977" cy="597103"/>
          </a:xfrm>
          <a:prstGeom prst="rect">
            <a:avLst/>
          </a:prstGeom>
        </p:spPr>
      </p:pic>
      <p:pic>
        <p:nvPicPr>
          <p:cNvPr id="50" name="Image 23" descr="/home/ahmed/Projects/ai_llm_slides/videos/machine-learning/02_linear-regression-classification-MSSE/recreated_pptx/build/assets/dlv_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3200" y="1485900"/>
            <a:ext cx="42977" cy="597103"/>
          </a:xfrm>
          <a:prstGeom prst="rect">
            <a:avLst/>
          </a:prstGeom>
        </p:spPr>
      </p:pic>
      <p:pic>
        <p:nvPicPr>
          <p:cNvPr id="51" name="Image 24" descr="/home/ahmed/Projects/ai_llm_slides/videos/machine-learning/02_linear-regression-classification-MSSE/recreated_pptx/build/assets/dlv_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2650" y="1511300"/>
            <a:ext cx="42977" cy="608076"/>
          </a:xfrm>
          <a:prstGeom prst="rect">
            <a:avLst/>
          </a:prstGeom>
        </p:spPr>
      </p:pic>
      <p:pic>
        <p:nvPicPr>
          <p:cNvPr id="52" name="Image 25" descr="/home/ahmed/Projects/ai_llm_slides/videos/machine-learning/02_linear-regression-classification-MSSE/recreated_pptx/build/assets/dlv_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8350" y="1511300"/>
            <a:ext cx="42977" cy="608076"/>
          </a:xfrm>
          <a:prstGeom prst="rect">
            <a:avLst/>
          </a:prstGeom>
        </p:spPr>
      </p:pic>
      <p:pic>
        <p:nvPicPr>
          <p:cNvPr id="53" name="Image 26" descr="/home/ahmed/Projects/ai_llm_slides/videos/machine-learning/02_linear-regression-classification-MSSE/recreated_pptx/build/assets/dlv_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05950" y="1511300"/>
            <a:ext cx="42977" cy="608076"/>
          </a:xfrm>
          <a:prstGeom prst="rect">
            <a:avLst/>
          </a:prstGeom>
        </p:spPr>
      </p:pic>
      <p:pic>
        <p:nvPicPr>
          <p:cNvPr id="54" name="Image 27" descr="/home/ahmed/Projects/ai_llm_slides/videos/machine-learning/02_linear-regression-classification-MSSE/recreated_pptx/build/assets/dlv_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10850" y="1511300"/>
            <a:ext cx="42977" cy="60807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55" name="Equation OMML" descr="1"/>
              <p:cNvSpPr txBox="1"/>
              <p:nvPr/>
            </p:nvSpPr>
            <p:spPr>
              <a:xfrm>
                <a:off x="7074408" y="15120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5" name="Image 28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74408" y="15120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6" name="Equation OMML" descr="1"/>
              <p:cNvSpPr txBox="1"/>
              <p:nvPr/>
            </p:nvSpPr>
            <p:spPr>
              <a:xfrm>
                <a:off x="7074408" y="1829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29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74408" y="1829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7" name="Equation OMML" descr="2"/>
              <p:cNvSpPr txBox="1"/>
              <p:nvPr/>
            </p:nvSpPr>
            <p:spPr>
              <a:xfrm>
                <a:off x="8230108" y="15120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7" name="Image 30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230108" y="15120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8" name="Equation OMML" descr="2"/>
              <p:cNvSpPr txBox="1"/>
              <p:nvPr/>
            </p:nvSpPr>
            <p:spPr>
              <a:xfrm>
                <a:off x="8230108" y="18295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31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230108" y="18295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9" name="Equation OMML" descr="2"/>
              <p:cNvSpPr txBox="1"/>
              <p:nvPr/>
            </p:nvSpPr>
            <p:spPr>
              <a:xfrm>
                <a:off x="9347708" y="15120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32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47708" y="15120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1"/>
              <p:cNvSpPr txBox="1"/>
              <p:nvPr/>
            </p:nvSpPr>
            <p:spPr>
              <a:xfrm>
                <a:off x="9347708" y="1829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33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347708" y="1829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1"/>
              <p:cNvSpPr txBox="1"/>
              <p:nvPr/>
            </p:nvSpPr>
            <p:spPr>
              <a:xfrm>
                <a:off x="10452608" y="15120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34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452608" y="15120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2"/>
              <p:cNvSpPr txBox="1"/>
              <p:nvPr/>
            </p:nvSpPr>
            <p:spPr>
              <a:xfrm>
                <a:off x="10452608" y="18295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35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452608" y="18295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y_1=C_1"/>
              <p:cNvSpPr txBox="1"/>
              <p:nvPr/>
            </p:nvSpPr>
            <p:spPr>
              <a:xfrm>
                <a:off x="6464808" y="2197608"/>
                <a:ext cx="75742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36" descr="/home/ahmed/Projects/ai_llm_slides/videos/machine-learning/02_linear-regression-classification-MSSE/recreated_pptx/build/assets/y1c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64808" y="2197608"/>
                <a:ext cx="75742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y_2=C_2"/>
              <p:cNvSpPr txBox="1"/>
              <p:nvPr/>
            </p:nvSpPr>
            <p:spPr>
              <a:xfrm>
                <a:off x="7607808" y="2197608"/>
                <a:ext cx="77266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37" descr="/home/ahmed/Projects/ai_llm_slides/videos/machine-learning/02_linear-regression-classification-MSSE/recreated_pptx/build/assets/y2c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07808" y="2197608"/>
                <a:ext cx="77266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y_3=C_1"/>
              <p:cNvSpPr txBox="1"/>
              <p:nvPr/>
            </p:nvSpPr>
            <p:spPr>
              <a:xfrm>
                <a:off x="8725408" y="2197608"/>
                <a:ext cx="75742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38" descr="/home/ahmed/Projects/ai_llm_slides/videos/machine-learning/02_linear-regression-classification-MSSE/recreated_pptx/build/assets/y3c1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725408" y="2197608"/>
                <a:ext cx="75742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y_4=C_2"/>
              <p:cNvSpPr txBox="1"/>
              <p:nvPr/>
            </p:nvSpPr>
            <p:spPr>
              <a:xfrm>
                <a:off x="9843008" y="2197608"/>
                <a:ext cx="77266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39" descr="/home/ahmed/Projects/ai_llm_slides/videos/machine-learning/02_linear-regression-classification-MSSE/recreated_pptx/build/assets/y4c2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843008" y="2197608"/>
                <a:ext cx="772668" cy="245364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Text 25"/>
          <p:cNvSpPr/>
          <p:nvPr/>
        </p:nvSpPr>
        <p:spPr>
          <a:xfrm>
            <a:off x="5778500" y="275082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-30" kern="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68" name="Equation OMML" descr="X"/>
              <p:cNvSpPr txBox="1"/>
              <p:nvPr/>
            </p:nvSpPr>
            <p:spPr>
              <a:xfrm>
                <a:off x="7430008" y="2977387"/>
                <a:ext cx="233172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40" descr="/home/ahmed/Projects/ai_llm_slides/videos/machine-learning/02_linear-regression-classification-MSSE/recreated_pptx/build/assets/Xq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30008" y="2977387"/>
                <a:ext cx="233172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="/>
              <p:cNvSpPr txBox="1"/>
              <p:nvPr/>
            </p:nvSpPr>
            <p:spPr>
              <a:xfrm>
                <a:off x="7668768" y="30286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41" descr="/home/ahmed/Projects/ai_llm_slides/videos/machine-learning/02_linear-regression-classification-MSSE/recreated_pptx/build/assets/qeq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68768" y="3028696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70" name="Image 42" descr="/home/ahmed/Projects/ai_llm_slides/videos/machine-learning/02_linear-regression-classification-MSSE/recreated_pptx/build/assets/dlv_l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880350" y="2813050"/>
            <a:ext cx="42977" cy="597103"/>
          </a:xfrm>
          <a:prstGeom prst="rect">
            <a:avLst/>
          </a:prstGeom>
        </p:spPr>
      </p:pic>
      <p:pic>
        <p:nvPicPr>
          <p:cNvPr id="71" name="Image 43" descr="/home/ahmed/Projects/ai_llm_slides/videos/machine-learning/02_linear-regression-classification-MSSE/recreated_pptx/build/assets/dlv_r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21650" y="2813050"/>
            <a:ext cx="42977" cy="60807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72" name="Equation OMML" descr="7"/>
              <p:cNvSpPr txBox="1"/>
              <p:nvPr/>
            </p:nvSpPr>
            <p:spPr>
              <a:xfrm>
                <a:off x="7944358" y="2858008"/>
                <a:ext cx="14935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44" descr="/home/ahmed/Projects/ai_llm_slides/videos/machine-learning/02_linear-regression-classification-MSSE/recreated_pptx/build/assets/q7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44358" y="2858008"/>
                <a:ext cx="14935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3"/>
              <p:cNvSpPr txBox="1"/>
              <p:nvPr/>
            </p:nvSpPr>
            <p:spPr>
              <a:xfrm>
                <a:off x="7918958" y="3175508"/>
                <a:ext cx="137160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45" descr="/home/ahmed/Projects/ai_llm_slides/videos/machine-learning/02_linear-regression-classification-MSSE/recreated_pptx/build/assets/q3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918958" y="3175508"/>
                <a:ext cx="137160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y="/>
              <p:cNvSpPr txBox="1"/>
              <p:nvPr/>
            </p:nvSpPr>
            <p:spPr>
              <a:xfrm>
                <a:off x="6718808" y="3633724"/>
                <a:ext cx="321564" cy="1722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46" descr="/home/ahmed/Projects/ai_llm_slides/videos/machine-learning/02_linear-regression-classification-MSSE/recreated_pptx/build/assets/yeq.png">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18808" y="3633724"/>
                <a:ext cx="321564" cy="1722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C_1"/>
              <p:cNvSpPr txBox="1"/>
              <p:nvPr/>
            </p:nvSpPr>
            <p:spPr>
              <a:xfrm>
                <a:off x="7137908" y="3581908"/>
                <a:ext cx="225552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47" descr="/home/ahmed/Projects/ai_llm_slides/videos/machine-learning/02_linear-regression-classification-MSSE/recreated_pptx/build/assets/cy1.png">    </p:cNvPr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37908" y="3581908"/>
                <a:ext cx="225552" cy="2118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or}"/>
              <p:cNvSpPr txBox="1"/>
              <p:nvPr/>
            </p:nvSpPr>
            <p:spPr>
              <a:xfrm>
                <a:off x="7417308" y="3629152"/>
                <a:ext cx="208788" cy="1310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or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48" descr="/home/ahmed/Projects/ai_llm_slides/videos/machine-learning/02_linear-regression-classification-MSSE/recreated_pptx/build/assets/orw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17308" y="3629152"/>
                <a:ext cx="208788" cy="1310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C_2"/>
              <p:cNvSpPr txBox="1"/>
              <p:nvPr/>
            </p:nvSpPr>
            <p:spPr>
              <a:xfrm>
                <a:off x="7861808" y="3581908"/>
                <a:ext cx="239268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49" descr="/home/ahmed/Projects/ai_llm_slides/videos/machine-learning/02_linear-regression-classification-MSSE/recreated_pptx/build/assets/cy2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861808" y="3581908"/>
                <a:ext cx="239268" cy="211836"/>
              </a:xfrm>
              <a:prstGeom prst="rect">
                <a:avLst/>
              </a:prstGeom>
            </p:spPr>
          </p:pic>
        </mc:Fallback>
      </mc:AlternateContent>
      <p:pic>
        <p:nvPicPr>
          <p:cNvPr id="78" name="Image 50" descr="/home/ahmed/Projects/ai_llm_slides/videos/machine-learning/02_linear-regression-classification-MSSE/recreated_pptx/build/assets/qqq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420608" y="3531108"/>
            <a:ext cx="384048" cy="222504"/>
          </a:xfrm>
          <a:prstGeom prst="rect">
            <a:avLst/>
          </a:prstGeom>
        </p:spPr>
      </p:pic>
      <p:sp>
        <p:nvSpPr>
          <p:cNvPr id="79" name="Shape 26"/>
          <p:cNvSpPr/>
          <p:nvPr/>
        </p:nvSpPr>
        <p:spPr>
          <a:xfrm>
            <a:off x="5848350" y="4044950"/>
            <a:ext cx="4495800" cy="1930400"/>
          </a:xfrm>
          <a:prstGeom prst="rect">
            <a:avLst/>
          </a:prstGeom>
          <a:solidFill>
            <a:srgbClr val="EDFDF2"/>
          </a:solidFill>
          <a:ln w="12700">
            <a:solidFill>
              <a:srgbClr val="B2BEBA"/>
            </a:solidFill>
            <a:prstDash val="solid"/>
          </a:ln>
        </p:spPr>
      </p:sp>
      <p:sp>
        <p:nvSpPr>
          <p:cNvPr id="80" name="Text 27"/>
          <p:cNvSpPr/>
          <p:nvPr/>
        </p:nvSpPr>
        <p:spPr>
          <a:xfrm>
            <a:off x="6013450" y="3855720"/>
            <a:ext cx="419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obtain  </a:t>
            </a:r>
            <a:pPr algn="l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that satisfies</a:t>
            </a:r>
            <a:endParaRPr lang="en-US" sz="1800" dirty="0"/>
          </a:p>
        </p:txBody>
      </p:sp>
      <p:sp>
        <p:nvSpPr>
          <p:cNvPr id="81" name="Shape 28"/>
          <p:cNvSpPr/>
          <p:nvPr/>
        </p:nvSpPr>
        <p:spPr>
          <a:xfrm>
            <a:off x="8153400" y="4375150"/>
            <a:ext cx="30480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</p:sp>
      <p:sp>
        <p:nvSpPr>
          <p:cNvPr id="82" name="Shape 29"/>
          <p:cNvSpPr/>
          <p:nvPr/>
        </p:nvSpPr>
        <p:spPr>
          <a:xfrm>
            <a:off x="5854700" y="4425950"/>
            <a:ext cx="4483100" cy="0"/>
          </a:xfrm>
          <a:prstGeom prst="line">
            <a:avLst/>
          </a:prstGeom>
          <a:noFill/>
          <a:ln w="9525">
            <a:solidFill>
              <a:srgbClr val="96A79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3" name="Equation OMML" descr="x_1"/>
              <p:cNvSpPr txBox="1"/>
              <p:nvPr/>
            </p:nvSpPr>
            <p:spPr>
              <a:xfrm>
                <a:off x="6337808" y="4643883"/>
                <a:ext cx="21336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51" descr="/home/ahmed/Projects/ai_llm_slides/videos/machine-learning/02_linear-regression-classification-MSSE/recreated_pptx/build/assets/x1m.png">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337808" y="4643883"/>
                <a:ext cx="21336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\Rightarrow"/>
              <p:cNvSpPr txBox="1"/>
              <p:nvPr/>
            </p:nvSpPr>
            <p:spPr>
              <a:xfrm>
                <a:off x="6814058" y="453237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52" descr="/home/ahmed/Projects/ai_llm_slides/videos/machine-learning/02_linear-regression-classification-MSSE/recreated_pptx/build/assets/arrm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14058" y="453237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1"/>
              <p:cNvSpPr txBox="1"/>
              <p:nvPr/>
            </p:nvSpPr>
            <p:spPr>
              <a:xfrm>
                <a:off x="7163308" y="45473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53" descr="/home/ahmed/Projects/ai_llm_slides/videos/machine-learning/02_linear-regression-classification-MSSE/recreated_pptx/build/assets/c1r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163308" y="45473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1"/>
              <p:cNvSpPr txBox="1"/>
              <p:nvPr/>
            </p:nvSpPr>
            <p:spPr>
              <a:xfrm>
                <a:off x="7544308" y="45473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54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44308" y="45473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1"/>
              <p:cNvSpPr txBox="1"/>
              <p:nvPr/>
            </p:nvSpPr>
            <p:spPr>
              <a:xfrm>
                <a:off x="7938008" y="45473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55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938008" y="45473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x_2"/>
              <p:cNvSpPr txBox="1"/>
              <p:nvPr/>
            </p:nvSpPr>
            <p:spPr>
              <a:xfrm>
                <a:off x="6337808" y="4961383"/>
                <a:ext cx="22860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56" descr="/home/ahmed/Projects/ai_llm_slides/videos/machine-learning/02_linear-regression-classification-MSSE/recreated_pptx/build/assets/x2m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37808" y="4961383"/>
                <a:ext cx="22860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\Rightarrow"/>
              <p:cNvSpPr txBox="1"/>
              <p:nvPr/>
            </p:nvSpPr>
            <p:spPr>
              <a:xfrm>
                <a:off x="6795008" y="488162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57" descr="/home/ahmed/Projects/ai_llm_slides/videos/machine-learning/02_linear-regression-classification-MSSE/recreated_pptx/build/assets/arrm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795008" y="488162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1"/>
              <p:cNvSpPr txBox="1"/>
              <p:nvPr/>
            </p:nvSpPr>
            <p:spPr>
              <a:xfrm>
                <a:off x="7163308" y="48648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58" descr="/home/ahmed/Projects/ai_llm_slides/videos/machine-learning/02_linear-regression-classification-MSSE/recreated_pptx/build/assets/c1r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63308" y="48648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2"/>
              <p:cNvSpPr txBox="1"/>
              <p:nvPr/>
            </p:nvSpPr>
            <p:spPr>
              <a:xfrm>
                <a:off x="7518908" y="48648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59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518908" y="48648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2"/>
              <p:cNvSpPr txBox="1"/>
              <p:nvPr/>
            </p:nvSpPr>
            <p:spPr>
              <a:xfrm>
                <a:off x="7912608" y="48648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60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12608" y="48648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x_3"/>
              <p:cNvSpPr txBox="1"/>
              <p:nvPr/>
            </p:nvSpPr>
            <p:spPr>
              <a:xfrm>
                <a:off x="6337808" y="5285233"/>
                <a:ext cx="219456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61" descr="/home/ahmed/Projects/ai_llm_slides/videos/machine-learning/02_linear-regression-classification-MSSE/recreated_pptx/build/assets/x3m.png">    </p:cNvPr>
              <p:cNvPicPr>
                <a:picLocks noChangeAspect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337808" y="5285233"/>
                <a:ext cx="219456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Rightarrow"/>
              <p:cNvSpPr txBox="1"/>
              <p:nvPr/>
            </p:nvSpPr>
            <p:spPr>
              <a:xfrm>
                <a:off x="6807708" y="524357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62" descr="/home/ahmed/Projects/ai_llm_slides/videos/machine-learning/02_linear-regression-classification-MSSE/recreated_pptx/build/assets/arrm.png">    </p:cNvPr>
              <p:cNvPicPr>
                <a:picLocks noChangeAspect="1"/>
              </p:cNvPicPr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807708" y="524357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1"/>
              <p:cNvSpPr txBox="1"/>
              <p:nvPr/>
            </p:nvSpPr>
            <p:spPr>
              <a:xfrm>
                <a:off x="7163308" y="518871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63" descr="/home/ahmed/Projects/ai_llm_slides/videos/machine-learning/02_linear-regression-classification-MSSE/recreated_pptx/build/assets/c1r.png">    </p:cNvPr>
              <p:cNvPicPr>
                <a:picLocks noChangeAspect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163308" y="518871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2"/>
              <p:cNvSpPr txBox="1"/>
              <p:nvPr/>
            </p:nvSpPr>
            <p:spPr>
              <a:xfrm>
                <a:off x="7518908" y="518871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64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18908" y="518871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1"/>
              <p:cNvSpPr txBox="1"/>
              <p:nvPr/>
            </p:nvSpPr>
            <p:spPr>
              <a:xfrm>
                <a:off x="7925308" y="518871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65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925308" y="518871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x_4"/>
              <p:cNvSpPr txBox="1"/>
              <p:nvPr/>
            </p:nvSpPr>
            <p:spPr>
              <a:xfrm>
                <a:off x="6337808" y="5609082"/>
                <a:ext cx="227076" cy="1737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66" descr="/home/ahmed/Projects/ai_llm_slides/videos/machine-learning/02_linear-regression-classification-MSSE/recreated_pptx/build/assets/x4m.png">    </p:cNvPr>
              <p:cNvPicPr>
                <a:picLocks noChangeAspect="1"/>
              </p:cNvPicPr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337808" y="5609082"/>
                <a:ext cx="227076" cy="1737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Rightarrow"/>
              <p:cNvSpPr txBox="1"/>
              <p:nvPr/>
            </p:nvSpPr>
            <p:spPr>
              <a:xfrm>
                <a:off x="6795008" y="561187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67" descr="/home/ahmed/Projects/ai_llm_slides/videos/machine-learning/02_linear-regression-classification-MSSE/recreated_pptx/build/assets/arrm.png">    </p:cNvPr>
              <p:cNvPicPr>
                <a:picLocks noChangeAspect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95008" y="561187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1"/>
              <p:cNvSpPr txBox="1"/>
              <p:nvPr/>
            </p:nvSpPr>
            <p:spPr>
              <a:xfrm>
                <a:off x="7163308" y="5512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68" descr="/home/ahmed/Projects/ai_llm_slides/videos/machine-learning/02_linear-regression-classification-MSSE/recreated_pptx/build/assets/c1r.png">    </p:cNvPr>
              <p:cNvPicPr>
                <a:picLocks noChangeAspect="1"/>
              </p:cNvPicPr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63308" y="5512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1"/>
              <p:cNvSpPr txBox="1"/>
              <p:nvPr/>
            </p:nvSpPr>
            <p:spPr>
              <a:xfrm>
                <a:off x="7544308" y="5512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69" descr="/home/ahmed/Projects/ai_llm_slides/videos/machine-learning/02_linear-regression-classification-MSSE/recreated_pptx/build/assets/nb1.png">    </p:cNvPr>
              <p:cNvPicPr>
                <a:picLocks noChangeAspect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544308" y="5512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2"/>
              <p:cNvSpPr txBox="1"/>
              <p:nvPr/>
            </p:nvSpPr>
            <p:spPr>
              <a:xfrm>
                <a:off x="7887208" y="55125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70" descr="/home/ahmed/Projects/ai_llm_slides/videos/machine-learning/02_linear-regression-classification-MSSE/recreated_pptx/build/assets/nb2.png">    </p:cNvPr>
              <p:cNvPicPr>
                <a:picLocks noChangeAspect="1"/>
              </p:cNvPicPr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87208" y="5512561"/>
                <a:ext cx="152400" cy="220980"/>
              </a:xfrm>
              <a:prstGeom prst="rect">
                <a:avLst/>
              </a:prstGeom>
            </p:spPr>
          </p:pic>
        </mc:Fallback>
      </mc:AlternateContent>
      <p:sp>
        <p:nvSpPr>
          <p:cNvPr id="103" name="Shape 30"/>
          <p:cNvSpPr/>
          <p:nvPr/>
        </p:nvSpPr>
        <p:spPr>
          <a:xfrm>
            <a:off x="709295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31"/>
          <p:cNvSpPr/>
          <p:nvPr/>
        </p:nvSpPr>
        <p:spPr>
          <a:xfrm>
            <a:off x="807085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105" name="Image 71" descr="/home/ahmed/Projects/ai_llm_slides/videos/machine-learning/02_linear-regression-classification-MSSE/recreated_pptx/build/assets/dlw_l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248650" y="4768850"/>
            <a:ext cx="42977" cy="761695"/>
          </a:xfrm>
          <a:prstGeom prst="rect">
            <a:avLst/>
          </a:prstGeom>
        </p:spPr>
      </p:pic>
      <p:pic>
        <p:nvPicPr>
          <p:cNvPr id="106" name="Image 72" descr="/home/ahmed/Projects/ai_llm_slides/videos/machine-learning/02_linear-regression-classification-MSSE/recreated_pptx/build/assets/dlw_r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616950" y="4775200"/>
            <a:ext cx="42977" cy="769925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07" name="Equation OMML" descr="W"/>
              <p:cNvSpPr txBox="1"/>
              <p:nvPr/>
            </p:nvSpPr>
            <p:spPr>
              <a:xfrm>
                <a:off x="8344408" y="5077207"/>
                <a:ext cx="21488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7" name="Image 73" descr="/home/ahmed/Projects/ai_llm_slides/videos/machine-learning/02_linear-regression-classification-MSSE/recreated_pptx/build/assets/wr.png">    </p:cNvPr>
              <p:cNvPicPr>
                <a:picLocks noChangeAspect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344408" y="5077207"/>
                <a:ext cx="21488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8" name="Equation OMML" descr="="/>
              <p:cNvSpPr txBox="1"/>
              <p:nvPr/>
            </p:nvSpPr>
            <p:spPr>
              <a:xfrm>
                <a:off x="8735568" y="507974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8" name="Image 74" descr="/home/ahmed/Projects/ai_llm_slides/videos/machine-learning/02_linear-regression-classification-MSSE/recreated_pptx/build/assets/veq.png">    </p:cNvPr>
              <p:cNvPicPr>
                <a:picLocks noChangeAspect="1"/>
              </p:cNvPicPr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35568" y="5079746"/>
                <a:ext cx="192024" cy="100584"/>
              </a:xfrm>
              <a:prstGeom prst="rect">
                <a:avLst/>
              </a:prstGeom>
            </p:spPr>
          </p:pic>
        </mc:Fallback>
      </mc:AlternateContent>
      <p:sp>
        <p:nvSpPr>
          <p:cNvPr id="109" name="Shape 32"/>
          <p:cNvSpPr/>
          <p:nvPr/>
        </p:nvSpPr>
        <p:spPr>
          <a:xfrm>
            <a:off x="902335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33"/>
          <p:cNvSpPr/>
          <p:nvPr/>
        </p:nvSpPr>
        <p:spPr>
          <a:xfrm>
            <a:off x="956310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111" name="Image 75" descr="/home/ahmed/Projects/ai_llm_slides/videos/machine-learning/02_linear-regression-classification-MSSE/recreated_pptx/build/assets/gt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182608" y="4607051"/>
            <a:ext cx="173736" cy="173736"/>
          </a:xfrm>
          <a:prstGeom prst="rect">
            <a:avLst/>
          </a:prstGeom>
        </p:spPr>
      </p:pic>
      <p:pic>
        <p:nvPicPr>
          <p:cNvPr id="112" name="Image 76" descr="/home/ahmed/Projects/ai_llm_slides/videos/machine-learning/02_linear-regression-classification-MSSE/recreated_pptx/build/assets/zr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373108" y="4567427"/>
            <a:ext cx="143256" cy="210312"/>
          </a:xfrm>
          <a:prstGeom prst="rect">
            <a:avLst/>
          </a:prstGeom>
        </p:spPr>
      </p:pic>
      <p:pic>
        <p:nvPicPr>
          <p:cNvPr id="113" name="Image 77" descr="/home/ahmed/Projects/ai_llm_slides/videos/machine-learning/02_linear-regression-classification-MSSE/recreated_pptx/build/assets/lt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131808" y="4930901"/>
            <a:ext cx="173736" cy="173736"/>
          </a:xfrm>
          <a:prstGeom prst="rect">
            <a:avLst/>
          </a:prstGeom>
        </p:spPr>
      </p:pic>
      <p:pic>
        <p:nvPicPr>
          <p:cNvPr id="114" name="Image 78" descr="/home/ahmed/Projects/ai_llm_slides/videos/machine-learning/02_linear-regression-classification-MSSE/recreated_pptx/build/assets/zb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335008" y="4891277"/>
            <a:ext cx="143256" cy="210312"/>
          </a:xfrm>
          <a:prstGeom prst="rect">
            <a:avLst/>
          </a:prstGeom>
        </p:spPr>
      </p:pic>
      <p:pic>
        <p:nvPicPr>
          <p:cNvPr id="115" name="Image 79" descr="/home/ahmed/Projects/ai_llm_slides/videos/machine-learning/02_linear-regression-classification-MSSE/recreated_pptx/build/assets/gt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9131808" y="5261101"/>
            <a:ext cx="173736" cy="173736"/>
          </a:xfrm>
          <a:prstGeom prst="rect">
            <a:avLst/>
          </a:prstGeom>
        </p:spPr>
      </p:pic>
      <p:pic>
        <p:nvPicPr>
          <p:cNvPr id="116" name="Image 80" descr="/home/ahmed/Projects/ai_llm_slides/videos/machine-learning/02_linear-regression-classification-MSSE/recreated_pptx/build/assets/zr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335008" y="5221477"/>
            <a:ext cx="143256" cy="210312"/>
          </a:xfrm>
          <a:prstGeom prst="rect">
            <a:avLst/>
          </a:prstGeom>
        </p:spPr>
      </p:pic>
      <p:pic>
        <p:nvPicPr>
          <p:cNvPr id="117" name="Image 81" descr="/home/ahmed/Projects/ai_llm_slides/videos/machine-learning/02_linear-regression-classification-MSSE/recreated_pptx/build/assets/lt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9131808" y="5591301"/>
            <a:ext cx="173736" cy="173736"/>
          </a:xfrm>
          <a:prstGeom prst="rect">
            <a:avLst/>
          </a:prstGeom>
        </p:spPr>
      </p:pic>
      <p:pic>
        <p:nvPicPr>
          <p:cNvPr id="118" name="Image 82" descr="/home/ahmed/Projects/ai_llm_slides/videos/machine-learning/02_linear-regression-classification-MSSE/recreated_pptx/build/assets/zb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9335008" y="5551677"/>
            <a:ext cx="143256" cy="210312"/>
          </a:xfrm>
          <a:prstGeom prst="rect">
            <a:avLst/>
          </a:prstGeom>
        </p:spPr>
      </p:pic>
      <p:sp>
        <p:nvSpPr>
          <p:cNvPr id="119" name="Shape 34"/>
          <p:cNvSpPr/>
          <p:nvPr/>
        </p:nvSpPr>
        <p:spPr>
          <a:xfrm>
            <a:off x="5403850" y="6242050"/>
            <a:ext cx="6045200" cy="425450"/>
          </a:xfrm>
          <a:prstGeom prst="rect">
            <a:avLst/>
          </a:prstGeom>
          <a:solidFill>
            <a:srgbClr val="FAFB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0" name="Text 35"/>
          <p:cNvSpPr/>
          <p:nvPr/>
        </p:nvSpPr>
        <p:spPr>
          <a:xfrm>
            <a:off x="5346700" y="6014720"/>
            <a:ext cx="604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deal </a:t>
            </a:r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“Mathematically”</a:t>
            </a:r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“&lt;” and “&gt;” ???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3800" y="40132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 </a:t>
            </a:r>
            <a:pPr algn="ctr" indent="0" marL="0">
              <a:buNone/>
            </a:pPr>
            <a:r>
              <a:rPr lang="en-US" sz="2400" b="1" spc="-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46150" y="1377950"/>
            <a:ext cx="4203700" cy="52768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1854200" y="2819400"/>
                </a:moveTo>
                <a:lnTo>
                  <a:pt x="3949700" y="5626100"/>
                </a:lnTo>
                <a:lnTo>
                  <a:pt x="3187700" y="6527800"/>
                </a:lnTo>
                <a:lnTo>
                  <a:pt x="1066800" y="3810000"/>
                </a:lnTo>
                <a:lnTo>
                  <a:pt x="1854200" y="2819400"/>
                </a:lnTo>
              </a:path>
            </a:pathLst>
          </a:custGeom>
          <a:solidFill>
            <a:srgbClr val="FFFF85"/>
          </a:solidFill>
          <a:ln w="12700">
            <a:solidFill>
              <a:srgbClr val="FFFF85"/>
            </a:solidFill>
            <a:prstDash val="solid"/>
          </a:ln>
        </p:spPr>
      </p:sp>
      <p:pic>
        <p:nvPicPr>
          <p:cNvPr id="8" name="Image 0" descr="/home/ahmed/Projects/ai_llm_slides/videos/machine-learning/02_linear-regression-classification-MSSE/recreated_pptx/build/components/assets/w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958" y="3112008"/>
            <a:ext cx="291084" cy="2179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01800" y="3346450"/>
            <a:ext cx="323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2100" y="5232400"/>
            <a:ext cx="0" cy="-372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2832100" y="1346200"/>
                </a:moveTo>
                <a:lnTo>
                  <a:pt x="2768600" y="1517650"/>
                </a:lnTo>
                <a:lnTo>
                  <a:pt x="2895600" y="1517650"/>
                </a:lnTo>
                <a:lnTo>
                  <a:pt x="2832100" y="13462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2" name="Equation OMML" descr="y"/>
              <p:cNvSpPr txBox="1"/>
              <p:nvPr/>
            </p:nvSpPr>
            <p:spPr>
              <a:xfrm>
                <a:off x="2629408" y="1934211"/>
                <a:ext cx="103632" cy="1402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" name="Image 1" descr="/home/ahmed/Projects/ai_llm_slides/videos/machine-learning/02_linear-regression-classification-MSSE/recreated_pptx/build/components/assets/axy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29408" y="1934211"/>
                <a:ext cx="103632" cy="140208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hape 9"/>
          <p:cNvSpPr/>
          <p:nvPr/>
        </p:nvSpPr>
        <p:spPr>
          <a:xfrm>
            <a:off x="2832100" y="5232400"/>
            <a:ext cx="1866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4" name="Equation OMML" descr="x_2"/>
              <p:cNvSpPr txBox="1"/>
              <p:nvPr/>
            </p:nvSpPr>
            <p:spPr>
              <a:xfrm>
                <a:off x="4724908" y="5261610"/>
                <a:ext cx="167640" cy="12954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2" descr="/home/ahmed/Projects/ai_llm_slides/videos/machine-learning/02_linear-regression-classification-MSSE/recreated_pptx/build/components/assets/axx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4908" y="5261610"/>
                <a:ext cx="167640" cy="12954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5" name="Equation OMML" descr="1"/>
              <p:cNvSpPr txBox="1"/>
              <p:nvPr/>
            </p:nvSpPr>
            <p:spPr>
              <a:xfrm>
                <a:off x="3404108" y="5070093"/>
                <a:ext cx="62484" cy="1188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3" descr="/home/ahmed/Projects/ai_llm_slides/videos/machine-learning/02_linear-regression-classification-MSSE/recreated_pptx/build/components/assets/tk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4108" y="5070093"/>
                <a:ext cx="62484" cy="1188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6" name="Equation OMML" descr="2"/>
              <p:cNvSpPr txBox="1"/>
              <p:nvPr/>
            </p:nvSpPr>
            <p:spPr>
              <a:xfrm>
                <a:off x="3924808" y="5070094"/>
                <a:ext cx="85344" cy="1173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4" descr="/home/ahmed/Projects/ai_llm_slides/videos/machine-learning/02_linear-regression-classification-MSSE/recreated_pptx/build/components/assets/tk2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4808" y="5070094"/>
                <a:ext cx="85344" cy="117348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hape 10"/>
          <p:cNvSpPr/>
          <p:nvPr/>
        </p:nvSpPr>
        <p:spPr>
          <a:xfrm flipH="1">
            <a:off x="1968500" y="5232400"/>
            <a:ext cx="863600" cy="7556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1841500" y="6096000"/>
                </a:moveTo>
                <a:lnTo>
                  <a:pt x="2004060" y="6031230"/>
                </a:lnTo>
                <a:lnTo>
                  <a:pt x="1927860" y="5944870"/>
                </a:lnTo>
                <a:lnTo>
                  <a:pt x="1841500" y="60960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9" name="Equation OMML" descr="1"/>
              <p:cNvSpPr txBox="1"/>
              <p:nvPr/>
            </p:nvSpPr>
            <p:spPr>
              <a:xfrm>
                <a:off x="2438908" y="5393943"/>
                <a:ext cx="62484" cy="1188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9" name="Image 5" descr="/home/ahmed/Projects/ai_llm_slides/videos/machine-learning/02_linear-regression-classification-MSSE/recreated_pptx/build/components/assets/tk1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8908" y="5393943"/>
                <a:ext cx="62484" cy="1188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0" name="Equation OMML" descr="2"/>
              <p:cNvSpPr txBox="1"/>
              <p:nvPr/>
            </p:nvSpPr>
            <p:spPr>
              <a:xfrm>
                <a:off x="2159508" y="5660644"/>
                <a:ext cx="85344" cy="1173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1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6" descr="/home/ahmed/Projects/ai_llm_slides/videos/machine-learning/02_linear-regression-classification-MSSE/recreated_pptx/build/components/assets/tk2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9508" y="5660644"/>
                <a:ext cx="85344" cy="1173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21" name="Equation OMML" descr="x_1"/>
              <p:cNvSpPr txBox="1"/>
              <p:nvPr/>
            </p:nvSpPr>
            <p:spPr>
              <a:xfrm>
                <a:off x="1422908" y="6417311"/>
                <a:ext cx="158496" cy="1310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7" descr="/home/ahmed/Projects/ai_llm_slides/videos/machine-learning/02_linear-regression-classification-MSSE/recreated_pptx/build/components/assets/axx1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2908" y="6417311"/>
                <a:ext cx="158496" cy="131064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Shape 12"/>
          <p:cNvSpPr/>
          <p:nvPr/>
        </p:nvSpPr>
        <p:spPr>
          <a:xfrm>
            <a:off x="3067050" y="5435600"/>
            <a:ext cx="127000" cy="1270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2867660" y="5670550"/>
            <a:ext cx="127000" cy="1270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3690620" y="5436870"/>
            <a:ext cx="127000" cy="1270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3460750" y="5676900"/>
            <a:ext cx="127000" cy="1270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2489200" y="5480050"/>
            <a:ext cx="12827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7" name="Shape 17"/>
          <p:cNvSpPr/>
          <p:nvPr/>
        </p:nvSpPr>
        <p:spPr>
          <a:xfrm>
            <a:off x="2235200" y="5759450"/>
            <a:ext cx="12827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8" name="Shape 18"/>
          <p:cNvSpPr/>
          <p:nvPr/>
        </p:nvSpPr>
        <p:spPr>
          <a:xfrm flipH="1">
            <a:off x="3733800" y="5181600"/>
            <a:ext cx="228600" cy="33020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3517900" y="5708650"/>
            <a:ext cx="44450" cy="6350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 rot="2820000">
            <a:off x="1333500" y="4174490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 ( &lt; 0 )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 flipH="1">
            <a:off x="2197100" y="4470400"/>
            <a:ext cx="190500" cy="266700"/>
          </a:xfrm>
          <a:prstGeom prst="line">
            <a:avLst/>
          </a:prstGeom>
          <a:noFill/>
          <a:ln w="15875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32" name="Text 22"/>
          <p:cNvSpPr/>
          <p:nvPr/>
        </p:nvSpPr>
        <p:spPr>
          <a:xfrm rot="3120000">
            <a:off x="654050" y="4657090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( &gt; 0 )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1524000" y="4927600"/>
            <a:ext cx="330200" cy="203200"/>
          </a:xfrm>
          <a:prstGeom prst="line">
            <a:avLst/>
          </a:prstGeom>
          <a:noFill/>
          <a:ln w="15875">
            <a:solidFill>
              <a:srgbClr val="0000CC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5492750" y="1327150"/>
            <a:ext cx="53594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5" name="Equation OMML" descr="x_1"/>
              <p:cNvSpPr txBox="1"/>
              <p:nvPr/>
            </p:nvSpPr>
            <p:spPr>
              <a:xfrm>
                <a:off x="5601208" y="1646683"/>
                <a:ext cx="21336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8" descr="/home/ahmed/Projects/ai_llm_slides/videos/machine-learning/02_linear-regression-classification-MSSE/recreated_pptx/build/components/assets/x1m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01208" y="1646683"/>
                <a:ext cx="21336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6" name="Equation OMML" descr="x_2"/>
              <p:cNvSpPr txBox="1"/>
              <p:nvPr/>
            </p:nvSpPr>
            <p:spPr>
              <a:xfrm>
                <a:off x="5601208" y="2027683"/>
                <a:ext cx="22860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9" descr="/home/ahmed/Projects/ai_llm_slides/videos/machine-learning/02_linear-regression-classification-MSSE/recreated_pptx/build/components/assets/x2m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01208" y="2027683"/>
                <a:ext cx="22860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7" name="Equation OMML" descr="\Rightarrow"/>
              <p:cNvSpPr txBox="1"/>
              <p:nvPr/>
            </p:nvSpPr>
            <p:spPr>
              <a:xfrm>
                <a:off x="6078728" y="1554226"/>
                <a:ext cx="198120" cy="1539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7" name="Image 10" descr="/home/ahmed/Projects/ai_llm_slides/videos/machine-learning/02_linear-regression-classification-MSSE/recreated_pptx/build/components/assets/arr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78728" y="1554226"/>
                <a:ext cx="198120" cy="1539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8" name="Equation OMML" descr="\Rightarrow"/>
              <p:cNvSpPr txBox="1"/>
              <p:nvPr/>
            </p:nvSpPr>
            <p:spPr>
              <a:xfrm>
                <a:off x="6078728" y="1916176"/>
                <a:ext cx="198120" cy="1539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11" descr="/home/ahmed/Projects/ai_llm_slides/videos/machine-learning/02_linear-regression-classification-MSSE/recreated_pptx/build/components/assets/arr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78728" y="1916176"/>
                <a:ext cx="198120" cy="1539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9" name="Equation OMML" descr="X_1"/>
              <p:cNvSpPr txBox="1"/>
              <p:nvPr/>
            </p:nvSpPr>
            <p:spPr>
              <a:xfrm>
                <a:off x="6464808" y="1650238"/>
                <a:ext cx="304800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9" name="Image 12" descr="/home/ahmed/Projects/ai_llm_slides/videos/machine-learning/02_linear-regression-classification-MSSE/recreated_pptx/build/components/assets/Xv1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64808" y="1650238"/>
                <a:ext cx="304800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0" name="Equation OMML" descr="X_2"/>
              <p:cNvSpPr txBox="1"/>
              <p:nvPr/>
            </p:nvSpPr>
            <p:spPr>
              <a:xfrm>
                <a:off x="7620508" y="1650238"/>
                <a:ext cx="320040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0" name="Image 13" descr="/home/ahmed/Projects/ai_llm_slides/videos/machine-learning/02_linear-regression-classification-MSSE/recreated_pptx/build/components/assets/Xv2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20508" y="1650238"/>
                <a:ext cx="320040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1" name="Equation OMML" descr="X_3"/>
              <p:cNvSpPr txBox="1"/>
              <p:nvPr/>
            </p:nvSpPr>
            <p:spPr>
              <a:xfrm>
                <a:off x="8738108" y="1650238"/>
                <a:ext cx="312420" cy="2712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14" descr="/home/ahmed/Projects/ai_llm_slides/videos/machine-learning/02_linear-regression-classification-MSSE/recreated_pptx/build/components/assets/Xv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38108" y="1650238"/>
                <a:ext cx="312420" cy="2712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2" name="Equation OMML" descr="X_4"/>
              <p:cNvSpPr txBox="1"/>
              <p:nvPr/>
            </p:nvSpPr>
            <p:spPr>
              <a:xfrm>
                <a:off x="9843008" y="1650238"/>
                <a:ext cx="321564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2" name="Image 15" descr="/home/ahmed/Projects/ai_llm_slides/videos/machine-learning/02_linear-regression-classification-MSSE/recreated_pptx/build/components/assets/Xv4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43008" y="1650238"/>
                <a:ext cx="321564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3" name="Equation OMML" descr="="/>
              <p:cNvSpPr txBox="1"/>
              <p:nvPr/>
            </p:nvSpPr>
            <p:spPr>
              <a:xfrm>
                <a:off x="67670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3" name="Image 16" descr="/home/ahmed/Projects/ai_llm_slides/videos/machine-learning/02_linear-regression-classification-MSSE/recreated_pptx/build/components/assets/veq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670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4" name="Equation OMML" descr="="/>
              <p:cNvSpPr txBox="1"/>
              <p:nvPr/>
            </p:nvSpPr>
            <p:spPr>
              <a:xfrm>
                <a:off x="79227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17" descr="/home/ahmed/Projects/ai_llm_slides/videos/machine-learning/02_linear-regression-classification-MSSE/recreated_pptx/build/components/assets/veq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227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5" name="Equation OMML" descr="="/>
              <p:cNvSpPr txBox="1"/>
              <p:nvPr/>
            </p:nvSpPr>
            <p:spPr>
              <a:xfrm>
                <a:off x="90403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5" name="Image 18" descr="/home/ahmed/Projects/ai_llm_slides/videos/machine-learning/02_linear-regression-classification-MSSE/recreated_pptx/build/components/assets/veq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403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46" name="Equation OMML" descr="="/>
              <p:cNvSpPr txBox="1"/>
              <p:nvPr/>
            </p:nvSpPr>
            <p:spPr>
              <a:xfrm>
                <a:off x="10145268" y="16951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19" descr="/home/ahmed/Projects/ai_llm_slides/videos/machine-learning/02_linear-regression-classification-MSSE/recreated_pptx/build/components/assets/veq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45268" y="1695196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47" name="Image 20" descr="/home/ahmed/Projects/ai_llm_slides/videos/machine-learning/02_linear-regression-classification-MSSE/recreated_pptx/build/components/assets/dlv_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5000" y="1485900"/>
            <a:ext cx="42977" cy="597103"/>
          </a:xfrm>
          <a:prstGeom prst="rect">
            <a:avLst/>
          </a:prstGeom>
        </p:spPr>
      </p:pic>
      <p:pic>
        <p:nvPicPr>
          <p:cNvPr id="48" name="Image 21" descr="/home/ahmed/Projects/ai_llm_slides/videos/machine-learning/02_linear-regression-classification-MSSE/recreated_pptx/build/components/assets/dlv_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40700" y="1485900"/>
            <a:ext cx="42977" cy="597103"/>
          </a:xfrm>
          <a:prstGeom prst="rect">
            <a:avLst/>
          </a:prstGeom>
        </p:spPr>
      </p:pic>
      <p:pic>
        <p:nvPicPr>
          <p:cNvPr id="49" name="Image 22" descr="/home/ahmed/Projects/ai_llm_slides/videos/machine-learning/02_linear-regression-classification-MSSE/recreated_pptx/build/components/assets/dlv_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1485900"/>
            <a:ext cx="42977" cy="597103"/>
          </a:xfrm>
          <a:prstGeom prst="rect">
            <a:avLst/>
          </a:prstGeom>
        </p:spPr>
      </p:pic>
      <p:pic>
        <p:nvPicPr>
          <p:cNvPr id="50" name="Image 23" descr="/home/ahmed/Projects/ai_llm_slides/videos/machine-learning/02_linear-regression-classification-MSSE/recreated_pptx/build/components/assets/dlv_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3200" y="1485900"/>
            <a:ext cx="42977" cy="597103"/>
          </a:xfrm>
          <a:prstGeom prst="rect">
            <a:avLst/>
          </a:prstGeom>
        </p:spPr>
      </p:pic>
      <p:pic>
        <p:nvPicPr>
          <p:cNvPr id="51" name="Image 24" descr="/home/ahmed/Projects/ai_llm_slides/videos/machine-learning/02_linear-regression-classification-MSSE/recreated_pptx/build/components/assets/dlv_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2650" y="1511300"/>
            <a:ext cx="42977" cy="608076"/>
          </a:xfrm>
          <a:prstGeom prst="rect">
            <a:avLst/>
          </a:prstGeom>
        </p:spPr>
      </p:pic>
      <p:pic>
        <p:nvPicPr>
          <p:cNvPr id="52" name="Image 25" descr="/home/ahmed/Projects/ai_llm_slides/videos/machine-learning/02_linear-regression-classification-MSSE/recreated_pptx/build/components/assets/dlv_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8350" y="1511300"/>
            <a:ext cx="42977" cy="608076"/>
          </a:xfrm>
          <a:prstGeom prst="rect">
            <a:avLst/>
          </a:prstGeom>
        </p:spPr>
      </p:pic>
      <p:pic>
        <p:nvPicPr>
          <p:cNvPr id="53" name="Image 26" descr="/home/ahmed/Projects/ai_llm_slides/videos/machine-learning/02_linear-regression-classification-MSSE/recreated_pptx/build/components/assets/dlv_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05950" y="1511300"/>
            <a:ext cx="42977" cy="608076"/>
          </a:xfrm>
          <a:prstGeom prst="rect">
            <a:avLst/>
          </a:prstGeom>
        </p:spPr>
      </p:pic>
      <p:pic>
        <p:nvPicPr>
          <p:cNvPr id="54" name="Image 27" descr="/home/ahmed/Projects/ai_llm_slides/videos/machine-learning/02_linear-regression-classification-MSSE/recreated_pptx/build/components/assets/dlv_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10850" y="1511300"/>
            <a:ext cx="42977" cy="60807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55" name="Equation OMML" descr="1"/>
              <p:cNvSpPr txBox="1"/>
              <p:nvPr/>
            </p:nvSpPr>
            <p:spPr>
              <a:xfrm>
                <a:off x="7074408" y="15120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5" name="Image 28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74408" y="15120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6" name="Equation OMML" descr="1"/>
              <p:cNvSpPr txBox="1"/>
              <p:nvPr/>
            </p:nvSpPr>
            <p:spPr>
              <a:xfrm>
                <a:off x="7074408" y="1829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29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74408" y="1829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7" name="Equation OMML" descr="2"/>
              <p:cNvSpPr txBox="1"/>
              <p:nvPr/>
            </p:nvSpPr>
            <p:spPr>
              <a:xfrm>
                <a:off x="8230108" y="15120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7" name="Image 30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230108" y="15120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8" name="Equation OMML" descr="2"/>
              <p:cNvSpPr txBox="1"/>
              <p:nvPr/>
            </p:nvSpPr>
            <p:spPr>
              <a:xfrm>
                <a:off x="8230108" y="18295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31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230108" y="18295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9" name="Equation OMML" descr="2"/>
              <p:cNvSpPr txBox="1"/>
              <p:nvPr/>
            </p:nvSpPr>
            <p:spPr>
              <a:xfrm>
                <a:off x="9347708" y="15120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32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47708" y="15120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1"/>
              <p:cNvSpPr txBox="1"/>
              <p:nvPr/>
            </p:nvSpPr>
            <p:spPr>
              <a:xfrm>
                <a:off x="9347708" y="1829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33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347708" y="1829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1"/>
              <p:cNvSpPr txBox="1"/>
              <p:nvPr/>
            </p:nvSpPr>
            <p:spPr>
              <a:xfrm>
                <a:off x="10452608" y="15120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34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452608" y="15120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2"/>
              <p:cNvSpPr txBox="1"/>
              <p:nvPr/>
            </p:nvSpPr>
            <p:spPr>
              <a:xfrm>
                <a:off x="10452608" y="18295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35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452608" y="18295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y_1=C_1"/>
              <p:cNvSpPr txBox="1"/>
              <p:nvPr/>
            </p:nvSpPr>
            <p:spPr>
              <a:xfrm>
                <a:off x="6464808" y="2197608"/>
                <a:ext cx="75742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36" descr="/home/ahmed/Projects/ai_llm_slides/videos/machine-learning/02_linear-regression-classification-MSSE/recreated_pptx/build/components/assets/y1c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64808" y="2197608"/>
                <a:ext cx="75742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y_2=C_2"/>
              <p:cNvSpPr txBox="1"/>
              <p:nvPr/>
            </p:nvSpPr>
            <p:spPr>
              <a:xfrm>
                <a:off x="7607808" y="2197608"/>
                <a:ext cx="77266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37" descr="/home/ahmed/Projects/ai_llm_slides/videos/machine-learning/02_linear-regression-classification-MSSE/recreated_pptx/build/components/assets/y2c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07808" y="2197608"/>
                <a:ext cx="77266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y_3=C_1"/>
              <p:cNvSpPr txBox="1"/>
              <p:nvPr/>
            </p:nvSpPr>
            <p:spPr>
              <a:xfrm>
                <a:off x="8725408" y="2197608"/>
                <a:ext cx="75742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38" descr="/home/ahmed/Projects/ai_llm_slides/videos/machine-learning/02_linear-regression-classification-MSSE/recreated_pptx/build/components/assets/y3c1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725408" y="2197608"/>
                <a:ext cx="75742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y_4=C_2"/>
              <p:cNvSpPr txBox="1"/>
              <p:nvPr/>
            </p:nvSpPr>
            <p:spPr>
              <a:xfrm>
                <a:off x="9843008" y="2197608"/>
                <a:ext cx="77266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  <m:r>
                        <a:rPr lang="en-US" i="1" smtClean="0" sz="20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39" descr="/home/ahmed/Projects/ai_llm_slides/videos/machine-learning/02_linear-regression-classification-MSSE/recreated_pptx/build/components/assets/y4c2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843008" y="2197608"/>
                <a:ext cx="772668" cy="245364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Text 25"/>
          <p:cNvSpPr/>
          <p:nvPr/>
        </p:nvSpPr>
        <p:spPr>
          <a:xfrm>
            <a:off x="5778500" y="275082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-30" kern="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68" name="Equation OMML" descr="X"/>
              <p:cNvSpPr txBox="1"/>
              <p:nvPr/>
            </p:nvSpPr>
            <p:spPr>
              <a:xfrm>
                <a:off x="7430008" y="2977387"/>
                <a:ext cx="233172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4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40" descr="/home/ahmed/Projects/ai_llm_slides/videos/machine-learning/02_linear-regression-classification-MSSE/recreated_pptx/build/components/assets/Xq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30008" y="2977387"/>
                <a:ext cx="233172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="/>
              <p:cNvSpPr txBox="1"/>
              <p:nvPr/>
            </p:nvSpPr>
            <p:spPr>
              <a:xfrm>
                <a:off x="7668768" y="302869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41" descr="/home/ahmed/Projects/ai_llm_slides/videos/machine-learning/02_linear-regression-classification-MSSE/recreated_pptx/build/components/assets/qeq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68768" y="3028696"/>
                <a:ext cx="192024" cy="100584"/>
              </a:xfrm>
              <a:prstGeom prst="rect">
                <a:avLst/>
              </a:prstGeom>
            </p:spPr>
          </p:pic>
        </mc:Fallback>
      </mc:AlternateContent>
      <p:pic>
        <p:nvPicPr>
          <p:cNvPr id="70" name="Image 42" descr="/home/ahmed/Projects/ai_llm_slides/videos/machine-learning/02_linear-regression-classification-MSSE/recreated_pptx/build/components/assets/dlv_l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880350" y="2813050"/>
            <a:ext cx="42977" cy="597103"/>
          </a:xfrm>
          <a:prstGeom prst="rect">
            <a:avLst/>
          </a:prstGeom>
        </p:spPr>
      </p:pic>
      <p:pic>
        <p:nvPicPr>
          <p:cNvPr id="71" name="Image 43" descr="/home/ahmed/Projects/ai_llm_slides/videos/machine-learning/02_linear-regression-classification-MSSE/recreated_pptx/build/components/assets/dlv_r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21650" y="2813050"/>
            <a:ext cx="42977" cy="608076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72" name="Equation OMML" descr="7"/>
              <p:cNvSpPr txBox="1"/>
              <p:nvPr/>
            </p:nvSpPr>
            <p:spPr>
              <a:xfrm>
                <a:off x="7944358" y="2858008"/>
                <a:ext cx="14935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44" descr="/home/ahmed/Projects/ai_llm_slides/videos/machine-learning/02_linear-regression-classification-MSSE/recreated_pptx/build/components/assets/q7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44358" y="2858008"/>
                <a:ext cx="14935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3"/>
              <p:cNvSpPr txBox="1"/>
              <p:nvPr/>
            </p:nvSpPr>
            <p:spPr>
              <a:xfrm>
                <a:off x="7918958" y="3175508"/>
                <a:ext cx="137160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45" descr="/home/ahmed/Projects/ai_llm_slides/videos/machine-learning/02_linear-regression-classification-MSSE/recreated_pptx/build/components/assets/q3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918958" y="3175508"/>
                <a:ext cx="137160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y="/>
              <p:cNvSpPr txBox="1"/>
              <p:nvPr/>
            </p:nvSpPr>
            <p:spPr>
              <a:xfrm>
                <a:off x="6718808" y="3633724"/>
                <a:ext cx="321564" cy="1722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46" descr="/home/ahmed/Projects/ai_llm_slides/videos/machine-learning/02_linear-regression-classification-MSSE/recreated_pptx/build/components/assets/yeq.png">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18808" y="3633724"/>
                <a:ext cx="321564" cy="1722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C_1"/>
              <p:cNvSpPr txBox="1"/>
              <p:nvPr/>
            </p:nvSpPr>
            <p:spPr>
              <a:xfrm>
                <a:off x="7137908" y="3581908"/>
                <a:ext cx="225552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47" descr="/home/ahmed/Projects/ai_llm_slides/videos/machine-learning/02_linear-regression-classification-MSSE/recreated_pptx/build/components/assets/cy1.png">    </p:cNvPr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37908" y="3581908"/>
                <a:ext cx="225552" cy="2118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or}"/>
              <p:cNvSpPr txBox="1"/>
              <p:nvPr/>
            </p:nvSpPr>
            <p:spPr>
              <a:xfrm>
                <a:off x="7417308" y="3629152"/>
                <a:ext cx="208788" cy="1310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or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48" descr="/home/ahmed/Projects/ai_llm_slides/videos/machine-learning/02_linear-regression-classification-MSSE/recreated_pptx/build/components/assets/orw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17308" y="3629152"/>
                <a:ext cx="208788" cy="1310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C_2"/>
              <p:cNvSpPr txBox="1"/>
              <p:nvPr/>
            </p:nvSpPr>
            <p:spPr>
              <a:xfrm>
                <a:off x="7861808" y="3581908"/>
                <a:ext cx="239268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49" descr="/home/ahmed/Projects/ai_llm_slides/videos/machine-learning/02_linear-regression-classification-MSSE/recreated_pptx/build/components/assets/cy2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861808" y="3581908"/>
                <a:ext cx="239268" cy="211836"/>
              </a:xfrm>
              <a:prstGeom prst="rect">
                <a:avLst/>
              </a:prstGeom>
            </p:spPr>
          </p:pic>
        </mc:Fallback>
      </mc:AlternateContent>
      <p:pic>
        <p:nvPicPr>
          <p:cNvPr id="78" name="Image 50" descr="/home/ahmed/Projects/ai_llm_slides/videos/machine-learning/02_linear-regression-classification-MSSE/recreated_pptx/build/components/assets/qqq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420608" y="3531108"/>
            <a:ext cx="384048" cy="222504"/>
          </a:xfrm>
          <a:prstGeom prst="rect">
            <a:avLst/>
          </a:prstGeom>
        </p:spPr>
      </p:pic>
      <p:sp>
        <p:nvSpPr>
          <p:cNvPr id="79" name="Shape 26"/>
          <p:cNvSpPr/>
          <p:nvPr/>
        </p:nvSpPr>
        <p:spPr>
          <a:xfrm>
            <a:off x="5848350" y="4044950"/>
            <a:ext cx="4495800" cy="1930400"/>
          </a:xfrm>
          <a:prstGeom prst="rect">
            <a:avLst/>
          </a:prstGeom>
          <a:solidFill>
            <a:srgbClr val="EDFDF2"/>
          </a:solidFill>
          <a:ln w="12700">
            <a:solidFill>
              <a:srgbClr val="B2BEBA"/>
            </a:solidFill>
            <a:prstDash val="solid"/>
          </a:ln>
        </p:spPr>
      </p:sp>
      <p:sp>
        <p:nvSpPr>
          <p:cNvPr id="80" name="Text 27"/>
          <p:cNvSpPr/>
          <p:nvPr/>
        </p:nvSpPr>
        <p:spPr>
          <a:xfrm>
            <a:off x="6013450" y="3855720"/>
            <a:ext cx="419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obtain  </a:t>
            </a:r>
            <a:pPr algn="l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that satisfies</a:t>
            </a:r>
            <a:endParaRPr lang="en-US" sz="1800" dirty="0"/>
          </a:p>
        </p:txBody>
      </p:sp>
      <p:sp>
        <p:nvSpPr>
          <p:cNvPr id="81" name="Shape 28"/>
          <p:cNvSpPr/>
          <p:nvPr/>
        </p:nvSpPr>
        <p:spPr>
          <a:xfrm>
            <a:off x="8153400" y="4375150"/>
            <a:ext cx="30480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</p:sp>
      <p:sp>
        <p:nvSpPr>
          <p:cNvPr id="82" name="Shape 29"/>
          <p:cNvSpPr/>
          <p:nvPr/>
        </p:nvSpPr>
        <p:spPr>
          <a:xfrm>
            <a:off x="5854700" y="4425950"/>
            <a:ext cx="4483100" cy="0"/>
          </a:xfrm>
          <a:prstGeom prst="line">
            <a:avLst/>
          </a:prstGeom>
          <a:noFill/>
          <a:ln w="9525">
            <a:solidFill>
              <a:srgbClr val="96A79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3" name="Equation OMML" descr="x_1"/>
              <p:cNvSpPr txBox="1"/>
              <p:nvPr/>
            </p:nvSpPr>
            <p:spPr>
              <a:xfrm>
                <a:off x="6337808" y="4643883"/>
                <a:ext cx="21336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51" descr="/home/ahmed/Projects/ai_llm_slides/videos/machine-learning/02_linear-regression-classification-MSSE/recreated_pptx/build/components/assets/x1m.png">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337808" y="4643883"/>
                <a:ext cx="21336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\Rightarrow"/>
              <p:cNvSpPr txBox="1"/>
              <p:nvPr/>
            </p:nvSpPr>
            <p:spPr>
              <a:xfrm>
                <a:off x="6814058" y="453237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52" descr="/home/ahmed/Projects/ai_llm_slides/videos/machine-learning/02_linear-regression-classification-MSSE/recreated_pptx/build/components/assets/arrm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14058" y="453237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1"/>
              <p:cNvSpPr txBox="1"/>
              <p:nvPr/>
            </p:nvSpPr>
            <p:spPr>
              <a:xfrm>
                <a:off x="7163308" y="45473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53" descr="/home/ahmed/Projects/ai_llm_slides/videos/machine-learning/02_linear-regression-classification-MSSE/recreated_pptx/build/components/assets/c1r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163308" y="45473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1"/>
              <p:cNvSpPr txBox="1"/>
              <p:nvPr/>
            </p:nvSpPr>
            <p:spPr>
              <a:xfrm>
                <a:off x="7544308" y="45473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54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44308" y="45473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1"/>
              <p:cNvSpPr txBox="1"/>
              <p:nvPr/>
            </p:nvSpPr>
            <p:spPr>
              <a:xfrm>
                <a:off x="7938008" y="45473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55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938008" y="45473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x_2"/>
              <p:cNvSpPr txBox="1"/>
              <p:nvPr/>
            </p:nvSpPr>
            <p:spPr>
              <a:xfrm>
                <a:off x="6337808" y="4961383"/>
                <a:ext cx="228600" cy="1752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56" descr="/home/ahmed/Projects/ai_llm_slides/videos/machine-learning/02_linear-regression-classification-MSSE/recreated_pptx/build/components/assets/x2m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37808" y="4961383"/>
                <a:ext cx="228600" cy="1752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\Rightarrow"/>
              <p:cNvSpPr txBox="1"/>
              <p:nvPr/>
            </p:nvSpPr>
            <p:spPr>
              <a:xfrm>
                <a:off x="6795008" y="488162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57" descr="/home/ahmed/Projects/ai_llm_slides/videos/machine-learning/02_linear-regression-classification-MSSE/recreated_pptx/build/components/assets/arrm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795008" y="488162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1"/>
              <p:cNvSpPr txBox="1"/>
              <p:nvPr/>
            </p:nvSpPr>
            <p:spPr>
              <a:xfrm>
                <a:off x="7163308" y="48648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58" descr="/home/ahmed/Projects/ai_llm_slides/videos/machine-learning/02_linear-regression-classification-MSSE/recreated_pptx/build/components/assets/c1r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63308" y="48648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2"/>
              <p:cNvSpPr txBox="1"/>
              <p:nvPr/>
            </p:nvSpPr>
            <p:spPr>
              <a:xfrm>
                <a:off x="7518908" y="48648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59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518908" y="48648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2"/>
              <p:cNvSpPr txBox="1"/>
              <p:nvPr/>
            </p:nvSpPr>
            <p:spPr>
              <a:xfrm>
                <a:off x="7912608" y="48648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60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12608" y="486486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x_3"/>
              <p:cNvSpPr txBox="1"/>
              <p:nvPr/>
            </p:nvSpPr>
            <p:spPr>
              <a:xfrm>
                <a:off x="6337808" y="5285233"/>
                <a:ext cx="219456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61" descr="/home/ahmed/Projects/ai_llm_slides/videos/machine-learning/02_linear-regression-classification-MSSE/recreated_pptx/build/components/assets/x3m.png">    </p:cNvPr>
              <p:cNvPicPr>
                <a:picLocks noChangeAspect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337808" y="5285233"/>
                <a:ext cx="219456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Rightarrow"/>
              <p:cNvSpPr txBox="1"/>
              <p:nvPr/>
            </p:nvSpPr>
            <p:spPr>
              <a:xfrm>
                <a:off x="6807708" y="524357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62" descr="/home/ahmed/Projects/ai_llm_slides/videos/machine-learning/02_linear-regression-classification-MSSE/recreated_pptx/build/components/assets/arrm.png">    </p:cNvPr>
              <p:cNvPicPr>
                <a:picLocks noChangeAspect="1"/>
              </p:cNvPicPr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807708" y="524357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1"/>
              <p:cNvSpPr txBox="1"/>
              <p:nvPr/>
            </p:nvSpPr>
            <p:spPr>
              <a:xfrm>
                <a:off x="7163308" y="518871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63" descr="/home/ahmed/Projects/ai_llm_slides/videos/machine-learning/02_linear-regression-classification-MSSE/recreated_pptx/build/components/assets/c1r.png">    </p:cNvPr>
              <p:cNvPicPr>
                <a:picLocks noChangeAspect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163308" y="518871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2"/>
              <p:cNvSpPr txBox="1"/>
              <p:nvPr/>
            </p:nvSpPr>
            <p:spPr>
              <a:xfrm>
                <a:off x="7518908" y="518871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64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18908" y="5188711"/>
                <a:ext cx="15240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1"/>
              <p:cNvSpPr txBox="1"/>
              <p:nvPr/>
            </p:nvSpPr>
            <p:spPr>
              <a:xfrm>
                <a:off x="7925308" y="518871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65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925308" y="518871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x_4"/>
              <p:cNvSpPr txBox="1"/>
              <p:nvPr/>
            </p:nvSpPr>
            <p:spPr>
              <a:xfrm>
                <a:off x="6337808" y="5609082"/>
                <a:ext cx="227076" cy="1737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66" descr="/home/ahmed/Projects/ai_llm_slides/videos/machine-learning/02_linear-regression-classification-MSSE/recreated_pptx/build/components/assets/x4m.png">    </p:cNvPr>
              <p:cNvPicPr>
                <a:picLocks noChangeAspect="1"/>
              </p:cNvPicPr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337808" y="5609082"/>
                <a:ext cx="227076" cy="1737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Rightarrow"/>
              <p:cNvSpPr txBox="1"/>
              <p:nvPr/>
            </p:nvSpPr>
            <p:spPr>
              <a:xfrm>
                <a:off x="6795008" y="5611876"/>
                <a:ext cx="249936" cy="1920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67" descr="/home/ahmed/Projects/ai_llm_slides/videos/machine-learning/02_linear-regression-classification-MSSE/recreated_pptx/build/components/assets/arrm.png">    </p:cNvPr>
              <p:cNvPicPr>
                <a:picLocks noChangeAspect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95008" y="5611876"/>
                <a:ext cx="249936" cy="1920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1"/>
              <p:cNvSpPr txBox="1"/>
              <p:nvPr/>
            </p:nvSpPr>
            <p:spPr>
              <a:xfrm>
                <a:off x="7163308" y="5512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68" descr="/home/ahmed/Projects/ai_llm_slides/videos/machine-learning/02_linear-regression-classification-MSSE/recreated_pptx/build/components/assets/c1r.png">    </p:cNvPr>
              <p:cNvPicPr>
                <a:picLocks noChangeAspect="1"/>
              </p:cNvPicPr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63308" y="5512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1"/>
              <p:cNvSpPr txBox="1"/>
              <p:nvPr/>
            </p:nvSpPr>
            <p:spPr>
              <a:xfrm>
                <a:off x="7544308" y="5512561"/>
                <a:ext cx="10668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69" descr="/home/ahmed/Projects/ai_llm_slides/videos/machine-learning/02_linear-regression-classification-MSSE/recreated_pptx/build/components/assets/nb1.png">    </p:cNvPr>
              <p:cNvPicPr>
                <a:picLocks noChangeAspect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544308" y="5512561"/>
                <a:ext cx="106680" cy="2209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2"/>
              <p:cNvSpPr txBox="1"/>
              <p:nvPr/>
            </p:nvSpPr>
            <p:spPr>
              <a:xfrm>
                <a:off x="7887208" y="5512561"/>
                <a:ext cx="152400" cy="2209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70" descr="/home/ahmed/Projects/ai_llm_slides/videos/machine-learning/02_linear-regression-classification-MSSE/recreated_pptx/build/components/assets/nb2.png">    </p:cNvPr>
              <p:cNvPicPr>
                <a:picLocks noChangeAspect="1"/>
              </p:cNvPicPr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87208" y="5512561"/>
                <a:ext cx="152400" cy="220980"/>
              </a:xfrm>
              <a:prstGeom prst="rect">
                <a:avLst/>
              </a:prstGeom>
            </p:spPr>
          </p:pic>
        </mc:Fallback>
      </mc:AlternateContent>
      <p:sp>
        <p:nvSpPr>
          <p:cNvPr id="103" name="Shape 30"/>
          <p:cNvSpPr/>
          <p:nvPr/>
        </p:nvSpPr>
        <p:spPr>
          <a:xfrm>
            <a:off x="709295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31"/>
          <p:cNvSpPr/>
          <p:nvPr/>
        </p:nvSpPr>
        <p:spPr>
          <a:xfrm>
            <a:off x="807085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105" name="Image 71" descr="/home/ahmed/Projects/ai_llm_slides/videos/machine-learning/02_linear-regression-classification-MSSE/recreated_pptx/build/components/assets/dlw_l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248650" y="4768850"/>
            <a:ext cx="42977" cy="761695"/>
          </a:xfrm>
          <a:prstGeom prst="rect">
            <a:avLst/>
          </a:prstGeom>
        </p:spPr>
      </p:pic>
      <p:pic>
        <p:nvPicPr>
          <p:cNvPr id="106" name="Image 72" descr="/home/ahmed/Projects/ai_llm_slides/videos/machine-learning/02_linear-regression-classification-MSSE/recreated_pptx/build/components/assets/dlw_r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616950" y="4775200"/>
            <a:ext cx="42977" cy="769925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07" name="Equation OMML" descr="W"/>
              <p:cNvSpPr txBox="1"/>
              <p:nvPr/>
            </p:nvSpPr>
            <p:spPr>
              <a:xfrm>
                <a:off x="8344408" y="5077207"/>
                <a:ext cx="21488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 xml:space="preserve"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7" name="Image 73" descr="/home/ahmed/Projects/ai_llm_slides/videos/machine-learning/02_linear-regression-classification-MSSE/recreated_pptx/build/components/assets/wr.png">    </p:cNvPr>
              <p:cNvPicPr>
                <a:picLocks noChangeAspect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344408" y="5077207"/>
                <a:ext cx="21488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8" name="Equation OMML" descr="="/>
              <p:cNvSpPr txBox="1"/>
              <p:nvPr/>
            </p:nvSpPr>
            <p:spPr>
              <a:xfrm>
                <a:off x="8735568" y="5079746"/>
                <a:ext cx="192024" cy="1005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8" name="Image 74" descr="/home/ahmed/Projects/ai_llm_slides/videos/machine-learning/02_linear-regression-classification-MSSE/recreated_pptx/build/components/assets/veq.png">    </p:cNvPr>
              <p:cNvPicPr>
                <a:picLocks noChangeAspect="1"/>
              </p:cNvPicPr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35568" y="5079746"/>
                <a:ext cx="192024" cy="100584"/>
              </a:xfrm>
              <a:prstGeom prst="rect">
                <a:avLst/>
              </a:prstGeom>
            </p:spPr>
          </p:pic>
        </mc:Fallback>
      </mc:AlternateContent>
      <p:sp>
        <p:nvSpPr>
          <p:cNvPr id="109" name="Shape 32"/>
          <p:cNvSpPr/>
          <p:nvPr/>
        </p:nvSpPr>
        <p:spPr>
          <a:xfrm>
            <a:off x="902335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33"/>
          <p:cNvSpPr/>
          <p:nvPr/>
        </p:nvSpPr>
        <p:spPr>
          <a:xfrm>
            <a:off x="9563100" y="4413250"/>
            <a:ext cx="0" cy="138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111" name="Image 75" descr="/home/ahmed/Projects/ai_llm_slides/videos/machine-learning/02_linear-regression-classification-MSSE/recreated_pptx/build/components/assets/gt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182608" y="4607051"/>
            <a:ext cx="173736" cy="173736"/>
          </a:xfrm>
          <a:prstGeom prst="rect">
            <a:avLst/>
          </a:prstGeom>
        </p:spPr>
      </p:pic>
      <p:pic>
        <p:nvPicPr>
          <p:cNvPr id="112" name="Image 76" descr="/home/ahmed/Projects/ai_llm_slides/videos/machine-learning/02_linear-regression-classification-MSSE/recreated_pptx/build/components/assets/zr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373108" y="4567427"/>
            <a:ext cx="143256" cy="210312"/>
          </a:xfrm>
          <a:prstGeom prst="rect">
            <a:avLst/>
          </a:prstGeom>
        </p:spPr>
      </p:pic>
      <p:pic>
        <p:nvPicPr>
          <p:cNvPr id="113" name="Image 77" descr="/home/ahmed/Projects/ai_llm_slides/videos/machine-learning/02_linear-regression-classification-MSSE/recreated_pptx/build/components/assets/lt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131808" y="4930901"/>
            <a:ext cx="173736" cy="173736"/>
          </a:xfrm>
          <a:prstGeom prst="rect">
            <a:avLst/>
          </a:prstGeom>
        </p:spPr>
      </p:pic>
      <p:pic>
        <p:nvPicPr>
          <p:cNvPr id="114" name="Image 78" descr="/home/ahmed/Projects/ai_llm_slides/videos/machine-learning/02_linear-regression-classification-MSSE/recreated_pptx/build/components/assets/zb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335008" y="4891277"/>
            <a:ext cx="143256" cy="210312"/>
          </a:xfrm>
          <a:prstGeom prst="rect">
            <a:avLst/>
          </a:prstGeom>
        </p:spPr>
      </p:pic>
      <p:pic>
        <p:nvPicPr>
          <p:cNvPr id="115" name="Image 79" descr="/home/ahmed/Projects/ai_llm_slides/videos/machine-learning/02_linear-regression-classification-MSSE/recreated_pptx/build/components/assets/gt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9131808" y="5261101"/>
            <a:ext cx="173736" cy="173736"/>
          </a:xfrm>
          <a:prstGeom prst="rect">
            <a:avLst/>
          </a:prstGeom>
        </p:spPr>
      </p:pic>
      <p:pic>
        <p:nvPicPr>
          <p:cNvPr id="116" name="Image 80" descr="/home/ahmed/Projects/ai_llm_slides/videos/machine-learning/02_linear-regression-classification-MSSE/recreated_pptx/build/components/assets/zr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335008" y="5221477"/>
            <a:ext cx="143256" cy="210312"/>
          </a:xfrm>
          <a:prstGeom prst="rect">
            <a:avLst/>
          </a:prstGeom>
        </p:spPr>
      </p:pic>
      <p:pic>
        <p:nvPicPr>
          <p:cNvPr id="117" name="Image 81" descr="/home/ahmed/Projects/ai_llm_slides/videos/machine-learning/02_linear-regression-classification-MSSE/recreated_pptx/build/components/assets/lt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9131808" y="5591301"/>
            <a:ext cx="173736" cy="173736"/>
          </a:xfrm>
          <a:prstGeom prst="rect">
            <a:avLst/>
          </a:prstGeom>
        </p:spPr>
      </p:pic>
      <p:pic>
        <p:nvPicPr>
          <p:cNvPr id="118" name="Image 82" descr="/home/ahmed/Projects/ai_llm_slides/videos/machine-learning/02_linear-regression-classification-MSSE/recreated_pptx/build/components/assets/zb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9335008" y="5551677"/>
            <a:ext cx="143256" cy="210312"/>
          </a:xfrm>
          <a:prstGeom prst="rect">
            <a:avLst/>
          </a:prstGeom>
        </p:spPr>
      </p:pic>
      <p:sp>
        <p:nvSpPr>
          <p:cNvPr id="119" name="Shape 34"/>
          <p:cNvSpPr/>
          <p:nvPr/>
        </p:nvSpPr>
        <p:spPr>
          <a:xfrm>
            <a:off x="5403850" y="6242050"/>
            <a:ext cx="6045200" cy="425450"/>
          </a:xfrm>
          <a:prstGeom prst="rect">
            <a:avLst/>
          </a:prstGeom>
          <a:solidFill>
            <a:srgbClr val="FAFB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0" name="Text 35"/>
          <p:cNvSpPr/>
          <p:nvPr/>
        </p:nvSpPr>
        <p:spPr>
          <a:xfrm>
            <a:off x="5346700" y="6014720"/>
            <a:ext cx="604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deal </a:t>
            </a:r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“Mathematically”</a:t>
            </a:r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“&lt;” and “&gt;” ???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58900" y="1358900"/>
            <a:ext cx="3441700" cy="1574800"/>
          </a:xfrm>
          <a:prstGeom prst="rect">
            <a:avLst/>
          </a:prstGeom>
          <a:solidFill>
            <a:srgbClr val="ECFDFA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0" y="1231900"/>
            <a:ext cx="5041900" cy="1739900"/>
          </a:xfrm>
          <a:prstGeom prst="rect">
            <a:avLst/>
          </a:prstGeom>
          <a:solidFill>
            <a:srgbClr val="ECFDFA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0" y="3594100"/>
            <a:ext cx="5041900" cy="1892300"/>
          </a:xfrm>
          <a:prstGeom prst="rect">
            <a:avLst/>
          </a:prstGeom>
          <a:solidFill>
            <a:srgbClr val="ECFDFA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3594100"/>
            <a:ext cx="4622800" cy="2184400"/>
          </a:xfrm>
          <a:prstGeom prst="rect">
            <a:avLst/>
          </a:prstGeom>
          <a:solidFill>
            <a:srgbClr val="ECFDFA"/>
          </a:solidFill>
          <a:ln/>
        </p:spPr>
      </p:sp>
      <p:sp>
        <p:nvSpPr>
          <p:cNvPr id="9" name="Shape 7"/>
          <p:cNvSpPr/>
          <p:nvPr/>
        </p:nvSpPr>
        <p:spPr>
          <a:xfrm>
            <a:off x="2171700" y="5918200"/>
            <a:ext cx="2882900" cy="723900"/>
          </a:xfrm>
          <a:prstGeom prst="rect">
            <a:avLst/>
          </a:prstGeom>
          <a:solidFill>
            <a:srgbClr val="FBFFDA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96100" y="6057900"/>
            <a:ext cx="2794000" cy="469900"/>
          </a:xfrm>
          <a:prstGeom prst="rect">
            <a:avLst/>
          </a:prstGeom>
          <a:solidFill>
            <a:srgbClr val="FBFFDA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6800" y="4673600"/>
            <a:ext cx="4152900" cy="0"/>
          </a:xfrm>
          <a:prstGeom prst="line">
            <a:avLst/>
          </a:prstGeom>
          <a:noFill/>
          <a:ln w="31750">
            <a:solidFill>
              <a:srgbClr val="009900"/>
            </a:solidFill>
            <a:prstDash val="solid"/>
          </a:ln>
        </p:spPr>
      </p:sp>
      <p:pic>
        <p:nvPicPr>
          <p:cNvPr id="12" name="Image 0" descr="/home/ahmed/Projects/ai_llm_slides/videos/machine-learning/02_linear-regression-classification-MSSE/recreated_pptx/build/assets/slide033_eq/p1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940" y="1388364"/>
            <a:ext cx="3314700" cy="1405128"/>
          </a:xfrm>
          <a:prstGeom prst="rect">
            <a:avLst/>
          </a:prstGeom>
        </p:spPr>
      </p:pic>
      <p:pic>
        <p:nvPicPr>
          <p:cNvPr id="13" name="Image 1" descr="/home/ahmed/Projects/ai_llm_slides/videos/machine-learning/02_linear-regression-classification-MSSE/recreated_pptx/build/assets/slide033_eq/p2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1509776"/>
            <a:ext cx="4341876" cy="1383792"/>
          </a:xfrm>
          <a:prstGeom prst="rect">
            <a:avLst/>
          </a:prstGeom>
        </p:spPr>
      </p:pic>
      <p:pic>
        <p:nvPicPr>
          <p:cNvPr id="14" name="Image 2" descr="/home/ahmed/Projects/ai_llm_slides/videos/machine-learning/02_linear-regression-classification-MSSE/recreated_pptx/build/assets/slide033_eq/p3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740" y="3910076"/>
            <a:ext cx="4229100" cy="1397508"/>
          </a:xfrm>
          <a:prstGeom prst="rect">
            <a:avLst/>
          </a:prstGeom>
        </p:spPr>
      </p:pic>
      <p:pic>
        <p:nvPicPr>
          <p:cNvPr id="15" name="Image 3" descr="/home/ahmed/Projects/ai_llm_slides/videos/machine-learning/02_linear-regression-classification-MSSE/recreated_pptx/build/assets/slide033_eq/p4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332" y="3876548"/>
            <a:ext cx="3878580" cy="1367028"/>
          </a:xfrm>
          <a:prstGeom prst="rect">
            <a:avLst/>
          </a:prstGeom>
        </p:spPr>
      </p:pic>
      <p:pic>
        <p:nvPicPr>
          <p:cNvPr id="16" name="Image 4" descr="/home/ahmed/Projects/ai_llm_slides/videos/machine-learning/02_linear-regression-classification-MSSE/recreated_pptx/build/assets/slide033_eq/zw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148" y="5346700"/>
            <a:ext cx="2191512" cy="271272"/>
          </a:xfrm>
          <a:prstGeom prst="rect">
            <a:avLst/>
          </a:prstGeom>
        </p:spPr>
      </p:pic>
      <p:pic>
        <p:nvPicPr>
          <p:cNvPr id="17" name="Image 5" descr="/home/ahmed/Projects/ai_llm_slides/videos/machine-learning/02_linear-regression-classification-MSSE/recreated_pptx/build/assets/slide033_eq/bl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128" y="6266688"/>
            <a:ext cx="1106424" cy="249936"/>
          </a:xfrm>
          <a:prstGeom prst="rect">
            <a:avLst/>
          </a:prstGeom>
        </p:spPr>
      </p:pic>
      <p:pic>
        <p:nvPicPr>
          <p:cNvPr id="18" name="Image 6" descr="/home/ahmed/Projects/ai_llm_slides/videos/machine-learning/02_linear-regression-classification-MSSE/recreated_pptx/build/assets/slide033_eq/brfor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896" y="6134608"/>
            <a:ext cx="2354580" cy="312420"/>
          </a:xfrm>
          <a:prstGeom prst="rect">
            <a:avLst/>
          </a:prstGeom>
        </p:spPr>
      </p:pic>
      <p:pic>
        <p:nvPicPr>
          <p:cNvPr id="19" name="Image 7" descr="/home/ahmed/Projects/ai_llm_slides/videos/machine-learning/02_linear-regression-classification-MSSE/recreated_pptx/build/assets/slide033_eq/brace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2108" y="1625600"/>
            <a:ext cx="355600" cy="573024"/>
          </a:xfrm>
          <a:prstGeom prst="rect">
            <a:avLst/>
          </a:prstGeom>
        </p:spPr>
      </p:pic>
      <p:pic>
        <p:nvPicPr>
          <p:cNvPr id="20" name="Image 8" descr="/home/ahmed/Projects/ai_llm_slides/videos/machine-learning/02_linear-regression-classification-MSSE/recreated_pptx/build/assets/slide033_eq/brace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5984" y="2325624"/>
            <a:ext cx="279400" cy="583692"/>
          </a:xfrm>
          <a:prstGeom prst="rect">
            <a:avLst/>
          </a:prstGeom>
        </p:spPr>
      </p:pic>
      <p:pic>
        <p:nvPicPr>
          <p:cNvPr id="21" name="Image 9" descr="/home/ahmed/Projects/ai_llm_slides/videos/machine-learning/02_linear-regression-classification-MSSE/recreated_pptx/build/assets/slide033_eq/a1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3132" y="1894840"/>
            <a:ext cx="1048512" cy="473964"/>
          </a:xfrm>
          <a:prstGeom prst="rect">
            <a:avLst/>
          </a:prstGeom>
        </p:spPr>
      </p:pic>
      <p:pic>
        <p:nvPicPr>
          <p:cNvPr id="22" name="Image 10" descr="/home/ahmed/Projects/ai_llm_slides/videos/machine-learning/02_linear-regression-classification-MSSE/recreated_pptx/build/assets/slide033_eq/a2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0232" y="3023108"/>
            <a:ext cx="324612" cy="534924"/>
          </a:xfrm>
          <a:prstGeom prst="rect">
            <a:avLst/>
          </a:prstGeom>
        </p:spPr>
      </p:pic>
      <p:pic>
        <p:nvPicPr>
          <p:cNvPr id="23" name="Image 11" descr="/home/ahmed/Projects/ai_llm_slides/videos/machine-learning/02_linear-regression-classification-MSSE/recreated_pptx/build/assets/slide033_eq/a3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5968" y="4387088"/>
            <a:ext cx="774192" cy="417576"/>
          </a:xfrm>
          <a:prstGeom prst="rect">
            <a:avLst/>
          </a:prstGeom>
        </p:spPr>
      </p:pic>
      <p:pic>
        <p:nvPicPr>
          <p:cNvPr id="24" name="Image 12" descr="/home/ahmed/Projects/ai_llm_slides/videos/machine-learning/02_linear-regression-classification-MSSE/recreated_pptx/build/assets/slide033_eq/a4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50332" y="6088888"/>
            <a:ext cx="891540" cy="391668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4597400" y="6667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 Example</a:t>
            </a:r>
            <a:endParaRPr lang="en-US" sz="2500" dirty="0"/>
          </a:p>
        </p:txBody>
      </p:sp>
      <p:sp>
        <p:nvSpPr>
          <p:cNvPr id="26" name="Text 11"/>
          <p:cNvSpPr/>
          <p:nvPr/>
        </p:nvSpPr>
        <p:spPr>
          <a:xfrm>
            <a:off x="6438900" y="1244600"/>
            <a:ext cx="431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Rearrange vecotrs (group vectors in same class)</a:t>
            </a:r>
            <a:endParaRPr lang="en-US" sz="1450" dirty="0"/>
          </a:p>
        </p:txBody>
      </p:sp>
      <p:sp>
        <p:nvSpPr>
          <p:cNvPr id="27" name="Shape 12"/>
          <p:cNvSpPr/>
          <p:nvPr/>
        </p:nvSpPr>
        <p:spPr>
          <a:xfrm>
            <a:off x="6464300" y="1504950"/>
            <a:ext cx="4114800" cy="0"/>
          </a:xfrm>
          <a:prstGeom prst="line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28" name="Text 13"/>
          <p:cNvSpPr/>
          <p:nvPr/>
        </p:nvSpPr>
        <p:spPr>
          <a:xfrm>
            <a:off x="6451600" y="36068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vectors belong to </a:t>
            </a:r>
            <a:pPr algn="l" indent="0" marL="0">
              <a:buNone/>
            </a:pPr>
            <a:r>
              <a:rPr lang="en-US" sz="16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</a:t>
            </a:r>
            <a:pPr algn="l" indent="0" marL="0">
              <a:buNone/>
            </a:pPr>
            <a:r>
              <a:rPr lang="en-US" sz="16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with </a:t>
            </a:r>
            <a:pPr algn="l" indent="0" marL="0">
              <a:buNone/>
            </a:pPr>
            <a:r>
              <a:rPr lang="en-US" sz="16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650" dirty="0"/>
          </a:p>
        </p:txBody>
      </p:sp>
      <p:sp>
        <p:nvSpPr>
          <p:cNvPr id="29" name="Shape 14"/>
          <p:cNvSpPr/>
          <p:nvPr/>
        </p:nvSpPr>
        <p:spPr>
          <a:xfrm>
            <a:off x="6477000" y="3841750"/>
            <a:ext cx="3657600" cy="0"/>
          </a:xfrm>
          <a:prstGeom prst="line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30" name="Text 15"/>
          <p:cNvSpPr/>
          <p:nvPr/>
        </p:nvSpPr>
        <p:spPr>
          <a:xfrm>
            <a:off x="965200" y="36068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8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</a:t>
            </a:r>
            <a:pPr algn="l" indent="0" marL="0">
              <a:buNone/>
            </a:pPr>
            <a:r>
              <a:rPr lang="en-US" sz="14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</a:t>
            </a:r>
            <a:pPr algn="l" indent="0" marL="0">
              <a:buNone/>
            </a:pPr>
            <a:r>
              <a:rPr lang="en-US" sz="148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algn="l" indent="0" marL="0">
              <a:buNone/>
            </a:pPr>
            <a:r>
              <a:rPr lang="en-US" sz="14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48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(may use any </a:t>
            </a:r>
            <a:pPr algn="l" indent="0" marL="0">
              <a:buNone/>
            </a:pPr>
            <a:r>
              <a:rPr lang="en-US" sz="148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pPr algn="l" indent="0" marL="0">
              <a:buNone/>
            </a:pPr>
            <a:r>
              <a:rPr lang="en-US" sz="148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value)</a:t>
            </a:r>
            <a:endParaRPr lang="en-US" sz="1480" dirty="0"/>
          </a:p>
        </p:txBody>
      </p:sp>
      <p:sp>
        <p:nvSpPr>
          <p:cNvPr id="31" name="Shape 16"/>
          <p:cNvSpPr/>
          <p:nvPr/>
        </p:nvSpPr>
        <p:spPr>
          <a:xfrm>
            <a:off x="990600" y="3816350"/>
            <a:ext cx="4457700" cy="0"/>
          </a:xfrm>
          <a:prstGeom prst="line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32" name="Text 17"/>
          <p:cNvSpPr/>
          <p:nvPr/>
        </p:nvSpPr>
        <p:spPr>
          <a:xfrm>
            <a:off x="2197100" y="5943600"/>
            <a:ext cx="2832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equation is in the form: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270000"/>
            <a:ext cx="1168400" cy="1447800"/>
          </a:xfrm>
          <a:prstGeom prst="rect">
            <a:avLst/>
          </a:prstGeom>
          <a:solidFill>
            <a:srgbClr val="ECFDF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270000"/>
            <a:ext cx="2628900" cy="1447800"/>
          </a:xfrm>
          <a:prstGeom prst="rect">
            <a:avLst/>
          </a:prstGeom>
          <a:solidFill>
            <a:srgbClr val="ECFDF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21300" y="1270000"/>
            <a:ext cx="2794000" cy="1447800"/>
          </a:xfrm>
          <a:prstGeom prst="rect">
            <a:avLst/>
          </a:prstGeom>
          <a:solidFill>
            <a:srgbClr val="ECFDF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7600" y="1257300"/>
            <a:ext cx="2362200" cy="1435100"/>
          </a:xfrm>
          <a:prstGeom prst="rect">
            <a:avLst/>
          </a:prstGeom>
          <a:solidFill>
            <a:srgbClr val="ECFDF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59100"/>
            <a:ext cx="4216400" cy="1244600"/>
          </a:xfrm>
          <a:prstGeom prst="rect">
            <a:avLst/>
          </a:prstGeom>
          <a:solidFill>
            <a:srgbClr val="ECFDF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53100" y="2984500"/>
            <a:ext cx="4127500" cy="1231900"/>
          </a:xfrm>
          <a:prstGeom prst="rect">
            <a:avLst/>
          </a:prstGeom>
          <a:solidFill>
            <a:srgbClr val="DAFFE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2984500"/>
            <a:ext cx="1155700" cy="1206500"/>
          </a:xfrm>
          <a:prstGeom prst="rect">
            <a:avLst/>
          </a:prstGeom>
          <a:solidFill>
            <a:srgbClr val="ECFDF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9800" y="4406900"/>
            <a:ext cx="1155700" cy="419100"/>
          </a:xfrm>
          <a:prstGeom prst="rect">
            <a:avLst/>
          </a:prstGeom>
          <a:solidFill>
            <a:srgbClr val="ECFDFA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17800" y="4419600"/>
            <a:ext cx="2247900" cy="431800"/>
          </a:xfrm>
          <a:prstGeom prst="rect">
            <a:avLst/>
          </a:prstGeom>
          <a:solidFill>
            <a:srgbClr val="FBFFDA"/>
          </a:solidFill>
          <a:ln w="9525">
            <a:solidFill>
              <a:srgbClr val="CCCC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7200" y="4533900"/>
            <a:ext cx="4445000" cy="223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5" name="Image 0" descr="/home/ahmed/Projects/ai_llm_slides/videos/machine-learning/02_linear-regression-classification-MSSE/recreated_pptx/build/assets/slide034_eq5/y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362456"/>
            <a:ext cx="819912" cy="1263396"/>
          </a:xfrm>
          <a:prstGeom prst="rect">
            <a:avLst/>
          </a:prstGeom>
        </p:spPr>
      </p:pic>
      <p:pic>
        <p:nvPicPr>
          <p:cNvPr id="16" name="Image 1" descr="/home/ahmed/Projects/ai_llm_slides/videos/machine-learning/02_linear-regression-classification-MSSE/recreated_pptx/build/assets/slide034_eq5/zm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1336548"/>
            <a:ext cx="2528316" cy="1338072"/>
          </a:xfrm>
          <a:prstGeom prst="rect">
            <a:avLst/>
          </a:prstGeom>
        </p:spPr>
      </p:pic>
      <p:pic>
        <p:nvPicPr>
          <p:cNvPr id="17" name="Image 2" descr="/home/ahmed/Projects/ai_llm_slides/videos/machine-learning/02_linear-regression-classification-MSSE/recreated_pptx/build/assets/slide034_eq5/zt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300" y="1514348"/>
            <a:ext cx="2699004" cy="982980"/>
          </a:xfrm>
          <a:prstGeom prst="rect">
            <a:avLst/>
          </a:prstGeom>
        </p:spPr>
      </p:pic>
      <p:pic>
        <p:nvPicPr>
          <p:cNvPr id="18" name="Image 3" descr="/home/ahmed/Projects/ai_llm_slides/videos/machine-learning/02_linear-regression-classification-MSSE/recreated_pptx/build/assets/slide034_eq5/ztzm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00" y="1488948"/>
            <a:ext cx="2362200" cy="995172"/>
          </a:xfrm>
          <a:prstGeom prst="rect">
            <a:avLst/>
          </a:prstGeom>
        </p:spPr>
      </p:pic>
      <p:pic>
        <p:nvPicPr>
          <p:cNvPr id="19" name="Image 4" descr="/home/ahmed/Projects/ai_llm_slides/videos/machine-learning/02_linear-regression-classification-MSSE/recreated_pptx/build/assets/slide034_eq5/invm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3089148"/>
            <a:ext cx="4032504" cy="995172"/>
          </a:xfrm>
          <a:prstGeom prst="rect">
            <a:avLst/>
          </a:prstGeom>
        </p:spPr>
      </p:pic>
      <p:pic>
        <p:nvPicPr>
          <p:cNvPr id="20" name="Image 5" descr="/home/ahmed/Projects/ai_llm_slides/videos/machine-learning/02_linear-regression-classification-MSSE/recreated_pptx/build/assets/slide034_eq5/wfo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0664" y="3090164"/>
            <a:ext cx="3985260" cy="995172"/>
          </a:xfrm>
          <a:prstGeom prst="rect">
            <a:avLst/>
          </a:prstGeom>
        </p:spPr>
      </p:pic>
      <p:pic>
        <p:nvPicPr>
          <p:cNvPr id="21" name="Image 6" descr="/home/ahmed/Projects/ai_llm_slides/videos/machine-learning/02_linear-regression-classification-MSSE/recreated_pptx/build/assets/slide034_eq5/xve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7140" y="3101340"/>
            <a:ext cx="969264" cy="982980"/>
          </a:xfrm>
          <a:prstGeom prst="rect">
            <a:avLst/>
          </a:prstGeom>
        </p:spPr>
      </p:pic>
      <p:pic>
        <p:nvPicPr>
          <p:cNvPr id="22" name="Image 7" descr="/home/ahmed/Projects/ai_llm_slides/videos/machine-learning/02_linear-regression-classification-MSSE/recreated_pptx/build/assets/slide034_eq5/bluebox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36" y="4432300"/>
            <a:ext cx="1019556" cy="333756"/>
          </a:xfrm>
          <a:prstGeom prst="rect">
            <a:avLst/>
          </a:prstGeom>
        </p:spPr>
      </p:pic>
      <p:pic>
        <p:nvPicPr>
          <p:cNvPr id="23" name="Image 8" descr="/home/ahmed/Projects/ai_llm_slides/videos/machine-learning/02_linear-regression-classification-MSSE/recreated_pptx/build/assets/slide034_eq5/hleq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4536" y="4457700"/>
            <a:ext cx="2188464" cy="365760"/>
          </a:xfrm>
          <a:prstGeom prst="rect">
            <a:avLst/>
          </a:prstGeom>
        </p:spPr>
      </p:pic>
      <p:pic>
        <p:nvPicPr>
          <p:cNvPr id="24" name="Image 9" descr="/home/ahmed/Projects/ai_llm_slides/videos/machine-learning/02_linear-regression-classification-MSSE/recreated_pptx/build/assets/slide034_eq5/clabel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9224" y="4953000"/>
            <a:ext cx="303276" cy="1357884"/>
          </a:xfrm>
          <a:prstGeom prst="rect">
            <a:avLst/>
          </a:prstGeom>
        </p:spPr>
      </p:pic>
      <p:pic>
        <p:nvPicPr>
          <p:cNvPr id="25" name="Image 10" descr="/home/ahmed/Projects/ai_llm_slides/videos/machine-learning/02_linear-regression-classification-MSSE/recreated_pptx/build/assets/slide034_eq5/ym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0400" y="4967732"/>
            <a:ext cx="1696212" cy="1275588"/>
          </a:xfrm>
          <a:prstGeom prst="rect">
            <a:avLst/>
          </a:prstGeom>
        </p:spPr>
      </p:pic>
      <p:pic>
        <p:nvPicPr>
          <p:cNvPr id="26" name="Image 11" descr="/home/ahmed/Projects/ai_llm_slides/videos/machine-learning/02_linear-regression-classification-MSSE/recreated_pptx/build/assets/slide034_eq5/vec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7488" y="5134864"/>
            <a:ext cx="477012" cy="995172"/>
          </a:xfrm>
          <a:prstGeom prst="rect">
            <a:avLst/>
          </a:prstGeom>
        </p:spPr>
      </p:pic>
      <p:pic>
        <p:nvPicPr>
          <p:cNvPr id="27" name="Image 12" descr="/home/ahmed/Projects/ai_llm_slides/videos/machine-learning/02_linear-regression-classification-MSSE/recreated_pptx/build/assets/slide034_eq5/resvec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1784" y="5029200"/>
            <a:ext cx="484632" cy="1188720"/>
          </a:xfrm>
          <a:prstGeom prst="rect">
            <a:avLst/>
          </a:prstGeom>
        </p:spPr>
      </p:pic>
      <p:pic>
        <p:nvPicPr>
          <p:cNvPr id="28" name="Image 13" descr="/home/ahmed/Projects/ai_llm_slides/videos/machine-learning/02_linear-regression-classification-MSSE/recreated_pptx/build/assets/slide034_eq5/eqsig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5752" y="5574792"/>
            <a:ext cx="169164" cy="86868"/>
          </a:xfrm>
          <a:prstGeom prst="rect">
            <a:avLst/>
          </a:prstGeom>
        </p:spPr>
      </p:pic>
      <p:sp>
        <p:nvSpPr>
          <p:cNvPr id="29" name="Shape 13"/>
          <p:cNvSpPr/>
          <p:nvPr/>
        </p:nvSpPr>
        <p:spPr>
          <a:xfrm>
            <a:off x="8191500" y="1854200"/>
            <a:ext cx="406400" cy="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0" name="Shape 14"/>
          <p:cNvSpPr/>
          <p:nvPr/>
        </p:nvSpPr>
        <p:spPr>
          <a:xfrm flipV="1">
            <a:off x="8597900" y="1778000"/>
            <a:ext cx="0" cy="762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1" name="Shape 15"/>
          <p:cNvSpPr/>
          <p:nvPr/>
        </p:nvSpPr>
        <p:spPr>
          <a:xfrm>
            <a:off x="8597900" y="1778000"/>
            <a:ext cx="13970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2" name="Shape 16"/>
          <p:cNvSpPr/>
          <p:nvPr/>
        </p:nvSpPr>
        <p:spPr>
          <a:xfrm flipH="1">
            <a:off x="8597900" y="1930400"/>
            <a:ext cx="13970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3" name="Shape 17"/>
          <p:cNvSpPr/>
          <p:nvPr/>
        </p:nvSpPr>
        <p:spPr>
          <a:xfrm flipV="1">
            <a:off x="8597900" y="2006600"/>
            <a:ext cx="0" cy="762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4" name="Shape 18"/>
          <p:cNvSpPr/>
          <p:nvPr/>
        </p:nvSpPr>
        <p:spPr>
          <a:xfrm flipH="1">
            <a:off x="8191500" y="2006600"/>
            <a:ext cx="406400" cy="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5" name="Shape 19"/>
          <p:cNvSpPr/>
          <p:nvPr/>
        </p:nvSpPr>
        <p:spPr>
          <a:xfrm flipV="1">
            <a:off x="8191500" y="1854200"/>
            <a:ext cx="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6" name="Shape 20"/>
          <p:cNvSpPr/>
          <p:nvPr/>
        </p:nvSpPr>
        <p:spPr>
          <a:xfrm>
            <a:off x="5143500" y="3479800"/>
            <a:ext cx="406400" cy="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7" name="Shape 21"/>
          <p:cNvSpPr/>
          <p:nvPr/>
        </p:nvSpPr>
        <p:spPr>
          <a:xfrm flipV="1">
            <a:off x="5549900" y="3416300"/>
            <a:ext cx="0" cy="635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8" name="Shape 22"/>
          <p:cNvSpPr/>
          <p:nvPr/>
        </p:nvSpPr>
        <p:spPr>
          <a:xfrm>
            <a:off x="5549900" y="3416300"/>
            <a:ext cx="12700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39" name="Shape 23"/>
          <p:cNvSpPr/>
          <p:nvPr/>
        </p:nvSpPr>
        <p:spPr>
          <a:xfrm flipH="1">
            <a:off x="5549900" y="3568700"/>
            <a:ext cx="12700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0" name="Shape 24"/>
          <p:cNvSpPr/>
          <p:nvPr/>
        </p:nvSpPr>
        <p:spPr>
          <a:xfrm flipV="1">
            <a:off x="5549900" y="3644900"/>
            <a:ext cx="0" cy="762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1" name="Shape 25"/>
          <p:cNvSpPr/>
          <p:nvPr/>
        </p:nvSpPr>
        <p:spPr>
          <a:xfrm flipH="1">
            <a:off x="5143500" y="3644900"/>
            <a:ext cx="406400" cy="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 flipV="1">
            <a:off x="5143500" y="3479800"/>
            <a:ext cx="0" cy="1651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3" name="Shape 27"/>
          <p:cNvSpPr/>
          <p:nvPr/>
        </p:nvSpPr>
        <p:spPr>
          <a:xfrm>
            <a:off x="2159000" y="4533900"/>
            <a:ext cx="381000" cy="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4" name="Shape 28"/>
          <p:cNvSpPr/>
          <p:nvPr/>
        </p:nvSpPr>
        <p:spPr>
          <a:xfrm flipV="1">
            <a:off x="2540000" y="4457700"/>
            <a:ext cx="0" cy="762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2540000" y="4457700"/>
            <a:ext cx="13970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6" name="Shape 30"/>
          <p:cNvSpPr/>
          <p:nvPr/>
        </p:nvSpPr>
        <p:spPr>
          <a:xfrm flipH="1">
            <a:off x="2540000" y="4610100"/>
            <a:ext cx="13970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 flipV="1">
            <a:off x="2540000" y="4686300"/>
            <a:ext cx="0" cy="762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 flipH="1">
            <a:off x="2159000" y="4686300"/>
            <a:ext cx="381000" cy="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49" name="Shape 33"/>
          <p:cNvSpPr/>
          <p:nvPr/>
        </p:nvSpPr>
        <p:spPr>
          <a:xfrm flipV="1">
            <a:off x="2159000" y="4533900"/>
            <a:ext cx="0" cy="152400"/>
          </a:xfrm>
          <a:prstGeom prst="line">
            <a:avLst/>
          </a:prstGeom>
          <a:noFill/>
          <a:ln w="15875">
            <a:solidFill>
              <a:srgbClr val="FFC0CB"/>
            </a:solidFill>
            <a:prstDash val="solid"/>
          </a:ln>
        </p:spPr>
      </p:sp>
      <p:sp>
        <p:nvSpPr>
          <p:cNvPr id="50" name="Shape 34"/>
          <p:cNvSpPr/>
          <p:nvPr/>
        </p:nvSpPr>
        <p:spPr>
          <a:xfrm>
            <a:off x="9067800" y="5041900"/>
            <a:ext cx="203200" cy="133350"/>
          </a:xfrm>
          <a:prstGeom prst="rightArrow">
            <a:avLst/>
          </a:prstGeom>
          <a:solidFill>
            <a:srgbClr val="FF0000"/>
          </a:solidFill>
          <a:ln/>
        </p:spPr>
      </p:sp>
      <p:sp>
        <p:nvSpPr>
          <p:cNvPr id="51" name="Shape 35"/>
          <p:cNvSpPr/>
          <p:nvPr/>
        </p:nvSpPr>
        <p:spPr>
          <a:xfrm>
            <a:off x="9067800" y="5410200"/>
            <a:ext cx="203200" cy="133350"/>
          </a:xfrm>
          <a:prstGeom prst="rightArrow">
            <a:avLst/>
          </a:prstGeom>
          <a:solidFill>
            <a:srgbClr val="FF0000"/>
          </a:solidFill>
          <a:ln/>
        </p:spPr>
      </p:sp>
      <p:sp>
        <p:nvSpPr>
          <p:cNvPr id="52" name="Shape 36"/>
          <p:cNvSpPr/>
          <p:nvPr/>
        </p:nvSpPr>
        <p:spPr>
          <a:xfrm>
            <a:off x="9067800" y="5778500"/>
            <a:ext cx="203200" cy="133350"/>
          </a:xfrm>
          <a:prstGeom prst="rightArrow">
            <a:avLst/>
          </a:prstGeom>
          <a:solidFill>
            <a:srgbClr val="FF0000"/>
          </a:solidFill>
          <a:ln/>
        </p:spPr>
      </p:sp>
      <p:sp>
        <p:nvSpPr>
          <p:cNvPr id="53" name="Shape 37"/>
          <p:cNvSpPr/>
          <p:nvPr/>
        </p:nvSpPr>
        <p:spPr>
          <a:xfrm>
            <a:off x="9067800" y="6146800"/>
            <a:ext cx="203200" cy="133350"/>
          </a:xfrm>
          <a:prstGeom prst="rightArrow">
            <a:avLst/>
          </a:prstGeom>
          <a:solidFill>
            <a:srgbClr val="FF0000"/>
          </a:solidFill>
          <a:ln/>
        </p:spPr>
      </p:sp>
      <p:sp>
        <p:nvSpPr>
          <p:cNvPr id="54" name="Text 38"/>
          <p:cNvSpPr/>
          <p:nvPr/>
        </p:nvSpPr>
        <p:spPr>
          <a:xfrm>
            <a:off x="4597400" y="6667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 Example</a:t>
            </a:r>
            <a:endParaRPr lang="en-US" sz="2500" dirty="0"/>
          </a:p>
        </p:txBody>
      </p:sp>
      <p:sp>
        <p:nvSpPr>
          <p:cNvPr id="55" name="Text 39"/>
          <p:cNvSpPr/>
          <p:nvPr/>
        </p:nvSpPr>
        <p:spPr>
          <a:xfrm>
            <a:off x="5753100" y="45974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</a:t>
            </a:r>
            <a:pPr algn="l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training data</a:t>
            </a:r>
            <a:endParaRPr lang="en-US" sz="1700" dirty="0"/>
          </a:p>
        </p:txBody>
      </p:sp>
      <p:sp>
        <p:nvSpPr>
          <p:cNvPr id="56" name="Shape 40"/>
          <p:cNvSpPr/>
          <p:nvPr/>
        </p:nvSpPr>
        <p:spPr>
          <a:xfrm>
            <a:off x="5778500" y="4870450"/>
            <a:ext cx="3327400" cy="0"/>
          </a:xfrm>
          <a:prstGeom prst="line">
            <a:avLst/>
          </a:prstGeom>
          <a:noFill/>
          <a:ln w="12700">
            <a:solidFill>
              <a:srgbClr val="0000CC"/>
            </a:solidFill>
            <a:prstDash val="solid"/>
          </a:ln>
        </p:spPr>
      </p:sp>
      <p:sp>
        <p:nvSpPr>
          <p:cNvPr id="57" name="Text 41"/>
          <p:cNvSpPr/>
          <p:nvPr/>
        </p:nvSpPr>
        <p:spPr>
          <a:xfrm>
            <a:off x="5753100" y="63881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Classification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9650" y="1365250"/>
            <a:ext cx="5270500" cy="53467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2279650" y="1695450"/>
                </a:moveTo>
                <a:lnTo>
                  <a:pt x="5054600" y="5327650"/>
                </a:lnTo>
                <a:lnTo>
                  <a:pt x="4032250" y="6635750"/>
                </a:lnTo>
                <a:lnTo>
                  <a:pt x="1130300" y="2997200"/>
                </a:lnTo>
                <a:lnTo>
                  <a:pt x="2279650" y="1695450"/>
                </a:lnTo>
              </a:path>
            </a:pathLst>
          </a:custGeom>
          <a:solidFill>
            <a:srgbClr val="FFFF85"/>
          </a:solidFill>
          <a:ln w="12700">
            <a:solidFill>
              <a:srgbClr val="FFFF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3700" y="5975350"/>
            <a:ext cx="29210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1854200" y="4953000"/>
            <a:ext cx="762000" cy="9144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H="1">
            <a:off x="3771900" y="4241800"/>
            <a:ext cx="234950" cy="2286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3797300" y="4495800"/>
            <a:ext cx="5080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>
            <a:off x="4381500" y="4229100"/>
            <a:ext cx="222250" cy="2159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3683000" y="4229100"/>
            <a:ext cx="1384300" cy="1727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3448050" y="4216400"/>
            <a:ext cx="0" cy="-26352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454400" y="1498600"/>
                </a:moveTo>
                <a:lnTo>
                  <a:pt x="3407410" y="1587500"/>
                </a:lnTo>
                <a:lnTo>
                  <a:pt x="3501390" y="1587500"/>
                </a:lnTo>
                <a:lnTo>
                  <a:pt x="3454400" y="14986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8050" y="4216400"/>
            <a:ext cx="23558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886450" y="4216400"/>
                </a:moveTo>
                <a:lnTo>
                  <a:pt x="5797550" y="4171950"/>
                </a:lnTo>
                <a:lnTo>
                  <a:pt x="5797550" y="4260850"/>
                </a:lnTo>
                <a:lnTo>
                  <a:pt x="5886450" y="42164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473200" y="4216400"/>
            <a:ext cx="1974850" cy="20510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1397000" y="6337300"/>
                </a:moveTo>
                <a:lnTo>
                  <a:pt x="1501140" y="6296660"/>
                </a:lnTo>
                <a:lnTo>
                  <a:pt x="1437640" y="6233160"/>
                </a:lnTo>
                <a:lnTo>
                  <a:pt x="1397000" y="633730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9" name="Image 0" descr="/home/ahmed/Projects/ai_llm_slides/videos/machine-learning/02_linear-regression-classification-MSSE/recreated_pptx/build/assets/e35_y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008" y="1664208"/>
            <a:ext cx="143256" cy="167640"/>
          </a:xfrm>
          <a:prstGeom prst="rect">
            <a:avLst/>
          </a:prstGeom>
        </p:spPr>
      </p:pic>
      <p:pic>
        <p:nvPicPr>
          <p:cNvPr id="20" name="Image 1" descr="/home/ahmed/Projects/ai_llm_slides/videos/machine-learning/02_linear-regression-classification-MSSE/recreated_pptx/build/assets/e35_tk3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558" y="3097276"/>
            <a:ext cx="115824" cy="169164"/>
          </a:xfrm>
          <a:prstGeom prst="rect">
            <a:avLst/>
          </a:prstGeom>
        </p:spPr>
      </p:pic>
      <p:pic>
        <p:nvPicPr>
          <p:cNvPr id="21" name="Image 2" descr="/home/ahmed/Projects/ai_llm_slides/videos/machine-learning/02_linear-regression-classification-MSSE/recreated_pptx/build/assets/e35_tk3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308" y="4943857"/>
            <a:ext cx="121920" cy="176784"/>
          </a:xfrm>
          <a:prstGeom prst="rect">
            <a:avLst/>
          </a:prstGeom>
        </p:spPr>
      </p:pic>
      <p:pic>
        <p:nvPicPr>
          <p:cNvPr id="22" name="Image 3" descr="/home/ahmed/Projects/ai_llm_slides/videos/machine-learning/02_linear-regression-classification-MSSE/recreated_pptx/build/assets/e35_tk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908" y="6030468"/>
            <a:ext cx="106680" cy="153924"/>
          </a:xfrm>
          <a:prstGeom prst="rect">
            <a:avLst/>
          </a:prstGeom>
        </p:spPr>
      </p:pic>
      <p:pic>
        <p:nvPicPr>
          <p:cNvPr id="23" name="Image 4" descr="/home/ahmed/Projects/ai_llm_slides/videos/machine-learning/02_linear-regression-classification-MSSE/recreated_pptx/build/assets/e35_ax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708" y="6110224"/>
            <a:ext cx="278892" cy="201168"/>
          </a:xfrm>
          <a:prstGeom prst="rect">
            <a:avLst/>
          </a:prstGeom>
        </p:spPr>
      </p:pic>
      <p:pic>
        <p:nvPicPr>
          <p:cNvPr id="24" name="Image 5" descr="/home/ahmed/Projects/ai_llm_slides/videos/machine-learning/02_linear-regression-classification-MSSE/recreated_pptx/build/assets/e35_ax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508" y="4284473"/>
            <a:ext cx="201168" cy="149352"/>
          </a:xfrm>
          <a:prstGeom prst="rect">
            <a:avLst/>
          </a:prstGeom>
        </p:spPr>
      </p:pic>
      <p:pic>
        <p:nvPicPr>
          <p:cNvPr id="25" name="Image 6" descr="/home/ahmed/Projects/ai_llm_slides/videos/machine-learning/02_linear-regression-classification-MSSE/recreated_pptx/build/assets/e35_t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2758" y="4033775"/>
            <a:ext cx="106680" cy="163068"/>
          </a:xfrm>
          <a:prstGeom prst="rect">
            <a:avLst/>
          </a:prstGeom>
        </p:spPr>
      </p:pic>
      <p:pic>
        <p:nvPicPr>
          <p:cNvPr id="26" name="Image 7" descr="/home/ahmed/Projects/ai_llm_slides/videos/machine-learning/02_linear-regression-classification-MSSE/recreated_pptx/build/assets/e35_t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4408" y="4030725"/>
            <a:ext cx="111252" cy="166116"/>
          </a:xfrm>
          <a:prstGeom prst="rect">
            <a:avLst/>
          </a:prstGeom>
        </p:spPr>
      </p:pic>
      <p:pic>
        <p:nvPicPr>
          <p:cNvPr id="27" name="Image 8" descr="/home/ahmed/Projects/ai_llm_slides/videos/machine-learning/02_linear-regression-classification-MSSE/recreated_pptx/build/assets/e35_tk3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8908" y="4018026"/>
            <a:ext cx="115824" cy="169164"/>
          </a:xfrm>
          <a:prstGeom prst="rect">
            <a:avLst/>
          </a:prstGeom>
        </p:spPr>
      </p:pic>
      <p:pic>
        <p:nvPicPr>
          <p:cNvPr id="28" name="Image 9" descr="/home/ahmed/Projects/ai_llm_slides/videos/machine-learning/02_linear-regression-classification-MSSE/recreated_pptx/build/assets/e35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1108" y="2159508"/>
            <a:ext cx="365760" cy="292608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2273300" y="2419350"/>
            <a:ext cx="279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3314700" y="3136900"/>
            <a:ext cx="101600" cy="1016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3695700" y="4445000"/>
            <a:ext cx="101600" cy="1016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3505200" y="4686300"/>
            <a:ext cx="101600" cy="101600"/>
          </a:xfrm>
          <a:prstGeom prst="ellipse">
            <a:avLst/>
          </a:prstGeom>
          <a:solidFill>
            <a:srgbClr val="C88313"/>
          </a:solidFill>
          <a:ln w="12700">
            <a:solidFill>
              <a:srgbClr val="C88313"/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4305300" y="4445000"/>
            <a:ext cx="101600" cy="1016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4064000" y="4686300"/>
            <a:ext cx="101600" cy="1016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2051050" y="3829050"/>
            <a:ext cx="215900" cy="2159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3568700" y="5854700"/>
            <a:ext cx="215900" cy="215900"/>
          </a:xfrm>
          <a:prstGeom prst="ellipse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3295650" y="5688330"/>
            <a:ext cx="76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 rot="3000000">
            <a:off x="1231900" y="3055620"/>
            <a:ext cx="165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C2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 ( &lt; 0 )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 rot="3000000">
            <a:off x="647700" y="3690620"/>
            <a:ext cx="165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( &gt; 0 )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C1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1714500" y="3975100"/>
            <a:ext cx="215900" cy="457200"/>
          </a:xfrm>
          <a:prstGeom prst="line">
            <a:avLst/>
          </a:prstGeom>
          <a:noFill/>
          <a:ln w="15875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41" name="Shape 29"/>
          <p:cNvSpPr/>
          <p:nvPr/>
        </p:nvSpPr>
        <p:spPr>
          <a:xfrm>
            <a:off x="6775450" y="2724150"/>
            <a:ext cx="38989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6908800" y="26720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 </a:t>
            </a:r>
            <a:pPr algn="l" indent="0" marL="0">
              <a:buNone/>
            </a:pPr>
            <a:r>
              <a:rPr lang="en-US" sz="1900" b="1" spc="-50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buNone/>
            </a:pPr>
            <a:r>
              <a:rPr lang="en-US" sz="1900" b="1" spc="-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Test Vector</a:t>
            </a:r>
            <a:endParaRPr lang="en-US" sz="1900" dirty="0"/>
          </a:p>
        </p:txBody>
      </p:sp>
      <p:sp>
        <p:nvSpPr>
          <p:cNvPr id="43" name="Shape 31"/>
          <p:cNvSpPr/>
          <p:nvPr/>
        </p:nvSpPr>
        <p:spPr>
          <a:xfrm>
            <a:off x="6934200" y="3058160"/>
            <a:ext cx="2971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pic>
        <p:nvPicPr>
          <p:cNvPr id="44" name="Image 10" descr="/home/ahmed/Projects/ai_llm_slides/videos/machine-learning/02_linear-regression-classification-MSSE/recreated_pptx/build/assets/e35_x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9408" y="3133345"/>
            <a:ext cx="362712" cy="269748"/>
          </a:xfrm>
          <a:prstGeom prst="rect">
            <a:avLst/>
          </a:prstGeom>
        </p:spPr>
      </p:pic>
      <p:pic>
        <p:nvPicPr>
          <p:cNvPr id="45" name="Image 11" descr="/home/ahmed/Projects/ai_llm_slides/videos/machine-learning/02_linear-regression-classification-MSSE/recreated_pptx/build/assets/e35_w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3808" y="3163316"/>
            <a:ext cx="281940" cy="227076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7683500" y="3422650"/>
            <a:ext cx="279400" cy="0"/>
          </a:xfrm>
          <a:prstGeom prst="line">
            <a:avLst/>
          </a:prstGeom>
          <a:noFill/>
          <a:ln w="9525">
            <a:solidFill>
              <a:srgbClr val="C9C3F2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8610600" y="3403600"/>
            <a:ext cx="254000" cy="0"/>
          </a:xfrm>
          <a:prstGeom prst="line">
            <a:avLst/>
          </a:prstGeom>
          <a:noFill/>
          <a:ln w="9525">
            <a:solidFill>
              <a:srgbClr val="C9C3F2"/>
            </a:solidFill>
            <a:prstDash val="solid"/>
          </a:ln>
        </p:spPr>
      </p:sp>
      <p:pic>
        <p:nvPicPr>
          <p:cNvPr id="48" name="Image 12" descr="/home/ahmed/Projects/ai_llm_slides/videos/machine-learning/02_linear-regression-classification-MSSE/recreated_pptx/build/assets/e35_pl_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3530600"/>
            <a:ext cx="42977" cy="254203"/>
          </a:xfrm>
          <a:prstGeom prst="rect">
            <a:avLst/>
          </a:prstGeom>
        </p:spPr>
      </p:pic>
      <p:pic>
        <p:nvPicPr>
          <p:cNvPr id="49" name="Image 13" descr="/home/ahmed/Projects/ai_llm_slides/videos/machine-learning/02_linear-regression-classification-MSSE/recreated_pptx/build/assets/e35_pr_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500" y="3530600"/>
            <a:ext cx="42977" cy="254203"/>
          </a:xfrm>
          <a:prstGeom prst="rect">
            <a:avLst/>
          </a:prstGeom>
        </p:spPr>
      </p:pic>
      <p:pic>
        <p:nvPicPr>
          <p:cNvPr id="50" name="Image 14" descr="/home/ahmed/Projects/ai_llm_slides/videos/machine-learning/02_linear-regression-classification-MSSE/recreated_pptx/build/assets/e35_pl_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9950" y="3505200"/>
            <a:ext cx="42977" cy="984809"/>
          </a:xfrm>
          <a:prstGeom prst="rect">
            <a:avLst/>
          </a:prstGeom>
        </p:spPr>
      </p:pic>
      <p:pic>
        <p:nvPicPr>
          <p:cNvPr id="51" name="Image 15" descr="/home/ahmed/Projects/ai_llm_slides/videos/machine-learning/02_linear-regression-classification-MSSE/recreated_pptx/build/assets/e35_pr_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28100" y="3492500"/>
            <a:ext cx="42977" cy="990295"/>
          </a:xfrm>
          <a:prstGeom prst="rect">
            <a:avLst/>
          </a:prstGeom>
        </p:spPr>
      </p:pic>
      <p:sp>
        <p:nvSpPr>
          <p:cNvPr id="52" name="Shape 34"/>
          <p:cNvSpPr/>
          <p:nvPr/>
        </p:nvSpPr>
        <p:spPr>
          <a:xfrm>
            <a:off x="7169150" y="1371600"/>
            <a:ext cx="2216150" cy="431800"/>
          </a:xfrm>
          <a:prstGeom prst="rect">
            <a:avLst/>
          </a:prstGeom>
          <a:solidFill>
            <a:srgbClr val="FFFFDD"/>
          </a:solidFill>
          <a:ln w="9525">
            <a:solidFill>
              <a:srgbClr val="C9CABA"/>
            </a:solidFill>
            <a:prstDash val="solid"/>
          </a:ln>
        </p:spPr>
      </p:sp>
      <p:pic>
        <p:nvPicPr>
          <p:cNvPr id="53" name="Image 16" descr="/home/ahmed/Projects/ai_llm_slides/videos/machine-learning/02_linear-regression-classification-MSSE/recreated_pptx/build/assets/e35_y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1408" y="1470151"/>
            <a:ext cx="231648" cy="274320"/>
          </a:xfrm>
          <a:prstGeom prst="rect">
            <a:avLst/>
          </a:prstGeom>
        </p:spPr>
      </p:pic>
      <p:pic>
        <p:nvPicPr>
          <p:cNvPr id="54" name="Image 17" descr="/home/ahmed/Projects/ai_llm_slides/videos/machine-learning/02_linear-regression-classification-MSSE/recreated_pptx/build/assets/e35_eq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7308" y="1516126"/>
            <a:ext cx="231648" cy="117348"/>
          </a:xfrm>
          <a:prstGeom prst="rect">
            <a:avLst/>
          </a:prstGeom>
        </p:spPr>
      </p:pic>
      <p:pic>
        <p:nvPicPr>
          <p:cNvPr id="55" name="Image 18" descr="/home/ahmed/Projects/ai_llm_slides/videos/machine-learning/02_linear-regression-classification-MSSE/recreated_pptx/build/assets/e35_b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84008" y="1406144"/>
            <a:ext cx="190500" cy="274320"/>
          </a:xfrm>
          <a:prstGeom prst="rect">
            <a:avLst/>
          </a:prstGeom>
        </p:spPr>
      </p:pic>
      <p:pic>
        <p:nvPicPr>
          <p:cNvPr id="56" name="Image 19" descr="/home/ahmed/Projects/ai_llm_slides/videos/machine-learning/02_linear-regression-classification-MSSE/recreated_pptx/build/assets/e35_bx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99908" y="1470152"/>
            <a:ext cx="353568" cy="254508"/>
          </a:xfrm>
          <a:prstGeom prst="rect">
            <a:avLst/>
          </a:prstGeom>
        </p:spPr>
      </p:pic>
      <p:pic>
        <p:nvPicPr>
          <p:cNvPr id="57" name="Image 20" descr="/home/ahmed/Projects/ai_llm_slides/videos/machine-learning/02_linear-regression-classification-MSSE/recreated_pptx/build/assets/e35_bmi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4708" y="1548892"/>
            <a:ext cx="230124" cy="51816"/>
          </a:xfrm>
          <a:prstGeom prst="rect">
            <a:avLst/>
          </a:prstGeom>
        </p:spPr>
      </p:pic>
      <p:pic>
        <p:nvPicPr>
          <p:cNvPr id="58" name="Image 21" descr="/home/ahmed/Projects/ai_llm_slides/videos/machine-learning/02_linear-regression-classification-MSSE/recreated_pptx/build/assets/e35_b2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1408" y="1406145"/>
            <a:ext cx="178308" cy="269748"/>
          </a:xfrm>
          <a:prstGeom prst="rect">
            <a:avLst/>
          </a:prstGeom>
        </p:spPr>
      </p:pic>
      <p:pic>
        <p:nvPicPr>
          <p:cNvPr id="59" name="Image 22" descr="/home/ahmed/Projects/ai_llm_slides/videos/machine-learning/02_linear-regression-classification-MSSE/recreated_pptx/build/assets/e35_bx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61908" y="1470152"/>
            <a:ext cx="352044" cy="254508"/>
          </a:xfrm>
          <a:prstGeom prst="rect">
            <a:avLst/>
          </a:prstGeom>
        </p:spPr>
      </p:pic>
      <p:pic>
        <p:nvPicPr>
          <p:cNvPr id="60" name="Image 23" descr="/home/ahmed/Projects/ai_llm_slides/videos/machine-learning/02_linear-regression-classification-MSSE/recreated_pptx/build/assets/e35_bp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66708" y="1468628"/>
            <a:ext cx="198120" cy="199644"/>
          </a:xfrm>
          <a:prstGeom prst="rect">
            <a:avLst/>
          </a:prstGeom>
        </p:spPr>
      </p:pic>
      <p:pic>
        <p:nvPicPr>
          <p:cNvPr id="61" name="Image 24" descr="/home/ahmed/Projects/ai_llm_slides/videos/machine-learning/02_linear-regression-classification-MSSE/recreated_pptx/build/assets/e35_b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08008" y="1406144"/>
            <a:ext cx="182880" cy="274320"/>
          </a:xfrm>
          <a:prstGeom prst="rect">
            <a:avLst/>
          </a:prstGeom>
        </p:spPr>
      </p:pic>
      <p:pic>
        <p:nvPicPr>
          <p:cNvPr id="62" name="Image 25" descr="/home/ahmed/Projects/ai_llm_slides/videos/machine-learning/02_linear-regression-classification-MSSE/recreated_pptx/build/assets/e35_yc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22008" y="3664205"/>
            <a:ext cx="192024" cy="225552"/>
          </a:xfrm>
          <a:prstGeom prst="rect">
            <a:avLst/>
          </a:prstGeom>
        </p:spPr>
      </p:pic>
      <p:pic>
        <p:nvPicPr>
          <p:cNvPr id="63" name="Image 26" descr="/home/ahmed/Projects/ai_llm_slides/videos/machine-learning/02_linear-regression-classification-MSSE/recreated_pptx/build/assets/e35_eqc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12508" y="3708908"/>
            <a:ext cx="190500" cy="100584"/>
          </a:xfrm>
          <a:prstGeom prst="rect">
            <a:avLst/>
          </a:prstGeom>
        </p:spPr>
      </p:pic>
      <p:pic>
        <p:nvPicPr>
          <p:cNvPr id="64" name="Image 27" descr="/home/ahmed/Projects/ai_llm_slides/videos/machine-learning/02_linear-regression-classification-MSSE/recreated_pptx/build/assets/e35_r1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04608" y="3520948"/>
            <a:ext cx="150876" cy="237744"/>
          </a:xfrm>
          <a:prstGeom prst="rect">
            <a:avLst/>
          </a:prstGeom>
        </p:spPr>
      </p:pic>
      <p:pic>
        <p:nvPicPr>
          <p:cNvPr id="65" name="Image 28" descr="/home/ahmed/Projects/ai_llm_slides/videos/machine-learning/02_linear-regression-classification-MSSE/recreated_pptx/build/assets/e35_r7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60208" y="3527298"/>
            <a:ext cx="161544" cy="237744"/>
          </a:xfrm>
          <a:prstGeom prst="rect">
            <a:avLst/>
          </a:prstGeom>
        </p:spPr>
      </p:pic>
      <p:pic>
        <p:nvPicPr>
          <p:cNvPr id="66" name="Image 29" descr="/home/ahmed/Projects/ai_llm_slides/videos/machine-learning/02_linear-regression-classification-MSSE/recreated_pptx/build/assets/e35_r3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41208" y="3522726"/>
            <a:ext cx="164592" cy="246888"/>
          </a:xfrm>
          <a:prstGeom prst="rect">
            <a:avLst/>
          </a:prstGeom>
        </p:spPr>
      </p:pic>
      <p:pic>
        <p:nvPicPr>
          <p:cNvPr id="67" name="Image 30" descr="/home/ahmed/Projects/ai_llm_slides/videos/machine-learning/02_linear-regression-classification-MSSE/recreated_pptx/build/assets/e35_c3r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61908" y="3510026"/>
            <a:ext cx="164592" cy="246888"/>
          </a:xfrm>
          <a:prstGeom prst="rect">
            <a:avLst/>
          </a:prstGeom>
        </p:spPr>
      </p:pic>
      <p:pic>
        <p:nvPicPr>
          <p:cNvPr id="68" name="Image 31" descr="/home/ahmed/Projects/ai_llm_slides/videos/machine-learning/02_linear-regression-classification-MSSE/recreated_pptx/build/assets/e35_c0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49208" y="3868674"/>
            <a:ext cx="158496" cy="225552"/>
          </a:xfrm>
          <a:prstGeom prst="rect">
            <a:avLst/>
          </a:prstGeom>
        </p:spPr>
      </p:pic>
      <p:pic>
        <p:nvPicPr>
          <p:cNvPr id="69" name="Image 32" descr="/home/ahmed/Projects/ai_llm_slides/videos/machine-learning/02_linear-regression-classification-MSSE/recreated_pptx/build/assets/e35_cm2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60308" y="4183887"/>
            <a:ext cx="362712" cy="222504"/>
          </a:xfrm>
          <a:prstGeom prst="rect">
            <a:avLst/>
          </a:prstGeom>
        </p:spPr>
      </p:pic>
      <p:pic>
        <p:nvPicPr>
          <p:cNvPr id="70" name="Image 33" descr="/home/ahmed/Projects/ai_llm_slides/videos/machine-learning/02_linear-regression-classification-MSSE/recreated_pptx/build/assets/e35_teq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81008" y="3702558"/>
            <a:ext cx="190500" cy="100584"/>
          </a:xfrm>
          <a:prstGeom prst="rect">
            <a:avLst/>
          </a:prstGeom>
        </p:spPr>
      </p:pic>
      <p:pic>
        <p:nvPicPr>
          <p:cNvPr id="71" name="Image 34" descr="/home/ahmed/Projects/ai_llm_slides/videos/machine-learning/02_linear-regression-classification-MSSE/recreated_pptx/build/assets/e35_tm3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335008" y="3625089"/>
            <a:ext cx="367284" cy="225552"/>
          </a:xfrm>
          <a:prstGeom prst="rect">
            <a:avLst/>
          </a:prstGeom>
        </p:spPr>
      </p:pic>
      <p:pic>
        <p:nvPicPr>
          <p:cNvPr id="72" name="Image 35" descr="/home/ahmed/Projects/ai_llm_slides/videos/machine-learning/02_linear-regression-classification-MSSE/recreated_pptx/build/assets/e35_timp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81108" y="3696970"/>
            <a:ext cx="219456" cy="137160"/>
          </a:xfrm>
          <a:prstGeom prst="rect">
            <a:avLst/>
          </a:prstGeom>
        </p:spPr>
      </p:pic>
      <p:pic>
        <p:nvPicPr>
          <p:cNvPr id="73" name="Image 36" descr="/home/ahmed/Projects/ai_llm_slides/videos/machine-learning/02_linear-regression-classification-MSSE/recreated_pptx/build/assets/e35_tc2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249408" y="3625087"/>
            <a:ext cx="300228" cy="26365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1400" y="896620"/>
            <a:ext cx="10642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#2: </a:t>
            </a:r>
            <a:pPr algn="ctr" indent="0" marL="0">
              <a:buNone/>
            </a:pPr>
            <a:r>
              <a:rPr lang="en-US" sz="2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Prediction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1212850" y="1498600"/>
            <a:ext cx="10020300" cy="232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1562100"/>
            <a:ext cx="99060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9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Define any linear equation of one variable (e.g. y = 3x+2)</a:t>
            </a:r>
            <a:endParaRPr lang="en-US" sz="193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Select 5 different values for </a:t>
            </a:r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</a:t>
            </a:r>
            <a:pPr algn="l" indent="0" marL="0">
              <a:lnSpc>
                <a:spcPts val="3300"/>
              </a:lnSpc>
              <a:buNone/>
            </a:pPr>
            <a:r>
              <a:rPr lang="en-US" sz="112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x2,… x</a:t>
            </a:r>
            <a:pPr algn="l" indent="0" marL="0">
              <a:lnSpc>
                <a:spcPts val="3300"/>
              </a:lnSpc>
              <a:buNone/>
            </a:pPr>
            <a:r>
              <a:rPr lang="en-US" sz="112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calculate corresponding </a:t>
            </a:r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l" indent="0" marL="0">
              <a:lnSpc>
                <a:spcPts val="3300"/>
              </a:lnSpc>
              <a:buNone/>
            </a:pPr>
            <a:r>
              <a:rPr lang="en-US" sz="1930" spc="22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</a:t>
            </a:r>
            <a:endParaRPr lang="en-US" sz="193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9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Use x and y values as training data , apply MSSE technique to obtain the equation of the line</a:t>
            </a:r>
            <a:endParaRPr lang="en-US" sz="193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930" spc="-25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best fit on the training data (compare to your defined equation)</a:t>
            </a:r>
            <a:endParaRPr lang="en-US" sz="193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930" spc="-1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Repeat 1,2, and 3 after adding random noise term to the equation (e.g. y = 3x+2 + random(0..1)</a:t>
            </a:r>
            <a:endParaRPr lang="en-US" sz="1930" dirty="0"/>
          </a:p>
        </p:txBody>
      </p:sp>
      <p:sp>
        <p:nvSpPr>
          <p:cNvPr id="8" name="Shape 6"/>
          <p:cNvSpPr/>
          <p:nvPr/>
        </p:nvSpPr>
        <p:spPr>
          <a:xfrm>
            <a:off x="1866900" y="3987800"/>
            <a:ext cx="35941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7450" y="4203700"/>
            <a:ext cx="0" cy="2025650"/>
          </a:xfrm>
          <a:prstGeom prst="line">
            <a:avLst/>
          </a:prstGeom>
          <a:noFill/>
          <a:ln w="9525">
            <a:solidFill>
              <a:srgbClr val="D8BC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7450" y="6229350"/>
            <a:ext cx="2724150" cy="0"/>
          </a:xfrm>
          <a:prstGeom prst="line">
            <a:avLst/>
          </a:prstGeom>
          <a:noFill/>
          <a:ln w="9525">
            <a:solidFill>
              <a:srgbClr val="D8BC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19350" y="4114800"/>
            <a:ext cx="76200" cy="825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5191125" y="6169025"/>
            <a:ext cx="762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171700" y="419227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2850" y="626872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11900" y="3987800"/>
            <a:ext cx="35941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2450" y="4203700"/>
            <a:ext cx="0" cy="2025650"/>
          </a:xfrm>
          <a:prstGeom prst="line">
            <a:avLst/>
          </a:prstGeom>
          <a:noFill/>
          <a:ln w="9525">
            <a:solidFill>
              <a:srgbClr val="D8BC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2450" y="6229350"/>
            <a:ext cx="2724150" cy="0"/>
          </a:xfrm>
          <a:prstGeom prst="line">
            <a:avLst/>
          </a:prstGeom>
          <a:noFill/>
          <a:ln w="9525">
            <a:solidFill>
              <a:srgbClr val="D8BC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4350" y="4114800"/>
            <a:ext cx="76200" cy="825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" name="Shape 17"/>
          <p:cNvSpPr/>
          <p:nvPr/>
        </p:nvSpPr>
        <p:spPr>
          <a:xfrm rot="5400000">
            <a:off x="9636125" y="6169025"/>
            <a:ext cx="762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616700" y="419227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67850" y="626872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51430" y="566293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2969260" y="550418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7090" y="529844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2530" y="517906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6" name="Shape 24"/>
          <p:cNvSpPr/>
          <p:nvPr/>
        </p:nvSpPr>
        <p:spPr>
          <a:xfrm>
            <a:off x="4239260" y="497840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7" name="Shape 25"/>
          <p:cNvSpPr/>
          <p:nvPr/>
        </p:nvSpPr>
        <p:spPr>
          <a:xfrm>
            <a:off x="6990080" y="565785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8" name="Shape 26"/>
          <p:cNvSpPr/>
          <p:nvPr/>
        </p:nvSpPr>
        <p:spPr>
          <a:xfrm>
            <a:off x="7410450" y="557784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29" name="Shape 27"/>
          <p:cNvSpPr/>
          <p:nvPr/>
        </p:nvSpPr>
        <p:spPr>
          <a:xfrm>
            <a:off x="7828280" y="521589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30" name="Shape 28"/>
          <p:cNvSpPr/>
          <p:nvPr/>
        </p:nvSpPr>
        <p:spPr>
          <a:xfrm>
            <a:off x="8176260" y="517779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31" name="Shape 29"/>
          <p:cNvSpPr/>
          <p:nvPr/>
        </p:nvSpPr>
        <p:spPr>
          <a:xfrm>
            <a:off x="8676640" y="5020310"/>
            <a:ext cx="101600" cy="101600"/>
          </a:xfrm>
          <a:prstGeom prst="ellipse">
            <a:avLst/>
          </a:prstGeom>
          <a:solidFill>
            <a:srgbClr val="5B7FA6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49700" y="958850"/>
            <a:ext cx="6604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#2:</a:t>
            </a:r>
            <a:pPr algn="l"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Part 2 - Classification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19200" y="1498600"/>
            <a:ext cx="10020300" cy="474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8100" y="1536700"/>
            <a:ext cx="10160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750" spc="-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Use IRIS dataset, group samples of class 2 and class 3 together to form new class (Class II)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Split Class I samples into  40 samples for train and 10 samples for test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Split Class II samples into  80 samples for train and 20 samples for test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Train your linear classifier model using Least Squares Technique (MSSE). Let your model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be </a:t>
            </a:r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Positive for Class I and Negative for Others.</a:t>
            </a:r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model is suitable to classify the input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as Class I or “Other classes”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Use your trained model to classify test samples (into either Class I or Class II)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</a:t>
            </a:r>
            <a:pPr algn="l" indent="0" marL="0">
              <a:lnSpc>
                <a:spcPts val="3300"/>
              </a:lnSpc>
              <a:buNone/>
            </a:pPr>
            <a:r>
              <a:rPr lang="en-US" sz="175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</a:t>
            </a:r>
            <a:pPr algn="l" indent="0" marL="0">
              <a:lnSpc>
                <a:spcPts val="3300"/>
              </a:lnSpc>
              <a:buNone/>
            </a:pPr>
            <a:r>
              <a:rPr lang="en-US" sz="17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two other models to classify IRIS class 2 and IRIS class 3. This approach is</a:t>
            </a:r>
            <a:endParaRPr lang="en-US" sz="17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750" spc="45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“One vs All”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pic>
        <p:nvPicPr>
          <p:cNvPr id="5" name="Image 0" descr="/home/ahmed/Projects/ai_llm_slides/videos/machine-learning/02_linear-regression-classification-MSSE/recreated_pptx/build/assets/slide038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00" y="1181100"/>
            <a:ext cx="6616700" cy="5105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7300" y="2565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E2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" y="584200"/>
            <a:ext cx="10655300" cy="62738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pic>
        <p:nvPicPr>
          <p:cNvPr id="5" name="Image 0" descr="/home/ahmed/Projects/ai_llm_slides/videos/machine-learning/02_linear-regression-classification-MSSE/recreated_pptx/build/assets/slide039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850900"/>
            <a:ext cx="2095500" cy="167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711200"/>
            <a:ext cx="1158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vs All   (for Multi Class Classification)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257300" y="2781300"/>
            <a:ext cx="1720850" cy="768350"/>
          </a:xfrm>
          <a:prstGeom prst="rect">
            <a:avLst/>
          </a:prstGeom>
          <a:solidFill>
            <a:srgbClr val="DDD0C0"/>
          </a:solidFill>
          <a:ln w="12700">
            <a:solidFill>
              <a:srgbClr val="B5AC9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57300" y="2781300"/>
            <a:ext cx="172085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5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5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25900" y="1517650"/>
            <a:ext cx="2514600" cy="952500"/>
          </a:xfrm>
          <a:prstGeom prst="rect">
            <a:avLst/>
          </a:prstGeom>
          <a:solidFill>
            <a:srgbClr val="9F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25900" y="1517650"/>
            <a:ext cx="2514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5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Class “1”)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025900" y="2705100"/>
            <a:ext cx="2514600" cy="933450"/>
          </a:xfrm>
          <a:prstGeom prst="rect">
            <a:avLst/>
          </a:prstGeom>
          <a:solidFill>
            <a:srgbClr val="0200A9"/>
          </a:solidFill>
          <a:ln/>
        </p:spPr>
      </p:sp>
      <p:sp>
        <p:nvSpPr>
          <p:cNvPr id="12" name="Text 9"/>
          <p:cNvSpPr/>
          <p:nvPr/>
        </p:nvSpPr>
        <p:spPr>
          <a:xfrm>
            <a:off x="4025900" y="2705100"/>
            <a:ext cx="25146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5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Class “2”)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025900" y="3835400"/>
            <a:ext cx="2514600" cy="946150"/>
          </a:xfrm>
          <a:prstGeom prst="rect">
            <a:avLst/>
          </a:prstGeom>
          <a:solidFill>
            <a:srgbClr val="055927"/>
          </a:solidFill>
          <a:ln/>
        </p:spPr>
      </p:sp>
      <p:sp>
        <p:nvSpPr>
          <p:cNvPr id="14" name="Text 11"/>
          <p:cNvSpPr/>
          <p:nvPr/>
        </p:nvSpPr>
        <p:spPr>
          <a:xfrm>
            <a:off x="4025900" y="3835400"/>
            <a:ext cx="251460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5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Class “3”)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953250" y="1663700"/>
            <a:ext cx="1816100" cy="666750"/>
          </a:xfrm>
          <a:prstGeom prst="rect">
            <a:avLst/>
          </a:prstGeom>
          <a:solidFill>
            <a:srgbClr val="FBCCCE"/>
          </a:solidFill>
          <a:ln w="12700">
            <a:solidFill>
              <a:srgbClr val="9C00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53250" y="1663700"/>
            <a:ext cx="181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if Class “1”</a:t>
            </a:r>
            <a:endParaRPr lang="en-US" sz="14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 for other classes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53250" y="2832100"/>
            <a:ext cx="1816100" cy="679450"/>
          </a:xfrm>
          <a:prstGeom prst="rect">
            <a:avLst/>
          </a:prstGeom>
          <a:solidFill>
            <a:srgbClr val="E3FFFB"/>
          </a:solidFill>
          <a:ln w="12700">
            <a:solidFill>
              <a:srgbClr val="0F00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53250" y="2832100"/>
            <a:ext cx="181610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if Class “1”</a:t>
            </a:r>
            <a:endParaRPr lang="en-US" sz="14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 for other classes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953250" y="3975100"/>
            <a:ext cx="1816100" cy="666750"/>
          </a:xfrm>
          <a:prstGeom prst="rect">
            <a:avLst/>
          </a:prstGeom>
          <a:solidFill>
            <a:srgbClr val="D6FFEA"/>
          </a:solidFill>
          <a:ln w="12700">
            <a:solidFill>
              <a:srgbClr val="148E1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53250" y="3975100"/>
            <a:ext cx="181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if Class “1”</a:t>
            </a:r>
            <a:endParaRPr lang="en-US" sz="14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 for other classes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715500" y="2781300"/>
            <a:ext cx="1085850" cy="774700"/>
          </a:xfrm>
          <a:prstGeom prst="rect">
            <a:avLst/>
          </a:prstGeom>
          <a:solidFill>
            <a:srgbClr val="F8FCEE"/>
          </a:solidFill>
          <a:ln w="12700">
            <a:solidFill>
              <a:srgbClr val="674B3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15500" y="2781300"/>
            <a:ext cx="108585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009900" y="3168650"/>
                </a:moveTo>
                <a:cubicBezTo>
                  <a:pt x="3647313" y="3245612"/>
                  <a:pt x="3523742" y="1934083"/>
                  <a:pt x="3949700" y="1993900"/>
                </a:cubicBezTo>
              </a:path>
            </a:pathLst>
          </a:cu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009900" y="3168650"/>
                </a:moveTo>
                <a:lnTo>
                  <a:pt x="3937000" y="3168650"/>
                </a:lnTo>
              </a:path>
            </a:pathLst>
          </a:cu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009900" y="3168650"/>
                </a:moveTo>
                <a:cubicBezTo>
                  <a:pt x="3639439" y="3071622"/>
                  <a:pt x="3545459" y="4369181"/>
                  <a:pt x="3949700" y="4311650"/>
                </a:cubicBezTo>
              </a:path>
            </a:pathLst>
          </a:cu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788400" y="1993900"/>
                </a:moveTo>
                <a:cubicBezTo>
                  <a:pt x="9402572" y="2022348"/>
                  <a:pt x="9173972" y="2897759"/>
                  <a:pt x="9607550" y="3168650"/>
                </a:cubicBezTo>
              </a:path>
            </a:pathLst>
          </a:cu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788400" y="3168650"/>
                </a:moveTo>
                <a:lnTo>
                  <a:pt x="9607550" y="3168650"/>
                </a:lnTo>
              </a:path>
            </a:pathLst>
          </a:cu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788400" y="4311650"/>
                </a:moveTo>
                <a:cubicBezTo>
                  <a:pt x="9403842" y="4287266"/>
                  <a:pt x="9172702" y="3432175"/>
                  <a:pt x="9607550" y="3168650"/>
                </a:cubicBezTo>
              </a:path>
            </a:pathLst>
          </a:cu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53200" y="2000250"/>
            <a:ext cx="330200" cy="0"/>
          </a:xfrm>
          <a:prstGeom prst="line">
            <a:avLst/>
          </a:pr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53200" y="3168650"/>
            <a:ext cx="330200" cy="0"/>
          </a:xfrm>
          <a:prstGeom prst="line">
            <a:avLst/>
          </a:pr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53200" y="4311650"/>
            <a:ext cx="330200" cy="0"/>
          </a:xfrm>
          <a:prstGeom prst="line">
            <a:avLst/>
          </a:prstGeom>
          <a:noFill/>
          <a:ln w="9525">
            <a:solidFill>
              <a:srgbClr val="A6A5A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5400000">
            <a:off x="3930650" y="1949450"/>
            <a:ext cx="101600" cy="101600"/>
          </a:xfrm>
          <a:prstGeom prst="triangle">
            <a:avLst/>
          </a:prstGeom>
          <a:solidFill>
            <a:srgbClr val="623E17"/>
          </a:solidFill>
          <a:ln w="12700">
            <a:solidFill>
              <a:srgbClr val="623E1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rot="5400000">
            <a:off x="3930650" y="3117850"/>
            <a:ext cx="101600" cy="101600"/>
          </a:xfrm>
          <a:prstGeom prst="triangle">
            <a:avLst/>
          </a:prstGeom>
          <a:solidFill>
            <a:srgbClr val="623E17"/>
          </a:solidFill>
          <a:ln w="12700">
            <a:solidFill>
              <a:srgbClr val="623E1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400000">
            <a:off x="3930650" y="4260850"/>
            <a:ext cx="101600" cy="101600"/>
          </a:xfrm>
          <a:prstGeom prst="triangle">
            <a:avLst/>
          </a:prstGeom>
          <a:solidFill>
            <a:srgbClr val="623E17"/>
          </a:solidFill>
          <a:ln w="12700">
            <a:solidFill>
              <a:srgbClr val="623E1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rot="5400000">
            <a:off x="6851650" y="1949450"/>
            <a:ext cx="101600" cy="101600"/>
          </a:xfrm>
          <a:prstGeom prst="triangle">
            <a:avLst/>
          </a:prstGeom>
          <a:solidFill>
            <a:srgbClr val="C3000B"/>
          </a:solidFill>
          <a:ln w="12700">
            <a:solidFill>
              <a:srgbClr val="C300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5400000">
            <a:off x="6851650" y="3117850"/>
            <a:ext cx="101600" cy="101600"/>
          </a:xfrm>
          <a:prstGeom prst="triangle">
            <a:avLst/>
          </a:prstGeom>
          <a:solidFill>
            <a:srgbClr val="0400C0"/>
          </a:solidFill>
          <a:ln w="12700">
            <a:solidFill>
              <a:srgbClr val="0400C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6851650" y="4260850"/>
            <a:ext cx="101600" cy="101600"/>
          </a:xfrm>
          <a:prstGeom prst="triangle">
            <a:avLst/>
          </a:prstGeom>
          <a:solidFill>
            <a:srgbClr val="0D9608"/>
          </a:solidFill>
          <a:ln w="12700">
            <a:solidFill>
              <a:srgbClr val="0D960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rot="5400000">
            <a:off x="9613900" y="3117850"/>
            <a:ext cx="101600" cy="101600"/>
          </a:xfrm>
          <a:prstGeom prst="triangle">
            <a:avLst/>
          </a:prstGeom>
          <a:solidFill>
            <a:srgbClr val="623E17"/>
          </a:solidFill>
          <a:ln w="12700">
            <a:solidFill>
              <a:srgbClr val="623E1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92200" y="5245100"/>
            <a:ext cx="9848850" cy="1441450"/>
          </a:xfrm>
          <a:prstGeom prst="rect">
            <a:avLst/>
          </a:prstGeom>
          <a:solidFill>
            <a:srgbClr val="F8FCEE"/>
          </a:solidFill>
          <a:ln w="12700">
            <a:solidFill>
              <a:srgbClr val="5F212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219200" y="53340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219200" y="5651500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Positive output  (Only One)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5791200" y="5651500"/>
            <a:ext cx="27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108700" y="5651500"/>
            <a:ext cx="469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is properly Classified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219200" y="5981700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0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Positive output  (More than One)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5791200" y="5981700"/>
            <a:ext cx="27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108700" y="5981700"/>
            <a:ext cx="469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0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NOT define the class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219200" y="6305550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1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Positive output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5791200" y="6305550"/>
            <a:ext cx="27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1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108700" y="6305550"/>
            <a:ext cx="469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1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of the classes  (new class)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2026-10-13T18:00:30Z</dcterms:created>
  <dcterms:modified xsi:type="dcterms:W3CDTF">2026-10-13T18:00:30Z</dcterms:modified>
</cp:coreProperties>
</file>