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</a:t>
            </a:r>
            <a:pPr algn="ctr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800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 that </a:t>
            </a:r>
            <a:pPr algn="ctr" indent="0" marL="0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MINIMIZES Overfitting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16000" y="1257300"/>
            <a:ext cx="4495800" cy="177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8F122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03900" y="1257300"/>
            <a:ext cx="4483100" cy="177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8F12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53160" y="1257300"/>
            <a:ext cx="82296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</a:t>
            </a:r>
            <a:pPr algn="l" indent="0" marL="0"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800" dirty="0"/>
          </a:p>
        </p:txBody>
      </p:sp>
      <p:pic>
        <p:nvPicPr>
          <p:cNvPr id="12" name="Image 0" descr="videos/machine-learning/03_ridger_regression_gradient_descent/recreated_pptx/build/assets/eq_014_Yv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6120" y="1593865"/>
            <a:ext cx="958566" cy="110487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981960" y="1593865"/>
            <a:ext cx="640080" cy="110487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393440" y="1531620"/>
            <a:ext cx="202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AD0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Labels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393440" y="1824228"/>
            <a:ext cx="202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Training Samples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941060" y="1257300"/>
            <a:ext cx="82296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800" dirty="0"/>
          </a:p>
        </p:txBody>
      </p:sp>
      <p:pic>
        <p:nvPicPr>
          <p:cNvPr id="17" name="Image 1" descr="videos/machine-learning/03_ridger_regression_gradient_descent/recreated_pptx/build/assets/eq_014_Yhatv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020" y="1588516"/>
            <a:ext cx="958566" cy="111556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769860" y="1588516"/>
            <a:ext cx="640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buNone/>
            </a:pPr>
            <a:r>
              <a:rPr lang="en-US" sz="1200" baseline="-4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181340" y="1531620"/>
            <a:ext cx="2014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Labels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8181340" y="1824228"/>
            <a:ext cx="2014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Model </a:t>
            </a:r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1700"/>
              </a:lnSpc>
              <a:buNone/>
            </a:pPr>
            <a:r>
              <a:rPr lang="en-US" sz="1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algn="l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700"/>
              </a:lnSpc>
              <a:buNone/>
            </a:pPr>
            <a:r>
              <a:rPr lang="en-US" sz="1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768350" y="3086100"/>
            <a:ext cx="10642600" cy="546100"/>
          </a:xfrm>
          <a:prstGeom prst="rect">
            <a:avLst/>
          </a:prstGeom>
          <a:solidFill>
            <a:srgbClr val="F9FBDC"/>
          </a:solidFill>
          <a:ln/>
        </p:spPr>
      </p:sp>
      <p:sp>
        <p:nvSpPr>
          <p:cNvPr id="22" name="Shape 18"/>
          <p:cNvSpPr/>
          <p:nvPr/>
        </p:nvSpPr>
        <p:spPr>
          <a:xfrm>
            <a:off x="768350" y="3086100"/>
            <a:ext cx="10642600" cy="38100"/>
          </a:xfrm>
          <a:prstGeom prst="rect">
            <a:avLst/>
          </a:prstGeom>
          <a:solidFill>
            <a:srgbClr val="1E0060"/>
          </a:solidFill>
          <a:ln/>
        </p:spPr>
      </p:sp>
      <p:sp>
        <p:nvSpPr>
          <p:cNvPr id="23" name="Shape 19"/>
          <p:cNvSpPr/>
          <p:nvPr/>
        </p:nvSpPr>
        <p:spPr>
          <a:xfrm>
            <a:off x="768350" y="3594100"/>
            <a:ext cx="10642600" cy="38100"/>
          </a:xfrm>
          <a:prstGeom prst="rect">
            <a:avLst/>
          </a:prstGeom>
          <a:solidFill>
            <a:srgbClr val="1E0060"/>
          </a:solidFill>
          <a:ln/>
        </p:spPr>
      </p:sp>
      <p:sp>
        <p:nvSpPr>
          <p:cNvPr id="24" name="Text 20"/>
          <p:cNvSpPr/>
          <p:nvPr/>
        </p:nvSpPr>
        <p:spPr>
          <a:xfrm>
            <a:off x="996950" y="3124200"/>
            <a:ext cx="10185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is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Ŷ=Y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||W||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minimum This is called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Regularization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68350" y="3848100"/>
            <a:ext cx="10642600" cy="495300"/>
          </a:xfrm>
          <a:prstGeom prst="rect">
            <a:avLst/>
          </a:prstGeom>
          <a:solidFill>
            <a:srgbClr val="F9FBDC"/>
          </a:solidFill>
          <a:ln/>
        </p:spPr>
      </p:sp>
      <p:sp>
        <p:nvSpPr>
          <p:cNvPr id="26" name="Shape 22"/>
          <p:cNvSpPr/>
          <p:nvPr/>
        </p:nvSpPr>
        <p:spPr>
          <a:xfrm>
            <a:off x="768350" y="3848100"/>
            <a:ext cx="10642600" cy="38100"/>
          </a:xfrm>
          <a:prstGeom prst="rect">
            <a:avLst/>
          </a:prstGeom>
          <a:solidFill>
            <a:srgbClr val="1E0060"/>
          </a:solidFill>
          <a:ln/>
        </p:spPr>
      </p:sp>
      <p:sp>
        <p:nvSpPr>
          <p:cNvPr id="27" name="Shape 23"/>
          <p:cNvSpPr/>
          <p:nvPr/>
        </p:nvSpPr>
        <p:spPr>
          <a:xfrm>
            <a:off x="768350" y="4305300"/>
            <a:ext cx="10642600" cy="38100"/>
          </a:xfrm>
          <a:prstGeom prst="rect">
            <a:avLst/>
          </a:prstGeom>
          <a:solidFill>
            <a:srgbClr val="1E0060"/>
          </a:solidFill>
          <a:ln/>
        </p:spPr>
      </p:sp>
      <p:sp>
        <p:nvSpPr>
          <p:cNvPr id="28" name="Text 24"/>
          <p:cNvSpPr/>
          <p:nvPr/>
        </p:nvSpPr>
        <p:spPr>
          <a:xfrm>
            <a:off x="996950" y="3886200"/>
            <a:ext cx="10185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function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J(W)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(X,Y,W) + 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R(W)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 weighting factor)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1143000" y="4406900"/>
            <a:ext cx="7302500" cy="571500"/>
          </a:xfrm>
          <a:prstGeom prst="rect">
            <a:avLst/>
          </a:prstGeom>
          <a:solidFill>
            <a:srgbClr val="F9DEC1"/>
          </a:solidFill>
          <a:ln/>
        </p:spPr>
      </p:sp>
      <p:sp>
        <p:nvSpPr>
          <p:cNvPr id="30" name="Shape 26"/>
          <p:cNvSpPr/>
          <p:nvPr/>
        </p:nvSpPr>
        <p:spPr>
          <a:xfrm>
            <a:off x="1143000" y="4406900"/>
            <a:ext cx="7302500" cy="38100"/>
          </a:xfrm>
          <a:prstGeom prst="rect">
            <a:avLst/>
          </a:prstGeom>
          <a:solidFill>
            <a:srgbClr val="8F1220"/>
          </a:solidFill>
          <a:ln/>
        </p:spPr>
      </p:sp>
      <p:sp>
        <p:nvSpPr>
          <p:cNvPr id="31" name="Shape 27"/>
          <p:cNvSpPr/>
          <p:nvPr/>
        </p:nvSpPr>
        <p:spPr>
          <a:xfrm>
            <a:off x="1143000" y="4940300"/>
            <a:ext cx="7302500" cy="38100"/>
          </a:xfrm>
          <a:prstGeom prst="rect">
            <a:avLst/>
          </a:prstGeom>
          <a:solidFill>
            <a:srgbClr val="8F1220"/>
          </a:solidFill>
          <a:ln/>
        </p:spPr>
      </p:sp>
      <p:sp>
        <p:nvSpPr>
          <p:cNvPr id="32" name="Text 28"/>
          <p:cNvSpPr/>
          <p:nvPr/>
        </p:nvSpPr>
        <p:spPr>
          <a:xfrm>
            <a:off x="1371600" y="4445000"/>
            <a:ext cx="684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B60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as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5D44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squared distance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between </a:t>
            </a:r>
            <a:pPr algn="l" indent="0" marL="0">
              <a:lnSpc>
                <a:spcPts val="2000"/>
              </a:lnSpc>
              <a:buNone/>
            </a:pPr>
            <a:r>
              <a:rPr lang="en-US" sz="17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000"/>
              </a:lnSpc>
              <a:buNone/>
            </a:pPr>
            <a:r>
              <a:rPr lang="en-US" sz="1700" b="1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1130300" y="5067300"/>
            <a:ext cx="4851400" cy="622300"/>
          </a:xfrm>
          <a:prstGeom prst="rect">
            <a:avLst/>
          </a:prstGeom>
          <a:solidFill>
            <a:srgbClr val="F9DFC8"/>
          </a:solidFill>
          <a:ln w="19050">
            <a:solidFill>
              <a:srgbClr val="742C2D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769100" y="5067300"/>
            <a:ext cx="4406900" cy="622300"/>
          </a:xfrm>
          <a:prstGeom prst="rect">
            <a:avLst/>
          </a:prstGeom>
          <a:solidFill>
            <a:srgbClr val="F9FEDE"/>
          </a:solidFill>
          <a:ln w="19050">
            <a:solidFill>
              <a:srgbClr val="1E006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1267460" y="5140452"/>
            <a:ext cx="4577080" cy="475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E0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Term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||Y-Ŷ||</a:t>
            </a:r>
            <a:pPr algn="l" indent="0" marL="0">
              <a:lnSpc>
                <a:spcPts val="2000"/>
              </a:lnSpc>
              <a:buNone/>
            </a:pPr>
            <a:r>
              <a:rPr lang="en-US" sz="1700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(Y-Ŷ)</a:t>
            </a:r>
            <a:pPr algn="l" indent="0" marL="0">
              <a:lnSpc>
                <a:spcPts val="2000"/>
              </a:lnSpc>
              <a:buNone/>
            </a:pPr>
            <a:r>
              <a:rPr lang="en-US" sz="1700" baseline="300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(Y-Ŷ)</a:t>
            </a:r>
            <a:endParaRPr lang="en-US" sz="1700" dirty="0"/>
          </a:p>
        </p:txBody>
      </p:sp>
      <p:sp>
        <p:nvSpPr>
          <p:cNvPr id="36" name="Text 32"/>
          <p:cNvSpPr/>
          <p:nvPr/>
        </p:nvSpPr>
        <p:spPr>
          <a:xfrm>
            <a:off x="6906260" y="5140452"/>
            <a:ext cx="4132580" cy="475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E0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Regularization Term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 = ||W||</a:t>
            </a:r>
            <a:pPr algn="l" indent="0" marL="0">
              <a:lnSpc>
                <a:spcPts val="2000"/>
              </a:lnSpc>
              <a:buNone/>
            </a:pPr>
            <a:r>
              <a:rPr lang="en-US" sz="1700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2000"/>
              </a:lnSpc>
              <a:buNone/>
            </a:pPr>
            <a:r>
              <a:rPr lang="en-US" sz="1700" baseline="300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l"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1104900" y="5956300"/>
            <a:ext cx="10071100" cy="749300"/>
          </a:xfrm>
          <a:prstGeom prst="rect">
            <a:avLst/>
          </a:prstGeom>
          <a:solidFill>
            <a:srgbClr val="ECFFFD"/>
          </a:solidFill>
          <a:ln w="19050">
            <a:solidFill>
              <a:srgbClr val="1E0060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04900" y="5956300"/>
            <a:ext cx="10071100" cy="38100"/>
          </a:xfrm>
          <a:prstGeom prst="rect">
            <a:avLst/>
          </a:prstGeom>
          <a:solidFill>
            <a:srgbClr val="1E0060"/>
          </a:solidFill>
          <a:ln/>
        </p:spPr>
      </p:sp>
      <p:sp>
        <p:nvSpPr>
          <p:cNvPr id="39" name="Shape 35"/>
          <p:cNvSpPr/>
          <p:nvPr/>
        </p:nvSpPr>
        <p:spPr>
          <a:xfrm>
            <a:off x="1104900" y="6667500"/>
            <a:ext cx="10071100" cy="38100"/>
          </a:xfrm>
          <a:prstGeom prst="rect">
            <a:avLst/>
          </a:prstGeom>
          <a:solidFill>
            <a:srgbClr val="1E0060"/>
          </a:solidFill>
          <a:ln/>
        </p:spPr>
      </p:sp>
      <p:sp>
        <p:nvSpPr>
          <p:cNvPr id="40" name="Text 36"/>
          <p:cNvSpPr/>
          <p:nvPr/>
        </p:nvSpPr>
        <p:spPr>
          <a:xfrm>
            <a:off x="2110740" y="5994400"/>
            <a:ext cx="2194560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function </a:t>
            </a:r>
            <a:endParaRPr lang="en-US" sz="1700" dirty="0"/>
          </a:p>
        </p:txBody>
      </p:sp>
      <p:pic>
        <p:nvPicPr>
          <p:cNvPr id="41" name="Image 2" descr="videos/machine-learning/03_ridger_regression_gradient_descent/recreated_pptx/build/assets/eq_014_f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0" y="6083300"/>
            <a:ext cx="3643884" cy="38706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2026-10-26T13:51:34Z</dcterms:created>
  <dcterms:modified xsi:type="dcterms:W3CDTF">2026-10-26T13:51:34Z</dcterms:modified>
</cp:coreProperties>
</file>