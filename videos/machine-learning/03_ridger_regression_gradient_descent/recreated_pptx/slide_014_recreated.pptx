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823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442700" y="571500"/>
            <a:ext cx="12700" cy="62865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838950"/>
            <a:ext cx="10782300" cy="127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127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</a:t>
            </a:r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8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that </a:t>
            </a:r>
            <a:pPr algn="ctr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MINIMIZES Overfitting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016000" y="1257300"/>
            <a:ext cx="44958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F12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3900" y="1257300"/>
            <a:ext cx="4483100" cy="1778000"/>
          </a:xfrm>
          <a:prstGeom prst="rect">
            <a:avLst/>
          </a:prstGeom>
          <a:solidFill>
            <a:srgbClr val="FFFFFF"/>
          </a:solidFill>
          <a:ln w="25400">
            <a:solidFill>
              <a:srgbClr val="8F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3160" y="1257300"/>
            <a:ext cx="8229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</a:t>
            </a:r>
            <a:pPr algn="l" indent="0" marL="0">
              <a:buNone/>
            </a:pPr>
            <a:r>
              <a:rPr lang="en-US" sz="18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800" dirty="0"/>
          </a:p>
        </p:txBody>
      </p:sp>
      <p:pic>
        <p:nvPicPr>
          <p:cNvPr id="12" name="Image 0" descr="videos/machine-learning/03_ridger_regression_gradient_descent/recreated_pptx/build/assets/eq_014_Yv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6120" y="1593865"/>
            <a:ext cx="958566" cy="110487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981960" y="1593865"/>
            <a:ext cx="640080" cy="1104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93440" y="1531620"/>
            <a:ext cx="202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AD00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Labels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93440" y="1824228"/>
            <a:ext cx="202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Training Samples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1060" y="1257300"/>
            <a:ext cx="82296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</a:t>
            </a:r>
            <a:endParaRPr lang="en-US" sz="1800" dirty="0"/>
          </a:p>
        </p:txBody>
      </p:sp>
      <p:pic>
        <p:nvPicPr>
          <p:cNvPr id="17" name="Image 1" descr="videos/machine-learning/03_ridger_regression_gradient_descent/recreated_pptx/build/assets/eq_014_Yhatv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020" y="1588516"/>
            <a:ext cx="958566" cy="11155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69860" y="1588516"/>
            <a:ext cx="6400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pPr algn="l" indent="0" marL="0">
              <a:buNone/>
            </a:pPr>
            <a:r>
              <a:rPr lang="en-US" sz="1200" baseline="-4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×1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181340" y="1531620"/>
            <a:ext cx="2014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Labels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181340" y="1824228"/>
            <a:ext cx="2014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Model </a:t>
            </a:r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1700"/>
              </a:lnSpc>
              <a:buNone/>
            </a:pPr>
            <a:r>
              <a:rPr lang="en-US" sz="14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l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700"/>
              </a:lnSpc>
              <a:buNone/>
            </a:pPr>
            <a:r>
              <a:rPr lang="en-US" sz="14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68350" y="3086100"/>
            <a:ext cx="10642600" cy="546100"/>
          </a:xfrm>
          <a:prstGeom prst="rect">
            <a:avLst/>
          </a:prstGeom>
          <a:solidFill>
            <a:srgbClr val="F9FBDC"/>
          </a:solidFill>
          <a:ln/>
        </p:spPr>
      </p:sp>
      <p:sp>
        <p:nvSpPr>
          <p:cNvPr id="22" name="Shape 18"/>
          <p:cNvSpPr/>
          <p:nvPr/>
        </p:nvSpPr>
        <p:spPr>
          <a:xfrm>
            <a:off x="768350" y="3086100"/>
            <a:ext cx="106426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23" name="Shape 19"/>
          <p:cNvSpPr/>
          <p:nvPr/>
        </p:nvSpPr>
        <p:spPr>
          <a:xfrm>
            <a:off x="768350" y="3594100"/>
            <a:ext cx="106426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24" name="Text 20"/>
          <p:cNvSpPr/>
          <p:nvPr/>
        </p:nvSpPr>
        <p:spPr>
          <a:xfrm>
            <a:off x="996950" y="3124200"/>
            <a:ext cx="10185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is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Ŷ=Y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||W||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minimum This is called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Ridge Regularization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768350" y="3848100"/>
            <a:ext cx="10642600" cy="495300"/>
          </a:xfrm>
          <a:prstGeom prst="rect">
            <a:avLst/>
          </a:prstGeom>
          <a:solidFill>
            <a:srgbClr val="F9FBDC"/>
          </a:solidFill>
          <a:ln/>
        </p:spPr>
      </p:sp>
      <p:sp>
        <p:nvSpPr>
          <p:cNvPr id="26" name="Shape 22"/>
          <p:cNvSpPr/>
          <p:nvPr/>
        </p:nvSpPr>
        <p:spPr>
          <a:xfrm>
            <a:off x="768350" y="3848100"/>
            <a:ext cx="106426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27" name="Shape 23"/>
          <p:cNvSpPr/>
          <p:nvPr/>
        </p:nvSpPr>
        <p:spPr>
          <a:xfrm>
            <a:off x="768350" y="4305300"/>
            <a:ext cx="106426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28" name="Text 24"/>
          <p:cNvSpPr/>
          <p:nvPr/>
        </p:nvSpPr>
        <p:spPr>
          <a:xfrm>
            <a:off x="996950" y="3886200"/>
            <a:ext cx="10185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J(W)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(X,Y,W) + 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R(W)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weighting factor)</a:t>
            </a:r>
            <a:endParaRPr lang="en-US" sz="1700" dirty="0"/>
          </a:p>
        </p:txBody>
      </p:sp>
      <p:sp>
        <p:nvSpPr>
          <p:cNvPr id="29" name="Shape 25"/>
          <p:cNvSpPr/>
          <p:nvPr/>
        </p:nvSpPr>
        <p:spPr>
          <a:xfrm>
            <a:off x="1143000" y="4406900"/>
            <a:ext cx="7302500" cy="571500"/>
          </a:xfrm>
          <a:prstGeom prst="rect">
            <a:avLst/>
          </a:prstGeom>
          <a:solidFill>
            <a:srgbClr val="F9DEC1"/>
          </a:solidFill>
          <a:ln/>
        </p:spPr>
      </p:sp>
      <p:sp>
        <p:nvSpPr>
          <p:cNvPr id="30" name="Shape 26"/>
          <p:cNvSpPr/>
          <p:nvPr/>
        </p:nvSpPr>
        <p:spPr>
          <a:xfrm>
            <a:off x="1143000" y="4406900"/>
            <a:ext cx="7302500" cy="38100"/>
          </a:xfrm>
          <a:prstGeom prst="rect">
            <a:avLst/>
          </a:prstGeom>
          <a:solidFill>
            <a:srgbClr val="8F1220"/>
          </a:solidFill>
          <a:ln/>
        </p:spPr>
      </p:sp>
      <p:sp>
        <p:nvSpPr>
          <p:cNvPr id="31" name="Shape 27"/>
          <p:cNvSpPr/>
          <p:nvPr/>
        </p:nvSpPr>
        <p:spPr>
          <a:xfrm>
            <a:off x="1143000" y="4940300"/>
            <a:ext cx="7302500" cy="38100"/>
          </a:xfrm>
          <a:prstGeom prst="rect">
            <a:avLst/>
          </a:prstGeom>
          <a:solidFill>
            <a:srgbClr val="8F1220"/>
          </a:solidFill>
          <a:ln/>
        </p:spPr>
      </p:sp>
      <p:sp>
        <p:nvSpPr>
          <p:cNvPr id="32" name="Text 28"/>
          <p:cNvSpPr/>
          <p:nvPr/>
        </p:nvSpPr>
        <p:spPr>
          <a:xfrm>
            <a:off x="1371600" y="4445000"/>
            <a:ext cx="68453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B6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function as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5D4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squared distance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</a:t>
            </a:r>
            <a:pPr algn="l" indent="0" marL="0">
              <a:lnSpc>
                <a:spcPts val="2000"/>
              </a:lnSpc>
              <a:buNone/>
            </a:pPr>
            <a:r>
              <a:rPr lang="en-US" sz="17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Ŷ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000"/>
              </a:lnSpc>
              <a:buNone/>
            </a:pPr>
            <a:r>
              <a:rPr lang="en-US" sz="1700" b="1" i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700" dirty="0"/>
          </a:p>
        </p:txBody>
      </p:sp>
      <p:sp>
        <p:nvSpPr>
          <p:cNvPr id="33" name="Shape 29"/>
          <p:cNvSpPr/>
          <p:nvPr/>
        </p:nvSpPr>
        <p:spPr>
          <a:xfrm>
            <a:off x="1130300" y="5067300"/>
            <a:ext cx="4851400" cy="622300"/>
          </a:xfrm>
          <a:prstGeom prst="rect">
            <a:avLst/>
          </a:prstGeom>
          <a:solidFill>
            <a:srgbClr val="F9DFC8"/>
          </a:solidFill>
          <a:ln w="19050">
            <a:solidFill>
              <a:srgbClr val="742C2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769100" y="5067300"/>
            <a:ext cx="4406900" cy="622300"/>
          </a:xfrm>
          <a:prstGeom prst="rect">
            <a:avLst/>
          </a:prstGeom>
          <a:solidFill>
            <a:srgbClr val="F9FEDE"/>
          </a:solidFill>
          <a:ln w="19050">
            <a:solidFill>
              <a:srgbClr val="1E0060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267460" y="5140452"/>
            <a:ext cx="4577080" cy="47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Term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||Y-Ŷ||</a:t>
            </a:r>
            <a:pPr algn="l" indent="0" marL="0">
              <a:lnSpc>
                <a:spcPts val="2000"/>
              </a:lnSpc>
              <a:buNone/>
            </a:pPr>
            <a:r>
              <a:rPr lang="en-US" sz="1700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(Y-Ŷ)</a:t>
            </a:r>
            <a:pPr algn="l" indent="0" marL="0">
              <a:lnSpc>
                <a:spcPts val="2000"/>
              </a:lnSpc>
              <a:buNone/>
            </a:pPr>
            <a:r>
              <a:rPr lang="en-US" sz="1700" baseline="3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(Y-Ŷ)</a:t>
            </a:r>
            <a:endParaRPr lang="en-US" sz="1700" dirty="0"/>
          </a:p>
        </p:txBody>
      </p:sp>
      <p:sp>
        <p:nvSpPr>
          <p:cNvPr id="36" name="Text 32"/>
          <p:cNvSpPr/>
          <p:nvPr/>
        </p:nvSpPr>
        <p:spPr>
          <a:xfrm>
            <a:off x="6906260" y="5140452"/>
            <a:ext cx="4132580" cy="475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0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Term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 = ||W||</a:t>
            </a:r>
            <a:pPr algn="l" indent="0" marL="0">
              <a:lnSpc>
                <a:spcPts val="2000"/>
              </a:lnSpc>
              <a:buNone/>
            </a:pPr>
            <a:r>
              <a:rPr lang="en-US" sz="1700" baseline="30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l" indent="0" marL="0">
              <a:lnSpc>
                <a:spcPts val="2000"/>
              </a:lnSpc>
              <a:buNone/>
            </a:pPr>
            <a:r>
              <a:rPr lang="en-US" sz="1700" baseline="30000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008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700" dirty="0"/>
          </a:p>
        </p:txBody>
      </p:sp>
      <p:sp>
        <p:nvSpPr>
          <p:cNvPr id="37" name="Shape 33"/>
          <p:cNvSpPr/>
          <p:nvPr/>
        </p:nvSpPr>
        <p:spPr>
          <a:xfrm>
            <a:off x="1104900" y="5956300"/>
            <a:ext cx="10071100" cy="749300"/>
          </a:xfrm>
          <a:prstGeom prst="rect">
            <a:avLst/>
          </a:prstGeom>
          <a:solidFill>
            <a:srgbClr val="ECFFFD"/>
          </a:solidFill>
          <a:ln w="19050">
            <a:solidFill>
              <a:srgbClr val="1E006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104900" y="5956300"/>
            <a:ext cx="100711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39" name="Shape 35"/>
          <p:cNvSpPr/>
          <p:nvPr/>
        </p:nvSpPr>
        <p:spPr>
          <a:xfrm>
            <a:off x="1104900" y="6667500"/>
            <a:ext cx="10071100" cy="38100"/>
          </a:xfrm>
          <a:prstGeom prst="rect">
            <a:avLst/>
          </a:prstGeom>
          <a:solidFill>
            <a:srgbClr val="1E0060"/>
          </a:solidFill>
          <a:ln/>
        </p:spPr>
      </p:sp>
      <p:sp>
        <p:nvSpPr>
          <p:cNvPr id="40" name="Text 36"/>
          <p:cNvSpPr/>
          <p:nvPr/>
        </p:nvSpPr>
        <p:spPr>
          <a:xfrm>
            <a:off x="2110740" y="5994400"/>
            <a:ext cx="219456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 </a:t>
            </a:r>
            <a:endParaRPr lang="en-US" sz="1700" dirty="0"/>
          </a:p>
        </p:txBody>
      </p:sp>
      <p:pic>
        <p:nvPicPr>
          <p:cNvPr id="41" name="Image 2" descr="videos/machine-learning/03_ridger_regression_gradient_descent/recreated_pptx/build/assets/eq_014_f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0" y="6083300"/>
            <a:ext cx="3643884" cy="3870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2026-10-25T04:08:19Z</dcterms:created>
  <dcterms:modified xsi:type="dcterms:W3CDTF">2026-10-25T04:08:19Z</dcterms:modified>
</cp:coreProperties>
</file>