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27100" y="749300"/>
            <a:ext cx="8153400" cy="838200"/>
          </a:xfrm>
          <a:prstGeom prst="rect">
            <a:avLst/>
          </a:prstGeom>
          <a:solidFill>
            <a:srgbClr val="FFF8E0"/>
          </a:solidFill>
          <a:ln/>
        </p:spPr>
      </p:sp>
      <p:sp>
        <p:nvSpPr>
          <p:cNvPr id="9" name="Shape 7"/>
          <p:cNvSpPr/>
          <p:nvPr/>
        </p:nvSpPr>
        <p:spPr>
          <a:xfrm>
            <a:off x="863600" y="685800"/>
            <a:ext cx="8267700" cy="965200"/>
          </a:xfrm>
          <a:prstGeom prst="rect">
            <a:avLst/>
          </a:prstGeom>
          <a:ln w="12700">
            <a:solidFill>
              <a:srgbClr val="201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5200" y="7778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44600" y="7778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24000" y="7778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03400" y="7778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2800" y="7778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62200" y="7778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9800" y="9810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19200" y="9810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98600" y="9810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78000" y="9810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7400" y="9810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6800" y="9810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9800" y="11842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19200" y="11842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98600" y="11842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78000" y="11842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7400" y="11842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36800" y="1184275"/>
            <a:ext cx="5588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65200" y="14001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44600" y="14001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24000" y="14001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03400" y="14001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82800" y="14001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62200" y="1400175"/>
            <a:ext cx="508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3700" y="746125"/>
            <a:ext cx="1524000" cy="36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η = 2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378200" y="927100"/>
            <a:ext cx="965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 W =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68800" y="996950"/>
            <a:ext cx="3810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68800" y="1200150"/>
            <a:ext cx="381000" cy="30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97350" y="7874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7350" y="787400"/>
            <a:ext cx="0" cy="546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7300" y="981075"/>
            <a:ext cx="1143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classes of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493000" y="7778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85100" y="7778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77200" y="7778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Z1</a:t>
            </a:r>
            <a:endParaRPr lang="en-US" sz="1100" dirty="0"/>
          </a:p>
        </p:txBody>
      </p:sp>
      <p:pic>
        <p:nvPicPr>
          <p:cNvPr id="44" name="Image 0" descr="/workspaces/codespaces-blank/ai_llm_slides/videos/machine-learning/03_ridger_regression_gradient_descent/recreated_pptx/build/assets/eq043_mx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252" y="1037336"/>
            <a:ext cx="190497" cy="338328"/>
          </a:xfrm>
          <a:prstGeom prst="rect">
            <a:avLst/>
          </a:prstGeom>
        </p:spPr>
      </p:pic>
      <p:pic>
        <p:nvPicPr>
          <p:cNvPr id="45" name="Image 1" descr="/workspaces/codespaces-blank/ai_llm_slides/videos/machine-learning/03_ridger_regression_gradient_descent/recreated_pptx/build/assets/eq043_mx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52" y="1038100"/>
            <a:ext cx="190497" cy="336801"/>
          </a:xfrm>
          <a:prstGeom prst="rect">
            <a:avLst/>
          </a:prstGeom>
        </p:spPr>
      </p:pic>
      <p:pic>
        <p:nvPicPr>
          <p:cNvPr id="46" name="Image 2" descr="/workspaces/codespaces-blank/ai_llm_slides/videos/machine-learning/03_ridger_regression_gradient_descent/recreated_pptx/build/assets/eq043_mx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2" y="1035050"/>
            <a:ext cx="190497" cy="342900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3035300" y="1358900"/>
            <a:ext cx="20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3251200" y="1358900"/>
            <a:ext cx="71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positive, </a:t>
            </a:r>
            <a:endParaRPr lang="en-US" sz="1200" dirty="0"/>
          </a:p>
        </p:txBody>
      </p:sp>
      <p:sp>
        <p:nvSpPr>
          <p:cNvPr id="49" name="Text 44"/>
          <p:cNvSpPr/>
          <p:nvPr/>
        </p:nvSpPr>
        <p:spPr>
          <a:xfrm>
            <a:off x="3962400" y="1358900"/>
            <a:ext cx="203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4178300" y="1358900"/>
            <a:ext cx="812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negative, 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5029200" y="1358900"/>
            <a:ext cx="38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5473700" y="1358900"/>
            <a:ext cx="1397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unaccepted</a:t>
            </a:r>
            <a:endParaRPr lang="en-US" sz="1200" dirty="0"/>
          </a:p>
        </p:txBody>
      </p:sp>
      <p:sp>
        <p:nvSpPr>
          <p:cNvPr id="53" name="Shape 48"/>
          <p:cNvSpPr/>
          <p:nvPr/>
        </p:nvSpPr>
        <p:spPr>
          <a:xfrm>
            <a:off x="889000" y="1778000"/>
            <a:ext cx="2235200" cy="1460500"/>
          </a:xfrm>
          <a:prstGeom prst="rect">
            <a:avLst/>
          </a:prstGeom>
          <a:ln w="12700">
            <a:solidFill>
              <a:srgbClr val="C0C3CA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1003300" y="1819275"/>
            <a:ext cx="2032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B3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Augmented Vectors (from Top)</a:t>
            </a:r>
            <a:endParaRPr lang="en-US" sz="1100" dirty="0"/>
          </a:p>
        </p:txBody>
      </p:sp>
      <p:sp>
        <p:nvSpPr>
          <p:cNvPr id="55" name="Text 50"/>
          <p:cNvSpPr/>
          <p:nvPr/>
        </p:nvSpPr>
        <p:spPr>
          <a:xfrm>
            <a:off x="1028700" y="20732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1100" dirty="0"/>
          </a:p>
        </p:txBody>
      </p:sp>
      <p:sp>
        <p:nvSpPr>
          <p:cNvPr id="56" name="Text 51"/>
          <p:cNvSpPr/>
          <p:nvPr/>
        </p:nvSpPr>
        <p:spPr>
          <a:xfrm>
            <a:off x="1308100" y="20732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</a:t>
            </a:r>
            <a:endParaRPr lang="en-US" sz="1100" dirty="0"/>
          </a:p>
        </p:txBody>
      </p:sp>
      <p:sp>
        <p:nvSpPr>
          <p:cNvPr id="57" name="Text 52"/>
          <p:cNvSpPr/>
          <p:nvPr/>
        </p:nvSpPr>
        <p:spPr>
          <a:xfrm>
            <a:off x="1587500" y="20732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1866900" y="20732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</a:t>
            </a:r>
            <a:endParaRPr lang="en-US" sz="1100" dirty="0"/>
          </a:p>
        </p:txBody>
      </p:sp>
      <p:sp>
        <p:nvSpPr>
          <p:cNvPr id="59" name="Text 54"/>
          <p:cNvSpPr/>
          <p:nvPr/>
        </p:nvSpPr>
        <p:spPr>
          <a:xfrm>
            <a:off x="2146300" y="20732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x5</a:t>
            </a:r>
            <a:endParaRPr lang="en-US" sz="1100" dirty="0"/>
          </a:p>
        </p:txBody>
      </p:sp>
      <p:sp>
        <p:nvSpPr>
          <p:cNvPr id="60" name="Text 55"/>
          <p:cNvSpPr/>
          <p:nvPr/>
        </p:nvSpPr>
        <p:spPr>
          <a:xfrm>
            <a:off x="2425700" y="2073275"/>
            <a:ext cx="38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x6</a:t>
            </a:r>
            <a:endParaRPr lang="en-US" sz="1100" dirty="0"/>
          </a:p>
        </p:txBody>
      </p:sp>
      <p:pic>
        <p:nvPicPr>
          <p:cNvPr id="61" name="Image 3" descr="/workspaces/codespaces-blank/ai_llm_slides/videos/machine-learning/03_ridger_regression_gradient_descent/recreated_pptx/build/assets/aug_04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2311400"/>
            <a:ext cx="1854200" cy="762000"/>
          </a:xfrm>
          <a:prstGeom prst="rect">
            <a:avLst/>
          </a:prstGeom>
        </p:spPr>
      </p:pic>
      <p:sp>
        <p:nvSpPr>
          <p:cNvPr id="62" name="Shape 56"/>
          <p:cNvSpPr/>
          <p:nvPr/>
        </p:nvSpPr>
        <p:spPr>
          <a:xfrm>
            <a:off x="3492500" y="17780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3492500" y="25019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3492500" y="26162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3492500" y="34544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66" name="Shape 60"/>
          <p:cNvSpPr/>
          <p:nvPr/>
        </p:nvSpPr>
        <p:spPr>
          <a:xfrm>
            <a:off x="3492500" y="41656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3492500" y="42799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3492500" y="51308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3492500" y="58547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3492500" y="59690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3492500" y="6705600"/>
            <a:ext cx="7327900" cy="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72" name="Shape 66"/>
          <p:cNvSpPr/>
          <p:nvPr/>
        </p:nvSpPr>
        <p:spPr>
          <a:xfrm>
            <a:off x="10553700" y="1778000"/>
            <a:ext cx="0" cy="492760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10807700" y="1778000"/>
            <a:ext cx="0" cy="4927600"/>
          </a:xfrm>
          <a:prstGeom prst="line">
            <a:avLst/>
          </a:prstGeom>
          <a:noFill/>
          <a:ln w="9525">
            <a:solidFill>
              <a:srgbClr val="C0C3CA"/>
            </a:solidFill>
            <a:prstDash val="solid"/>
          </a:ln>
        </p:spPr>
      </p:sp>
      <p:pic>
        <p:nvPicPr>
          <p:cNvPr id="74" name="Image 4" descr="/workspaces/codespaces-blank/ai_llm_slides/videos/machine-learning/03_ridger_regression_gradient_descent/recreated_pptx/build/assets/eq_043_dx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4900" y="1980184"/>
            <a:ext cx="6883400" cy="182880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3644900" y="2162175"/>
            <a:ext cx="165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100" dirty="0"/>
          </a:p>
        </p:txBody>
      </p:sp>
      <p:pic>
        <p:nvPicPr>
          <p:cNvPr id="76" name="Image 5" descr="/workspaces/codespaces-blank/ai_llm_slides/videos/machine-learning/03_ridger_regression_gradient_descent/recreated_pptx/build/assets/eq_043_w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400" y="2274570"/>
            <a:ext cx="5156200" cy="182880"/>
          </a:xfrm>
          <a:prstGeom prst="rect">
            <a:avLst/>
          </a:prstGeom>
        </p:spPr>
      </p:pic>
      <p:pic>
        <p:nvPicPr>
          <p:cNvPr id="77" name="Image 6" descr="/workspaces/codespaces-blank/ai_llm_slides/videos/machine-learning/03_ridger_regression_gradient_descent/recreated_pptx/build/assets/eq_043_dx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4900" y="2856484"/>
            <a:ext cx="6743700" cy="182880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3644900" y="3038475"/>
            <a:ext cx="165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100" dirty="0"/>
          </a:p>
        </p:txBody>
      </p:sp>
      <p:pic>
        <p:nvPicPr>
          <p:cNvPr id="79" name="Image 7" descr="/workspaces/codespaces-blank/ai_llm_slides/videos/machine-learning/03_ridger_regression_gradient_descent/recreated_pptx/build/assets/eq_043_w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1400" y="3150870"/>
            <a:ext cx="5067300" cy="182880"/>
          </a:xfrm>
          <a:prstGeom prst="rect">
            <a:avLst/>
          </a:prstGeom>
        </p:spPr>
      </p:pic>
      <p:pic>
        <p:nvPicPr>
          <p:cNvPr id="80" name="Image 8" descr="/workspaces/codespaces-blank/ai_llm_slides/videos/machine-learning/03_ridger_regression_gradient_descent/recreated_pptx/build/assets/eq_043_dx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4900" y="3616962"/>
            <a:ext cx="6667500" cy="182880"/>
          </a:xfrm>
          <a:prstGeom prst="rect">
            <a:avLst/>
          </a:prstGeom>
        </p:spPr>
      </p:pic>
      <p:sp>
        <p:nvSpPr>
          <p:cNvPr id="81" name="Text 70"/>
          <p:cNvSpPr/>
          <p:nvPr/>
        </p:nvSpPr>
        <p:spPr>
          <a:xfrm>
            <a:off x="3644900" y="3800475"/>
            <a:ext cx="165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Weight</a:t>
            </a:r>
            <a:endParaRPr lang="en-US" sz="1100" dirty="0"/>
          </a:p>
        </p:txBody>
      </p:sp>
      <p:pic>
        <p:nvPicPr>
          <p:cNvPr id="82" name="Image 9" descr="/workspaces/codespaces-blank/ai_llm_slides/videos/machine-learning/03_ridger_regression_gradient_descent/recreated_pptx/build/assets/eq_043_w3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100" y="3912870"/>
            <a:ext cx="4991100" cy="182880"/>
          </a:xfrm>
          <a:prstGeom prst="rect">
            <a:avLst/>
          </a:prstGeom>
        </p:spPr>
      </p:pic>
      <p:pic>
        <p:nvPicPr>
          <p:cNvPr id="83" name="Image 10" descr="/workspaces/codespaces-blank/ai_llm_slides/videos/machine-learning/03_ridger_regression_gradient_descent/recreated_pptx/build/assets/eq_043_dx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4900" y="4456684"/>
            <a:ext cx="6553200" cy="182880"/>
          </a:xfrm>
          <a:prstGeom prst="rect">
            <a:avLst/>
          </a:prstGeom>
        </p:spPr>
      </p:pic>
      <p:sp>
        <p:nvSpPr>
          <p:cNvPr id="84" name="Text 71"/>
          <p:cNvSpPr/>
          <p:nvPr/>
        </p:nvSpPr>
        <p:spPr>
          <a:xfrm>
            <a:off x="3644900" y="4638675"/>
            <a:ext cx="165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100" dirty="0"/>
          </a:p>
        </p:txBody>
      </p:sp>
      <p:pic>
        <p:nvPicPr>
          <p:cNvPr id="85" name="Image 11" descr="/workspaces/codespaces-blank/ai_llm_slides/videos/machine-learning/03_ridger_regression_gradient_descent/recreated_pptx/build/assets/eq_043_w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6800" y="4751070"/>
            <a:ext cx="4851400" cy="182880"/>
          </a:xfrm>
          <a:prstGeom prst="rect">
            <a:avLst/>
          </a:prstGeom>
        </p:spPr>
      </p:pic>
      <p:pic>
        <p:nvPicPr>
          <p:cNvPr id="86" name="Image 12" descr="/workspaces/codespaces-blank/ai_llm_slides/videos/machine-learning/03_ridger_regression_gradient_descent/recreated_pptx/build/assets/eq_043_dx5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94100" y="5293362"/>
            <a:ext cx="6337300" cy="182880"/>
          </a:xfrm>
          <a:prstGeom prst="rect">
            <a:avLst/>
          </a:prstGeom>
        </p:spPr>
      </p:pic>
      <p:sp>
        <p:nvSpPr>
          <p:cNvPr id="87" name="Text 72"/>
          <p:cNvSpPr/>
          <p:nvPr/>
        </p:nvSpPr>
        <p:spPr>
          <a:xfrm>
            <a:off x="3594100" y="5476875"/>
            <a:ext cx="165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100" dirty="0"/>
          </a:p>
        </p:txBody>
      </p:sp>
      <p:pic>
        <p:nvPicPr>
          <p:cNvPr id="88" name="Image 13" descr="/workspaces/codespaces-blank/ai_llm_slides/videos/machine-learning/03_ridger_regression_gradient_descent/recreated_pptx/build/assets/eq_043_w5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6000" y="5589270"/>
            <a:ext cx="5105400" cy="182880"/>
          </a:xfrm>
          <a:prstGeom prst="rect">
            <a:avLst/>
          </a:prstGeom>
        </p:spPr>
      </p:pic>
      <p:pic>
        <p:nvPicPr>
          <p:cNvPr id="89" name="Image 14" descr="/workspaces/codespaces-blank/ai_llm_slides/videos/machine-learning/03_ridger_regression_gradient_descent/recreated_pptx/build/assets/eq_043_dx6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06800" y="6118862"/>
            <a:ext cx="6311900" cy="182880"/>
          </a:xfrm>
          <a:prstGeom prst="rect">
            <a:avLst/>
          </a:prstGeom>
        </p:spPr>
      </p:pic>
      <p:sp>
        <p:nvSpPr>
          <p:cNvPr id="90" name="Text 73"/>
          <p:cNvSpPr/>
          <p:nvPr/>
        </p:nvSpPr>
        <p:spPr>
          <a:xfrm>
            <a:off x="3606800" y="6302375"/>
            <a:ext cx="16510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same Weight</a:t>
            </a:r>
            <a:endParaRPr lang="en-US" sz="1100" dirty="0"/>
          </a:p>
        </p:txBody>
      </p:sp>
      <p:pic>
        <p:nvPicPr>
          <p:cNvPr id="91" name="Image 15" descr="/workspaces/codespaces-blank/ai_llm_slides/videos/machine-learning/03_ridger_regression_gradient_descent/recreated_pptx/build/assets/eq_043_w6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6000" y="6414770"/>
            <a:ext cx="5092700" cy="182880"/>
          </a:xfrm>
          <a:prstGeom prst="rect">
            <a:avLst/>
          </a:prstGeom>
        </p:spPr>
      </p:pic>
      <p:sp>
        <p:nvSpPr>
          <p:cNvPr id="92" name="Shape 74"/>
          <p:cNvSpPr/>
          <p:nvPr/>
        </p:nvSpPr>
        <p:spPr>
          <a:xfrm>
            <a:off x="4800600" y="4470400"/>
            <a:ext cx="-5715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93" name="Shape 75"/>
          <p:cNvSpPr/>
          <p:nvPr/>
        </p:nvSpPr>
        <p:spPr>
          <a:xfrm>
            <a:off x="4800600" y="5308600"/>
            <a:ext cx="-5715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94" name="Shape 76"/>
          <p:cNvSpPr/>
          <p:nvPr/>
        </p:nvSpPr>
        <p:spPr>
          <a:xfrm>
            <a:off x="4800600" y="6146800"/>
            <a:ext cx="-5715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95" name="Shape 77"/>
          <p:cNvSpPr/>
          <p:nvPr/>
        </p:nvSpPr>
        <p:spPr>
          <a:xfrm>
            <a:off x="8712200" y="4635500"/>
            <a:ext cx="-165100" cy="0"/>
          </a:xfrm>
          <a:prstGeom prst="line">
            <a:avLst/>
          </a:prstGeom>
          <a:noFill/>
          <a:ln w="12700">
            <a:solidFill>
              <a:srgbClr val="0000FF"/>
            </a:solidFill>
            <a:prstDash val="solid"/>
            <a:tailEnd type="triangle"/>
          </a:ln>
        </p:spPr>
      </p:sp>
      <p:sp>
        <p:nvSpPr>
          <p:cNvPr id="96" name="Shape 78"/>
          <p:cNvSpPr/>
          <p:nvPr/>
        </p:nvSpPr>
        <p:spPr>
          <a:xfrm>
            <a:off x="1066800" y="3517900"/>
            <a:ext cx="1651000" cy="3556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7" name="Text 79"/>
          <p:cNvSpPr/>
          <p:nvPr/>
        </p:nvSpPr>
        <p:spPr>
          <a:xfrm>
            <a:off x="1066800" y="3619500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2026-10-24T12:07:17Z</dcterms:created>
  <dcterms:modified xsi:type="dcterms:W3CDTF">2026-10-24T12:07:17Z</dcterms:modified>
</cp:coreProperties>
</file>