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73300" y="939800"/>
            <a:ext cx="812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Inverse Problem of Singular Matrix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65200" y="1638300"/>
            <a:ext cx="10287000" cy="1638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65200" y="1638300"/>
            <a:ext cx="10287000" cy="1638300"/>
          </a:xfrm>
          <a:prstGeom prst="rect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5200" y="3657600"/>
            <a:ext cx="103251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5200" y="3657600"/>
            <a:ext cx="10325100" cy="1651000"/>
          </a:xfrm>
          <a:prstGeom prst="rect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5200" y="5549900"/>
            <a:ext cx="10325100" cy="118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200" y="5549900"/>
            <a:ext cx="10325100" cy="1181100"/>
          </a:xfrm>
          <a:prstGeom prst="rect">
            <a:avLst/>
          </a:prstGeom>
          <a:noFill/>
          <a:ln w="12700">
            <a:solidFill>
              <a:srgbClr val="0000FF"/>
            </a:solidFill>
            <a:prstDash val="solid"/>
          </a:ln>
        </p:spPr>
      </p:sp>
      <p:pic>
        <p:nvPicPr>
          <p:cNvPr id="15" name="Image 0" descr="/workspaces/codespaces-blank/ai_llm_slides/videos/machine-learning/03_ridger_regression_gradient_descent/recreated_pptx/build/assets/eq_021_xt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708" y="1676908"/>
            <a:ext cx="571500" cy="283464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1900" y="2197100"/>
          <a:ext cx="2616200" cy="673100"/>
        </p:xfrm>
        <a:graphic>
          <a:graphicData uri="http://schemas.openxmlformats.org/drawingml/2006/table">
            <a:tbl>
              <a:tblPr/>
              <a:tblGrid>
                <a:gridCol w="872067"/>
                <a:gridCol w="872067"/>
                <a:gridCol w="872067"/>
              </a:tblGrid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14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15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46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20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80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92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7" name="Image 1" descr="/workspaces/codespaces-blank/ai_llm_slides/videos/machine-learning/03_ridger_regression_gradient_descent/recreated_pptx/build/assets/eq_021_det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08" y="2362708"/>
            <a:ext cx="1210056" cy="3505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842000" y="2552700"/>
            <a:ext cx="2032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19" name="Text 14"/>
          <p:cNvSpPr/>
          <p:nvPr/>
        </p:nvSpPr>
        <p:spPr>
          <a:xfrm>
            <a:off x="6248400" y="24130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Singular Matrix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8382000" y="2552700"/>
            <a:ext cx="2159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8940800" y="24257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 Inverse</a:t>
            </a:r>
            <a:endParaRPr lang="en-US" sz="2100" dirty="0"/>
          </a:p>
        </p:txBody>
      </p:sp>
      <p:pic>
        <p:nvPicPr>
          <p:cNvPr id="22" name="Image 2" descr="/workspaces/codespaces-blank/ai_llm_slides/videos/machine-learning/03_ridger_regression_gradient_descent/recreated_pptx/build/assets/eq_021_reg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08" y="3797808"/>
            <a:ext cx="1432560" cy="345948"/>
          </a:xfrm>
          <a:prstGeom prst="rect">
            <a:avLst/>
          </a:prstGeom>
        </p:spPr>
      </p:pic>
      <p:pic>
        <p:nvPicPr>
          <p:cNvPr id="23" name="Image 3" descr="/workspaces/codespaces-blank/ai_llm_slides/videos/machine-learning/03_ridger_regression_gradient_descent/recreated_pptx/build/assets/eq_021_lambda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308" y="3848608"/>
            <a:ext cx="579120" cy="20116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358900" y="4381500"/>
            <a:ext cx="469900" cy="165100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5" name="Shape 18"/>
          <p:cNvSpPr/>
          <p:nvPr/>
        </p:nvSpPr>
        <p:spPr>
          <a:xfrm>
            <a:off x="2197100" y="4610100"/>
            <a:ext cx="482600" cy="152400"/>
          </a:xfrm>
          <a:prstGeom prst="rect">
            <a:avLst/>
          </a:prstGeom>
          <a:solidFill>
            <a:srgbClr val="FDFD96"/>
          </a:solidFill>
          <a:ln/>
        </p:spPr>
      </p:sp>
      <p:sp>
        <p:nvSpPr>
          <p:cNvPr id="26" name="Shape 19"/>
          <p:cNvSpPr/>
          <p:nvPr/>
        </p:nvSpPr>
        <p:spPr>
          <a:xfrm>
            <a:off x="3086100" y="4826000"/>
            <a:ext cx="469900" cy="165100"/>
          </a:xfrm>
          <a:prstGeom prst="rect">
            <a:avLst/>
          </a:prstGeom>
          <a:solidFill>
            <a:srgbClr val="FDFD96"/>
          </a:solidFill>
          <a:ln/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0300" y="4330700"/>
          <a:ext cx="2616200" cy="685800"/>
        </p:xfrm>
        <a:graphic>
          <a:graphicData uri="http://schemas.openxmlformats.org/drawingml/2006/table">
            <a:tbl>
              <a:tblPr/>
              <a:tblGrid>
                <a:gridCol w="872067"/>
                <a:gridCol w="872067"/>
                <a:gridCol w="872067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17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15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10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43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46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20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80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95</a:t>
                      </a:r>
                      <a:endParaRPr lang="en-US" sz="14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8" name="Image 4" descr="/workspaces/codespaces-blank/ai_llm_slides/videos/machine-learning/03_ridger_regression_gradient_descent/recreated_pptx/build/assets/eq_021_d568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408" y="4483608"/>
            <a:ext cx="1621536" cy="32766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210300" y="4673600"/>
            <a:ext cx="2032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30" name="Text 21"/>
          <p:cNvSpPr/>
          <p:nvPr/>
        </p:nvSpPr>
        <p:spPr>
          <a:xfrm>
            <a:off x="6286500" y="45212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dirty="0">
                <a:solidFill>
                  <a:srgbClr val="0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Non-Singular Matrix</a:t>
            </a:r>
            <a:endParaRPr lang="en-US" sz="2350" dirty="0"/>
          </a:p>
        </p:txBody>
      </p:sp>
      <p:sp>
        <p:nvSpPr>
          <p:cNvPr id="31" name="Shape 22"/>
          <p:cNvSpPr/>
          <p:nvPr/>
        </p:nvSpPr>
        <p:spPr>
          <a:xfrm>
            <a:off x="9245600" y="4673600"/>
            <a:ext cx="2032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32" name="Text 23"/>
          <p:cNvSpPr/>
          <p:nvPr/>
        </p:nvSpPr>
        <p:spPr>
          <a:xfrm>
            <a:off x="9664700" y="4533900"/>
            <a:ext cx="177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C00000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Inverse Exists</a:t>
            </a:r>
            <a:endParaRPr lang="en-US" sz="2100" dirty="0"/>
          </a:p>
        </p:txBody>
      </p:sp>
      <p:pic>
        <p:nvPicPr>
          <p:cNvPr id="33" name="Image 5" descr="/workspaces/codespaces-blank/ai_llm_slides/videos/machine-learning/03_ridger_regression_gradient_descent/recreated_pptx/build/assets/eq_021_invexp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308" y="5906008"/>
            <a:ext cx="1757172" cy="34594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4622800" y="6096000"/>
            <a:ext cx="203200" cy="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  <a:tailEnd type="triangle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6700" y="5816600"/>
          <a:ext cx="2603500" cy="673100"/>
        </p:xfrm>
        <a:graphic>
          <a:graphicData uri="http://schemas.openxmlformats.org/drawingml/2006/table">
            <a:tbl>
              <a:tblPr/>
              <a:tblGrid>
                <a:gridCol w="867833"/>
                <a:gridCol w="867833"/>
                <a:gridCol w="867833"/>
              </a:tblGrid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0.07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0.04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-0.03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-0.01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0.23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-0.11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-0.01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-0.2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Liberation Serif" pitchFamily="34" charset="0"/>
                          <a:ea typeface="Liberation Serif" pitchFamily="34" charset="-122"/>
                          <a:cs typeface="Liberation Serif" pitchFamily="34" charset="-120"/>
                        </a:rPr>
                        <a:t>0.11</a:t>
                      </a:r>
                      <a:endParaRPr lang="en-US" sz="1300" dirty="0">
                        <a:latin typeface="Liberation Serif" charset="0"/>
                        <a:ea typeface="Liberation Serif" charset="0"/>
                        <a:cs typeface="Liberation Serif" charset="0"/>
                      </a:endParaRPr>
                    </a:p>
                  </a:txBody>
                  <a:tcPr marL="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9090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2026-10-24T10:10:04Z</dcterms:created>
  <dcterms:modified xsi:type="dcterms:W3CDTF">2026-10-24T10:10:04Z</dcterms:modified>
</cp:coreProperties>
</file>