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823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4" name="Shape 2"/>
          <p:cNvSpPr/>
          <p:nvPr/>
        </p:nvSpPr>
        <p:spPr>
          <a:xfrm>
            <a:off x="11442700" y="571500"/>
            <a:ext cx="12700" cy="6286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38950"/>
            <a:ext cx="107823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127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273300" y="939800"/>
            <a:ext cx="8128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Problem of Singular Matrix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965200" y="1638300"/>
            <a:ext cx="10287000" cy="16383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5200" y="3657600"/>
            <a:ext cx="10325100" cy="16510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65200" y="5549900"/>
            <a:ext cx="10325100" cy="1181100"/>
          </a:xfrm>
          <a:prstGeom prst="rect">
            <a:avLst/>
          </a:prstGeom>
          <a:noFill/>
          <a:ln w="12700">
            <a:solidFill>
              <a:srgbClr val="0000FF"/>
            </a:solidFill>
            <a:prstDash val="solid"/>
          </a:ln>
        </p:spPr>
      </p:sp>
      <p:pic>
        <p:nvPicPr>
          <p:cNvPr id="15" name="Image 0" descr="/home/ahmed/Projects/ai_llm_slides/videos/machine-learning/03_ridger_regression_gradient_descent/recreated_pptx/build/assets/eq_021_x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708" y="1676908"/>
            <a:ext cx="571500" cy="283464"/>
          </a:xfrm>
          <a:prstGeom prst="rect">
            <a:avLst/>
          </a:prstGeom>
        </p:spPr>
      </p:pic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1900" y="2197100"/>
          <a:ext cx="2616200" cy="673100"/>
        </p:xfrm>
        <a:graphic>
          <a:graphicData uri="http://schemas.openxmlformats.org/drawingml/2006/table">
            <a:tbl>
              <a:tblPr/>
              <a:tblGrid>
                <a:gridCol w="872067"/>
                <a:gridCol w="872067"/>
                <a:gridCol w="872067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14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92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17" name="Image 1" descr="/home/ahmed/Projects/ai_llm_slides/videos/machine-learning/03_ridger_regression_gradient_descent/recreated_pptx/build/assets/eq_021_det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08" y="2362708"/>
            <a:ext cx="1210056" cy="3505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803900" y="24384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19" name="Text 14"/>
          <p:cNvSpPr/>
          <p:nvPr/>
        </p:nvSpPr>
        <p:spPr>
          <a:xfrm>
            <a:off x="6248400" y="2413000"/>
            <a:ext cx="203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Singular Matrix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43900" y="2438400"/>
            <a:ext cx="469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sp>
        <p:nvSpPr>
          <p:cNvPr id="21" name="Text 16"/>
          <p:cNvSpPr/>
          <p:nvPr/>
        </p:nvSpPr>
        <p:spPr>
          <a:xfrm>
            <a:off x="8940800" y="2425700"/>
            <a:ext cx="152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 Inverse</a:t>
            </a:r>
            <a:endParaRPr lang="en-US" sz="2100" dirty="0"/>
          </a:p>
        </p:txBody>
      </p:sp>
      <p:pic>
        <p:nvPicPr>
          <p:cNvPr id="22" name="Image 2" descr="/home/ahmed/Projects/ai_llm_slides/videos/machine-learning/03_ridger_regression_gradient_descent/recreated_pptx/build/assets/eq_021_regm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108" y="3797808"/>
            <a:ext cx="1432560" cy="345948"/>
          </a:xfrm>
          <a:prstGeom prst="rect">
            <a:avLst/>
          </a:prstGeom>
        </p:spPr>
      </p:pic>
      <p:pic>
        <p:nvPicPr>
          <p:cNvPr id="23" name="Image 3" descr="/home/ahmed/Projects/ai_llm_slides/videos/machine-learning/03_ridger_regression_gradient_descent/recreated_pptx/build/assets/eq_021_lambda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9308" y="3848608"/>
            <a:ext cx="579120" cy="201168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1358900" y="4318000"/>
            <a:ext cx="469900" cy="3048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5" name="Shape 18"/>
          <p:cNvSpPr/>
          <p:nvPr/>
        </p:nvSpPr>
        <p:spPr>
          <a:xfrm>
            <a:off x="2197100" y="4521200"/>
            <a:ext cx="482600" cy="292100"/>
          </a:xfrm>
          <a:prstGeom prst="ellipse">
            <a:avLst/>
          </a:prstGeom>
          <a:solidFill>
            <a:srgbClr val="FDFD96"/>
          </a:solidFill>
          <a:ln/>
        </p:spPr>
      </p:sp>
      <p:sp>
        <p:nvSpPr>
          <p:cNvPr id="26" name="Shape 19"/>
          <p:cNvSpPr/>
          <p:nvPr/>
        </p:nvSpPr>
        <p:spPr>
          <a:xfrm>
            <a:off x="3086100" y="4711700"/>
            <a:ext cx="469900" cy="292100"/>
          </a:xfrm>
          <a:prstGeom prst="ellipse">
            <a:avLst/>
          </a:prstGeom>
          <a:solidFill>
            <a:srgbClr val="FDFD96"/>
          </a:solidFill>
          <a:ln/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30300" y="4330700"/>
          <a:ext cx="2413000" cy="685800"/>
        </p:xfrm>
        <a:graphic>
          <a:graphicData uri="http://schemas.openxmlformats.org/drawingml/2006/table">
            <a:tbl>
              <a:tblPr/>
              <a:tblGrid>
                <a:gridCol w="804333"/>
                <a:gridCol w="804333"/>
                <a:gridCol w="804333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17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10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43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46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20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80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95</a:t>
                      </a:r>
                      <a:endParaRPr lang="en-US" sz="14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28" name="Image 4" descr="/home/ahmed/Projects/ai_llm_slides/videos/machine-learning/03_ridger_regression_gradient_descent/recreated_pptx/build/assets/eq_021_d568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0408" y="4483608"/>
            <a:ext cx="1621536" cy="32766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1341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0" name="Text 21"/>
          <p:cNvSpPr/>
          <p:nvPr/>
        </p:nvSpPr>
        <p:spPr>
          <a:xfrm>
            <a:off x="6540500" y="45212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dirty="0">
                <a:solidFill>
                  <a:srgbClr val="0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Non-Singular Matrix</a:t>
            </a:r>
            <a:endParaRPr lang="en-US" sz="2350" dirty="0"/>
          </a:p>
        </p:txBody>
      </p:sp>
      <p:sp>
        <p:nvSpPr>
          <p:cNvPr id="31" name="Text 22"/>
          <p:cNvSpPr/>
          <p:nvPr/>
        </p:nvSpPr>
        <p:spPr>
          <a:xfrm>
            <a:off x="9169400" y="4559300"/>
            <a:ext cx="368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1300" dirty="0"/>
          </a:p>
        </p:txBody>
      </p:sp>
      <p:sp>
        <p:nvSpPr>
          <p:cNvPr id="32" name="Text 23"/>
          <p:cNvSpPr/>
          <p:nvPr/>
        </p:nvSpPr>
        <p:spPr>
          <a:xfrm>
            <a:off x="9664700" y="4533900"/>
            <a:ext cx="177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rgbClr val="C00000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Inverse Exists</a:t>
            </a:r>
            <a:endParaRPr lang="en-US" sz="2100" dirty="0"/>
          </a:p>
        </p:txBody>
      </p:sp>
      <p:pic>
        <p:nvPicPr>
          <p:cNvPr id="33" name="Image 5" descr="/home/ahmed/Projects/ai_llm_slides/videos/machine-learning/03_ridger_regression_gradient_descent/recreated_pptx/build/assets/eq_021_invexp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56308" y="5906008"/>
            <a:ext cx="1757172" cy="345948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4584700" y="59817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0000FF"/>
                </a:solidFill>
                <a:latin typeface="Liberation Serif" pitchFamily="34" charset="0"/>
                <a:ea typeface="Liberation Serif" pitchFamily="34" charset="-122"/>
                <a:cs typeface="Liberation Serif" pitchFamily="34" charset="-120"/>
              </a:rPr>
              <a:t>⇒</a:t>
            </a:r>
            <a:endParaRPr lang="en-US" sz="2300" dirty="0"/>
          </a:p>
        </p:txBody>
      </p:sp>
      <p:graphicFrame>
        <p:nvGraphicFramePr>
          <p:cNvPr id="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6700" y="5816600"/>
          <a:ext cx="2603500" cy="673100"/>
        </p:xfrm>
        <a:graphic>
          <a:graphicData uri="http://schemas.openxmlformats.org/drawingml/2006/table">
            <a:tbl>
              <a:tblPr/>
              <a:tblGrid>
                <a:gridCol w="867833"/>
                <a:gridCol w="867833"/>
                <a:gridCol w="867833"/>
              </a:tblGrid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0.07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0.04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5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0.23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13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-0.01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-0.2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Liberation Serif" pitchFamily="34" charset="0"/>
                          <a:ea typeface="Liberation Serif" pitchFamily="34" charset="-122"/>
                          <a:cs typeface="Liberation Serif" pitchFamily="34" charset="-120"/>
                        </a:rPr>
                        <a:t>0.11</a:t>
                      </a:r>
                      <a:endParaRPr lang="en-US" sz="1300" dirty="0">
                        <a:latin typeface="Liberation Serif" charset="0"/>
                        <a:ea typeface="Liberation Serif" charset="0"/>
                        <a:cs typeface="Liberation Serif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09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2026-10-24T23:47:23Z</dcterms:created>
  <dcterms:modified xsi:type="dcterms:W3CDTF">2026-10-24T23:47:23Z</dcterms:modified>
</cp:coreProperties>
</file>