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5.png"/><Relationship Id="rId8" Type="http://schemas.openxmlformats.org/officeDocument/2006/relationships/image" Target="../media/image-1-8.png"/><Relationship Id="rId9" Type="http://schemas.openxmlformats.org/officeDocument/2006/relationships/image" Target="../media/image-1-5.png"/><Relationship Id="rId10" Type="http://schemas.openxmlformats.org/officeDocument/2006/relationships/image" Target="../media/image-1-10.png"/><Relationship Id="rId11" Type="http://schemas.openxmlformats.org/officeDocument/2006/relationships/image" Target="../media/image-1-5.png"/><Relationship Id="rId12" Type="http://schemas.openxmlformats.org/officeDocument/2006/relationships/image" Target="../media/image-1-12.png"/><Relationship Id="rId13" Type="http://schemas.openxmlformats.org/officeDocument/2006/relationships/image" Target="../media/image-1-5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76300" y="698500"/>
            <a:ext cx="8255000" cy="939800"/>
          </a:xfrm>
          <a:prstGeom prst="rect">
            <a:avLst/>
          </a:prstGeom>
          <a:solidFill>
            <a:srgbClr val="FFFFFF"/>
          </a:solidFill>
          <a:ln w="12700">
            <a:solidFill>
              <a:srgbClr val="21177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7950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6398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4846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x₃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93294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x₄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21742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x₅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01900" y="8128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x₆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79500" y="9525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363980" y="9525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48460" y="9525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932940" y="9525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217420" y="9525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501900" y="952500"/>
            <a:ext cx="284480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79500" y="108585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363980" y="108585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648460" y="108585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932940" y="108585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217420" y="108585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2501900" y="108585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79500" y="1219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363980" y="1219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648460" y="1219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1932940" y="1219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2217420" y="1219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501900" y="1219200"/>
            <a:ext cx="28448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1079500" y="1409700"/>
            <a:ext cx="2844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1363980" y="1409700"/>
            <a:ext cx="2844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1648460" y="1409700"/>
            <a:ext cx="2844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932940" y="1409700"/>
            <a:ext cx="2844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1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217420" y="1409700"/>
            <a:ext cx="2844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1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501900" y="1409700"/>
            <a:ext cx="28448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1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1117600" y="1003300"/>
            <a:ext cx="76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1270000" y="1003300"/>
            <a:ext cx="76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200" dirty="0"/>
          </a:p>
        </p:txBody>
      </p:sp>
      <p:sp>
        <p:nvSpPr>
          <p:cNvPr id="41" name="Text 39"/>
          <p:cNvSpPr/>
          <p:nvPr/>
        </p:nvSpPr>
        <p:spPr>
          <a:xfrm>
            <a:off x="1384300" y="1003300"/>
            <a:ext cx="76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1562100" y="1003300"/>
            <a:ext cx="76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1663700" y="1003300"/>
            <a:ext cx="76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1841500" y="1003300"/>
            <a:ext cx="76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200" dirty="0"/>
          </a:p>
        </p:txBody>
      </p:sp>
      <p:sp>
        <p:nvSpPr>
          <p:cNvPr id="45" name="Text 43"/>
          <p:cNvSpPr/>
          <p:nvPr/>
        </p:nvSpPr>
        <p:spPr>
          <a:xfrm>
            <a:off x="1955800" y="1003300"/>
            <a:ext cx="76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endParaRPr lang="en-US" sz="2200" dirty="0"/>
          </a:p>
        </p:txBody>
      </p:sp>
      <p:sp>
        <p:nvSpPr>
          <p:cNvPr id="46" name="Text 44"/>
          <p:cNvSpPr/>
          <p:nvPr/>
        </p:nvSpPr>
        <p:spPr>
          <a:xfrm>
            <a:off x="2133600" y="1003300"/>
            <a:ext cx="76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2247900" y="1003300"/>
            <a:ext cx="76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endParaRPr lang="en-US" sz="2200" dirty="0"/>
          </a:p>
        </p:txBody>
      </p:sp>
      <p:sp>
        <p:nvSpPr>
          <p:cNvPr id="48" name="Text 46"/>
          <p:cNvSpPr/>
          <p:nvPr/>
        </p:nvSpPr>
        <p:spPr>
          <a:xfrm>
            <a:off x="2425700" y="1003300"/>
            <a:ext cx="76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200" dirty="0"/>
          </a:p>
        </p:txBody>
      </p:sp>
      <p:sp>
        <p:nvSpPr>
          <p:cNvPr id="49" name="Text 47"/>
          <p:cNvSpPr/>
          <p:nvPr/>
        </p:nvSpPr>
        <p:spPr>
          <a:xfrm>
            <a:off x="2527300" y="1003300"/>
            <a:ext cx="76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endParaRPr lang="en-US" sz="2200" dirty="0"/>
          </a:p>
        </p:txBody>
      </p:sp>
      <p:sp>
        <p:nvSpPr>
          <p:cNvPr id="50" name="Text 48"/>
          <p:cNvSpPr/>
          <p:nvPr/>
        </p:nvSpPr>
        <p:spPr>
          <a:xfrm>
            <a:off x="2705100" y="1003300"/>
            <a:ext cx="762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2200" dirty="0"/>
          </a:p>
        </p:txBody>
      </p:sp>
      <p:sp>
        <p:nvSpPr>
          <p:cNvPr id="51" name="Text 49"/>
          <p:cNvSpPr/>
          <p:nvPr/>
        </p:nvSpPr>
        <p:spPr>
          <a:xfrm>
            <a:off x="6858000" y="1066800"/>
            <a:ext cx="11430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i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classes of</a:t>
            </a:r>
            <a:endParaRPr lang="en-US" sz="900" dirty="0"/>
          </a:p>
        </p:txBody>
      </p:sp>
      <p:pic>
        <p:nvPicPr>
          <p:cNvPr id="52" name="Image 0" descr="/home/ahmed/Projects/ai_llm_slides/videos/machine-learning/03_ridger_regression_gradient_descent/recreated_pptx/build/assets/eq_initial_w_c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91000" y="774954"/>
            <a:ext cx="292608" cy="507492"/>
          </a:xfrm>
          <a:prstGeom prst="rect">
            <a:avLst/>
          </a:prstGeom>
        </p:spPr>
      </p:pic>
      <p:sp>
        <p:nvSpPr>
          <p:cNvPr id="53" name="Text 50"/>
          <p:cNvSpPr/>
          <p:nvPr/>
        </p:nvSpPr>
        <p:spPr>
          <a:xfrm>
            <a:off x="4648200" y="774700"/>
            <a:ext cx="889000" cy="165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i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Initial W =</a:t>
            </a:r>
            <a:endParaRPr lang="en-US" sz="1300" dirty="0"/>
          </a:p>
        </p:txBody>
      </p:sp>
      <p:sp>
        <p:nvSpPr>
          <p:cNvPr id="54" name="Text 51"/>
          <p:cNvSpPr/>
          <p:nvPr/>
        </p:nvSpPr>
        <p:spPr>
          <a:xfrm>
            <a:off x="5410200" y="762000"/>
            <a:ext cx="1905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200" b="1" i="1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 using Step η = 1</a:t>
            </a:r>
            <a:endParaRPr lang="en-US" sz="1200" dirty="0"/>
          </a:p>
        </p:txBody>
      </p:sp>
      <p:sp>
        <p:nvSpPr>
          <p:cNvPr id="55" name="Text 52"/>
          <p:cNvSpPr/>
          <p:nvPr/>
        </p:nvSpPr>
        <p:spPr>
          <a:xfrm>
            <a:off x="3035300" y="1371600"/>
            <a:ext cx="3492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5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C1</a:t>
            </a:r>
            <a:pPr algn="l" indent="0" marL="0">
              <a:lnSpc>
                <a:spcPts val="13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positive, </a:t>
            </a:r>
            <a:pPr algn="l" indent="0" marL="0">
              <a:lnSpc>
                <a:spcPts val="1300"/>
              </a:lnSpc>
              <a:buNone/>
            </a:pPr>
            <a:r>
              <a:rPr lang="en-US" sz="1350" b="1" dirty="0">
                <a:solidFill>
                  <a:srgbClr val="1F16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C2</a:t>
            </a:r>
            <a:pPr algn="l" indent="0" marL="0">
              <a:lnSpc>
                <a:spcPts val="13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negative, </a:t>
            </a:r>
            <a:pPr algn="l" indent="0" marL="0">
              <a:lnSpc>
                <a:spcPts val="1300"/>
              </a:lnSpc>
              <a:buNone/>
            </a:pPr>
            <a:r>
              <a:rPr lang="en-US" sz="1350" b="1" dirty="0">
                <a:solidFill>
                  <a:srgbClr val="458A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pPr algn="l" indent="0" marL="0">
              <a:lnSpc>
                <a:spcPts val="1300"/>
              </a:lnSpc>
              <a:buNone/>
            </a:pPr>
            <a:r>
              <a:rPr lang="en-US" sz="135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is unaccepted</a:t>
            </a:r>
            <a:endParaRPr lang="en-US" sz="13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89900" y="901700"/>
          <a:ext cx="850900" cy="571500"/>
        </p:xfrm>
        <a:graphic>
          <a:graphicData uri="http://schemas.openxmlformats.org/drawingml/2006/table">
            <a:tbl>
              <a:tblPr/>
              <a:tblGrid>
                <a:gridCol w="283633"/>
                <a:gridCol w="283633"/>
                <a:gridCol w="283633"/>
              </a:tblGrid>
              <a:tr h="190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Z1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7" name="Shape 53"/>
          <p:cNvSpPr/>
          <p:nvPr/>
        </p:nvSpPr>
        <p:spPr>
          <a:xfrm>
            <a:off x="882650" y="1771650"/>
            <a:ext cx="2235200" cy="1473200"/>
          </a:xfrm>
          <a:prstGeom prst="rect">
            <a:avLst/>
          </a:prstGeom>
          <a:solidFill>
            <a:srgbClr val="FFFFFF"/>
          </a:solidFill>
          <a:ln w="9525">
            <a:solidFill>
              <a:srgbClr val="ABAFBA"/>
            </a:solidFill>
            <a:prstDash val="solid"/>
          </a:ln>
        </p:spPr>
      </p:sp>
      <p:sp>
        <p:nvSpPr>
          <p:cNvPr id="58" name="Text 54"/>
          <p:cNvSpPr/>
          <p:nvPr/>
        </p:nvSpPr>
        <p:spPr>
          <a:xfrm>
            <a:off x="1143000" y="1981200"/>
            <a:ext cx="1752600" cy="177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1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Ugmented Vectors (from Top)</a:t>
            </a:r>
            <a:endParaRPr lang="en-US" sz="11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117600" y="2070100"/>
          <a:ext cx="1727200" cy="990600"/>
        </p:xfrm>
        <a:graphic>
          <a:graphicData uri="http://schemas.openxmlformats.org/drawingml/2006/table">
            <a:tbl>
              <a:tblPr/>
              <a:tblGrid>
                <a:gridCol w="287867"/>
                <a:gridCol w="287867"/>
                <a:gridCol w="287867"/>
                <a:gridCol w="287867"/>
                <a:gridCol w="287867"/>
                <a:gridCol w="287867"/>
              </a:tblGrid>
              <a:tr h="198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x₁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x₂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x₃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x₄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x₅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x₆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98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98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98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1981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117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117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1177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0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0" name="Shape 55"/>
          <p:cNvSpPr/>
          <p:nvPr/>
        </p:nvSpPr>
        <p:spPr>
          <a:xfrm>
            <a:off x="118491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61" name="Shape 56"/>
          <p:cNvSpPr/>
          <p:nvPr/>
        </p:nvSpPr>
        <p:spPr>
          <a:xfrm>
            <a:off x="134620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62" name="Shape 57"/>
          <p:cNvSpPr/>
          <p:nvPr/>
        </p:nvSpPr>
        <p:spPr>
          <a:xfrm>
            <a:off x="144907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63" name="Shape 58"/>
          <p:cNvSpPr/>
          <p:nvPr/>
        </p:nvSpPr>
        <p:spPr>
          <a:xfrm>
            <a:off x="161798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64" name="Shape 59"/>
          <p:cNvSpPr/>
          <p:nvPr/>
        </p:nvSpPr>
        <p:spPr>
          <a:xfrm>
            <a:off x="173228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65" name="Shape 60"/>
          <p:cNvSpPr/>
          <p:nvPr/>
        </p:nvSpPr>
        <p:spPr>
          <a:xfrm>
            <a:off x="190500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66" name="Shape 61"/>
          <p:cNvSpPr/>
          <p:nvPr/>
        </p:nvSpPr>
        <p:spPr>
          <a:xfrm>
            <a:off x="201803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67" name="Shape 62"/>
          <p:cNvSpPr/>
          <p:nvPr/>
        </p:nvSpPr>
        <p:spPr>
          <a:xfrm>
            <a:off x="219329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68" name="Shape 63"/>
          <p:cNvSpPr/>
          <p:nvPr/>
        </p:nvSpPr>
        <p:spPr>
          <a:xfrm>
            <a:off x="230759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69" name="Shape 64"/>
          <p:cNvSpPr/>
          <p:nvPr/>
        </p:nvSpPr>
        <p:spPr>
          <a:xfrm>
            <a:off x="248031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70" name="Shape 65"/>
          <p:cNvSpPr/>
          <p:nvPr/>
        </p:nvSpPr>
        <p:spPr>
          <a:xfrm>
            <a:off x="259334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71" name="Shape 66"/>
          <p:cNvSpPr/>
          <p:nvPr/>
        </p:nvSpPr>
        <p:spPr>
          <a:xfrm>
            <a:off x="2764790" y="2286000"/>
            <a:ext cx="12700" cy="574040"/>
          </a:xfrm>
          <a:prstGeom prst="rect">
            <a:avLst/>
          </a:prstGeom>
          <a:solidFill>
            <a:srgbClr val="909090"/>
          </a:solidFill>
          <a:ln/>
        </p:spPr>
      </p:sp>
      <p:sp>
        <p:nvSpPr>
          <p:cNvPr id="72" name="Shape 67"/>
          <p:cNvSpPr/>
          <p:nvPr/>
        </p:nvSpPr>
        <p:spPr>
          <a:xfrm>
            <a:off x="1054100" y="3505200"/>
            <a:ext cx="1676400" cy="393700"/>
          </a:xfrm>
          <a:prstGeom prst="rect">
            <a:avLst/>
          </a:prstGeom>
          <a:solidFill>
            <a:srgbClr val="C6020A"/>
          </a:solidFill>
          <a:ln w="12700">
            <a:solidFill>
              <a:srgbClr val="C6020A"/>
            </a:solidFill>
            <a:prstDash val="solid"/>
          </a:ln>
        </p:spPr>
      </p:sp>
      <p:sp>
        <p:nvSpPr>
          <p:cNvPr id="73" name="Text 68"/>
          <p:cNvSpPr/>
          <p:nvPr/>
        </p:nvSpPr>
        <p:spPr>
          <a:xfrm>
            <a:off x="1054100" y="3505200"/>
            <a:ext cx="167640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Iteration 1</a:t>
            </a:r>
            <a:endParaRPr lang="en-US" sz="1300" dirty="0"/>
          </a:p>
        </p:txBody>
      </p:sp>
      <p:sp>
        <p:nvSpPr>
          <p:cNvPr id="74" name="Shape 69"/>
          <p:cNvSpPr/>
          <p:nvPr/>
        </p:nvSpPr>
        <p:spPr>
          <a:xfrm>
            <a:off x="3492500" y="1765300"/>
            <a:ext cx="73533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ABAFBA"/>
            </a:solidFill>
            <a:prstDash val="solid"/>
          </a:ln>
        </p:spPr>
      </p:sp>
      <p:pic>
        <p:nvPicPr>
          <p:cNvPr id="75" name="Image 1" descr="/home/ahmed/Projects/ai_llm_slides/videos/machine-learning/03_ridger_regression_gradient_descent/recreated_pptx/build/assets/eq_r1_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22700" y="1886203"/>
            <a:ext cx="1626105" cy="495303"/>
          </a:xfrm>
          <a:prstGeom prst="rect">
            <a:avLst/>
          </a:prstGeom>
        </p:spPr>
      </p:pic>
      <p:sp>
        <p:nvSpPr>
          <p:cNvPr id="76" name="Text 70"/>
          <p:cNvSpPr/>
          <p:nvPr/>
        </p:nvSpPr>
        <p:spPr>
          <a:xfrm>
            <a:off x="6197600" y="1765300"/>
            <a:ext cx="1524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77" name="Text 71"/>
          <p:cNvSpPr/>
          <p:nvPr/>
        </p:nvSpPr>
        <p:spPr>
          <a:xfrm>
            <a:off x="6464300" y="1765300"/>
            <a:ext cx="1016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Update Weight</a:t>
            </a:r>
            <a:endParaRPr lang="en-US" sz="1300" dirty="0"/>
          </a:p>
        </p:txBody>
      </p:sp>
      <p:pic>
        <p:nvPicPr>
          <p:cNvPr id="78" name="Image 2" descr="/home/ahmed/Projects/ai_llm_slides/videos/machine-learning/03_ridger_regression_gradient_descent/recreated_pptx/build/assets/eq_r1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35900" y="1637798"/>
            <a:ext cx="2311905" cy="890013"/>
          </a:xfrm>
          <a:prstGeom prst="rect">
            <a:avLst/>
          </a:prstGeom>
        </p:spPr>
      </p:pic>
      <p:sp>
        <p:nvSpPr>
          <p:cNvPr id="79" name="Shape 72"/>
          <p:cNvSpPr/>
          <p:nvPr/>
        </p:nvSpPr>
        <p:spPr>
          <a:xfrm>
            <a:off x="3492500" y="2501900"/>
            <a:ext cx="7353300" cy="952500"/>
          </a:xfrm>
          <a:prstGeom prst="rect">
            <a:avLst/>
          </a:prstGeom>
          <a:solidFill>
            <a:srgbClr val="FFFFFF"/>
          </a:solidFill>
          <a:ln w="9525">
            <a:solidFill>
              <a:srgbClr val="ABAFBA"/>
            </a:solidFill>
            <a:prstDash val="solid"/>
          </a:ln>
        </p:spPr>
      </p:sp>
      <p:pic>
        <p:nvPicPr>
          <p:cNvPr id="80" name="Image 3" descr="/home/ahmed/Projects/ai_llm_slides/videos/machine-learning/03_ridger_regression_gradient_descent/recreated_pptx/build/assets/eq_r2_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22700" y="2730755"/>
            <a:ext cx="1626105" cy="492249"/>
          </a:xfrm>
          <a:prstGeom prst="rect">
            <a:avLst/>
          </a:prstGeom>
        </p:spPr>
      </p:pic>
      <p:sp>
        <p:nvSpPr>
          <p:cNvPr id="81" name="Text 73"/>
          <p:cNvSpPr/>
          <p:nvPr/>
        </p:nvSpPr>
        <p:spPr>
          <a:xfrm>
            <a:off x="6197600" y="2501900"/>
            <a:ext cx="1524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82" name="Text 74"/>
          <p:cNvSpPr/>
          <p:nvPr/>
        </p:nvSpPr>
        <p:spPr>
          <a:xfrm>
            <a:off x="6464300" y="2501900"/>
            <a:ext cx="1016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pic>
        <p:nvPicPr>
          <p:cNvPr id="83" name="Image 4" descr="/home/ahmed/Projects/ai_llm_slides/videos/machine-learning/03_ridger_regression_gradient_descent/recreated_pptx/build/assets/eq_r_k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35900" y="2322316"/>
            <a:ext cx="1219197" cy="1139955"/>
          </a:xfrm>
          <a:prstGeom prst="rect">
            <a:avLst/>
          </a:prstGeom>
        </p:spPr>
      </p:pic>
      <p:sp>
        <p:nvSpPr>
          <p:cNvPr id="84" name="Shape 75"/>
          <p:cNvSpPr/>
          <p:nvPr/>
        </p:nvSpPr>
        <p:spPr>
          <a:xfrm>
            <a:off x="3492500" y="3454400"/>
            <a:ext cx="7353300" cy="736600"/>
          </a:xfrm>
          <a:prstGeom prst="rect">
            <a:avLst/>
          </a:prstGeom>
          <a:solidFill>
            <a:srgbClr val="FFFFFF"/>
          </a:solidFill>
          <a:ln w="9525">
            <a:solidFill>
              <a:srgbClr val="ABAFBA"/>
            </a:solidFill>
            <a:prstDash val="solid"/>
          </a:ln>
        </p:spPr>
      </p:sp>
      <p:pic>
        <p:nvPicPr>
          <p:cNvPr id="85" name="Image 5" descr="/home/ahmed/Projects/ai_llm_slides/videos/machine-learning/03_ridger_regression_gradient_descent/recreated_pptx/build/assets/eq_r3_l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22700" y="3575305"/>
            <a:ext cx="1626105" cy="492249"/>
          </a:xfrm>
          <a:prstGeom prst="rect">
            <a:avLst/>
          </a:prstGeom>
        </p:spPr>
      </p:pic>
      <p:sp>
        <p:nvSpPr>
          <p:cNvPr id="86" name="Text 76"/>
          <p:cNvSpPr/>
          <p:nvPr/>
        </p:nvSpPr>
        <p:spPr>
          <a:xfrm>
            <a:off x="6197600" y="3454400"/>
            <a:ext cx="1524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87" name="Text 77"/>
          <p:cNvSpPr/>
          <p:nvPr/>
        </p:nvSpPr>
        <p:spPr>
          <a:xfrm>
            <a:off x="6464300" y="3454400"/>
            <a:ext cx="1016000" cy="736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pic>
        <p:nvPicPr>
          <p:cNvPr id="88" name="Image 6" descr="/home/ahmed/Projects/ai_llm_slides/videos/machine-learning/03_ridger_regression_gradient_descent/recreated_pptx/build/assets/eq_r_kw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35900" y="3166866"/>
            <a:ext cx="1219197" cy="1139955"/>
          </a:xfrm>
          <a:prstGeom prst="rect">
            <a:avLst/>
          </a:prstGeom>
        </p:spPr>
      </p:pic>
      <p:sp>
        <p:nvSpPr>
          <p:cNvPr id="89" name="Shape 78"/>
          <p:cNvSpPr/>
          <p:nvPr/>
        </p:nvSpPr>
        <p:spPr>
          <a:xfrm>
            <a:off x="3492500" y="4191000"/>
            <a:ext cx="7353300" cy="825500"/>
          </a:xfrm>
          <a:prstGeom prst="rect">
            <a:avLst/>
          </a:prstGeom>
          <a:solidFill>
            <a:srgbClr val="FFFFFF"/>
          </a:solidFill>
          <a:ln w="9525">
            <a:solidFill>
              <a:srgbClr val="ABAFBA"/>
            </a:solidFill>
            <a:prstDash val="solid"/>
          </a:ln>
        </p:spPr>
      </p:sp>
      <p:pic>
        <p:nvPicPr>
          <p:cNvPr id="90" name="Image 7" descr="/home/ahmed/Projects/ai_llm_slides/videos/machine-learning/03_ridger_regression_gradient_descent/recreated_pptx/build/assets/eq_r4_l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822700" y="4380737"/>
            <a:ext cx="1626105" cy="454155"/>
          </a:xfrm>
          <a:prstGeom prst="rect">
            <a:avLst/>
          </a:prstGeom>
        </p:spPr>
      </p:pic>
      <p:sp>
        <p:nvSpPr>
          <p:cNvPr id="91" name="Text 79"/>
          <p:cNvSpPr/>
          <p:nvPr/>
        </p:nvSpPr>
        <p:spPr>
          <a:xfrm>
            <a:off x="6197600" y="4191000"/>
            <a:ext cx="1524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92" name="Text 80"/>
          <p:cNvSpPr/>
          <p:nvPr/>
        </p:nvSpPr>
        <p:spPr>
          <a:xfrm>
            <a:off x="6464300" y="4191000"/>
            <a:ext cx="1016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pic>
        <p:nvPicPr>
          <p:cNvPr id="93" name="Image 8" descr="/home/ahmed/Projects/ai_llm_slides/videos/machine-learning/03_ridger_regression_gradient_descent/recreated_pptx/build/assets/eq_r_kw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35900" y="3947916"/>
            <a:ext cx="1219197" cy="1139955"/>
          </a:xfrm>
          <a:prstGeom prst="rect">
            <a:avLst/>
          </a:prstGeom>
        </p:spPr>
      </p:pic>
      <p:sp>
        <p:nvSpPr>
          <p:cNvPr id="94" name="Shape 81"/>
          <p:cNvSpPr/>
          <p:nvPr/>
        </p:nvSpPr>
        <p:spPr>
          <a:xfrm>
            <a:off x="3492500" y="5130800"/>
            <a:ext cx="73533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ABAFBA"/>
            </a:solidFill>
            <a:prstDash val="solid"/>
          </a:ln>
        </p:spPr>
      </p:sp>
      <p:pic>
        <p:nvPicPr>
          <p:cNvPr id="95" name="Image 9" descr="/home/ahmed/Projects/ai_llm_slides/videos/machine-learning/03_ridger_regression_gradient_descent/recreated_pptx/build/assets/eq_r5_l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22700" y="5269737"/>
            <a:ext cx="1626105" cy="454155"/>
          </a:xfrm>
          <a:prstGeom prst="rect">
            <a:avLst/>
          </a:prstGeom>
        </p:spPr>
      </p:pic>
      <p:sp>
        <p:nvSpPr>
          <p:cNvPr id="96" name="Text 82"/>
          <p:cNvSpPr/>
          <p:nvPr/>
        </p:nvSpPr>
        <p:spPr>
          <a:xfrm>
            <a:off x="6197600" y="5130800"/>
            <a:ext cx="1524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97" name="Text 83"/>
          <p:cNvSpPr/>
          <p:nvPr/>
        </p:nvSpPr>
        <p:spPr>
          <a:xfrm>
            <a:off x="6464300" y="5130800"/>
            <a:ext cx="1016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pic>
        <p:nvPicPr>
          <p:cNvPr id="98" name="Image 10" descr="/home/ahmed/Projects/ai_llm_slides/videos/machine-learning/03_ridger_regression_gradient_descent/recreated_pptx/build/assets/eq_r_kw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35900" y="4836916"/>
            <a:ext cx="1219197" cy="1139955"/>
          </a:xfrm>
          <a:prstGeom prst="rect">
            <a:avLst/>
          </a:prstGeom>
        </p:spPr>
      </p:pic>
      <p:sp>
        <p:nvSpPr>
          <p:cNvPr id="99" name="Shape 84"/>
          <p:cNvSpPr/>
          <p:nvPr/>
        </p:nvSpPr>
        <p:spPr>
          <a:xfrm>
            <a:off x="3492500" y="5854700"/>
            <a:ext cx="7353300" cy="850900"/>
          </a:xfrm>
          <a:prstGeom prst="rect">
            <a:avLst/>
          </a:prstGeom>
          <a:solidFill>
            <a:srgbClr val="FFFFFF"/>
          </a:solidFill>
          <a:ln w="9525">
            <a:solidFill>
              <a:srgbClr val="ABAFBA"/>
            </a:solidFill>
            <a:prstDash val="solid"/>
          </a:ln>
        </p:spPr>
      </p:sp>
      <p:pic>
        <p:nvPicPr>
          <p:cNvPr id="100" name="Image 11" descr="/home/ahmed/Projects/ai_llm_slides/videos/machine-learning/03_ridger_regression_gradient_descent/recreated_pptx/build/assets/eq_r6_l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22700" y="6055615"/>
            <a:ext cx="1626105" cy="455673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6197600" y="5854700"/>
            <a:ext cx="152400" cy="850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⇒</a:t>
            </a:r>
            <a:endParaRPr lang="en-US" sz="1500" dirty="0"/>
          </a:p>
        </p:txBody>
      </p:sp>
      <p:sp>
        <p:nvSpPr>
          <p:cNvPr id="102" name="Text 86"/>
          <p:cNvSpPr/>
          <p:nvPr/>
        </p:nvSpPr>
        <p:spPr>
          <a:xfrm>
            <a:off x="6464300" y="5854700"/>
            <a:ext cx="1016000" cy="850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same Weight</a:t>
            </a:r>
            <a:endParaRPr lang="en-US" sz="1300" dirty="0"/>
          </a:p>
        </p:txBody>
      </p:sp>
      <p:pic>
        <p:nvPicPr>
          <p:cNvPr id="103" name="Image 12" descr="/home/ahmed/Projects/ai_llm_slides/videos/machine-learning/03_ridger_regression_gradient_descent/recreated_pptx/build/assets/eq_r_kw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35900" y="5624316"/>
            <a:ext cx="1219197" cy="113995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2026-10-26T14:47:32Z</dcterms:created>
  <dcterms:modified xsi:type="dcterms:W3CDTF">2026-10-26T14:47:32Z</dcterms:modified>
</cp:coreProperties>
</file>