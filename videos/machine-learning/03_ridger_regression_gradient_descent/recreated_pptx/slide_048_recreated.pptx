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5.png"/><Relationship Id="rId8" Type="http://schemas.openxmlformats.org/officeDocument/2006/relationships/image" Target="../media/image-1-8.png"/><Relationship Id="rId9" Type="http://schemas.openxmlformats.org/officeDocument/2006/relationships/image" Target="../media/image-1-5.png"/><Relationship Id="rId10" Type="http://schemas.openxmlformats.org/officeDocument/2006/relationships/image" Target="../media/image-1-10.png"/><Relationship Id="rId11" Type="http://schemas.openxmlformats.org/officeDocument/2006/relationships/image" Target="../media/image-1-5.png"/><Relationship Id="rId12" Type="http://schemas.openxmlformats.org/officeDocument/2006/relationships/image" Target="../media/image-1-12.png"/><Relationship Id="rId13" Type="http://schemas.openxmlformats.org/officeDocument/2006/relationships/image" Target="../media/image-1-5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6300" y="698500"/>
            <a:ext cx="8255000" cy="93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17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950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6398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846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3294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1742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0190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9500" y="9525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63980" y="9525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8460" y="9525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32940" y="9525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17420" y="9525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01900" y="9525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9500" y="108585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63980" y="108585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8460" y="108585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32940" y="108585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17420" y="108585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01900" y="108585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9500" y="1219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63980" y="1219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8460" y="1219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32940" y="1219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17420" y="1219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01900" y="1219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9500" y="1409700"/>
            <a:ext cx="28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63980" y="1409700"/>
            <a:ext cx="28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48460" y="1409700"/>
            <a:ext cx="28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32940" y="1409700"/>
            <a:ext cx="28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17420" y="1409700"/>
            <a:ext cx="28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01900" y="1409700"/>
            <a:ext cx="28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76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2700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3843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5621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6637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8415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9558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21336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22479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24257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25273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2705100" y="1003300"/>
            <a:ext cx="7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858000" y="106680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900" dirty="0"/>
          </a:p>
        </p:txBody>
      </p:sp>
      <p:pic>
        <p:nvPicPr>
          <p:cNvPr id="52" name="Image 0" descr="/home/ahmed/Projects/ai_llm_slides/videos/machine-learning/03_ridger_regression_gradient_descent/recreated_pptx/build/assets/eq_initial_w_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0" y="774954"/>
            <a:ext cx="292608" cy="507492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4648200" y="774700"/>
            <a:ext cx="88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W =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5410200" y="762000"/>
            <a:ext cx="190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b="1" i="1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using Step η = 1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3035300" y="1371600"/>
            <a:ext cx="349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pPr algn="l" indent="0" marL="0">
              <a:lnSpc>
                <a:spcPts val="13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positive, </a:t>
            </a:r>
            <a:pPr algn="l"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1F1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pPr algn="l" indent="0" marL="0">
              <a:lnSpc>
                <a:spcPts val="13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negative, </a:t>
            </a:r>
            <a:pPr algn="l"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458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algn="l" indent="0" marL="0">
              <a:lnSpc>
                <a:spcPts val="13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unaccepted</a:t>
            </a:r>
            <a:endParaRPr lang="en-US" sz="13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9900" y="901700"/>
          <a:ext cx="850900" cy="571500"/>
        </p:xfrm>
        <a:graphic>
          <a:graphicData uri="http://schemas.openxmlformats.org/drawingml/2006/table">
            <a:tbl>
              <a:tblPr/>
              <a:tblGrid>
                <a:gridCol w="283633"/>
                <a:gridCol w="283633"/>
                <a:gridCol w="283633"/>
              </a:tblGrid>
              <a:tr h="190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Shape 53"/>
          <p:cNvSpPr/>
          <p:nvPr/>
        </p:nvSpPr>
        <p:spPr>
          <a:xfrm>
            <a:off x="882650" y="1771650"/>
            <a:ext cx="2235200" cy="147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BAFB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1143000" y="1981200"/>
            <a:ext cx="1752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Vectors (from Top)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17600" y="2070100"/>
          <a:ext cx="1727200" cy="990600"/>
        </p:xfrm>
        <a:graphic>
          <a:graphicData uri="http://schemas.openxmlformats.org/drawingml/2006/table">
            <a:tbl>
              <a:tblPr/>
              <a:tblGrid>
                <a:gridCol w="287867"/>
                <a:gridCol w="287867"/>
                <a:gridCol w="287867"/>
                <a:gridCol w="287867"/>
                <a:gridCol w="287867"/>
                <a:gridCol w="287867"/>
              </a:tblGrid>
              <a:tr h="198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17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17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17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55"/>
          <p:cNvSpPr/>
          <p:nvPr/>
        </p:nvSpPr>
        <p:spPr>
          <a:xfrm>
            <a:off x="118491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61" name="Shape 56"/>
          <p:cNvSpPr/>
          <p:nvPr/>
        </p:nvSpPr>
        <p:spPr>
          <a:xfrm>
            <a:off x="134620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62" name="Shape 57"/>
          <p:cNvSpPr/>
          <p:nvPr/>
        </p:nvSpPr>
        <p:spPr>
          <a:xfrm>
            <a:off x="144907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63" name="Shape 58"/>
          <p:cNvSpPr/>
          <p:nvPr/>
        </p:nvSpPr>
        <p:spPr>
          <a:xfrm>
            <a:off x="161798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64" name="Shape 59"/>
          <p:cNvSpPr/>
          <p:nvPr/>
        </p:nvSpPr>
        <p:spPr>
          <a:xfrm>
            <a:off x="173228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65" name="Shape 60"/>
          <p:cNvSpPr/>
          <p:nvPr/>
        </p:nvSpPr>
        <p:spPr>
          <a:xfrm>
            <a:off x="190500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66" name="Shape 61"/>
          <p:cNvSpPr/>
          <p:nvPr/>
        </p:nvSpPr>
        <p:spPr>
          <a:xfrm>
            <a:off x="201803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67" name="Shape 62"/>
          <p:cNvSpPr/>
          <p:nvPr/>
        </p:nvSpPr>
        <p:spPr>
          <a:xfrm>
            <a:off x="219329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68" name="Shape 63"/>
          <p:cNvSpPr/>
          <p:nvPr/>
        </p:nvSpPr>
        <p:spPr>
          <a:xfrm>
            <a:off x="230759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69" name="Shape 64"/>
          <p:cNvSpPr/>
          <p:nvPr/>
        </p:nvSpPr>
        <p:spPr>
          <a:xfrm>
            <a:off x="248031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70" name="Shape 65"/>
          <p:cNvSpPr/>
          <p:nvPr/>
        </p:nvSpPr>
        <p:spPr>
          <a:xfrm>
            <a:off x="259334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71" name="Shape 66"/>
          <p:cNvSpPr/>
          <p:nvPr/>
        </p:nvSpPr>
        <p:spPr>
          <a:xfrm>
            <a:off x="2764790" y="2286000"/>
            <a:ext cx="12700" cy="57404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72" name="Shape 67"/>
          <p:cNvSpPr/>
          <p:nvPr/>
        </p:nvSpPr>
        <p:spPr>
          <a:xfrm>
            <a:off x="1054100" y="3505200"/>
            <a:ext cx="1676400" cy="393700"/>
          </a:xfrm>
          <a:prstGeom prst="rect">
            <a:avLst/>
          </a:prstGeom>
          <a:solidFill>
            <a:srgbClr val="C6020A"/>
          </a:solidFill>
          <a:ln w="12700">
            <a:solidFill>
              <a:srgbClr val="C6020A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1054100" y="3505200"/>
            <a:ext cx="16764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1</a:t>
            </a:r>
            <a:endParaRPr lang="en-US" sz="1300" dirty="0"/>
          </a:p>
        </p:txBody>
      </p:sp>
      <p:sp>
        <p:nvSpPr>
          <p:cNvPr id="74" name="Shape 69"/>
          <p:cNvSpPr/>
          <p:nvPr/>
        </p:nvSpPr>
        <p:spPr>
          <a:xfrm>
            <a:off x="3492500" y="1765300"/>
            <a:ext cx="73533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ABAFBA"/>
            </a:solidFill>
            <a:prstDash val="solid"/>
          </a:ln>
        </p:spPr>
      </p:sp>
      <p:pic>
        <p:nvPicPr>
          <p:cNvPr id="75" name="Image 1" descr="/home/ahmed/Projects/ai_llm_slides/videos/machine-learning/03_ridger_regression_gradient_descent/recreated_pptx/build/assets/eq_r1_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0" y="1886203"/>
            <a:ext cx="1626105" cy="495303"/>
          </a:xfrm>
          <a:prstGeom prst="rect">
            <a:avLst/>
          </a:prstGeom>
        </p:spPr>
      </p:pic>
      <p:sp>
        <p:nvSpPr>
          <p:cNvPr id="76" name="Text 70"/>
          <p:cNvSpPr/>
          <p:nvPr/>
        </p:nvSpPr>
        <p:spPr>
          <a:xfrm>
            <a:off x="6197600" y="1765300"/>
            <a:ext cx="152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77" name="Text 71"/>
          <p:cNvSpPr/>
          <p:nvPr/>
        </p:nvSpPr>
        <p:spPr>
          <a:xfrm>
            <a:off x="6464300" y="1765300"/>
            <a:ext cx="1016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Weight</a:t>
            </a:r>
            <a:endParaRPr lang="en-US" sz="1300" dirty="0"/>
          </a:p>
        </p:txBody>
      </p:sp>
      <p:pic>
        <p:nvPicPr>
          <p:cNvPr id="78" name="Image 2" descr="/home/ahmed/Projects/ai_llm_slides/videos/machine-learning/03_ridger_regression_gradient_descent/recreated_pptx/build/assets/eq_r1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900" y="1637798"/>
            <a:ext cx="2311905" cy="890013"/>
          </a:xfrm>
          <a:prstGeom prst="rect">
            <a:avLst/>
          </a:prstGeom>
        </p:spPr>
      </p:pic>
      <p:sp>
        <p:nvSpPr>
          <p:cNvPr id="79" name="Shape 72"/>
          <p:cNvSpPr/>
          <p:nvPr/>
        </p:nvSpPr>
        <p:spPr>
          <a:xfrm>
            <a:off x="3492500" y="2501900"/>
            <a:ext cx="73533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ABAFBA"/>
            </a:solidFill>
            <a:prstDash val="solid"/>
          </a:ln>
        </p:spPr>
      </p:sp>
      <p:pic>
        <p:nvPicPr>
          <p:cNvPr id="80" name="Image 3" descr="/home/ahmed/Projects/ai_llm_slides/videos/machine-learning/03_ridger_regression_gradient_descent/recreated_pptx/build/assets/eq_r2_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700" y="2730755"/>
            <a:ext cx="1626105" cy="492249"/>
          </a:xfrm>
          <a:prstGeom prst="rect">
            <a:avLst/>
          </a:prstGeom>
        </p:spPr>
      </p:pic>
      <p:sp>
        <p:nvSpPr>
          <p:cNvPr id="81" name="Text 73"/>
          <p:cNvSpPr/>
          <p:nvPr/>
        </p:nvSpPr>
        <p:spPr>
          <a:xfrm>
            <a:off x="6197600" y="2501900"/>
            <a:ext cx="152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82" name="Text 74"/>
          <p:cNvSpPr/>
          <p:nvPr/>
        </p:nvSpPr>
        <p:spPr>
          <a:xfrm>
            <a:off x="6464300" y="2501900"/>
            <a:ext cx="101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pic>
        <p:nvPicPr>
          <p:cNvPr id="83" name="Image 4" descr="/home/ahmed/Projects/ai_llm_slides/videos/machine-learning/03_ridger_regression_gradient_descent/recreated_pptx/build/assets/eq_r_k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900" y="2322316"/>
            <a:ext cx="1219197" cy="1139955"/>
          </a:xfrm>
          <a:prstGeom prst="rect">
            <a:avLst/>
          </a:prstGeom>
        </p:spPr>
      </p:pic>
      <p:sp>
        <p:nvSpPr>
          <p:cNvPr id="84" name="Shape 75"/>
          <p:cNvSpPr/>
          <p:nvPr/>
        </p:nvSpPr>
        <p:spPr>
          <a:xfrm>
            <a:off x="3492500" y="3454400"/>
            <a:ext cx="73533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ABAFBA"/>
            </a:solidFill>
            <a:prstDash val="solid"/>
          </a:ln>
        </p:spPr>
      </p:sp>
      <p:pic>
        <p:nvPicPr>
          <p:cNvPr id="85" name="Image 5" descr="/home/ahmed/Projects/ai_llm_slides/videos/machine-learning/03_ridger_regression_gradient_descent/recreated_pptx/build/assets/eq_r3_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700" y="3575305"/>
            <a:ext cx="1626105" cy="492249"/>
          </a:xfrm>
          <a:prstGeom prst="rect">
            <a:avLst/>
          </a:prstGeom>
        </p:spPr>
      </p:pic>
      <p:sp>
        <p:nvSpPr>
          <p:cNvPr id="86" name="Text 76"/>
          <p:cNvSpPr/>
          <p:nvPr/>
        </p:nvSpPr>
        <p:spPr>
          <a:xfrm>
            <a:off x="6197600" y="3454400"/>
            <a:ext cx="152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87" name="Text 77"/>
          <p:cNvSpPr/>
          <p:nvPr/>
        </p:nvSpPr>
        <p:spPr>
          <a:xfrm>
            <a:off x="6464300" y="3454400"/>
            <a:ext cx="1016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pic>
        <p:nvPicPr>
          <p:cNvPr id="88" name="Image 6" descr="/home/ahmed/Projects/ai_llm_slides/videos/machine-learning/03_ridger_regression_gradient_descent/recreated_pptx/build/assets/eq_r_k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5900" y="3166866"/>
            <a:ext cx="1219197" cy="1139955"/>
          </a:xfrm>
          <a:prstGeom prst="rect">
            <a:avLst/>
          </a:prstGeom>
        </p:spPr>
      </p:pic>
      <p:sp>
        <p:nvSpPr>
          <p:cNvPr id="89" name="Shape 78"/>
          <p:cNvSpPr/>
          <p:nvPr/>
        </p:nvSpPr>
        <p:spPr>
          <a:xfrm>
            <a:off x="3492500" y="4191000"/>
            <a:ext cx="73533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ABAFBA"/>
            </a:solidFill>
            <a:prstDash val="solid"/>
          </a:ln>
        </p:spPr>
      </p:sp>
      <p:pic>
        <p:nvPicPr>
          <p:cNvPr id="90" name="Image 7" descr="/home/ahmed/Projects/ai_llm_slides/videos/machine-learning/03_ridger_regression_gradient_descent/recreated_pptx/build/assets/eq_r4_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2700" y="4380737"/>
            <a:ext cx="1626105" cy="454155"/>
          </a:xfrm>
          <a:prstGeom prst="rect">
            <a:avLst/>
          </a:prstGeom>
        </p:spPr>
      </p:pic>
      <p:sp>
        <p:nvSpPr>
          <p:cNvPr id="91" name="Text 79"/>
          <p:cNvSpPr/>
          <p:nvPr/>
        </p:nvSpPr>
        <p:spPr>
          <a:xfrm>
            <a:off x="6197600" y="4191000"/>
            <a:ext cx="152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92" name="Text 80"/>
          <p:cNvSpPr/>
          <p:nvPr/>
        </p:nvSpPr>
        <p:spPr>
          <a:xfrm>
            <a:off x="6464300" y="4191000"/>
            <a:ext cx="10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pic>
        <p:nvPicPr>
          <p:cNvPr id="93" name="Image 8" descr="/home/ahmed/Projects/ai_llm_slides/videos/machine-learning/03_ridger_regression_gradient_descent/recreated_pptx/build/assets/eq_r_k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5900" y="3947916"/>
            <a:ext cx="1219197" cy="1139955"/>
          </a:xfrm>
          <a:prstGeom prst="rect">
            <a:avLst/>
          </a:prstGeom>
        </p:spPr>
      </p:pic>
      <p:sp>
        <p:nvSpPr>
          <p:cNvPr id="94" name="Shape 81"/>
          <p:cNvSpPr/>
          <p:nvPr/>
        </p:nvSpPr>
        <p:spPr>
          <a:xfrm>
            <a:off x="3492500" y="5130800"/>
            <a:ext cx="73533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ABAFBA"/>
            </a:solidFill>
            <a:prstDash val="solid"/>
          </a:ln>
        </p:spPr>
      </p:sp>
      <p:pic>
        <p:nvPicPr>
          <p:cNvPr id="95" name="Image 9" descr="/home/ahmed/Projects/ai_llm_slides/videos/machine-learning/03_ridger_regression_gradient_descent/recreated_pptx/build/assets/eq_r5_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22700" y="5269737"/>
            <a:ext cx="1626105" cy="454155"/>
          </a:xfrm>
          <a:prstGeom prst="rect">
            <a:avLst/>
          </a:prstGeom>
        </p:spPr>
      </p:pic>
      <p:sp>
        <p:nvSpPr>
          <p:cNvPr id="96" name="Text 82"/>
          <p:cNvSpPr/>
          <p:nvPr/>
        </p:nvSpPr>
        <p:spPr>
          <a:xfrm>
            <a:off x="6197600" y="5130800"/>
            <a:ext cx="152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97" name="Text 83"/>
          <p:cNvSpPr/>
          <p:nvPr/>
        </p:nvSpPr>
        <p:spPr>
          <a:xfrm>
            <a:off x="6464300" y="5130800"/>
            <a:ext cx="1016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pic>
        <p:nvPicPr>
          <p:cNvPr id="98" name="Image 10" descr="/home/ahmed/Projects/ai_llm_slides/videos/machine-learning/03_ridger_regression_gradient_descent/recreated_pptx/build/assets/eq_r_k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35900" y="4836916"/>
            <a:ext cx="1219197" cy="1139955"/>
          </a:xfrm>
          <a:prstGeom prst="rect">
            <a:avLst/>
          </a:prstGeom>
        </p:spPr>
      </p:pic>
      <p:sp>
        <p:nvSpPr>
          <p:cNvPr id="99" name="Shape 84"/>
          <p:cNvSpPr/>
          <p:nvPr/>
        </p:nvSpPr>
        <p:spPr>
          <a:xfrm>
            <a:off x="3492500" y="5854700"/>
            <a:ext cx="7353300" cy="850900"/>
          </a:xfrm>
          <a:prstGeom prst="rect">
            <a:avLst/>
          </a:prstGeom>
          <a:solidFill>
            <a:srgbClr val="FFFFFF"/>
          </a:solidFill>
          <a:ln w="9525">
            <a:solidFill>
              <a:srgbClr val="ABAFBA"/>
            </a:solidFill>
            <a:prstDash val="solid"/>
          </a:ln>
        </p:spPr>
      </p:sp>
      <p:pic>
        <p:nvPicPr>
          <p:cNvPr id="100" name="Image 11" descr="/home/ahmed/Projects/ai_llm_slides/videos/machine-learning/03_ridger_regression_gradient_descent/recreated_pptx/build/assets/eq_r6_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2700" y="6055615"/>
            <a:ext cx="1626105" cy="455673"/>
          </a:xfrm>
          <a:prstGeom prst="rect">
            <a:avLst/>
          </a:prstGeom>
        </p:spPr>
      </p:pic>
      <p:sp>
        <p:nvSpPr>
          <p:cNvPr id="101" name="Text 85"/>
          <p:cNvSpPr/>
          <p:nvPr/>
        </p:nvSpPr>
        <p:spPr>
          <a:xfrm>
            <a:off x="6197600" y="5854700"/>
            <a:ext cx="1524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02" name="Text 86"/>
          <p:cNvSpPr/>
          <p:nvPr/>
        </p:nvSpPr>
        <p:spPr>
          <a:xfrm>
            <a:off x="6464300" y="5854700"/>
            <a:ext cx="10160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pic>
        <p:nvPicPr>
          <p:cNvPr id="103" name="Image 12" descr="/home/ahmed/Projects/ai_llm_slides/videos/machine-learning/03_ridger_regression_gradient_descent/recreated_pptx/build/assets/eq_r_k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5900" y="5624316"/>
            <a:ext cx="1219197" cy="11399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2026-10-25T21:20:59Z</dcterms:created>
  <dcterms:modified xsi:type="dcterms:W3CDTF">2026-10-25T21:20:59Z</dcterms:modified>
</cp:coreProperties>
</file>