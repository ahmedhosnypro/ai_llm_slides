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44600" y="1409700"/>
            <a:ext cx="46355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1308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4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6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68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0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52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44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7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9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1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13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5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7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9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44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44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144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44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144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44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44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144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3144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3144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6" name="Shape 34"/>
          <p:cNvSpPr/>
          <p:nvPr/>
        </p:nvSpPr>
        <p:spPr>
          <a:xfrm>
            <a:off x="13144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7" name="Shape 35"/>
          <p:cNvSpPr/>
          <p:nvPr/>
        </p:nvSpPr>
        <p:spPr>
          <a:xfrm>
            <a:off x="13144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44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144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2508250" y="1841500"/>
            <a:ext cx="913521" cy="177832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244769" y="4224445"/>
            <a:ext cx="149181" cy="29040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995143" y="4352678"/>
            <a:ext cx="246407" cy="47967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931913" y="3871460"/>
            <a:ext cx="147837" cy="28779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081813" y="3794457"/>
            <a:ext cx="226537" cy="44099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418433" y="3621536"/>
            <a:ext cx="315367" cy="61391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944424" y="3351335"/>
            <a:ext cx="170376" cy="33166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772845" y="3439475"/>
            <a:ext cx="399105" cy="77692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462844" y="3085023"/>
            <a:ext cx="382206" cy="74402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894615" y="2863223"/>
            <a:ext cx="153635" cy="29907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104805" y="2755249"/>
            <a:ext cx="248245" cy="48325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2663394" y="4009398"/>
            <a:ext cx="302056" cy="58800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 flipV="1">
            <a:off x="1790700" y="2552700"/>
            <a:ext cx="3708400" cy="1905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6062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55" name="Shape 53"/>
          <p:cNvSpPr/>
          <p:nvPr/>
        </p:nvSpPr>
        <p:spPr>
          <a:xfrm>
            <a:off x="23463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56" name="Shape 54"/>
          <p:cNvSpPr/>
          <p:nvPr/>
        </p:nvSpPr>
        <p:spPr>
          <a:xfrm>
            <a:off x="21939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57" name="Shape 55"/>
          <p:cNvSpPr/>
          <p:nvPr/>
        </p:nvSpPr>
        <p:spPr>
          <a:xfrm>
            <a:off x="3032125" y="41116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58" name="Shape 56"/>
          <p:cNvSpPr/>
          <p:nvPr/>
        </p:nvSpPr>
        <p:spPr>
          <a:xfrm>
            <a:off x="32607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59" name="Shape 57"/>
          <p:cNvSpPr/>
          <p:nvPr/>
        </p:nvSpPr>
        <p:spPr>
          <a:xfrm>
            <a:off x="3686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0" name="Shape 58"/>
          <p:cNvSpPr/>
          <p:nvPr/>
        </p:nvSpPr>
        <p:spPr>
          <a:xfrm>
            <a:off x="406717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1" name="Shape 59"/>
          <p:cNvSpPr/>
          <p:nvPr/>
        </p:nvSpPr>
        <p:spPr>
          <a:xfrm>
            <a:off x="41243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2" name="Shape 60"/>
          <p:cNvSpPr/>
          <p:nvPr/>
        </p:nvSpPr>
        <p:spPr>
          <a:xfrm>
            <a:off x="4797425" y="37814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3" name="Shape 61"/>
          <p:cNvSpPr/>
          <p:nvPr/>
        </p:nvSpPr>
        <p:spPr>
          <a:xfrm>
            <a:off x="500062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4" name="Shape 62"/>
          <p:cNvSpPr/>
          <p:nvPr/>
        </p:nvSpPr>
        <p:spPr>
          <a:xfrm>
            <a:off x="53054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5" name="Shape 63"/>
          <p:cNvSpPr/>
          <p:nvPr/>
        </p:nvSpPr>
        <p:spPr>
          <a:xfrm>
            <a:off x="291782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6" name="Shape 64"/>
          <p:cNvSpPr/>
          <p:nvPr/>
        </p:nvSpPr>
        <p:spPr>
          <a:xfrm>
            <a:off x="2501900" y="1854200"/>
            <a:ext cx="660400" cy="18542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9622158">
            <a:off x="3101848" y="3615912"/>
            <a:ext cx="88900" cy="952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8" name="Shape 66"/>
          <p:cNvSpPr/>
          <p:nvPr/>
        </p:nvSpPr>
        <p:spPr>
          <a:xfrm flipV="1">
            <a:off x="2082800" y="1993900"/>
            <a:ext cx="266700" cy="1270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2348509" y="1890116"/>
            <a:ext cx="8255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2797175" y="2905125"/>
            <a:ext cx="311150" cy="311150"/>
          </a:xfrm>
          <a:prstGeom prst="ellipse">
            <a:avLst/>
          </a:prstGeom>
          <a:solidFill>
            <a:srgbClr val="EE3145"/>
          </a:solidFill>
          <a:ln/>
        </p:spPr>
      </p:sp>
      <p:sp>
        <p:nvSpPr>
          <p:cNvPr id="71" name="Text 69"/>
          <p:cNvSpPr/>
          <p:nvPr/>
        </p:nvSpPr>
        <p:spPr>
          <a:xfrm rot="-4140000">
            <a:off x="2095500" y="2603500"/>
            <a:ext cx="114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50.85 mm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60020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3" name="Shape 71"/>
          <p:cNvSpPr/>
          <p:nvPr/>
        </p:nvSpPr>
        <p:spPr>
          <a:xfrm>
            <a:off x="1574800" y="5505450"/>
            <a:ext cx="38608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4" name="Shape 72"/>
          <p:cNvSpPr/>
          <p:nvPr/>
        </p:nvSpPr>
        <p:spPr>
          <a:xfrm>
            <a:off x="1555750" y="1816100"/>
            <a:ext cx="1016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5" name="Shape 73"/>
          <p:cNvSpPr/>
          <p:nvPr/>
        </p:nvSpPr>
        <p:spPr>
          <a:xfrm rot="5400000">
            <a:off x="54356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6" name="Shape 74"/>
          <p:cNvSpPr/>
          <p:nvPr/>
        </p:nvSpPr>
        <p:spPr>
          <a:xfrm>
            <a:off x="1206500" y="1358900"/>
            <a:ext cx="47117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16650" y="1409700"/>
            <a:ext cx="48006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8" name="Shape 76"/>
          <p:cNvSpPr/>
          <p:nvPr/>
        </p:nvSpPr>
        <p:spPr>
          <a:xfrm>
            <a:off x="6565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9" name="Shape 77"/>
          <p:cNvSpPr/>
          <p:nvPr/>
        </p:nvSpPr>
        <p:spPr>
          <a:xfrm>
            <a:off x="6858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0" name="Shape 78"/>
          <p:cNvSpPr/>
          <p:nvPr/>
        </p:nvSpPr>
        <p:spPr>
          <a:xfrm>
            <a:off x="7150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1" name="Shape 79"/>
          <p:cNvSpPr/>
          <p:nvPr/>
        </p:nvSpPr>
        <p:spPr>
          <a:xfrm>
            <a:off x="7442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2" name="Shape 80"/>
          <p:cNvSpPr/>
          <p:nvPr/>
        </p:nvSpPr>
        <p:spPr>
          <a:xfrm>
            <a:off x="7734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3" name="Shape 81"/>
          <p:cNvSpPr/>
          <p:nvPr/>
        </p:nvSpPr>
        <p:spPr>
          <a:xfrm>
            <a:off x="8026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4" name="Shape 82"/>
          <p:cNvSpPr/>
          <p:nvPr/>
        </p:nvSpPr>
        <p:spPr>
          <a:xfrm>
            <a:off x="8318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5" name="Shape 83"/>
          <p:cNvSpPr/>
          <p:nvPr/>
        </p:nvSpPr>
        <p:spPr>
          <a:xfrm>
            <a:off x="8610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6" name="Shape 84"/>
          <p:cNvSpPr/>
          <p:nvPr/>
        </p:nvSpPr>
        <p:spPr>
          <a:xfrm>
            <a:off x="8902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7" name="Shape 85"/>
          <p:cNvSpPr/>
          <p:nvPr/>
        </p:nvSpPr>
        <p:spPr>
          <a:xfrm>
            <a:off x="9194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8" name="Shape 86"/>
          <p:cNvSpPr/>
          <p:nvPr/>
        </p:nvSpPr>
        <p:spPr>
          <a:xfrm>
            <a:off x="9486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9" name="Shape 87"/>
          <p:cNvSpPr/>
          <p:nvPr/>
        </p:nvSpPr>
        <p:spPr>
          <a:xfrm>
            <a:off x="9779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0" name="Shape 88"/>
          <p:cNvSpPr/>
          <p:nvPr/>
        </p:nvSpPr>
        <p:spPr>
          <a:xfrm>
            <a:off x="10071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1" name="Shape 89"/>
          <p:cNvSpPr/>
          <p:nvPr/>
        </p:nvSpPr>
        <p:spPr>
          <a:xfrm>
            <a:off x="10363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2" name="Shape 90"/>
          <p:cNvSpPr/>
          <p:nvPr/>
        </p:nvSpPr>
        <p:spPr>
          <a:xfrm>
            <a:off x="10655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3" name="Shape 91"/>
          <p:cNvSpPr/>
          <p:nvPr/>
        </p:nvSpPr>
        <p:spPr>
          <a:xfrm>
            <a:off x="10947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4" name="Shape 92"/>
          <p:cNvSpPr/>
          <p:nvPr/>
        </p:nvSpPr>
        <p:spPr>
          <a:xfrm>
            <a:off x="65722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5" name="Shape 93"/>
          <p:cNvSpPr/>
          <p:nvPr/>
        </p:nvSpPr>
        <p:spPr>
          <a:xfrm>
            <a:off x="65722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6" name="Shape 94"/>
          <p:cNvSpPr/>
          <p:nvPr/>
        </p:nvSpPr>
        <p:spPr>
          <a:xfrm>
            <a:off x="65722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7" name="Shape 95"/>
          <p:cNvSpPr/>
          <p:nvPr/>
        </p:nvSpPr>
        <p:spPr>
          <a:xfrm>
            <a:off x="65722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8" name="Shape 96"/>
          <p:cNvSpPr/>
          <p:nvPr/>
        </p:nvSpPr>
        <p:spPr>
          <a:xfrm>
            <a:off x="65722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9" name="Shape 97"/>
          <p:cNvSpPr/>
          <p:nvPr/>
        </p:nvSpPr>
        <p:spPr>
          <a:xfrm>
            <a:off x="65722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0" name="Shape 98"/>
          <p:cNvSpPr/>
          <p:nvPr/>
        </p:nvSpPr>
        <p:spPr>
          <a:xfrm>
            <a:off x="65722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1" name="Shape 99"/>
          <p:cNvSpPr/>
          <p:nvPr/>
        </p:nvSpPr>
        <p:spPr>
          <a:xfrm>
            <a:off x="65722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5722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5722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5722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5722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65722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5722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5722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5722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759700" y="1841500"/>
            <a:ext cx="1061542" cy="222923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>
            <a:off x="8331200" y="4152900"/>
            <a:ext cx="58688" cy="12324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8890998" y="4037520"/>
            <a:ext cx="94252" cy="19793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>
            <a:off x="9366250" y="3683000"/>
            <a:ext cx="49767" cy="10451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>
            <a:off x="9250377" y="3866387"/>
            <a:ext cx="166673" cy="35001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>
            <a:off x="9941776" y="3537150"/>
            <a:ext cx="142024" cy="29825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10287000" y="3162300"/>
            <a:ext cx="81693" cy="17155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>
            <a:off x="8124174" y="4402674"/>
            <a:ext cx="92726" cy="19472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 flipV="1">
            <a:off x="7048500" y="3136900"/>
            <a:ext cx="3733800" cy="1778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71207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75914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4390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8283575" y="41052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512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89376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931862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93694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0036175" y="3787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23937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5505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816927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7759700" y="1866900"/>
            <a:ext cx="901700" cy="22479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9489361">
            <a:off x="8598052" y="4016858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3" name="Shape 131"/>
          <p:cNvSpPr/>
          <p:nvPr/>
        </p:nvSpPr>
        <p:spPr>
          <a:xfrm flipV="1">
            <a:off x="7429500" y="1930400"/>
            <a:ext cx="203200" cy="762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2700000">
            <a:off x="7631709" y="1813916"/>
            <a:ext cx="8255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5" name="Text 133"/>
          <p:cNvSpPr/>
          <p:nvPr/>
        </p:nvSpPr>
        <p:spPr>
          <a:xfrm rot="-4080000">
            <a:off x="7518400" y="2921000"/>
            <a:ext cx="114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63.64 mm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685165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32600" y="5505450"/>
            <a:ext cx="38481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13550" y="1816100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9" name="Shape 137"/>
          <p:cNvSpPr/>
          <p:nvPr/>
        </p:nvSpPr>
        <p:spPr>
          <a:xfrm rot="5400000">
            <a:off x="106807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178550" y="1358900"/>
            <a:ext cx="48895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743200" y="1879600"/>
            <a:ext cx="1295400" cy="342900"/>
          </a:xfrm>
          <a:prstGeom prst="rect">
            <a:avLst/>
          </a:prstGeom>
          <a:solidFill>
            <a:srgbClr val="ECFDF9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142" name="Image 0" descr="/workspaces/codespaces-blank/ai_llm_slides/videos/machine-learning/03_ridger_regression_gradient_descent/recreated_pptx/build/assets/eq_009_left_attemp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0040" y="1958340"/>
            <a:ext cx="1092708" cy="169164"/>
          </a:xfrm>
          <a:prstGeom prst="rect">
            <a:avLst/>
          </a:prstGeom>
        </p:spPr>
      </p:pic>
      <p:sp>
        <p:nvSpPr>
          <p:cNvPr id="143" name="Shape 140"/>
          <p:cNvSpPr/>
          <p:nvPr/>
        </p:nvSpPr>
        <p:spPr>
          <a:xfrm>
            <a:off x="8013700" y="1879600"/>
            <a:ext cx="1320800" cy="342900"/>
          </a:xfrm>
          <a:prstGeom prst="rect">
            <a:avLst/>
          </a:prstGeom>
          <a:solidFill>
            <a:srgbClr val="ECFDF9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144" name="Image 1" descr="/workspaces/codespaces-blank/ai_llm_slides/videos/machine-learning/03_ridger_regression_gradient_descent/recreated_pptx/build/assets/eq_009_right_attempt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940" y="1958340"/>
            <a:ext cx="1095756" cy="169164"/>
          </a:xfrm>
          <a:prstGeom prst="rect">
            <a:avLst/>
          </a:prstGeom>
        </p:spPr>
      </p:pic>
      <p:sp>
        <p:nvSpPr>
          <p:cNvPr id="145" name="Shape 141"/>
          <p:cNvSpPr/>
          <p:nvPr/>
        </p:nvSpPr>
        <p:spPr>
          <a:xfrm>
            <a:off x="12319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46" name="Shape 142"/>
          <p:cNvSpPr/>
          <p:nvPr/>
        </p:nvSpPr>
        <p:spPr>
          <a:xfrm>
            <a:off x="1212850" y="6083300"/>
            <a:ext cx="25400" cy="622300"/>
          </a:xfrm>
          <a:prstGeom prst="rect">
            <a:avLst/>
          </a:prstGeom>
          <a:solidFill>
            <a:srgbClr val="E2C6C3"/>
          </a:solidFill>
          <a:ln/>
        </p:spPr>
      </p:sp>
      <p:sp>
        <p:nvSpPr>
          <p:cNvPr id="147" name="Shape 143"/>
          <p:cNvSpPr/>
          <p:nvPr/>
        </p:nvSpPr>
        <p:spPr>
          <a:xfrm>
            <a:off x="5492750" y="6083300"/>
            <a:ext cx="25400" cy="622300"/>
          </a:xfrm>
          <a:prstGeom prst="rect">
            <a:avLst/>
          </a:prstGeom>
          <a:solidFill>
            <a:srgbClr val="F0E6E7"/>
          </a:solidFill>
          <a:ln/>
        </p:spPr>
      </p:sp>
      <p:sp>
        <p:nvSpPr>
          <p:cNvPr id="148" name="Shape 144"/>
          <p:cNvSpPr/>
          <p:nvPr/>
        </p:nvSpPr>
        <p:spPr>
          <a:xfrm>
            <a:off x="1219200" y="6699250"/>
            <a:ext cx="4279900" cy="25400"/>
          </a:xfrm>
          <a:prstGeom prst="rect">
            <a:avLst/>
          </a:prstGeom>
          <a:solidFill>
            <a:srgbClr val="DCBBBB"/>
          </a:solidFill>
          <a:ln/>
        </p:spPr>
      </p:sp>
      <p:sp>
        <p:nvSpPr>
          <p:cNvPr id="149" name="Shape 145"/>
          <p:cNvSpPr/>
          <p:nvPr/>
        </p:nvSpPr>
        <p:spPr>
          <a:xfrm>
            <a:off x="64008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50" name="Shape 146"/>
          <p:cNvSpPr/>
          <p:nvPr/>
        </p:nvSpPr>
        <p:spPr>
          <a:xfrm>
            <a:off x="6375400" y="6083300"/>
            <a:ext cx="25400" cy="622300"/>
          </a:xfrm>
          <a:prstGeom prst="rect">
            <a:avLst/>
          </a:prstGeom>
          <a:solidFill>
            <a:srgbClr val="D3BCB9"/>
          </a:solidFill>
          <a:ln/>
        </p:spPr>
      </p:sp>
      <p:sp>
        <p:nvSpPr>
          <p:cNvPr id="151" name="Shape 147"/>
          <p:cNvSpPr/>
          <p:nvPr/>
        </p:nvSpPr>
        <p:spPr>
          <a:xfrm>
            <a:off x="10661650" y="6083300"/>
            <a:ext cx="25400" cy="622300"/>
          </a:xfrm>
          <a:prstGeom prst="rect">
            <a:avLst/>
          </a:prstGeom>
          <a:solidFill>
            <a:srgbClr val="CAA5A6"/>
          </a:solidFill>
          <a:ln/>
        </p:spPr>
      </p:sp>
      <p:sp>
        <p:nvSpPr>
          <p:cNvPr id="152" name="Shape 148"/>
          <p:cNvSpPr/>
          <p:nvPr/>
        </p:nvSpPr>
        <p:spPr>
          <a:xfrm>
            <a:off x="6388100" y="6699250"/>
            <a:ext cx="4279900" cy="25400"/>
          </a:xfrm>
          <a:prstGeom prst="rect">
            <a:avLst/>
          </a:prstGeom>
          <a:solidFill>
            <a:srgbClr val="D9BBBA"/>
          </a:solidFill>
          <a:ln/>
        </p:spPr>
      </p:sp>
      <p:sp>
        <p:nvSpPr>
          <p:cNvPr id="153" name="Text 149"/>
          <p:cNvSpPr/>
          <p:nvPr/>
        </p:nvSpPr>
        <p:spPr>
          <a:xfrm>
            <a:off x="939800" y="61341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Overfit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(try to minimize the residuals ONLY)</a:t>
            </a:r>
            <a:endParaRPr lang="en-US" sz="1700" dirty="0"/>
          </a:p>
        </p:txBody>
      </p:sp>
      <p:sp>
        <p:nvSpPr>
          <p:cNvPr id="154" name="Text 150"/>
          <p:cNvSpPr/>
          <p:nvPr/>
        </p:nvSpPr>
        <p:spPr>
          <a:xfrm>
            <a:off x="939800" y="63754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Fails to detect the Pattern</a:t>
            </a:r>
            <a:endParaRPr lang="en-US" sz="1700" dirty="0"/>
          </a:p>
        </p:txBody>
      </p:sp>
      <p:sp>
        <p:nvSpPr>
          <p:cNvPr id="155" name="Text 151"/>
          <p:cNvSpPr/>
          <p:nvPr/>
        </p:nvSpPr>
        <p:spPr>
          <a:xfrm>
            <a:off x="6235700" y="61341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Generalized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(Residuals are not minimized)</a:t>
            </a:r>
            <a:endParaRPr lang="en-US" sz="1700" dirty="0"/>
          </a:p>
        </p:txBody>
      </p:sp>
      <p:sp>
        <p:nvSpPr>
          <p:cNvPr id="156" name="Text 152"/>
          <p:cNvSpPr/>
          <p:nvPr/>
        </p:nvSpPr>
        <p:spPr>
          <a:xfrm>
            <a:off x="6235700" y="63754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Successes to detect the Pattern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2026-10-24T06:53:24Z</dcterms:created>
  <dcterms:modified xsi:type="dcterms:W3CDTF">2026-10-24T06:53:24Z</dcterms:modified>
</cp:coreProperties>
</file>