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244600" y="1409700"/>
            <a:ext cx="4635500" cy="45593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9" name="Shape 7"/>
          <p:cNvSpPr/>
          <p:nvPr/>
        </p:nvSpPr>
        <p:spPr>
          <a:xfrm>
            <a:off x="1308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" name="Shape 8"/>
          <p:cNvSpPr/>
          <p:nvPr/>
        </p:nvSpPr>
        <p:spPr>
          <a:xfrm>
            <a:off x="1600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1" name="Shape 9"/>
          <p:cNvSpPr/>
          <p:nvPr/>
        </p:nvSpPr>
        <p:spPr>
          <a:xfrm>
            <a:off x="1892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2184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2476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2768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0607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3528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44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937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229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521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813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5105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397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5689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1314450" y="15240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1314450" y="18084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1314450" y="20929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1314450" y="23774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1314450" y="26619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1314450" y="29464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1314450" y="32308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1314450" y="35153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1314450" y="37998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1314450" y="40843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1314450" y="43688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1314450" y="46532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1314450" y="49377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1314450" y="52222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1314450" y="55067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1314450" y="57912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2508250" y="1841500"/>
            <a:ext cx="913521" cy="177832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2244769" y="4224445"/>
            <a:ext cx="149181" cy="29040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1995143" y="4352678"/>
            <a:ext cx="246407" cy="479672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2931913" y="3871460"/>
            <a:ext cx="147837" cy="28779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3081813" y="3794457"/>
            <a:ext cx="226537" cy="440993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3418433" y="3621536"/>
            <a:ext cx="315367" cy="613914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3944424" y="3351335"/>
            <a:ext cx="170376" cy="33166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3772845" y="3439475"/>
            <a:ext cx="399105" cy="776925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4462844" y="3085023"/>
            <a:ext cx="382206" cy="74402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4894615" y="2863223"/>
            <a:ext cx="153635" cy="29907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5104805" y="2755249"/>
            <a:ext cx="248245" cy="48325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2663394" y="4009398"/>
            <a:ext cx="302056" cy="588002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1790700" y="2552700"/>
            <a:ext cx="3708400" cy="190500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2508250" y="1841500"/>
            <a:ext cx="913511" cy="1778381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2241550" y="1841500"/>
            <a:ext cx="266700" cy="137033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rot="9168722">
            <a:off x="3355551" y="3529893"/>
            <a:ext cx="88900" cy="9525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57" name="Shape 55"/>
          <p:cNvSpPr/>
          <p:nvPr/>
        </p:nvSpPr>
        <p:spPr>
          <a:xfrm rot="-1631278">
            <a:off x="2483562" y="1835185"/>
            <a:ext cx="101600" cy="1143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58" name="Shape 56"/>
          <p:cNvSpPr/>
          <p:nvPr/>
        </p:nvSpPr>
        <p:spPr>
          <a:xfrm>
            <a:off x="2797175" y="2905125"/>
            <a:ext cx="311150" cy="311150"/>
          </a:xfrm>
          <a:prstGeom prst="ellipse">
            <a:avLst/>
          </a:prstGeom>
          <a:solidFill>
            <a:srgbClr val="EE3145"/>
          </a:solidFill>
          <a:ln/>
        </p:spPr>
      </p:sp>
      <p:sp>
        <p:nvSpPr>
          <p:cNvPr id="59" name="Shape 57"/>
          <p:cNvSpPr/>
          <p:nvPr/>
        </p:nvSpPr>
        <p:spPr>
          <a:xfrm>
            <a:off x="2460625" y="1793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0" name="Shape 58"/>
          <p:cNvSpPr/>
          <p:nvPr/>
        </p:nvSpPr>
        <p:spPr>
          <a:xfrm>
            <a:off x="2346325" y="44672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1" name="Shape 59"/>
          <p:cNvSpPr/>
          <p:nvPr/>
        </p:nvSpPr>
        <p:spPr>
          <a:xfrm>
            <a:off x="2193925" y="47847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2" name="Shape 60"/>
          <p:cNvSpPr/>
          <p:nvPr/>
        </p:nvSpPr>
        <p:spPr>
          <a:xfrm>
            <a:off x="3032125" y="41116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3" name="Shape 61"/>
          <p:cNvSpPr/>
          <p:nvPr/>
        </p:nvSpPr>
        <p:spPr>
          <a:xfrm>
            <a:off x="326072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4" name="Shape 62"/>
          <p:cNvSpPr/>
          <p:nvPr/>
        </p:nvSpPr>
        <p:spPr>
          <a:xfrm>
            <a:off x="368617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5" name="Shape 63"/>
          <p:cNvSpPr/>
          <p:nvPr/>
        </p:nvSpPr>
        <p:spPr>
          <a:xfrm>
            <a:off x="4067175" y="36353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6" name="Shape 64"/>
          <p:cNvSpPr/>
          <p:nvPr/>
        </p:nvSpPr>
        <p:spPr>
          <a:xfrm>
            <a:off x="4124325" y="4168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7" name="Shape 65"/>
          <p:cNvSpPr/>
          <p:nvPr/>
        </p:nvSpPr>
        <p:spPr>
          <a:xfrm>
            <a:off x="4797425" y="37814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8" name="Shape 66"/>
          <p:cNvSpPr/>
          <p:nvPr/>
        </p:nvSpPr>
        <p:spPr>
          <a:xfrm>
            <a:off x="5000625" y="31146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69" name="Shape 67"/>
          <p:cNvSpPr/>
          <p:nvPr/>
        </p:nvSpPr>
        <p:spPr>
          <a:xfrm>
            <a:off x="5305425" y="3190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70" name="Shape 68"/>
          <p:cNvSpPr/>
          <p:nvPr/>
        </p:nvSpPr>
        <p:spPr>
          <a:xfrm>
            <a:off x="2917825" y="4549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71" name="Text 69"/>
          <p:cNvSpPr/>
          <p:nvPr/>
        </p:nvSpPr>
        <p:spPr>
          <a:xfrm rot="3768000">
            <a:off x="2095500" y="2603500"/>
            <a:ext cx="114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50.85 mm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1600200" y="1930400"/>
            <a:ext cx="12700" cy="3619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73" name="Shape 71"/>
          <p:cNvSpPr/>
          <p:nvPr/>
        </p:nvSpPr>
        <p:spPr>
          <a:xfrm>
            <a:off x="1574800" y="5505450"/>
            <a:ext cx="38608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74" name="Shape 72"/>
          <p:cNvSpPr/>
          <p:nvPr/>
        </p:nvSpPr>
        <p:spPr>
          <a:xfrm>
            <a:off x="1555750" y="1816100"/>
            <a:ext cx="1016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75" name="Shape 73"/>
          <p:cNvSpPr/>
          <p:nvPr/>
        </p:nvSpPr>
        <p:spPr>
          <a:xfrm rot="5400000">
            <a:off x="5435600" y="5467350"/>
            <a:ext cx="88900" cy="889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76" name="Shape 74"/>
          <p:cNvSpPr/>
          <p:nvPr/>
        </p:nvSpPr>
        <p:spPr>
          <a:xfrm>
            <a:off x="1206500" y="1358900"/>
            <a:ext cx="4711700" cy="4660900"/>
          </a:xfrm>
          <a:prstGeom prst="rect">
            <a:avLst/>
          </a:prstGeom>
          <a:noFill/>
          <a:ln w="12700">
            <a:solidFill>
              <a:srgbClr val="00008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216650" y="1409700"/>
            <a:ext cx="4800600" cy="4559300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78" name="Shape 76"/>
          <p:cNvSpPr/>
          <p:nvPr/>
        </p:nvSpPr>
        <p:spPr>
          <a:xfrm>
            <a:off x="6565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58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150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442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734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8026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83185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86106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89027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91948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94869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97790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100711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103632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106553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10947400" y="1530350"/>
            <a:ext cx="12700" cy="42672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6572250" y="15240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6572250" y="18084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6572250" y="20929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6572250" y="23774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6572250" y="26619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6572250" y="29464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6572250" y="32308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6572250" y="35153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572250" y="37998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572250" y="40843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572250" y="43688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572250" y="465328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6572250" y="493776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572250" y="522224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572250" y="550672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572250" y="5791200"/>
            <a:ext cx="4381500" cy="12700"/>
          </a:xfrm>
          <a:prstGeom prst="rect">
            <a:avLst/>
          </a:prstGeom>
          <a:solidFill>
            <a:srgbClr val="D8D8D6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759700" y="1841500"/>
            <a:ext cx="1061542" cy="2229237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1" name="Shape 109"/>
          <p:cNvSpPr/>
          <p:nvPr/>
        </p:nvSpPr>
        <p:spPr>
          <a:xfrm>
            <a:off x="8331200" y="4152900"/>
            <a:ext cx="58688" cy="123244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2" name="Shape 110"/>
          <p:cNvSpPr/>
          <p:nvPr/>
        </p:nvSpPr>
        <p:spPr>
          <a:xfrm>
            <a:off x="8890998" y="4037520"/>
            <a:ext cx="94252" cy="19793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3" name="Shape 111"/>
          <p:cNvSpPr/>
          <p:nvPr/>
        </p:nvSpPr>
        <p:spPr>
          <a:xfrm>
            <a:off x="9366250" y="3683000"/>
            <a:ext cx="49767" cy="104511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4" name="Shape 112"/>
          <p:cNvSpPr/>
          <p:nvPr/>
        </p:nvSpPr>
        <p:spPr>
          <a:xfrm>
            <a:off x="9250377" y="3866387"/>
            <a:ext cx="166673" cy="350013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5" name="Shape 113"/>
          <p:cNvSpPr/>
          <p:nvPr/>
        </p:nvSpPr>
        <p:spPr>
          <a:xfrm>
            <a:off x="9941776" y="3537150"/>
            <a:ext cx="142024" cy="298250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6" name="Shape 114"/>
          <p:cNvSpPr/>
          <p:nvPr/>
        </p:nvSpPr>
        <p:spPr>
          <a:xfrm>
            <a:off x="10287000" y="3162300"/>
            <a:ext cx="81693" cy="171556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7" name="Shape 115"/>
          <p:cNvSpPr/>
          <p:nvPr/>
        </p:nvSpPr>
        <p:spPr>
          <a:xfrm>
            <a:off x="8124174" y="4402674"/>
            <a:ext cx="92726" cy="194726"/>
          </a:xfrm>
          <a:prstGeom prst="line">
            <a:avLst/>
          </a:prstGeom>
          <a:noFill/>
          <a:ln w="9525">
            <a:solidFill>
              <a:srgbClr val="B4B2D2"/>
            </a:solidFill>
            <a:prstDash val="dash"/>
          </a:ln>
        </p:spPr>
      </p:sp>
      <p:sp>
        <p:nvSpPr>
          <p:cNvPr id="118" name="Shape 116"/>
          <p:cNvSpPr/>
          <p:nvPr/>
        </p:nvSpPr>
        <p:spPr>
          <a:xfrm flipV="1">
            <a:off x="7048500" y="3136900"/>
            <a:ext cx="3733800" cy="1778000"/>
          </a:xfrm>
          <a:prstGeom prst="line">
            <a:avLst/>
          </a:prstGeom>
          <a:noFill/>
          <a:ln w="25400">
            <a:solidFill>
              <a:srgbClr val="0000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759700" y="1841500"/>
            <a:ext cx="1061593" cy="2229231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 flipV="1">
            <a:off x="7505700" y="1841500"/>
            <a:ext cx="254000" cy="120904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 rot="9272210">
            <a:off x="8755003" y="3974066"/>
            <a:ext cx="889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22" name="Shape 120"/>
          <p:cNvSpPr/>
          <p:nvPr/>
        </p:nvSpPr>
        <p:spPr>
          <a:xfrm rot="-1527790">
            <a:off x="7733470" y="1835948"/>
            <a:ext cx="101600" cy="1143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7712075" y="1793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7591425" y="44672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7439025" y="47847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8283575" y="41052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851217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937625" y="418782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318625" y="36353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9369425" y="4168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10036175" y="3787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10239375" y="31146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10550525" y="31908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8169275" y="4549775"/>
            <a:ext cx="95250" cy="95250"/>
          </a:xfrm>
          <a:prstGeom prst="ellipse">
            <a:avLst/>
          </a:prstGeom>
          <a:solidFill>
            <a:srgbClr val="FFA500"/>
          </a:solidFill>
          <a:ln/>
        </p:spPr>
      </p:sp>
      <p:sp>
        <p:nvSpPr>
          <p:cNvPr id="135" name="Text 133"/>
          <p:cNvSpPr/>
          <p:nvPr/>
        </p:nvSpPr>
        <p:spPr>
          <a:xfrm rot="3870000">
            <a:off x="7518400" y="2921000"/>
            <a:ext cx="114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63.64 mm</a:t>
            </a:r>
            <a:endParaRPr lang="en-US" sz="1100" dirty="0"/>
          </a:p>
        </p:txBody>
      </p:sp>
      <p:sp>
        <p:nvSpPr>
          <p:cNvPr id="136" name="Shape 134"/>
          <p:cNvSpPr/>
          <p:nvPr/>
        </p:nvSpPr>
        <p:spPr>
          <a:xfrm>
            <a:off x="6851650" y="1930400"/>
            <a:ext cx="12700" cy="36195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832600" y="5505450"/>
            <a:ext cx="3848100" cy="12700"/>
          </a:xfrm>
          <a:prstGeom prst="rect">
            <a:avLst/>
          </a:prstGeom>
          <a:solidFill>
            <a:srgbClr val="C0000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813550" y="1816100"/>
            <a:ext cx="88900" cy="1016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39" name="Shape 137"/>
          <p:cNvSpPr/>
          <p:nvPr/>
        </p:nvSpPr>
        <p:spPr>
          <a:xfrm rot="5400000">
            <a:off x="10680700" y="5467350"/>
            <a:ext cx="88900" cy="88900"/>
          </a:xfrm>
          <a:prstGeom prst="triangle">
            <a:avLst/>
          </a:prstGeom>
          <a:solidFill>
            <a:srgbClr val="C0000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178550" y="1358900"/>
            <a:ext cx="4889500" cy="4660900"/>
          </a:xfrm>
          <a:prstGeom prst="rect">
            <a:avLst/>
          </a:prstGeom>
          <a:noFill/>
          <a:ln w="12700">
            <a:solidFill>
              <a:srgbClr val="00008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2743200" y="1879600"/>
            <a:ext cx="1295400" cy="342900"/>
          </a:xfrm>
          <a:prstGeom prst="rect">
            <a:avLst/>
          </a:prstGeom>
          <a:solidFill>
            <a:srgbClr val="ECFDF9"/>
          </a:solidFill>
          <a:ln w="12700">
            <a:solidFill>
              <a:srgbClr val="000080"/>
            </a:solidFill>
            <a:prstDash val="solid"/>
          </a:ln>
        </p:spPr>
      </p:sp>
      <mc:AlternateContent>
        <mc:Choice xmlns:a14="http://schemas.microsoft.com/office/drawing/2010/main" Requires="a14">
          <p:sp>
            <p:nvSpPr>
              <p:cNvPr id="142" name="Equation OMML" descr="50.85^{2} = 2585"/>
              <p:cNvSpPr txBox="1"/>
              <p:nvPr/>
            </p:nvSpPr>
            <p:spPr>
              <a:xfrm>
                <a:off x="2860040" y="1958340"/>
                <a:ext cx="1092708" cy="16916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21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50.8</m:t>
                      </m:r>
                      <m:sSup>
                        <m:sSupPr>
                          <m:ctrlP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5</m:t>
                          </m:r>
                        </m:e>
                        <m:sup>
                          <m: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21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=2585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42" name="Image 0" descr="/home/ahmed/Projects/ai_llm_slides/videos/machine-learning/03_ridger_regression_gradient_descent/recreated_pptx/build/assets/eq_009_left_attempt4.png">    </p:cNvPr>
              <p:cNvPicPr>
                <a:picLocks noChangeAspect="1"/>
              </p:cNvPicPr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2860040" y="1958340"/>
                <a:ext cx="1092708" cy="169164"/>
              </a:xfrm>
              <a:prstGeom prst="rect">
                <a:avLst/>
              </a:prstGeom>
            </p:spPr>
          </p:pic>
        </mc:Fallback>
      </mc:AlternateContent>
      <p:sp>
        <p:nvSpPr>
          <p:cNvPr id="143" name="Shape 140"/>
          <p:cNvSpPr/>
          <p:nvPr/>
        </p:nvSpPr>
        <p:spPr>
          <a:xfrm>
            <a:off x="8013700" y="1879600"/>
            <a:ext cx="1320800" cy="342900"/>
          </a:xfrm>
          <a:prstGeom prst="rect">
            <a:avLst/>
          </a:prstGeom>
          <a:solidFill>
            <a:srgbClr val="ECFDF9"/>
          </a:solidFill>
          <a:ln w="12700">
            <a:solidFill>
              <a:srgbClr val="000080"/>
            </a:solidFill>
            <a:prstDash val="solid"/>
          </a:ln>
        </p:spPr>
      </p:sp>
      <mc:AlternateContent>
        <mc:Choice xmlns:a14="http://schemas.microsoft.com/office/drawing/2010/main" Requires="a14">
          <p:sp>
            <p:nvSpPr>
              <p:cNvPr id="144" name="Equation OMML" descr="63.64^{2} = 4050"/>
              <p:cNvSpPr txBox="1"/>
              <p:nvPr/>
            </p:nvSpPr>
            <p:spPr>
              <a:xfrm>
                <a:off x="8155940" y="1958340"/>
                <a:ext cx="1095756" cy="169164"/>
              </a:xfrm>
              <a:prstGeom prst="rect">
                <a:avLst/>
              </a:prstGeom>
              <a:noFill/>
            </p:spPr>
            <p:txBody>
              <a:bodyPr lIns="0" tIns="0" rIns="0" bIns="0" anchor="ctr">
                <a:noAutofit/>
              </a:bodyPr>
              <a:lstStyle/>
              <a:p>
                <a:pPr algn="ctr">
                  <a:buNone/>
                </a:pPr>
                <a14:m>
                  <m:oMathPara xmlns:m="http://schemas.openxmlformats.org/officeDocument/2006/math" xmlns:a="http://schemas.openxmlformats.org/drawingml/2006/main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 sz="121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63.6</m:t>
                      </m:r>
                      <m:sSup>
                        <m:sSupPr>
                          <m:ctrlP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4</m:t>
                          </m:r>
                        </m:e>
                        <m:sup>
                          <m:r>
                            <a:rPr lang="en-US" i="1" smtClean="0" sz="121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 xml:space="preserve">2</m:t>
                          </m:r>
                        </m:sup>
                      </m:sSup>
                      <m:r>
                        <a:rPr lang="en-US" i="1" smtClean="0" sz="121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 xml:space="preserve">=4050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pic>
            <p:nvPicPr>
              <p:cNvPr id="144" name="Image 1" descr="/home/ahmed/Projects/ai_llm_slides/videos/machine-learning/03_ridger_regression_gradient_descent/recreated_pptx/build/assets/eq_009_right_attempt4.png">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155940" y="1958340"/>
                <a:ext cx="1095756" cy="169164"/>
              </a:xfrm>
              <a:prstGeom prst="rect">
                <a:avLst/>
              </a:prstGeom>
            </p:spPr>
          </p:pic>
        </mc:Fallback>
      </mc:AlternateContent>
      <p:sp>
        <p:nvSpPr>
          <p:cNvPr id="145" name="Shape 141"/>
          <p:cNvSpPr/>
          <p:nvPr/>
        </p:nvSpPr>
        <p:spPr>
          <a:xfrm>
            <a:off x="1231900" y="6096000"/>
            <a:ext cx="4254500" cy="596900"/>
          </a:xfrm>
          <a:prstGeom prst="rect">
            <a:avLst/>
          </a:prstGeom>
          <a:solidFill>
            <a:srgbClr val="FBFCEC"/>
          </a:solidFill>
          <a:ln/>
        </p:spPr>
      </p:sp>
      <p:sp>
        <p:nvSpPr>
          <p:cNvPr id="146" name="Shape 142"/>
          <p:cNvSpPr/>
          <p:nvPr/>
        </p:nvSpPr>
        <p:spPr>
          <a:xfrm>
            <a:off x="1212850" y="6083300"/>
            <a:ext cx="25400" cy="622300"/>
          </a:xfrm>
          <a:prstGeom prst="rect">
            <a:avLst/>
          </a:prstGeom>
          <a:solidFill>
            <a:srgbClr val="E2C6C3"/>
          </a:solidFill>
          <a:ln/>
        </p:spPr>
      </p:sp>
      <p:sp>
        <p:nvSpPr>
          <p:cNvPr id="147" name="Shape 143"/>
          <p:cNvSpPr/>
          <p:nvPr/>
        </p:nvSpPr>
        <p:spPr>
          <a:xfrm>
            <a:off x="5492750" y="6083300"/>
            <a:ext cx="25400" cy="622300"/>
          </a:xfrm>
          <a:prstGeom prst="rect">
            <a:avLst/>
          </a:prstGeom>
          <a:solidFill>
            <a:srgbClr val="F0E6E7"/>
          </a:solidFill>
          <a:ln/>
        </p:spPr>
      </p:sp>
      <p:sp>
        <p:nvSpPr>
          <p:cNvPr id="148" name="Shape 144"/>
          <p:cNvSpPr/>
          <p:nvPr/>
        </p:nvSpPr>
        <p:spPr>
          <a:xfrm>
            <a:off x="1219200" y="6699250"/>
            <a:ext cx="4279900" cy="25400"/>
          </a:xfrm>
          <a:prstGeom prst="rect">
            <a:avLst/>
          </a:prstGeom>
          <a:solidFill>
            <a:srgbClr val="DCBBBB"/>
          </a:solidFill>
          <a:ln/>
        </p:spPr>
      </p:sp>
      <p:sp>
        <p:nvSpPr>
          <p:cNvPr id="149" name="Shape 145"/>
          <p:cNvSpPr/>
          <p:nvPr/>
        </p:nvSpPr>
        <p:spPr>
          <a:xfrm>
            <a:off x="6400800" y="6096000"/>
            <a:ext cx="4254500" cy="596900"/>
          </a:xfrm>
          <a:prstGeom prst="rect">
            <a:avLst/>
          </a:prstGeom>
          <a:solidFill>
            <a:srgbClr val="FBFCEC"/>
          </a:solidFill>
          <a:ln/>
        </p:spPr>
      </p:sp>
      <p:sp>
        <p:nvSpPr>
          <p:cNvPr id="150" name="Shape 146"/>
          <p:cNvSpPr/>
          <p:nvPr/>
        </p:nvSpPr>
        <p:spPr>
          <a:xfrm>
            <a:off x="6375400" y="6083300"/>
            <a:ext cx="25400" cy="622300"/>
          </a:xfrm>
          <a:prstGeom prst="rect">
            <a:avLst/>
          </a:prstGeom>
          <a:solidFill>
            <a:srgbClr val="D3BCB9"/>
          </a:solidFill>
          <a:ln/>
        </p:spPr>
      </p:sp>
      <p:sp>
        <p:nvSpPr>
          <p:cNvPr id="151" name="Shape 147"/>
          <p:cNvSpPr/>
          <p:nvPr/>
        </p:nvSpPr>
        <p:spPr>
          <a:xfrm>
            <a:off x="10661650" y="6083300"/>
            <a:ext cx="25400" cy="622300"/>
          </a:xfrm>
          <a:prstGeom prst="rect">
            <a:avLst/>
          </a:prstGeom>
          <a:solidFill>
            <a:srgbClr val="CAA5A6"/>
          </a:solidFill>
          <a:ln/>
        </p:spPr>
      </p:sp>
      <p:sp>
        <p:nvSpPr>
          <p:cNvPr id="152" name="Shape 148"/>
          <p:cNvSpPr/>
          <p:nvPr/>
        </p:nvSpPr>
        <p:spPr>
          <a:xfrm>
            <a:off x="6388100" y="6699250"/>
            <a:ext cx="4279900" cy="25400"/>
          </a:xfrm>
          <a:prstGeom prst="rect">
            <a:avLst/>
          </a:prstGeom>
          <a:solidFill>
            <a:srgbClr val="D9BBBA"/>
          </a:solidFill>
          <a:ln/>
        </p:spPr>
      </p:sp>
      <p:sp>
        <p:nvSpPr>
          <p:cNvPr id="153" name="Text 149"/>
          <p:cNvSpPr/>
          <p:nvPr/>
        </p:nvSpPr>
        <p:spPr>
          <a:xfrm>
            <a:off x="939800" y="61341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Overfit</a:t>
            </a:r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(try to minimize the residuals ONLY)</a:t>
            </a:r>
            <a:endParaRPr lang="en-US" sz="1700" dirty="0"/>
          </a:p>
        </p:txBody>
      </p:sp>
      <p:sp>
        <p:nvSpPr>
          <p:cNvPr id="154" name="Text 150"/>
          <p:cNvSpPr/>
          <p:nvPr/>
        </p:nvSpPr>
        <p:spPr>
          <a:xfrm>
            <a:off x="939800" y="6375400"/>
            <a:ext cx="4826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Fails to detect the Pattern</a:t>
            </a:r>
            <a:endParaRPr lang="en-US" sz="1700" dirty="0"/>
          </a:p>
        </p:txBody>
      </p:sp>
      <p:sp>
        <p:nvSpPr>
          <p:cNvPr id="155" name="Text 151"/>
          <p:cNvSpPr/>
          <p:nvPr/>
        </p:nvSpPr>
        <p:spPr>
          <a:xfrm>
            <a:off x="6235700" y="6134100"/>
            <a:ext cx="4572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b="1" dirty="0">
                <a:solidFill>
                  <a:srgbClr val="C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Generalized</a:t>
            </a:r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(Residuals are not minimized)</a:t>
            </a:r>
            <a:endParaRPr lang="en-US" sz="1700" dirty="0"/>
          </a:p>
        </p:txBody>
      </p:sp>
      <p:sp>
        <p:nvSpPr>
          <p:cNvPr id="156" name="Text 152"/>
          <p:cNvSpPr/>
          <p:nvPr/>
        </p:nvSpPr>
        <p:spPr>
          <a:xfrm>
            <a:off x="6235700" y="6375400"/>
            <a:ext cx="4572000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dirty="0">
                <a:solidFill>
                  <a:srgbClr val="33333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Successes to detect the Pattern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2026-10-25T18:12:10Z</dcterms:created>
  <dcterms:modified xsi:type="dcterms:W3CDTF">2026-10-25T18:12:10Z</dcterms:modified>
</cp:coreProperties>
</file>