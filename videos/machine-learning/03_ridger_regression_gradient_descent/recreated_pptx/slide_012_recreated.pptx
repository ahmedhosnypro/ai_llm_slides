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71500"/>
            <a:ext cx="10782300" cy="6286500"/>
          </a:xfrm>
          <a:prstGeom prst="rect">
            <a:avLst/>
          </a:prstGeom>
          <a:solidFill>
            <a:srgbClr val="E9E9E7"/>
          </a:solidFill>
          <a:ln/>
        </p:spPr>
      </p:sp>
      <p:sp>
        <p:nvSpPr>
          <p:cNvPr id="3" name="Shape 1"/>
          <p:cNvSpPr/>
          <p:nvPr/>
        </p:nvSpPr>
        <p:spPr>
          <a:xfrm>
            <a:off x="742950" y="571500"/>
            <a:ext cx="12700" cy="62865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4" name="Shape 2"/>
          <p:cNvSpPr/>
          <p:nvPr/>
        </p:nvSpPr>
        <p:spPr>
          <a:xfrm>
            <a:off x="11442700" y="571500"/>
            <a:ext cx="12700" cy="62865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6838950"/>
            <a:ext cx="10782300" cy="127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6" name="Shape 4"/>
          <p:cNvSpPr/>
          <p:nvPr/>
        </p:nvSpPr>
        <p:spPr>
          <a:xfrm>
            <a:off x="10902950" y="704850"/>
            <a:ext cx="444500" cy="444500"/>
          </a:xfrm>
          <a:prstGeom prst="ellipse">
            <a:avLst/>
          </a:prstGeom>
          <a:solidFill>
            <a:srgbClr val="FDFD96"/>
          </a:solidFill>
          <a:ln w="12700">
            <a:solidFill>
              <a:srgbClr val="6A5AC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02950" y="704850"/>
            <a:ext cx="4445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955800" y="863600"/>
            <a:ext cx="8128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4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Effect of Overfitting on model parameter “W”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863600" y="1320800"/>
            <a:ext cx="1651000" cy="381000"/>
          </a:xfrm>
          <a:prstGeom prst="rect">
            <a:avLst/>
          </a:prstGeom>
          <a:solidFill>
            <a:srgbClr val="0000FF"/>
          </a:solidFill>
          <a:ln/>
        </p:spPr>
      </p:sp>
      <p:sp>
        <p:nvSpPr>
          <p:cNvPr id="10" name="Text 8"/>
          <p:cNvSpPr/>
          <p:nvPr/>
        </p:nvSpPr>
        <p:spPr>
          <a:xfrm>
            <a:off x="863600" y="1412240"/>
            <a:ext cx="165100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Data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76300" y="2222500"/>
            <a:ext cx="1625600" cy="596900"/>
          </a:xfrm>
          <a:prstGeom prst="rect">
            <a:avLst/>
          </a:prstGeom>
          <a:solidFill>
            <a:srgbClr val="FF0000"/>
          </a:solidFill>
          <a:ln/>
        </p:spPr>
      </p:sp>
      <p:sp>
        <p:nvSpPr>
          <p:cNvPr id="12" name="Text 10"/>
          <p:cNvSpPr/>
          <p:nvPr/>
        </p:nvSpPr>
        <p:spPr>
          <a:xfrm>
            <a:off x="876300" y="2322830"/>
            <a:ext cx="162560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Perfect Data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76300" y="2520950"/>
            <a:ext cx="162560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follows x1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76300" y="4102100"/>
            <a:ext cx="1625600" cy="342900"/>
          </a:xfrm>
          <a:prstGeom prst="rect">
            <a:avLst/>
          </a:prstGeom>
          <a:solidFill>
            <a:srgbClr val="FF0000"/>
          </a:solidFill>
          <a:ln/>
        </p:spPr>
      </p:sp>
      <p:sp>
        <p:nvSpPr>
          <p:cNvPr id="15" name="Text 13"/>
          <p:cNvSpPr/>
          <p:nvPr/>
        </p:nvSpPr>
        <p:spPr>
          <a:xfrm>
            <a:off x="876300" y="4182110"/>
            <a:ext cx="1625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X5 is Outlier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76300" y="5651500"/>
            <a:ext cx="1625600" cy="342900"/>
          </a:xfrm>
          <a:prstGeom prst="rect">
            <a:avLst/>
          </a:prstGeom>
          <a:solidFill>
            <a:srgbClr val="FF0000"/>
          </a:solidFill>
          <a:ln/>
        </p:spPr>
      </p:sp>
      <p:sp>
        <p:nvSpPr>
          <p:cNvPr id="17" name="Text 15"/>
          <p:cNvSpPr/>
          <p:nvPr/>
        </p:nvSpPr>
        <p:spPr>
          <a:xfrm>
            <a:off x="876300" y="5731510"/>
            <a:ext cx="1625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X5 is Outlier</a:t>
            </a:r>
            <a:endParaRPr lang="en-US" sz="12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578100" y="1612900"/>
          <a:ext cx="4673600" cy="1752600"/>
        </p:xfrm>
        <a:graphic>
          <a:graphicData uri="http://schemas.openxmlformats.org/drawingml/2006/table">
            <a:tbl>
              <a:tblPr/>
              <a:tblGrid>
                <a:gridCol w="520700"/>
                <a:gridCol w="520700"/>
                <a:gridCol w="520700"/>
                <a:gridCol w="520700"/>
                <a:gridCol w="508000"/>
                <a:gridCol w="520700"/>
                <a:gridCol w="520700"/>
                <a:gridCol w="520700"/>
                <a:gridCol w="533400"/>
              </a:tblGrid>
              <a:tr h="3937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Shape 16"/>
          <p:cNvSpPr/>
          <p:nvPr/>
        </p:nvSpPr>
        <p:spPr>
          <a:xfrm>
            <a:off x="9740900" y="1219200"/>
            <a:ext cx="1270000" cy="381000"/>
          </a:xfrm>
          <a:prstGeom prst="rect">
            <a:avLst/>
          </a:prstGeom>
          <a:solidFill>
            <a:srgbClr val="0000FF"/>
          </a:solidFill>
          <a:ln/>
        </p:spPr>
      </p:sp>
      <p:sp>
        <p:nvSpPr>
          <p:cNvPr id="20" name="Text 17"/>
          <p:cNvSpPr/>
          <p:nvPr/>
        </p:nvSpPr>
        <p:spPr>
          <a:xfrm>
            <a:off x="9740900" y="1310640"/>
            <a:ext cx="127000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Data</a:t>
            </a:r>
            <a:endParaRPr lang="en-US" sz="1300" dirty="0"/>
          </a:p>
        </p:txBody>
      </p:sp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496300" y="1625600"/>
          <a:ext cx="2590800" cy="1574800"/>
        </p:xfrm>
        <a:graphic>
          <a:graphicData uri="http://schemas.openxmlformats.org/drawingml/2006/table">
            <a:tbl>
              <a:tblPr/>
              <a:tblGrid>
                <a:gridCol w="635000"/>
                <a:gridCol w="635000"/>
                <a:gridCol w="647700"/>
                <a:gridCol w="673100"/>
              </a:tblGrid>
              <a:tr h="406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Test1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Test2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Test3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E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E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E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578100" y="3365500"/>
          <a:ext cx="4673600" cy="1765300"/>
        </p:xfrm>
        <a:graphic>
          <a:graphicData uri="http://schemas.openxmlformats.org/drawingml/2006/table">
            <a:tbl>
              <a:tblPr/>
              <a:tblGrid>
                <a:gridCol w="520700"/>
                <a:gridCol w="520700"/>
                <a:gridCol w="520700"/>
                <a:gridCol w="520700"/>
                <a:gridCol w="508000"/>
                <a:gridCol w="520700"/>
                <a:gridCol w="520700"/>
                <a:gridCol w="520700"/>
                <a:gridCol w="533400"/>
              </a:tblGrid>
              <a:tr h="3937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3" name="Shape 18"/>
          <p:cNvSpPr/>
          <p:nvPr/>
        </p:nvSpPr>
        <p:spPr>
          <a:xfrm>
            <a:off x="8978900" y="3429000"/>
            <a:ext cx="1638300" cy="596900"/>
          </a:xfrm>
          <a:prstGeom prst="rect">
            <a:avLst/>
          </a:prstGeom>
          <a:solidFill>
            <a:srgbClr val="FF0000"/>
          </a:solidFill>
          <a:ln/>
        </p:spPr>
      </p:sp>
      <p:sp>
        <p:nvSpPr>
          <p:cNvPr id="24" name="Text 19"/>
          <p:cNvSpPr/>
          <p:nvPr/>
        </p:nvSpPr>
        <p:spPr>
          <a:xfrm>
            <a:off x="8978900" y="3529330"/>
            <a:ext cx="163830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Again</a:t>
            </a:r>
            <a:endParaRPr lang="en-US" sz="1300" dirty="0"/>
          </a:p>
        </p:txBody>
      </p:sp>
      <p:sp>
        <p:nvSpPr>
          <p:cNvPr id="25" name="Text 20"/>
          <p:cNvSpPr/>
          <p:nvPr/>
        </p:nvSpPr>
        <p:spPr>
          <a:xfrm>
            <a:off x="8978900" y="3727450"/>
            <a:ext cx="163830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follows x1</a:t>
            </a:r>
            <a:endParaRPr lang="en-US" sz="1300" dirty="0"/>
          </a:p>
        </p:txBody>
      </p:sp>
      <p:sp>
        <p:nvSpPr>
          <p:cNvPr id="26" name="Shape 21"/>
          <p:cNvSpPr/>
          <p:nvPr/>
        </p:nvSpPr>
        <p:spPr>
          <a:xfrm>
            <a:off x="8509000" y="3181350"/>
            <a:ext cx="444500" cy="0"/>
          </a:xfrm>
          <a:prstGeom prst="line">
            <a:avLst/>
          </a:prstGeom>
          <a:noFill/>
          <a:ln w="25400">
            <a:solidFill>
              <a:srgbClr val="FF0000"/>
            </a:solidFill>
            <a:prstDash val="solid"/>
            <a:headEnd type="triangle"/>
          </a:ln>
        </p:spPr>
      </p:sp>
      <p:graphicFrame>
        <p:nvGraphicFramePr>
          <p:cNvPr id="5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578100" y="5130800"/>
          <a:ext cx="4673600" cy="1562100"/>
        </p:xfrm>
        <a:graphic>
          <a:graphicData uri="http://schemas.openxmlformats.org/drawingml/2006/table">
            <a:tbl>
              <a:tblPr/>
              <a:tblGrid>
                <a:gridCol w="520700"/>
                <a:gridCol w="520700"/>
                <a:gridCol w="520700"/>
                <a:gridCol w="520700"/>
                <a:gridCol w="508000"/>
                <a:gridCol w="520700"/>
                <a:gridCol w="520700"/>
                <a:gridCol w="520700"/>
                <a:gridCol w="533400"/>
              </a:tblGrid>
              <a:tr h="3937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8" name="Shape 22"/>
          <p:cNvSpPr/>
          <p:nvPr/>
        </p:nvSpPr>
        <p:spPr>
          <a:xfrm>
            <a:off x="7670800" y="4648200"/>
            <a:ext cx="3352800" cy="609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FF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7747000" y="4711700"/>
            <a:ext cx="32004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will be the effect of X8 Outlier values on the trained model ???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2026-10-25T14:59:31Z</dcterms:created>
  <dcterms:modified xsi:type="dcterms:W3CDTF">2026-10-25T14:59:31Z</dcterms:modified>
</cp:coreProperties>
</file>