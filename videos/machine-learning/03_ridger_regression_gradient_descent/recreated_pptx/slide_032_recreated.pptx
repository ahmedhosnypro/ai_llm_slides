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75565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Convex Function,   </a:t>
            </a:r>
            <a:pPr algn="l" indent="0" marL="0">
              <a:buNone/>
            </a:pPr>
            <a:r>
              <a:rPr lang="en-US" sz="212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 =0.4,  </a:t>
            </a:r>
            <a:pPr algn="l" indent="0" marL="0">
              <a:buNone/>
            </a:pPr>
            <a:r>
              <a:rPr lang="en-US" sz="212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at X=3</a:t>
            </a:r>
            <a:endParaRPr lang="en-US" sz="2120" dirty="0"/>
          </a:p>
        </p:txBody>
      </p:sp>
      <p:sp>
        <p:nvSpPr>
          <p:cNvPr id="9" name="Shape 7"/>
          <p:cNvSpPr/>
          <p:nvPr/>
        </p:nvSpPr>
        <p:spPr>
          <a:xfrm>
            <a:off x="1028700" y="2273300"/>
            <a:ext cx="1587500" cy="298450"/>
          </a:xfrm>
          <a:prstGeom prst="rect">
            <a:avLst/>
          </a:prstGeom>
          <a:solidFill>
            <a:srgbClr val="E9FFD5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400" y="2305050"/>
            <a:ext cx="9080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49450" y="2305050"/>
            <a:ext cx="6667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8700" y="2571750"/>
            <a:ext cx="1587500" cy="298450"/>
          </a:xfrm>
          <a:prstGeom prst="rect">
            <a:avLst/>
          </a:prstGeom>
          <a:solidFill>
            <a:srgbClr val="F3BEC2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400" y="2603500"/>
            <a:ext cx="9080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49450" y="2603500"/>
            <a:ext cx="6667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8700" y="2870200"/>
            <a:ext cx="1587500" cy="304800"/>
          </a:xfrm>
          <a:prstGeom prst="rect">
            <a:avLst/>
          </a:prstGeom>
          <a:solidFill>
            <a:srgbClr val="FAFF0D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1400" y="2901950"/>
            <a:ext cx="908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49450" y="290195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49450" y="2273300"/>
            <a:ext cx="0" cy="9017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9800" y="850900"/>
            <a:ext cx="29845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231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92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52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13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73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34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94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455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15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76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836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297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57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18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78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39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99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060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20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981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89800" y="3835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89800" y="3683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89800" y="3530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89800" y="3225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9800" y="3073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89800" y="2921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89800" y="2768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89800" y="2616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89800" y="2463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89800" y="2311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89800" y="2159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89800" y="2006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89800" y="1854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89800" y="1701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89800" y="1549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89800" y="1397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89800" y="1244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89800" y="1092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89800" y="939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771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870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77100" y="8382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77100" y="39243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13700" y="850900"/>
            <a:ext cx="0" cy="307340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7600" y="850900"/>
            <a:ext cx="0" cy="307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8280400" y="1854200"/>
            <a:ext cx="9525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550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313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71" name="Image 0" descr="/workspaces/codespaces-blank/ai_llm_slides/videos/machine-learning/03_ridger_regression_gradient_descent/recreated_pptx/build/assets/curve_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21" y="832104"/>
            <a:ext cx="1167384" cy="2400300"/>
          </a:xfrm>
          <a:prstGeom prst="rect">
            <a:avLst/>
          </a:prstGeom>
        </p:spPr>
      </p:pic>
      <p:sp>
        <p:nvSpPr>
          <p:cNvPr id="72" name="Shape 69"/>
          <p:cNvSpPr/>
          <p:nvPr/>
        </p:nvSpPr>
        <p:spPr>
          <a:xfrm>
            <a:off x="8674100" y="3181350"/>
            <a:ext cx="114300" cy="1143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343900" y="2273300"/>
            <a:ext cx="88900" cy="889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96200" y="1003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7696200" y="1765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7696200" y="2527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7213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-5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7848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5852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3154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00393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7861300" y="18923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(2, 10)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9194800" y="1778000"/>
            <a:ext cx="38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(?, ?)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8813800" y="3098800"/>
            <a:ext cx="457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(5, 1)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84328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88519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5054600" y="2336800"/>
            <a:ext cx="16764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88" name="Image 1" descr="/workspaces/codespaces-blank/ai_llm_slides/videos/machine-learning/03_ridger_regression_gradient_descent/recreated_pptx/build/assets/eq_032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556" y="2401064"/>
            <a:ext cx="1618488" cy="227073"/>
          </a:xfrm>
          <a:prstGeom prst="rect">
            <a:avLst/>
          </a:prstGeom>
        </p:spPr>
      </p:pic>
      <p:sp>
        <p:nvSpPr>
          <p:cNvPr id="89" name="Shape 85"/>
          <p:cNvSpPr/>
          <p:nvPr/>
        </p:nvSpPr>
        <p:spPr>
          <a:xfrm>
            <a:off x="4229100" y="2971800"/>
            <a:ext cx="2603500" cy="584200"/>
          </a:xfrm>
          <a:prstGeom prst="rect">
            <a:avLst/>
          </a:prstGeom>
          <a:solidFill>
            <a:srgbClr val="EFFFE2"/>
          </a:solidFill>
          <a:ln w="12700">
            <a:solidFill>
              <a:srgbClr val="438A3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4318000" y="29972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5</a:t>
            </a:r>
            <a:endParaRPr lang="en-US" sz="1700" dirty="0"/>
          </a:p>
        </p:txBody>
      </p:sp>
      <p:sp>
        <p:nvSpPr>
          <p:cNvPr id="91" name="Text 87"/>
          <p:cNvSpPr/>
          <p:nvPr/>
        </p:nvSpPr>
        <p:spPr>
          <a:xfrm>
            <a:off x="4279900" y="32131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i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pPr algn="l"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Minimum value is </a:t>
            </a:r>
            <a:pPr algn="l" indent="0" marL="0">
              <a:buNone/>
            </a:pPr>
            <a:r>
              <a:rPr lang="en-US" sz="185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</a:t>
            </a:r>
            <a:endParaRPr lang="en-US" sz="1850" dirty="0"/>
          </a:p>
        </p:txBody>
      </p:sp>
      <p:sp>
        <p:nvSpPr>
          <p:cNvPr id="92" name="Shape 88"/>
          <p:cNvSpPr/>
          <p:nvPr/>
        </p:nvSpPr>
        <p:spPr>
          <a:xfrm>
            <a:off x="4254500" y="3708400"/>
            <a:ext cx="2984500" cy="355600"/>
          </a:xfrm>
          <a:prstGeom prst="rect">
            <a:avLst/>
          </a:prstGeom>
          <a:solidFill>
            <a:srgbClr val="F7C9FB"/>
          </a:solidFill>
          <a:ln w="9525">
            <a:solidFill>
              <a:srgbClr val="CBA6D1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4343400" y="3746500"/>
            <a:ext cx="292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8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Reach Minimum after 6  Steps</a:t>
            </a:r>
            <a:endParaRPr lang="en-US" sz="1600" dirty="0"/>
          </a:p>
        </p:txBody>
      </p:sp>
      <p:sp>
        <p:nvSpPr>
          <p:cNvPr id="94" name="Shape 90"/>
          <p:cNvSpPr/>
          <p:nvPr/>
        </p:nvSpPr>
        <p:spPr>
          <a:xfrm>
            <a:off x="3784600" y="4191000"/>
            <a:ext cx="3835400" cy="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3784600" y="6692900"/>
            <a:ext cx="3835400" cy="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3790950" y="4191000"/>
            <a:ext cx="0" cy="250190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7613650" y="4191000"/>
            <a:ext cx="0" cy="250190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3790950" y="4368800"/>
            <a:ext cx="3822700" cy="495300"/>
          </a:xfrm>
          <a:prstGeom prst="rect">
            <a:avLst/>
          </a:prstGeom>
          <a:solidFill>
            <a:srgbClr val="D8E175"/>
          </a:solidFill>
          <a:ln/>
        </p:spPr>
      </p:sp>
      <p:sp>
        <p:nvSpPr>
          <p:cNvPr id="99" name="Shape 95"/>
          <p:cNvSpPr/>
          <p:nvPr/>
        </p:nvSpPr>
        <p:spPr>
          <a:xfrm>
            <a:off x="3790950" y="436880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3790950" y="486410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3790950" y="4368800"/>
            <a:ext cx="0" cy="49530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613650" y="4368800"/>
            <a:ext cx="0" cy="49530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790950" y="461645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5085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50228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5435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60642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786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993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3790950" y="4914900"/>
            <a:ext cx="3822700" cy="469900"/>
          </a:xfrm>
          <a:prstGeom prst="rect">
            <a:avLst/>
          </a:prstGeom>
          <a:solidFill>
            <a:srgbClr val="D4B2F5"/>
          </a:solidFill>
          <a:ln/>
        </p:spPr>
      </p:sp>
      <p:sp>
        <p:nvSpPr>
          <p:cNvPr id="111" name="Shape 107"/>
          <p:cNvSpPr/>
          <p:nvPr/>
        </p:nvSpPr>
        <p:spPr>
          <a:xfrm>
            <a:off x="3790950" y="49149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3790950" y="53848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790950" y="4914900"/>
            <a:ext cx="0" cy="46990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7613650" y="4914900"/>
            <a:ext cx="0" cy="46990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3790950" y="51562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45085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50228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55435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0642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65786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70993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790950" y="5473700"/>
            <a:ext cx="3822700" cy="469900"/>
          </a:xfrm>
          <a:prstGeom prst="rect">
            <a:avLst/>
          </a:prstGeom>
          <a:solidFill>
            <a:srgbClr val="F6DDC1"/>
          </a:solidFill>
          <a:ln/>
        </p:spPr>
      </p:sp>
      <p:sp>
        <p:nvSpPr>
          <p:cNvPr id="123" name="Shape 119"/>
          <p:cNvSpPr/>
          <p:nvPr/>
        </p:nvSpPr>
        <p:spPr>
          <a:xfrm>
            <a:off x="3790950" y="54737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3790950" y="59436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3790950" y="5473700"/>
            <a:ext cx="0" cy="46990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7613650" y="5473700"/>
            <a:ext cx="0" cy="46990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3790950" y="57150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45085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50228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5435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60642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65786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70993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3790950" y="5994400"/>
            <a:ext cx="3822700" cy="279400"/>
          </a:xfrm>
          <a:prstGeom prst="rect">
            <a:avLst/>
          </a:prstGeom>
          <a:solidFill>
            <a:srgbClr val="E7FFD2"/>
          </a:solidFill>
          <a:ln/>
        </p:spPr>
      </p:sp>
      <p:sp>
        <p:nvSpPr>
          <p:cNvPr id="135" name="Shape 131"/>
          <p:cNvSpPr/>
          <p:nvPr/>
        </p:nvSpPr>
        <p:spPr>
          <a:xfrm>
            <a:off x="3790950" y="5994400"/>
            <a:ext cx="3822700" cy="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3790950" y="6273800"/>
            <a:ext cx="3822700" cy="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3790950" y="5994400"/>
            <a:ext cx="0" cy="27940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613650" y="5994400"/>
            <a:ext cx="0" cy="27940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45085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50228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55435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60642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65786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0993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3790950" y="6311900"/>
            <a:ext cx="3822700" cy="254000"/>
          </a:xfrm>
          <a:prstGeom prst="rect">
            <a:avLst/>
          </a:prstGeom>
          <a:solidFill>
            <a:srgbClr val="F4BEC2"/>
          </a:solidFill>
          <a:ln/>
        </p:spPr>
      </p:sp>
      <p:sp>
        <p:nvSpPr>
          <p:cNvPr id="146" name="Shape 142"/>
          <p:cNvSpPr/>
          <p:nvPr/>
        </p:nvSpPr>
        <p:spPr>
          <a:xfrm>
            <a:off x="3790950" y="6311900"/>
            <a:ext cx="3822700" cy="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3790950" y="6565900"/>
            <a:ext cx="3822700" cy="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3790950" y="6311900"/>
            <a:ext cx="0" cy="25400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613650" y="6311900"/>
            <a:ext cx="0" cy="25400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45085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50228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55435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60642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65786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70993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3790950" y="4368800"/>
            <a:ext cx="71755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157" name="Text 153"/>
          <p:cNvSpPr/>
          <p:nvPr/>
        </p:nvSpPr>
        <p:spPr>
          <a:xfrm>
            <a:off x="450850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50" dirty="0"/>
          </a:p>
        </p:txBody>
      </p:sp>
      <p:sp>
        <p:nvSpPr>
          <p:cNvPr id="158" name="Text 154"/>
          <p:cNvSpPr/>
          <p:nvPr/>
        </p:nvSpPr>
        <p:spPr>
          <a:xfrm>
            <a:off x="502285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</a:t>
            </a:r>
            <a:endParaRPr lang="en-US" sz="950" dirty="0"/>
          </a:p>
        </p:txBody>
      </p:sp>
      <p:sp>
        <p:nvSpPr>
          <p:cNvPr id="159" name="Text 155"/>
          <p:cNvSpPr/>
          <p:nvPr/>
        </p:nvSpPr>
        <p:spPr>
          <a:xfrm>
            <a:off x="554355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</a:t>
            </a:r>
            <a:endParaRPr lang="en-US" sz="950" dirty="0"/>
          </a:p>
        </p:txBody>
      </p:sp>
      <p:sp>
        <p:nvSpPr>
          <p:cNvPr id="160" name="Text 156"/>
          <p:cNvSpPr/>
          <p:nvPr/>
        </p:nvSpPr>
        <p:spPr>
          <a:xfrm>
            <a:off x="606425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</a:t>
            </a:r>
            <a:endParaRPr lang="en-US" sz="950" dirty="0"/>
          </a:p>
        </p:txBody>
      </p:sp>
      <p:sp>
        <p:nvSpPr>
          <p:cNvPr id="161" name="Text 157"/>
          <p:cNvSpPr/>
          <p:nvPr/>
        </p:nvSpPr>
        <p:spPr>
          <a:xfrm>
            <a:off x="657860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</a:t>
            </a:r>
            <a:endParaRPr lang="en-US" sz="950" dirty="0"/>
          </a:p>
        </p:txBody>
      </p:sp>
      <p:sp>
        <p:nvSpPr>
          <p:cNvPr id="162" name="Text 158"/>
          <p:cNvSpPr/>
          <p:nvPr/>
        </p:nvSpPr>
        <p:spPr>
          <a:xfrm>
            <a:off x="709930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163" name="Text 159"/>
          <p:cNvSpPr/>
          <p:nvPr/>
        </p:nvSpPr>
        <p:spPr>
          <a:xfrm>
            <a:off x="3790950" y="4616450"/>
            <a:ext cx="71755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050" dirty="0"/>
          </a:p>
        </p:txBody>
      </p:sp>
      <p:sp>
        <p:nvSpPr>
          <p:cNvPr id="164" name="Text 160"/>
          <p:cNvSpPr/>
          <p:nvPr/>
        </p:nvSpPr>
        <p:spPr>
          <a:xfrm>
            <a:off x="450850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165" name="Text 161"/>
          <p:cNvSpPr/>
          <p:nvPr/>
        </p:nvSpPr>
        <p:spPr>
          <a:xfrm>
            <a:off x="502285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3.56</a:t>
            </a:r>
            <a:endParaRPr lang="en-US" sz="950" dirty="0"/>
          </a:p>
        </p:txBody>
      </p:sp>
      <p:sp>
        <p:nvSpPr>
          <p:cNvPr id="166" name="Text 162"/>
          <p:cNvSpPr/>
          <p:nvPr/>
        </p:nvSpPr>
        <p:spPr>
          <a:xfrm>
            <a:off x="554355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2.44</a:t>
            </a:r>
            <a:endParaRPr lang="en-US" sz="950" dirty="0"/>
          </a:p>
        </p:txBody>
      </p:sp>
      <p:sp>
        <p:nvSpPr>
          <p:cNvPr id="167" name="Text 163"/>
          <p:cNvSpPr/>
          <p:nvPr/>
        </p:nvSpPr>
        <p:spPr>
          <a:xfrm>
            <a:off x="606425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1.64</a:t>
            </a:r>
            <a:endParaRPr lang="en-US" sz="950" dirty="0"/>
          </a:p>
        </p:txBody>
      </p:sp>
      <p:sp>
        <p:nvSpPr>
          <p:cNvPr id="168" name="Text 164"/>
          <p:cNvSpPr/>
          <p:nvPr/>
        </p:nvSpPr>
        <p:spPr>
          <a:xfrm>
            <a:off x="657860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1.16</a:t>
            </a:r>
            <a:endParaRPr lang="en-US" sz="950" dirty="0"/>
          </a:p>
        </p:txBody>
      </p:sp>
      <p:sp>
        <p:nvSpPr>
          <p:cNvPr id="169" name="Text 165"/>
          <p:cNvSpPr/>
          <p:nvPr/>
        </p:nvSpPr>
        <p:spPr>
          <a:xfrm>
            <a:off x="709930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50" dirty="0"/>
          </a:p>
        </p:txBody>
      </p:sp>
      <p:sp>
        <p:nvSpPr>
          <p:cNvPr id="170" name="Text 166"/>
          <p:cNvSpPr/>
          <p:nvPr/>
        </p:nvSpPr>
        <p:spPr>
          <a:xfrm>
            <a:off x="3790950" y="4914900"/>
            <a:ext cx="7175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x-delta</a:t>
            </a:r>
            <a:endParaRPr lang="en-US" sz="1050" dirty="0"/>
          </a:p>
        </p:txBody>
      </p:sp>
      <p:sp>
        <p:nvSpPr>
          <p:cNvPr id="171" name="Text 167"/>
          <p:cNvSpPr/>
          <p:nvPr/>
        </p:nvSpPr>
        <p:spPr>
          <a:xfrm>
            <a:off x="450850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2.9</a:t>
            </a:r>
            <a:endParaRPr lang="en-US" sz="950" dirty="0"/>
          </a:p>
        </p:txBody>
      </p:sp>
      <p:sp>
        <p:nvSpPr>
          <p:cNvPr id="172" name="Text 168"/>
          <p:cNvSpPr/>
          <p:nvPr/>
        </p:nvSpPr>
        <p:spPr>
          <a:xfrm>
            <a:off x="502285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</a:t>
            </a:r>
            <a:endParaRPr lang="en-US" sz="950" dirty="0"/>
          </a:p>
        </p:txBody>
      </p:sp>
      <p:sp>
        <p:nvSpPr>
          <p:cNvPr id="173" name="Text 169"/>
          <p:cNvSpPr/>
          <p:nvPr/>
        </p:nvSpPr>
        <p:spPr>
          <a:xfrm>
            <a:off x="554355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3.7</a:t>
            </a:r>
            <a:endParaRPr lang="en-US" sz="950" dirty="0"/>
          </a:p>
        </p:txBody>
      </p:sp>
      <p:sp>
        <p:nvSpPr>
          <p:cNvPr id="174" name="Text 170"/>
          <p:cNvSpPr/>
          <p:nvPr/>
        </p:nvSpPr>
        <p:spPr>
          <a:xfrm>
            <a:off x="606425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4.1</a:t>
            </a:r>
            <a:endParaRPr lang="en-US" sz="950" dirty="0"/>
          </a:p>
        </p:txBody>
      </p:sp>
      <p:sp>
        <p:nvSpPr>
          <p:cNvPr id="175" name="Text 171"/>
          <p:cNvSpPr/>
          <p:nvPr/>
        </p:nvSpPr>
        <p:spPr>
          <a:xfrm>
            <a:off x="657860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4.5</a:t>
            </a:r>
            <a:endParaRPr lang="en-US" sz="950" dirty="0"/>
          </a:p>
        </p:txBody>
      </p:sp>
      <p:sp>
        <p:nvSpPr>
          <p:cNvPr id="176" name="Text 172"/>
          <p:cNvSpPr/>
          <p:nvPr/>
        </p:nvSpPr>
        <p:spPr>
          <a:xfrm>
            <a:off x="709930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4.9</a:t>
            </a:r>
            <a:endParaRPr lang="en-US" sz="950" dirty="0"/>
          </a:p>
        </p:txBody>
      </p:sp>
      <p:sp>
        <p:nvSpPr>
          <p:cNvPr id="177" name="Text 173"/>
          <p:cNvSpPr/>
          <p:nvPr/>
        </p:nvSpPr>
        <p:spPr>
          <a:xfrm>
            <a:off x="3790950" y="5156200"/>
            <a:ext cx="71755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f(x-delta)</a:t>
            </a:r>
            <a:endParaRPr lang="en-US" sz="1050" dirty="0"/>
          </a:p>
        </p:txBody>
      </p:sp>
      <p:sp>
        <p:nvSpPr>
          <p:cNvPr id="178" name="Text 174"/>
          <p:cNvSpPr/>
          <p:nvPr/>
        </p:nvSpPr>
        <p:spPr>
          <a:xfrm>
            <a:off x="450850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5.41</a:t>
            </a:r>
            <a:endParaRPr lang="en-US" sz="950" dirty="0"/>
          </a:p>
        </p:txBody>
      </p:sp>
      <p:sp>
        <p:nvSpPr>
          <p:cNvPr id="179" name="Text 175"/>
          <p:cNvSpPr/>
          <p:nvPr/>
        </p:nvSpPr>
        <p:spPr>
          <a:xfrm>
            <a:off x="502285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3.89</a:t>
            </a:r>
            <a:endParaRPr lang="en-US" sz="950" dirty="0"/>
          </a:p>
        </p:txBody>
      </p:sp>
      <p:sp>
        <p:nvSpPr>
          <p:cNvPr id="180" name="Text 176"/>
          <p:cNvSpPr/>
          <p:nvPr/>
        </p:nvSpPr>
        <p:spPr>
          <a:xfrm>
            <a:off x="554355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2.69</a:t>
            </a:r>
            <a:endParaRPr lang="en-US" sz="950" dirty="0"/>
          </a:p>
        </p:txBody>
      </p:sp>
      <p:sp>
        <p:nvSpPr>
          <p:cNvPr id="181" name="Text 177"/>
          <p:cNvSpPr/>
          <p:nvPr/>
        </p:nvSpPr>
        <p:spPr>
          <a:xfrm>
            <a:off x="606425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1.81</a:t>
            </a:r>
            <a:endParaRPr lang="en-US" sz="950" dirty="0"/>
          </a:p>
        </p:txBody>
      </p:sp>
      <p:sp>
        <p:nvSpPr>
          <p:cNvPr id="182" name="Text 178"/>
          <p:cNvSpPr/>
          <p:nvPr/>
        </p:nvSpPr>
        <p:spPr>
          <a:xfrm>
            <a:off x="657860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1.25</a:t>
            </a:r>
            <a:endParaRPr lang="en-US" sz="950" dirty="0"/>
          </a:p>
        </p:txBody>
      </p:sp>
      <p:sp>
        <p:nvSpPr>
          <p:cNvPr id="183" name="Text 179"/>
          <p:cNvSpPr/>
          <p:nvPr/>
        </p:nvSpPr>
        <p:spPr>
          <a:xfrm>
            <a:off x="709930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950" dirty="0"/>
          </a:p>
        </p:txBody>
      </p:sp>
      <p:sp>
        <p:nvSpPr>
          <p:cNvPr id="184" name="Text 180"/>
          <p:cNvSpPr/>
          <p:nvPr/>
        </p:nvSpPr>
        <p:spPr>
          <a:xfrm>
            <a:off x="3790950" y="5473700"/>
            <a:ext cx="7175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x+delta</a:t>
            </a:r>
            <a:endParaRPr lang="en-US" sz="1050" dirty="0"/>
          </a:p>
        </p:txBody>
      </p:sp>
      <p:sp>
        <p:nvSpPr>
          <p:cNvPr id="185" name="Text 181"/>
          <p:cNvSpPr/>
          <p:nvPr/>
        </p:nvSpPr>
        <p:spPr>
          <a:xfrm>
            <a:off x="450850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</a:t>
            </a:r>
            <a:endParaRPr lang="en-US" sz="950" dirty="0"/>
          </a:p>
        </p:txBody>
      </p:sp>
      <p:sp>
        <p:nvSpPr>
          <p:cNvPr id="186" name="Text 182"/>
          <p:cNvSpPr/>
          <p:nvPr/>
        </p:nvSpPr>
        <p:spPr>
          <a:xfrm>
            <a:off x="502285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</a:t>
            </a:r>
            <a:endParaRPr lang="en-US" sz="950" dirty="0"/>
          </a:p>
        </p:txBody>
      </p:sp>
      <p:sp>
        <p:nvSpPr>
          <p:cNvPr id="187" name="Text 183"/>
          <p:cNvSpPr/>
          <p:nvPr/>
        </p:nvSpPr>
        <p:spPr>
          <a:xfrm>
            <a:off x="554355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3.9</a:t>
            </a:r>
            <a:endParaRPr lang="en-US" sz="950" dirty="0"/>
          </a:p>
        </p:txBody>
      </p:sp>
      <p:sp>
        <p:nvSpPr>
          <p:cNvPr id="188" name="Text 184"/>
          <p:cNvSpPr/>
          <p:nvPr/>
        </p:nvSpPr>
        <p:spPr>
          <a:xfrm>
            <a:off x="606425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4.3</a:t>
            </a:r>
            <a:endParaRPr lang="en-US" sz="950" dirty="0"/>
          </a:p>
        </p:txBody>
      </p:sp>
      <p:sp>
        <p:nvSpPr>
          <p:cNvPr id="189" name="Text 185"/>
          <p:cNvSpPr/>
          <p:nvPr/>
        </p:nvSpPr>
        <p:spPr>
          <a:xfrm>
            <a:off x="657860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4.7</a:t>
            </a:r>
            <a:endParaRPr lang="en-US" sz="950" dirty="0"/>
          </a:p>
        </p:txBody>
      </p:sp>
      <p:sp>
        <p:nvSpPr>
          <p:cNvPr id="190" name="Text 186"/>
          <p:cNvSpPr/>
          <p:nvPr/>
        </p:nvSpPr>
        <p:spPr>
          <a:xfrm>
            <a:off x="709930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</a:t>
            </a:r>
            <a:endParaRPr lang="en-US" sz="950" dirty="0"/>
          </a:p>
        </p:txBody>
      </p:sp>
      <p:sp>
        <p:nvSpPr>
          <p:cNvPr id="191" name="Text 187"/>
          <p:cNvSpPr/>
          <p:nvPr/>
        </p:nvSpPr>
        <p:spPr>
          <a:xfrm>
            <a:off x="3790950" y="5715000"/>
            <a:ext cx="71755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f(x+delta)</a:t>
            </a:r>
            <a:endParaRPr lang="en-US" sz="1050" dirty="0"/>
          </a:p>
        </p:txBody>
      </p:sp>
      <p:sp>
        <p:nvSpPr>
          <p:cNvPr id="192" name="Text 188"/>
          <p:cNvSpPr/>
          <p:nvPr/>
        </p:nvSpPr>
        <p:spPr>
          <a:xfrm>
            <a:off x="450850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4.61</a:t>
            </a:r>
            <a:endParaRPr lang="en-US" sz="950" dirty="0"/>
          </a:p>
        </p:txBody>
      </p:sp>
      <p:sp>
        <p:nvSpPr>
          <p:cNvPr id="193" name="Text 189"/>
          <p:cNvSpPr/>
          <p:nvPr/>
        </p:nvSpPr>
        <p:spPr>
          <a:xfrm>
            <a:off x="502285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3.25</a:t>
            </a:r>
            <a:endParaRPr lang="en-US" sz="950" dirty="0"/>
          </a:p>
        </p:txBody>
      </p:sp>
      <p:sp>
        <p:nvSpPr>
          <p:cNvPr id="194" name="Text 190"/>
          <p:cNvSpPr/>
          <p:nvPr/>
        </p:nvSpPr>
        <p:spPr>
          <a:xfrm>
            <a:off x="554355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2.21</a:t>
            </a:r>
            <a:endParaRPr lang="en-US" sz="950" dirty="0"/>
          </a:p>
        </p:txBody>
      </p:sp>
      <p:sp>
        <p:nvSpPr>
          <p:cNvPr id="195" name="Text 191"/>
          <p:cNvSpPr/>
          <p:nvPr/>
        </p:nvSpPr>
        <p:spPr>
          <a:xfrm>
            <a:off x="606425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1.49</a:t>
            </a:r>
            <a:endParaRPr lang="en-US" sz="950" dirty="0"/>
          </a:p>
        </p:txBody>
      </p:sp>
      <p:sp>
        <p:nvSpPr>
          <p:cNvPr id="196" name="Text 192"/>
          <p:cNvSpPr/>
          <p:nvPr/>
        </p:nvSpPr>
        <p:spPr>
          <a:xfrm>
            <a:off x="657860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1.09</a:t>
            </a:r>
            <a:endParaRPr lang="en-US" sz="950" dirty="0"/>
          </a:p>
        </p:txBody>
      </p:sp>
      <p:sp>
        <p:nvSpPr>
          <p:cNvPr id="197" name="Text 193"/>
          <p:cNvSpPr/>
          <p:nvPr/>
        </p:nvSpPr>
        <p:spPr>
          <a:xfrm>
            <a:off x="709930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950" dirty="0"/>
          </a:p>
        </p:txBody>
      </p:sp>
      <p:sp>
        <p:nvSpPr>
          <p:cNvPr id="198" name="Text 194"/>
          <p:cNvSpPr/>
          <p:nvPr/>
        </p:nvSpPr>
        <p:spPr>
          <a:xfrm>
            <a:off x="3790950" y="5994400"/>
            <a:ext cx="7175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slope</a:t>
            </a:r>
            <a:endParaRPr lang="en-US" sz="1050" dirty="0"/>
          </a:p>
        </p:txBody>
      </p:sp>
      <p:sp>
        <p:nvSpPr>
          <p:cNvPr id="199" name="Text 195"/>
          <p:cNvSpPr/>
          <p:nvPr/>
        </p:nvSpPr>
        <p:spPr>
          <a:xfrm>
            <a:off x="450850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</a:t>
            </a:r>
            <a:endParaRPr lang="en-US" sz="950" dirty="0"/>
          </a:p>
        </p:txBody>
      </p:sp>
      <p:sp>
        <p:nvSpPr>
          <p:cNvPr id="200" name="Text 196"/>
          <p:cNvSpPr/>
          <p:nvPr/>
        </p:nvSpPr>
        <p:spPr>
          <a:xfrm>
            <a:off x="502285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-6.4</a:t>
            </a:r>
            <a:endParaRPr lang="en-US" sz="950" dirty="0"/>
          </a:p>
        </p:txBody>
      </p:sp>
      <p:sp>
        <p:nvSpPr>
          <p:cNvPr id="201" name="Text 197"/>
          <p:cNvSpPr/>
          <p:nvPr/>
        </p:nvSpPr>
        <p:spPr>
          <a:xfrm>
            <a:off x="554355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-4.8</a:t>
            </a:r>
            <a:endParaRPr lang="en-US" sz="950" dirty="0"/>
          </a:p>
        </p:txBody>
      </p:sp>
      <p:sp>
        <p:nvSpPr>
          <p:cNvPr id="202" name="Text 198"/>
          <p:cNvSpPr/>
          <p:nvPr/>
        </p:nvSpPr>
        <p:spPr>
          <a:xfrm>
            <a:off x="606425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-3.2</a:t>
            </a:r>
            <a:endParaRPr lang="en-US" sz="950" dirty="0"/>
          </a:p>
        </p:txBody>
      </p:sp>
      <p:sp>
        <p:nvSpPr>
          <p:cNvPr id="203" name="Text 199"/>
          <p:cNvSpPr/>
          <p:nvPr/>
        </p:nvSpPr>
        <p:spPr>
          <a:xfrm>
            <a:off x="657860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-1.6</a:t>
            </a:r>
            <a:endParaRPr lang="en-US" sz="950" dirty="0"/>
          </a:p>
        </p:txBody>
      </p:sp>
      <p:sp>
        <p:nvSpPr>
          <p:cNvPr id="204" name="Text 200"/>
          <p:cNvSpPr/>
          <p:nvPr/>
        </p:nvSpPr>
        <p:spPr>
          <a:xfrm>
            <a:off x="709930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50" dirty="0"/>
          </a:p>
        </p:txBody>
      </p:sp>
      <p:sp>
        <p:nvSpPr>
          <p:cNvPr id="205" name="Text 201"/>
          <p:cNvSpPr/>
          <p:nvPr/>
        </p:nvSpPr>
        <p:spPr>
          <a:xfrm>
            <a:off x="3790950" y="6311900"/>
            <a:ext cx="71755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x</a:t>
            </a:r>
            <a:endParaRPr lang="en-US" sz="1050" dirty="0"/>
          </a:p>
        </p:txBody>
      </p:sp>
      <p:sp>
        <p:nvSpPr>
          <p:cNvPr id="206" name="Text 202"/>
          <p:cNvSpPr/>
          <p:nvPr/>
        </p:nvSpPr>
        <p:spPr>
          <a:xfrm>
            <a:off x="450850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</a:t>
            </a:r>
            <a:endParaRPr lang="en-US" sz="950" dirty="0"/>
          </a:p>
        </p:txBody>
      </p:sp>
      <p:sp>
        <p:nvSpPr>
          <p:cNvPr id="207" name="Text 203"/>
          <p:cNvSpPr/>
          <p:nvPr/>
        </p:nvSpPr>
        <p:spPr>
          <a:xfrm>
            <a:off x="502285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</a:t>
            </a:r>
            <a:endParaRPr lang="en-US" sz="950" dirty="0"/>
          </a:p>
        </p:txBody>
      </p:sp>
      <p:sp>
        <p:nvSpPr>
          <p:cNvPr id="208" name="Text 204"/>
          <p:cNvSpPr/>
          <p:nvPr/>
        </p:nvSpPr>
        <p:spPr>
          <a:xfrm>
            <a:off x="554355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</a:t>
            </a:r>
            <a:endParaRPr lang="en-US" sz="950" dirty="0"/>
          </a:p>
        </p:txBody>
      </p:sp>
      <p:sp>
        <p:nvSpPr>
          <p:cNvPr id="209" name="Text 205"/>
          <p:cNvSpPr/>
          <p:nvPr/>
        </p:nvSpPr>
        <p:spPr>
          <a:xfrm>
            <a:off x="606425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</a:t>
            </a:r>
            <a:endParaRPr lang="en-US" sz="950" dirty="0"/>
          </a:p>
        </p:txBody>
      </p:sp>
      <p:sp>
        <p:nvSpPr>
          <p:cNvPr id="210" name="Text 206"/>
          <p:cNvSpPr/>
          <p:nvPr/>
        </p:nvSpPr>
        <p:spPr>
          <a:xfrm>
            <a:off x="657860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211" name="Text 207"/>
          <p:cNvSpPr/>
          <p:nvPr/>
        </p:nvSpPr>
        <p:spPr>
          <a:xfrm>
            <a:off x="709930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</a:t>
            </a:r>
            <a:endParaRPr lang="en-US" sz="950" dirty="0"/>
          </a:p>
        </p:txBody>
      </p:sp>
      <p:sp>
        <p:nvSpPr>
          <p:cNvPr id="212" name="Shape 208"/>
          <p:cNvSpPr/>
          <p:nvPr/>
        </p:nvSpPr>
        <p:spPr>
          <a:xfrm rot="1500000">
            <a:off x="4445000" y="4025900"/>
            <a:ext cx="203200" cy="469900"/>
          </a:xfrm>
          <a:prstGeom prst="downArrow">
            <a:avLst/>
          </a:prstGeom>
          <a:solidFill>
            <a:srgbClr val="FFFFFF"/>
          </a:solidFill>
          <a:ln w="19050">
            <a:solidFill>
              <a:srgbClr val="8B1A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2026-10-24T12:41:05Z</dcterms:created>
  <dcterms:modified xsi:type="dcterms:W3CDTF">2026-10-24T12:41:05Z</dcterms:modified>
</cp:coreProperties>
</file>