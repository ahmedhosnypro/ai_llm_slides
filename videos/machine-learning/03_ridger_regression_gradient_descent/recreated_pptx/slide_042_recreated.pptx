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1.png"/><Relationship Id="rId4" Type="http://schemas.openxmlformats.org/officeDocument/2006/relationships/image" Target="../media/image-1-2.png"/><Relationship Id="rId5" Type="http://schemas.openxmlformats.org/officeDocument/2006/relationships/image" Target="../media/image-1-1.png"/><Relationship Id="rId6" Type="http://schemas.openxmlformats.org/officeDocument/2006/relationships/image" Target="../media/image-1-2.png"/><Relationship Id="rId7" Type="http://schemas.openxmlformats.org/officeDocument/2006/relationships/image" Target="../media/image-1-1.png"/><Relationship Id="rId8" Type="http://schemas.openxmlformats.org/officeDocument/2006/relationships/image" Target="../media/image-1-2.png"/><Relationship Id="rId9" Type="http://schemas.openxmlformats.org/officeDocument/2006/relationships/image" Target="../media/image-1-1.png"/><Relationship Id="rId10" Type="http://schemas.openxmlformats.org/officeDocument/2006/relationships/image" Target="../media/image-1-2.png"/><Relationship Id="rId11" Type="http://schemas.openxmlformats.org/officeDocument/2006/relationships/image" Target="../media/image-1-1.png"/><Relationship Id="rId12" Type="http://schemas.openxmlformats.org/officeDocument/2006/relationships/image" Target="../media/image-1-2.png"/><Relationship Id="rId13" Type="http://schemas.openxmlformats.org/officeDocument/2006/relationships/image" Target="../media/image-1-1.png"/><Relationship Id="rId14" Type="http://schemas.openxmlformats.org/officeDocument/2006/relationships/image" Target="../media/image-1-2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5.png"/><Relationship Id="rId18" Type="http://schemas.openxmlformats.org/officeDocument/2006/relationships/image" Target="../media/image-1-16.png"/><Relationship Id="rId19" Type="http://schemas.openxmlformats.org/officeDocument/2006/relationships/image" Target="../media/image-1-15.png"/><Relationship Id="rId20" Type="http://schemas.openxmlformats.org/officeDocument/2006/relationships/image" Target="../media/image-1-16.png"/><Relationship Id="rId21" Type="http://schemas.openxmlformats.org/officeDocument/2006/relationships/image" Target="../media/image-1-1.png"/><Relationship Id="rId22" Type="http://schemas.openxmlformats.org/officeDocument/2006/relationships/image" Target="../media/image-1-2.png"/><Relationship Id="rId23" Type="http://schemas.openxmlformats.org/officeDocument/2006/relationships/image" Target="../media/image-1-1.png"/><Relationship Id="rId24" Type="http://schemas.openxmlformats.org/officeDocument/2006/relationships/image" Target="../media/image-1-2.png"/><Relationship Id="rId25" Type="http://schemas.openxmlformats.org/officeDocument/2006/relationships/image" Target="../media/image-1-1.png"/><Relationship Id="rId26" Type="http://schemas.openxmlformats.org/officeDocument/2006/relationships/image" Target="../media/image-1-2.png"/><Relationship Id="rId27" Type="http://schemas.openxmlformats.org/officeDocument/2006/relationships/image" Target="../media/image-1-1.png"/><Relationship Id="rId28" Type="http://schemas.openxmlformats.org/officeDocument/2006/relationships/image" Target="../media/image-1-2.png"/><Relationship Id="rId29" Type="http://schemas.openxmlformats.org/officeDocument/2006/relationships/image" Target="../media/image-1-1.png"/><Relationship Id="rId30" Type="http://schemas.openxmlformats.org/officeDocument/2006/relationships/image" Target="../media/image-1-2.png"/><Relationship Id="rId31" Type="http://schemas.openxmlformats.org/officeDocument/2006/relationships/image" Target="../media/image-1-1.png"/><Relationship Id="rId32" Type="http://schemas.openxmlformats.org/officeDocument/2006/relationships/image" Target="../media/image-1-2.png"/><Relationship Id="rId33" Type="http://schemas.openxmlformats.org/officeDocument/2006/relationships/image" Target="../media/image-1-33.png"/><Relationship Id="rId34" Type="http://schemas.openxmlformats.org/officeDocument/2006/relationships/image" Target="../media/image-1-34.png"/><Relationship Id="rId35" Type="http://schemas.openxmlformats.org/officeDocument/2006/relationships/image" Target="../media/image-1-35.png"/><Relationship Id="rId36" Type="http://schemas.openxmlformats.org/officeDocument/2006/relationships/image" Target="../media/image-1-36.png"/><Relationship Id="rId37" Type="http://schemas.openxmlformats.org/officeDocument/2006/relationships/image" Target="../media/image-1-1.png"/><Relationship Id="rId38" Type="http://schemas.openxmlformats.org/officeDocument/2006/relationships/image" Target="../media/image-1-2.png"/><Relationship Id="rId39" Type="http://schemas.openxmlformats.org/officeDocument/2006/relationships/image" Target="../media/image-1-1.png"/><Relationship Id="rId40" Type="http://schemas.openxmlformats.org/officeDocument/2006/relationships/image" Target="../media/image-1-2.png"/><Relationship Id="rId41" Type="http://schemas.openxmlformats.org/officeDocument/2006/relationships/image" Target="../media/image-1-35.png"/><Relationship Id="rId42" Type="http://schemas.openxmlformats.org/officeDocument/2006/relationships/image" Target="../media/image-1-36.png"/><Relationship Id="rId43" Type="http://schemas.openxmlformats.org/officeDocument/2006/relationships/image" Target="../media/image-1-35.png"/><Relationship Id="rId44" Type="http://schemas.openxmlformats.org/officeDocument/2006/relationships/image" Target="../media/image-1-36.png"/><Relationship Id="rId45" Type="http://schemas.openxmlformats.org/officeDocument/2006/relationships/image" Target="../media/image-1-1.png"/><Relationship Id="rId46" Type="http://schemas.openxmlformats.org/officeDocument/2006/relationships/image" Target="../media/image-1-2.png"/><Relationship Id="rId47" Type="http://schemas.openxmlformats.org/officeDocument/2006/relationships/image" Target="../media/image-1-35.png"/><Relationship Id="rId48" Type="http://schemas.openxmlformats.org/officeDocument/2006/relationships/image" Target="../media/image-1-36.png"/><Relationship Id="rId49" Type="http://schemas.openxmlformats.org/officeDocument/2006/relationships/image" Target="../media/image-1-1.png"/><Relationship Id="rId50" Type="http://schemas.openxmlformats.org/officeDocument/2006/relationships/image" Target="../media/image-1-2.png"/><Relationship Id="rId51" Type="http://schemas.openxmlformats.org/officeDocument/2006/relationships/image" Target="../media/image-1-35.png"/><Relationship Id="rId52" Type="http://schemas.openxmlformats.org/officeDocument/2006/relationships/image" Target="../media/image-1-36.png"/><Relationship Id="rId53" Type="http://schemas.openxmlformats.org/officeDocument/2006/relationships/image" Target="../media/image-1-1.png"/><Relationship Id="rId54" Type="http://schemas.openxmlformats.org/officeDocument/2006/relationships/image" Target="../media/image-1-2.png"/><Relationship Id="rId55" Type="http://schemas.openxmlformats.org/officeDocument/2006/relationships/image" Target="../media/image-1-1.png"/><Relationship Id="rId56" Type="http://schemas.openxmlformats.org/officeDocument/2006/relationships/image" Target="../media/image-1-2.png"/><Relationship Id="rId57" Type="http://schemas.openxmlformats.org/officeDocument/2006/relationships/image" Target="../media/image-1-35.png"/><Relationship Id="rId58" Type="http://schemas.openxmlformats.org/officeDocument/2006/relationships/image" Target="../media/image-1-36.png"/><Relationship Id="rId59" Type="http://schemas.openxmlformats.org/officeDocument/2006/relationships/image" Target="../media/image-1-35.png"/><Relationship Id="rId60" Type="http://schemas.openxmlformats.org/officeDocument/2006/relationships/image" Target="../media/image-1-36.png"/><Relationship Id="rId61" Type="http://schemas.openxmlformats.org/officeDocument/2006/relationships/image" Target="../media/image-1-1.png"/><Relationship Id="rId62" Type="http://schemas.openxmlformats.org/officeDocument/2006/relationships/image" Target="../media/image-1-2.png"/><Relationship Id="rId63" Type="http://schemas.openxmlformats.org/officeDocument/2006/relationships/image" Target="../media/image-1-35.png"/><Relationship Id="rId64" Type="http://schemas.openxmlformats.org/officeDocument/2006/relationships/image" Target="../media/image-1-36.png"/><Relationship Id="rId65" Type="http://schemas.openxmlformats.org/officeDocument/2006/relationships/image" Target="../media/image-1-1.png"/><Relationship Id="rId66" Type="http://schemas.openxmlformats.org/officeDocument/2006/relationships/image" Target="../media/image-1-2.png"/><Relationship Id="rId67" Type="http://schemas.openxmlformats.org/officeDocument/2006/relationships/slideLayout" Target="../slideLayouts/slideLayout1.xml"/><Relationship Id="rId6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950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4270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00" y="6838950"/>
            <a:ext cx="107188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63600" y="685800"/>
            <a:ext cx="8293100" cy="977900"/>
          </a:xfrm>
          <a:prstGeom prst="rect">
            <a:avLst/>
          </a:prstGeom>
          <a:solidFill>
            <a:srgbClr val="FEFFE8"/>
          </a:solidFill>
          <a:ln w="12700">
            <a:solidFill>
              <a:srgbClr val="0000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67100" y="1803400"/>
            <a:ext cx="73787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67100" y="2717800"/>
            <a:ext cx="7378700" cy="622300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67100" y="3467100"/>
            <a:ext cx="7378700" cy="711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67100" y="4318000"/>
            <a:ext cx="7378700" cy="698500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67100" y="5156200"/>
            <a:ext cx="73787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67100" y="5994400"/>
            <a:ext cx="7378700" cy="711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123950" y="787400"/>
            <a:ext cx="203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403350" y="787400"/>
            <a:ext cx="203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682750" y="787400"/>
            <a:ext cx="203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974850" y="787400"/>
            <a:ext cx="203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2260600" y="787400"/>
            <a:ext cx="203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2546350" y="787400"/>
            <a:ext cx="203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085850" y="990600"/>
            <a:ext cx="279400" cy="164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085850" y="1155446"/>
            <a:ext cx="279400" cy="164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365250" y="990600"/>
            <a:ext cx="279400" cy="164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365250" y="1155446"/>
            <a:ext cx="279400" cy="164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644650" y="990600"/>
            <a:ext cx="279400" cy="164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1644650" y="1155446"/>
            <a:ext cx="279400" cy="164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936750" y="990600"/>
            <a:ext cx="279400" cy="164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936750" y="1155446"/>
            <a:ext cx="279400" cy="164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2222500" y="990600"/>
            <a:ext cx="279400" cy="164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2222500" y="1155446"/>
            <a:ext cx="279400" cy="164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2508250" y="990600"/>
            <a:ext cx="279400" cy="164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2508250" y="1155446"/>
            <a:ext cx="279400" cy="164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1123950" y="1384300"/>
            <a:ext cx="203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403350" y="1384300"/>
            <a:ext cx="203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682750" y="1384300"/>
            <a:ext cx="203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1974850" y="1384300"/>
            <a:ext cx="203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2260600" y="1384300"/>
            <a:ext cx="203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2546350" y="1384300"/>
            <a:ext cx="203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pic>
        <p:nvPicPr>
          <p:cNvPr id="39" name="Image 0" descr="/home/ahmed/Projects/ai_llm_slides/videos/machine-learning/03_ridger_regression_gradient_descent/recreated_pptx/build/assets/parens042/paren_tall_l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9202" y="1000325"/>
            <a:ext cx="28756" cy="338133"/>
          </a:xfrm>
          <a:prstGeom prst="rect">
            <a:avLst/>
          </a:prstGeom>
        </p:spPr>
      </p:pic>
      <p:pic>
        <p:nvPicPr>
          <p:cNvPr id="40" name="Image 1" descr="/home/ahmed/Projects/ai_llm_slides/videos/machine-learning/03_ridger_regression_gradient_descent/recreated_pptx/build/assets/parens042/paren_tall_r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1434" y="1000325"/>
            <a:ext cx="28756" cy="338133"/>
          </a:xfrm>
          <a:prstGeom prst="rect">
            <a:avLst/>
          </a:prstGeom>
        </p:spPr>
      </p:pic>
      <p:pic>
        <p:nvPicPr>
          <p:cNvPr id="41" name="Image 2" descr="/home/ahmed/Projects/ai_llm_slides/videos/machine-learning/03_ridger_regression_gradient_descent/recreated_pptx/build/assets/parens042/paren_tall_l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5902" y="1000325"/>
            <a:ext cx="28756" cy="338133"/>
          </a:xfrm>
          <a:prstGeom prst="rect">
            <a:avLst/>
          </a:prstGeom>
        </p:spPr>
      </p:pic>
      <p:pic>
        <p:nvPicPr>
          <p:cNvPr id="42" name="Image 3" descr="/home/ahmed/Projects/ai_llm_slides/videos/machine-learning/03_ridger_regression_gradient_descent/recreated_pptx/build/assets/parens042/paren_tall_r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3534" y="1000325"/>
            <a:ext cx="28756" cy="338133"/>
          </a:xfrm>
          <a:prstGeom prst="rect">
            <a:avLst/>
          </a:prstGeom>
        </p:spPr>
      </p:pic>
      <p:pic>
        <p:nvPicPr>
          <p:cNvPr id="43" name="Image 4" descr="/home/ahmed/Projects/ai_llm_slides/videos/machine-learning/03_ridger_regression_gradient_descent/recreated_pptx/build/assets/parens042/paren_tall_l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8002" y="1000325"/>
            <a:ext cx="28756" cy="338133"/>
          </a:xfrm>
          <a:prstGeom prst="rect">
            <a:avLst/>
          </a:prstGeom>
        </p:spPr>
      </p:pic>
      <p:pic>
        <p:nvPicPr>
          <p:cNvPr id="44" name="Image 5" descr="/home/ahmed/Projects/ai_llm_slides/videos/machine-learning/03_ridger_regression_gradient_descent/recreated_pptx/build/assets/parens042/paren_tall_rp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62934" y="1000325"/>
            <a:ext cx="28756" cy="338133"/>
          </a:xfrm>
          <a:prstGeom prst="rect">
            <a:avLst/>
          </a:prstGeom>
        </p:spPr>
      </p:pic>
      <p:pic>
        <p:nvPicPr>
          <p:cNvPr id="45" name="Image 6" descr="/home/ahmed/Projects/ai_llm_slides/videos/machine-learning/03_ridger_regression_gradient_descent/recreated_pptx/build/assets/parens042/paren_tall_l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57402" y="1000325"/>
            <a:ext cx="28756" cy="338133"/>
          </a:xfrm>
          <a:prstGeom prst="rect">
            <a:avLst/>
          </a:prstGeom>
        </p:spPr>
      </p:pic>
      <p:pic>
        <p:nvPicPr>
          <p:cNvPr id="46" name="Image 7" descr="/home/ahmed/Projects/ai_llm_slides/videos/machine-learning/03_ridger_regression_gradient_descent/recreated_pptx/build/assets/parens042/paren_tall_r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55034" y="1000325"/>
            <a:ext cx="28756" cy="338133"/>
          </a:xfrm>
          <a:prstGeom prst="rect">
            <a:avLst/>
          </a:prstGeom>
        </p:spPr>
      </p:pic>
      <p:pic>
        <p:nvPicPr>
          <p:cNvPr id="47" name="Image 8" descr="/home/ahmed/Projects/ai_llm_slides/videos/machine-learning/03_ridger_regression_gradient_descent/recreated_pptx/build/assets/parens042/paren_tall_lp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49502" y="1000325"/>
            <a:ext cx="28756" cy="338133"/>
          </a:xfrm>
          <a:prstGeom prst="rect">
            <a:avLst/>
          </a:prstGeom>
        </p:spPr>
      </p:pic>
      <p:pic>
        <p:nvPicPr>
          <p:cNvPr id="48" name="Image 9" descr="/home/ahmed/Projects/ai_llm_slides/videos/machine-learning/03_ridger_regression_gradient_descent/recreated_pptx/build/assets/parens042/paren_tall_rp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34434" y="1000325"/>
            <a:ext cx="28756" cy="338133"/>
          </a:xfrm>
          <a:prstGeom prst="rect">
            <a:avLst/>
          </a:prstGeom>
        </p:spPr>
      </p:pic>
      <p:pic>
        <p:nvPicPr>
          <p:cNvPr id="49" name="Image 10" descr="/home/ahmed/Projects/ai_llm_slides/videos/machine-learning/03_ridger_regression_gradient_descent/recreated_pptx/build/assets/parens042/paren_tall_lp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28902" y="1000325"/>
            <a:ext cx="28756" cy="338133"/>
          </a:xfrm>
          <a:prstGeom prst="rect">
            <a:avLst/>
          </a:prstGeom>
        </p:spPr>
      </p:pic>
      <p:pic>
        <p:nvPicPr>
          <p:cNvPr id="50" name="Image 11" descr="/home/ahmed/Projects/ai_llm_slides/videos/machine-learning/03_ridger_regression_gradient_descent/recreated_pptx/build/assets/parens042/paren_tall_rp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26534" y="1000325"/>
            <a:ext cx="28756" cy="338133"/>
          </a:xfrm>
          <a:prstGeom prst="rect">
            <a:avLst/>
          </a:prstGeom>
        </p:spPr>
      </p:pic>
      <p:sp>
        <p:nvSpPr>
          <p:cNvPr id="51" name="Text 37"/>
          <p:cNvSpPr/>
          <p:nvPr/>
        </p:nvSpPr>
        <p:spPr>
          <a:xfrm>
            <a:off x="3327400" y="901700"/>
            <a:ext cx="88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</a:t>
            </a:r>
            <a:pPr indent="0" marL="0">
              <a:buNone/>
            </a:pPr>
            <a:r>
              <a:rPr lang="en-US" sz="1400" b="1" i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</a:t>
            </a:r>
            <a:endParaRPr lang="en-US" sz="1400" dirty="0"/>
          </a:p>
        </p:txBody>
      </p:sp>
      <p:pic>
        <p:nvPicPr>
          <p:cNvPr id="52" name="Image 12" descr="/home/ahmed/Projects/ai_llm_slides/videos/machine-learning/03_ridger_regression_gradient_descent/recreated_pptx/build/assets/parens042/paren_tall_lp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60737" y="782823"/>
            <a:ext cx="44240" cy="520204"/>
          </a:xfrm>
          <a:prstGeom prst="rect">
            <a:avLst/>
          </a:prstGeom>
        </p:spPr>
      </p:pic>
      <p:pic>
        <p:nvPicPr>
          <p:cNvPr id="53" name="Image 13" descr="/home/ahmed/Projects/ai_llm_slides/videos/machine-learning/03_ridger_regression_gradient_descent/recreated_pptx/build/assets/parens042/paren_tall_rp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83348" y="782823"/>
            <a:ext cx="44240" cy="520204"/>
          </a:xfrm>
          <a:prstGeom prst="rect">
            <a:avLst/>
          </a:prstGeom>
        </p:spPr>
      </p:pic>
      <p:sp>
        <p:nvSpPr>
          <p:cNvPr id="54" name="Text 38"/>
          <p:cNvSpPr txBox="1"/>
          <p:nvPr/>
        </p:nvSpPr>
        <p:spPr>
          <a:xfrm>
            <a:off x="4248150" y="800100"/>
            <a:ext cx="177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55" name="Text 39"/>
          <p:cNvSpPr txBox="1"/>
          <p:nvPr/>
        </p:nvSpPr>
        <p:spPr>
          <a:xfrm>
            <a:off x="4286250" y="1003300"/>
            <a:ext cx="2286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</a:t>
            </a:r>
            <a:endParaRPr lang="en-US" sz="1100" dirty="0"/>
          </a:p>
        </p:txBody>
      </p:sp>
      <p:sp>
        <p:nvSpPr>
          <p:cNvPr id="56" name="Text 40"/>
          <p:cNvSpPr txBox="1"/>
          <p:nvPr/>
        </p:nvSpPr>
        <p:spPr>
          <a:xfrm>
            <a:off x="4286250" y="1155700"/>
            <a:ext cx="2286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</a:t>
            </a:r>
            <a:endParaRPr lang="en-US" sz="1100" dirty="0"/>
          </a:p>
        </p:txBody>
      </p:sp>
      <p:sp>
        <p:nvSpPr>
          <p:cNvPr id="57" name="Text 41"/>
          <p:cNvSpPr txBox="1"/>
          <p:nvPr/>
        </p:nvSpPr>
        <p:spPr>
          <a:xfrm>
            <a:off x="4622800" y="800100"/>
            <a:ext cx="939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η = 2</a:t>
            </a:r>
            <a:endParaRPr lang="en-US" sz="1500" dirty="0"/>
          </a:p>
        </p:txBody>
      </p:sp>
      <p:sp>
        <p:nvSpPr>
          <p:cNvPr id="58" name="Text 42"/>
          <p:cNvSpPr txBox="1"/>
          <p:nvPr/>
        </p:nvSpPr>
        <p:spPr>
          <a:xfrm>
            <a:off x="6299200" y="93980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classes of</a:t>
            </a:r>
            <a:endParaRPr lang="en-US" sz="1200" dirty="0"/>
          </a:p>
        </p:txBody>
      </p:sp>
      <p:sp>
        <p:nvSpPr>
          <p:cNvPr id="59" name="Text 43"/>
          <p:cNvSpPr txBox="1"/>
          <p:nvPr/>
        </p:nvSpPr>
        <p:spPr>
          <a:xfrm>
            <a:off x="7581900" y="787400"/>
            <a:ext cx="2032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0" name="Text 44"/>
          <p:cNvSpPr txBox="1"/>
          <p:nvPr/>
        </p:nvSpPr>
        <p:spPr>
          <a:xfrm>
            <a:off x="7886700" y="787400"/>
            <a:ext cx="2032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1" name="Text 45"/>
          <p:cNvSpPr txBox="1"/>
          <p:nvPr/>
        </p:nvSpPr>
        <p:spPr>
          <a:xfrm>
            <a:off x="8140700" y="787400"/>
            <a:ext cx="2032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2" name="Text 46"/>
          <p:cNvSpPr txBox="1"/>
          <p:nvPr/>
        </p:nvSpPr>
        <p:spPr>
          <a:xfrm>
            <a:off x="7550150" y="1041400"/>
            <a:ext cx="279400" cy="164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100" dirty="0"/>
          </a:p>
        </p:txBody>
      </p:sp>
      <p:sp>
        <p:nvSpPr>
          <p:cNvPr id="63" name="Text 47"/>
          <p:cNvSpPr txBox="1"/>
          <p:nvPr/>
        </p:nvSpPr>
        <p:spPr>
          <a:xfrm>
            <a:off x="7550150" y="1206246"/>
            <a:ext cx="279400" cy="164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100" dirty="0"/>
          </a:p>
        </p:txBody>
      </p:sp>
      <p:pic>
        <p:nvPicPr>
          <p:cNvPr id="64" name="Image 14" descr="/home/ahmed/Projects/ai_llm_slides/videos/machine-learning/03_ridger_regression_gradient_descent/recreated_pptx/build/assets/parens042/paren_z_lp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58024" y="1009904"/>
            <a:ext cx="44196" cy="393192"/>
          </a:xfrm>
          <a:prstGeom prst="rect">
            <a:avLst/>
          </a:prstGeom>
        </p:spPr>
      </p:pic>
      <p:pic>
        <p:nvPicPr>
          <p:cNvPr id="65" name="Image 15" descr="/home/ahmed/Projects/ai_llm_slides/videos/machine-learning/03_ridger_regression_gradient_descent/recreated_pptx/build/assets/parens042/paren_z_rp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766304" y="1009904"/>
            <a:ext cx="44196" cy="393192"/>
          </a:xfrm>
          <a:prstGeom prst="rect">
            <a:avLst/>
          </a:prstGeom>
        </p:spPr>
      </p:pic>
      <p:sp>
        <p:nvSpPr>
          <p:cNvPr id="66" name="Text 48"/>
          <p:cNvSpPr txBox="1"/>
          <p:nvPr/>
        </p:nvSpPr>
        <p:spPr>
          <a:xfrm>
            <a:off x="7842250" y="1041400"/>
            <a:ext cx="279400" cy="164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67" name="Text 49"/>
          <p:cNvSpPr txBox="1"/>
          <p:nvPr/>
        </p:nvSpPr>
        <p:spPr>
          <a:xfrm>
            <a:off x="7842250" y="1206246"/>
            <a:ext cx="279400" cy="164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pic>
        <p:nvPicPr>
          <p:cNvPr id="68" name="Image 16" descr="/home/ahmed/Projects/ai_llm_slides/videos/machine-learning/03_ridger_regression_gradient_descent/recreated_pptx/build/assets/parens042/paren_z_lp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850124" y="1009904"/>
            <a:ext cx="44196" cy="393192"/>
          </a:xfrm>
          <a:prstGeom prst="rect">
            <a:avLst/>
          </a:prstGeom>
        </p:spPr>
      </p:pic>
      <p:pic>
        <p:nvPicPr>
          <p:cNvPr id="69" name="Image 17" descr="/home/ahmed/Projects/ai_llm_slides/videos/machine-learning/03_ridger_regression_gradient_descent/recreated_pptx/build/assets/parens042/paren_z_rp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58404" y="1009904"/>
            <a:ext cx="44196" cy="393192"/>
          </a:xfrm>
          <a:prstGeom prst="rect">
            <a:avLst/>
          </a:prstGeom>
        </p:spPr>
      </p:pic>
      <p:sp>
        <p:nvSpPr>
          <p:cNvPr id="70" name="Text 50"/>
          <p:cNvSpPr txBox="1"/>
          <p:nvPr/>
        </p:nvSpPr>
        <p:spPr>
          <a:xfrm>
            <a:off x="8096250" y="1041400"/>
            <a:ext cx="279400" cy="164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71" name="Text 51"/>
          <p:cNvSpPr txBox="1"/>
          <p:nvPr/>
        </p:nvSpPr>
        <p:spPr>
          <a:xfrm>
            <a:off x="8096250" y="1206246"/>
            <a:ext cx="279400" cy="164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pic>
        <p:nvPicPr>
          <p:cNvPr id="72" name="Image 18" descr="/home/ahmed/Projects/ai_llm_slides/videos/machine-learning/03_ridger_regression_gradient_descent/recreated_pptx/build/assets/parens042/paren_z_lp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104124" y="1009904"/>
            <a:ext cx="44196" cy="393192"/>
          </a:xfrm>
          <a:prstGeom prst="rect">
            <a:avLst/>
          </a:prstGeom>
        </p:spPr>
      </p:pic>
      <p:pic>
        <p:nvPicPr>
          <p:cNvPr id="73" name="Image 19" descr="/home/ahmed/Projects/ai_llm_slides/videos/machine-learning/03_ridger_regression_gradient_descent/recreated_pptx/build/assets/parens042/paren_z_rp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12404" y="1009904"/>
            <a:ext cx="44196" cy="393192"/>
          </a:xfrm>
          <a:prstGeom prst="rect">
            <a:avLst/>
          </a:prstGeom>
        </p:spPr>
      </p:pic>
      <p:sp>
        <p:nvSpPr>
          <p:cNvPr id="74" name="Text 52"/>
          <p:cNvSpPr txBox="1"/>
          <p:nvPr/>
        </p:nvSpPr>
        <p:spPr>
          <a:xfrm>
            <a:off x="3022600" y="1358900"/>
            <a:ext cx="19050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indent="0" marL="0">
              <a:buNone/>
            </a:pPr>
            <a:r>
              <a:rPr lang="en-US" sz="910" baseline="-400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5" name="Text 53"/>
          <p:cNvSpPr txBox="1"/>
          <p:nvPr/>
        </p:nvSpPr>
        <p:spPr>
          <a:xfrm>
            <a:off x="3200400" y="1371600"/>
            <a:ext cx="1143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positive </a:t>
            </a:r>
            <a:endParaRPr lang="en-US" sz="1300" dirty="0"/>
          </a:p>
        </p:txBody>
      </p:sp>
      <p:sp>
        <p:nvSpPr>
          <p:cNvPr id="76" name="Text 54"/>
          <p:cNvSpPr txBox="1"/>
          <p:nvPr/>
        </p:nvSpPr>
        <p:spPr>
          <a:xfrm>
            <a:off x="3962400" y="1358900"/>
            <a:ext cx="19050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indent="0" marL="0">
              <a:buNone/>
            </a:pPr>
            <a:r>
              <a:rPr lang="en-US" sz="910" baseline="-40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77" name="Text 55"/>
          <p:cNvSpPr txBox="1"/>
          <p:nvPr/>
        </p:nvSpPr>
        <p:spPr>
          <a:xfrm>
            <a:off x="4114800" y="1371600"/>
            <a:ext cx="1143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negative </a:t>
            </a:r>
            <a:endParaRPr lang="en-US" sz="1300" dirty="0"/>
          </a:p>
        </p:txBody>
      </p:sp>
      <p:sp>
        <p:nvSpPr>
          <p:cNvPr id="78" name="Text 56"/>
          <p:cNvSpPr txBox="1"/>
          <p:nvPr/>
        </p:nvSpPr>
        <p:spPr>
          <a:xfrm>
            <a:off x="5003800" y="1371600"/>
            <a:ext cx="1143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</a:t>
            </a:r>
            <a:endParaRPr lang="en-US" sz="1300" dirty="0"/>
          </a:p>
        </p:txBody>
      </p:sp>
      <p:sp>
        <p:nvSpPr>
          <p:cNvPr id="79" name="Text 57"/>
          <p:cNvSpPr txBox="1"/>
          <p:nvPr/>
        </p:nvSpPr>
        <p:spPr>
          <a:xfrm>
            <a:off x="5461000" y="1371600"/>
            <a:ext cx="1143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unaccepted</a:t>
            </a:r>
            <a:endParaRPr lang="en-US" sz="1300" dirty="0"/>
          </a:p>
        </p:txBody>
      </p:sp>
      <p:sp>
        <p:nvSpPr>
          <p:cNvPr id="80" name="Shape 58"/>
          <p:cNvSpPr/>
          <p:nvPr/>
        </p:nvSpPr>
        <p:spPr>
          <a:xfrm>
            <a:off x="889000" y="1778000"/>
            <a:ext cx="2247900" cy="147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8B2C2"/>
            </a:solidFill>
            <a:prstDash val="solid"/>
          </a:ln>
        </p:spPr>
      </p:sp>
      <p:sp>
        <p:nvSpPr>
          <p:cNvPr id="81" name="Text 59"/>
          <p:cNvSpPr txBox="1"/>
          <p:nvPr/>
        </p:nvSpPr>
        <p:spPr>
          <a:xfrm>
            <a:off x="1003300" y="1879600"/>
            <a:ext cx="21336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Ugmented Vectors ( from Top )</a:t>
            </a:r>
            <a:endParaRPr lang="en-US" sz="1100" dirty="0"/>
          </a:p>
        </p:txBody>
      </p:sp>
      <p:sp>
        <p:nvSpPr>
          <p:cNvPr id="82" name="Text 60"/>
          <p:cNvSpPr txBox="1"/>
          <p:nvPr/>
        </p:nvSpPr>
        <p:spPr>
          <a:xfrm>
            <a:off x="1155700" y="2082800"/>
            <a:ext cx="203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83" name="Text 61"/>
          <p:cNvSpPr txBox="1"/>
          <p:nvPr/>
        </p:nvSpPr>
        <p:spPr>
          <a:xfrm>
            <a:off x="1435100" y="2082800"/>
            <a:ext cx="203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84" name="Text 62"/>
          <p:cNvSpPr txBox="1"/>
          <p:nvPr/>
        </p:nvSpPr>
        <p:spPr>
          <a:xfrm>
            <a:off x="1714500" y="2082800"/>
            <a:ext cx="203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85" name="Text 63"/>
          <p:cNvSpPr txBox="1"/>
          <p:nvPr/>
        </p:nvSpPr>
        <p:spPr>
          <a:xfrm>
            <a:off x="2006600" y="2082800"/>
            <a:ext cx="203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86" name="Text 64"/>
          <p:cNvSpPr txBox="1"/>
          <p:nvPr/>
        </p:nvSpPr>
        <p:spPr>
          <a:xfrm>
            <a:off x="2286000" y="2082800"/>
            <a:ext cx="203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87" name="Text 65"/>
          <p:cNvSpPr txBox="1"/>
          <p:nvPr/>
        </p:nvSpPr>
        <p:spPr>
          <a:xfrm>
            <a:off x="2578100" y="2082800"/>
            <a:ext cx="203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88" name="Text 66"/>
          <p:cNvSpPr txBox="1"/>
          <p:nvPr/>
        </p:nvSpPr>
        <p:spPr>
          <a:xfrm>
            <a:off x="1193800" y="2324100"/>
            <a:ext cx="1397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89" name="Text 67"/>
          <p:cNvSpPr txBox="1"/>
          <p:nvPr/>
        </p:nvSpPr>
        <p:spPr>
          <a:xfrm>
            <a:off x="1473200" y="2324100"/>
            <a:ext cx="1397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90" name="Text 68"/>
          <p:cNvSpPr txBox="1"/>
          <p:nvPr/>
        </p:nvSpPr>
        <p:spPr>
          <a:xfrm>
            <a:off x="1752600" y="2324100"/>
            <a:ext cx="1397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91" name="Text 69"/>
          <p:cNvSpPr txBox="1"/>
          <p:nvPr/>
        </p:nvSpPr>
        <p:spPr>
          <a:xfrm>
            <a:off x="2044700" y="2324100"/>
            <a:ext cx="1397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92" name="Text 70"/>
          <p:cNvSpPr txBox="1"/>
          <p:nvPr/>
        </p:nvSpPr>
        <p:spPr>
          <a:xfrm>
            <a:off x="2324100" y="2324100"/>
            <a:ext cx="1397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93" name="Text 71"/>
          <p:cNvSpPr txBox="1"/>
          <p:nvPr/>
        </p:nvSpPr>
        <p:spPr>
          <a:xfrm>
            <a:off x="2616200" y="2324100"/>
            <a:ext cx="1397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94" name="Text 72"/>
          <p:cNvSpPr txBox="1"/>
          <p:nvPr/>
        </p:nvSpPr>
        <p:spPr>
          <a:xfrm>
            <a:off x="1193800" y="2514600"/>
            <a:ext cx="1397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95" name="Text 73"/>
          <p:cNvSpPr txBox="1"/>
          <p:nvPr/>
        </p:nvSpPr>
        <p:spPr>
          <a:xfrm>
            <a:off x="1473200" y="2514600"/>
            <a:ext cx="1397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96" name="Text 74"/>
          <p:cNvSpPr txBox="1"/>
          <p:nvPr/>
        </p:nvSpPr>
        <p:spPr>
          <a:xfrm>
            <a:off x="1752600" y="2514600"/>
            <a:ext cx="1397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97" name="Text 75"/>
          <p:cNvSpPr txBox="1"/>
          <p:nvPr/>
        </p:nvSpPr>
        <p:spPr>
          <a:xfrm>
            <a:off x="2044700" y="2514600"/>
            <a:ext cx="1397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98" name="Text 76"/>
          <p:cNvSpPr txBox="1"/>
          <p:nvPr/>
        </p:nvSpPr>
        <p:spPr>
          <a:xfrm>
            <a:off x="2324100" y="2514600"/>
            <a:ext cx="1397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99" name="Text 77"/>
          <p:cNvSpPr txBox="1"/>
          <p:nvPr/>
        </p:nvSpPr>
        <p:spPr>
          <a:xfrm>
            <a:off x="2616200" y="2514600"/>
            <a:ext cx="1397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100" name="Text 78"/>
          <p:cNvSpPr txBox="1"/>
          <p:nvPr/>
        </p:nvSpPr>
        <p:spPr>
          <a:xfrm>
            <a:off x="1193800" y="2717800"/>
            <a:ext cx="1397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01" name="Text 79"/>
          <p:cNvSpPr txBox="1"/>
          <p:nvPr/>
        </p:nvSpPr>
        <p:spPr>
          <a:xfrm>
            <a:off x="1473200" y="2717800"/>
            <a:ext cx="1397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02" name="Text 80"/>
          <p:cNvSpPr txBox="1"/>
          <p:nvPr/>
        </p:nvSpPr>
        <p:spPr>
          <a:xfrm>
            <a:off x="1752600" y="2717800"/>
            <a:ext cx="1397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03" name="Text 81"/>
          <p:cNvSpPr txBox="1"/>
          <p:nvPr/>
        </p:nvSpPr>
        <p:spPr>
          <a:xfrm>
            <a:off x="2044700" y="2717800"/>
            <a:ext cx="1397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04" name="Text 82"/>
          <p:cNvSpPr txBox="1"/>
          <p:nvPr/>
        </p:nvSpPr>
        <p:spPr>
          <a:xfrm>
            <a:off x="2324100" y="2717800"/>
            <a:ext cx="1397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105" name="Text 83"/>
          <p:cNvSpPr txBox="1"/>
          <p:nvPr/>
        </p:nvSpPr>
        <p:spPr>
          <a:xfrm>
            <a:off x="2616200" y="2717800"/>
            <a:ext cx="1397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pic>
        <p:nvPicPr>
          <p:cNvPr id="106" name="Image 20" descr="/home/ahmed/Projects/ai_llm_slides/videos/machine-learning/03_ridger_regression_gradient_descent/recreated_pptx/build/assets/parens042/paren_tall_lp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38995" y="2268037"/>
            <a:ext cx="50876" cy="598235"/>
          </a:xfrm>
          <a:prstGeom prst="rect">
            <a:avLst/>
          </a:prstGeom>
        </p:spPr>
      </p:pic>
      <p:pic>
        <p:nvPicPr>
          <p:cNvPr id="107" name="Image 21" descr="/home/ahmed/Projects/ai_llm_slides/videos/machine-learning/03_ridger_regression_gradient_descent/recreated_pptx/build/assets/parens042/paren_tall_rp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351883" y="2268037"/>
            <a:ext cx="50876" cy="598235"/>
          </a:xfrm>
          <a:prstGeom prst="rect">
            <a:avLst/>
          </a:prstGeom>
        </p:spPr>
      </p:pic>
      <p:pic>
        <p:nvPicPr>
          <p:cNvPr id="108" name="Image 22" descr="/home/ahmed/Projects/ai_llm_slides/videos/machine-learning/03_ridger_regression_gradient_descent/recreated_pptx/build/assets/parens042/paren_tall_lp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418395" y="2268037"/>
            <a:ext cx="50876" cy="598235"/>
          </a:xfrm>
          <a:prstGeom prst="rect">
            <a:avLst/>
          </a:prstGeom>
        </p:spPr>
      </p:pic>
      <p:pic>
        <p:nvPicPr>
          <p:cNvPr id="109" name="Image 23" descr="/home/ahmed/Projects/ai_llm_slides/videos/machine-learning/03_ridger_regression_gradient_descent/recreated_pptx/build/assets/parens042/paren_tall_rp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618583" y="2268037"/>
            <a:ext cx="50876" cy="598235"/>
          </a:xfrm>
          <a:prstGeom prst="rect">
            <a:avLst/>
          </a:prstGeom>
        </p:spPr>
      </p:pic>
      <p:pic>
        <p:nvPicPr>
          <p:cNvPr id="110" name="Image 24" descr="/home/ahmed/Projects/ai_llm_slides/videos/machine-learning/03_ridger_regression_gradient_descent/recreated_pptx/build/assets/parens042/paren_tall_lp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697795" y="2268037"/>
            <a:ext cx="50876" cy="598235"/>
          </a:xfrm>
          <a:prstGeom prst="rect">
            <a:avLst/>
          </a:prstGeom>
        </p:spPr>
      </p:pic>
      <p:pic>
        <p:nvPicPr>
          <p:cNvPr id="111" name="Image 25" descr="/home/ahmed/Projects/ai_llm_slides/videos/machine-learning/03_ridger_regression_gradient_descent/recreated_pptx/build/assets/parens042/paren_tall_rp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897983" y="2268037"/>
            <a:ext cx="50876" cy="598235"/>
          </a:xfrm>
          <a:prstGeom prst="rect">
            <a:avLst/>
          </a:prstGeom>
        </p:spPr>
      </p:pic>
      <p:pic>
        <p:nvPicPr>
          <p:cNvPr id="112" name="Image 26" descr="/home/ahmed/Projects/ai_llm_slides/videos/machine-learning/03_ridger_regression_gradient_descent/recreated_pptx/build/assets/parens042/paren_tall_lp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977195" y="2268037"/>
            <a:ext cx="50876" cy="598235"/>
          </a:xfrm>
          <a:prstGeom prst="rect">
            <a:avLst/>
          </a:prstGeom>
        </p:spPr>
      </p:pic>
      <p:pic>
        <p:nvPicPr>
          <p:cNvPr id="113" name="Image 27" descr="/home/ahmed/Projects/ai_llm_slides/videos/machine-learning/03_ridger_regression_gradient_descent/recreated_pptx/build/assets/parens042/paren_tall_rp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2190083" y="2268037"/>
            <a:ext cx="50876" cy="598235"/>
          </a:xfrm>
          <a:prstGeom prst="rect">
            <a:avLst/>
          </a:prstGeom>
        </p:spPr>
      </p:pic>
      <p:pic>
        <p:nvPicPr>
          <p:cNvPr id="114" name="Image 28" descr="/home/ahmed/Projects/ai_llm_slides/videos/machine-learning/03_ridger_regression_gradient_descent/recreated_pptx/build/assets/parens042/paren_tall_lp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2269295" y="2268037"/>
            <a:ext cx="50876" cy="598235"/>
          </a:xfrm>
          <a:prstGeom prst="rect">
            <a:avLst/>
          </a:prstGeom>
        </p:spPr>
      </p:pic>
      <p:pic>
        <p:nvPicPr>
          <p:cNvPr id="115" name="Image 29" descr="/home/ahmed/Projects/ai_llm_slides/videos/machine-learning/03_ridger_regression_gradient_descent/recreated_pptx/build/assets/parens042/paren_tall_rp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2482183" y="2268037"/>
            <a:ext cx="50876" cy="598235"/>
          </a:xfrm>
          <a:prstGeom prst="rect">
            <a:avLst/>
          </a:prstGeom>
        </p:spPr>
      </p:pic>
      <p:pic>
        <p:nvPicPr>
          <p:cNvPr id="116" name="Image 30" descr="/home/ahmed/Projects/ai_llm_slides/videos/machine-learning/03_ridger_regression_gradient_descent/recreated_pptx/build/assets/parens042/paren_tall_lp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2561395" y="2268037"/>
            <a:ext cx="50876" cy="598235"/>
          </a:xfrm>
          <a:prstGeom prst="rect">
            <a:avLst/>
          </a:prstGeom>
        </p:spPr>
      </p:pic>
      <p:pic>
        <p:nvPicPr>
          <p:cNvPr id="117" name="Image 31" descr="/home/ahmed/Projects/ai_llm_slides/videos/machine-learning/03_ridger_regression_gradient_descent/recreated_pptx/build/assets/parens042/paren_tall_rp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2761583" y="2268037"/>
            <a:ext cx="50876" cy="598235"/>
          </a:xfrm>
          <a:prstGeom prst="rect">
            <a:avLst/>
          </a:prstGeom>
        </p:spPr>
      </p:pic>
      <p:sp>
        <p:nvSpPr>
          <p:cNvPr id="118" name="Text 84"/>
          <p:cNvSpPr txBox="1"/>
          <p:nvPr/>
        </p:nvSpPr>
        <p:spPr>
          <a:xfrm>
            <a:off x="1092200" y="2921000"/>
            <a:ext cx="2286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19" name="Text 85"/>
          <p:cNvSpPr txBox="1"/>
          <p:nvPr/>
        </p:nvSpPr>
        <p:spPr>
          <a:xfrm>
            <a:off x="1371600" y="2921000"/>
            <a:ext cx="2286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20" name="Text 86"/>
          <p:cNvSpPr txBox="1"/>
          <p:nvPr/>
        </p:nvSpPr>
        <p:spPr>
          <a:xfrm>
            <a:off x="1651000" y="2921000"/>
            <a:ext cx="2286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21" name="Text 87"/>
          <p:cNvSpPr txBox="1"/>
          <p:nvPr/>
        </p:nvSpPr>
        <p:spPr>
          <a:xfrm>
            <a:off x="1930400" y="2921000"/>
            <a:ext cx="2286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22" name="Text 88"/>
          <p:cNvSpPr txBox="1"/>
          <p:nvPr/>
        </p:nvSpPr>
        <p:spPr>
          <a:xfrm>
            <a:off x="2222500" y="2921000"/>
            <a:ext cx="2286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23" name="Text 89"/>
          <p:cNvSpPr txBox="1"/>
          <p:nvPr/>
        </p:nvSpPr>
        <p:spPr>
          <a:xfrm>
            <a:off x="2501900" y="2921000"/>
            <a:ext cx="2286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24" name="Shape 90"/>
          <p:cNvSpPr/>
          <p:nvPr/>
        </p:nvSpPr>
        <p:spPr>
          <a:xfrm>
            <a:off x="1066800" y="3517900"/>
            <a:ext cx="1663700" cy="36830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125" name="Text 91"/>
          <p:cNvSpPr txBox="1"/>
          <p:nvPr/>
        </p:nvSpPr>
        <p:spPr>
          <a:xfrm>
            <a:off x="1244600" y="3594100"/>
            <a:ext cx="13208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Iteration 1</a:t>
            </a:r>
            <a:endParaRPr lang="en-US" sz="1500" dirty="0"/>
          </a:p>
        </p:txBody>
      </p:sp>
      <p:sp>
        <p:nvSpPr>
          <p:cNvPr id="126" name="Text 92"/>
          <p:cNvSpPr/>
          <p:nvPr/>
        </p:nvSpPr>
        <p:spPr>
          <a:xfrm>
            <a:off x="3594100" y="2070100"/>
            <a:ext cx="431800" cy="1778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d(x</a:t>
            </a:r>
            <a:pPr indent="0" marL="0">
              <a:buNone/>
            </a:pPr>
            <a:r>
              <a:rPr lang="en-US" sz="900" baseline="-40000" dirty="0">
                <a:solidFill>
                  <a:srgbClr val="000000"/>
                </a:solidFill>
              </a:rPr>
              <a:t>1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) =</a:t>
            </a:r>
            <a:endParaRPr lang="en-US" sz="1300" dirty="0"/>
          </a:p>
        </p:txBody>
      </p:sp>
      <p:pic>
        <p:nvPicPr>
          <p:cNvPr id="127" name="Image 32" descr="/home/ahmed/Projects/ai_llm_slides/videos/machine-learning/03_ridger_regression_gradient_descent/recreated_pptx/build/assets/parens042/paren_z_lp_r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4170190" y="1888832"/>
            <a:ext cx="25145" cy="223704"/>
          </a:xfrm>
          <a:prstGeom prst="rect">
            <a:avLst/>
          </a:prstGeom>
        </p:spPr>
      </p:pic>
      <p:pic>
        <p:nvPicPr>
          <p:cNvPr id="128" name="Image 33" descr="/home/ahmed/Projects/ai_llm_slides/videos/machine-learning/03_ridger_regression_gradient_descent/recreated_pptx/build/assets/parens042/paren_z_rp_r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805190" y="1888832"/>
            <a:ext cx="25145" cy="223704"/>
          </a:xfrm>
          <a:prstGeom prst="rect">
            <a:avLst/>
          </a:prstGeom>
        </p:spPr>
      </p:pic>
      <p:sp>
        <p:nvSpPr>
          <p:cNvPr id="129" name="Text 93"/>
          <p:cNvSpPr txBox="1"/>
          <p:nvPr/>
        </p:nvSpPr>
        <p:spPr>
          <a:xfrm>
            <a:off x="4191000" y="1917700"/>
            <a:ext cx="1778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30" name="Text 94"/>
          <p:cNvSpPr txBox="1"/>
          <p:nvPr/>
        </p:nvSpPr>
        <p:spPr>
          <a:xfrm>
            <a:off x="4413250" y="1917700"/>
            <a:ext cx="1778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31" name="Text 95"/>
          <p:cNvSpPr txBox="1"/>
          <p:nvPr/>
        </p:nvSpPr>
        <p:spPr>
          <a:xfrm>
            <a:off x="4635500" y="1917700"/>
            <a:ext cx="1778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pic>
        <p:nvPicPr>
          <p:cNvPr id="132" name="Image 34" descr="/home/ahmed/Projects/ai_llm_slides/videos/machine-learning/03_ridger_regression_gradient_descent/recreated_pptx/build/assets/parens042/paren_tall_green_lp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4814787" y="1925823"/>
            <a:ext cx="44240" cy="520204"/>
          </a:xfrm>
          <a:prstGeom prst="rect">
            <a:avLst/>
          </a:prstGeom>
        </p:spPr>
      </p:pic>
      <p:pic>
        <p:nvPicPr>
          <p:cNvPr id="133" name="Image 35" descr="/home/ahmed/Projects/ai_llm_slides/videos/machine-learning/03_ridger_regression_gradient_descent/recreated_pptx/build/assets/parens042/paren_tall_green_rp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5035798" y="1925823"/>
            <a:ext cx="44240" cy="520204"/>
          </a:xfrm>
          <a:prstGeom prst="rect">
            <a:avLst/>
          </a:prstGeom>
        </p:spPr>
      </p:pic>
      <p:sp>
        <p:nvSpPr>
          <p:cNvPr id="134" name="Text 96"/>
          <p:cNvSpPr txBox="1"/>
          <p:nvPr/>
        </p:nvSpPr>
        <p:spPr>
          <a:xfrm>
            <a:off x="4876800" y="1905000"/>
            <a:ext cx="1397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A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35" name="Text 97"/>
          <p:cNvSpPr txBox="1"/>
          <p:nvPr/>
        </p:nvSpPr>
        <p:spPr>
          <a:xfrm>
            <a:off x="4876800" y="2108200"/>
            <a:ext cx="1397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A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</a:t>
            </a:r>
            <a:endParaRPr lang="en-US" sz="1000" dirty="0"/>
          </a:p>
        </p:txBody>
      </p:sp>
      <p:sp>
        <p:nvSpPr>
          <p:cNvPr id="136" name="Text 98"/>
          <p:cNvSpPr txBox="1"/>
          <p:nvPr/>
        </p:nvSpPr>
        <p:spPr>
          <a:xfrm>
            <a:off x="4876800" y="2298700"/>
            <a:ext cx="1397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A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</a:t>
            </a:r>
            <a:endParaRPr lang="en-US" sz="1000" dirty="0"/>
          </a:p>
        </p:txBody>
      </p:sp>
      <p:sp>
        <p:nvSpPr>
          <p:cNvPr id="137" name="Text 99"/>
          <p:cNvSpPr txBox="1"/>
          <p:nvPr/>
        </p:nvSpPr>
        <p:spPr>
          <a:xfrm>
            <a:off x="5219700" y="2070100"/>
            <a:ext cx="711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0</a:t>
            </a:r>
            <a:endParaRPr lang="en-US" sz="1200" dirty="0"/>
          </a:p>
        </p:txBody>
      </p:sp>
      <p:sp>
        <p:nvSpPr>
          <p:cNvPr id="138" name="Text 100"/>
          <p:cNvSpPr txBox="1"/>
          <p:nvPr/>
        </p:nvSpPr>
        <p:spPr>
          <a:xfrm>
            <a:off x="6172200" y="2070100"/>
            <a:ext cx="203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⇒</a:t>
            </a:r>
            <a:endParaRPr lang="en-US" sz="1200" dirty="0"/>
          </a:p>
        </p:txBody>
      </p:sp>
      <p:sp>
        <p:nvSpPr>
          <p:cNvPr id="139" name="Text 101"/>
          <p:cNvSpPr txBox="1"/>
          <p:nvPr/>
        </p:nvSpPr>
        <p:spPr>
          <a:xfrm>
            <a:off x="6426200" y="2070100"/>
            <a:ext cx="1778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Weight</a:t>
            </a:r>
            <a:endParaRPr lang="en-US" sz="1300" dirty="0"/>
          </a:p>
        </p:txBody>
      </p:sp>
      <p:sp>
        <p:nvSpPr>
          <p:cNvPr id="140" name="Text 102"/>
          <p:cNvSpPr/>
          <p:nvPr/>
        </p:nvSpPr>
        <p:spPr>
          <a:xfrm>
            <a:off x="7797800" y="2070100"/>
            <a:ext cx="381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</a:t>
            </a:r>
            <a:endParaRPr lang="en-US" sz="1100" dirty="0"/>
          </a:p>
        </p:txBody>
      </p:sp>
      <p:pic>
        <p:nvPicPr>
          <p:cNvPr id="141" name="Image 36" descr="/home/ahmed/Projects/ai_llm_slides/videos/machine-learning/03_ridger_regression_gradient_descent/recreated_pptx/build/assets/parens042/paren_tall_lp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8167587" y="1925823"/>
            <a:ext cx="44240" cy="520204"/>
          </a:xfrm>
          <a:prstGeom prst="rect">
            <a:avLst/>
          </a:prstGeom>
        </p:spPr>
      </p:pic>
      <p:pic>
        <p:nvPicPr>
          <p:cNvPr id="142" name="Image 37" descr="/home/ahmed/Projects/ai_llm_slides/videos/machine-learning/03_ridger_regression_gradient_descent/recreated_pptx/build/assets/parens042/paren_tall_rp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8528298" y="1925823"/>
            <a:ext cx="44240" cy="520204"/>
          </a:xfrm>
          <a:prstGeom prst="rect">
            <a:avLst/>
          </a:prstGeom>
        </p:spPr>
      </p:pic>
      <p:sp>
        <p:nvSpPr>
          <p:cNvPr id="143" name="Text 103"/>
          <p:cNvSpPr txBox="1"/>
          <p:nvPr/>
        </p:nvSpPr>
        <p:spPr>
          <a:xfrm>
            <a:off x="8229600" y="1905000"/>
            <a:ext cx="2794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44" name="Text 104"/>
          <p:cNvSpPr txBox="1"/>
          <p:nvPr/>
        </p:nvSpPr>
        <p:spPr>
          <a:xfrm>
            <a:off x="8229600" y="2108200"/>
            <a:ext cx="2794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</a:t>
            </a:r>
            <a:endParaRPr lang="en-US" sz="1000" dirty="0"/>
          </a:p>
        </p:txBody>
      </p:sp>
      <p:sp>
        <p:nvSpPr>
          <p:cNvPr id="145" name="Text 105"/>
          <p:cNvSpPr txBox="1"/>
          <p:nvPr/>
        </p:nvSpPr>
        <p:spPr>
          <a:xfrm>
            <a:off x="8229600" y="2298700"/>
            <a:ext cx="2794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</a:t>
            </a:r>
            <a:endParaRPr lang="en-US" sz="1000" dirty="0"/>
          </a:p>
        </p:txBody>
      </p:sp>
      <p:sp>
        <p:nvSpPr>
          <p:cNvPr id="146" name="Text 106"/>
          <p:cNvSpPr txBox="1"/>
          <p:nvPr/>
        </p:nvSpPr>
        <p:spPr>
          <a:xfrm>
            <a:off x="8585200" y="2070100"/>
            <a:ext cx="431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+ 2 *</a:t>
            </a:r>
            <a:endParaRPr lang="en-US" sz="1100" dirty="0"/>
          </a:p>
        </p:txBody>
      </p:sp>
      <p:pic>
        <p:nvPicPr>
          <p:cNvPr id="147" name="Image 38" descr="/home/ahmed/Projects/ai_llm_slides/videos/machine-learning/03_ridger_regression_gradient_descent/recreated_pptx/build/assets/parens042/paren_tall_lp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8954987" y="1925823"/>
            <a:ext cx="44240" cy="520204"/>
          </a:xfrm>
          <a:prstGeom prst="rect">
            <a:avLst/>
          </a:prstGeom>
        </p:spPr>
      </p:pic>
      <p:pic>
        <p:nvPicPr>
          <p:cNvPr id="148" name="Image 39" descr="/home/ahmed/Projects/ai_llm_slides/videos/machine-learning/03_ridger_regression_gradient_descent/recreated_pptx/build/assets/parens042/paren_tall_rp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9201398" y="1925823"/>
            <a:ext cx="44240" cy="520204"/>
          </a:xfrm>
          <a:prstGeom prst="rect">
            <a:avLst/>
          </a:prstGeom>
        </p:spPr>
      </p:pic>
      <p:sp>
        <p:nvSpPr>
          <p:cNvPr id="149" name="Text 107"/>
          <p:cNvSpPr txBox="1"/>
          <p:nvPr/>
        </p:nvSpPr>
        <p:spPr>
          <a:xfrm>
            <a:off x="9017000" y="1905000"/>
            <a:ext cx="1651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50" name="Text 108"/>
          <p:cNvSpPr txBox="1"/>
          <p:nvPr/>
        </p:nvSpPr>
        <p:spPr>
          <a:xfrm>
            <a:off x="9017000" y="2108200"/>
            <a:ext cx="1651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51" name="Text 109"/>
          <p:cNvSpPr txBox="1"/>
          <p:nvPr/>
        </p:nvSpPr>
        <p:spPr>
          <a:xfrm>
            <a:off x="9017000" y="2298700"/>
            <a:ext cx="1651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52" name="Text 110"/>
          <p:cNvSpPr txBox="1"/>
          <p:nvPr/>
        </p:nvSpPr>
        <p:spPr>
          <a:xfrm>
            <a:off x="9245600" y="2070100"/>
            <a:ext cx="152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1100" dirty="0"/>
          </a:p>
        </p:txBody>
      </p:sp>
      <p:pic>
        <p:nvPicPr>
          <p:cNvPr id="153" name="Image 40" descr="/home/ahmed/Projects/ai_llm_slides/videos/machine-learning/03_ridger_regression_gradient_descent/recreated_pptx/build/assets/parens042/paren_tall_green_lp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9361387" y="1925823"/>
            <a:ext cx="44240" cy="520204"/>
          </a:xfrm>
          <a:prstGeom prst="rect">
            <a:avLst/>
          </a:prstGeom>
        </p:spPr>
      </p:pic>
      <p:pic>
        <p:nvPicPr>
          <p:cNvPr id="154" name="Image 41" descr="/home/ahmed/Projects/ai_llm_slides/videos/machine-learning/03_ridger_regression_gradient_descent/recreated_pptx/build/assets/parens042/paren_tall_green_rp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9620498" y="1925823"/>
            <a:ext cx="44240" cy="520204"/>
          </a:xfrm>
          <a:prstGeom prst="rect">
            <a:avLst/>
          </a:prstGeom>
        </p:spPr>
      </p:pic>
      <p:sp>
        <p:nvSpPr>
          <p:cNvPr id="155" name="Text 111"/>
          <p:cNvSpPr txBox="1"/>
          <p:nvPr/>
        </p:nvSpPr>
        <p:spPr>
          <a:xfrm>
            <a:off x="9423400" y="1905000"/>
            <a:ext cx="1778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A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156" name="Text 112"/>
          <p:cNvSpPr txBox="1"/>
          <p:nvPr/>
        </p:nvSpPr>
        <p:spPr>
          <a:xfrm>
            <a:off x="9423400" y="2108200"/>
            <a:ext cx="1778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A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000" dirty="0"/>
          </a:p>
        </p:txBody>
      </p:sp>
      <p:sp>
        <p:nvSpPr>
          <p:cNvPr id="157" name="Text 113"/>
          <p:cNvSpPr txBox="1"/>
          <p:nvPr/>
        </p:nvSpPr>
        <p:spPr>
          <a:xfrm>
            <a:off x="9423400" y="2298700"/>
            <a:ext cx="1778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A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000" dirty="0"/>
          </a:p>
        </p:txBody>
      </p:sp>
      <p:sp>
        <p:nvSpPr>
          <p:cNvPr id="158" name="Text 114"/>
          <p:cNvSpPr txBox="1"/>
          <p:nvPr/>
        </p:nvSpPr>
        <p:spPr>
          <a:xfrm>
            <a:off x="9829800" y="2070100"/>
            <a:ext cx="25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⇐</a:t>
            </a:r>
            <a:endParaRPr lang="en-US" sz="1200" dirty="0"/>
          </a:p>
        </p:txBody>
      </p:sp>
      <p:sp>
        <p:nvSpPr>
          <p:cNvPr id="159" name="Text 115"/>
          <p:cNvSpPr/>
          <p:nvPr/>
        </p:nvSpPr>
        <p:spPr>
          <a:xfrm>
            <a:off x="3594100" y="2908300"/>
            <a:ext cx="431800" cy="1778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d(x</a:t>
            </a:r>
            <a:pPr indent="0" marL="0">
              <a:buNone/>
            </a:pPr>
            <a:r>
              <a:rPr lang="en-US" sz="900" baseline="-40000" dirty="0">
                <a:solidFill>
                  <a:srgbClr val="000000"/>
                </a:solidFill>
              </a:rPr>
              <a:t>2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) =</a:t>
            </a:r>
            <a:endParaRPr lang="en-US" sz="1300" dirty="0"/>
          </a:p>
        </p:txBody>
      </p:sp>
      <p:sp>
        <p:nvSpPr>
          <p:cNvPr id="160" name="Shape 116"/>
          <p:cNvSpPr/>
          <p:nvPr/>
        </p:nvSpPr>
        <p:spPr>
          <a:xfrm>
            <a:off x="4152900" y="2730500"/>
            <a:ext cx="0" cy="190500"/>
          </a:xfrm>
          <a:prstGeom prst="line">
            <a:avLst/>
          </a:prstGeom>
          <a:noFill/>
          <a:ln w="12700">
            <a:solidFill>
              <a:srgbClr val="FF0000"/>
            </a:solidFill>
            <a:prstDash val="solid"/>
          </a:ln>
        </p:spPr>
      </p:sp>
      <p:sp>
        <p:nvSpPr>
          <p:cNvPr id="161" name="Shape 117"/>
          <p:cNvSpPr/>
          <p:nvPr/>
        </p:nvSpPr>
        <p:spPr>
          <a:xfrm>
            <a:off x="4813300" y="2730500"/>
            <a:ext cx="0" cy="190500"/>
          </a:xfrm>
          <a:prstGeom prst="line">
            <a:avLst/>
          </a:prstGeom>
          <a:noFill/>
          <a:ln w="12700">
            <a:solidFill>
              <a:srgbClr val="FF0000"/>
            </a:solidFill>
            <a:prstDash val="solid"/>
          </a:ln>
        </p:spPr>
      </p:sp>
      <p:sp>
        <p:nvSpPr>
          <p:cNvPr id="162" name="Text 118"/>
          <p:cNvSpPr txBox="1"/>
          <p:nvPr/>
        </p:nvSpPr>
        <p:spPr>
          <a:xfrm>
            <a:off x="4191000" y="2755900"/>
            <a:ext cx="1778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63" name="Text 119"/>
          <p:cNvSpPr txBox="1"/>
          <p:nvPr/>
        </p:nvSpPr>
        <p:spPr>
          <a:xfrm>
            <a:off x="4413250" y="2755900"/>
            <a:ext cx="1778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64" name="Text 120"/>
          <p:cNvSpPr txBox="1"/>
          <p:nvPr/>
        </p:nvSpPr>
        <p:spPr>
          <a:xfrm>
            <a:off x="4635500" y="2755900"/>
            <a:ext cx="1778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pic>
        <p:nvPicPr>
          <p:cNvPr id="165" name="Image 42" descr="/home/ahmed/Projects/ai_llm_slides/videos/machine-learning/03_ridger_regression_gradient_descent/recreated_pptx/build/assets/parens042/paren_tall_green_lp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4814787" y="2764023"/>
            <a:ext cx="44240" cy="520204"/>
          </a:xfrm>
          <a:prstGeom prst="rect">
            <a:avLst/>
          </a:prstGeom>
        </p:spPr>
      </p:pic>
      <p:pic>
        <p:nvPicPr>
          <p:cNvPr id="166" name="Image 43" descr="/home/ahmed/Projects/ai_llm_slides/videos/machine-learning/03_ridger_regression_gradient_descent/recreated_pptx/build/assets/parens042/paren_tall_green_rp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5035798" y="2764023"/>
            <a:ext cx="44240" cy="520204"/>
          </a:xfrm>
          <a:prstGeom prst="rect">
            <a:avLst/>
          </a:prstGeom>
        </p:spPr>
      </p:pic>
      <p:sp>
        <p:nvSpPr>
          <p:cNvPr id="167" name="Text 121"/>
          <p:cNvSpPr txBox="1"/>
          <p:nvPr/>
        </p:nvSpPr>
        <p:spPr>
          <a:xfrm>
            <a:off x="4876800" y="2743200"/>
            <a:ext cx="1397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A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168" name="Text 122"/>
          <p:cNvSpPr txBox="1"/>
          <p:nvPr/>
        </p:nvSpPr>
        <p:spPr>
          <a:xfrm>
            <a:off x="4876800" y="2946400"/>
            <a:ext cx="1397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A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000" dirty="0"/>
          </a:p>
        </p:txBody>
      </p:sp>
      <p:sp>
        <p:nvSpPr>
          <p:cNvPr id="169" name="Text 123"/>
          <p:cNvSpPr txBox="1"/>
          <p:nvPr/>
        </p:nvSpPr>
        <p:spPr>
          <a:xfrm>
            <a:off x="4876800" y="3136900"/>
            <a:ext cx="1397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A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000" dirty="0"/>
          </a:p>
        </p:txBody>
      </p:sp>
      <p:sp>
        <p:nvSpPr>
          <p:cNvPr id="170" name="Text 124"/>
          <p:cNvSpPr txBox="1"/>
          <p:nvPr/>
        </p:nvSpPr>
        <p:spPr>
          <a:xfrm>
            <a:off x="5080000" y="2908300"/>
            <a:ext cx="711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6</a:t>
            </a:r>
            <a:endParaRPr lang="en-US" sz="1200" dirty="0"/>
          </a:p>
        </p:txBody>
      </p:sp>
      <p:sp>
        <p:nvSpPr>
          <p:cNvPr id="171" name="Text 125"/>
          <p:cNvSpPr txBox="1"/>
          <p:nvPr/>
        </p:nvSpPr>
        <p:spPr>
          <a:xfrm>
            <a:off x="6007100" y="2908300"/>
            <a:ext cx="203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⇒</a:t>
            </a:r>
            <a:endParaRPr lang="en-US" sz="1200" dirty="0"/>
          </a:p>
        </p:txBody>
      </p:sp>
      <p:sp>
        <p:nvSpPr>
          <p:cNvPr id="172" name="Text 126"/>
          <p:cNvSpPr txBox="1"/>
          <p:nvPr/>
        </p:nvSpPr>
        <p:spPr>
          <a:xfrm>
            <a:off x="6286500" y="2908300"/>
            <a:ext cx="1778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same Weight</a:t>
            </a:r>
            <a:endParaRPr lang="en-US" sz="1300" dirty="0"/>
          </a:p>
        </p:txBody>
      </p:sp>
      <p:sp>
        <p:nvSpPr>
          <p:cNvPr id="173" name="Text 127"/>
          <p:cNvSpPr/>
          <p:nvPr/>
        </p:nvSpPr>
        <p:spPr>
          <a:xfrm>
            <a:off x="8724900" y="2908300"/>
            <a:ext cx="381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</a:t>
            </a:r>
            <a:endParaRPr lang="en-US" sz="1100" dirty="0"/>
          </a:p>
        </p:txBody>
      </p:sp>
      <p:pic>
        <p:nvPicPr>
          <p:cNvPr id="174" name="Image 44" descr="/home/ahmed/Projects/ai_llm_slides/videos/machine-learning/03_ridger_regression_gradient_descent/recreated_pptx/build/assets/parens042/paren_tall_lp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9018487" y="2764023"/>
            <a:ext cx="44240" cy="520204"/>
          </a:xfrm>
          <a:prstGeom prst="rect">
            <a:avLst/>
          </a:prstGeom>
        </p:spPr>
      </p:pic>
      <p:pic>
        <p:nvPicPr>
          <p:cNvPr id="175" name="Image 45" descr="/home/ahmed/Projects/ai_llm_slides/videos/machine-learning/03_ridger_regression_gradient_descent/recreated_pptx/build/assets/parens042/paren_tall_rp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9226798" y="2764023"/>
            <a:ext cx="44240" cy="520204"/>
          </a:xfrm>
          <a:prstGeom prst="rect">
            <a:avLst/>
          </a:prstGeom>
        </p:spPr>
      </p:pic>
      <p:sp>
        <p:nvSpPr>
          <p:cNvPr id="176" name="Text 128"/>
          <p:cNvSpPr txBox="1"/>
          <p:nvPr/>
        </p:nvSpPr>
        <p:spPr>
          <a:xfrm>
            <a:off x="9080500" y="2743200"/>
            <a:ext cx="1270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177" name="Text 129"/>
          <p:cNvSpPr txBox="1"/>
          <p:nvPr/>
        </p:nvSpPr>
        <p:spPr>
          <a:xfrm>
            <a:off x="9080500" y="2946400"/>
            <a:ext cx="1270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000" dirty="0"/>
          </a:p>
        </p:txBody>
      </p:sp>
      <p:sp>
        <p:nvSpPr>
          <p:cNvPr id="178" name="Text 130"/>
          <p:cNvSpPr txBox="1"/>
          <p:nvPr/>
        </p:nvSpPr>
        <p:spPr>
          <a:xfrm>
            <a:off x="9080500" y="3136900"/>
            <a:ext cx="1270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000" dirty="0"/>
          </a:p>
        </p:txBody>
      </p:sp>
      <p:sp>
        <p:nvSpPr>
          <p:cNvPr id="179" name="Text 131"/>
          <p:cNvSpPr/>
          <p:nvPr/>
        </p:nvSpPr>
        <p:spPr>
          <a:xfrm>
            <a:off x="3594100" y="3708400"/>
            <a:ext cx="431800" cy="1778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d(x</a:t>
            </a:r>
            <a:pPr indent="0" marL="0">
              <a:buNone/>
            </a:pPr>
            <a:r>
              <a:rPr lang="en-US" sz="900" baseline="-40000" dirty="0">
                <a:solidFill>
                  <a:srgbClr val="000000"/>
                </a:solidFill>
              </a:rPr>
              <a:t>3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) =</a:t>
            </a:r>
            <a:endParaRPr lang="en-US" sz="1300" dirty="0"/>
          </a:p>
        </p:txBody>
      </p:sp>
      <p:sp>
        <p:nvSpPr>
          <p:cNvPr id="180" name="Shape 132"/>
          <p:cNvSpPr/>
          <p:nvPr/>
        </p:nvSpPr>
        <p:spPr>
          <a:xfrm>
            <a:off x="4152900" y="3530600"/>
            <a:ext cx="0" cy="190500"/>
          </a:xfrm>
          <a:prstGeom prst="line">
            <a:avLst/>
          </a:prstGeom>
          <a:noFill/>
          <a:ln w="12700">
            <a:solidFill>
              <a:srgbClr val="FF0000"/>
            </a:solidFill>
            <a:prstDash val="solid"/>
          </a:ln>
        </p:spPr>
      </p:sp>
      <p:sp>
        <p:nvSpPr>
          <p:cNvPr id="181" name="Shape 133"/>
          <p:cNvSpPr/>
          <p:nvPr/>
        </p:nvSpPr>
        <p:spPr>
          <a:xfrm>
            <a:off x="4813300" y="3530600"/>
            <a:ext cx="0" cy="190500"/>
          </a:xfrm>
          <a:prstGeom prst="line">
            <a:avLst/>
          </a:prstGeom>
          <a:noFill/>
          <a:ln w="12700">
            <a:solidFill>
              <a:srgbClr val="FF0000"/>
            </a:solidFill>
            <a:prstDash val="solid"/>
          </a:ln>
        </p:spPr>
      </p:sp>
      <p:sp>
        <p:nvSpPr>
          <p:cNvPr id="182" name="Text 134"/>
          <p:cNvSpPr txBox="1"/>
          <p:nvPr/>
        </p:nvSpPr>
        <p:spPr>
          <a:xfrm>
            <a:off x="4191000" y="3556000"/>
            <a:ext cx="1778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83" name="Text 135"/>
          <p:cNvSpPr txBox="1"/>
          <p:nvPr/>
        </p:nvSpPr>
        <p:spPr>
          <a:xfrm>
            <a:off x="4413250" y="3556000"/>
            <a:ext cx="1778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84" name="Text 136"/>
          <p:cNvSpPr txBox="1"/>
          <p:nvPr/>
        </p:nvSpPr>
        <p:spPr>
          <a:xfrm>
            <a:off x="4635500" y="3556000"/>
            <a:ext cx="1778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pic>
        <p:nvPicPr>
          <p:cNvPr id="185" name="Image 46" descr="/home/ahmed/Projects/ai_llm_slides/videos/machine-learning/03_ridger_regression_gradient_descent/recreated_pptx/build/assets/parens042/paren_tall_green_lp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4815703" y="3564238"/>
            <a:ext cx="43134" cy="507199"/>
          </a:xfrm>
          <a:prstGeom prst="rect">
            <a:avLst/>
          </a:prstGeom>
        </p:spPr>
      </p:pic>
      <p:pic>
        <p:nvPicPr>
          <p:cNvPr id="186" name="Image 47" descr="/home/ahmed/Projects/ai_llm_slides/videos/machine-learning/03_ridger_regression_gradient_descent/recreated_pptx/build/assets/parens042/paren_tall_green_rp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5035950" y="3564238"/>
            <a:ext cx="43134" cy="507199"/>
          </a:xfrm>
          <a:prstGeom prst="rect">
            <a:avLst/>
          </a:prstGeom>
        </p:spPr>
      </p:pic>
      <p:sp>
        <p:nvSpPr>
          <p:cNvPr id="187" name="Text 137"/>
          <p:cNvSpPr txBox="1"/>
          <p:nvPr/>
        </p:nvSpPr>
        <p:spPr>
          <a:xfrm>
            <a:off x="4876800" y="3543300"/>
            <a:ext cx="1397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A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188" name="Text 138"/>
          <p:cNvSpPr txBox="1"/>
          <p:nvPr/>
        </p:nvSpPr>
        <p:spPr>
          <a:xfrm>
            <a:off x="4876800" y="3746500"/>
            <a:ext cx="1397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A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000" dirty="0"/>
          </a:p>
        </p:txBody>
      </p:sp>
      <p:sp>
        <p:nvSpPr>
          <p:cNvPr id="189" name="Text 139"/>
          <p:cNvSpPr txBox="1"/>
          <p:nvPr/>
        </p:nvSpPr>
        <p:spPr>
          <a:xfrm>
            <a:off x="4876800" y="3937000"/>
            <a:ext cx="1397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A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000" dirty="0"/>
          </a:p>
        </p:txBody>
      </p:sp>
      <p:sp>
        <p:nvSpPr>
          <p:cNvPr id="190" name="Text 140"/>
          <p:cNvSpPr txBox="1"/>
          <p:nvPr/>
        </p:nvSpPr>
        <p:spPr>
          <a:xfrm>
            <a:off x="5080000" y="3708400"/>
            <a:ext cx="711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6</a:t>
            </a:r>
            <a:endParaRPr lang="en-US" sz="1200" dirty="0"/>
          </a:p>
        </p:txBody>
      </p:sp>
      <p:sp>
        <p:nvSpPr>
          <p:cNvPr id="191" name="Text 141"/>
          <p:cNvSpPr txBox="1"/>
          <p:nvPr/>
        </p:nvSpPr>
        <p:spPr>
          <a:xfrm>
            <a:off x="6007100" y="3708400"/>
            <a:ext cx="203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⇒</a:t>
            </a:r>
            <a:endParaRPr lang="en-US" sz="1200" dirty="0"/>
          </a:p>
        </p:txBody>
      </p:sp>
      <p:sp>
        <p:nvSpPr>
          <p:cNvPr id="192" name="Text 142"/>
          <p:cNvSpPr txBox="1"/>
          <p:nvPr/>
        </p:nvSpPr>
        <p:spPr>
          <a:xfrm>
            <a:off x="6286500" y="3708400"/>
            <a:ext cx="1778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same Weight</a:t>
            </a:r>
            <a:endParaRPr lang="en-US" sz="1300" dirty="0"/>
          </a:p>
        </p:txBody>
      </p:sp>
      <p:sp>
        <p:nvSpPr>
          <p:cNvPr id="193" name="Text 143"/>
          <p:cNvSpPr/>
          <p:nvPr/>
        </p:nvSpPr>
        <p:spPr>
          <a:xfrm>
            <a:off x="8724900" y="3708400"/>
            <a:ext cx="381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</a:t>
            </a:r>
            <a:endParaRPr lang="en-US" sz="1100" dirty="0"/>
          </a:p>
        </p:txBody>
      </p:sp>
      <p:pic>
        <p:nvPicPr>
          <p:cNvPr id="194" name="Image 48" descr="/home/ahmed/Projects/ai_llm_slides/videos/machine-learning/03_ridger_regression_gradient_descent/recreated_pptx/build/assets/parens042/paren_tall_lp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9019403" y="3564238"/>
            <a:ext cx="43134" cy="507199"/>
          </a:xfrm>
          <a:prstGeom prst="rect">
            <a:avLst/>
          </a:prstGeom>
        </p:spPr>
      </p:pic>
      <p:pic>
        <p:nvPicPr>
          <p:cNvPr id="195" name="Image 49" descr="/home/ahmed/Projects/ai_llm_slides/videos/machine-learning/03_ridger_regression_gradient_descent/recreated_pptx/build/assets/parens042/paren_tall_rp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9239650" y="3564238"/>
            <a:ext cx="43134" cy="507199"/>
          </a:xfrm>
          <a:prstGeom prst="rect">
            <a:avLst/>
          </a:prstGeom>
        </p:spPr>
      </p:pic>
      <p:sp>
        <p:nvSpPr>
          <p:cNvPr id="196" name="Text 144"/>
          <p:cNvSpPr txBox="1"/>
          <p:nvPr/>
        </p:nvSpPr>
        <p:spPr>
          <a:xfrm>
            <a:off x="9080500" y="3543300"/>
            <a:ext cx="1397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197" name="Text 145"/>
          <p:cNvSpPr txBox="1"/>
          <p:nvPr/>
        </p:nvSpPr>
        <p:spPr>
          <a:xfrm>
            <a:off x="9080500" y="3746500"/>
            <a:ext cx="1397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000" dirty="0"/>
          </a:p>
        </p:txBody>
      </p:sp>
      <p:sp>
        <p:nvSpPr>
          <p:cNvPr id="198" name="Text 146"/>
          <p:cNvSpPr txBox="1"/>
          <p:nvPr/>
        </p:nvSpPr>
        <p:spPr>
          <a:xfrm>
            <a:off x="9080500" y="3937000"/>
            <a:ext cx="1397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000" dirty="0"/>
          </a:p>
        </p:txBody>
      </p:sp>
      <p:sp>
        <p:nvSpPr>
          <p:cNvPr id="199" name="Text 147"/>
          <p:cNvSpPr/>
          <p:nvPr/>
        </p:nvSpPr>
        <p:spPr>
          <a:xfrm>
            <a:off x="3594100" y="4546600"/>
            <a:ext cx="431800" cy="1778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d(x</a:t>
            </a:r>
            <a:pPr indent="0" marL="0">
              <a:buNone/>
            </a:pPr>
            <a:r>
              <a:rPr lang="en-US" sz="900" baseline="-40000" dirty="0">
                <a:solidFill>
                  <a:srgbClr val="000000"/>
                </a:solidFill>
              </a:rPr>
              <a:t>4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) =</a:t>
            </a:r>
            <a:endParaRPr lang="en-US" sz="1300" dirty="0"/>
          </a:p>
        </p:txBody>
      </p:sp>
      <p:sp>
        <p:nvSpPr>
          <p:cNvPr id="200" name="Shape 148"/>
          <p:cNvSpPr/>
          <p:nvPr/>
        </p:nvSpPr>
        <p:spPr>
          <a:xfrm>
            <a:off x="4152900" y="4368800"/>
            <a:ext cx="0" cy="190500"/>
          </a:xfrm>
          <a:prstGeom prst="line">
            <a:avLst/>
          </a:prstGeom>
          <a:noFill/>
          <a:ln w="12700">
            <a:solidFill>
              <a:srgbClr val="0000FF"/>
            </a:solidFill>
            <a:prstDash val="solid"/>
          </a:ln>
        </p:spPr>
      </p:sp>
      <p:sp>
        <p:nvSpPr>
          <p:cNvPr id="201" name="Shape 149"/>
          <p:cNvSpPr/>
          <p:nvPr/>
        </p:nvSpPr>
        <p:spPr>
          <a:xfrm>
            <a:off x="4813300" y="4368800"/>
            <a:ext cx="0" cy="190500"/>
          </a:xfrm>
          <a:prstGeom prst="line">
            <a:avLst/>
          </a:prstGeom>
          <a:noFill/>
          <a:ln w="12700">
            <a:solidFill>
              <a:srgbClr val="0000FF"/>
            </a:solidFill>
            <a:prstDash val="solid"/>
          </a:ln>
        </p:spPr>
      </p:sp>
      <p:sp>
        <p:nvSpPr>
          <p:cNvPr id="202" name="Text 150"/>
          <p:cNvSpPr txBox="1"/>
          <p:nvPr/>
        </p:nvSpPr>
        <p:spPr>
          <a:xfrm>
            <a:off x="4191000" y="4394200"/>
            <a:ext cx="1778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203" name="Text 151"/>
          <p:cNvSpPr txBox="1"/>
          <p:nvPr/>
        </p:nvSpPr>
        <p:spPr>
          <a:xfrm>
            <a:off x="4413250" y="4394200"/>
            <a:ext cx="1778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04" name="Text 152"/>
          <p:cNvSpPr txBox="1"/>
          <p:nvPr/>
        </p:nvSpPr>
        <p:spPr>
          <a:xfrm>
            <a:off x="4635500" y="4394200"/>
            <a:ext cx="1778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pic>
        <p:nvPicPr>
          <p:cNvPr id="205" name="Image 50" descr="/home/ahmed/Projects/ai_llm_slides/videos/machine-learning/03_ridger_regression_gradient_descent/recreated_pptx/build/assets/parens042/paren_tall_green_lp.png">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4946513" y="4402438"/>
            <a:ext cx="43134" cy="507199"/>
          </a:xfrm>
          <a:prstGeom prst="rect">
            <a:avLst/>
          </a:prstGeom>
        </p:spPr>
      </p:pic>
      <p:pic>
        <p:nvPicPr>
          <p:cNvPr id="206" name="Image 51" descr="/home/ahmed/Projects/ai_llm_slides/videos/machine-learning/03_ridger_regression_gradient_descent/recreated_pptx/build/assets/parens042/paren_tall_green_rp.png">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5146440" y="4402438"/>
            <a:ext cx="43134" cy="507199"/>
          </a:xfrm>
          <a:prstGeom prst="rect">
            <a:avLst/>
          </a:prstGeom>
        </p:spPr>
      </p:pic>
      <p:sp>
        <p:nvSpPr>
          <p:cNvPr id="207" name="Text 153"/>
          <p:cNvSpPr txBox="1"/>
          <p:nvPr/>
        </p:nvSpPr>
        <p:spPr>
          <a:xfrm>
            <a:off x="5007610" y="4394200"/>
            <a:ext cx="11938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A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208" name="Text 154"/>
          <p:cNvSpPr txBox="1"/>
          <p:nvPr/>
        </p:nvSpPr>
        <p:spPr>
          <a:xfrm>
            <a:off x="5007610" y="4584700"/>
            <a:ext cx="11938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A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000" dirty="0"/>
          </a:p>
        </p:txBody>
      </p:sp>
      <p:sp>
        <p:nvSpPr>
          <p:cNvPr id="209" name="Text 155"/>
          <p:cNvSpPr txBox="1"/>
          <p:nvPr/>
        </p:nvSpPr>
        <p:spPr>
          <a:xfrm>
            <a:off x="5007610" y="4775200"/>
            <a:ext cx="11938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A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000" dirty="0"/>
          </a:p>
        </p:txBody>
      </p:sp>
      <p:sp>
        <p:nvSpPr>
          <p:cNvPr id="210" name="Text 156"/>
          <p:cNvSpPr txBox="1"/>
          <p:nvPr/>
        </p:nvSpPr>
        <p:spPr>
          <a:xfrm>
            <a:off x="5162550" y="4546600"/>
            <a:ext cx="711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6</a:t>
            </a:r>
            <a:endParaRPr lang="en-US" sz="1200" dirty="0"/>
          </a:p>
        </p:txBody>
      </p:sp>
      <p:sp>
        <p:nvSpPr>
          <p:cNvPr id="211" name="Text 157"/>
          <p:cNvSpPr txBox="1"/>
          <p:nvPr/>
        </p:nvSpPr>
        <p:spPr>
          <a:xfrm>
            <a:off x="6007100" y="4546600"/>
            <a:ext cx="203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⇒</a:t>
            </a:r>
            <a:endParaRPr lang="en-US" sz="1200" dirty="0"/>
          </a:p>
        </p:txBody>
      </p:sp>
      <p:sp>
        <p:nvSpPr>
          <p:cNvPr id="212" name="Text 158"/>
          <p:cNvSpPr txBox="1"/>
          <p:nvPr/>
        </p:nvSpPr>
        <p:spPr>
          <a:xfrm>
            <a:off x="6286500" y="4546600"/>
            <a:ext cx="1778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Weight</a:t>
            </a:r>
            <a:endParaRPr lang="en-US" sz="1300" dirty="0"/>
          </a:p>
        </p:txBody>
      </p:sp>
      <p:sp>
        <p:nvSpPr>
          <p:cNvPr id="213" name="Text 159"/>
          <p:cNvSpPr/>
          <p:nvPr/>
        </p:nvSpPr>
        <p:spPr>
          <a:xfrm>
            <a:off x="7734300" y="4546600"/>
            <a:ext cx="381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</a:t>
            </a:r>
            <a:endParaRPr lang="en-US" sz="1100" dirty="0"/>
          </a:p>
        </p:txBody>
      </p:sp>
      <p:pic>
        <p:nvPicPr>
          <p:cNvPr id="214" name="Image 52" descr="/home/ahmed/Projects/ai_llm_slides/videos/machine-learning/03_ridger_regression_gradient_descent/recreated_pptx/build/assets/parens042/paren_tall_lp.png">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8016103" y="4402438"/>
            <a:ext cx="43134" cy="507199"/>
          </a:xfrm>
          <a:prstGeom prst="rect">
            <a:avLst/>
          </a:prstGeom>
        </p:spPr>
      </p:pic>
      <p:pic>
        <p:nvPicPr>
          <p:cNvPr id="215" name="Image 53" descr="/home/ahmed/Projects/ai_llm_slides/videos/machine-learning/03_ridger_regression_gradient_descent/recreated_pptx/build/assets/parens042/paren_tall_rp.png">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8261750" y="4402438"/>
            <a:ext cx="43134" cy="507199"/>
          </a:xfrm>
          <a:prstGeom prst="rect">
            <a:avLst/>
          </a:prstGeom>
        </p:spPr>
      </p:pic>
      <p:sp>
        <p:nvSpPr>
          <p:cNvPr id="216" name="Text 160"/>
          <p:cNvSpPr txBox="1"/>
          <p:nvPr/>
        </p:nvSpPr>
        <p:spPr>
          <a:xfrm>
            <a:off x="8077200" y="4394200"/>
            <a:ext cx="1651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217" name="Text 161"/>
          <p:cNvSpPr txBox="1"/>
          <p:nvPr/>
        </p:nvSpPr>
        <p:spPr>
          <a:xfrm>
            <a:off x="8077200" y="4584700"/>
            <a:ext cx="1651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000" dirty="0"/>
          </a:p>
        </p:txBody>
      </p:sp>
      <p:sp>
        <p:nvSpPr>
          <p:cNvPr id="218" name="Text 162"/>
          <p:cNvSpPr txBox="1"/>
          <p:nvPr/>
        </p:nvSpPr>
        <p:spPr>
          <a:xfrm>
            <a:off x="8077200" y="4775200"/>
            <a:ext cx="1651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000" dirty="0"/>
          </a:p>
        </p:txBody>
      </p:sp>
      <p:sp>
        <p:nvSpPr>
          <p:cNvPr id="219" name="Text 163"/>
          <p:cNvSpPr txBox="1"/>
          <p:nvPr/>
        </p:nvSpPr>
        <p:spPr>
          <a:xfrm>
            <a:off x="8318500" y="4546600"/>
            <a:ext cx="431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- 2 *</a:t>
            </a:r>
            <a:endParaRPr lang="en-US" sz="1100" dirty="0"/>
          </a:p>
        </p:txBody>
      </p:sp>
      <p:pic>
        <p:nvPicPr>
          <p:cNvPr id="220" name="Image 54" descr="/home/ahmed/Projects/ai_llm_slides/videos/machine-learning/03_ridger_regression_gradient_descent/recreated_pptx/build/assets/parens042/paren_tall_lp.png">    </p:cNvPr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8689203" y="4402438"/>
            <a:ext cx="43134" cy="507199"/>
          </a:xfrm>
          <a:prstGeom prst="rect">
            <a:avLst/>
          </a:prstGeom>
        </p:spPr>
      </p:pic>
      <p:pic>
        <p:nvPicPr>
          <p:cNvPr id="221" name="Image 55" descr="/home/ahmed/Projects/ai_llm_slides/videos/machine-learning/03_ridger_regression_gradient_descent/recreated_pptx/build/assets/parens042/paren_tall_rp.png">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8909450" y="4402438"/>
            <a:ext cx="43134" cy="507199"/>
          </a:xfrm>
          <a:prstGeom prst="rect">
            <a:avLst/>
          </a:prstGeom>
        </p:spPr>
      </p:pic>
      <p:sp>
        <p:nvSpPr>
          <p:cNvPr id="222" name="Text 164"/>
          <p:cNvSpPr txBox="1"/>
          <p:nvPr/>
        </p:nvSpPr>
        <p:spPr>
          <a:xfrm>
            <a:off x="8750300" y="4394200"/>
            <a:ext cx="1397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223" name="Text 165"/>
          <p:cNvSpPr txBox="1"/>
          <p:nvPr/>
        </p:nvSpPr>
        <p:spPr>
          <a:xfrm>
            <a:off x="8750300" y="4584700"/>
            <a:ext cx="1397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24" name="Text 166"/>
          <p:cNvSpPr txBox="1"/>
          <p:nvPr/>
        </p:nvSpPr>
        <p:spPr>
          <a:xfrm>
            <a:off x="8750300" y="4775200"/>
            <a:ext cx="1397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25" name="Text 167"/>
          <p:cNvSpPr txBox="1"/>
          <p:nvPr/>
        </p:nvSpPr>
        <p:spPr>
          <a:xfrm>
            <a:off x="8991600" y="4546600"/>
            <a:ext cx="152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1100" dirty="0"/>
          </a:p>
        </p:txBody>
      </p:sp>
      <p:pic>
        <p:nvPicPr>
          <p:cNvPr id="226" name="Image 56" descr="/home/ahmed/Projects/ai_llm_slides/videos/machine-learning/03_ridger_regression_gradient_descent/recreated_pptx/build/assets/parens042/paren_tall_green_lp.png">    </p:cNvPr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9070203" y="4402438"/>
            <a:ext cx="43134" cy="507199"/>
          </a:xfrm>
          <a:prstGeom prst="rect">
            <a:avLst/>
          </a:prstGeom>
        </p:spPr>
      </p:pic>
      <p:pic>
        <p:nvPicPr>
          <p:cNvPr id="227" name="Image 57" descr="/home/ahmed/Projects/ai_llm_slides/videos/machine-learning/03_ridger_regression_gradient_descent/recreated_pptx/build/assets/parens042/paren_tall_green_rp.png">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9531750" y="4402438"/>
            <a:ext cx="43134" cy="507199"/>
          </a:xfrm>
          <a:prstGeom prst="rect">
            <a:avLst/>
          </a:prstGeom>
        </p:spPr>
      </p:pic>
      <p:sp>
        <p:nvSpPr>
          <p:cNvPr id="228" name="Text 168"/>
          <p:cNvSpPr txBox="1"/>
          <p:nvPr/>
        </p:nvSpPr>
        <p:spPr>
          <a:xfrm>
            <a:off x="9131300" y="4394200"/>
            <a:ext cx="3810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A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29" name="Text 169"/>
          <p:cNvSpPr txBox="1"/>
          <p:nvPr/>
        </p:nvSpPr>
        <p:spPr>
          <a:xfrm>
            <a:off x="9131300" y="4584700"/>
            <a:ext cx="3810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A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</a:t>
            </a:r>
            <a:endParaRPr lang="en-US" sz="1000" dirty="0"/>
          </a:p>
        </p:txBody>
      </p:sp>
      <p:sp>
        <p:nvSpPr>
          <p:cNvPr id="230" name="Text 170"/>
          <p:cNvSpPr txBox="1"/>
          <p:nvPr/>
        </p:nvSpPr>
        <p:spPr>
          <a:xfrm>
            <a:off x="9131300" y="4775200"/>
            <a:ext cx="3810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A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-8</a:t>
            </a:r>
            <a:endParaRPr lang="en-US" sz="1000" dirty="0"/>
          </a:p>
        </p:txBody>
      </p:sp>
      <p:sp>
        <p:nvSpPr>
          <p:cNvPr id="231" name="Text 171"/>
          <p:cNvSpPr txBox="1"/>
          <p:nvPr/>
        </p:nvSpPr>
        <p:spPr>
          <a:xfrm>
            <a:off x="9791700" y="4546600"/>
            <a:ext cx="25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⇐</a:t>
            </a:r>
            <a:endParaRPr lang="en-US" sz="1200" dirty="0"/>
          </a:p>
        </p:txBody>
      </p:sp>
      <p:sp>
        <p:nvSpPr>
          <p:cNvPr id="232" name="Text 172"/>
          <p:cNvSpPr/>
          <p:nvPr/>
        </p:nvSpPr>
        <p:spPr>
          <a:xfrm>
            <a:off x="3594100" y="5384800"/>
            <a:ext cx="431800" cy="1778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d(x</a:t>
            </a:r>
            <a:pPr indent="0" marL="0">
              <a:buNone/>
            </a:pPr>
            <a:r>
              <a:rPr lang="en-US" sz="900" baseline="-40000" dirty="0">
                <a:solidFill>
                  <a:srgbClr val="000000"/>
                </a:solidFill>
              </a:rPr>
              <a:t>5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) =</a:t>
            </a:r>
            <a:endParaRPr lang="en-US" sz="1300" dirty="0"/>
          </a:p>
        </p:txBody>
      </p:sp>
      <p:sp>
        <p:nvSpPr>
          <p:cNvPr id="233" name="Shape 173"/>
          <p:cNvSpPr/>
          <p:nvPr/>
        </p:nvSpPr>
        <p:spPr>
          <a:xfrm>
            <a:off x="4152900" y="5207000"/>
            <a:ext cx="0" cy="190500"/>
          </a:xfrm>
          <a:prstGeom prst="line">
            <a:avLst/>
          </a:prstGeom>
          <a:noFill/>
          <a:ln w="12700">
            <a:solidFill>
              <a:srgbClr val="0000FF"/>
            </a:solidFill>
            <a:prstDash val="solid"/>
          </a:ln>
        </p:spPr>
      </p:sp>
      <p:sp>
        <p:nvSpPr>
          <p:cNvPr id="234" name="Shape 174"/>
          <p:cNvSpPr/>
          <p:nvPr/>
        </p:nvSpPr>
        <p:spPr>
          <a:xfrm>
            <a:off x="4813300" y="5207000"/>
            <a:ext cx="0" cy="190500"/>
          </a:xfrm>
          <a:prstGeom prst="line">
            <a:avLst/>
          </a:prstGeom>
          <a:noFill/>
          <a:ln w="12700">
            <a:solidFill>
              <a:srgbClr val="0000FF"/>
            </a:solidFill>
            <a:prstDash val="solid"/>
          </a:ln>
        </p:spPr>
      </p:sp>
      <p:sp>
        <p:nvSpPr>
          <p:cNvPr id="235" name="Text 175"/>
          <p:cNvSpPr txBox="1"/>
          <p:nvPr/>
        </p:nvSpPr>
        <p:spPr>
          <a:xfrm>
            <a:off x="4191000" y="5232400"/>
            <a:ext cx="1778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236" name="Text 176"/>
          <p:cNvSpPr txBox="1"/>
          <p:nvPr/>
        </p:nvSpPr>
        <p:spPr>
          <a:xfrm>
            <a:off x="4413250" y="5232400"/>
            <a:ext cx="1778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237" name="Text 177"/>
          <p:cNvSpPr txBox="1"/>
          <p:nvPr/>
        </p:nvSpPr>
        <p:spPr>
          <a:xfrm>
            <a:off x="4635500" y="5232400"/>
            <a:ext cx="1778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pic>
        <p:nvPicPr>
          <p:cNvPr id="238" name="Image 58" descr="/home/ahmed/Projects/ai_llm_slides/videos/machine-learning/03_ridger_regression_gradient_descent/recreated_pptx/build/assets/parens042/paren_tall_green_lp.png">    </p:cNvPr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4929236" y="5201966"/>
            <a:ext cx="48664" cy="572225"/>
          </a:xfrm>
          <a:prstGeom prst="rect">
            <a:avLst/>
          </a:prstGeom>
        </p:spPr>
      </p:pic>
      <p:pic>
        <p:nvPicPr>
          <p:cNvPr id="239" name="Image 59" descr="/home/ahmed/Projects/ai_llm_slides/videos/machine-learning/03_ridger_regression_gradient_descent/recreated_pptx/build/assets/parens042/paren_tall_green_rp.png">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5229498" y="5201966"/>
            <a:ext cx="48664" cy="572225"/>
          </a:xfrm>
          <a:prstGeom prst="rect">
            <a:avLst/>
          </a:prstGeom>
        </p:spPr>
      </p:pic>
      <p:sp>
        <p:nvSpPr>
          <p:cNvPr id="240" name="Text 178"/>
          <p:cNvSpPr txBox="1"/>
          <p:nvPr/>
        </p:nvSpPr>
        <p:spPr>
          <a:xfrm>
            <a:off x="4994910" y="5219700"/>
            <a:ext cx="2159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A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41" name="Text 179"/>
          <p:cNvSpPr txBox="1"/>
          <p:nvPr/>
        </p:nvSpPr>
        <p:spPr>
          <a:xfrm>
            <a:off x="4994910" y="5422900"/>
            <a:ext cx="2159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A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</a:t>
            </a:r>
            <a:endParaRPr lang="en-US" sz="1000" dirty="0"/>
          </a:p>
        </p:txBody>
      </p:sp>
      <p:sp>
        <p:nvSpPr>
          <p:cNvPr id="242" name="Text 180"/>
          <p:cNvSpPr txBox="1"/>
          <p:nvPr/>
        </p:nvSpPr>
        <p:spPr>
          <a:xfrm>
            <a:off x="4994910" y="5613400"/>
            <a:ext cx="2159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A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-8</a:t>
            </a:r>
            <a:endParaRPr lang="en-US" sz="1000" dirty="0"/>
          </a:p>
        </p:txBody>
      </p:sp>
      <p:sp>
        <p:nvSpPr>
          <p:cNvPr id="243" name="Text 181"/>
          <p:cNvSpPr txBox="1"/>
          <p:nvPr/>
        </p:nvSpPr>
        <p:spPr>
          <a:xfrm>
            <a:off x="5295900" y="5384800"/>
            <a:ext cx="711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-96</a:t>
            </a:r>
            <a:endParaRPr lang="en-US" sz="1200" dirty="0"/>
          </a:p>
        </p:txBody>
      </p:sp>
      <p:sp>
        <p:nvSpPr>
          <p:cNvPr id="244" name="Text 182"/>
          <p:cNvSpPr txBox="1"/>
          <p:nvPr/>
        </p:nvSpPr>
        <p:spPr>
          <a:xfrm>
            <a:off x="6007100" y="5384800"/>
            <a:ext cx="203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⇒</a:t>
            </a:r>
            <a:endParaRPr lang="en-US" sz="1200" dirty="0"/>
          </a:p>
        </p:txBody>
      </p:sp>
      <p:sp>
        <p:nvSpPr>
          <p:cNvPr id="245" name="Text 183"/>
          <p:cNvSpPr txBox="1"/>
          <p:nvPr/>
        </p:nvSpPr>
        <p:spPr>
          <a:xfrm>
            <a:off x="6286500" y="5384800"/>
            <a:ext cx="1778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same Weight</a:t>
            </a:r>
            <a:endParaRPr lang="en-US" sz="1300" dirty="0"/>
          </a:p>
        </p:txBody>
      </p:sp>
      <p:sp>
        <p:nvSpPr>
          <p:cNvPr id="246" name="Text 184"/>
          <p:cNvSpPr/>
          <p:nvPr/>
        </p:nvSpPr>
        <p:spPr>
          <a:xfrm>
            <a:off x="9144000" y="5384800"/>
            <a:ext cx="381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</a:t>
            </a:r>
            <a:endParaRPr lang="en-US" sz="1100" dirty="0"/>
          </a:p>
        </p:txBody>
      </p:sp>
      <p:pic>
        <p:nvPicPr>
          <p:cNvPr id="247" name="Image 60" descr="/home/ahmed/Projects/ai_llm_slides/videos/machine-learning/03_ridger_regression_gradient_descent/recreated_pptx/build/assets/parens042/paren_tall_lp.png">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9433926" y="5201966"/>
            <a:ext cx="48664" cy="572225"/>
          </a:xfrm>
          <a:prstGeom prst="rect">
            <a:avLst/>
          </a:prstGeom>
        </p:spPr>
      </p:pic>
      <p:pic>
        <p:nvPicPr>
          <p:cNvPr id="248" name="Image 61" descr="/home/ahmed/Projects/ai_llm_slides/videos/machine-learning/03_ridger_regression_gradient_descent/recreated_pptx/build/assets/parens042/paren_tall_rp.png">    </p:cNvPr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9848488" y="5201966"/>
            <a:ext cx="48664" cy="572225"/>
          </a:xfrm>
          <a:prstGeom prst="rect">
            <a:avLst/>
          </a:prstGeom>
        </p:spPr>
      </p:pic>
      <p:sp>
        <p:nvSpPr>
          <p:cNvPr id="249" name="Text 185"/>
          <p:cNvSpPr txBox="1"/>
          <p:nvPr/>
        </p:nvSpPr>
        <p:spPr>
          <a:xfrm>
            <a:off x="9499600" y="5219700"/>
            <a:ext cx="3302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50" name="Text 186"/>
          <p:cNvSpPr txBox="1"/>
          <p:nvPr/>
        </p:nvSpPr>
        <p:spPr>
          <a:xfrm>
            <a:off x="9499600" y="5422900"/>
            <a:ext cx="3302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</a:t>
            </a:r>
            <a:endParaRPr lang="en-US" sz="1000" dirty="0"/>
          </a:p>
        </p:txBody>
      </p:sp>
      <p:sp>
        <p:nvSpPr>
          <p:cNvPr id="251" name="Text 187"/>
          <p:cNvSpPr txBox="1"/>
          <p:nvPr/>
        </p:nvSpPr>
        <p:spPr>
          <a:xfrm>
            <a:off x="9499600" y="5613400"/>
            <a:ext cx="3302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-8</a:t>
            </a:r>
            <a:endParaRPr lang="en-US" sz="1000" dirty="0"/>
          </a:p>
        </p:txBody>
      </p:sp>
      <p:sp>
        <p:nvSpPr>
          <p:cNvPr id="252" name="Text 188"/>
          <p:cNvSpPr/>
          <p:nvPr/>
        </p:nvSpPr>
        <p:spPr>
          <a:xfrm>
            <a:off x="3594100" y="6223000"/>
            <a:ext cx="431800" cy="1778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d(x</a:t>
            </a:r>
            <a:pPr indent="0" marL="0">
              <a:buNone/>
            </a:pPr>
            <a:r>
              <a:rPr lang="en-US" sz="900" baseline="-40000" dirty="0">
                <a:solidFill>
                  <a:srgbClr val="000000"/>
                </a:solidFill>
              </a:rPr>
              <a:t>6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) =</a:t>
            </a:r>
            <a:endParaRPr lang="en-US" sz="1300" dirty="0"/>
          </a:p>
        </p:txBody>
      </p:sp>
      <p:sp>
        <p:nvSpPr>
          <p:cNvPr id="253" name="Shape 189"/>
          <p:cNvSpPr/>
          <p:nvPr/>
        </p:nvSpPr>
        <p:spPr>
          <a:xfrm>
            <a:off x="4152900" y="6045200"/>
            <a:ext cx="0" cy="190500"/>
          </a:xfrm>
          <a:prstGeom prst="line">
            <a:avLst/>
          </a:prstGeom>
          <a:noFill/>
          <a:ln w="12700">
            <a:solidFill>
              <a:srgbClr val="0000FF"/>
            </a:solidFill>
            <a:prstDash val="solid"/>
          </a:ln>
        </p:spPr>
      </p:sp>
      <p:sp>
        <p:nvSpPr>
          <p:cNvPr id="254" name="Shape 190"/>
          <p:cNvSpPr/>
          <p:nvPr/>
        </p:nvSpPr>
        <p:spPr>
          <a:xfrm>
            <a:off x="4813300" y="6045200"/>
            <a:ext cx="0" cy="190500"/>
          </a:xfrm>
          <a:prstGeom prst="line">
            <a:avLst/>
          </a:prstGeom>
          <a:noFill/>
          <a:ln w="12700">
            <a:solidFill>
              <a:srgbClr val="0000FF"/>
            </a:solidFill>
            <a:prstDash val="solid"/>
          </a:ln>
        </p:spPr>
      </p:sp>
      <p:sp>
        <p:nvSpPr>
          <p:cNvPr id="255" name="Text 191"/>
          <p:cNvSpPr txBox="1"/>
          <p:nvPr/>
        </p:nvSpPr>
        <p:spPr>
          <a:xfrm>
            <a:off x="4191000" y="6070600"/>
            <a:ext cx="1778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256" name="Text 192"/>
          <p:cNvSpPr txBox="1"/>
          <p:nvPr/>
        </p:nvSpPr>
        <p:spPr>
          <a:xfrm>
            <a:off x="4413250" y="6070600"/>
            <a:ext cx="1778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257" name="Text 193"/>
          <p:cNvSpPr txBox="1"/>
          <p:nvPr/>
        </p:nvSpPr>
        <p:spPr>
          <a:xfrm>
            <a:off x="4635500" y="6070600"/>
            <a:ext cx="1778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pic>
        <p:nvPicPr>
          <p:cNvPr id="258" name="Image 62" descr="/home/ahmed/Projects/ai_llm_slides/videos/machine-learning/03_ridger_regression_gradient_descent/recreated_pptx/build/assets/parens042/paren_tall_green_lp.png">    </p:cNvPr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4927405" y="6039937"/>
            <a:ext cx="50876" cy="598235"/>
          </a:xfrm>
          <a:prstGeom prst="rect">
            <a:avLst/>
          </a:prstGeom>
        </p:spPr>
      </p:pic>
      <p:pic>
        <p:nvPicPr>
          <p:cNvPr id="259" name="Image 63" descr="/home/ahmed/Projects/ai_llm_slides/videos/machine-learning/03_ridger_regression_gradient_descent/recreated_pptx/build/assets/parens042/paren_tall_green_rp.png">    </p:cNvPr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5229193" y="6039937"/>
            <a:ext cx="50876" cy="598235"/>
          </a:xfrm>
          <a:prstGeom prst="rect">
            <a:avLst/>
          </a:prstGeom>
        </p:spPr>
      </p:pic>
      <p:sp>
        <p:nvSpPr>
          <p:cNvPr id="260" name="Text 194"/>
          <p:cNvSpPr txBox="1"/>
          <p:nvPr/>
        </p:nvSpPr>
        <p:spPr>
          <a:xfrm>
            <a:off x="4994910" y="6057900"/>
            <a:ext cx="2159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A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61" name="Text 195"/>
          <p:cNvSpPr txBox="1"/>
          <p:nvPr/>
        </p:nvSpPr>
        <p:spPr>
          <a:xfrm>
            <a:off x="4994910" y="6261100"/>
            <a:ext cx="2159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A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</a:t>
            </a:r>
            <a:endParaRPr lang="en-US" sz="1000" dirty="0"/>
          </a:p>
        </p:txBody>
      </p:sp>
      <p:sp>
        <p:nvSpPr>
          <p:cNvPr id="262" name="Text 196"/>
          <p:cNvSpPr txBox="1"/>
          <p:nvPr/>
        </p:nvSpPr>
        <p:spPr>
          <a:xfrm>
            <a:off x="4994910" y="6451600"/>
            <a:ext cx="2159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A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-8</a:t>
            </a:r>
            <a:endParaRPr lang="en-US" sz="1000" dirty="0"/>
          </a:p>
        </p:txBody>
      </p:sp>
      <p:sp>
        <p:nvSpPr>
          <p:cNvPr id="263" name="Text 197"/>
          <p:cNvSpPr txBox="1"/>
          <p:nvPr/>
        </p:nvSpPr>
        <p:spPr>
          <a:xfrm>
            <a:off x="5295900" y="6223000"/>
            <a:ext cx="711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-104</a:t>
            </a:r>
            <a:endParaRPr lang="en-US" sz="1200" dirty="0"/>
          </a:p>
        </p:txBody>
      </p:sp>
      <p:sp>
        <p:nvSpPr>
          <p:cNvPr id="264" name="Text 198"/>
          <p:cNvSpPr txBox="1"/>
          <p:nvPr/>
        </p:nvSpPr>
        <p:spPr>
          <a:xfrm>
            <a:off x="6007100" y="6223000"/>
            <a:ext cx="203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⇒</a:t>
            </a:r>
            <a:endParaRPr lang="en-US" sz="1200" dirty="0"/>
          </a:p>
        </p:txBody>
      </p:sp>
      <p:sp>
        <p:nvSpPr>
          <p:cNvPr id="265" name="Text 199"/>
          <p:cNvSpPr txBox="1"/>
          <p:nvPr/>
        </p:nvSpPr>
        <p:spPr>
          <a:xfrm>
            <a:off x="6286500" y="6223000"/>
            <a:ext cx="1778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same Weight</a:t>
            </a:r>
            <a:endParaRPr lang="en-US" sz="1300" dirty="0"/>
          </a:p>
        </p:txBody>
      </p:sp>
      <p:sp>
        <p:nvSpPr>
          <p:cNvPr id="266" name="Text 200"/>
          <p:cNvSpPr/>
          <p:nvPr/>
        </p:nvSpPr>
        <p:spPr>
          <a:xfrm>
            <a:off x="9207500" y="6223000"/>
            <a:ext cx="381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</a:t>
            </a:r>
            <a:endParaRPr lang="en-US" sz="1100" dirty="0"/>
          </a:p>
        </p:txBody>
      </p:sp>
      <p:pic>
        <p:nvPicPr>
          <p:cNvPr id="267" name="Image 64" descr="/home/ahmed/Projects/ai_llm_slides/videos/machine-learning/03_ridger_regression_gradient_descent/recreated_pptx/build/assets/parens042/paren_tall_lp.png">    </p:cNvPr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9508295" y="6039937"/>
            <a:ext cx="50876" cy="598235"/>
          </a:xfrm>
          <a:prstGeom prst="rect">
            <a:avLst/>
          </a:prstGeom>
        </p:spPr>
      </p:pic>
      <p:pic>
        <p:nvPicPr>
          <p:cNvPr id="268" name="Image 65" descr="/home/ahmed/Projects/ai_llm_slides/videos/machine-learning/03_ridger_regression_gradient_descent/recreated_pptx/build/assets/parens042/paren_tall_rp.png">    </p:cNvPr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9924383" y="6039937"/>
            <a:ext cx="50876" cy="598235"/>
          </a:xfrm>
          <a:prstGeom prst="rect">
            <a:avLst/>
          </a:prstGeom>
        </p:spPr>
      </p:pic>
      <p:sp>
        <p:nvSpPr>
          <p:cNvPr id="269" name="Text 201"/>
          <p:cNvSpPr txBox="1"/>
          <p:nvPr/>
        </p:nvSpPr>
        <p:spPr>
          <a:xfrm>
            <a:off x="9575800" y="6057900"/>
            <a:ext cx="3302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70" name="Text 202"/>
          <p:cNvSpPr txBox="1"/>
          <p:nvPr/>
        </p:nvSpPr>
        <p:spPr>
          <a:xfrm>
            <a:off x="9575800" y="6261100"/>
            <a:ext cx="3302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</a:t>
            </a:r>
            <a:endParaRPr lang="en-US" sz="1000" dirty="0"/>
          </a:p>
        </p:txBody>
      </p:sp>
      <p:sp>
        <p:nvSpPr>
          <p:cNvPr id="271" name="Text 203"/>
          <p:cNvSpPr txBox="1"/>
          <p:nvPr/>
        </p:nvSpPr>
        <p:spPr>
          <a:xfrm>
            <a:off x="9575800" y="6451600"/>
            <a:ext cx="3302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2026-10-25T20:26:00Z</dcterms:created>
  <dcterms:modified xsi:type="dcterms:W3CDTF">2026-10-25T20:26:00Z</dcterms:modified>
</cp:coreProperties>
</file>