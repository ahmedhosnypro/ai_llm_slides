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93100" cy="977900"/>
          </a:xfrm>
          <a:prstGeom prst="rect">
            <a:avLst/>
          </a:prstGeom>
          <a:solidFill>
            <a:srgbClr val="FEFFE8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67100" y="2717800"/>
            <a:ext cx="7378700" cy="6223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67100" y="3467100"/>
            <a:ext cx="73787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67100" y="4318000"/>
            <a:ext cx="7378700" cy="6985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67100" y="5156200"/>
            <a:ext cx="73787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67100" y="5994400"/>
            <a:ext cx="73787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2200" y="800100"/>
            <a:ext cx="2286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x1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800100"/>
            <a:ext cx="2286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651000" y="800100"/>
            <a:ext cx="2286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930400" y="800100"/>
            <a:ext cx="2286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222500" y="800100"/>
            <a:ext cx="2286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x5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501900" y="800100"/>
            <a:ext cx="2286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x6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6680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6680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34620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34620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62560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62560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90500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90500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19710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219710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47650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247650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092200" y="13843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13843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651000" y="13843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930400" y="13843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222500" y="13843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2501900" y="13843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3035300" y="138430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3327400" y="901700"/>
            <a:ext cx="88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W =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191000" y="800100"/>
            <a:ext cx="0" cy="4953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9900" y="800100"/>
            <a:ext cx="0" cy="4953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203700" y="800100"/>
            <a:ext cx="762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191000" y="1295400"/>
            <a:ext cx="762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432300" y="800100"/>
            <a:ext cx="0" cy="4953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21200" y="800100"/>
            <a:ext cx="0" cy="4953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45000" y="800100"/>
            <a:ext cx="762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32300" y="1295400"/>
            <a:ext cx="762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330700" y="8382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4305300" y="1016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622800" y="800100"/>
            <a:ext cx="9398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η = 2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6299200" y="9398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518400" y="787400"/>
            <a:ext cx="228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Z1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7823200" y="787400"/>
            <a:ext cx="228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Z1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8077200" y="787400"/>
            <a:ext cx="228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Z1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7493000" y="10414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7493000" y="12062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7797800" y="10414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7797800" y="12062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8051800" y="10414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8051800" y="12062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3263900" y="1371600"/>
            <a:ext cx="114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 positive, 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3937000" y="1371600"/>
            <a:ext cx="114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191000" y="1371600"/>
            <a:ext cx="114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negative, 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5003800" y="1371600"/>
            <a:ext cx="114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435600" y="1371600"/>
            <a:ext cx="114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1003300" y="1905000"/>
            <a:ext cx="2133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Vectors (From Top)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1193800" y="2082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1473200" y="2082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1752600" y="2082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0" name="Text 68"/>
          <p:cNvSpPr txBox="1"/>
          <p:nvPr/>
        </p:nvSpPr>
        <p:spPr>
          <a:xfrm>
            <a:off x="2044700" y="2082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2324100" y="2082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2616200" y="2082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11938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4" name="Text 72"/>
          <p:cNvSpPr txBox="1"/>
          <p:nvPr/>
        </p:nvSpPr>
        <p:spPr>
          <a:xfrm>
            <a:off x="14732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5" name="Text 73"/>
          <p:cNvSpPr txBox="1"/>
          <p:nvPr/>
        </p:nvSpPr>
        <p:spPr>
          <a:xfrm>
            <a:off x="17526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20447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7" name="Text 75"/>
          <p:cNvSpPr txBox="1"/>
          <p:nvPr/>
        </p:nvSpPr>
        <p:spPr>
          <a:xfrm>
            <a:off x="23241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26162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9" name="Text 77"/>
          <p:cNvSpPr txBox="1"/>
          <p:nvPr/>
        </p:nvSpPr>
        <p:spPr>
          <a:xfrm>
            <a:off x="1193800" y="24765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1473200" y="24765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1" name="Text 79"/>
          <p:cNvSpPr txBox="1"/>
          <p:nvPr/>
        </p:nvSpPr>
        <p:spPr>
          <a:xfrm>
            <a:off x="1752600" y="24765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2044700" y="24765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2324100" y="24765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4" name="Text 82"/>
          <p:cNvSpPr txBox="1"/>
          <p:nvPr/>
        </p:nvSpPr>
        <p:spPr>
          <a:xfrm>
            <a:off x="2616200" y="24765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5" name="Text 83"/>
          <p:cNvSpPr txBox="1"/>
          <p:nvPr/>
        </p:nvSpPr>
        <p:spPr>
          <a:xfrm>
            <a:off x="1193800" y="26924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1473200" y="26924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87" name="Text 85"/>
          <p:cNvSpPr txBox="1"/>
          <p:nvPr/>
        </p:nvSpPr>
        <p:spPr>
          <a:xfrm>
            <a:off x="1752600" y="26924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8" name="Text 86"/>
          <p:cNvSpPr txBox="1"/>
          <p:nvPr/>
        </p:nvSpPr>
        <p:spPr>
          <a:xfrm>
            <a:off x="2044700" y="26924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89" name="Text 87"/>
          <p:cNvSpPr txBox="1"/>
          <p:nvPr/>
        </p:nvSpPr>
        <p:spPr>
          <a:xfrm>
            <a:off x="2324100" y="26924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90" name="Text 88"/>
          <p:cNvSpPr txBox="1"/>
          <p:nvPr/>
        </p:nvSpPr>
        <p:spPr>
          <a:xfrm>
            <a:off x="2616200" y="26924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1181100" y="2108200"/>
            <a:ext cx="0" cy="7112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358900" y="2108200"/>
            <a:ext cx="0" cy="7112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193800" y="2108200"/>
            <a:ext cx="7620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270000" y="2819400"/>
            <a:ext cx="7620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460500" y="2108200"/>
            <a:ext cx="0" cy="7112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625600" y="2108200"/>
            <a:ext cx="0" cy="7112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473200" y="2108200"/>
            <a:ext cx="7620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536700" y="2819400"/>
            <a:ext cx="7620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739900" y="2108200"/>
            <a:ext cx="0" cy="7112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905000" y="2108200"/>
            <a:ext cx="0" cy="7112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752600" y="2108200"/>
            <a:ext cx="7620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816100" y="2819400"/>
            <a:ext cx="7620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197100" y="2108200"/>
            <a:ext cx="0" cy="7112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311400" y="2108200"/>
            <a:ext cx="0" cy="7112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209800" y="2108200"/>
            <a:ext cx="7620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222500" y="2819400"/>
            <a:ext cx="7620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603500" y="2108200"/>
            <a:ext cx="0" cy="7112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768600" y="2108200"/>
            <a:ext cx="0" cy="7112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616200" y="2108200"/>
            <a:ext cx="7620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679700" y="2819400"/>
            <a:ext cx="7620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079500" y="2921000"/>
            <a:ext cx="254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000" dirty="0"/>
          </a:p>
        </p:txBody>
      </p:sp>
      <p:sp>
        <p:nvSpPr>
          <p:cNvPr id="112" name="Text 110"/>
          <p:cNvSpPr txBox="1"/>
          <p:nvPr/>
        </p:nvSpPr>
        <p:spPr>
          <a:xfrm>
            <a:off x="1358900" y="2921000"/>
            <a:ext cx="254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000" dirty="0"/>
          </a:p>
        </p:txBody>
      </p:sp>
      <p:sp>
        <p:nvSpPr>
          <p:cNvPr id="113" name="Text 111"/>
          <p:cNvSpPr txBox="1"/>
          <p:nvPr/>
        </p:nvSpPr>
        <p:spPr>
          <a:xfrm>
            <a:off x="1638300" y="2921000"/>
            <a:ext cx="254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000" dirty="0"/>
          </a:p>
        </p:txBody>
      </p:sp>
      <p:sp>
        <p:nvSpPr>
          <p:cNvPr id="114" name="Text 112"/>
          <p:cNvSpPr txBox="1"/>
          <p:nvPr/>
        </p:nvSpPr>
        <p:spPr>
          <a:xfrm>
            <a:off x="1917700" y="2921000"/>
            <a:ext cx="254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000" dirty="0"/>
          </a:p>
        </p:txBody>
      </p:sp>
      <p:sp>
        <p:nvSpPr>
          <p:cNvPr id="115" name="Text 113"/>
          <p:cNvSpPr txBox="1"/>
          <p:nvPr/>
        </p:nvSpPr>
        <p:spPr>
          <a:xfrm>
            <a:off x="2209800" y="2921000"/>
            <a:ext cx="254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2489200" y="2921000"/>
            <a:ext cx="254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1066800" y="3517900"/>
            <a:ext cx="1663700" cy="3683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244600" y="3594100"/>
            <a:ext cx="1320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1</a:t>
            </a:r>
            <a:endParaRPr lang="en-US" sz="1500" dirty="0"/>
          </a:p>
        </p:txBody>
      </p:sp>
      <p:sp>
        <p:nvSpPr>
          <p:cNvPr id="119" name="Text 117"/>
          <p:cNvSpPr txBox="1"/>
          <p:nvPr/>
        </p:nvSpPr>
        <p:spPr>
          <a:xfrm>
            <a:off x="3594100" y="29083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endParaRPr lang="en-US" sz="1400" dirty="0"/>
          </a:p>
        </p:txBody>
      </p:sp>
      <p:sp>
        <p:nvSpPr>
          <p:cNvPr id="120" name="Text 118"/>
          <p:cNvSpPr txBox="1"/>
          <p:nvPr/>
        </p:nvSpPr>
        <p:spPr>
          <a:xfrm>
            <a:off x="3784600" y="29464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21" name="Text 119"/>
          <p:cNvSpPr txBox="1"/>
          <p:nvPr/>
        </p:nvSpPr>
        <p:spPr>
          <a:xfrm>
            <a:off x="3848100" y="29083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400" dirty="0"/>
          </a:p>
        </p:txBody>
      </p:sp>
      <p:sp>
        <p:nvSpPr>
          <p:cNvPr id="122" name="Text 120"/>
          <p:cNvSpPr txBox="1"/>
          <p:nvPr/>
        </p:nvSpPr>
        <p:spPr>
          <a:xfrm>
            <a:off x="6210300" y="29083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3" name="Text 121"/>
          <p:cNvSpPr txBox="1"/>
          <p:nvPr/>
        </p:nvSpPr>
        <p:spPr>
          <a:xfrm>
            <a:off x="6515100" y="29083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4" name="Text 122"/>
          <p:cNvSpPr txBox="1"/>
          <p:nvPr/>
        </p:nvSpPr>
        <p:spPr>
          <a:xfrm>
            <a:off x="6819900" y="29083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5" name="Text 123"/>
          <p:cNvSpPr txBox="1"/>
          <p:nvPr/>
        </p:nvSpPr>
        <p:spPr>
          <a:xfrm>
            <a:off x="7124700" y="29083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26" name="Text 124"/>
          <p:cNvSpPr txBox="1"/>
          <p:nvPr/>
        </p:nvSpPr>
        <p:spPr>
          <a:xfrm>
            <a:off x="6210300" y="29972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100" dirty="0"/>
          </a:p>
        </p:txBody>
      </p:sp>
      <p:sp>
        <p:nvSpPr>
          <p:cNvPr id="127" name="Text 125"/>
          <p:cNvSpPr txBox="1"/>
          <p:nvPr/>
        </p:nvSpPr>
        <p:spPr>
          <a:xfrm>
            <a:off x="6515100" y="29972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128" name="Text 126"/>
          <p:cNvSpPr txBox="1"/>
          <p:nvPr/>
        </p:nvSpPr>
        <p:spPr>
          <a:xfrm>
            <a:off x="7747000" y="2908300"/>
            <a:ext cx="66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0</a:t>
            </a:r>
            <a:endParaRPr lang="en-US" sz="1400" dirty="0"/>
          </a:p>
        </p:txBody>
      </p:sp>
      <p:sp>
        <p:nvSpPr>
          <p:cNvPr id="129" name="Text 127"/>
          <p:cNvSpPr txBox="1"/>
          <p:nvPr/>
        </p:nvSpPr>
        <p:spPr>
          <a:xfrm>
            <a:off x="8407400" y="29083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400" dirty="0"/>
          </a:p>
        </p:txBody>
      </p:sp>
      <p:sp>
        <p:nvSpPr>
          <p:cNvPr id="130" name="Text 128"/>
          <p:cNvSpPr txBox="1"/>
          <p:nvPr/>
        </p:nvSpPr>
        <p:spPr>
          <a:xfrm>
            <a:off x="8737600" y="2908300"/>
            <a:ext cx="187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Weight</a:t>
            </a:r>
            <a:endParaRPr lang="en-US" sz="1600" dirty="0"/>
          </a:p>
        </p:txBody>
      </p:sp>
      <p:sp>
        <p:nvSpPr>
          <p:cNvPr id="131" name="Text 129"/>
          <p:cNvSpPr txBox="1"/>
          <p:nvPr/>
        </p:nvSpPr>
        <p:spPr>
          <a:xfrm>
            <a:off x="4826000" y="29083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pic>
        <p:nvPicPr>
          <p:cNvPr id="132" name="Image 0" descr="/workspaces/codespaces-blank/ai_llm_slides/videos/machine-learning/03_ridger_regression_gradient_descent/recreated_pptx/build/assets/eq_042_w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76800" y="3136900"/>
            <a:ext cx="3148581" cy="182880"/>
          </a:xfrm>
          <a:prstGeom prst="rect">
            <a:avLst/>
          </a:prstGeom>
        </p:spPr>
      </p:pic>
      <p:sp>
        <p:nvSpPr>
          <p:cNvPr id="133" name="Text 130"/>
          <p:cNvSpPr txBox="1"/>
          <p:nvPr/>
        </p:nvSpPr>
        <p:spPr>
          <a:xfrm>
            <a:off x="4826000" y="3149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sp>
        <p:nvSpPr>
          <p:cNvPr id="134" name="Text 131"/>
          <p:cNvSpPr txBox="1"/>
          <p:nvPr/>
        </p:nvSpPr>
        <p:spPr>
          <a:xfrm>
            <a:off x="9347200" y="29083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sp>
        <p:nvSpPr>
          <p:cNvPr id="135" name="Text 132"/>
          <p:cNvSpPr txBox="1"/>
          <p:nvPr/>
        </p:nvSpPr>
        <p:spPr>
          <a:xfrm>
            <a:off x="3594100" y="37084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endParaRPr lang="en-US" sz="1400" dirty="0"/>
          </a:p>
        </p:txBody>
      </p:sp>
      <p:sp>
        <p:nvSpPr>
          <p:cNvPr id="136" name="Text 133"/>
          <p:cNvSpPr txBox="1"/>
          <p:nvPr/>
        </p:nvSpPr>
        <p:spPr>
          <a:xfrm>
            <a:off x="3784600" y="37465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37" name="Text 134"/>
          <p:cNvSpPr txBox="1"/>
          <p:nvPr/>
        </p:nvSpPr>
        <p:spPr>
          <a:xfrm>
            <a:off x="3848100" y="37084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400" dirty="0"/>
          </a:p>
        </p:txBody>
      </p:sp>
      <p:sp>
        <p:nvSpPr>
          <p:cNvPr id="138" name="Text 135"/>
          <p:cNvSpPr txBox="1"/>
          <p:nvPr/>
        </p:nvSpPr>
        <p:spPr>
          <a:xfrm>
            <a:off x="6210300" y="37084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39" name="Text 136"/>
          <p:cNvSpPr txBox="1"/>
          <p:nvPr/>
        </p:nvSpPr>
        <p:spPr>
          <a:xfrm>
            <a:off x="6515100" y="37084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0" name="Text 137"/>
          <p:cNvSpPr txBox="1"/>
          <p:nvPr/>
        </p:nvSpPr>
        <p:spPr>
          <a:xfrm>
            <a:off x="6819900" y="37084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41" name="Text 138"/>
          <p:cNvSpPr txBox="1"/>
          <p:nvPr/>
        </p:nvSpPr>
        <p:spPr>
          <a:xfrm>
            <a:off x="7124700" y="37084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42" name="Text 139"/>
          <p:cNvSpPr txBox="1"/>
          <p:nvPr/>
        </p:nvSpPr>
        <p:spPr>
          <a:xfrm>
            <a:off x="6210300" y="37973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143" name="Text 140"/>
          <p:cNvSpPr txBox="1"/>
          <p:nvPr/>
        </p:nvSpPr>
        <p:spPr>
          <a:xfrm>
            <a:off x="6515100" y="37973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144" name="Text 141"/>
          <p:cNvSpPr txBox="1"/>
          <p:nvPr/>
        </p:nvSpPr>
        <p:spPr>
          <a:xfrm>
            <a:off x="7747000" y="3708400"/>
            <a:ext cx="66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6</a:t>
            </a:r>
            <a:endParaRPr lang="en-US" sz="1400" dirty="0"/>
          </a:p>
        </p:txBody>
      </p:sp>
      <p:sp>
        <p:nvSpPr>
          <p:cNvPr id="145" name="Text 142"/>
          <p:cNvSpPr txBox="1"/>
          <p:nvPr/>
        </p:nvSpPr>
        <p:spPr>
          <a:xfrm>
            <a:off x="8407400" y="37084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400" dirty="0"/>
          </a:p>
        </p:txBody>
      </p:sp>
      <p:sp>
        <p:nvSpPr>
          <p:cNvPr id="146" name="Text 143"/>
          <p:cNvSpPr txBox="1"/>
          <p:nvPr/>
        </p:nvSpPr>
        <p:spPr>
          <a:xfrm>
            <a:off x="8737600" y="3708400"/>
            <a:ext cx="187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600" dirty="0"/>
          </a:p>
        </p:txBody>
      </p:sp>
      <p:sp>
        <p:nvSpPr>
          <p:cNvPr id="147" name="Text 144"/>
          <p:cNvSpPr txBox="1"/>
          <p:nvPr/>
        </p:nvSpPr>
        <p:spPr>
          <a:xfrm>
            <a:off x="4826000" y="3708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pic>
        <p:nvPicPr>
          <p:cNvPr id="148" name="Image 1" descr="/workspaces/codespaces-blank/ai_llm_slides/videos/machine-learning/03_ridger_regression_gradient_descent/recreated_pptx/build/assets/eq_042_w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0" y="3937000"/>
            <a:ext cx="1182621" cy="182880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826000" y="39497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sp>
        <p:nvSpPr>
          <p:cNvPr id="150" name="Text 146"/>
          <p:cNvSpPr txBox="1"/>
          <p:nvPr/>
        </p:nvSpPr>
        <p:spPr>
          <a:xfrm>
            <a:off x="3594100" y="45466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endParaRPr lang="en-US" sz="1400" dirty="0"/>
          </a:p>
        </p:txBody>
      </p:sp>
      <p:sp>
        <p:nvSpPr>
          <p:cNvPr id="151" name="Text 147"/>
          <p:cNvSpPr txBox="1"/>
          <p:nvPr/>
        </p:nvSpPr>
        <p:spPr>
          <a:xfrm>
            <a:off x="3784600" y="45847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52" name="Text 148"/>
          <p:cNvSpPr txBox="1"/>
          <p:nvPr/>
        </p:nvSpPr>
        <p:spPr>
          <a:xfrm>
            <a:off x="3848100" y="45466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400" dirty="0"/>
          </a:p>
        </p:txBody>
      </p:sp>
      <p:sp>
        <p:nvSpPr>
          <p:cNvPr id="153" name="Text 149"/>
          <p:cNvSpPr txBox="1"/>
          <p:nvPr/>
        </p:nvSpPr>
        <p:spPr>
          <a:xfrm>
            <a:off x="6210300" y="45466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54" name="Text 150"/>
          <p:cNvSpPr txBox="1"/>
          <p:nvPr/>
        </p:nvSpPr>
        <p:spPr>
          <a:xfrm>
            <a:off x="6515100" y="45466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55" name="Text 151"/>
          <p:cNvSpPr txBox="1"/>
          <p:nvPr/>
        </p:nvSpPr>
        <p:spPr>
          <a:xfrm>
            <a:off x="6819900" y="45466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6" name="Text 152"/>
          <p:cNvSpPr txBox="1"/>
          <p:nvPr/>
        </p:nvSpPr>
        <p:spPr>
          <a:xfrm>
            <a:off x="6210300" y="46355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157" name="Text 153"/>
          <p:cNvSpPr txBox="1"/>
          <p:nvPr/>
        </p:nvSpPr>
        <p:spPr>
          <a:xfrm>
            <a:off x="6515100" y="46355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158" name="Text 154"/>
          <p:cNvSpPr txBox="1"/>
          <p:nvPr/>
        </p:nvSpPr>
        <p:spPr>
          <a:xfrm>
            <a:off x="7747000" y="4546600"/>
            <a:ext cx="66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6</a:t>
            </a:r>
            <a:endParaRPr lang="en-US" sz="1400" dirty="0"/>
          </a:p>
        </p:txBody>
      </p:sp>
      <p:sp>
        <p:nvSpPr>
          <p:cNvPr id="159" name="Text 155"/>
          <p:cNvSpPr txBox="1"/>
          <p:nvPr/>
        </p:nvSpPr>
        <p:spPr>
          <a:xfrm>
            <a:off x="8407400" y="45466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400" dirty="0"/>
          </a:p>
        </p:txBody>
      </p:sp>
      <p:sp>
        <p:nvSpPr>
          <p:cNvPr id="160" name="Text 156"/>
          <p:cNvSpPr txBox="1"/>
          <p:nvPr/>
        </p:nvSpPr>
        <p:spPr>
          <a:xfrm>
            <a:off x="8737600" y="4546600"/>
            <a:ext cx="187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600" dirty="0"/>
          </a:p>
        </p:txBody>
      </p:sp>
      <p:sp>
        <p:nvSpPr>
          <p:cNvPr id="161" name="Text 157"/>
          <p:cNvSpPr txBox="1"/>
          <p:nvPr/>
        </p:nvSpPr>
        <p:spPr>
          <a:xfrm>
            <a:off x="4826000" y="4546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pic>
        <p:nvPicPr>
          <p:cNvPr id="162" name="Image 2" descr="/workspaces/codespaces-blank/ai_llm_slides/videos/machine-learning/03_ridger_regression_gradient_descent/recreated_pptx/build/assets/eq_042_w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4775200"/>
            <a:ext cx="1182621" cy="182880"/>
          </a:xfrm>
          <a:prstGeom prst="rect">
            <a:avLst/>
          </a:prstGeom>
        </p:spPr>
      </p:pic>
      <p:sp>
        <p:nvSpPr>
          <p:cNvPr id="163" name="Text 158"/>
          <p:cNvSpPr txBox="1"/>
          <p:nvPr/>
        </p:nvSpPr>
        <p:spPr>
          <a:xfrm>
            <a:off x="4826000" y="4787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sp>
        <p:nvSpPr>
          <p:cNvPr id="164" name="Text 159"/>
          <p:cNvSpPr txBox="1"/>
          <p:nvPr/>
        </p:nvSpPr>
        <p:spPr>
          <a:xfrm>
            <a:off x="3594100" y="53848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endParaRPr lang="en-US" sz="1400" dirty="0"/>
          </a:p>
        </p:txBody>
      </p:sp>
      <p:sp>
        <p:nvSpPr>
          <p:cNvPr id="165" name="Text 160"/>
          <p:cNvSpPr txBox="1"/>
          <p:nvPr/>
        </p:nvSpPr>
        <p:spPr>
          <a:xfrm>
            <a:off x="3784600" y="54229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66" name="Text 161"/>
          <p:cNvSpPr txBox="1"/>
          <p:nvPr/>
        </p:nvSpPr>
        <p:spPr>
          <a:xfrm>
            <a:off x="3848100" y="53848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400" dirty="0"/>
          </a:p>
        </p:txBody>
      </p:sp>
      <p:sp>
        <p:nvSpPr>
          <p:cNvPr id="167" name="Text 162"/>
          <p:cNvSpPr txBox="1"/>
          <p:nvPr/>
        </p:nvSpPr>
        <p:spPr>
          <a:xfrm>
            <a:off x="6210300" y="53848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8" name="Text 163"/>
          <p:cNvSpPr txBox="1"/>
          <p:nvPr/>
        </p:nvSpPr>
        <p:spPr>
          <a:xfrm>
            <a:off x="6515100" y="53848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69" name="Text 164"/>
          <p:cNvSpPr txBox="1"/>
          <p:nvPr/>
        </p:nvSpPr>
        <p:spPr>
          <a:xfrm>
            <a:off x="6819900" y="53848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0" name="Text 165"/>
          <p:cNvSpPr txBox="1"/>
          <p:nvPr/>
        </p:nvSpPr>
        <p:spPr>
          <a:xfrm>
            <a:off x="6210300" y="54737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171" name="Text 166"/>
          <p:cNvSpPr txBox="1"/>
          <p:nvPr/>
        </p:nvSpPr>
        <p:spPr>
          <a:xfrm>
            <a:off x="6515100" y="54737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172" name="Text 167"/>
          <p:cNvSpPr txBox="1"/>
          <p:nvPr/>
        </p:nvSpPr>
        <p:spPr>
          <a:xfrm>
            <a:off x="7747000" y="5384800"/>
            <a:ext cx="66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6</a:t>
            </a:r>
            <a:endParaRPr lang="en-US" sz="1400" dirty="0"/>
          </a:p>
        </p:txBody>
      </p:sp>
      <p:sp>
        <p:nvSpPr>
          <p:cNvPr id="173" name="Text 168"/>
          <p:cNvSpPr txBox="1"/>
          <p:nvPr/>
        </p:nvSpPr>
        <p:spPr>
          <a:xfrm>
            <a:off x="8407400" y="53848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400" dirty="0"/>
          </a:p>
        </p:txBody>
      </p:sp>
      <p:sp>
        <p:nvSpPr>
          <p:cNvPr id="174" name="Text 169"/>
          <p:cNvSpPr txBox="1"/>
          <p:nvPr/>
        </p:nvSpPr>
        <p:spPr>
          <a:xfrm>
            <a:off x="8737600" y="5384800"/>
            <a:ext cx="187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Weight</a:t>
            </a:r>
            <a:endParaRPr lang="en-US" sz="1600" dirty="0"/>
          </a:p>
        </p:txBody>
      </p:sp>
      <p:sp>
        <p:nvSpPr>
          <p:cNvPr id="175" name="Text 170"/>
          <p:cNvSpPr txBox="1"/>
          <p:nvPr/>
        </p:nvSpPr>
        <p:spPr>
          <a:xfrm>
            <a:off x="4826000" y="5384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pic>
        <p:nvPicPr>
          <p:cNvPr id="176" name="Image 3" descr="/workspaces/codespaces-blank/ai_llm_slides/videos/machine-learning/03_ridger_regression_gradient_descent/recreated_pptx/build/assets/eq_042_w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5613400"/>
            <a:ext cx="3278124" cy="182880"/>
          </a:xfrm>
          <a:prstGeom prst="rect">
            <a:avLst/>
          </a:prstGeom>
        </p:spPr>
      </p:pic>
      <p:sp>
        <p:nvSpPr>
          <p:cNvPr id="177" name="Text 171"/>
          <p:cNvSpPr txBox="1"/>
          <p:nvPr/>
        </p:nvSpPr>
        <p:spPr>
          <a:xfrm>
            <a:off x="4826000" y="56261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sp>
        <p:nvSpPr>
          <p:cNvPr id="178" name="Text 172"/>
          <p:cNvSpPr txBox="1"/>
          <p:nvPr/>
        </p:nvSpPr>
        <p:spPr>
          <a:xfrm>
            <a:off x="9347200" y="53848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sp>
        <p:nvSpPr>
          <p:cNvPr id="179" name="Text 173"/>
          <p:cNvSpPr txBox="1"/>
          <p:nvPr/>
        </p:nvSpPr>
        <p:spPr>
          <a:xfrm>
            <a:off x="3594100" y="6223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endParaRPr lang="en-US" sz="1400" dirty="0"/>
          </a:p>
        </p:txBody>
      </p:sp>
      <p:sp>
        <p:nvSpPr>
          <p:cNvPr id="180" name="Text 174"/>
          <p:cNvSpPr txBox="1"/>
          <p:nvPr/>
        </p:nvSpPr>
        <p:spPr>
          <a:xfrm>
            <a:off x="3784600" y="6261100"/>
            <a:ext cx="889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81" name="Text 175"/>
          <p:cNvSpPr txBox="1"/>
          <p:nvPr/>
        </p:nvSpPr>
        <p:spPr>
          <a:xfrm>
            <a:off x="3848100" y="62230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400" dirty="0"/>
          </a:p>
        </p:txBody>
      </p:sp>
      <p:sp>
        <p:nvSpPr>
          <p:cNvPr id="182" name="Text 176"/>
          <p:cNvSpPr txBox="1"/>
          <p:nvPr/>
        </p:nvSpPr>
        <p:spPr>
          <a:xfrm>
            <a:off x="6210300" y="62230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83" name="Text 177"/>
          <p:cNvSpPr txBox="1"/>
          <p:nvPr/>
        </p:nvSpPr>
        <p:spPr>
          <a:xfrm>
            <a:off x="6515100" y="62230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84" name="Text 178"/>
          <p:cNvSpPr txBox="1"/>
          <p:nvPr/>
        </p:nvSpPr>
        <p:spPr>
          <a:xfrm>
            <a:off x="6819900" y="62230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85" name="Text 179"/>
          <p:cNvSpPr txBox="1"/>
          <p:nvPr/>
        </p:nvSpPr>
        <p:spPr>
          <a:xfrm>
            <a:off x="6210300" y="63119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100" dirty="0"/>
          </a:p>
        </p:txBody>
      </p:sp>
      <p:sp>
        <p:nvSpPr>
          <p:cNvPr id="186" name="Text 180"/>
          <p:cNvSpPr txBox="1"/>
          <p:nvPr/>
        </p:nvSpPr>
        <p:spPr>
          <a:xfrm>
            <a:off x="6515100" y="6311900"/>
            <a:ext cx="304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-98</a:t>
            </a:r>
            <a:endParaRPr lang="en-US" sz="1100" dirty="0"/>
          </a:p>
        </p:txBody>
      </p:sp>
      <p:sp>
        <p:nvSpPr>
          <p:cNvPr id="187" name="Text 181"/>
          <p:cNvSpPr txBox="1"/>
          <p:nvPr/>
        </p:nvSpPr>
        <p:spPr>
          <a:xfrm>
            <a:off x="7747000" y="6223000"/>
            <a:ext cx="66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-96</a:t>
            </a:r>
            <a:endParaRPr lang="en-US" sz="1400" dirty="0"/>
          </a:p>
        </p:txBody>
      </p:sp>
      <p:sp>
        <p:nvSpPr>
          <p:cNvPr id="188" name="Text 182"/>
          <p:cNvSpPr txBox="1"/>
          <p:nvPr/>
        </p:nvSpPr>
        <p:spPr>
          <a:xfrm>
            <a:off x="8407400" y="6223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400" dirty="0"/>
          </a:p>
        </p:txBody>
      </p:sp>
      <p:sp>
        <p:nvSpPr>
          <p:cNvPr id="189" name="Text 183"/>
          <p:cNvSpPr txBox="1"/>
          <p:nvPr/>
        </p:nvSpPr>
        <p:spPr>
          <a:xfrm>
            <a:off x="8737600" y="6223000"/>
            <a:ext cx="187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600" dirty="0"/>
          </a:p>
        </p:txBody>
      </p:sp>
      <p:sp>
        <p:nvSpPr>
          <p:cNvPr id="190" name="Text 184"/>
          <p:cNvSpPr txBox="1"/>
          <p:nvPr/>
        </p:nvSpPr>
        <p:spPr>
          <a:xfrm>
            <a:off x="4826000" y="62230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pic>
        <p:nvPicPr>
          <p:cNvPr id="191" name="Image 4" descr="/workspaces/codespaces-blank/ai_llm_slides/videos/machine-learning/03_ridger_regression_gradient_descent/recreated_pptx/build/assets/eq_042_w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6800" y="6451600"/>
            <a:ext cx="1562097" cy="182880"/>
          </a:xfrm>
          <a:prstGeom prst="rect">
            <a:avLst/>
          </a:prstGeom>
        </p:spPr>
      </p:pic>
      <p:sp>
        <p:nvSpPr>
          <p:cNvPr id="192" name="Text 185"/>
          <p:cNvSpPr txBox="1"/>
          <p:nvPr/>
        </p:nvSpPr>
        <p:spPr>
          <a:xfrm>
            <a:off x="4826000" y="64643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2026-10-24T13:57:54Z</dcterms:created>
  <dcterms:modified xsi:type="dcterms:W3CDTF">2026-10-24T13:57:54Z</dcterms:modified>
</cp:coreProperties>
</file>