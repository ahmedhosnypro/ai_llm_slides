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048000" y="863600"/>
            <a:ext cx="558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of </a:t>
            </a:r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1016000" y="1257300"/>
            <a:ext cx="4000500" cy="1562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0" name="Image 0" descr="/workspaces/codespaces-blank/ai_llm_slides/videos/machine-learning/03_ridger_regression_gradient_descent/recreated_pptx/build/assets/eq_004_Yv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900" y="1663700"/>
            <a:ext cx="1740771" cy="65288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11500" y="1727200"/>
            <a:ext cx="184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Labels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717800" y="2006600"/>
            <a:ext cx="2095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Training Samples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22900" y="1257300"/>
            <a:ext cx="4038600" cy="1562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Image 1" descr="/workspaces/codespaces-blank/ai_llm_slides/videos/machine-learning/03_ridger_regression_gradient_descent/recreated_pptx/build/assets/eq_004_Yhatv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51000"/>
            <a:ext cx="1634947" cy="79187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54900" y="1739900"/>
            <a:ext cx="184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Labels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175500" y="2070100"/>
            <a:ext cx="215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Model 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Ŷ=X</a:t>
            </a:r>
            <a:pPr algn="l" indent="0" marL="0">
              <a:lnSpc>
                <a:spcPts val="13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9956800" y="1270000"/>
            <a:ext cx="1231900" cy="673100"/>
          </a:xfrm>
          <a:prstGeom prst="rect">
            <a:avLst/>
          </a:prstGeom>
          <a:solidFill>
            <a:srgbClr val="DBE9FC"/>
          </a:solidFill>
          <a:ln/>
        </p:spPr>
      </p:sp>
      <p:sp>
        <p:nvSpPr>
          <p:cNvPr id="18" name="Text 14"/>
          <p:cNvSpPr/>
          <p:nvPr/>
        </p:nvSpPr>
        <p:spPr>
          <a:xfrm>
            <a:off x="9994900" y="1295400"/>
            <a:ext cx="1168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100" dirty="0"/>
          </a:p>
        </p:txBody>
      </p:sp>
      <p:pic>
        <p:nvPicPr>
          <p:cNvPr id="19" name="Image 2" descr="/workspaces/codespaces-blank/ai_llm_slides/videos/machine-learning/03_ridger_regression_gradient_descent/recreated_pptx/build/assets/eq_004_n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3584" y="1610106"/>
            <a:ext cx="1038758" cy="25054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90600" y="3073400"/>
            <a:ext cx="2844800" cy="749300"/>
          </a:xfrm>
          <a:prstGeom prst="rect">
            <a:avLst/>
          </a:prstGeom>
          <a:solidFill>
            <a:srgbClr val="FFFDDA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066800" y="3073400"/>
            <a:ext cx="2692400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is </a:t>
            </a:r>
            <a:pPr algn="l" indent="0" marL="0">
              <a:lnSpc>
                <a:spcPts val="1400"/>
              </a:lnSpc>
              <a:buNone/>
            </a:pPr>
            <a:r>
              <a:rPr lang="en-US" sz="14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Ŷ=Y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990600" y="3886200"/>
            <a:ext cx="5181600" cy="749300"/>
          </a:xfrm>
          <a:prstGeom prst="rect">
            <a:avLst/>
          </a:prstGeom>
          <a:solidFill>
            <a:srgbClr val="FFFDDA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66800" y="3886200"/>
            <a:ext cx="5029200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1400"/>
              </a:lnSpc>
              <a:buNone/>
            </a:pPr>
            <a:r>
              <a:rPr lang="en-US" sz="14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Ŷ≠Y</a:t>
            </a:r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There is an </a:t>
            </a:r>
            <a:pPr algn="l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(Loss)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273800" y="2946400"/>
            <a:ext cx="4953000" cy="176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350000" y="3149600"/>
            <a:ext cx="4800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i="1" u="sng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</a:t>
            </a:r>
            <a:pPr algn="l" indent="0" marL="0">
              <a:lnSpc>
                <a:spcPts val="1600"/>
              </a:lnSpc>
              <a:buNone/>
            </a:pPr>
            <a:r>
              <a:rPr lang="en-US" sz="16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X</a:t>
            </a:r>
            <a:pPr algn="l" indent="0" marL="0">
              <a:lnSpc>
                <a:spcPts val="1600"/>
              </a:lnSpc>
              <a:buNone/>
            </a:pPr>
            <a:r>
              <a:rPr lang="en-US" sz="1600" i="1" u="sng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Predicted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6350000" y="3619500"/>
            <a:ext cx="4800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Where: 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X_{N×(d+1)} is a matrix ⇒ Given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6350000" y="4000500"/>
            <a:ext cx="4800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Y_{N×1} is labels vector ⇒ Given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6350000" y="4381500"/>
            <a:ext cx="4800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is Model Parameter ⇒ Required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952500" y="4914900"/>
            <a:ext cx="7429500" cy="774700"/>
          </a:xfrm>
          <a:prstGeom prst="rect">
            <a:avLst/>
          </a:prstGeom>
          <a:solidFill>
            <a:srgbClr val="FAEBD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1041400" y="4914900"/>
            <a:ext cx="7251700" cy="774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 as </a:t>
            </a:r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distance</a:t>
            </a:r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between </a:t>
            </a:r>
            <a:pPr algn="l" indent="0" marL="0">
              <a:lnSpc>
                <a:spcPts val="1500"/>
              </a:lnSpc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</a:t>
            </a:r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500"/>
              </a:lnSpc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500" dirty="0"/>
          </a:p>
        </p:txBody>
      </p:sp>
      <p:sp>
        <p:nvSpPr>
          <p:cNvPr id="31" name="Shape 26"/>
          <p:cNvSpPr/>
          <p:nvPr/>
        </p:nvSpPr>
        <p:spPr>
          <a:xfrm>
            <a:off x="990600" y="5892800"/>
            <a:ext cx="5181600" cy="736600"/>
          </a:xfrm>
          <a:prstGeom prst="rect">
            <a:avLst/>
          </a:prstGeom>
          <a:solidFill>
            <a:srgbClr val="FFFDDA"/>
          </a:solidFill>
          <a:ln w="12700">
            <a:solidFill>
              <a:srgbClr val="000080"/>
            </a:solidFill>
            <a:prstDash val="solid"/>
          </a:ln>
        </p:spPr>
      </p:sp>
      <p:pic>
        <p:nvPicPr>
          <p:cNvPr id="32" name="Image 3" descr="/workspaces/codespaces-blank/ai_llm_slides/videos/machine-learning/03_ridger_regression_gradient_descent/recreated_pptx/build/assets/eq_004_formul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8558" y="6120384"/>
            <a:ext cx="3366821" cy="30723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2026-10-24T13:31:49Z</dcterms:created>
  <dcterms:modified xsi:type="dcterms:W3CDTF">2026-10-24T13:31:49Z</dcterms:modified>
</cp:coreProperties>
</file>