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g001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g003_image-1-1.png"/><Relationship Id="rId2" Type="http://schemas.openxmlformats.org/officeDocument/2006/relationships/image" Target="../media/img003_image-1-2.png"/><Relationship Id="rId3" Type="http://schemas.openxmlformats.org/officeDocument/2006/relationships/image" Target="../media/img003_image-1-3.png"/><Relationship Id="rId4" Type="http://schemas.openxmlformats.org/officeDocument/2006/relationships/image" Target="../media/img003_image-1-4.png"/><Relationship Id="rId5" Type="http://schemas.openxmlformats.org/officeDocument/2006/relationships/image" Target="../media/img003_image-1-5.png"/><Relationship Id="rId6" Type="http://schemas.openxmlformats.org/officeDocument/2006/relationships/image" Target="../media/img003_image-1-6.png"/><Relationship Id="rId7" Type="http://schemas.openxmlformats.org/officeDocument/2006/relationships/image" Target="../media/img003_image-1-7.png"/><Relationship Id="rId8" Type="http://schemas.openxmlformats.org/officeDocument/2006/relationships/image" Target="../media/img003_image-1-8.png"/><Relationship Id="rId9" Type="http://schemas.openxmlformats.org/officeDocument/2006/relationships/image" Target="../media/img003_image-1-9.png"/><Relationship Id="rId10" Type="http://schemas.openxmlformats.org/officeDocument/2006/relationships/image" Target="../media/img003_image-1-10.png"/><Relationship Id="rId11" Type="http://schemas.openxmlformats.org/officeDocument/2006/relationships/image" Target="../media/img003_image-1-11.png"/><Relationship Id="rId12" Type="http://schemas.openxmlformats.org/officeDocument/2006/relationships/image" Target="../media/img003_image-1-12.png"/><Relationship Id="rId13" Type="http://schemas.openxmlformats.org/officeDocument/2006/relationships/image" Target="../media/img003_image-1-13.png"/><Relationship Id="rId14" Type="http://schemas.openxmlformats.org/officeDocument/2006/relationships/image" Target="../media/img003_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g004_image-1-1.png"/><Relationship Id="rId2" Type="http://schemas.openxmlformats.org/officeDocument/2006/relationships/image" Target="../media/img004_image-1-2.png"/><Relationship Id="rId3" Type="http://schemas.openxmlformats.org/officeDocument/2006/relationships/image" Target="../media/img004_image-1-3.png"/><Relationship Id="rId4" Type="http://schemas.openxmlformats.org/officeDocument/2006/relationships/image" Target="../media/img004_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g005_image-1-1.png"/><Relationship Id="rId2" Type="http://schemas.openxmlformats.org/officeDocument/2006/relationships/image" Target="../media/img005_image-1-2.png"/><Relationship Id="rId3" Type="http://schemas.openxmlformats.org/officeDocument/2006/relationships/image" Target="../media/img005_image-1-3.png"/><Relationship Id="rId4" Type="http://schemas.openxmlformats.org/officeDocument/2006/relationships/image" Target="../media/img005_image-1-4.png"/><Relationship Id="rId5" Type="http://schemas.openxmlformats.org/officeDocument/2006/relationships/image" Target="../media/img005_image-1-5.png"/><Relationship Id="rId6" Type="http://schemas.openxmlformats.org/officeDocument/2006/relationships/image" Target="../media/img005_image-1-6.png"/><Relationship Id="rId7" Type="http://schemas.openxmlformats.org/officeDocument/2006/relationships/image" Target="../media/img005_image-1-7.png"/><Relationship Id="rId8" Type="http://schemas.openxmlformats.org/officeDocument/2006/relationships/image" Target="../media/img005_image-1-8.png"/><Relationship Id="rId9" Type="http://schemas.openxmlformats.org/officeDocument/2006/relationships/image" Target="../media/img005_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g009_image-1-1.png"/><Relationship Id="rId2" Type="http://schemas.openxmlformats.org/officeDocument/2006/relationships/image" Target="../media/img009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g013_image-1-1.png"/><Relationship Id="rId2" Type="http://schemas.openxmlformats.org/officeDocument/2006/relationships/image" Target="../media/img013_image-1-2.png"/><Relationship Id="rId3" Type="http://schemas.openxmlformats.org/officeDocument/2006/relationships/image" Target="../media/img013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g017_image-1-1.png"/><Relationship Id="rId2" Type="http://schemas.openxmlformats.org/officeDocument/2006/relationships/image" Target="../media/img017_image-1-2.png"/><Relationship Id="rId3" Type="http://schemas.openxmlformats.org/officeDocument/2006/relationships/image" Target="../media/img017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g018_image-1-1.png"/><Relationship Id="rId2" Type="http://schemas.openxmlformats.org/officeDocument/2006/relationships/image" Target="../media/img018_image-1-2.png"/><Relationship Id="rId3" Type="http://schemas.openxmlformats.org/officeDocument/2006/relationships/image" Target="../media/img018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g021_image-1-1.png"/><Relationship Id="rId2" Type="http://schemas.openxmlformats.org/officeDocument/2006/relationships/image" Target="../media/img021_image-1-2.png"/><Relationship Id="rId3" Type="http://schemas.openxmlformats.org/officeDocument/2006/relationships/image" Target="../media/img021_image-1-3.png"/><Relationship Id="rId4" Type="http://schemas.openxmlformats.org/officeDocument/2006/relationships/image" Target="../media/img021_image-1-4.png"/><Relationship Id="rId5" Type="http://schemas.openxmlformats.org/officeDocument/2006/relationships/image" Target="../media/img021_image-1-5.png"/><Relationship Id="rId6" Type="http://schemas.openxmlformats.org/officeDocument/2006/relationships/image" Target="../media/img021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g023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g024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g030_image-1-1.png"/><Relationship Id="rId2" Type="http://schemas.openxmlformats.org/officeDocument/2006/relationships/image" Target="../media/img030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g031_image-1-1.png"/><Relationship Id="rId2" Type="http://schemas.openxmlformats.org/officeDocument/2006/relationships/image" Target="../media/img031_image-1-2.png"/><Relationship Id="rId3" Type="http://schemas.openxmlformats.org/officeDocument/2006/relationships/image" Target="../media/img031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g032_image-1-1.png"/><Relationship Id="rId2" Type="http://schemas.openxmlformats.org/officeDocument/2006/relationships/image" Target="../media/img032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g033_image-1-1.png"/><Relationship Id="rId2" Type="http://schemas.openxmlformats.org/officeDocument/2006/relationships/image" Target="../media/img033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g036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g037_image-1-1.png"/><Relationship Id="rId2" Type="http://schemas.openxmlformats.org/officeDocument/2006/relationships/image" Target="../media/img037_image-1-2.png"/><Relationship Id="rId3" Type="http://schemas.openxmlformats.org/officeDocument/2006/relationships/image" Target="../media/img037_image-1-2.png"/><Relationship Id="rId4" Type="http://schemas.openxmlformats.org/officeDocument/2006/relationships/image" Target="../media/img037_image-1-1.png"/><Relationship Id="rId5" Type="http://schemas.openxmlformats.org/officeDocument/2006/relationships/image" Target="../media/img037_image-1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g039_image-1-1.png"/><Relationship Id="rId2" Type="http://schemas.openxmlformats.org/officeDocument/2006/relationships/image" Target="../media/img039_image-1-1.png"/><Relationship Id="rId3" Type="http://schemas.openxmlformats.org/officeDocument/2006/relationships/image" Target="../media/img039_image-1-1.png"/><Relationship Id="rId4" Type="http://schemas.openxmlformats.org/officeDocument/2006/relationships/image" Target="../media/img039_image-1-4.png"/><Relationship Id="rId5" Type="http://schemas.openxmlformats.org/officeDocument/2006/relationships/image" Target="../media/img039_image-1-1.png"/><Relationship Id="rId6" Type="http://schemas.openxmlformats.org/officeDocument/2006/relationships/image" Target="../media/img039_image-1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g041_image-1-1.png"/><Relationship Id="rId2" Type="http://schemas.openxmlformats.org/officeDocument/2006/relationships/image" Target="../media/img041_image-1-2.png"/><Relationship Id="rId3" Type="http://schemas.openxmlformats.org/officeDocument/2006/relationships/image" Target="../media/img041_image-1-1.png"/><Relationship Id="rId4" Type="http://schemas.openxmlformats.org/officeDocument/2006/relationships/image" Target="../media/img041_image-1-2.png"/><Relationship Id="rId5" Type="http://schemas.openxmlformats.org/officeDocument/2006/relationships/image" Target="../media/img041_image-1-1.png"/><Relationship Id="rId6" Type="http://schemas.openxmlformats.org/officeDocument/2006/relationships/image" Target="../media/img041_image-1-2.png"/><Relationship Id="rId7" Type="http://schemas.openxmlformats.org/officeDocument/2006/relationships/image" Target="../media/img041_image-1-1.png"/><Relationship Id="rId8" Type="http://schemas.openxmlformats.org/officeDocument/2006/relationships/image" Target="../media/img041_image-1-2.png"/><Relationship Id="rId9" Type="http://schemas.openxmlformats.org/officeDocument/2006/relationships/image" Target="../media/img041_image-1-1.png"/><Relationship Id="rId10" Type="http://schemas.openxmlformats.org/officeDocument/2006/relationships/image" Target="../media/img041_image-1-2.png"/><Relationship Id="rId11" Type="http://schemas.openxmlformats.org/officeDocument/2006/relationships/image" Target="../media/img041_image-1-1.png"/><Relationship Id="rId12" Type="http://schemas.openxmlformats.org/officeDocument/2006/relationships/image" Target="../media/img041_image-1-2.png"/><Relationship Id="rId13" Type="http://schemas.openxmlformats.org/officeDocument/2006/relationships/image" Target="../media/img041_image-1-13.png"/><Relationship Id="rId14" Type="http://schemas.openxmlformats.org/officeDocument/2006/relationships/image" Target="../media/img041_image-1-14.png"/><Relationship Id="rId15" Type="http://schemas.openxmlformats.org/officeDocument/2006/relationships/image" Target="../media/img041_image-1-15.png"/><Relationship Id="rId16" Type="http://schemas.openxmlformats.org/officeDocument/2006/relationships/image" Target="../media/img041_image-1-16.png"/><Relationship Id="rId17" Type="http://schemas.openxmlformats.org/officeDocument/2006/relationships/image" Target="../media/img041_image-1-15.png"/><Relationship Id="rId18" Type="http://schemas.openxmlformats.org/officeDocument/2006/relationships/image" Target="../media/img041_image-1-16.png"/><Relationship Id="rId19" Type="http://schemas.openxmlformats.org/officeDocument/2006/relationships/image" Target="../media/img041_image-1-15.png"/><Relationship Id="rId20" Type="http://schemas.openxmlformats.org/officeDocument/2006/relationships/image" Target="../media/img041_image-1-16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g042_image-1-1.png"/><Relationship Id="rId2" Type="http://schemas.openxmlformats.org/officeDocument/2006/relationships/image" Target="../media/img042_image-1-2.png"/><Relationship Id="rId3" Type="http://schemas.openxmlformats.org/officeDocument/2006/relationships/image" Target="../media/img042_image-1-1.png"/><Relationship Id="rId4" Type="http://schemas.openxmlformats.org/officeDocument/2006/relationships/image" Target="../media/img042_image-1-2.png"/><Relationship Id="rId5" Type="http://schemas.openxmlformats.org/officeDocument/2006/relationships/image" Target="../media/img042_image-1-1.png"/><Relationship Id="rId6" Type="http://schemas.openxmlformats.org/officeDocument/2006/relationships/image" Target="../media/img042_image-1-2.png"/><Relationship Id="rId7" Type="http://schemas.openxmlformats.org/officeDocument/2006/relationships/image" Target="../media/img042_image-1-1.png"/><Relationship Id="rId8" Type="http://schemas.openxmlformats.org/officeDocument/2006/relationships/image" Target="../media/img042_image-1-2.png"/><Relationship Id="rId9" Type="http://schemas.openxmlformats.org/officeDocument/2006/relationships/image" Target="../media/img042_image-1-1.png"/><Relationship Id="rId10" Type="http://schemas.openxmlformats.org/officeDocument/2006/relationships/image" Target="../media/img042_image-1-2.png"/><Relationship Id="rId11" Type="http://schemas.openxmlformats.org/officeDocument/2006/relationships/image" Target="../media/img042_image-1-1.png"/><Relationship Id="rId12" Type="http://schemas.openxmlformats.org/officeDocument/2006/relationships/image" Target="../media/img042_image-1-2.png"/><Relationship Id="rId13" Type="http://schemas.openxmlformats.org/officeDocument/2006/relationships/image" Target="../media/img042_image-1-1.png"/><Relationship Id="rId14" Type="http://schemas.openxmlformats.org/officeDocument/2006/relationships/image" Target="../media/img042_image-1-2.png"/><Relationship Id="rId15" Type="http://schemas.openxmlformats.org/officeDocument/2006/relationships/image" Target="../media/img042_image-1-15.png"/><Relationship Id="rId16" Type="http://schemas.openxmlformats.org/officeDocument/2006/relationships/image" Target="../media/img042_image-1-16.png"/><Relationship Id="rId17" Type="http://schemas.openxmlformats.org/officeDocument/2006/relationships/image" Target="../media/img042_image-1-15.png"/><Relationship Id="rId18" Type="http://schemas.openxmlformats.org/officeDocument/2006/relationships/image" Target="../media/img042_image-1-16.png"/><Relationship Id="rId19" Type="http://schemas.openxmlformats.org/officeDocument/2006/relationships/image" Target="../media/img042_image-1-15.png"/><Relationship Id="rId20" Type="http://schemas.openxmlformats.org/officeDocument/2006/relationships/image" Target="../media/img042_image-1-16.png"/><Relationship Id="rId21" Type="http://schemas.openxmlformats.org/officeDocument/2006/relationships/image" Target="../media/img042_image-1-1.png"/><Relationship Id="rId22" Type="http://schemas.openxmlformats.org/officeDocument/2006/relationships/image" Target="../media/img042_image-1-2.png"/><Relationship Id="rId23" Type="http://schemas.openxmlformats.org/officeDocument/2006/relationships/image" Target="../media/img042_image-1-1.png"/><Relationship Id="rId24" Type="http://schemas.openxmlformats.org/officeDocument/2006/relationships/image" Target="../media/img042_image-1-2.png"/><Relationship Id="rId25" Type="http://schemas.openxmlformats.org/officeDocument/2006/relationships/image" Target="../media/img042_image-1-1.png"/><Relationship Id="rId26" Type="http://schemas.openxmlformats.org/officeDocument/2006/relationships/image" Target="../media/img042_image-1-2.png"/><Relationship Id="rId27" Type="http://schemas.openxmlformats.org/officeDocument/2006/relationships/image" Target="../media/img042_image-1-1.png"/><Relationship Id="rId28" Type="http://schemas.openxmlformats.org/officeDocument/2006/relationships/image" Target="../media/img042_image-1-2.png"/><Relationship Id="rId29" Type="http://schemas.openxmlformats.org/officeDocument/2006/relationships/image" Target="../media/img042_image-1-1.png"/><Relationship Id="rId30" Type="http://schemas.openxmlformats.org/officeDocument/2006/relationships/image" Target="../media/img042_image-1-2.png"/><Relationship Id="rId31" Type="http://schemas.openxmlformats.org/officeDocument/2006/relationships/image" Target="../media/img042_image-1-1.png"/><Relationship Id="rId32" Type="http://schemas.openxmlformats.org/officeDocument/2006/relationships/image" Target="../media/img042_image-1-2.png"/><Relationship Id="rId33" Type="http://schemas.openxmlformats.org/officeDocument/2006/relationships/image" Target="../media/img042_image-1-33.png"/><Relationship Id="rId34" Type="http://schemas.openxmlformats.org/officeDocument/2006/relationships/image" Target="../media/img042_image-1-34.png"/><Relationship Id="rId35" Type="http://schemas.openxmlformats.org/officeDocument/2006/relationships/image" Target="../media/img042_image-1-35.png"/><Relationship Id="rId36" Type="http://schemas.openxmlformats.org/officeDocument/2006/relationships/image" Target="../media/img042_image-1-36.png"/><Relationship Id="rId37" Type="http://schemas.openxmlformats.org/officeDocument/2006/relationships/image" Target="../media/img042_image-1-1.png"/><Relationship Id="rId38" Type="http://schemas.openxmlformats.org/officeDocument/2006/relationships/image" Target="../media/img042_image-1-2.png"/><Relationship Id="rId39" Type="http://schemas.openxmlformats.org/officeDocument/2006/relationships/image" Target="../media/img042_image-1-1.png"/><Relationship Id="rId40" Type="http://schemas.openxmlformats.org/officeDocument/2006/relationships/image" Target="../media/img042_image-1-2.png"/><Relationship Id="rId41" Type="http://schemas.openxmlformats.org/officeDocument/2006/relationships/image" Target="../media/img042_image-1-35.png"/><Relationship Id="rId42" Type="http://schemas.openxmlformats.org/officeDocument/2006/relationships/image" Target="../media/img042_image-1-36.png"/><Relationship Id="rId43" Type="http://schemas.openxmlformats.org/officeDocument/2006/relationships/image" Target="../media/img042_image-1-35.png"/><Relationship Id="rId44" Type="http://schemas.openxmlformats.org/officeDocument/2006/relationships/image" Target="../media/img042_image-1-36.png"/><Relationship Id="rId45" Type="http://schemas.openxmlformats.org/officeDocument/2006/relationships/image" Target="../media/img042_image-1-1.png"/><Relationship Id="rId46" Type="http://schemas.openxmlformats.org/officeDocument/2006/relationships/image" Target="../media/img042_image-1-2.png"/><Relationship Id="rId47" Type="http://schemas.openxmlformats.org/officeDocument/2006/relationships/image" Target="../media/img042_image-1-35.png"/><Relationship Id="rId48" Type="http://schemas.openxmlformats.org/officeDocument/2006/relationships/image" Target="../media/img042_image-1-36.png"/><Relationship Id="rId49" Type="http://schemas.openxmlformats.org/officeDocument/2006/relationships/image" Target="../media/img042_image-1-1.png"/><Relationship Id="rId50" Type="http://schemas.openxmlformats.org/officeDocument/2006/relationships/image" Target="../media/img042_image-1-2.png"/><Relationship Id="rId51" Type="http://schemas.openxmlformats.org/officeDocument/2006/relationships/image" Target="../media/img042_image-1-35.png"/><Relationship Id="rId52" Type="http://schemas.openxmlformats.org/officeDocument/2006/relationships/image" Target="../media/img042_image-1-36.png"/><Relationship Id="rId53" Type="http://schemas.openxmlformats.org/officeDocument/2006/relationships/image" Target="../media/img042_image-1-1.png"/><Relationship Id="rId54" Type="http://schemas.openxmlformats.org/officeDocument/2006/relationships/image" Target="../media/img042_image-1-2.png"/><Relationship Id="rId55" Type="http://schemas.openxmlformats.org/officeDocument/2006/relationships/image" Target="../media/img042_image-1-1.png"/><Relationship Id="rId56" Type="http://schemas.openxmlformats.org/officeDocument/2006/relationships/image" Target="../media/img042_image-1-2.png"/><Relationship Id="rId57" Type="http://schemas.openxmlformats.org/officeDocument/2006/relationships/image" Target="../media/img042_image-1-35.png"/><Relationship Id="rId58" Type="http://schemas.openxmlformats.org/officeDocument/2006/relationships/image" Target="../media/img042_image-1-36.png"/><Relationship Id="rId59" Type="http://schemas.openxmlformats.org/officeDocument/2006/relationships/image" Target="../media/img042_image-1-35.png"/><Relationship Id="rId60" Type="http://schemas.openxmlformats.org/officeDocument/2006/relationships/image" Target="../media/img042_image-1-36.png"/><Relationship Id="rId61" Type="http://schemas.openxmlformats.org/officeDocument/2006/relationships/image" Target="../media/img042_image-1-1.png"/><Relationship Id="rId62" Type="http://schemas.openxmlformats.org/officeDocument/2006/relationships/image" Target="../media/img042_image-1-2.png"/><Relationship Id="rId63" Type="http://schemas.openxmlformats.org/officeDocument/2006/relationships/image" Target="../media/img042_image-1-35.png"/><Relationship Id="rId64" Type="http://schemas.openxmlformats.org/officeDocument/2006/relationships/image" Target="../media/img042_image-1-36.png"/><Relationship Id="rId65" Type="http://schemas.openxmlformats.org/officeDocument/2006/relationships/image" Target="../media/img042_image-1-1.png"/><Relationship Id="rId66" Type="http://schemas.openxmlformats.org/officeDocument/2006/relationships/image" Target="../media/img042_image-1-2.png"/><Relationship Id="rId67" Type="http://schemas.openxmlformats.org/officeDocument/2006/relationships/slideLayout" Target="../slideLayouts/slideLayout1.xml"/><Relationship Id="rId6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g046_image-1-1.png"/><Relationship Id="rId2" Type="http://schemas.openxmlformats.org/officeDocument/2006/relationships/image" Target="../media/img046_image-1-2.png"/><Relationship Id="rId3" Type="http://schemas.openxmlformats.org/officeDocument/2006/relationships/image" Target="../media/img046_image-1-3.png"/><Relationship Id="rId4" Type="http://schemas.openxmlformats.org/officeDocument/2006/relationships/image" Target="../media/img046_image-1-4.png"/><Relationship Id="rId5" Type="http://schemas.openxmlformats.org/officeDocument/2006/relationships/image" Target="../media/img046_image-1-5.png"/><Relationship Id="rId6" Type="http://schemas.openxmlformats.org/officeDocument/2006/relationships/image" Target="../media/img046_image-1-6.png"/><Relationship Id="rId7" Type="http://schemas.openxmlformats.org/officeDocument/2006/relationships/image" Target="../media/img046_image-1-7.png"/><Relationship Id="rId8" Type="http://schemas.openxmlformats.org/officeDocument/2006/relationships/image" Target="../media/img046_image-1-8.png"/><Relationship Id="rId9" Type="http://schemas.openxmlformats.org/officeDocument/2006/relationships/image" Target="../media/img046_image-1-9.png"/><Relationship Id="rId10" Type="http://schemas.openxmlformats.org/officeDocument/2006/relationships/image" Target="../media/img046_image-1-10.png"/><Relationship Id="rId11" Type="http://schemas.openxmlformats.org/officeDocument/2006/relationships/image" Target="../media/img046_image-1-11.png"/><Relationship Id="rId12" Type="http://schemas.openxmlformats.org/officeDocument/2006/relationships/image" Target="../media/img046_image-1-12.png"/><Relationship Id="rId13" Type="http://schemas.openxmlformats.org/officeDocument/2006/relationships/image" Target="../media/img046_image-1-13.png"/><Relationship Id="rId14" Type="http://schemas.openxmlformats.org/officeDocument/2006/relationships/image" Target="../media/img046_image-1-14.png"/><Relationship Id="rId15" Type="http://schemas.openxmlformats.org/officeDocument/2006/relationships/image" Target="../media/img046_image-1-15.png"/><Relationship Id="rId16" Type="http://schemas.openxmlformats.org/officeDocument/2006/relationships/image" Target="../media/img046_image-1-16.png"/><Relationship Id="rId17" Type="http://schemas.openxmlformats.org/officeDocument/2006/relationships/image" Target="../media/img046_image-1-17.png"/><Relationship Id="rId18" Type="http://schemas.openxmlformats.org/officeDocument/2006/relationships/image" Target="../media/img046_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g047_image-1-1.png"/><Relationship Id="rId2" Type="http://schemas.openxmlformats.org/officeDocument/2006/relationships/image" Target="../media/img047_image-1-1.png"/><Relationship Id="rId3" Type="http://schemas.openxmlformats.org/officeDocument/2006/relationships/image" Target="../media/img047_image-1-1.png"/><Relationship Id="rId4" Type="http://schemas.openxmlformats.org/officeDocument/2006/relationships/image" Target="../media/img047_image-1-1.png"/><Relationship Id="rId5" Type="http://schemas.openxmlformats.org/officeDocument/2006/relationships/image" Target="../media/img047_image-1-1.png"/><Relationship Id="rId6" Type="http://schemas.openxmlformats.org/officeDocument/2006/relationships/image" Target="../media/img047_image-1-1.png"/><Relationship Id="rId7" Type="http://schemas.openxmlformats.org/officeDocument/2006/relationships/image" Target="../media/img047_image-1-7.png"/><Relationship Id="rId8" Type="http://schemas.openxmlformats.org/officeDocument/2006/relationships/image" Target="../media/img047_image-1-8.png"/><Relationship Id="rId9" Type="http://schemas.openxmlformats.org/officeDocument/2006/relationships/image" Target="../media/img047_image-1-8.png"/><Relationship Id="rId10" Type="http://schemas.openxmlformats.org/officeDocument/2006/relationships/image" Target="../media/img047_image-1-8.png"/><Relationship Id="rId11" Type="http://schemas.openxmlformats.org/officeDocument/2006/relationships/image" Target="../media/img047_image-1-11.png"/><Relationship Id="rId12" Type="http://schemas.openxmlformats.org/officeDocument/2006/relationships/image" Target="../media/img047_image-1-11.png"/><Relationship Id="rId13" Type="http://schemas.openxmlformats.org/officeDocument/2006/relationships/image" Target="../media/img047_image-1-11.png"/><Relationship Id="rId14" Type="http://schemas.openxmlformats.org/officeDocument/2006/relationships/image" Target="../media/img047_image-1-11.png"/><Relationship Id="rId15" Type="http://schemas.openxmlformats.org/officeDocument/2006/relationships/image" Target="../media/img047_image-1-11.png"/><Relationship Id="rId16" Type="http://schemas.openxmlformats.org/officeDocument/2006/relationships/image" Target="../media/img047_image-1-11.png"/><Relationship Id="rId17" Type="http://schemas.openxmlformats.org/officeDocument/2006/relationships/image" Target="../media/img047_image-1-17.png"/><Relationship Id="rId18" Type="http://schemas.openxmlformats.org/officeDocument/2006/relationships/image" Target="../media/img047_image-1-17.png"/><Relationship Id="rId19" Type="http://schemas.openxmlformats.org/officeDocument/2006/relationships/image" Target="../media/img047_image-1-17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g049_image-1-1.png"/><Relationship Id="rId2" Type="http://schemas.openxmlformats.org/officeDocument/2006/relationships/image" Target="../media/img049_image-1-2.png"/><Relationship Id="rId3" Type="http://schemas.openxmlformats.org/officeDocument/2006/relationships/image" Target="../media/img049_image-1-1.png"/><Relationship Id="rId4" Type="http://schemas.openxmlformats.org/officeDocument/2006/relationships/image" Target="../media/img049_image-1-2.png"/><Relationship Id="rId5" Type="http://schemas.openxmlformats.org/officeDocument/2006/relationships/image" Target="../media/img049_image-1-1.png"/><Relationship Id="rId6" Type="http://schemas.openxmlformats.org/officeDocument/2006/relationships/image" Target="../media/img049_image-1-2.png"/><Relationship Id="rId7" Type="http://schemas.openxmlformats.org/officeDocument/2006/relationships/image" Target="../media/img049_image-1-1.png"/><Relationship Id="rId8" Type="http://schemas.openxmlformats.org/officeDocument/2006/relationships/image" Target="../media/img049_image-1-2.png"/><Relationship Id="rId9" Type="http://schemas.openxmlformats.org/officeDocument/2006/relationships/image" Target="../media/img049_image-1-1.png"/><Relationship Id="rId10" Type="http://schemas.openxmlformats.org/officeDocument/2006/relationships/image" Target="../media/img049_image-1-2.png"/><Relationship Id="rId11" Type="http://schemas.openxmlformats.org/officeDocument/2006/relationships/image" Target="../media/img049_image-1-1.png"/><Relationship Id="rId12" Type="http://schemas.openxmlformats.org/officeDocument/2006/relationships/image" Target="../media/img049_image-1-2.png"/><Relationship Id="rId13" Type="http://schemas.openxmlformats.org/officeDocument/2006/relationships/image" Target="../media/img049_image-1-13.png"/><Relationship Id="rId14" Type="http://schemas.openxmlformats.org/officeDocument/2006/relationships/image" Target="../media/img049_image-1-14.png"/><Relationship Id="rId15" Type="http://schemas.openxmlformats.org/officeDocument/2006/relationships/image" Target="../media/img049_image-1-15.png"/><Relationship Id="rId16" Type="http://schemas.openxmlformats.org/officeDocument/2006/relationships/image" Target="../media/img049_image-1-14.png"/><Relationship Id="rId17" Type="http://schemas.openxmlformats.org/officeDocument/2006/relationships/image" Target="../media/img049_image-1-15.png"/><Relationship Id="rId18" Type="http://schemas.openxmlformats.org/officeDocument/2006/relationships/image" Target="../media/img049_image-1-14.png"/><Relationship Id="rId19" Type="http://schemas.openxmlformats.org/officeDocument/2006/relationships/image" Target="../media/img049_image-1-15.png"/><Relationship Id="rId20" Type="http://schemas.openxmlformats.org/officeDocument/2006/relationships/image" Target="../media/img049_image-1-20.png"/><Relationship Id="rId21" Type="http://schemas.openxmlformats.org/officeDocument/2006/relationships/image" Target="../media/img049_image-1-21.png"/><Relationship Id="rId22" Type="http://schemas.openxmlformats.org/officeDocument/2006/relationships/image" Target="../media/img049_image-1-20.png"/><Relationship Id="rId23" Type="http://schemas.openxmlformats.org/officeDocument/2006/relationships/image" Target="../media/img049_image-1-21.png"/><Relationship Id="rId24" Type="http://schemas.openxmlformats.org/officeDocument/2006/relationships/image" Target="../media/img049_image-1-20.png"/><Relationship Id="rId25" Type="http://schemas.openxmlformats.org/officeDocument/2006/relationships/image" Target="../media/img049_image-1-21.png"/><Relationship Id="rId26" Type="http://schemas.openxmlformats.org/officeDocument/2006/relationships/image" Target="../media/img049_image-1-20.png"/><Relationship Id="rId27" Type="http://schemas.openxmlformats.org/officeDocument/2006/relationships/image" Target="../media/img049_image-1-21.png"/><Relationship Id="rId28" Type="http://schemas.openxmlformats.org/officeDocument/2006/relationships/image" Target="../media/img049_image-1-20.png"/><Relationship Id="rId29" Type="http://schemas.openxmlformats.org/officeDocument/2006/relationships/image" Target="../media/img049_image-1-21.png"/><Relationship Id="rId30" Type="http://schemas.openxmlformats.org/officeDocument/2006/relationships/image" Target="../media/img049_image-1-20.png"/><Relationship Id="rId31" Type="http://schemas.openxmlformats.org/officeDocument/2006/relationships/image" Target="../media/img049_image-1-21.png"/><Relationship Id="rId32" Type="http://schemas.openxmlformats.org/officeDocument/2006/relationships/image" Target="../media/img049_image-1-32.png"/><Relationship Id="rId33" Type="http://schemas.openxmlformats.org/officeDocument/2006/relationships/image" Target="../media/img049_image-1-32.png"/><Relationship Id="rId34" Type="http://schemas.openxmlformats.org/officeDocument/2006/relationships/image" Target="../media/img049_image-1-32.png"/><Relationship Id="rId35" Type="http://schemas.openxmlformats.org/officeDocument/2006/relationships/image" Target="../media/img049_image-1-35.png"/><Relationship Id="rId36" Type="http://schemas.openxmlformats.org/officeDocument/2006/relationships/image" Target="../media/img049_image-1-32.png"/><Relationship Id="rId37" Type="http://schemas.openxmlformats.org/officeDocument/2006/relationships/image" Target="../media/img049_image-1-37.png"/><Relationship Id="rId38" Type="http://schemas.openxmlformats.org/officeDocument/2006/relationships/image" Target="../media/img049_image-1-32.png"/><Relationship Id="rId39" Type="http://schemas.openxmlformats.org/officeDocument/2006/relationships/image" Target="../media/img049_image-1-39.png"/><Relationship Id="rId40" Type="http://schemas.openxmlformats.org/officeDocument/2006/relationships/image" Target="../media/img049_image-1-32.png"/><Relationship Id="rId41" Type="http://schemas.openxmlformats.org/officeDocument/2006/relationships/image" Target="../media/img049_image-1-41.png"/><Relationship Id="rId42" Type="http://schemas.openxmlformats.org/officeDocument/2006/relationships/image" Target="../media/img049_image-1-32.png"/><Relationship Id="rId43" Type="http://schemas.openxmlformats.org/officeDocument/2006/relationships/image" Target="../media/img049_image-1-43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971800" y="14732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Regression,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882900" y="21209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Descent,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965450" y="27940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Perceptron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994150" y="3902075"/>
            <a:ext cx="4064000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CSAI 253 - Spring 2024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257800" y="4437063"/>
            <a:ext cx="1905000" cy="399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5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3994150" y="4733925"/>
            <a:ext cx="444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521200" y="5084763"/>
            <a:ext cx="33655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73150" y="5292725"/>
            <a:ext cx="190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Instructors: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574800" y="5641975"/>
            <a:ext cx="4191000" cy="410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81150" y="5950744"/>
            <a:ext cx="3238500" cy="296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375" dirty="0"/>
          </a:p>
        </p:txBody>
      </p:sp>
      <p:sp>
        <p:nvSpPr>
          <p:cNvPr id="18" name="Text 16"/>
          <p:cNvSpPr/>
          <p:nvPr/>
        </p:nvSpPr>
        <p:spPr>
          <a:xfrm>
            <a:off x="1574800" y="6214427"/>
            <a:ext cx="3556000" cy="403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Mohamed Maher Ata</a:t>
            </a:r>
            <a:endParaRPr lang="en-US" sz="1870" dirty="0"/>
          </a:p>
        </p:txBody>
      </p:sp>
      <p:sp>
        <p:nvSpPr>
          <p:cNvPr id="19" name="Text 17"/>
          <p:cNvSpPr/>
          <p:nvPr/>
        </p:nvSpPr>
        <p:spPr>
          <a:xfrm>
            <a:off x="1581150" y="6508750"/>
            <a:ext cx="3111500" cy="30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momaher@zewailcity.edu.eg</a:t>
            </a:r>
            <a:endParaRPr lang="en-US" sz="1400" dirty="0"/>
          </a:p>
        </p:txBody>
      </p:sp>
      <p:pic>
        <p:nvPicPr>
          <p:cNvPr id="20" name="Image 0" descr="/workspaces/codespaces-blank/ai_llm_slides/videos/machine-learning/03_ridger_regression_gradient_descent/recreated_pptx/build/assets/logo_slide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8400" y="5791200"/>
            <a:ext cx="3771900" cy="977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8850" y="24003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of Standard Linear</a:t>
            </a:r>
            <a:endParaRPr lang="en-US" sz="4250" dirty="0"/>
          </a:p>
        </p:txBody>
      </p:sp>
      <p:sp>
        <p:nvSpPr>
          <p:cNvPr id="9" name="Text 7"/>
          <p:cNvSpPr/>
          <p:nvPr/>
        </p:nvSpPr>
        <p:spPr>
          <a:xfrm>
            <a:off x="974090" y="33528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Model</a:t>
            </a:r>
            <a:endParaRPr lang="en-US" sz="4250" dirty="0"/>
          </a:p>
        </p:txBody>
      </p:sp>
      <p:sp>
        <p:nvSpPr>
          <p:cNvPr id="10" name="Shape 8"/>
          <p:cNvSpPr/>
          <p:nvPr/>
        </p:nvSpPr>
        <p:spPr>
          <a:xfrm>
            <a:off x="9728200" y="901700"/>
            <a:ext cx="38100" cy="13970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11" name="Shape 9"/>
          <p:cNvSpPr/>
          <p:nvPr/>
        </p:nvSpPr>
        <p:spPr>
          <a:xfrm>
            <a:off x="9690100" y="939800"/>
            <a:ext cx="127000" cy="38100"/>
          </a:xfrm>
          <a:prstGeom prst="rect">
            <a:avLst/>
          </a:prstGeom>
          <a:solidFill>
            <a:srgbClr val="80808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9000" y="787400"/>
            <a:ext cx="1016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Notation for Linear Regression and Classification </a:t>
            </a:r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(N-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Samples)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16000" y="2197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Training Samples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41700" y="1358900"/>
            <a:ext cx="41275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7450" y="1790700"/>
            <a:ext cx="546100" cy="19685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2650" y="1790700"/>
            <a:ext cx="609600" cy="19685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508750" y="1790700"/>
            <a:ext cx="571500" cy="19685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14" name="Text 12"/>
          <p:cNvSpPr/>
          <p:nvPr/>
        </p:nvSpPr>
        <p:spPr>
          <a:xfrm>
            <a:off x="3695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9265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89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27450" y="19812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27450" y="23495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27450" y="28448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27450" y="30480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92650" y="19812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92650" y="23495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92650" y="2844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92650" y="30480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08750" y="19812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08750" y="2349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08750" y="2844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08750" y="30480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100" dirty="0"/>
          </a:p>
        </p:txBody>
      </p:sp>
      <p:pic>
        <p:nvPicPr>
          <p:cNvPr id="29" name="Image 0" descr="/home/ahmed/Projects/ai_llm_slides/videos/machine-learning/03_ridger_regression_gradient_descent/recreated_pptx/qa/slide003/parens/col1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1740" y="1854200"/>
            <a:ext cx="48260" cy="1485900"/>
          </a:xfrm>
          <a:prstGeom prst="rect">
            <a:avLst/>
          </a:prstGeom>
        </p:spPr>
      </p:pic>
      <p:pic>
        <p:nvPicPr>
          <p:cNvPr id="30" name="Image 1" descr="/home/ahmed/Projects/ai_llm_slides/videos/machine-learning/03_ridger_regression_gradient_descent/recreated_pptx/qa/slide003/parens/col1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1854200"/>
            <a:ext cx="48260" cy="1485900"/>
          </a:xfrm>
          <a:prstGeom prst="rect">
            <a:avLst/>
          </a:prstGeom>
        </p:spPr>
      </p:pic>
      <p:pic>
        <p:nvPicPr>
          <p:cNvPr id="31" name="Image 2" descr="/home/ahmed/Projects/ai_llm_slides/videos/machine-learning/03_ridger_regression_gradient_descent/recreated_pptx/qa/slide003/parens/col2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640" y="1854200"/>
            <a:ext cx="48260" cy="1485900"/>
          </a:xfrm>
          <a:prstGeom prst="rect">
            <a:avLst/>
          </a:prstGeom>
        </p:spPr>
      </p:pic>
      <p:pic>
        <p:nvPicPr>
          <p:cNvPr id="32" name="Image 3" descr="/home/ahmed/Projects/ai_llm_slides/videos/machine-learning/03_ridger_regression_gradient_descent/recreated_pptx/qa/slide003/parens/col2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342" y="1854200"/>
            <a:ext cx="48260" cy="1485900"/>
          </a:xfrm>
          <a:prstGeom prst="rect">
            <a:avLst/>
          </a:prstGeom>
        </p:spPr>
      </p:pic>
      <p:pic>
        <p:nvPicPr>
          <p:cNvPr id="33" name="Image 4" descr="/home/ahmed/Projects/ai_llm_slides/videos/machine-learning/03_ridger_regression_gradient_descent/recreated_pptx/qa/slide003/parens/col4_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8440" y="1854200"/>
            <a:ext cx="48260" cy="1485900"/>
          </a:xfrm>
          <a:prstGeom prst="rect">
            <a:avLst/>
          </a:prstGeom>
        </p:spPr>
      </p:pic>
      <p:pic>
        <p:nvPicPr>
          <p:cNvPr id="34" name="Image 5" descr="/home/ahmed/Projects/ai_llm_slides/videos/machine-learning/03_ridger_regression_gradient_descent/recreated_pptx/qa/slide003/parens/col4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1792" y="1854200"/>
            <a:ext cx="48260" cy="14859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3454400" y="3778250"/>
            <a:ext cx="41021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746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74345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6540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867400" y="35306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5334000" y="14605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800" dirty="0"/>
          </a:p>
        </p:txBody>
      </p:sp>
      <p:pic>
        <p:nvPicPr>
          <p:cNvPr id="41" name="Image 6" descr="/home/ahmed/Projects/ai_llm_slides/videos/machine-learning/03_ridger_regression_gradient_descent/recreated_pptx/qa/slide003/parens/arc_midcol_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7700" y="1993900"/>
            <a:ext cx="48260" cy="1193800"/>
          </a:xfrm>
          <a:prstGeom prst="rect">
            <a:avLst/>
          </a:prstGeom>
        </p:spPr>
      </p:pic>
      <p:pic>
        <p:nvPicPr>
          <p:cNvPr id="42" name="Image 7" descr="/home/ahmed/Projects/ai_llm_slides/videos/machine-learning/03_ridger_regression_gradient_descent/recreated_pptx/qa/slide003/parens/arc_midcol_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1993900"/>
            <a:ext cx="48260" cy="119380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689600" y="20701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4" name="Text 34"/>
          <p:cNvSpPr/>
          <p:nvPr/>
        </p:nvSpPr>
        <p:spPr>
          <a:xfrm>
            <a:off x="5689600" y="2413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5689600" y="2717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5689600" y="3060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8242300" y="1943100"/>
            <a:ext cx="2857500" cy="863600"/>
          </a:xfrm>
          <a:prstGeom prst="rect">
            <a:avLst/>
          </a:prstGeom>
          <a:solidFill>
            <a:srgbClr val="E5FEFA"/>
          </a:solidFill>
          <a:ln w="19050">
            <a:solidFill>
              <a:srgbClr val="0000FF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8331200" y="19939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8851900" y="23368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50" name="Shape 40"/>
          <p:cNvSpPr/>
          <p:nvPr/>
        </p:nvSpPr>
        <p:spPr>
          <a:xfrm>
            <a:off x="8369300" y="3403600"/>
            <a:ext cx="24257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5B3D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445500" y="3429000"/>
            <a:ext cx="2273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General: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&gt;&gt;&gt;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52" name="Shape 42"/>
          <p:cNvSpPr/>
          <p:nvPr/>
        </p:nvSpPr>
        <p:spPr>
          <a:xfrm>
            <a:off x="1003300" y="4102100"/>
            <a:ext cx="57658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2489200" y="4673600"/>
            <a:ext cx="2501900" cy="2794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4" name="Shape 44"/>
          <p:cNvSpPr/>
          <p:nvPr/>
        </p:nvSpPr>
        <p:spPr>
          <a:xfrm>
            <a:off x="2489200" y="5041900"/>
            <a:ext cx="2501900" cy="3302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5" name="Shape 45"/>
          <p:cNvSpPr/>
          <p:nvPr/>
        </p:nvSpPr>
        <p:spPr>
          <a:xfrm>
            <a:off x="2489200" y="5791200"/>
            <a:ext cx="2501900" cy="2794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56" name="Shape 46"/>
          <p:cNvSpPr/>
          <p:nvPr/>
        </p:nvSpPr>
        <p:spPr>
          <a:xfrm>
            <a:off x="1371600" y="4673600"/>
            <a:ext cx="355600" cy="2921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7" name="Shape 47"/>
          <p:cNvSpPr/>
          <p:nvPr/>
        </p:nvSpPr>
        <p:spPr>
          <a:xfrm>
            <a:off x="1371600" y="5067300"/>
            <a:ext cx="355600" cy="3048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8" name="Shape 48"/>
          <p:cNvSpPr/>
          <p:nvPr/>
        </p:nvSpPr>
        <p:spPr>
          <a:xfrm>
            <a:off x="1371600" y="5778500"/>
            <a:ext cx="355600" cy="304800"/>
          </a:xfrm>
          <a:prstGeom prst="rect">
            <a:avLst/>
          </a:prstGeom>
          <a:solidFill>
            <a:srgbClr val="F0A0F0"/>
          </a:solidFill>
          <a:ln/>
        </p:spPr>
      </p:sp>
      <p:pic>
        <p:nvPicPr>
          <p:cNvPr id="59" name="Image 8" descr="/home/ahmed/Projects/ai_llm_slides/videos/machine-learning/03_ridger_regression_gradient_descent/recreated_pptx/qa/slide003/parens/arc_yvec_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546600"/>
            <a:ext cx="48260" cy="1625600"/>
          </a:xfrm>
          <a:prstGeom prst="rect">
            <a:avLst/>
          </a:prstGeom>
        </p:spPr>
      </p:pic>
      <p:pic>
        <p:nvPicPr>
          <p:cNvPr id="60" name="Image 9" descr="/home/ahmed/Projects/ai_llm_slides/videos/machine-learning/03_ridger_regression_gradient_descent/recreated_pptx/qa/slide003/parens/arc_yvec_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8300" y="4546600"/>
            <a:ext cx="48260" cy="1625600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1384300" y="4673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2" name="Text 50"/>
          <p:cNvSpPr/>
          <p:nvPr/>
        </p:nvSpPr>
        <p:spPr>
          <a:xfrm>
            <a:off x="1384300" y="5041900"/>
            <a:ext cx="431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3" name="Text 51"/>
          <p:cNvSpPr/>
          <p:nvPr/>
        </p:nvSpPr>
        <p:spPr>
          <a:xfrm>
            <a:off x="1384300" y="5422900"/>
            <a:ext cx="431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500" dirty="0"/>
          </a:p>
        </p:txBody>
      </p:sp>
      <p:sp>
        <p:nvSpPr>
          <p:cNvPr id="64" name="Text 52"/>
          <p:cNvSpPr/>
          <p:nvPr/>
        </p:nvSpPr>
        <p:spPr>
          <a:xfrm>
            <a:off x="1384300" y="57912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500" dirty="0"/>
          </a:p>
        </p:txBody>
      </p:sp>
      <p:sp>
        <p:nvSpPr>
          <p:cNvPr id="65" name="Text 53"/>
          <p:cNvSpPr/>
          <p:nvPr/>
        </p:nvSpPr>
        <p:spPr>
          <a:xfrm>
            <a:off x="17780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1</a:t>
            </a:r>
            <a:endParaRPr lang="en-US" sz="1100" dirty="0"/>
          </a:p>
        </p:txBody>
      </p:sp>
      <p:sp>
        <p:nvSpPr>
          <p:cNvPr id="66" name="Text 54"/>
          <p:cNvSpPr/>
          <p:nvPr/>
        </p:nvSpPr>
        <p:spPr>
          <a:xfrm>
            <a:off x="1828800" y="49149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400" dirty="0"/>
          </a:p>
        </p:txBody>
      </p:sp>
      <p:sp>
        <p:nvSpPr>
          <p:cNvPr id="67" name="Text 55"/>
          <p:cNvSpPr/>
          <p:nvPr/>
        </p:nvSpPr>
        <p:spPr>
          <a:xfrm>
            <a:off x="26543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56"/>
          <p:cNvSpPr/>
          <p:nvPr/>
        </p:nvSpPr>
        <p:spPr>
          <a:xfrm>
            <a:off x="3111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9" name="Text 57"/>
          <p:cNvSpPr/>
          <p:nvPr/>
        </p:nvSpPr>
        <p:spPr>
          <a:xfrm>
            <a:off x="3683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70" name="Text 58"/>
          <p:cNvSpPr/>
          <p:nvPr/>
        </p:nvSpPr>
        <p:spPr>
          <a:xfrm>
            <a:off x="4191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1" name="Text 59"/>
          <p:cNvSpPr/>
          <p:nvPr/>
        </p:nvSpPr>
        <p:spPr>
          <a:xfrm>
            <a:off x="4635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000" dirty="0"/>
          </a:p>
        </p:txBody>
      </p:sp>
      <p:sp>
        <p:nvSpPr>
          <p:cNvPr id="72" name="Text 60"/>
          <p:cNvSpPr/>
          <p:nvPr/>
        </p:nvSpPr>
        <p:spPr>
          <a:xfrm>
            <a:off x="26543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3" name="Text 61"/>
          <p:cNvSpPr/>
          <p:nvPr/>
        </p:nvSpPr>
        <p:spPr>
          <a:xfrm>
            <a:off x="3111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74" name="Text 62"/>
          <p:cNvSpPr/>
          <p:nvPr/>
        </p:nvSpPr>
        <p:spPr>
          <a:xfrm>
            <a:off x="3683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5" name="Text 63"/>
          <p:cNvSpPr/>
          <p:nvPr/>
        </p:nvSpPr>
        <p:spPr>
          <a:xfrm>
            <a:off x="4191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6" name="Text 64"/>
          <p:cNvSpPr/>
          <p:nvPr/>
        </p:nvSpPr>
        <p:spPr>
          <a:xfrm>
            <a:off x="4635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000" dirty="0"/>
          </a:p>
        </p:txBody>
      </p:sp>
      <p:sp>
        <p:nvSpPr>
          <p:cNvPr id="77" name="Text 65"/>
          <p:cNvSpPr/>
          <p:nvPr/>
        </p:nvSpPr>
        <p:spPr>
          <a:xfrm>
            <a:off x="26543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66"/>
          <p:cNvSpPr/>
          <p:nvPr/>
        </p:nvSpPr>
        <p:spPr>
          <a:xfrm>
            <a:off x="3111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9" name="Text 67"/>
          <p:cNvSpPr/>
          <p:nvPr/>
        </p:nvSpPr>
        <p:spPr>
          <a:xfrm>
            <a:off x="3683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0" name="Text 68"/>
          <p:cNvSpPr/>
          <p:nvPr/>
        </p:nvSpPr>
        <p:spPr>
          <a:xfrm>
            <a:off x="4191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1" name="Text 69"/>
          <p:cNvSpPr/>
          <p:nvPr/>
        </p:nvSpPr>
        <p:spPr>
          <a:xfrm>
            <a:off x="4635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2" name="Text 70"/>
          <p:cNvSpPr/>
          <p:nvPr/>
        </p:nvSpPr>
        <p:spPr>
          <a:xfrm>
            <a:off x="26543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71"/>
          <p:cNvSpPr/>
          <p:nvPr/>
        </p:nvSpPr>
        <p:spPr>
          <a:xfrm>
            <a:off x="3111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000" dirty="0"/>
          </a:p>
        </p:txBody>
      </p:sp>
      <p:sp>
        <p:nvSpPr>
          <p:cNvPr id="84" name="Text 72"/>
          <p:cNvSpPr/>
          <p:nvPr/>
        </p:nvSpPr>
        <p:spPr>
          <a:xfrm>
            <a:off x="3683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000" dirty="0"/>
          </a:p>
        </p:txBody>
      </p:sp>
      <p:sp>
        <p:nvSpPr>
          <p:cNvPr id="85" name="Text 73"/>
          <p:cNvSpPr/>
          <p:nvPr/>
        </p:nvSpPr>
        <p:spPr>
          <a:xfrm>
            <a:off x="4191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6" name="Text 74"/>
          <p:cNvSpPr/>
          <p:nvPr/>
        </p:nvSpPr>
        <p:spPr>
          <a:xfrm>
            <a:off x="4635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000" dirty="0"/>
          </a:p>
        </p:txBody>
      </p:sp>
      <p:pic>
        <p:nvPicPr>
          <p:cNvPr id="87" name="Image 10" descr="/home/ahmed/Projects/ai_llm_slides/videos/machine-learning/03_ridger_regression_gradient_descent/recreated_pptx/qa/slide003/parens/arc_matrix_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3800" y="4597400"/>
            <a:ext cx="48260" cy="1549400"/>
          </a:xfrm>
          <a:prstGeom prst="rect">
            <a:avLst/>
          </a:prstGeom>
        </p:spPr>
      </p:pic>
      <p:pic>
        <p:nvPicPr>
          <p:cNvPr id="88" name="Image 11" descr="/home/ahmed/Projects/ai_llm_slides/videos/machine-learning/03_ridger_regression_gradient_descent/recreated_pptx/qa/slide003/parens/arc_matrix_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7600" y="4597400"/>
            <a:ext cx="48260" cy="1549400"/>
          </a:xfrm>
          <a:prstGeom prst="rect">
            <a:avLst/>
          </a:prstGeom>
        </p:spPr>
      </p:pic>
      <p:sp>
        <p:nvSpPr>
          <p:cNvPr id="89" name="Shape 75"/>
          <p:cNvSpPr/>
          <p:nvPr/>
        </p:nvSpPr>
        <p:spPr>
          <a:xfrm>
            <a:off x="25209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76"/>
          <p:cNvSpPr/>
          <p:nvPr/>
        </p:nvSpPr>
        <p:spPr>
          <a:xfrm>
            <a:off x="50101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1" name="Text 77"/>
          <p:cNvSpPr/>
          <p:nvPr/>
        </p:nvSpPr>
        <p:spPr>
          <a:xfrm>
            <a:off x="5067300" y="5943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d+1</a:t>
            </a:r>
            <a:endParaRPr lang="en-US" sz="1100" dirty="0"/>
          </a:p>
        </p:txBody>
      </p:sp>
      <p:pic>
        <p:nvPicPr>
          <p:cNvPr id="92" name="Image 12" descr="/home/ahmed/Projects/ai_llm_slides/videos/machine-learning/03_ridger_regression_gradient_descent/recreated_pptx/qa/slide003/parens/arc_wvec_L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16600" y="4419600"/>
            <a:ext cx="48260" cy="1651000"/>
          </a:xfrm>
          <a:prstGeom prst="rect">
            <a:avLst/>
          </a:prstGeom>
        </p:spPr>
      </p:pic>
      <p:pic>
        <p:nvPicPr>
          <p:cNvPr id="93" name="Image 13" descr="/home/ahmed/Projects/ai_llm_slides/videos/machine-learning/03_ridger_regression_gradient_descent/recreated_pptx/qa/slide003/parens/arc_wvec_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419600"/>
            <a:ext cx="48260" cy="1651000"/>
          </a:xfrm>
          <a:prstGeom prst="rect">
            <a:avLst/>
          </a:prstGeom>
        </p:spPr>
      </p:pic>
      <p:sp>
        <p:nvSpPr>
          <p:cNvPr id="94" name="Text 78"/>
          <p:cNvSpPr/>
          <p:nvPr/>
        </p:nvSpPr>
        <p:spPr>
          <a:xfrm>
            <a:off x="5867400" y="4445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95" name="Text 79"/>
          <p:cNvSpPr/>
          <p:nvPr/>
        </p:nvSpPr>
        <p:spPr>
          <a:xfrm>
            <a:off x="5867400" y="49276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80"/>
          <p:cNvSpPr/>
          <p:nvPr/>
        </p:nvSpPr>
        <p:spPr>
          <a:xfrm>
            <a:off x="5867400" y="52832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7" name="Text 81"/>
          <p:cNvSpPr/>
          <p:nvPr/>
        </p:nvSpPr>
        <p:spPr>
          <a:xfrm>
            <a:off x="5867400" y="57531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300" dirty="0"/>
          </a:p>
        </p:txBody>
      </p:sp>
      <p:sp>
        <p:nvSpPr>
          <p:cNvPr id="98" name="Text 82"/>
          <p:cNvSpPr/>
          <p:nvPr/>
        </p:nvSpPr>
        <p:spPr>
          <a:xfrm>
            <a:off x="5867400" y="5969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99" name="Text 83"/>
          <p:cNvSpPr/>
          <p:nvPr/>
        </p:nvSpPr>
        <p:spPr>
          <a:xfrm>
            <a:off x="5740400" y="617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4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 × 1</a:t>
            </a:r>
            <a:endParaRPr lang="en-US" sz="1100" dirty="0"/>
          </a:p>
        </p:txBody>
      </p:sp>
      <p:sp>
        <p:nvSpPr>
          <p:cNvPr id="100" name="Shape 84"/>
          <p:cNvSpPr/>
          <p:nvPr/>
        </p:nvSpPr>
        <p:spPr>
          <a:xfrm>
            <a:off x="6896100" y="5181600"/>
            <a:ext cx="4318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01" name="Shape 85"/>
          <p:cNvSpPr/>
          <p:nvPr/>
        </p:nvSpPr>
        <p:spPr>
          <a:xfrm>
            <a:off x="7429500" y="4102100"/>
            <a:ext cx="38227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2" name="Text 86"/>
          <p:cNvSpPr/>
          <p:nvPr/>
        </p:nvSpPr>
        <p:spPr>
          <a:xfrm>
            <a:off x="7683500" y="4521200"/>
            <a:ext cx="3314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6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6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103" name="Text 87"/>
          <p:cNvSpPr/>
          <p:nvPr/>
        </p:nvSpPr>
        <p:spPr>
          <a:xfrm>
            <a:off x="7683500" y="5054600"/>
            <a:ext cx="3314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</a:t>
            </a:r>
            <a:pPr algn="l" indent="0" marL="0">
              <a:buNone/>
            </a:pPr>
            <a:r>
              <a:rPr lang="en-US" sz="1300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N×d+1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matrix</a:t>
            </a:r>
            <a:endParaRPr lang="en-US" sz="1300" dirty="0"/>
          </a:p>
        </p:txBody>
      </p:sp>
      <p:sp>
        <p:nvSpPr>
          <p:cNvPr id="104" name="Text 88"/>
          <p:cNvSpPr/>
          <p:nvPr/>
        </p:nvSpPr>
        <p:spPr>
          <a:xfrm>
            <a:off x="8483600" y="5664200"/>
            <a:ext cx="2514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vector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863600"/>
            <a:ext cx="558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of 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1016000" y="1257300"/>
            <a:ext cx="40005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4_Y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295400"/>
            <a:ext cx="2260598" cy="1371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11500" y="17272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717800" y="20066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22900" y="1257300"/>
            <a:ext cx="40386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Image 1" descr="/home/ahmed/Projects/ai_llm_slides/videos/machine-learning/03_ridger_regression_gradient_descent/recreated_pptx/build/assets/eq_004_Yhatv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0" y="1320800"/>
            <a:ext cx="1752603" cy="146049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54900" y="17399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75500" y="20701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Ŷ=X</a:t>
            </a:r>
            <a:pPr algn="l" indent="0" marL="0">
              <a:lnSpc>
                <a:spcPts val="13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956800" y="1270000"/>
            <a:ext cx="1231900" cy="673100"/>
          </a:xfrm>
          <a:prstGeom prst="rect">
            <a:avLst/>
          </a:prstGeom>
          <a:solidFill>
            <a:srgbClr val="DBE9FC"/>
          </a:solidFill>
          <a:ln/>
        </p:spPr>
      </p:sp>
      <p:sp>
        <p:nvSpPr>
          <p:cNvPr id="18" name="Text 14"/>
          <p:cNvSpPr/>
          <p:nvPr/>
        </p:nvSpPr>
        <p:spPr>
          <a:xfrm>
            <a:off x="9994900" y="12954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build/assets/eq_004_n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584" y="1610106"/>
            <a:ext cx="1038758" cy="25054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90600" y="3073400"/>
            <a:ext cx="28448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66800" y="3073400"/>
            <a:ext cx="26924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90600" y="3886200"/>
            <a:ext cx="51816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66800" y="3886200"/>
            <a:ext cx="5029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Ŷ≠Y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There is an </a:t>
            </a:r>
            <a:pPr algn="l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(Loss)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73800" y="2971800"/>
            <a:ext cx="4927600" cy="173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13500" y="32004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451600" y="3378200"/>
            <a:ext cx="228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997700" y="3378200"/>
            <a:ext cx="1905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540750" y="3251200"/>
            <a:ext cx="111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6426200" y="36068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</a:t>
            </a:r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d+1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779000" y="36322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0147300" y="36068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7270750" y="39243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289800" y="4095750"/>
            <a:ext cx="2159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779000" y="3949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0147300" y="39243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7162800" y="42672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Model Parameter 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7175500" y="4419600"/>
            <a:ext cx="2413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9779000" y="4292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10147300" y="42672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952500" y="4914900"/>
            <a:ext cx="7429500" cy="774700"/>
          </a:xfrm>
          <a:prstGeom prst="rect">
            <a:avLst/>
          </a:prstGeom>
          <a:solidFill>
            <a:srgbClr val="FAEBD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1041400" y="4914900"/>
            <a:ext cx="7251700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990600" y="5892800"/>
            <a:ext cx="5181600" cy="7366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pic>
        <p:nvPicPr>
          <p:cNvPr id="43" name="Image 3" descr="/home/ahmed/Projects/ai_llm_slides/videos/machine-learning/03_ridger_regression_gradient_descent/recreated_pptx/build/assets/eq_004_formul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6004560"/>
            <a:ext cx="3797320" cy="3464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8763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Minimization of Loss function to obtain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BEST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model 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1295400"/>
            <a:ext cx="10426700" cy="22352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5_los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144" y="1360558"/>
            <a:ext cx="5713816" cy="568184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eq_005_los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460" y="2176068"/>
            <a:ext cx="6805984" cy="562764"/>
          </a:xfrm>
          <a:prstGeom prst="rect">
            <a:avLst/>
          </a:prstGeom>
        </p:spPr>
      </p:pic>
      <p:pic>
        <p:nvPicPr>
          <p:cNvPr id="12" name="Image 2" descr="/home/ahmed/Projects/ai_llm_slides/videos/machine-learning/03_ridger_regression_gradient_descent/recreated_pptx/build/assets/eq_005_loss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084" y="2899591"/>
            <a:ext cx="5434533" cy="56351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85200" y="1701800"/>
            <a:ext cx="2628900" cy="13335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648700" y="17526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648700" y="2006600"/>
            <a:ext cx="292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matrix, </a:t>
            </a:r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3736B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vector,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648700" y="2273300"/>
            <a:ext cx="19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</a:t>
            </a:r>
            <a:endParaRPr lang="en-US" sz="1400" dirty="0"/>
          </a:p>
        </p:txBody>
      </p:sp>
      <p:pic>
        <p:nvPicPr>
          <p:cNvPr id="17" name="Image 3" descr="/home/ahmed/Projects/ai_llm_slides/videos/machine-learning/03_ridger_regression_gradient_descent/recreated_pptx/build/assets/eq_005_remember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585" y="2680587"/>
            <a:ext cx="2386334" cy="32842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27100" y="3657600"/>
            <a:ext cx="5511800" cy="711200"/>
          </a:xfrm>
          <a:prstGeom prst="rect">
            <a:avLst/>
          </a:prstGeom>
          <a:solidFill>
            <a:srgbClr val="F8CFD3"/>
          </a:solidFill>
          <a:ln w="12700">
            <a:solidFill>
              <a:srgbClr val="7D1B28"/>
            </a:solidFill>
            <a:prstDash val="solid"/>
          </a:ln>
        </p:spPr>
      </p:sp>
      <p:pic>
        <p:nvPicPr>
          <p:cNvPr id="19" name="Image 4" descr="/home/ahmed/Projects/ai_llm_slides/videos/machine-learning/03_ridger_regression_gradient_descent/recreated_pptx/build/assets/eq_005_pinkfra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250" y="3707039"/>
            <a:ext cx="1130303" cy="61232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89200" y="3886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Get Best </a:t>
            </a:r>
            <a:pPr algn="l" indent="0" marL="0">
              <a:lnSpc>
                <a:spcPts val="1740"/>
              </a:lnSpc>
              <a:buNone/>
            </a:pPr>
            <a:r>
              <a:rPr lang="en-US" sz="174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that minimizes the loss</a:t>
            </a:r>
            <a:endParaRPr lang="en-US" sz="1740" dirty="0"/>
          </a:p>
        </p:txBody>
      </p:sp>
      <p:sp>
        <p:nvSpPr>
          <p:cNvPr id="21" name="Shape 14"/>
          <p:cNvSpPr/>
          <p:nvPr/>
        </p:nvSpPr>
        <p:spPr>
          <a:xfrm>
            <a:off x="914400" y="4546600"/>
            <a:ext cx="10426700" cy="20955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22" name="Image 5" descr="/home/ahmed/Projects/ai_llm_slides/videos/machine-learning/03_ridger_regression_gradient_descent/recreated_pptx/build/assets/eq_005_deriv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3346" y="4740767"/>
            <a:ext cx="6336309" cy="576866"/>
          </a:xfrm>
          <a:prstGeom prst="rect">
            <a:avLst/>
          </a:prstGeom>
        </p:spPr>
      </p:pic>
      <p:pic>
        <p:nvPicPr>
          <p:cNvPr id="23" name="Image 6" descr="/home/ahmed/Projects/ai_llm_slides/videos/machine-learning/03_ridger_regression_gradient_descent/recreated_pptx/build/assets/eq_005_deriv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0651" y="5820267"/>
            <a:ext cx="6920502" cy="576866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8331200" y="4724400"/>
            <a:ext cx="2755900" cy="6477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8394700" y="47752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pic>
        <p:nvPicPr>
          <p:cNvPr id="26" name="Image 7" descr="/home/ahmed/Projects/ai_llm_slides/videos/machine-learning/03_ridger_regression_gradient_descent/recreated_pptx/build/assets/eq_005_remember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9841" y="4997863"/>
            <a:ext cx="2665915" cy="354773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8737600" y="5892800"/>
            <a:ext cx="2438400" cy="444500"/>
          </a:xfrm>
          <a:prstGeom prst="rect">
            <a:avLst/>
          </a:prstGeom>
          <a:solidFill>
            <a:srgbClr val="CEFFE3"/>
          </a:solidFill>
          <a:ln w="12700">
            <a:solidFill>
              <a:srgbClr val="2F8F3F"/>
            </a:solidFill>
            <a:prstDash val="solid"/>
          </a:ln>
        </p:spPr>
      </p:sp>
      <p:pic>
        <p:nvPicPr>
          <p:cNvPr id="28" name="Image 8" descr="/home/ahmed/Projects/ai_llm_slides/videos/machine-learning/03_ridger_regression_gradient_descent/recreated_pptx/build/assets/eq_005_final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4560" y="5875647"/>
            <a:ext cx="2437177" cy="466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27200" y="3041650"/>
            <a:ext cx="889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727200" y="3627120"/>
            <a:ext cx="889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Linearly Separable Data)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940003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90600" y="1524000"/>
            <a:ext cx="10248900" cy="49911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7600" y="1854200"/>
            <a:ext cx="1003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the Dataset is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linearly separable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(suitable to apply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7600" y="24638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 has FOUR problems: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17600" y="30607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➢Overfitting Problem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17600" y="36322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[1]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(Singular Matrix)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17600" y="43180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[2]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(Large Matrix dimension)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17600" y="49403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➢Different Hyperplanes can solve the problems </a:t>
            </a:r>
            <a:pPr indent="0" marL="0">
              <a:buNone/>
            </a:pPr>
            <a:r>
              <a:rPr lang="en-US" sz="2200" b="1" i="1" spc="-60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(Selection of Best Hyperplane)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" y="2827020"/>
            <a:ext cx="11176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10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Ridge Regularizer to Minimize Overfitting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324100" y="3750310"/>
            <a:ext cx="711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buNone/>
            </a:pPr>
            <a:r>
              <a:rPr lang="en-US" sz="2775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 Known as L2 regularizer)</a:t>
            </a:r>
            <a:endParaRPr lang="en-US" sz="2775" dirty="0"/>
          </a:p>
        </p:txBody>
      </p:sp>
    </p:spTree>
  </p:cSld>
  <p:clrMapOvr>
    <a:masterClrMapping/>
  </p:clrMapOvr>
</p:sld>
</file>

<file path=ppt/slides/slide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08250" y="1841500"/>
            <a:ext cx="913511" cy="177838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2241550" y="1841500"/>
            <a:ext cx="266700" cy="137033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9168722">
            <a:off x="3355551" y="3529893"/>
            <a:ext cx="88900" cy="952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7" name="Shape 55"/>
          <p:cNvSpPr/>
          <p:nvPr/>
        </p:nvSpPr>
        <p:spPr>
          <a:xfrm rot="-1631278">
            <a:off x="2483562" y="1835185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797175" y="2905125"/>
            <a:ext cx="311150" cy="311150"/>
          </a:xfrm>
          <a:prstGeom prst="ellipse">
            <a:avLst/>
          </a:prstGeom>
          <a:solidFill>
            <a:srgbClr val="EE3145"/>
          </a:solidFill>
          <a:ln/>
        </p:spPr>
      </p:sp>
      <p:sp>
        <p:nvSpPr>
          <p:cNvPr id="59" name="Shape 57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2" name="Shape 60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3" name="Shape 61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4" name="Shape 62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5" name="Shape 63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6" name="Shape 64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7" name="Shape 65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8" name="Shape 66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9" name="Shape 67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1" name="Text 69"/>
          <p:cNvSpPr/>
          <p:nvPr/>
        </p:nvSpPr>
        <p:spPr>
          <a:xfrm rot="3768000">
            <a:off x="2095500" y="26035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50.85 mm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3" name="Shape 71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5" name="Shape 73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6" name="Shape 74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8" name="Shape 76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759700" y="1841500"/>
            <a:ext cx="1061593" cy="222923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505700" y="1841500"/>
            <a:ext cx="254000" cy="120904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9272210">
            <a:off x="8755003" y="3974066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2" name="Shape 120"/>
          <p:cNvSpPr/>
          <p:nvPr/>
        </p:nvSpPr>
        <p:spPr>
          <a:xfrm rot="-1527790">
            <a:off x="7733470" y="1835948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5" name="Text 133"/>
          <p:cNvSpPr/>
          <p:nvPr/>
        </p:nvSpPr>
        <p:spPr>
          <a:xfrm rot="3870000">
            <a:off x="7518400" y="29210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63.64 mm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9" name="Shape 137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743200" y="1879600"/>
            <a:ext cx="12954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2" name="Equation OMML" descr="50.85^{2} = 2585"/>
              <p:cNvSpPr txBox="1"/>
              <p:nvPr/>
            </p:nvSpPr>
            <p:spPr>
              <a:xfrm>
                <a:off x="2860040" y="1958340"/>
                <a:ext cx="1092708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50.8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5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=2585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2" name="Image 0" descr="/home/ahmed/Projects/ai_llm_slides/videos/machine-learning/03_ridger_regression_gradient_descent/recreated_pptx/build/assets/eq_009_left_attempt4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860040" y="1958340"/>
                <a:ext cx="1092708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3" name="Shape 140"/>
          <p:cNvSpPr/>
          <p:nvPr/>
        </p:nvSpPr>
        <p:spPr>
          <a:xfrm>
            <a:off x="8013700" y="1879600"/>
            <a:ext cx="13208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4" name="Equation OMML" descr="63.64^{2} = 4050"/>
              <p:cNvSpPr txBox="1"/>
              <p:nvPr/>
            </p:nvSpPr>
            <p:spPr>
              <a:xfrm>
                <a:off x="8155940" y="1958340"/>
                <a:ext cx="1095756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63.6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4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=4050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4" name="Image 1" descr="/home/ahmed/Projects/ai_llm_slides/videos/machine-learning/03_ridger_regression_gradient_descent/recreated_pptx/build/assets/eq_009_right_attempt4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55940" y="1958340"/>
                <a:ext cx="1095756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5" name="Shape 141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46" name="Shape 142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47" name="Shape 143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48" name="Shape 144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49" name="Shape 145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50" name="Shape 146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51" name="Shape 147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52" name="Shape 148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53" name="Text 149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54" name="Text 150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55" name="Text 151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56" name="Text 152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Shape 53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7" name="Shape 95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8" name="Shape 96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99" name="Shape 97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3" name="Shape 101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727200" y="36766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rot="16200000">
            <a:off x="1628775" y="36226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064000" y="37274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14800" y="3822700"/>
            <a:ext cx="0" cy="16891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727200" y="38163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rot="16200000">
            <a:off x="1628775" y="37623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787900" y="38735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851400" y="3962400"/>
            <a:ext cx="0" cy="1549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>
            <a:off x="1727200" y="3028950"/>
            <a:ext cx="27559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rot="16200000">
            <a:off x="1635125" y="2974975"/>
            <a:ext cx="76200" cy="10795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83100" y="3048000"/>
            <a:ext cx="0" cy="242570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>
            <a:off x="443230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72300" y="37020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rot="16200000">
            <a:off x="6877050" y="3651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309100" y="37338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359900" y="3835400"/>
            <a:ext cx="0" cy="1676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6972300" y="38290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rot="16200000">
            <a:off x="6877050" y="3778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33000" y="38798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96500" y="3975100"/>
            <a:ext cx="0" cy="15367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>
            <a:off x="6985000" y="3644900"/>
            <a:ext cx="27432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rot="16200000">
            <a:off x="6883400" y="3594100"/>
            <a:ext cx="76200" cy="10160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4550" y="3663950"/>
            <a:ext cx="0" cy="180975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>
            <a:off x="968375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36" name="Shape 134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2" name="Text 160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63" name="Text 161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64" name="Text 162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65" name="Text 163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4070" y="2833370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of Overfitting due to outlier in data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556500" y="3276600"/>
            <a:ext cx="13208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1443355" y="3736340"/>
            <a:ext cx="889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0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(and how to minimize overfitting )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863600"/>
            <a:ext cx="812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3600" y="1320800"/>
            <a:ext cx="1651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" y="1412240"/>
            <a:ext cx="1651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6300" y="2222500"/>
            <a:ext cx="16256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876300" y="232283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6300" y="252095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6300" y="41021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876300" y="41821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6300" y="56515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" y="57315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1612900"/>
          <a:ext cx="4673600" cy="17526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9740900" y="1219200"/>
            <a:ext cx="1270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0" name="Text 17"/>
          <p:cNvSpPr/>
          <p:nvPr/>
        </p:nvSpPr>
        <p:spPr>
          <a:xfrm>
            <a:off x="9740900" y="1310640"/>
            <a:ext cx="1270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63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35000"/>
                <a:gridCol w="635000"/>
                <a:gridCol w="647700"/>
                <a:gridCol w="6731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3365500"/>
          <a:ext cx="4673600" cy="17653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8"/>
          <p:cNvSpPr/>
          <p:nvPr/>
        </p:nvSpPr>
        <p:spPr>
          <a:xfrm>
            <a:off x="8978900" y="3429000"/>
            <a:ext cx="16383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4" name="Text 19"/>
          <p:cNvSpPr/>
          <p:nvPr/>
        </p:nvSpPr>
        <p:spPr>
          <a:xfrm>
            <a:off x="8978900" y="352933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978900" y="372745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09000" y="3181350"/>
            <a:ext cx="444500" cy="0"/>
          </a:xfrm>
          <a:prstGeom prst="line">
            <a:avLst/>
          </a:prstGeom>
          <a:noFill/>
          <a:ln w="25400">
            <a:solidFill>
              <a:srgbClr val="FF0000"/>
            </a:solidFill>
            <a:prstDash val="solid"/>
            <a:headEnd type="triangle"/>
          </a:ln>
        </p:spPr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5130800"/>
          <a:ext cx="46736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2"/>
          <p:cNvSpPr/>
          <p:nvPr/>
        </p:nvSpPr>
        <p:spPr>
          <a:xfrm>
            <a:off x="7670800" y="4648200"/>
            <a:ext cx="335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747000" y="4711700"/>
            <a:ext cx="3200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be the effect of X8 Outlier values on the trained model ???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787400"/>
            <a:ext cx="838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16256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33782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51181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32550" y="16192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workspaces/codespaces-blank/ai_llm_slides/videos/machine-learning/03_ridger_regression_gradient_descent/recreated_pptx/build/assets/wbox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256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32550" y="33718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workspaces/codespaces-blank/ai_llm_slides/videos/machine-learning/03_ridger_regression_gradient_descent/recreated_pptx/build/assets/wbox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782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32550" y="51244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workspaces/codespaces-blank/ai_llm_slides/videos/machine-learning/03_ridger_regression_gradient_descent/recreated_pptx/build/assets/wbox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308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0450" y="1174750"/>
            <a:ext cx="9525000" cy="558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3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4900" y="2235200"/>
            <a:ext cx="2146300" cy="266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0" name="Shape 8"/>
          <p:cNvSpPr/>
          <p:nvPr/>
        </p:nvSpPr>
        <p:spPr>
          <a:xfrm>
            <a:off x="1397000" y="3765550"/>
            <a:ext cx="24130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384300" y="6667500"/>
            <a:ext cx="6858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1500" y="6350000"/>
            <a:ext cx="24892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4300" y="6350000"/>
            <a:ext cx="12446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37998" y="559613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and L₂ Regularization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97000" y="1263609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Regularizers are based on: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54200" y="158118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Penalize large values of W</a:t>
            </a:r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(model parameters)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06500" y="22161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have the effect of better generalization of the model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06500" y="287652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Since there is a contradiction between model training (using training dataset) and model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7000" y="31940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generalization, the generalization term is added to the objective loss function with 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97000" y="3511570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weigh factor (do regularization to what extent)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06500" y="417195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Norm of the Weight Vector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54200" y="448943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L₂ regularization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(also know as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 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6500" y="5137191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also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Absolute values of the Weight Vector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854200" y="545467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regularization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6500" y="61023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Regularization is particularly important for Small number of samples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Large vector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97000" y="63944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78.7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45.1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7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7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7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76.5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35.4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8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8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8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0950" y="2700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6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Ridge Regularization to overcome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314450" y="3716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Problem of Singular Matrix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2324100" y="4292600"/>
            <a:ext cx="7137400" cy="38100"/>
          </a:xfrm>
          <a:prstGeom prst="rect">
            <a:avLst/>
          </a:prstGeom>
          <a:solidFill>
            <a:srgbClr val="C00000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73300" y="939800"/>
            <a:ext cx="812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Problem of Singular Matrix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pic>
        <p:nvPicPr>
          <p:cNvPr id="15" name="Image 0" descr="/home/ahmed/Projects/ai_llm_slides/videos/machine-learning/03_ridger_regression_gradient_descent/recreated_pptx/build/assets/eq_021_x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708" y="1676908"/>
            <a:ext cx="571500" cy="283464"/>
          </a:xfrm>
          <a:prstGeom prst="rect">
            <a:avLst/>
          </a:prstGeom>
        </p:spPr>
      </p:pic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1900" y="2197100"/>
          <a:ext cx="2616200" cy="673100"/>
        </p:xfrm>
        <a:graphic>
          <a:graphicData uri="http://schemas.openxmlformats.org/drawingml/2006/table">
            <a:tbl>
              <a:tblPr/>
              <a:tblGrid>
                <a:gridCol w="872067"/>
                <a:gridCol w="872067"/>
                <a:gridCol w="872067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14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92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7" name="Image 1" descr="/home/ahmed/Projects/ai_llm_slides/videos/machine-learning/03_ridger_regression_gradient_descent/recreated_pptx/build/assets/eq_021_det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08" y="2362708"/>
            <a:ext cx="1210056" cy="350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03900" y="24384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6248400" y="2413000"/>
            <a:ext cx="203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Singular Matrix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43900" y="2438400"/>
            <a:ext cx="469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8940800" y="24257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 Inverse</a:t>
            </a:r>
            <a:endParaRPr lang="en-US" sz="2100" dirty="0"/>
          </a:p>
        </p:txBody>
      </p:sp>
      <p:pic>
        <p:nvPicPr>
          <p:cNvPr id="22" name="Image 2" descr="/home/ahmed/Projects/ai_llm_slides/videos/machine-learning/03_ridger_regression_gradient_descent/recreated_pptx/build/assets/eq_021_reg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108" y="3797808"/>
            <a:ext cx="1432560" cy="345948"/>
          </a:xfrm>
          <a:prstGeom prst="rect">
            <a:avLst/>
          </a:prstGeom>
        </p:spPr>
      </p:pic>
      <p:pic>
        <p:nvPicPr>
          <p:cNvPr id="23" name="Image 3" descr="/home/ahmed/Projects/ai_llm_slides/videos/machine-learning/03_ridger_regression_gradient_descent/recreated_pptx/build/assets/eq_021_lambda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08" y="3848608"/>
            <a:ext cx="579120" cy="20116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358900" y="4318000"/>
            <a:ext cx="469900" cy="3048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5" name="Shape 18"/>
          <p:cNvSpPr/>
          <p:nvPr/>
        </p:nvSpPr>
        <p:spPr>
          <a:xfrm>
            <a:off x="2197100" y="4521200"/>
            <a:ext cx="482600" cy="2921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6" name="Shape 19"/>
          <p:cNvSpPr/>
          <p:nvPr/>
        </p:nvSpPr>
        <p:spPr>
          <a:xfrm>
            <a:off x="3086100" y="4711700"/>
            <a:ext cx="469900" cy="292100"/>
          </a:xfrm>
          <a:prstGeom prst="ellipse">
            <a:avLst/>
          </a:prstGeom>
          <a:solidFill>
            <a:srgbClr val="FDFD96"/>
          </a:solidFill>
          <a:ln/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330700"/>
          <a:ext cx="2413000" cy="685800"/>
        </p:xfrm>
        <a:graphic>
          <a:graphicData uri="http://schemas.openxmlformats.org/drawingml/2006/table">
            <a:tbl>
              <a:tblPr/>
              <a:tblGrid>
                <a:gridCol w="804333"/>
                <a:gridCol w="804333"/>
                <a:gridCol w="804333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17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43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8" name="Image 4" descr="/home/ahmed/Projects/ai_llm_slides/videos/machine-learning/03_ridger_regression_gradient_descent/recreated_pptx/build/assets/eq_021_d56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408" y="4483608"/>
            <a:ext cx="1621536" cy="3276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1341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540500" y="45212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Non-Singular Matrix</a:t>
            </a:r>
            <a:endParaRPr lang="en-US" sz="2350" dirty="0"/>
          </a:p>
        </p:txBody>
      </p:sp>
      <p:sp>
        <p:nvSpPr>
          <p:cNvPr id="31" name="Text 22"/>
          <p:cNvSpPr/>
          <p:nvPr/>
        </p:nvSpPr>
        <p:spPr>
          <a:xfrm>
            <a:off x="91694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9664700" y="45339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Exists</a:t>
            </a:r>
            <a:endParaRPr lang="en-US" sz="2100" dirty="0"/>
          </a:p>
        </p:txBody>
      </p:sp>
      <p:pic>
        <p:nvPicPr>
          <p:cNvPr id="33" name="Image 5" descr="/home/ahmed/Projects/ai_llm_slides/videos/machine-learning/03_ridger_regression_gradient_descent/recreated_pptx/build/assets/eq_021_invexp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6308" y="5906008"/>
            <a:ext cx="1757172" cy="34594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4584700" y="59817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6700" y="5816600"/>
          <a:ext cx="2603500" cy="673100"/>
        </p:xfrm>
        <a:graphic>
          <a:graphicData uri="http://schemas.openxmlformats.org/drawingml/2006/table">
            <a:tbl>
              <a:tblPr/>
              <a:tblGrid>
                <a:gridCol w="867833"/>
                <a:gridCol w="867833"/>
                <a:gridCol w="867833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0.07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0.04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0.23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-0.2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5600" y="2788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9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Inverse of High Dimension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695450" y="3931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(non-singular) Matrix</a:t>
            </a:r>
            <a:endParaRPr lang="en-US" sz="3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38250" y="1403350"/>
            <a:ext cx="8343900" cy="1371600"/>
          </a:xfrm>
          <a:prstGeom prst="rect">
            <a:avLst/>
          </a:prstGeom>
          <a:solidFill>
            <a:srgbClr val="CEFFE2"/>
          </a:solidFill>
          <a:ln w="12700">
            <a:solidFill>
              <a:srgbClr val="549B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4425" y="2901950"/>
            <a:ext cx="9918700" cy="2501900"/>
          </a:xfrm>
          <a:prstGeom prst="rect">
            <a:avLst/>
          </a:prstGeom>
          <a:solidFill>
            <a:srgbClr val="F8F8FF"/>
          </a:solidFill>
          <a:ln w="12700">
            <a:solidFill>
              <a:srgbClr val="B9B6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1250" y="5530850"/>
            <a:ext cx="9998075" cy="1200150"/>
          </a:xfrm>
          <a:prstGeom prst="rect">
            <a:avLst/>
          </a:prstGeom>
          <a:solidFill>
            <a:srgbClr val="FAFDE2"/>
          </a:solidFill>
          <a:ln w="12700">
            <a:solidFill>
              <a:srgbClr val="6B5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1300" y="8953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of High Dimension Matrix</a:t>
            </a:r>
            <a:endParaRPr lang="en-US" sz="2750" dirty="0"/>
          </a:p>
        </p:txBody>
      </p:sp>
      <p:sp>
        <p:nvSpPr>
          <p:cNvPr id="12" name="Text 10"/>
          <p:cNvSpPr/>
          <p:nvPr/>
        </p:nvSpPr>
        <p:spPr>
          <a:xfrm>
            <a:off x="1295400" y="1403350"/>
            <a:ext cx="120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2750" dirty="0"/>
          </a:p>
        </p:txBody>
      </p:sp>
      <p:pic>
        <p:nvPicPr>
          <p:cNvPr id="13" name="Image 0" descr="/workspaces/codespaces-blank/ai_llm_slides/videos/machine-learning/03_ridger_regression_gradient_descent/recreated_pptx/build/assets/eq_02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608" y="1892808"/>
            <a:ext cx="4133088" cy="50901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08100" y="24384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Feature vectors are of dimension </a:t>
            </a:r>
            <a:pPr algn="l" indent="0" marL="0">
              <a:buNone/>
            </a:pPr>
            <a:r>
              <a:rPr lang="en-US" sz="19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537200" y="2387600"/>
            <a:ext cx="50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⇒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413500" y="2425700"/>
            <a:ext cx="431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717030" y="238760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6845300" y="242570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07390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46620" y="2425700"/>
            <a:ext cx="279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of size 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74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83158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x 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0678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219200" y="30035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matrix inversion algorithm has a time complexity of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</a:t>
            </a:r>
            <a:endParaRPr lang="en-US" sz="2350" dirty="0"/>
          </a:p>
        </p:txBody>
      </p:sp>
      <p:sp>
        <p:nvSpPr>
          <p:cNvPr id="25" name="Text 22"/>
          <p:cNvSpPr/>
          <p:nvPr/>
        </p:nvSpPr>
        <p:spPr>
          <a:xfrm>
            <a:off x="10344150" y="303149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3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30" dirty="0"/>
          </a:p>
        </p:txBody>
      </p:sp>
      <p:sp>
        <p:nvSpPr>
          <p:cNvPr id="26" name="Text 23"/>
          <p:cNvSpPr/>
          <p:nvPr/>
        </p:nvSpPr>
        <p:spPr>
          <a:xfrm>
            <a:off x="10439400" y="30035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</a:t>
            </a:r>
            <a:endParaRPr lang="en-US" sz="2350" dirty="0"/>
          </a:p>
        </p:txBody>
      </p:sp>
      <p:sp>
        <p:nvSpPr>
          <p:cNvPr id="27" name="Text 24"/>
          <p:cNvSpPr/>
          <p:nvPr/>
        </p:nvSpPr>
        <p:spPr>
          <a:xfrm>
            <a:off x="1219200" y="34353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means that the computation time increases rapidly with the size of</a:t>
            </a:r>
            <a:endParaRPr lang="en-US" sz="2350" dirty="0"/>
          </a:p>
        </p:txBody>
      </p:sp>
      <p:sp>
        <p:nvSpPr>
          <p:cNvPr id="28" name="Text 25"/>
          <p:cNvSpPr/>
          <p:nvPr/>
        </p:nvSpPr>
        <p:spPr>
          <a:xfrm>
            <a:off x="1219200" y="3854450"/>
            <a:ext cx="876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 (increasing cubically with the number of components).</a:t>
            </a:r>
            <a:endParaRPr lang="en-US" sz="2350" dirty="0"/>
          </a:p>
        </p:txBody>
      </p:sp>
      <p:sp>
        <p:nvSpPr>
          <p:cNvPr id="29" name="Text 26"/>
          <p:cNvSpPr/>
          <p:nvPr/>
        </p:nvSpPr>
        <p:spPr>
          <a:xfrm>
            <a:off x="1219200" y="4552950"/>
            <a:ext cx="977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Example: if Features vector is of size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Inverse calculation is</a:t>
            </a:r>
            <a:endParaRPr lang="en-US" sz="2350" dirty="0"/>
          </a:p>
        </p:txBody>
      </p:sp>
      <p:sp>
        <p:nvSpPr>
          <p:cNvPr id="30" name="Text 27"/>
          <p:cNvSpPr/>
          <p:nvPr/>
        </p:nvSpPr>
        <p:spPr>
          <a:xfrm>
            <a:off x="1219200" y="49847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order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1000,000,000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is impractical</a:t>
            </a:r>
            <a:endParaRPr lang="en-US" sz="2350" dirty="0"/>
          </a:p>
        </p:txBody>
      </p:sp>
      <p:sp>
        <p:nvSpPr>
          <p:cNvPr id="31" name="Text 28"/>
          <p:cNvSpPr/>
          <p:nvPr/>
        </p:nvSpPr>
        <p:spPr>
          <a:xfrm>
            <a:off x="1219200" y="5626100"/>
            <a:ext cx="12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3016250" y="59944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using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Matrix inversion,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3816350" y="63373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iterative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32000" y="2672651"/>
            <a:ext cx="8128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5200650" y="3515538"/>
            <a:ext cx="1778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51000" y="4275201"/>
            <a:ext cx="889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apply to minimize Loss function</a:t>
            </a:r>
            <a:endParaRPr lang="en-US" sz="3000" dirty="0"/>
          </a:p>
        </p:txBody>
      </p:sp>
      <p:pic>
        <p:nvPicPr>
          <p:cNvPr id="11" name="Image 0" descr="/workspaces/codespaces-blank/ai_llm_slides/videos/machine-learning/03_ridger_regression_gradient_descent/recreated_pptx/build/assets/icon_024_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3750" y="6407150"/>
            <a:ext cx="222504" cy="2484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1400" y="1143000"/>
            <a:ext cx="9944100" cy="521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3800" y="69215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spc="11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Solution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1384300" y="1339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 Algorithm: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854200" y="175895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Start with initial </a:t>
            </a:r>
            <a:pPr algn="l" indent="0" marL="0">
              <a:buNone/>
            </a:pPr>
            <a:r>
              <a:rPr lang="en-US" sz="17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Weights (W)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854200" y="2190750"/>
            <a:ext cx="927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Update the weights by </a:t>
            </a:r>
            <a:pPr algn="l" indent="0" marL="0">
              <a:buNone/>
            </a:pPr>
            <a:r>
              <a:rPr lang="en-US" sz="1750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along the direction of </a:t>
            </a:r>
            <a:pPr algn="l" indent="0" marL="0">
              <a:buNone/>
            </a:pPr>
            <a:r>
              <a:rPr lang="en-US" sz="1750" b="1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gradient</a:t>
            </a:r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Loss function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54200" y="2609850"/>
            <a:ext cx="711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(w.r.t. W) (</a:t>
            </a:r>
            <a:pPr algn="l" indent="0" marL="0">
              <a:buNone/>
            </a:pPr>
            <a:r>
              <a:rPr lang="en-US" sz="1750" b="1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step is a hyper parameter,</a:t>
            </a:r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750" b="1" spc="32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 Learning Rate</a:t>
            </a:r>
            <a:pPr algn="l" indent="0" marL="0">
              <a:buNone/>
            </a:pPr>
            <a:r>
              <a:rPr lang="en-US" sz="1750" spc="32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854200" y="302895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Stop when the </a:t>
            </a:r>
            <a:pPr algn="l" indent="0" marL="0">
              <a:buNone/>
            </a:pPr>
            <a:r>
              <a:rPr lang="en-US" sz="175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is </a:t>
            </a:r>
            <a:pPr algn="l" indent="0" marL="0">
              <a:buNone/>
            </a:pPr>
            <a:r>
              <a:rPr lang="en-US" sz="175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zero</a:t>
            </a:r>
            <a:pPr algn="l" indent="0" marL="0">
              <a:buNone/>
            </a:pPr>
            <a:r>
              <a:rPr lang="en-US" sz="1750" spc="27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at the minimum value of the function)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384300" y="3879850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-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1155700" y="439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5700" y="566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1384300" y="4286250"/>
            <a:ext cx="863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 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objective function </a:t>
            </a:r>
            <a:pPr algn="l" indent="0" marL="0">
              <a:buNone/>
            </a:pPr>
            <a:r>
              <a:rPr lang="en-US" sz="1750" b="1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convex function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(even with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4300" y="473075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regularizer). This means it has </a:t>
            </a:r>
            <a:pPr algn="l" indent="0" marL="0">
              <a:buNone/>
            </a:pPr>
            <a:r>
              <a:rPr lang="en-US" sz="1750" b="1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Minimum</a:t>
            </a:r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(good news ).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1384300" y="5543550"/>
            <a:ext cx="971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will </a:t>
            </a:r>
            <a:pPr algn="l" indent="0" marL="0">
              <a:buNone/>
            </a:pPr>
            <a:r>
              <a:rPr lang="en-US" sz="1750" u="sng" spc="3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approximatly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this minimum value but at a </a:t>
            </a:r>
            <a:pPr algn="l" indent="0" marL="0">
              <a:buNone/>
            </a:pPr>
            <a:r>
              <a:rPr lang="en-US" sz="1750" u="sng" spc="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number of steps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depending on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1384300" y="59753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used </a:t>
            </a:r>
            <a:pPr algn="l" indent="0" marL="0">
              <a:buNone/>
            </a:pPr>
            <a:r>
              <a:rPr lang="en-US" sz="1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46250" y="801453"/>
            <a:ext cx="838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Negative Direction of Gradient with</a:t>
            </a:r>
            <a:endParaRPr lang="en-US" sz="3150" dirty="0"/>
          </a:p>
        </p:txBody>
      </p:sp>
      <p:sp>
        <p:nvSpPr>
          <p:cNvPr id="9" name="Text 7"/>
          <p:cNvSpPr/>
          <p:nvPr/>
        </p:nvSpPr>
        <p:spPr>
          <a:xfrm>
            <a:off x="3441700" y="1239603"/>
            <a:ext cx="508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Learning Rate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2457450" y="2120900"/>
            <a:ext cx="6635750" cy="431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25750" y="2819400"/>
            <a:ext cx="0" cy="27178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19400" y="5537200"/>
            <a:ext cx="56896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2832100" y="2616200"/>
                </a:moveTo>
                <a:lnTo>
                  <a:pt x="2768600" y="2819400"/>
                </a:lnTo>
                <a:lnTo>
                  <a:pt x="2895600" y="2819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8712200" y="5537200"/>
                </a:moveTo>
                <a:lnTo>
                  <a:pt x="8509000" y="5473700"/>
                </a:lnTo>
                <a:lnTo>
                  <a:pt x="8509000" y="5613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3750" y="34544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3750" y="36322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3750" y="381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3750" y="398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3750" y="41656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3750" y="4356100"/>
            <a:ext cx="0" cy="762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3750" y="45339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33750" y="47117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3750" y="48895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3750" y="508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3750" y="525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33750" y="54356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45150" y="52705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45150" y="5461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035300" y="2928390"/>
                </a:moveTo>
                <a:lnTo>
                  <a:pt x="3048000" y="2949566"/>
                </a:lnTo>
                <a:lnTo>
                  <a:pt x="3060700" y="2970641"/>
                </a:lnTo>
                <a:lnTo>
                  <a:pt x="3073400" y="2991616"/>
                </a:lnTo>
                <a:lnTo>
                  <a:pt x="3086100" y="3012491"/>
                </a:lnTo>
                <a:lnTo>
                  <a:pt x="3098800" y="3033265"/>
                </a:lnTo>
                <a:lnTo>
                  <a:pt x="3111500" y="3053939"/>
                </a:lnTo>
                <a:lnTo>
                  <a:pt x="3124200" y="3074512"/>
                </a:lnTo>
                <a:lnTo>
                  <a:pt x="3136900" y="3094985"/>
                </a:lnTo>
                <a:lnTo>
                  <a:pt x="3149600" y="3115357"/>
                </a:lnTo>
                <a:lnTo>
                  <a:pt x="3162300" y="3135629"/>
                </a:lnTo>
                <a:lnTo>
                  <a:pt x="3175000" y="3155801"/>
                </a:lnTo>
                <a:lnTo>
                  <a:pt x="3187700" y="3175872"/>
                </a:lnTo>
                <a:lnTo>
                  <a:pt x="3200400" y="3195843"/>
                </a:lnTo>
                <a:lnTo>
                  <a:pt x="3213100" y="3215714"/>
                </a:lnTo>
                <a:lnTo>
                  <a:pt x="3225800" y="3235484"/>
                </a:lnTo>
                <a:lnTo>
                  <a:pt x="3238500" y="3255153"/>
                </a:lnTo>
                <a:lnTo>
                  <a:pt x="3251200" y="3274723"/>
                </a:lnTo>
                <a:lnTo>
                  <a:pt x="3263900" y="3294192"/>
                </a:lnTo>
                <a:lnTo>
                  <a:pt x="3276600" y="3313560"/>
                </a:lnTo>
                <a:lnTo>
                  <a:pt x="3289300" y="3332828"/>
                </a:lnTo>
                <a:lnTo>
                  <a:pt x="3302000" y="3351996"/>
                </a:lnTo>
                <a:lnTo>
                  <a:pt x="3314700" y="3371063"/>
                </a:lnTo>
                <a:lnTo>
                  <a:pt x="3327400" y="3390030"/>
                </a:lnTo>
                <a:lnTo>
                  <a:pt x="3340100" y="3408897"/>
                </a:lnTo>
                <a:lnTo>
                  <a:pt x="3352800" y="3427663"/>
                </a:lnTo>
                <a:lnTo>
                  <a:pt x="3365500" y="3446328"/>
                </a:lnTo>
                <a:lnTo>
                  <a:pt x="3378200" y="3464894"/>
                </a:lnTo>
                <a:lnTo>
                  <a:pt x="3390900" y="3483358"/>
                </a:lnTo>
                <a:lnTo>
                  <a:pt x="3403600" y="3501723"/>
                </a:lnTo>
                <a:lnTo>
                  <a:pt x="3416300" y="3519987"/>
                </a:lnTo>
                <a:lnTo>
                  <a:pt x="3429000" y="3538151"/>
                </a:lnTo>
                <a:lnTo>
                  <a:pt x="3441700" y="3556214"/>
                </a:lnTo>
                <a:lnTo>
                  <a:pt x="3454400" y="3574177"/>
                </a:lnTo>
                <a:lnTo>
                  <a:pt x="3467100" y="3592039"/>
                </a:lnTo>
                <a:lnTo>
                  <a:pt x="3479800" y="3609801"/>
                </a:lnTo>
                <a:lnTo>
                  <a:pt x="3492500" y="3627463"/>
                </a:lnTo>
                <a:lnTo>
                  <a:pt x="3505200" y="3645024"/>
                </a:lnTo>
                <a:lnTo>
                  <a:pt x="3517900" y="3662485"/>
                </a:lnTo>
                <a:lnTo>
                  <a:pt x="3530600" y="3679845"/>
                </a:lnTo>
                <a:lnTo>
                  <a:pt x="3543300" y="3697105"/>
                </a:lnTo>
                <a:lnTo>
                  <a:pt x="3556000" y="3714265"/>
                </a:lnTo>
                <a:lnTo>
                  <a:pt x="3568700" y="3731324"/>
                </a:lnTo>
                <a:lnTo>
                  <a:pt x="3581400" y="3748283"/>
                </a:lnTo>
                <a:lnTo>
                  <a:pt x="3594100" y="3765142"/>
                </a:lnTo>
                <a:lnTo>
                  <a:pt x="3606800" y="3781900"/>
                </a:lnTo>
                <a:lnTo>
                  <a:pt x="3619500" y="3798557"/>
                </a:lnTo>
                <a:lnTo>
                  <a:pt x="3632200" y="3815114"/>
                </a:lnTo>
                <a:lnTo>
                  <a:pt x="3644900" y="3831571"/>
                </a:lnTo>
                <a:lnTo>
                  <a:pt x="3657600" y="3847928"/>
                </a:lnTo>
                <a:lnTo>
                  <a:pt x="3670300" y="3864184"/>
                </a:lnTo>
                <a:lnTo>
                  <a:pt x="3683000" y="3880339"/>
                </a:lnTo>
                <a:lnTo>
                  <a:pt x="3695700" y="3896395"/>
                </a:lnTo>
                <a:lnTo>
                  <a:pt x="3708400" y="3912349"/>
                </a:lnTo>
                <a:lnTo>
                  <a:pt x="3721100" y="3928204"/>
                </a:lnTo>
                <a:lnTo>
                  <a:pt x="3733800" y="3943958"/>
                </a:lnTo>
                <a:lnTo>
                  <a:pt x="3746500" y="3959611"/>
                </a:lnTo>
                <a:lnTo>
                  <a:pt x="3759200" y="3975165"/>
                </a:lnTo>
                <a:lnTo>
                  <a:pt x="3771900" y="3990618"/>
                </a:lnTo>
                <a:lnTo>
                  <a:pt x="3784600" y="4005970"/>
                </a:lnTo>
                <a:lnTo>
                  <a:pt x="3797300" y="4021222"/>
                </a:lnTo>
                <a:lnTo>
                  <a:pt x="3810000" y="4036374"/>
                </a:lnTo>
                <a:lnTo>
                  <a:pt x="3822700" y="4051425"/>
                </a:lnTo>
                <a:lnTo>
                  <a:pt x="3835400" y="4066376"/>
                </a:lnTo>
                <a:lnTo>
                  <a:pt x="3848100" y="4081226"/>
                </a:lnTo>
                <a:lnTo>
                  <a:pt x="3860800" y="4095976"/>
                </a:lnTo>
                <a:lnTo>
                  <a:pt x="3873500" y="4110626"/>
                </a:lnTo>
                <a:lnTo>
                  <a:pt x="3886200" y="4125175"/>
                </a:lnTo>
                <a:lnTo>
                  <a:pt x="3898900" y="4139624"/>
                </a:lnTo>
                <a:lnTo>
                  <a:pt x="3911600" y="4153972"/>
                </a:lnTo>
                <a:lnTo>
                  <a:pt x="3924300" y="4168220"/>
                </a:lnTo>
                <a:lnTo>
                  <a:pt x="3937000" y="4182368"/>
                </a:lnTo>
                <a:lnTo>
                  <a:pt x="3949700" y="4196415"/>
                </a:lnTo>
                <a:lnTo>
                  <a:pt x="3962400" y="4210362"/>
                </a:lnTo>
                <a:lnTo>
                  <a:pt x="3975100" y="4224208"/>
                </a:lnTo>
                <a:lnTo>
                  <a:pt x="3987800" y="4237954"/>
                </a:lnTo>
                <a:lnTo>
                  <a:pt x="4000500" y="4251599"/>
                </a:lnTo>
                <a:lnTo>
                  <a:pt x="4013200" y="4265145"/>
                </a:lnTo>
                <a:lnTo>
                  <a:pt x="4025900" y="4278589"/>
                </a:lnTo>
                <a:lnTo>
                  <a:pt x="4038600" y="4291934"/>
                </a:lnTo>
                <a:lnTo>
                  <a:pt x="4051300" y="4305178"/>
                </a:lnTo>
                <a:lnTo>
                  <a:pt x="4064000" y="4318321"/>
                </a:lnTo>
                <a:lnTo>
                  <a:pt x="4076700" y="4331365"/>
                </a:lnTo>
                <a:lnTo>
                  <a:pt x="4089400" y="4344307"/>
                </a:lnTo>
                <a:lnTo>
                  <a:pt x="4102100" y="4357150"/>
                </a:lnTo>
                <a:lnTo>
                  <a:pt x="4114800" y="4369892"/>
                </a:lnTo>
                <a:lnTo>
                  <a:pt x="4127500" y="4382533"/>
                </a:lnTo>
                <a:lnTo>
                  <a:pt x="4140200" y="4395074"/>
                </a:lnTo>
                <a:lnTo>
                  <a:pt x="4152900" y="4407515"/>
                </a:lnTo>
                <a:lnTo>
                  <a:pt x="4165600" y="4419856"/>
                </a:lnTo>
                <a:lnTo>
                  <a:pt x="4178300" y="4432096"/>
                </a:lnTo>
                <a:lnTo>
                  <a:pt x="4191000" y="4444235"/>
                </a:lnTo>
                <a:lnTo>
                  <a:pt x="4203700" y="4456274"/>
                </a:lnTo>
                <a:lnTo>
                  <a:pt x="4216400" y="4468213"/>
                </a:lnTo>
                <a:lnTo>
                  <a:pt x="4229100" y="4480051"/>
                </a:lnTo>
                <a:lnTo>
                  <a:pt x="4241800" y="4491789"/>
                </a:lnTo>
                <a:lnTo>
                  <a:pt x="4254500" y="4503427"/>
                </a:lnTo>
                <a:lnTo>
                  <a:pt x="4267200" y="4514964"/>
                </a:lnTo>
                <a:lnTo>
                  <a:pt x="4279900" y="4526401"/>
                </a:lnTo>
                <a:lnTo>
                  <a:pt x="4292600" y="4537737"/>
                </a:lnTo>
                <a:lnTo>
                  <a:pt x="4305300" y="4548973"/>
                </a:lnTo>
                <a:lnTo>
                  <a:pt x="4318000" y="4560109"/>
                </a:lnTo>
                <a:lnTo>
                  <a:pt x="4330700" y="4571144"/>
                </a:lnTo>
                <a:lnTo>
                  <a:pt x="4343400" y="4582078"/>
                </a:lnTo>
                <a:lnTo>
                  <a:pt x="4356100" y="4592913"/>
                </a:lnTo>
                <a:lnTo>
                  <a:pt x="4368800" y="4603647"/>
                </a:lnTo>
                <a:lnTo>
                  <a:pt x="4381500" y="4614280"/>
                </a:lnTo>
                <a:lnTo>
                  <a:pt x="4394200" y="4624813"/>
                </a:lnTo>
                <a:lnTo>
                  <a:pt x="4406900" y="4635246"/>
                </a:lnTo>
                <a:lnTo>
                  <a:pt x="4419600" y="4645578"/>
                </a:lnTo>
                <a:lnTo>
                  <a:pt x="4432300" y="4655810"/>
                </a:lnTo>
                <a:lnTo>
                  <a:pt x="4445000" y="4665942"/>
                </a:lnTo>
                <a:lnTo>
                  <a:pt x="4457700" y="4675973"/>
                </a:lnTo>
                <a:lnTo>
                  <a:pt x="4470400" y="4685904"/>
                </a:lnTo>
                <a:lnTo>
                  <a:pt x="4483100" y="4695734"/>
                </a:lnTo>
                <a:lnTo>
                  <a:pt x="4495800" y="4705464"/>
                </a:lnTo>
                <a:lnTo>
                  <a:pt x="4508500" y="4715094"/>
                </a:lnTo>
                <a:lnTo>
                  <a:pt x="4521200" y="4724623"/>
                </a:lnTo>
                <a:lnTo>
                  <a:pt x="4533900" y="4734051"/>
                </a:lnTo>
                <a:lnTo>
                  <a:pt x="4546600" y="4743380"/>
                </a:lnTo>
                <a:lnTo>
                  <a:pt x="4559300" y="4752608"/>
                </a:lnTo>
                <a:lnTo>
                  <a:pt x="4572000" y="4761735"/>
                </a:lnTo>
                <a:lnTo>
                  <a:pt x="4584700" y="4770762"/>
                </a:lnTo>
                <a:lnTo>
                  <a:pt x="4597400" y="4779689"/>
                </a:lnTo>
                <a:lnTo>
                  <a:pt x="4610100" y="4788515"/>
                </a:lnTo>
                <a:lnTo>
                  <a:pt x="4622800" y="4797241"/>
                </a:lnTo>
                <a:lnTo>
                  <a:pt x="4635500" y="4805867"/>
                </a:lnTo>
                <a:lnTo>
                  <a:pt x="4648200" y="4814392"/>
                </a:lnTo>
                <a:lnTo>
                  <a:pt x="4660900" y="4822816"/>
                </a:lnTo>
                <a:lnTo>
                  <a:pt x="4673600" y="4831141"/>
                </a:lnTo>
                <a:lnTo>
                  <a:pt x="4686300" y="4839365"/>
                </a:lnTo>
                <a:lnTo>
                  <a:pt x="4699000" y="4847488"/>
                </a:lnTo>
                <a:lnTo>
                  <a:pt x="4711700" y="4855511"/>
                </a:lnTo>
                <a:lnTo>
                  <a:pt x="4724400" y="4863434"/>
                </a:lnTo>
                <a:lnTo>
                  <a:pt x="4737100" y="4871256"/>
                </a:lnTo>
                <a:lnTo>
                  <a:pt x="4749800" y="4878978"/>
                </a:lnTo>
                <a:lnTo>
                  <a:pt x="4762500" y="4886600"/>
                </a:lnTo>
                <a:lnTo>
                  <a:pt x="4775200" y="4894121"/>
                </a:lnTo>
                <a:lnTo>
                  <a:pt x="4787900" y="4901541"/>
                </a:lnTo>
                <a:lnTo>
                  <a:pt x="4800600" y="4908862"/>
                </a:lnTo>
                <a:lnTo>
                  <a:pt x="4813300" y="4916082"/>
                </a:lnTo>
                <a:lnTo>
                  <a:pt x="4826000" y="4923201"/>
                </a:lnTo>
                <a:lnTo>
                  <a:pt x="4838700" y="4930220"/>
                </a:lnTo>
                <a:lnTo>
                  <a:pt x="4851400" y="4937139"/>
                </a:lnTo>
                <a:lnTo>
                  <a:pt x="4864100" y="4943957"/>
                </a:lnTo>
                <a:lnTo>
                  <a:pt x="4876800" y="4950675"/>
                </a:lnTo>
                <a:lnTo>
                  <a:pt x="4889500" y="4957292"/>
                </a:lnTo>
                <a:lnTo>
                  <a:pt x="4902200" y="4963809"/>
                </a:lnTo>
                <a:lnTo>
                  <a:pt x="4914900" y="4970226"/>
                </a:lnTo>
                <a:lnTo>
                  <a:pt x="4927600" y="4976542"/>
                </a:lnTo>
                <a:lnTo>
                  <a:pt x="4940300" y="4982758"/>
                </a:lnTo>
                <a:lnTo>
                  <a:pt x="4953000" y="4988874"/>
                </a:lnTo>
                <a:lnTo>
                  <a:pt x="4965700" y="4994889"/>
                </a:lnTo>
                <a:lnTo>
                  <a:pt x="4978400" y="5000803"/>
                </a:lnTo>
                <a:lnTo>
                  <a:pt x="4991100" y="5006618"/>
                </a:lnTo>
                <a:lnTo>
                  <a:pt x="5003800" y="5012332"/>
                </a:lnTo>
                <a:lnTo>
                  <a:pt x="5016500" y="5017945"/>
                </a:lnTo>
                <a:lnTo>
                  <a:pt x="5029200" y="5023458"/>
                </a:lnTo>
                <a:lnTo>
                  <a:pt x="5041900" y="5028871"/>
                </a:lnTo>
                <a:lnTo>
                  <a:pt x="5054600" y="5034183"/>
                </a:lnTo>
                <a:lnTo>
                  <a:pt x="5067300" y="5039395"/>
                </a:lnTo>
                <a:lnTo>
                  <a:pt x="5080000" y="5044506"/>
                </a:lnTo>
                <a:lnTo>
                  <a:pt x="5092700" y="5049517"/>
                </a:lnTo>
                <a:lnTo>
                  <a:pt x="5105400" y="5054428"/>
                </a:lnTo>
                <a:lnTo>
                  <a:pt x="5118100" y="5059238"/>
                </a:lnTo>
                <a:lnTo>
                  <a:pt x="5130800" y="5063948"/>
                </a:lnTo>
                <a:lnTo>
                  <a:pt x="5143500" y="5068558"/>
                </a:lnTo>
                <a:lnTo>
                  <a:pt x="5156200" y="5073067"/>
                </a:lnTo>
                <a:lnTo>
                  <a:pt x="5168900" y="5077475"/>
                </a:lnTo>
                <a:lnTo>
                  <a:pt x="5181600" y="5081783"/>
                </a:lnTo>
                <a:lnTo>
                  <a:pt x="5194300" y="5085991"/>
                </a:lnTo>
                <a:lnTo>
                  <a:pt x="5207000" y="5090099"/>
                </a:lnTo>
                <a:lnTo>
                  <a:pt x="5219700" y="5094106"/>
                </a:lnTo>
                <a:lnTo>
                  <a:pt x="5232400" y="5098012"/>
                </a:lnTo>
                <a:lnTo>
                  <a:pt x="5245100" y="5101819"/>
                </a:lnTo>
                <a:lnTo>
                  <a:pt x="5257800" y="5105524"/>
                </a:lnTo>
                <a:lnTo>
                  <a:pt x="5270500" y="5109130"/>
                </a:lnTo>
                <a:lnTo>
                  <a:pt x="5283200" y="5112635"/>
                </a:lnTo>
                <a:lnTo>
                  <a:pt x="5295900" y="5116039"/>
                </a:lnTo>
                <a:lnTo>
                  <a:pt x="5308600" y="5119344"/>
                </a:lnTo>
                <a:lnTo>
                  <a:pt x="5321300" y="5122547"/>
                </a:lnTo>
                <a:lnTo>
                  <a:pt x="5334000" y="5125651"/>
                </a:lnTo>
                <a:lnTo>
                  <a:pt x="5346700" y="5128654"/>
                </a:lnTo>
                <a:lnTo>
                  <a:pt x="5359400" y="5131557"/>
                </a:lnTo>
                <a:lnTo>
                  <a:pt x="5372100" y="5134359"/>
                </a:lnTo>
                <a:lnTo>
                  <a:pt x="5384800" y="5137061"/>
                </a:lnTo>
                <a:lnTo>
                  <a:pt x="5397500" y="5139662"/>
                </a:lnTo>
                <a:lnTo>
                  <a:pt x="5410200" y="5142163"/>
                </a:lnTo>
                <a:lnTo>
                  <a:pt x="5422900" y="5144564"/>
                </a:lnTo>
                <a:lnTo>
                  <a:pt x="5435600" y="5146864"/>
                </a:lnTo>
                <a:lnTo>
                  <a:pt x="5448300" y="5149064"/>
                </a:lnTo>
                <a:lnTo>
                  <a:pt x="5461000" y="5151163"/>
                </a:lnTo>
                <a:lnTo>
                  <a:pt x="5473700" y="5153162"/>
                </a:lnTo>
                <a:lnTo>
                  <a:pt x="5486400" y="5155061"/>
                </a:lnTo>
                <a:lnTo>
                  <a:pt x="5499100" y="5156859"/>
                </a:lnTo>
                <a:lnTo>
                  <a:pt x="5511800" y="5158557"/>
                </a:lnTo>
                <a:lnTo>
                  <a:pt x="5524500" y="5160154"/>
                </a:lnTo>
                <a:lnTo>
                  <a:pt x="5537200" y="5161651"/>
                </a:lnTo>
                <a:lnTo>
                  <a:pt x="5549900" y="5163047"/>
                </a:lnTo>
                <a:lnTo>
                  <a:pt x="5562600" y="5164344"/>
                </a:lnTo>
                <a:lnTo>
                  <a:pt x="5575300" y="5165539"/>
                </a:lnTo>
                <a:lnTo>
                  <a:pt x="5588000" y="5166635"/>
                </a:lnTo>
                <a:lnTo>
                  <a:pt x="5600700" y="5167630"/>
                </a:lnTo>
                <a:lnTo>
                  <a:pt x="5613400" y="5168524"/>
                </a:lnTo>
                <a:lnTo>
                  <a:pt x="5626100" y="5169319"/>
                </a:lnTo>
                <a:lnTo>
                  <a:pt x="5638800" y="5170012"/>
                </a:lnTo>
                <a:lnTo>
                  <a:pt x="5651500" y="5170606"/>
                </a:lnTo>
                <a:lnTo>
                  <a:pt x="5664200" y="5171099"/>
                </a:lnTo>
                <a:lnTo>
                  <a:pt x="5676900" y="5171491"/>
                </a:lnTo>
                <a:lnTo>
                  <a:pt x="5689600" y="5171783"/>
                </a:lnTo>
                <a:lnTo>
                  <a:pt x="5702300" y="5171975"/>
                </a:lnTo>
                <a:lnTo>
                  <a:pt x="5715000" y="5172067"/>
                </a:lnTo>
                <a:lnTo>
                  <a:pt x="5727700" y="5172058"/>
                </a:lnTo>
                <a:lnTo>
                  <a:pt x="5740400" y="5171948"/>
                </a:lnTo>
                <a:lnTo>
                  <a:pt x="5753100" y="5171738"/>
                </a:lnTo>
                <a:lnTo>
                  <a:pt x="5765800" y="5171428"/>
                </a:lnTo>
                <a:lnTo>
                  <a:pt x="5778500" y="5171017"/>
                </a:lnTo>
                <a:lnTo>
                  <a:pt x="5791200" y="5170506"/>
                </a:lnTo>
                <a:lnTo>
                  <a:pt x="5803900" y="5169895"/>
                </a:lnTo>
                <a:lnTo>
                  <a:pt x="5816600" y="5169183"/>
                </a:lnTo>
                <a:lnTo>
                  <a:pt x="5829300" y="5168371"/>
                </a:lnTo>
                <a:lnTo>
                  <a:pt x="5842000" y="5167458"/>
                </a:lnTo>
                <a:lnTo>
                  <a:pt x="5854700" y="5166445"/>
                </a:lnTo>
                <a:lnTo>
                  <a:pt x="5867400" y="5165332"/>
                </a:lnTo>
                <a:lnTo>
                  <a:pt x="5880100" y="5164118"/>
                </a:lnTo>
                <a:lnTo>
                  <a:pt x="5892800" y="5162804"/>
                </a:lnTo>
                <a:lnTo>
                  <a:pt x="5905500" y="5161389"/>
                </a:lnTo>
                <a:lnTo>
                  <a:pt x="5918200" y="5159874"/>
                </a:lnTo>
                <a:lnTo>
                  <a:pt x="5930900" y="5158258"/>
                </a:lnTo>
                <a:lnTo>
                  <a:pt x="5943600" y="5156542"/>
                </a:lnTo>
                <a:lnTo>
                  <a:pt x="5956300" y="5154726"/>
                </a:lnTo>
                <a:lnTo>
                  <a:pt x="5969000" y="5152810"/>
                </a:lnTo>
                <a:lnTo>
                  <a:pt x="5981700" y="5150792"/>
                </a:lnTo>
                <a:lnTo>
                  <a:pt x="5994400" y="5148675"/>
                </a:lnTo>
                <a:lnTo>
                  <a:pt x="6007100" y="5146457"/>
                </a:lnTo>
                <a:lnTo>
                  <a:pt x="6019800" y="5144139"/>
                </a:lnTo>
                <a:lnTo>
                  <a:pt x="6032500" y="5141720"/>
                </a:lnTo>
                <a:lnTo>
                  <a:pt x="6045200" y="5139201"/>
                </a:lnTo>
                <a:lnTo>
                  <a:pt x="6057900" y="5136582"/>
                </a:lnTo>
                <a:lnTo>
                  <a:pt x="6070600" y="5133862"/>
                </a:lnTo>
                <a:lnTo>
                  <a:pt x="6083300" y="5131041"/>
                </a:lnTo>
                <a:lnTo>
                  <a:pt x="6096000" y="5128121"/>
                </a:lnTo>
                <a:lnTo>
                  <a:pt x="6108700" y="5125100"/>
                </a:lnTo>
                <a:lnTo>
                  <a:pt x="6121400" y="5121978"/>
                </a:lnTo>
                <a:lnTo>
                  <a:pt x="6134100" y="5118756"/>
                </a:lnTo>
                <a:lnTo>
                  <a:pt x="6146800" y="5115434"/>
                </a:lnTo>
                <a:lnTo>
                  <a:pt x="6159500" y="5112011"/>
                </a:lnTo>
                <a:lnTo>
                  <a:pt x="6172200" y="5108488"/>
                </a:lnTo>
                <a:lnTo>
                  <a:pt x="6184900" y="5104865"/>
                </a:lnTo>
                <a:lnTo>
                  <a:pt x="6197600" y="5101141"/>
                </a:lnTo>
                <a:lnTo>
                  <a:pt x="6210300" y="5097317"/>
                </a:lnTo>
                <a:lnTo>
                  <a:pt x="6223000" y="5093392"/>
                </a:lnTo>
                <a:lnTo>
                  <a:pt x="6235700" y="5089367"/>
                </a:lnTo>
                <a:lnTo>
                  <a:pt x="6248400" y="5085241"/>
                </a:lnTo>
                <a:lnTo>
                  <a:pt x="6261100" y="5081015"/>
                </a:lnTo>
                <a:lnTo>
                  <a:pt x="6273800" y="5076689"/>
                </a:lnTo>
                <a:lnTo>
                  <a:pt x="6286500" y="5072262"/>
                </a:lnTo>
                <a:lnTo>
                  <a:pt x="6299200" y="5067735"/>
                </a:lnTo>
                <a:lnTo>
                  <a:pt x="6311900" y="5063108"/>
                </a:lnTo>
                <a:lnTo>
                  <a:pt x="6324600" y="5058380"/>
                </a:lnTo>
                <a:lnTo>
                  <a:pt x="6337300" y="5053551"/>
                </a:lnTo>
                <a:lnTo>
                  <a:pt x="6350000" y="5048623"/>
                </a:lnTo>
                <a:lnTo>
                  <a:pt x="6362700" y="5043594"/>
                </a:lnTo>
                <a:lnTo>
                  <a:pt x="6375400" y="5038464"/>
                </a:lnTo>
                <a:lnTo>
                  <a:pt x="6388100" y="5033234"/>
                </a:lnTo>
                <a:lnTo>
                  <a:pt x="6400800" y="5027904"/>
                </a:lnTo>
                <a:lnTo>
                  <a:pt x="6413500" y="5022473"/>
                </a:lnTo>
                <a:lnTo>
                  <a:pt x="6426200" y="5016942"/>
                </a:lnTo>
                <a:lnTo>
                  <a:pt x="6438900" y="5011311"/>
                </a:lnTo>
                <a:lnTo>
                  <a:pt x="6451600" y="5005579"/>
                </a:lnTo>
                <a:lnTo>
                  <a:pt x="6464300" y="4999746"/>
                </a:lnTo>
                <a:lnTo>
                  <a:pt x="6477000" y="4993814"/>
                </a:lnTo>
                <a:lnTo>
                  <a:pt x="6489700" y="4987780"/>
                </a:lnTo>
                <a:lnTo>
                  <a:pt x="6502400" y="4981647"/>
                </a:lnTo>
                <a:lnTo>
                  <a:pt x="6515100" y="4975413"/>
                </a:lnTo>
                <a:lnTo>
                  <a:pt x="6527800" y="4969079"/>
                </a:lnTo>
                <a:lnTo>
                  <a:pt x="6540500" y="4962644"/>
                </a:lnTo>
                <a:lnTo>
                  <a:pt x="6553200" y="4956109"/>
                </a:lnTo>
                <a:lnTo>
                  <a:pt x="6565900" y="4949473"/>
                </a:lnTo>
                <a:lnTo>
                  <a:pt x="6578600" y="4942737"/>
                </a:lnTo>
                <a:lnTo>
                  <a:pt x="6591300" y="4935901"/>
                </a:lnTo>
                <a:lnTo>
                  <a:pt x="6604000" y="4928964"/>
                </a:lnTo>
                <a:lnTo>
                  <a:pt x="6616700" y="4921927"/>
                </a:lnTo>
                <a:lnTo>
                  <a:pt x="6629400" y="4914789"/>
                </a:lnTo>
                <a:lnTo>
                  <a:pt x="6642100" y="4907551"/>
                </a:lnTo>
                <a:lnTo>
                  <a:pt x="6654800" y="4900213"/>
                </a:lnTo>
                <a:lnTo>
                  <a:pt x="6667500" y="4892774"/>
                </a:lnTo>
                <a:lnTo>
                  <a:pt x="6680200" y="4885235"/>
                </a:lnTo>
                <a:lnTo>
                  <a:pt x="6692900" y="4877596"/>
                </a:lnTo>
                <a:lnTo>
                  <a:pt x="6705600" y="4869856"/>
                </a:lnTo>
                <a:lnTo>
                  <a:pt x="6718300" y="4862015"/>
                </a:lnTo>
                <a:lnTo>
                  <a:pt x="6731000" y="4854075"/>
                </a:lnTo>
                <a:lnTo>
                  <a:pt x="6743700" y="4846033"/>
                </a:lnTo>
                <a:lnTo>
                  <a:pt x="6756400" y="4837892"/>
                </a:lnTo>
                <a:lnTo>
                  <a:pt x="6769100" y="4829650"/>
                </a:lnTo>
                <a:lnTo>
                  <a:pt x="6781800" y="4821307"/>
                </a:lnTo>
                <a:lnTo>
                  <a:pt x="6794500" y="4812865"/>
                </a:lnTo>
                <a:lnTo>
                  <a:pt x="6807200" y="4804322"/>
                </a:lnTo>
                <a:lnTo>
                  <a:pt x="6819900" y="4795678"/>
                </a:lnTo>
                <a:lnTo>
                  <a:pt x="6832600" y="4786934"/>
                </a:lnTo>
                <a:lnTo>
                  <a:pt x="6845300" y="4778090"/>
                </a:lnTo>
                <a:lnTo>
                  <a:pt x="6858000" y="4769145"/>
                </a:lnTo>
                <a:lnTo>
                  <a:pt x="6870700" y="4760100"/>
                </a:lnTo>
                <a:lnTo>
                  <a:pt x="6883400" y="4750954"/>
                </a:lnTo>
                <a:lnTo>
                  <a:pt x="6896100" y="4741708"/>
                </a:lnTo>
                <a:lnTo>
                  <a:pt x="6908800" y="4732362"/>
                </a:lnTo>
                <a:lnTo>
                  <a:pt x="6921500" y="4722915"/>
                </a:lnTo>
                <a:lnTo>
                  <a:pt x="6934200" y="4713368"/>
                </a:lnTo>
                <a:lnTo>
                  <a:pt x="6946900" y="4703720"/>
                </a:lnTo>
                <a:lnTo>
                  <a:pt x="6959600" y="4693972"/>
                </a:lnTo>
                <a:lnTo>
                  <a:pt x="6972300" y="4684124"/>
                </a:lnTo>
                <a:lnTo>
                  <a:pt x="6985000" y="4674175"/>
                </a:lnTo>
                <a:lnTo>
                  <a:pt x="6997700" y="4664126"/>
                </a:lnTo>
                <a:lnTo>
                  <a:pt x="7010400" y="4653976"/>
                </a:lnTo>
                <a:lnTo>
                  <a:pt x="7023100" y="4643726"/>
                </a:lnTo>
                <a:lnTo>
                  <a:pt x="7035800" y="4633376"/>
                </a:lnTo>
                <a:lnTo>
                  <a:pt x="7048500" y="4622925"/>
                </a:lnTo>
                <a:lnTo>
                  <a:pt x="7061200" y="4612374"/>
                </a:lnTo>
                <a:lnTo>
                  <a:pt x="7073900" y="4601722"/>
                </a:lnTo>
                <a:lnTo>
                  <a:pt x="7086600" y="4590970"/>
                </a:lnTo>
                <a:lnTo>
                  <a:pt x="7099300" y="4580118"/>
                </a:lnTo>
                <a:lnTo>
                  <a:pt x="7112000" y="4569165"/>
                </a:lnTo>
                <a:lnTo>
                  <a:pt x="7124700" y="4558112"/>
                </a:lnTo>
                <a:lnTo>
                  <a:pt x="7137400" y="4546958"/>
                </a:lnTo>
                <a:lnTo>
                  <a:pt x="7150100" y="4535704"/>
                </a:lnTo>
                <a:lnTo>
                  <a:pt x="7162800" y="4524350"/>
                </a:lnTo>
                <a:lnTo>
                  <a:pt x="7175500" y="4512895"/>
                </a:lnTo>
                <a:lnTo>
                  <a:pt x="7188200" y="4501340"/>
                </a:lnTo>
                <a:lnTo>
                  <a:pt x="7200900" y="4489684"/>
                </a:lnTo>
                <a:lnTo>
                  <a:pt x="7213600" y="4477928"/>
                </a:lnTo>
                <a:lnTo>
                  <a:pt x="7226300" y="4466071"/>
                </a:lnTo>
                <a:lnTo>
                  <a:pt x="7239000" y="4454115"/>
                </a:lnTo>
                <a:lnTo>
                  <a:pt x="7251700" y="4442057"/>
                </a:lnTo>
                <a:lnTo>
                  <a:pt x="7264400" y="4429900"/>
                </a:lnTo>
                <a:lnTo>
                  <a:pt x="7277100" y="4417642"/>
                </a:lnTo>
                <a:lnTo>
                  <a:pt x="7289800" y="4405283"/>
                </a:lnTo>
                <a:lnTo>
                  <a:pt x="7302500" y="4392824"/>
                </a:lnTo>
                <a:lnTo>
                  <a:pt x="7315200" y="4380265"/>
                </a:lnTo>
                <a:lnTo>
                  <a:pt x="7327900" y="4367606"/>
                </a:lnTo>
                <a:lnTo>
                  <a:pt x="7340600" y="4354846"/>
                </a:lnTo>
                <a:lnTo>
                  <a:pt x="7353300" y="4341985"/>
                </a:lnTo>
                <a:lnTo>
                  <a:pt x="7366000" y="4329024"/>
                </a:lnTo>
                <a:lnTo>
                  <a:pt x="7378700" y="4315963"/>
                </a:lnTo>
                <a:lnTo>
                  <a:pt x="7391400" y="4302801"/>
                </a:lnTo>
                <a:lnTo>
                  <a:pt x="7404100" y="4289539"/>
                </a:lnTo>
                <a:lnTo>
                  <a:pt x="7416800" y="4276177"/>
                </a:lnTo>
                <a:lnTo>
                  <a:pt x="7429500" y="4262714"/>
                </a:lnTo>
                <a:lnTo>
                  <a:pt x="7442200" y="4249151"/>
                </a:lnTo>
                <a:lnTo>
                  <a:pt x="7454900" y="4235487"/>
                </a:lnTo>
                <a:lnTo>
                  <a:pt x="7467600" y="4221723"/>
                </a:lnTo>
                <a:lnTo>
                  <a:pt x="7480300" y="4207859"/>
                </a:lnTo>
                <a:lnTo>
                  <a:pt x="7493000" y="4193894"/>
                </a:lnTo>
                <a:lnTo>
                  <a:pt x="7505700" y="4179828"/>
                </a:lnTo>
                <a:lnTo>
                  <a:pt x="7518400" y="4165663"/>
                </a:lnTo>
                <a:lnTo>
                  <a:pt x="7531100" y="4151397"/>
                </a:lnTo>
                <a:lnTo>
                  <a:pt x="7543800" y="4137030"/>
                </a:lnTo>
                <a:lnTo>
                  <a:pt x="7556500" y="4122563"/>
                </a:lnTo>
                <a:lnTo>
                  <a:pt x="7569200" y="4107996"/>
                </a:lnTo>
                <a:lnTo>
                  <a:pt x="7581900" y="4093328"/>
                </a:lnTo>
                <a:lnTo>
                  <a:pt x="7594600" y="4078560"/>
                </a:lnTo>
                <a:lnTo>
                  <a:pt x="7607300" y="4063692"/>
                </a:lnTo>
                <a:lnTo>
                  <a:pt x="7620000" y="4048723"/>
                </a:lnTo>
                <a:lnTo>
                  <a:pt x="7632700" y="4033654"/>
                </a:lnTo>
                <a:lnTo>
                  <a:pt x="7645400" y="4018484"/>
                </a:lnTo>
                <a:lnTo>
                  <a:pt x="7658100" y="4003214"/>
                </a:lnTo>
                <a:lnTo>
                  <a:pt x="7670800" y="3987843"/>
                </a:lnTo>
                <a:lnTo>
                  <a:pt x="7683500" y="3972373"/>
                </a:lnTo>
                <a:lnTo>
                  <a:pt x="7696200" y="3956801"/>
                </a:lnTo>
                <a:lnTo>
                  <a:pt x="7708900" y="3941130"/>
                </a:lnTo>
                <a:lnTo>
                  <a:pt x="7721600" y="3925357"/>
                </a:lnTo>
                <a:lnTo>
                  <a:pt x="7734300" y="3909485"/>
                </a:lnTo>
                <a:lnTo>
                  <a:pt x="7747000" y="3893512"/>
                </a:lnTo>
                <a:lnTo>
                  <a:pt x="7759700" y="3877439"/>
                </a:lnTo>
                <a:lnTo>
                  <a:pt x="7772400" y="3861265"/>
                </a:lnTo>
                <a:lnTo>
                  <a:pt x="7785100" y="3844991"/>
                </a:lnTo>
                <a:lnTo>
                  <a:pt x="7797800" y="3828616"/>
                </a:lnTo>
                <a:lnTo>
                  <a:pt x="7810500" y="3812142"/>
                </a:lnTo>
                <a:lnTo>
                  <a:pt x="7823200" y="3795566"/>
                </a:lnTo>
                <a:lnTo>
                  <a:pt x="7835900" y="3778891"/>
                </a:lnTo>
                <a:lnTo>
                  <a:pt x="7848600" y="3762114"/>
                </a:lnTo>
                <a:lnTo>
                  <a:pt x="7861300" y="3745238"/>
                </a:lnTo>
                <a:lnTo>
                  <a:pt x="7874000" y="3728261"/>
                </a:lnTo>
                <a:lnTo>
                  <a:pt x="7886700" y="3711184"/>
                </a:lnTo>
                <a:lnTo>
                  <a:pt x="7899400" y="3694006"/>
                </a:lnTo>
                <a:lnTo>
                  <a:pt x="7912100" y="3676728"/>
                </a:lnTo>
                <a:lnTo>
                  <a:pt x="7924800" y="3659349"/>
                </a:lnTo>
                <a:lnTo>
                  <a:pt x="7937500" y="3641870"/>
                </a:lnTo>
                <a:lnTo>
                  <a:pt x="7950200" y="3624291"/>
                </a:lnTo>
                <a:lnTo>
                  <a:pt x="7962900" y="3606611"/>
                </a:lnTo>
                <a:lnTo>
                  <a:pt x="7975600" y="3588831"/>
                </a:lnTo>
                <a:lnTo>
                  <a:pt x="7988300" y="3570951"/>
                </a:lnTo>
                <a:lnTo>
                  <a:pt x="8001000" y="3552970"/>
                </a:lnTo>
                <a:lnTo>
                  <a:pt x="8013700" y="3534888"/>
                </a:lnTo>
                <a:lnTo>
                  <a:pt x="8026400" y="3516707"/>
                </a:lnTo>
                <a:lnTo>
                  <a:pt x="8039100" y="3498425"/>
                </a:lnTo>
                <a:lnTo>
                  <a:pt x="8051800" y="3480042"/>
                </a:lnTo>
                <a:lnTo>
                  <a:pt x="8064500" y="3461559"/>
                </a:lnTo>
                <a:lnTo>
                  <a:pt x="8077200" y="3442976"/>
                </a:lnTo>
                <a:lnTo>
                  <a:pt x="8089900" y="3424292"/>
                </a:lnTo>
                <a:lnTo>
                  <a:pt x="8102600" y="3405508"/>
                </a:lnTo>
                <a:lnTo>
                  <a:pt x="8115300" y="3386623"/>
                </a:lnTo>
                <a:lnTo>
                  <a:pt x="8128000" y="3367638"/>
                </a:lnTo>
                <a:lnTo>
                  <a:pt x="8140700" y="3348553"/>
                </a:lnTo>
                <a:lnTo>
                  <a:pt x="8153400" y="3329367"/>
                </a:lnTo>
                <a:lnTo>
                  <a:pt x="8166100" y="3310081"/>
                </a:lnTo>
                <a:lnTo>
                  <a:pt x="8178800" y="3290695"/>
                </a:lnTo>
                <a:lnTo>
                  <a:pt x="8191500" y="3271208"/>
                </a:lnTo>
                <a:lnTo>
                  <a:pt x="8204200" y="3251620"/>
                </a:lnTo>
                <a:lnTo>
                  <a:pt x="8216900" y="3231933"/>
                </a:lnTo>
                <a:lnTo>
                  <a:pt x="8229600" y="3212144"/>
                </a:lnTo>
                <a:lnTo>
                  <a:pt x="8242300" y="3192256"/>
                </a:lnTo>
                <a:lnTo>
                  <a:pt x="8255000" y="3172267"/>
                </a:lnTo>
                <a:lnTo>
                  <a:pt x="8267700" y="3152178"/>
                </a:lnTo>
                <a:lnTo>
                  <a:pt x="8280400" y="3131988"/>
                </a:lnTo>
                <a:lnTo>
                  <a:pt x="8293100" y="3111698"/>
                </a:lnTo>
                <a:lnTo>
                  <a:pt x="8305800" y="3091307"/>
                </a:lnTo>
                <a:lnTo>
                  <a:pt x="8318500" y="3070816"/>
                </a:lnTo>
                <a:lnTo>
                  <a:pt x="8331200" y="3050225"/>
                </a:lnTo>
                <a:lnTo>
                  <a:pt x="8343900" y="3029533"/>
                </a:lnTo>
                <a:lnTo>
                  <a:pt x="8356600" y="3008741"/>
                </a:lnTo>
              </a:path>
            </a:pathLst>
          </a:cu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341624" y="3345307"/>
                </a:moveTo>
                <a:cubicBezTo>
                  <a:pt x="3639651" y="3448770"/>
                  <a:pt x="3726519" y="3645493"/>
                  <a:pt x="3602228" y="3935476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02228" y="3935476"/>
                </a:moveTo>
                <a:cubicBezTo>
                  <a:pt x="3882898" y="3937931"/>
                  <a:pt x="3981154" y="4073017"/>
                  <a:pt x="3896995" y="4340733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896995" y="4340733"/>
                </a:moveTo>
                <a:cubicBezTo>
                  <a:pt x="4143798" y="4301617"/>
                  <a:pt x="4248785" y="4405630"/>
                  <a:pt x="4211955" y="4652772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1955" y="4652772"/>
                </a:moveTo>
                <a:cubicBezTo>
                  <a:pt x="4436237" y="4516205"/>
                  <a:pt x="4531953" y="4578181"/>
                  <a:pt x="4499102" y="483870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499102" y="4838700"/>
                </a:moveTo>
                <a:cubicBezTo>
                  <a:pt x="4651248" y="4735322"/>
                  <a:pt x="4734433" y="4775327"/>
                  <a:pt x="4748657" y="495871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48657" y="4958715"/>
                </a:moveTo>
                <a:cubicBezTo>
                  <a:pt x="4896908" y="4779645"/>
                  <a:pt x="4975183" y="4806273"/>
                  <a:pt x="4983480" y="5038598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83480" y="5038598"/>
                </a:moveTo>
                <a:cubicBezTo>
                  <a:pt x="5118523" y="4849707"/>
                  <a:pt x="5196290" y="4870916"/>
                  <a:pt x="5216779" y="510222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16779" y="5102225"/>
                </a:moveTo>
                <a:cubicBezTo>
                  <a:pt x="5340731" y="4909016"/>
                  <a:pt x="5414560" y="4926584"/>
                  <a:pt x="5438267" y="515493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38267" y="5154930"/>
                </a:moveTo>
                <a:cubicBezTo>
                  <a:pt x="5527760" y="4912614"/>
                  <a:pt x="5596678" y="4918329"/>
                  <a:pt x="5645023" y="517207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31184" y="3857752"/>
                </a:moveTo>
                <a:lnTo>
                  <a:pt x="3618992" y="3782060"/>
                </a:lnTo>
                <a:lnTo>
                  <a:pt x="3684397" y="3802634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917569" y="4260088"/>
                </a:moveTo>
                <a:lnTo>
                  <a:pt x="3896741" y="4186301"/>
                </a:lnTo>
                <a:lnTo>
                  <a:pt x="3964051" y="4199128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9067" y="4569968"/>
                </a:moveTo>
                <a:lnTo>
                  <a:pt x="4185666" y="4501007"/>
                </a:lnTo>
                <a:lnTo>
                  <a:pt x="4254246" y="4501896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505325" y="4756023"/>
                </a:moveTo>
                <a:lnTo>
                  <a:pt x="4472051" y="4686935"/>
                </a:lnTo>
                <a:lnTo>
                  <a:pt x="4540631" y="4687951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35195" y="4876800"/>
                </a:moveTo>
                <a:lnTo>
                  <a:pt x="4683506" y="4820158"/>
                </a:lnTo>
                <a:lnTo>
                  <a:pt x="4749546" y="480148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76368" y="4956302"/>
                </a:moveTo>
                <a:lnTo>
                  <a:pt x="4932172" y="4893691"/>
                </a:lnTo>
                <a:lnTo>
                  <a:pt x="4999863" y="4883277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05222" y="5019548"/>
                </a:moveTo>
                <a:lnTo>
                  <a:pt x="5157724" y="4959350"/>
                </a:lnTo>
                <a:lnTo>
                  <a:pt x="5224907" y="4945380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25567" y="5072380"/>
                </a:moveTo>
                <a:lnTo>
                  <a:pt x="5377307" y="5012817"/>
                </a:lnTo>
                <a:lnTo>
                  <a:pt x="5444363" y="4998085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627370" y="5093843"/>
                </a:moveTo>
                <a:lnTo>
                  <a:pt x="5576316" y="5036566"/>
                </a:lnTo>
                <a:lnTo>
                  <a:pt x="5642483" y="501865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59074" y="3262757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19678" y="3852926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14445" y="4258183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29405" y="4570222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16552" y="475615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6107" y="487616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00930" y="4956048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4229" y="501967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55717" y="507238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5648" y="5092700"/>
            <a:ext cx="158750" cy="158750"/>
          </a:xfrm>
          <a:prstGeom prst="ellipse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71738" y="2173951"/>
            <a:ext cx="619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66"/>
              </a:lnSpc>
              <a:buNone/>
            </a:pPr>
            <a:r>
              <a:rPr lang="en-US" sz="18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888" dirty="0"/>
          </a:p>
        </p:txBody>
      </p:sp>
      <p:sp>
        <p:nvSpPr>
          <p:cNvPr id="59" name="Text 57"/>
          <p:cNvSpPr/>
          <p:nvPr/>
        </p:nvSpPr>
        <p:spPr>
          <a:xfrm>
            <a:off x="3602038" y="3396827"/>
            <a:ext cx="16986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step</a:t>
            </a:r>
            <a:endParaRPr lang="en-US" sz="1762" dirty="0"/>
          </a:p>
        </p:txBody>
      </p:sp>
      <p:sp>
        <p:nvSpPr>
          <p:cNvPr id="60" name="Text 58"/>
          <p:cNvSpPr/>
          <p:nvPr/>
        </p:nvSpPr>
        <p:spPr>
          <a:xfrm>
            <a:off x="5326063" y="4567749"/>
            <a:ext cx="10953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6"/>
              </a:lnSpc>
              <a:buNone/>
            </a:pPr>
            <a:r>
              <a:rPr lang="en-US" sz="16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2817813" y="5583412"/>
            <a:ext cx="10318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54"/>
              </a:lnSpc>
              <a:buNone/>
            </a:pPr>
            <a:r>
              <a:rPr lang="en-US" sz="17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</a:t>
            </a:r>
            <a:endParaRPr lang="en-US" sz="1712" dirty="0"/>
          </a:p>
        </p:txBody>
      </p:sp>
      <p:sp>
        <p:nvSpPr>
          <p:cNvPr id="62" name="Text 60"/>
          <p:cNvSpPr/>
          <p:nvPr/>
        </p:nvSpPr>
        <p:spPr>
          <a:xfrm>
            <a:off x="2643188" y="5859357"/>
            <a:ext cx="1381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value</a:t>
            </a:r>
            <a:endParaRPr lang="en-US" sz="1762" dirty="0"/>
          </a:p>
        </p:txBody>
      </p:sp>
      <p:sp>
        <p:nvSpPr>
          <p:cNvPr id="63" name="Text 61"/>
          <p:cNvSpPr/>
          <p:nvPr/>
        </p:nvSpPr>
        <p:spPr>
          <a:xfrm>
            <a:off x="8830469" y="536742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5541169" y="613704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5207000" y="5664200"/>
            <a:ext cx="25400" cy="127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56200" y="5715000"/>
            <a:ext cx="139700" cy="254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588000" y="6153150"/>
                </a:moveTo>
                <a:lnTo>
                  <a:pt x="5638800" y="6096000"/>
                </a:lnTo>
                <a:lnTo>
                  <a:pt x="5689600" y="6153150"/>
                </a:lnTo>
              </a:path>
            </a:pathLst>
          </a:custGeom>
          <a:noFill/>
          <a:ln w="190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78000" y="800100"/>
            <a:ext cx="762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00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 of small and large Learning Rate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ln w="1270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Learning Rate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755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Learning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00250" y="2806700"/>
            <a:ext cx="0" cy="28321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2641600"/>
            <a:ext cx="127000" cy="1651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993900" y="5607050"/>
            <a:ext cx="32639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57800" y="5556250"/>
            <a:ext cx="1778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650" y="2806700"/>
            <a:ext cx="0" cy="27813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3500" y="2603500"/>
            <a:ext cx="127000" cy="203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7000" y="5556250"/>
            <a:ext cx="33274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4400" y="5505450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1498600" y="27686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69000" y="27305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54500" y="56515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23300" y="56769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17000" y="3606800"/>
            <a:ext cx="-1879600" cy="393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7400" y="4000500"/>
            <a:ext cx="1536700" cy="4572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74100" y="4457700"/>
            <a:ext cx="-1143000" cy="558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44700" y="3002858"/>
            <a:ext cx="19050" cy="-10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63750" y="3001779"/>
            <a:ext cx="19050" cy="25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82800" y="3004302"/>
            <a:ext cx="19050" cy="5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1850" y="3010284"/>
            <a:ext cx="19050" cy="92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20900" y="3019583"/>
            <a:ext cx="19050" cy="12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950" y="3032058"/>
            <a:ext cx="19050" cy="155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59000" y="3047573"/>
            <a:ext cx="19050" cy="184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78050" y="3065991"/>
            <a:ext cx="19050" cy="211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7100" y="3087178"/>
            <a:ext cx="19050" cy="23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16150" y="3111002"/>
            <a:ext cx="19050" cy="263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35200" y="3137332"/>
            <a:ext cx="19050" cy="2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250" y="3166041"/>
            <a:ext cx="19050" cy="30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73300" y="3197002"/>
            <a:ext cx="19050" cy="330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92350" y="3230090"/>
            <a:ext cx="19050" cy="35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11400" y="3265184"/>
            <a:ext cx="19050" cy="3697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0450" y="3302163"/>
            <a:ext cx="19050" cy="387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49500" y="3340907"/>
            <a:ext cx="19050" cy="403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68550" y="3381302"/>
            <a:ext cx="19050" cy="419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87600" y="3423231"/>
            <a:ext cx="19050" cy="43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06650" y="3466583"/>
            <a:ext cx="19050" cy="4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25700" y="3511246"/>
            <a:ext cx="19050" cy="45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44750" y="3557112"/>
            <a:ext cx="19050" cy="46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63800" y="3604073"/>
            <a:ext cx="19050" cy="479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82850" y="3652025"/>
            <a:ext cx="19050" cy="488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01900" y="3700865"/>
            <a:ext cx="19050" cy="496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20950" y="3750492"/>
            <a:ext cx="19050" cy="503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40000" y="3800806"/>
            <a:ext cx="19050" cy="5090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9050" y="3851710"/>
            <a:ext cx="19050" cy="513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8100" y="3903110"/>
            <a:ext cx="19050" cy="518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97150" y="3954911"/>
            <a:ext cx="19050" cy="521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16200" y="4007022"/>
            <a:ext cx="19050" cy="523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35250" y="4059354"/>
            <a:ext cx="19050" cy="52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4300" y="4111820"/>
            <a:ext cx="19050" cy="525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73350" y="4164334"/>
            <a:ext cx="19050" cy="52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692400" y="4216812"/>
            <a:ext cx="19050" cy="523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11450" y="4269172"/>
            <a:ext cx="19050" cy="52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30500" y="4321335"/>
            <a:ext cx="19050" cy="518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9550" y="4373224"/>
            <a:ext cx="19050" cy="515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68600" y="4424761"/>
            <a:ext cx="19050" cy="5111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87650" y="4475874"/>
            <a:ext cx="19050" cy="506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06700" y="4526490"/>
            <a:ext cx="19050" cy="500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25750" y="4576539"/>
            <a:ext cx="19050" cy="494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844800" y="4625954"/>
            <a:ext cx="19050" cy="48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863850" y="4674668"/>
            <a:ext cx="19050" cy="479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82900" y="4722616"/>
            <a:ext cx="19050" cy="471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01950" y="4769737"/>
            <a:ext cx="19050" cy="462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21000" y="4815971"/>
            <a:ext cx="19050" cy="452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40050" y="4861258"/>
            <a:ext cx="19050" cy="442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59100" y="4905543"/>
            <a:ext cx="19050" cy="432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978150" y="4948771"/>
            <a:ext cx="19050" cy="421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97200" y="4990889"/>
            <a:ext cx="19050" cy="409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16250" y="5031846"/>
            <a:ext cx="19050" cy="39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35300" y="5071595"/>
            <a:ext cx="19050" cy="384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54350" y="5110089"/>
            <a:ext cx="19050" cy="371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073400" y="5147282"/>
            <a:ext cx="19050" cy="35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92450" y="5183131"/>
            <a:ext cx="19050" cy="344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111500" y="5217596"/>
            <a:ext cx="19050" cy="330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130550" y="5250639"/>
            <a:ext cx="19050" cy="31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149600" y="5282220"/>
            <a:ext cx="19050" cy="300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8650" y="5312307"/>
            <a:ext cx="19050" cy="285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87700" y="5340865"/>
            <a:ext cx="19050" cy="269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06750" y="5367864"/>
            <a:ext cx="19050" cy="25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225800" y="5393273"/>
            <a:ext cx="19050" cy="237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4850" y="5417067"/>
            <a:ext cx="19050" cy="221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263900" y="5439218"/>
            <a:ext cx="19050" cy="204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82950" y="5459705"/>
            <a:ext cx="19050" cy="188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02000" y="5478505"/>
            <a:ext cx="19050" cy="17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21050" y="5495598"/>
            <a:ext cx="19050" cy="15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340100" y="5510968"/>
            <a:ext cx="19050" cy="13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359150" y="5524599"/>
            <a:ext cx="19050" cy="11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378200" y="5536476"/>
            <a:ext cx="19050" cy="101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397250" y="5546588"/>
            <a:ext cx="19050" cy="83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416300" y="5554926"/>
            <a:ext cx="19050" cy="65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435350" y="5561480"/>
            <a:ext cx="19050" cy="47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454400" y="5566246"/>
            <a:ext cx="19050" cy="29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73450" y="5569219"/>
            <a:ext cx="19050" cy="11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92500" y="5570397"/>
            <a:ext cx="19050" cy="-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1550" y="5569780"/>
            <a:ext cx="19050" cy="-2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30600" y="5567370"/>
            <a:ext cx="19050" cy="-42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49650" y="5563170"/>
            <a:ext cx="19050" cy="-59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68700" y="5557186"/>
            <a:ext cx="19050" cy="-77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87750" y="5549426"/>
            <a:ext cx="19050" cy="-95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06800" y="5539899"/>
            <a:ext cx="19050" cy="-112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625850" y="5528617"/>
            <a:ext cx="19050" cy="-130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644900" y="5515593"/>
            <a:ext cx="19050" cy="-147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663950" y="5500843"/>
            <a:ext cx="19050" cy="-164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683000" y="5484383"/>
            <a:ext cx="19050" cy="-181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02050" y="5466234"/>
            <a:ext cx="19050" cy="-198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721100" y="5446416"/>
            <a:ext cx="19050" cy="-21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740150" y="5424952"/>
            <a:ext cx="19050" cy="-230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759200" y="5401868"/>
            <a:ext cx="19050" cy="-246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778250" y="5377191"/>
            <a:ext cx="19050" cy="-262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97300" y="5350949"/>
            <a:ext cx="19050" cy="-277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816350" y="5323173"/>
            <a:ext cx="19050" cy="-292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835400" y="5293897"/>
            <a:ext cx="19050" cy="-307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854450" y="5263154"/>
            <a:ext cx="19050" cy="-3217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873500" y="5230983"/>
            <a:ext cx="19050" cy="-335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892550" y="5197420"/>
            <a:ext cx="19050" cy="-349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911600" y="5162508"/>
            <a:ext cx="19050" cy="-36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930650" y="5126288"/>
            <a:ext cx="19050" cy="-374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949700" y="5088805"/>
            <a:ext cx="19050" cy="-386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968750" y="5050106"/>
            <a:ext cx="19050" cy="-39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987800" y="5010239"/>
            <a:ext cx="19050" cy="-409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006850" y="4969253"/>
            <a:ext cx="19050" cy="-420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025900" y="4927202"/>
            <a:ext cx="19050" cy="-430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044950" y="4884140"/>
            <a:ext cx="19050" cy="-440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064000" y="4840122"/>
            <a:ext cx="19050" cy="-449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083050" y="4795207"/>
            <a:ext cx="19050" cy="-45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102100" y="4749455"/>
            <a:ext cx="19050" cy="-465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121150" y="4702927"/>
            <a:ext cx="19050" cy="-4723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140200" y="4655688"/>
            <a:ext cx="19050" cy="-478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159250" y="4607804"/>
            <a:ext cx="19050" cy="-484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78300" y="4559341"/>
            <a:ext cx="19050" cy="-489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197350" y="4510371"/>
            <a:ext cx="19050" cy="-494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216400" y="4460964"/>
            <a:ext cx="19050" cy="-497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235450" y="4411195"/>
            <a:ext cx="19050" cy="-500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254500" y="4361138"/>
            <a:ext cx="19050" cy="-502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273550" y="4310871"/>
            <a:ext cx="19050" cy="-503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292600" y="4260474"/>
            <a:ext cx="19050" cy="-504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11650" y="4210028"/>
            <a:ext cx="19050" cy="-504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330700" y="4159616"/>
            <a:ext cx="19050" cy="-502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349750" y="4109324"/>
            <a:ext cx="19050" cy="-500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368800" y="4059238"/>
            <a:ext cx="19050" cy="-497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7850" y="4009448"/>
            <a:ext cx="19050" cy="-494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406900" y="3960046"/>
            <a:ext cx="19050" cy="-48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425950" y="3911123"/>
            <a:ext cx="19050" cy="-4834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45000" y="3862775"/>
            <a:ext cx="19050" cy="-476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64050" y="3815098"/>
            <a:ext cx="19050" cy="-46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483100" y="3768192"/>
            <a:ext cx="19050" cy="-460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02150" y="3722158"/>
            <a:ext cx="19050" cy="-450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21200" y="3677098"/>
            <a:ext cx="19050" cy="-43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540250" y="3633116"/>
            <a:ext cx="19050" cy="-4279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559300" y="3590319"/>
            <a:ext cx="19050" cy="-41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578350" y="3548817"/>
            <a:ext cx="19050" cy="-40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597400" y="3508718"/>
            <a:ext cx="19050" cy="-38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4616450" y="3470137"/>
            <a:ext cx="19050" cy="-369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635500" y="3433186"/>
            <a:ext cx="19050" cy="-352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654550" y="3397983"/>
            <a:ext cx="19050" cy="-333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673600" y="3364645"/>
            <a:ext cx="19050" cy="-31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692650" y="3333294"/>
            <a:ext cx="19050" cy="-292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711700" y="3304050"/>
            <a:ext cx="19050" cy="-270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730750" y="3277038"/>
            <a:ext cx="19050" cy="-2465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749800" y="3252384"/>
            <a:ext cx="19050" cy="-221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768850" y="3230215"/>
            <a:ext cx="19050" cy="-195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787900" y="3210663"/>
            <a:ext cx="19050" cy="-1680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806950" y="3193858"/>
            <a:ext cx="19050" cy="-13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4826000" y="3179935"/>
            <a:ext cx="19050" cy="-10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4845050" y="3169028"/>
            <a:ext cx="19050" cy="-7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527800" y="2972371"/>
            <a:ext cx="19050" cy="-22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546850" y="2970081"/>
            <a:ext cx="19050" cy="13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565900" y="2971471"/>
            <a:ext cx="19050" cy="49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584950" y="2976394"/>
            <a:ext cx="19050" cy="83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604000" y="2984705"/>
            <a:ext cx="19050" cy="115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623050" y="2996262"/>
            <a:ext cx="19050" cy="1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642100" y="3010924"/>
            <a:ext cx="19050" cy="17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661150" y="3028554"/>
            <a:ext cx="19050" cy="204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680200" y="3049015"/>
            <a:ext cx="19050" cy="231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699250" y="3072172"/>
            <a:ext cx="19050" cy="257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718300" y="3097893"/>
            <a:ext cx="19050" cy="281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737350" y="3126048"/>
            <a:ext cx="19050" cy="304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756400" y="3156508"/>
            <a:ext cx="19050" cy="326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775450" y="3189147"/>
            <a:ext cx="19050" cy="346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794500" y="3223839"/>
            <a:ext cx="19050" cy="366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813550" y="3260463"/>
            <a:ext cx="19050" cy="3843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832600" y="3298897"/>
            <a:ext cx="19050" cy="401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851650" y="3339024"/>
            <a:ext cx="19050" cy="4170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870700" y="3380726"/>
            <a:ext cx="19050" cy="43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889750" y="3423889"/>
            <a:ext cx="19050" cy="445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908800" y="3468401"/>
            <a:ext cx="19050" cy="45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7850" y="3514149"/>
            <a:ext cx="19050" cy="46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46900" y="3561027"/>
            <a:ext cx="19050" cy="47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65950" y="3608926"/>
            <a:ext cx="19050" cy="488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85000" y="3657742"/>
            <a:ext cx="19050" cy="4963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04050" y="3707373"/>
            <a:ext cx="19050" cy="503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023100" y="3757717"/>
            <a:ext cx="19050" cy="509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042150" y="3808675"/>
            <a:ext cx="19050" cy="51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061200" y="3860152"/>
            <a:ext cx="19050" cy="51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080250" y="3912051"/>
            <a:ext cx="19050" cy="522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099300" y="3964280"/>
            <a:ext cx="19050" cy="52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118350" y="4016747"/>
            <a:ext cx="19050" cy="526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137400" y="4069365"/>
            <a:ext cx="19050" cy="526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156450" y="4122045"/>
            <a:ext cx="19050" cy="526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175500" y="4174704"/>
            <a:ext cx="19050" cy="525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194550" y="4227256"/>
            <a:ext cx="19050" cy="523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7213600" y="4279623"/>
            <a:ext cx="19050" cy="521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232650" y="4331724"/>
            <a:ext cx="19050" cy="517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251700" y="4383483"/>
            <a:ext cx="19050" cy="5134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270750" y="4434823"/>
            <a:ext cx="19050" cy="50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289800" y="4485673"/>
            <a:ext cx="19050" cy="502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308850" y="4535961"/>
            <a:ext cx="19050" cy="496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327900" y="4585617"/>
            <a:ext cx="19050" cy="489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346950" y="4634574"/>
            <a:ext cx="19050" cy="481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7366000" y="4682768"/>
            <a:ext cx="19050" cy="473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7385050" y="4730134"/>
            <a:ext cx="19050" cy="46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7404100" y="4776612"/>
            <a:ext cx="19050" cy="4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423150" y="4822141"/>
            <a:ext cx="19050" cy="445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442200" y="4866666"/>
            <a:ext cx="19050" cy="43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461250" y="4910129"/>
            <a:ext cx="19050" cy="423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80300" y="4952478"/>
            <a:ext cx="19050" cy="411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99350" y="4993662"/>
            <a:ext cx="19050" cy="3996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18400" y="5033631"/>
            <a:ext cx="19050" cy="387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450" y="5072337"/>
            <a:ext cx="19050" cy="373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56500" y="5109734"/>
            <a:ext cx="19050" cy="360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575550" y="5145780"/>
            <a:ext cx="19050" cy="346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594600" y="5180433"/>
            <a:ext cx="19050" cy="33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613650" y="5213653"/>
            <a:ext cx="19050" cy="31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7632700" y="5245402"/>
            <a:ext cx="19050" cy="3024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651750" y="5275645"/>
            <a:ext cx="19050" cy="28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7670800" y="5304348"/>
            <a:ext cx="19050" cy="271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7689850" y="5331479"/>
            <a:ext cx="19050" cy="2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7708900" y="5357009"/>
            <a:ext cx="19050" cy="239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727950" y="5380911"/>
            <a:ext cx="19050" cy="222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7747000" y="5403157"/>
            <a:ext cx="19050" cy="205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766050" y="5423725"/>
            <a:ext cx="19050" cy="18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785100" y="5442592"/>
            <a:ext cx="19050" cy="1714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804150" y="5459739"/>
            <a:ext cx="19050" cy="154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7823200" y="5475147"/>
            <a:ext cx="19050" cy="136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7842250" y="5488802"/>
            <a:ext cx="19050" cy="118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861300" y="5500688"/>
            <a:ext cx="19050" cy="101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880350" y="5510795"/>
            <a:ext cx="19050" cy="83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899400" y="5519111"/>
            <a:ext cx="19050" cy="651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918450" y="5525630"/>
            <a:ext cx="19050" cy="47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937500" y="5530345"/>
            <a:ext cx="19050" cy="29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956550" y="5533252"/>
            <a:ext cx="19050" cy="10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975600" y="5534348"/>
            <a:ext cx="19050" cy="-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994650" y="5533635"/>
            <a:ext cx="19050" cy="-25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013700" y="5531113"/>
            <a:ext cx="19050" cy="-4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8032750" y="5526787"/>
            <a:ext cx="19050" cy="-612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051800" y="5520662"/>
            <a:ext cx="19050" cy="-79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70850" y="5512746"/>
            <a:ext cx="19050" cy="-96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89900" y="5503050"/>
            <a:ext cx="19050" cy="-11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08950" y="5491584"/>
            <a:ext cx="19050" cy="-13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28000" y="5478362"/>
            <a:ext cx="19050" cy="-14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147050" y="5463401"/>
            <a:ext cx="19050" cy="-166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8166100" y="5446717"/>
            <a:ext cx="19050" cy="-183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8185150" y="5428332"/>
            <a:ext cx="19050" cy="-200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8204200" y="5408265"/>
            <a:ext cx="19050" cy="-217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8223250" y="5386541"/>
            <a:ext cx="19050" cy="-233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8242300" y="5363185"/>
            <a:ext cx="19050" cy="-249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8261350" y="5338226"/>
            <a:ext cx="19050" cy="-265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8280400" y="5311691"/>
            <a:ext cx="19050" cy="-280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8299450" y="5283614"/>
            <a:ext cx="19050" cy="-295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8318500" y="5254027"/>
            <a:ext cx="19050" cy="-310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8337550" y="5222967"/>
            <a:ext cx="19050" cy="-324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8356600" y="5190469"/>
            <a:ext cx="19050" cy="-3389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8375650" y="5156574"/>
            <a:ext cx="19050" cy="-352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8394700" y="5121324"/>
            <a:ext cx="19050" cy="-365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8413750" y="5084761"/>
            <a:ext cx="19050" cy="-37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8432800" y="5046930"/>
            <a:ext cx="19050" cy="-390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8451850" y="5007880"/>
            <a:ext cx="19050" cy="-40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8470900" y="4967660"/>
            <a:ext cx="19050" cy="-413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8489950" y="4926320"/>
            <a:ext cx="19050" cy="-424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8509000" y="4883914"/>
            <a:ext cx="19050" cy="-434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8528050" y="4840498"/>
            <a:ext cx="19050" cy="-44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547100" y="4796128"/>
            <a:ext cx="19050" cy="-452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566150" y="4750863"/>
            <a:ext cx="19050" cy="-46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585200" y="4704765"/>
            <a:ext cx="19050" cy="-468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604250" y="4657897"/>
            <a:ext cx="19050" cy="-475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8623300" y="4610324"/>
            <a:ext cx="19050" cy="-482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8642350" y="4562113"/>
            <a:ext cx="19050" cy="-487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8661400" y="4513333"/>
            <a:ext cx="19050" cy="-492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8680450" y="4464054"/>
            <a:ext cx="19050" cy="-49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699500" y="4414352"/>
            <a:ext cx="19050" cy="-500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8718550" y="4364299"/>
            <a:ext cx="19050" cy="-50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8737600" y="4313973"/>
            <a:ext cx="19050" cy="-505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8756650" y="4263453"/>
            <a:ext cx="19050" cy="-506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8775700" y="4212819"/>
            <a:ext cx="19050" cy="-506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8794750" y="4162156"/>
            <a:ext cx="19050" cy="-506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8813800" y="4111547"/>
            <a:ext cx="19050" cy="-50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8832850" y="4061079"/>
            <a:ext cx="19050" cy="-502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8851900" y="4010842"/>
            <a:ext cx="19050" cy="-499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8870950" y="3960925"/>
            <a:ext cx="19050" cy="-49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8890000" y="3911422"/>
            <a:ext cx="19050" cy="-489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8909050" y="3862428"/>
            <a:ext cx="19050" cy="-483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8928100" y="3814038"/>
            <a:ext cx="19050" cy="-476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8947150" y="3766353"/>
            <a:ext cx="19050" cy="-4688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8966200" y="3719472"/>
            <a:ext cx="19050" cy="-4597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8985250" y="3673498"/>
            <a:ext cx="19050" cy="-449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9004300" y="3628536"/>
            <a:ext cx="19050" cy="-438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023350" y="3584692"/>
            <a:ext cx="19050" cy="-42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9042400" y="3542075"/>
            <a:ext cx="19050" cy="-412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9061450" y="3500795"/>
            <a:ext cx="19050" cy="-39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9080500" y="3460965"/>
            <a:ext cx="19050" cy="-382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9099550" y="3422699"/>
            <a:ext cx="19050" cy="-365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9118600" y="3386114"/>
            <a:ext cx="19050" cy="-347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9137650" y="3351329"/>
            <a:ext cx="19050" cy="-32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156700" y="3318463"/>
            <a:ext cx="19050" cy="-30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175750" y="3287639"/>
            <a:ext cx="19050" cy="-286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194800" y="3258982"/>
            <a:ext cx="19050" cy="-263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213850" y="3232617"/>
            <a:ext cx="19050" cy="-239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9232900" y="3208673"/>
            <a:ext cx="19050" cy="-213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9251950" y="3187281"/>
            <a:ext cx="19050" cy="-1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9271000" y="3168572"/>
            <a:ext cx="19050" cy="-1589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290050" y="3152681"/>
            <a:ext cx="19050" cy="-129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9309100" y="3139745"/>
            <a:ext cx="19050" cy="-98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9328150" y="3129900"/>
            <a:ext cx="19050" cy="-66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273300" y="3187700"/>
            <a:ext cx="51578" cy="82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324878" y="3195994"/>
            <a:ext cx="45876" cy="121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370753" y="3208176"/>
            <a:ext cx="40173" cy="160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410927" y="3224245"/>
            <a:ext cx="34471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45398" y="3244202"/>
            <a:ext cx="28769" cy="238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74167" y="3268047"/>
            <a:ext cx="23067" cy="277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497235" y="3295780"/>
            <a:ext cx="17365" cy="316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514600" y="3327400"/>
            <a:ext cx="11663" cy="355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526263" y="3362908"/>
            <a:ext cx="5961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532224" y="3402304"/>
            <a:ext cx="259" cy="432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532484" y="3445588"/>
            <a:ext cx="-5443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527041" y="3492759"/>
            <a:ext cx="-11145" cy="510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515896" y="3543818"/>
            <a:ext cx="-16847" cy="5494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499049" y="3598765"/>
            <a:ext cx="-22549" cy="588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476500" y="3657600"/>
            <a:ext cx="54688" cy="334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531188" y="3691035"/>
            <a:ext cx="49763" cy="368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580951" y="3727839"/>
            <a:ext cx="44839" cy="4017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625790" y="3768012"/>
            <a:ext cx="39914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65704" y="3811555"/>
            <a:ext cx="34990" cy="469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700694" y="3858467"/>
            <a:ext cx="30065" cy="502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30759" y="3908749"/>
            <a:ext cx="25141" cy="5365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755900" y="3962400"/>
            <a:ext cx="20216" cy="570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776116" y="4019420"/>
            <a:ext cx="15292" cy="603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791408" y="4079810"/>
            <a:ext cx="10367" cy="637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801776" y="4143569"/>
            <a:ext cx="5443" cy="671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807218" y="4210698"/>
            <a:ext cx="518" cy="7049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807737" y="4281196"/>
            <a:ext cx="-4406" cy="738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803331" y="4355063"/>
            <a:ext cx="-9331" cy="772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794000" y="4432300"/>
            <a:ext cx="45876" cy="290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839876" y="4461329"/>
            <a:ext cx="41469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881345" y="4492171"/>
            <a:ext cx="37063" cy="326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918408" y="4524829"/>
            <a:ext cx="32657" cy="344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951065" y="4559300"/>
            <a:ext cx="28251" cy="362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979316" y="4595586"/>
            <a:ext cx="23845" cy="381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003161" y="4633686"/>
            <a:ext cx="19439" cy="399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022600" y="4673600"/>
            <a:ext cx="15033" cy="417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037633" y="4715329"/>
            <a:ext cx="10627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048259" y="4758871"/>
            <a:ext cx="6220" cy="453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054480" y="4804229"/>
            <a:ext cx="1814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056294" y="4851400"/>
            <a:ext cx="-2592" cy="489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053702" y="4900386"/>
            <a:ext cx="-6998" cy="50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046704" y="4951186"/>
            <a:ext cx="-11404" cy="526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035300" y="5003800"/>
            <a:ext cx="27473" cy="88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062773" y="5012612"/>
            <a:ext cx="24363" cy="101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087137" y="5022720"/>
            <a:ext cx="21253" cy="114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108390" y="5034124"/>
            <a:ext cx="18143" cy="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126533" y="5046824"/>
            <a:ext cx="15033" cy="139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141565" y="5060820"/>
            <a:ext cx="1192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153488" y="5076112"/>
            <a:ext cx="8812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162300" y="5092700"/>
            <a:ext cx="5702" cy="178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168002" y="5110584"/>
            <a:ext cx="2592" cy="1918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170594" y="5129763"/>
            <a:ext cx="-518" cy="2047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170076" y="5150239"/>
            <a:ext cx="-3629" cy="217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166447" y="5172010"/>
            <a:ext cx="-6739" cy="230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159708" y="5195078"/>
            <a:ext cx="-9849" cy="2436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149859" y="5219441"/>
            <a:ext cx="-12959" cy="256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136900" y="5245100"/>
            <a:ext cx="42247" cy="23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179147" y="5247433"/>
            <a:ext cx="37841" cy="51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216988" y="5252616"/>
            <a:ext cx="33435" cy="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250422" y="5260651"/>
            <a:ext cx="29029" cy="108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279451" y="5271537"/>
            <a:ext cx="24622" cy="137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304073" y="5285273"/>
            <a:ext cx="20216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324290" y="5301861"/>
            <a:ext cx="15810" cy="1943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340100" y="5321300"/>
            <a:ext cx="11404" cy="222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351504" y="5343590"/>
            <a:ext cx="6998" cy="2514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358502" y="5368731"/>
            <a:ext cx="2592" cy="279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361094" y="5396722"/>
            <a:ext cx="-1814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359280" y="5427565"/>
            <a:ext cx="-6220" cy="336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353059" y="5461259"/>
            <a:ext cx="-10627" cy="365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342433" y="5497804"/>
            <a:ext cx="-15033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327400" y="5537200"/>
            <a:ext cx="20735" cy="-266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348135" y="5510504"/>
            <a:ext cx="20476" cy="-2203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368610" y="5488473"/>
            <a:ext cx="20216" cy="-1736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388827" y="5471108"/>
            <a:ext cx="19957" cy="-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08784" y="5458408"/>
            <a:ext cx="19698" cy="-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428482" y="5450373"/>
            <a:ext cx="19439" cy="-33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447920" y="5447004"/>
            <a:ext cx="19180" cy="12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467100" y="5448300"/>
            <a:ext cx="18920" cy="596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6020" y="5454261"/>
            <a:ext cx="18661" cy="1062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504682" y="5464888"/>
            <a:ext cx="1840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523084" y="5480180"/>
            <a:ext cx="18143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541227" y="5500137"/>
            <a:ext cx="17884" cy="2462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559110" y="5524759"/>
            <a:ext cx="17624" cy="292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576735" y="5554047"/>
            <a:ext cx="17365" cy="3395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225675" y="31400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428875" y="36099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746375" y="43846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987675" y="49561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089275" y="51974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279775" y="54895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546475" y="55403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7073900" y="3937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6" name="Shape 414"/>
          <p:cNvSpPr/>
          <p:nvPr/>
        </p:nvSpPr>
        <p:spPr>
          <a:xfrm>
            <a:off x="7467600" y="4953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7" name="Shape 415"/>
          <p:cNvSpPr/>
          <p:nvPr/>
        </p:nvSpPr>
        <p:spPr>
          <a:xfrm>
            <a:off x="8610600" y="43942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8" name="Shape 416"/>
          <p:cNvSpPr/>
          <p:nvPr/>
        </p:nvSpPr>
        <p:spPr>
          <a:xfrm>
            <a:off x="8953500" y="35433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5350" y="2309352"/>
            <a:ext cx="10414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Obtain Minimum Value</a:t>
            </a:r>
            <a:endParaRPr lang="en-US" sz="4465" dirty="0"/>
          </a:p>
        </p:txBody>
      </p:sp>
      <p:sp>
        <p:nvSpPr>
          <p:cNvPr id="9" name="Text 7"/>
          <p:cNvSpPr/>
          <p:nvPr/>
        </p:nvSpPr>
        <p:spPr>
          <a:xfrm>
            <a:off x="2755900" y="3299952"/>
            <a:ext cx="6350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 function using</a:t>
            </a:r>
            <a:endParaRPr lang="en-US" sz="4465" dirty="0"/>
          </a:p>
        </p:txBody>
      </p:sp>
      <p:sp>
        <p:nvSpPr>
          <p:cNvPr id="10" name="Text 8"/>
          <p:cNvSpPr/>
          <p:nvPr/>
        </p:nvSpPr>
        <p:spPr>
          <a:xfrm>
            <a:off x="2324100" y="4290552"/>
            <a:ext cx="7366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46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3900" y="7874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Convex Function,  </a:t>
            </a:r>
            <a:pPr algn="l" indent="0" marL="0"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=0.2,  </a:t>
            </a:r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X=3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0800" y="2540000"/>
          <a:ext cx="1676400" cy="1016000"/>
        </p:xfrm>
        <a:graphic>
          <a:graphicData uri="http://schemas.openxmlformats.org/drawingml/2006/table">
            <a:tbl>
              <a:tblPr/>
              <a:tblGrid>
                <a:gridCol w="965200"/>
                <a:gridCol w="711200"/>
              </a:tblGrid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1308100" y="2527300"/>
            <a:ext cx="1701800" cy="1041400"/>
          </a:xfrm>
          <a:prstGeom prst="rect">
            <a:avLst/>
          </a:prstGeom>
          <a:ln w="19050">
            <a:solidFill>
              <a:srgbClr val="0000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67300" y="2349500"/>
            <a:ext cx="1663700" cy="3429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pic>
        <p:nvPicPr>
          <p:cNvPr id="12" name="Image 0" descr="/workspaces/codespaces-blank/ai_llm_slides/videos/machine-learning/03_ridger_regression_gradient_descent/recreated_pptx/build/assets/eq_030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2466067"/>
            <a:ext cx="1511300" cy="207643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19600" y="2971800"/>
            <a:ext cx="2616200" cy="596900"/>
          </a:xfrm>
          <a:prstGeom prst="rect">
            <a:avLst/>
          </a:prstGeom>
          <a:solidFill>
            <a:srgbClr val="EAF6E3"/>
          </a:solidFill>
          <a:ln w="25400">
            <a:solidFill>
              <a:srgbClr val="00B050"/>
            </a:solidFill>
            <a:prstDash val="solid"/>
          </a:ln>
        </p:spPr>
      </p:sp>
      <p:pic>
        <p:nvPicPr>
          <p:cNvPr id="14" name="Image 1" descr="/workspaces/codespaces-blank/ai_llm_slides/videos/machine-learning/03_ridger_regression_gradient_descent/recreated_pptx/build/assets/eq_030_x5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3009389"/>
            <a:ext cx="745236" cy="19355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70400" y="32766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Minimum value is </a:t>
            </a:r>
            <a:pPr algn="ctr"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solidFill>
            <a:srgbClr val="F7C8FA"/>
          </a:solidFill>
          <a:ln w="19050">
            <a:solidFill>
              <a:srgbClr val="B761BE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Minimum after 11 Steps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264400" y="825500"/>
            <a:ext cx="3022600" cy="312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2802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2569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57110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652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6193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00735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5276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9818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4359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8901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87984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02525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17067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31608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46150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60691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75233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89774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004316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01885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277100" y="3841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277100" y="3689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7277100" y="3536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7277100" y="3384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7277100" y="3232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7277100" y="3079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7277100" y="2927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277100" y="2774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7277100" y="2622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277100" y="2470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7277100" y="2317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7277100" y="2165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7277100" y="2012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7277100" y="1860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277100" y="1708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277100" y="1555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277100" y="1403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7277100" y="1250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7277100" y="1098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277100" y="946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07350" y="831850"/>
            <a:ext cx="0" cy="311150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270750" y="3375660"/>
            <a:ext cx="300990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72072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</a:t>
            </a:r>
            <a:endParaRPr lang="en-US" sz="900" dirty="0"/>
          </a:p>
        </p:txBody>
      </p:sp>
      <p:sp>
        <p:nvSpPr>
          <p:cNvPr id="63" name="Text 58"/>
          <p:cNvSpPr/>
          <p:nvPr/>
        </p:nvSpPr>
        <p:spPr>
          <a:xfrm>
            <a:off x="77787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85725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92964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6" name="Text 61"/>
          <p:cNvSpPr/>
          <p:nvPr/>
        </p:nvSpPr>
        <p:spPr>
          <a:xfrm>
            <a:off x="100457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Text 62"/>
          <p:cNvSpPr/>
          <p:nvPr/>
        </p:nvSpPr>
        <p:spPr>
          <a:xfrm>
            <a:off x="7569200" y="1003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" name="Text 63"/>
          <p:cNvSpPr/>
          <p:nvPr/>
        </p:nvSpPr>
        <p:spPr>
          <a:xfrm>
            <a:off x="7569200" y="17780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9" name="Text 64"/>
          <p:cNvSpPr/>
          <p:nvPr/>
        </p:nvSpPr>
        <p:spPr>
          <a:xfrm>
            <a:off x="7569200" y="2527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71" name="Shape 66"/>
          <p:cNvSpPr/>
          <p:nvPr/>
        </p:nvSpPr>
        <p:spPr>
          <a:xfrm>
            <a:off x="8156564" y="825500"/>
            <a:ext cx="7271" cy="601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8163835" y="885681"/>
            <a:ext cx="7271" cy="594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8171106" y="945100"/>
            <a:ext cx="7271" cy="586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8178377" y="1003756"/>
            <a:ext cx="7271" cy="578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8185647" y="1061651"/>
            <a:ext cx="7271" cy="571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8192918" y="1118784"/>
            <a:ext cx="7271" cy="563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8200189" y="1175155"/>
            <a:ext cx="7271" cy="556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8207460" y="1230764"/>
            <a:ext cx="7271" cy="548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8214730" y="1285611"/>
            <a:ext cx="7271" cy="540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8222001" y="1339695"/>
            <a:ext cx="7271" cy="533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>
            <a:off x="8229272" y="1393018"/>
            <a:ext cx="7271" cy="525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8236543" y="1445579"/>
            <a:ext cx="7271" cy="517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>
            <a:off x="8243813" y="1497378"/>
            <a:ext cx="7271" cy="510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8251084" y="1548415"/>
            <a:ext cx="7271" cy="502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8258355" y="1598690"/>
            <a:ext cx="7271" cy="495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8265626" y="1648202"/>
            <a:ext cx="7271" cy="487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8272896" y="1696953"/>
            <a:ext cx="7271" cy="479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8" name="Shape 83"/>
          <p:cNvSpPr/>
          <p:nvPr/>
        </p:nvSpPr>
        <p:spPr>
          <a:xfrm>
            <a:off x="8280167" y="1744942"/>
            <a:ext cx="7271" cy="472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8287438" y="1792169"/>
            <a:ext cx="7271" cy="464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8294709" y="1838634"/>
            <a:ext cx="7271" cy="457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8301979" y="1884336"/>
            <a:ext cx="7271" cy="449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8309250" y="1929277"/>
            <a:ext cx="7271" cy="441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8316521" y="1973456"/>
            <a:ext cx="7271" cy="434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>
            <a:off x="8323792" y="2016873"/>
            <a:ext cx="7271" cy="426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8331062" y="2059528"/>
            <a:ext cx="7271" cy="418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8338333" y="2101421"/>
            <a:ext cx="7271" cy="411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7" name="Shape 92"/>
          <p:cNvSpPr/>
          <p:nvPr/>
        </p:nvSpPr>
        <p:spPr>
          <a:xfrm>
            <a:off x="8345604" y="2142551"/>
            <a:ext cx="7271" cy="403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8" name="Shape 93"/>
          <p:cNvSpPr/>
          <p:nvPr/>
        </p:nvSpPr>
        <p:spPr>
          <a:xfrm>
            <a:off x="8352875" y="2182920"/>
            <a:ext cx="7271" cy="396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9" name="Shape 94"/>
          <p:cNvSpPr/>
          <p:nvPr/>
        </p:nvSpPr>
        <p:spPr>
          <a:xfrm>
            <a:off x="8360145" y="2222527"/>
            <a:ext cx="7271" cy="388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8367416" y="2261372"/>
            <a:ext cx="7271" cy="380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>
            <a:off x="8374687" y="2299455"/>
            <a:ext cx="7271" cy="373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2" name="Shape 97"/>
          <p:cNvSpPr/>
          <p:nvPr/>
        </p:nvSpPr>
        <p:spPr>
          <a:xfrm>
            <a:off x="8381958" y="2336776"/>
            <a:ext cx="7271" cy="365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>
            <a:off x="8389228" y="2373334"/>
            <a:ext cx="7271" cy="357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8396499" y="2409131"/>
            <a:ext cx="7271" cy="350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403770" y="2444166"/>
            <a:ext cx="7271" cy="342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411041" y="2478439"/>
            <a:ext cx="7271" cy="335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8418311" y="2511950"/>
            <a:ext cx="7271" cy="327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8425582" y="2544699"/>
            <a:ext cx="7271" cy="319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8432853" y="2576685"/>
            <a:ext cx="7271" cy="312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440124" y="2607910"/>
            <a:ext cx="7271" cy="304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447394" y="2638373"/>
            <a:ext cx="7271" cy="297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454665" y="2668074"/>
            <a:ext cx="7271" cy="289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8461936" y="2697013"/>
            <a:ext cx="7271" cy="281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8469207" y="2725189"/>
            <a:ext cx="7271" cy="274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8476477" y="2752604"/>
            <a:ext cx="7271" cy="266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8483748" y="2779257"/>
            <a:ext cx="7271" cy="258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8491019" y="2805148"/>
            <a:ext cx="7271" cy="251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8498290" y="2830277"/>
            <a:ext cx="7271" cy="243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505560" y="2854644"/>
            <a:ext cx="7271" cy="236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512831" y="2878248"/>
            <a:ext cx="7271" cy="228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8520102" y="2901091"/>
            <a:ext cx="7271" cy="220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8527373" y="2923172"/>
            <a:ext cx="7271" cy="213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8534643" y="2944491"/>
            <a:ext cx="7271" cy="205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8541914" y="2965048"/>
            <a:ext cx="7271" cy="197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8549185" y="2984843"/>
            <a:ext cx="7271" cy="190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8556456" y="3003875"/>
            <a:ext cx="7271" cy="182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8563726" y="3022146"/>
            <a:ext cx="7271" cy="175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570997" y="3039655"/>
            <a:ext cx="7271" cy="167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9" name="Shape 124"/>
          <p:cNvSpPr/>
          <p:nvPr/>
        </p:nvSpPr>
        <p:spPr>
          <a:xfrm>
            <a:off x="8578268" y="3056402"/>
            <a:ext cx="7271" cy="159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0" name="Shape 125"/>
          <p:cNvSpPr/>
          <p:nvPr/>
        </p:nvSpPr>
        <p:spPr>
          <a:xfrm>
            <a:off x="8585539" y="3072387"/>
            <a:ext cx="7271" cy="152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1" name="Shape 126"/>
          <p:cNvSpPr/>
          <p:nvPr/>
        </p:nvSpPr>
        <p:spPr>
          <a:xfrm>
            <a:off x="8592809" y="3087609"/>
            <a:ext cx="7271" cy="144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8600080" y="3102070"/>
            <a:ext cx="7271" cy="136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3" name="Shape 128"/>
          <p:cNvSpPr/>
          <p:nvPr/>
        </p:nvSpPr>
        <p:spPr>
          <a:xfrm>
            <a:off x="8607351" y="3115769"/>
            <a:ext cx="7271" cy="129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8614622" y="3128706"/>
            <a:ext cx="7271" cy="121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5" name="Shape 130"/>
          <p:cNvSpPr/>
          <p:nvPr/>
        </p:nvSpPr>
        <p:spPr>
          <a:xfrm>
            <a:off x="8621892" y="3140881"/>
            <a:ext cx="7271" cy="114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6" name="Shape 131"/>
          <p:cNvSpPr/>
          <p:nvPr/>
        </p:nvSpPr>
        <p:spPr>
          <a:xfrm>
            <a:off x="8629163" y="3152294"/>
            <a:ext cx="7271" cy="106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7" name="Shape 132"/>
          <p:cNvSpPr/>
          <p:nvPr/>
        </p:nvSpPr>
        <p:spPr>
          <a:xfrm>
            <a:off x="8636434" y="3162944"/>
            <a:ext cx="7271" cy="98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8" name="Shape 133"/>
          <p:cNvSpPr/>
          <p:nvPr/>
        </p:nvSpPr>
        <p:spPr>
          <a:xfrm>
            <a:off x="8643705" y="3172833"/>
            <a:ext cx="7271" cy="91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8650975" y="3181960"/>
            <a:ext cx="7271" cy="83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8658246" y="3190325"/>
            <a:ext cx="7271" cy="76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1" name="Shape 136"/>
          <p:cNvSpPr/>
          <p:nvPr/>
        </p:nvSpPr>
        <p:spPr>
          <a:xfrm>
            <a:off x="8665517" y="3197928"/>
            <a:ext cx="7271" cy="68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2" name="Shape 137"/>
          <p:cNvSpPr/>
          <p:nvPr/>
        </p:nvSpPr>
        <p:spPr>
          <a:xfrm>
            <a:off x="8672788" y="3204769"/>
            <a:ext cx="7271" cy="60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3" name="Shape 138"/>
          <p:cNvSpPr/>
          <p:nvPr/>
        </p:nvSpPr>
        <p:spPr>
          <a:xfrm>
            <a:off x="8680058" y="3210847"/>
            <a:ext cx="7271" cy="53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8687329" y="3216164"/>
            <a:ext cx="7271" cy="45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5" name="Shape 140"/>
          <p:cNvSpPr/>
          <p:nvPr/>
        </p:nvSpPr>
        <p:spPr>
          <a:xfrm>
            <a:off x="8694600" y="3220719"/>
            <a:ext cx="7271" cy="37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6" name="Shape 141"/>
          <p:cNvSpPr/>
          <p:nvPr/>
        </p:nvSpPr>
        <p:spPr>
          <a:xfrm>
            <a:off x="8701871" y="3224512"/>
            <a:ext cx="7271" cy="30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7" name="Shape 142"/>
          <p:cNvSpPr/>
          <p:nvPr/>
        </p:nvSpPr>
        <p:spPr>
          <a:xfrm>
            <a:off x="8709141" y="3227543"/>
            <a:ext cx="7271" cy="22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8" name="Shape 143"/>
          <p:cNvSpPr/>
          <p:nvPr/>
        </p:nvSpPr>
        <p:spPr>
          <a:xfrm>
            <a:off x="8716412" y="3229811"/>
            <a:ext cx="7271" cy="15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9" name="Shape 144"/>
          <p:cNvSpPr/>
          <p:nvPr/>
        </p:nvSpPr>
        <p:spPr>
          <a:xfrm>
            <a:off x="8723683" y="3231318"/>
            <a:ext cx="7271" cy="7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0" name="Shape 145"/>
          <p:cNvSpPr/>
          <p:nvPr/>
        </p:nvSpPr>
        <p:spPr>
          <a:xfrm>
            <a:off x="8730954" y="3232063"/>
            <a:ext cx="7271" cy="-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1" name="Shape 146"/>
          <p:cNvSpPr/>
          <p:nvPr/>
        </p:nvSpPr>
        <p:spPr>
          <a:xfrm>
            <a:off x="8738224" y="3232046"/>
            <a:ext cx="7271" cy="-7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2" name="Shape 147"/>
          <p:cNvSpPr/>
          <p:nvPr/>
        </p:nvSpPr>
        <p:spPr>
          <a:xfrm>
            <a:off x="8745495" y="3231267"/>
            <a:ext cx="7271" cy="-15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3" name="Shape 148"/>
          <p:cNvSpPr/>
          <p:nvPr/>
        </p:nvSpPr>
        <p:spPr>
          <a:xfrm>
            <a:off x="8752766" y="3229726"/>
            <a:ext cx="7271" cy="-23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4" name="Shape 149"/>
          <p:cNvSpPr/>
          <p:nvPr/>
        </p:nvSpPr>
        <p:spPr>
          <a:xfrm>
            <a:off x="8760037" y="3227422"/>
            <a:ext cx="7271" cy="-30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5" name="Shape 150"/>
          <p:cNvSpPr/>
          <p:nvPr/>
        </p:nvSpPr>
        <p:spPr>
          <a:xfrm>
            <a:off x="8767307" y="3224357"/>
            <a:ext cx="7271" cy="-38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8774578" y="3220530"/>
            <a:ext cx="7271" cy="-45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7" name="Shape 152"/>
          <p:cNvSpPr/>
          <p:nvPr/>
        </p:nvSpPr>
        <p:spPr>
          <a:xfrm>
            <a:off x="8781849" y="3215941"/>
            <a:ext cx="7271" cy="-53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8" name="Shape 153"/>
          <p:cNvSpPr/>
          <p:nvPr/>
        </p:nvSpPr>
        <p:spPr>
          <a:xfrm>
            <a:off x="8789120" y="3210590"/>
            <a:ext cx="7271" cy="-61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9" name="Shape 154"/>
          <p:cNvSpPr/>
          <p:nvPr/>
        </p:nvSpPr>
        <p:spPr>
          <a:xfrm>
            <a:off x="8796390" y="3204477"/>
            <a:ext cx="7271" cy="-68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0" name="Shape 155"/>
          <p:cNvSpPr/>
          <p:nvPr/>
        </p:nvSpPr>
        <p:spPr>
          <a:xfrm>
            <a:off x="8803661" y="3197601"/>
            <a:ext cx="7271" cy="-76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1" name="Shape 156"/>
          <p:cNvSpPr/>
          <p:nvPr/>
        </p:nvSpPr>
        <p:spPr>
          <a:xfrm>
            <a:off x="8810932" y="3189964"/>
            <a:ext cx="7271" cy="-83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2" name="Shape 157"/>
          <p:cNvSpPr/>
          <p:nvPr/>
        </p:nvSpPr>
        <p:spPr>
          <a:xfrm>
            <a:off x="8818203" y="3181565"/>
            <a:ext cx="7271" cy="-91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3" name="Shape 158"/>
          <p:cNvSpPr/>
          <p:nvPr/>
        </p:nvSpPr>
        <p:spPr>
          <a:xfrm>
            <a:off x="8825473" y="3172404"/>
            <a:ext cx="7271" cy="-99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4" name="Shape 159"/>
          <p:cNvSpPr/>
          <p:nvPr/>
        </p:nvSpPr>
        <p:spPr>
          <a:xfrm>
            <a:off x="8832744" y="3162481"/>
            <a:ext cx="7271" cy="-106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5" name="Shape 160"/>
          <p:cNvSpPr/>
          <p:nvPr/>
        </p:nvSpPr>
        <p:spPr>
          <a:xfrm>
            <a:off x="8840015" y="3151796"/>
            <a:ext cx="7271" cy="-114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6" name="Shape 161"/>
          <p:cNvSpPr/>
          <p:nvPr/>
        </p:nvSpPr>
        <p:spPr>
          <a:xfrm>
            <a:off x="8847286" y="3140348"/>
            <a:ext cx="7271" cy="-122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7" name="Shape 162"/>
          <p:cNvSpPr/>
          <p:nvPr/>
        </p:nvSpPr>
        <p:spPr>
          <a:xfrm>
            <a:off x="8854556" y="3128139"/>
            <a:ext cx="7271" cy="-129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8861827" y="3115168"/>
            <a:ext cx="7271" cy="-137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9" name="Shape 164"/>
          <p:cNvSpPr/>
          <p:nvPr/>
        </p:nvSpPr>
        <p:spPr>
          <a:xfrm>
            <a:off x="8869098" y="3101435"/>
            <a:ext cx="7271" cy="-144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0" name="Shape 165"/>
          <p:cNvSpPr/>
          <p:nvPr/>
        </p:nvSpPr>
        <p:spPr>
          <a:xfrm>
            <a:off x="8876369" y="3086940"/>
            <a:ext cx="7271" cy="-152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1" name="Shape 166"/>
          <p:cNvSpPr/>
          <p:nvPr/>
        </p:nvSpPr>
        <p:spPr>
          <a:xfrm>
            <a:off x="8883639" y="3071682"/>
            <a:ext cx="7271" cy="-160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2" name="Shape 167"/>
          <p:cNvSpPr/>
          <p:nvPr/>
        </p:nvSpPr>
        <p:spPr>
          <a:xfrm>
            <a:off x="8890910" y="3055663"/>
            <a:ext cx="7271" cy="-167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3" name="Shape 168"/>
          <p:cNvSpPr/>
          <p:nvPr/>
        </p:nvSpPr>
        <p:spPr>
          <a:xfrm>
            <a:off x="8898181" y="3038882"/>
            <a:ext cx="7271" cy="-175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4" name="Shape 169"/>
          <p:cNvSpPr/>
          <p:nvPr/>
        </p:nvSpPr>
        <p:spPr>
          <a:xfrm>
            <a:off x="8905452" y="3021339"/>
            <a:ext cx="7271" cy="-183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5" name="Shape 170"/>
          <p:cNvSpPr/>
          <p:nvPr/>
        </p:nvSpPr>
        <p:spPr>
          <a:xfrm>
            <a:off x="8912722" y="3003034"/>
            <a:ext cx="7271" cy="-190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6" name="Shape 171"/>
          <p:cNvSpPr/>
          <p:nvPr/>
        </p:nvSpPr>
        <p:spPr>
          <a:xfrm>
            <a:off x="8919993" y="2983967"/>
            <a:ext cx="7271" cy="-198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7" name="Shape 172"/>
          <p:cNvSpPr/>
          <p:nvPr/>
        </p:nvSpPr>
        <p:spPr>
          <a:xfrm>
            <a:off x="8927264" y="2964137"/>
            <a:ext cx="7271" cy="-205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8" name="Shape 173"/>
          <p:cNvSpPr/>
          <p:nvPr/>
        </p:nvSpPr>
        <p:spPr>
          <a:xfrm>
            <a:off x="8934535" y="2943546"/>
            <a:ext cx="7271" cy="-213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9" name="Shape 174"/>
          <p:cNvSpPr/>
          <p:nvPr/>
        </p:nvSpPr>
        <p:spPr>
          <a:xfrm>
            <a:off x="8941805" y="2922193"/>
            <a:ext cx="7271" cy="-221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8949076" y="2900078"/>
            <a:ext cx="7271" cy="-228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1" name="Shape 176"/>
          <p:cNvSpPr/>
          <p:nvPr/>
        </p:nvSpPr>
        <p:spPr>
          <a:xfrm>
            <a:off x="8956347" y="2877201"/>
            <a:ext cx="7271" cy="-236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2" name="Shape 177"/>
          <p:cNvSpPr/>
          <p:nvPr/>
        </p:nvSpPr>
        <p:spPr>
          <a:xfrm>
            <a:off x="8963618" y="2853562"/>
            <a:ext cx="7271" cy="-244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3" name="Shape 178"/>
          <p:cNvSpPr/>
          <p:nvPr/>
        </p:nvSpPr>
        <p:spPr>
          <a:xfrm>
            <a:off x="8970888" y="2829160"/>
            <a:ext cx="7271" cy="-251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4" name="Shape 179"/>
          <p:cNvSpPr/>
          <p:nvPr/>
        </p:nvSpPr>
        <p:spPr>
          <a:xfrm>
            <a:off x="8978159" y="2803997"/>
            <a:ext cx="7271" cy="-259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5" name="Shape 180"/>
          <p:cNvSpPr/>
          <p:nvPr/>
        </p:nvSpPr>
        <p:spPr>
          <a:xfrm>
            <a:off x="8985430" y="2778072"/>
            <a:ext cx="7271" cy="-266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6" name="Shape 181"/>
          <p:cNvSpPr/>
          <p:nvPr/>
        </p:nvSpPr>
        <p:spPr>
          <a:xfrm>
            <a:off x="8992701" y="2751385"/>
            <a:ext cx="7271" cy="-274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8999971" y="2723936"/>
            <a:ext cx="7271" cy="-282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8" name="Shape 183"/>
          <p:cNvSpPr/>
          <p:nvPr/>
        </p:nvSpPr>
        <p:spPr>
          <a:xfrm>
            <a:off x="9007242" y="2695724"/>
            <a:ext cx="7271" cy="-289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9" name="Shape 184"/>
          <p:cNvSpPr/>
          <p:nvPr/>
        </p:nvSpPr>
        <p:spPr>
          <a:xfrm>
            <a:off x="9014513" y="2666751"/>
            <a:ext cx="7271" cy="-297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0" name="Shape 185"/>
          <p:cNvSpPr/>
          <p:nvPr/>
        </p:nvSpPr>
        <p:spPr>
          <a:xfrm>
            <a:off x="9021784" y="2637016"/>
            <a:ext cx="7271" cy="-304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1" name="Shape 186"/>
          <p:cNvSpPr/>
          <p:nvPr/>
        </p:nvSpPr>
        <p:spPr>
          <a:xfrm>
            <a:off x="9029054" y="2606519"/>
            <a:ext cx="7271" cy="-312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2" name="Shape 187"/>
          <p:cNvSpPr/>
          <p:nvPr/>
        </p:nvSpPr>
        <p:spPr>
          <a:xfrm>
            <a:off x="9036325" y="2575260"/>
            <a:ext cx="7271" cy="-320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3" name="Shape 188"/>
          <p:cNvSpPr/>
          <p:nvPr/>
        </p:nvSpPr>
        <p:spPr>
          <a:xfrm>
            <a:off x="9043596" y="2543239"/>
            <a:ext cx="7271" cy="-327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4" name="Shape 189"/>
          <p:cNvSpPr/>
          <p:nvPr/>
        </p:nvSpPr>
        <p:spPr>
          <a:xfrm>
            <a:off x="9050867" y="2510455"/>
            <a:ext cx="7271" cy="-335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5" name="Shape 190"/>
          <p:cNvSpPr/>
          <p:nvPr/>
        </p:nvSpPr>
        <p:spPr>
          <a:xfrm>
            <a:off x="9058137" y="2476910"/>
            <a:ext cx="7271" cy="-343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6" name="Shape 191"/>
          <p:cNvSpPr/>
          <p:nvPr/>
        </p:nvSpPr>
        <p:spPr>
          <a:xfrm>
            <a:off x="9065408" y="2442603"/>
            <a:ext cx="7271" cy="-350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7" name="Shape 192"/>
          <p:cNvSpPr/>
          <p:nvPr/>
        </p:nvSpPr>
        <p:spPr>
          <a:xfrm>
            <a:off x="9072679" y="2407534"/>
            <a:ext cx="7271" cy="-358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8" name="Shape 193"/>
          <p:cNvSpPr/>
          <p:nvPr/>
        </p:nvSpPr>
        <p:spPr>
          <a:xfrm>
            <a:off x="9079950" y="2371703"/>
            <a:ext cx="7271" cy="-365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9" name="Shape 194"/>
          <p:cNvSpPr/>
          <p:nvPr/>
        </p:nvSpPr>
        <p:spPr>
          <a:xfrm>
            <a:off x="9087220" y="2335110"/>
            <a:ext cx="7271" cy="-373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0" name="Shape 195"/>
          <p:cNvSpPr/>
          <p:nvPr/>
        </p:nvSpPr>
        <p:spPr>
          <a:xfrm>
            <a:off x="9094491" y="2297754"/>
            <a:ext cx="7271" cy="-381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1" name="Shape 196"/>
          <p:cNvSpPr/>
          <p:nvPr/>
        </p:nvSpPr>
        <p:spPr>
          <a:xfrm>
            <a:off x="9101762" y="2259637"/>
            <a:ext cx="7271" cy="-388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2" name="Shape 197"/>
          <p:cNvSpPr/>
          <p:nvPr/>
        </p:nvSpPr>
        <p:spPr>
          <a:xfrm>
            <a:off x="9109033" y="2220758"/>
            <a:ext cx="7271" cy="-396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3" name="Shape 198"/>
          <p:cNvSpPr/>
          <p:nvPr/>
        </p:nvSpPr>
        <p:spPr>
          <a:xfrm>
            <a:off x="9116303" y="2181117"/>
            <a:ext cx="7271" cy="-404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4" name="Shape 199"/>
          <p:cNvSpPr/>
          <p:nvPr/>
        </p:nvSpPr>
        <p:spPr>
          <a:xfrm>
            <a:off x="9123574" y="2140714"/>
            <a:ext cx="7271" cy="-411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5" name="Shape 200"/>
          <p:cNvSpPr/>
          <p:nvPr/>
        </p:nvSpPr>
        <p:spPr>
          <a:xfrm>
            <a:off x="9130845" y="2099548"/>
            <a:ext cx="7271" cy="-419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6" name="Shape 201"/>
          <p:cNvSpPr/>
          <p:nvPr/>
        </p:nvSpPr>
        <p:spPr>
          <a:xfrm>
            <a:off x="9138116" y="2057621"/>
            <a:ext cx="7271" cy="-426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7" name="Shape 202"/>
          <p:cNvSpPr/>
          <p:nvPr/>
        </p:nvSpPr>
        <p:spPr>
          <a:xfrm>
            <a:off x="9145386" y="2014932"/>
            <a:ext cx="7271" cy="-434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8" name="Shape 203"/>
          <p:cNvSpPr/>
          <p:nvPr/>
        </p:nvSpPr>
        <p:spPr>
          <a:xfrm>
            <a:off x="9152657" y="1971481"/>
            <a:ext cx="7271" cy="-442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9" name="Shape 204"/>
          <p:cNvSpPr/>
          <p:nvPr/>
        </p:nvSpPr>
        <p:spPr>
          <a:xfrm>
            <a:off x="9159928" y="1927268"/>
            <a:ext cx="7271" cy="-449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0" name="Shape 205"/>
          <p:cNvSpPr/>
          <p:nvPr/>
        </p:nvSpPr>
        <p:spPr>
          <a:xfrm>
            <a:off x="9167199" y="1882293"/>
            <a:ext cx="7271" cy="-457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1" name="Shape 206"/>
          <p:cNvSpPr/>
          <p:nvPr/>
        </p:nvSpPr>
        <p:spPr>
          <a:xfrm>
            <a:off x="9174469" y="1836555"/>
            <a:ext cx="7271" cy="-464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2" name="Shape 207"/>
          <p:cNvSpPr/>
          <p:nvPr/>
        </p:nvSpPr>
        <p:spPr>
          <a:xfrm>
            <a:off x="9181740" y="1790056"/>
            <a:ext cx="7271" cy="-472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3" name="Shape 208"/>
          <p:cNvSpPr/>
          <p:nvPr/>
        </p:nvSpPr>
        <p:spPr>
          <a:xfrm>
            <a:off x="9189011" y="1742795"/>
            <a:ext cx="7271" cy="-480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4" name="Shape 209"/>
          <p:cNvSpPr/>
          <p:nvPr/>
        </p:nvSpPr>
        <p:spPr>
          <a:xfrm>
            <a:off x="9196282" y="1694772"/>
            <a:ext cx="7271" cy="-487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5" name="Shape 210"/>
          <p:cNvSpPr/>
          <p:nvPr/>
        </p:nvSpPr>
        <p:spPr>
          <a:xfrm>
            <a:off x="9203552" y="1645987"/>
            <a:ext cx="7271" cy="-495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6" name="Shape 211"/>
          <p:cNvSpPr/>
          <p:nvPr/>
        </p:nvSpPr>
        <p:spPr>
          <a:xfrm>
            <a:off x="9210823" y="1596440"/>
            <a:ext cx="7271" cy="-503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7" name="Shape 212"/>
          <p:cNvSpPr/>
          <p:nvPr/>
        </p:nvSpPr>
        <p:spPr>
          <a:xfrm>
            <a:off x="9218094" y="1546130"/>
            <a:ext cx="7271" cy="-510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8" name="Shape 213"/>
          <p:cNvSpPr/>
          <p:nvPr/>
        </p:nvSpPr>
        <p:spPr>
          <a:xfrm>
            <a:off x="9225365" y="1495059"/>
            <a:ext cx="7271" cy="-518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9" name="Shape 214"/>
          <p:cNvSpPr/>
          <p:nvPr/>
        </p:nvSpPr>
        <p:spPr>
          <a:xfrm>
            <a:off x="9232635" y="1443226"/>
            <a:ext cx="7271" cy="-525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9239906" y="1390631"/>
            <a:ext cx="7271" cy="-533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1" name="Shape 216"/>
          <p:cNvSpPr/>
          <p:nvPr/>
        </p:nvSpPr>
        <p:spPr>
          <a:xfrm>
            <a:off x="9247177" y="1337274"/>
            <a:ext cx="7271" cy="-541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2" name="Shape 217"/>
          <p:cNvSpPr/>
          <p:nvPr/>
        </p:nvSpPr>
        <p:spPr>
          <a:xfrm>
            <a:off x="9254448" y="1283155"/>
            <a:ext cx="7271" cy="-548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3" name="Shape 218"/>
          <p:cNvSpPr/>
          <p:nvPr/>
        </p:nvSpPr>
        <p:spPr>
          <a:xfrm>
            <a:off x="9261718" y="1228273"/>
            <a:ext cx="7271" cy="-556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4" name="Shape 219"/>
          <p:cNvSpPr/>
          <p:nvPr/>
        </p:nvSpPr>
        <p:spPr>
          <a:xfrm>
            <a:off x="9268989" y="1172630"/>
            <a:ext cx="7271" cy="-564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5" name="Shape 220"/>
          <p:cNvSpPr/>
          <p:nvPr/>
        </p:nvSpPr>
        <p:spPr>
          <a:xfrm>
            <a:off x="9276260" y="1116225"/>
            <a:ext cx="7271" cy="-571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6" name="Shape 221"/>
          <p:cNvSpPr/>
          <p:nvPr/>
        </p:nvSpPr>
        <p:spPr>
          <a:xfrm>
            <a:off x="9283531" y="1059058"/>
            <a:ext cx="7271" cy="-579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7" name="Shape 222"/>
          <p:cNvSpPr/>
          <p:nvPr/>
        </p:nvSpPr>
        <p:spPr>
          <a:xfrm>
            <a:off x="9290801" y="1001129"/>
            <a:ext cx="7271" cy="-586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8" name="Shape 223"/>
          <p:cNvSpPr/>
          <p:nvPr/>
        </p:nvSpPr>
        <p:spPr>
          <a:xfrm>
            <a:off x="9298072" y="942437"/>
            <a:ext cx="7271" cy="-594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9" name="Shape 224"/>
          <p:cNvSpPr/>
          <p:nvPr/>
        </p:nvSpPr>
        <p:spPr>
          <a:xfrm>
            <a:off x="9305343" y="882984"/>
            <a:ext cx="6943" cy="-57484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30" name="Shape 225"/>
          <p:cNvSpPr/>
          <p:nvPr/>
        </p:nvSpPr>
        <p:spPr>
          <a:xfrm>
            <a:off x="8298180" y="1858010"/>
            <a:ext cx="872490" cy="0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</a:ln>
        </p:spPr>
      </p:sp>
      <p:sp>
        <p:nvSpPr>
          <p:cNvPr id="231" name="Shape 226"/>
          <p:cNvSpPr/>
          <p:nvPr/>
        </p:nvSpPr>
        <p:spPr>
          <a:xfrm>
            <a:off x="825373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2" name="Shape 227"/>
          <p:cNvSpPr/>
          <p:nvPr/>
        </p:nvSpPr>
        <p:spPr>
          <a:xfrm>
            <a:off x="8689975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3" name="Shape 228"/>
          <p:cNvSpPr/>
          <p:nvPr/>
        </p:nvSpPr>
        <p:spPr>
          <a:xfrm>
            <a:off x="912622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4" name="Text 229"/>
          <p:cNvSpPr/>
          <p:nvPr/>
        </p:nvSpPr>
        <p:spPr>
          <a:xfrm>
            <a:off x="84264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5" name="Text 230"/>
          <p:cNvSpPr/>
          <p:nvPr/>
        </p:nvSpPr>
        <p:spPr>
          <a:xfrm>
            <a:off x="88582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6" name="Shape 231"/>
          <p:cNvSpPr/>
          <p:nvPr/>
        </p:nvSpPr>
        <p:spPr>
          <a:xfrm>
            <a:off x="83566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37" name="Shape 232"/>
          <p:cNvSpPr/>
          <p:nvPr/>
        </p:nvSpPr>
        <p:spPr>
          <a:xfrm>
            <a:off x="8685530" y="3181350"/>
            <a:ext cx="114300" cy="11430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8" name="Text 233"/>
          <p:cNvSpPr/>
          <p:nvPr/>
        </p:nvSpPr>
        <p:spPr>
          <a:xfrm>
            <a:off x="8051800" y="1930400"/>
            <a:ext cx="584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(2, 10)</a:t>
            </a:r>
            <a:endParaRPr lang="en-US" sz="900" dirty="0"/>
          </a:p>
        </p:txBody>
      </p:sp>
      <p:sp>
        <p:nvSpPr>
          <p:cNvPr id="239" name="Text 234"/>
          <p:cNvSpPr/>
          <p:nvPr/>
        </p:nvSpPr>
        <p:spPr>
          <a:xfrm>
            <a:off x="9194800" y="1828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(7, 7)</a:t>
            </a:r>
            <a:endParaRPr lang="en-US" sz="900" dirty="0"/>
          </a:p>
        </p:txBody>
      </p:sp>
      <p:sp>
        <p:nvSpPr>
          <p:cNvPr id="240" name="Text 235"/>
          <p:cNvSpPr/>
          <p:nvPr/>
        </p:nvSpPr>
        <p:spPr>
          <a:xfrm>
            <a:off x="8839200" y="3098800"/>
            <a:ext cx="45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(5, 1)</a:t>
            </a:r>
            <a:endParaRPr lang="en-US" sz="900" dirty="0"/>
          </a:p>
        </p:txBody>
      </p:sp>
      <p:sp>
        <p:nvSpPr>
          <p:cNvPr id="241" name="Shape 236"/>
          <p:cNvSpPr/>
          <p:nvPr/>
        </p:nvSpPr>
        <p:spPr>
          <a:xfrm rot="900000">
            <a:off x="2197100" y="3886200"/>
            <a:ext cx="241300" cy="3810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2418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8260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f(x-delta)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54229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x+delta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f(x+delta)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0071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3373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</a:tr>
            </a:tbl>
          </a:graphicData>
        </a:graphic>
      </p:graphicFrame>
      <p:sp>
        <p:nvSpPr>
          <p:cNvPr id="247" name="Shape 237"/>
          <p:cNvSpPr/>
          <p:nvPr/>
        </p:nvSpPr>
        <p:spPr>
          <a:xfrm>
            <a:off x="990600" y="4127500"/>
            <a:ext cx="7315200" cy="2603500"/>
          </a:xfrm>
          <a:prstGeom prst="rect">
            <a:avLst/>
          </a:prstGeom>
          <a:ln w="25400">
            <a:solidFill>
              <a:srgbClr val="000080"/>
            </a:solidFill>
            <a:prstDash val="solid"/>
          </a:ln>
        </p:spPr>
      </p:sp>
      <p:sp>
        <p:nvSpPr>
          <p:cNvPr id="248" name="Shape 238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249" name="Text 239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</a:t>
            </a:r>
            <a:endParaRPr lang="en-US" sz="2120" dirty="0"/>
          </a:p>
        </p:txBody>
      </p:sp>
      <p:sp>
        <p:nvSpPr>
          <p:cNvPr id="9" name="Text 7"/>
          <p:cNvSpPr/>
          <p:nvPr/>
        </p:nvSpPr>
        <p:spPr>
          <a:xfrm>
            <a:off x="32893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=0.3,</a:t>
            </a:r>
            <a:endParaRPr lang="en-US" sz="2120" dirty="0"/>
          </a:p>
        </p:txBody>
      </p:sp>
      <p:sp>
        <p:nvSpPr>
          <p:cNvPr id="10" name="Text 8"/>
          <p:cNvSpPr/>
          <p:nvPr/>
        </p:nvSpPr>
        <p:spPr>
          <a:xfrm>
            <a:off x="5664200" y="762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11" name="Shape 9"/>
          <p:cNvSpPr/>
          <p:nvPr/>
        </p:nvSpPr>
        <p:spPr>
          <a:xfrm>
            <a:off x="1104900" y="2273300"/>
            <a:ext cx="44450" cy="901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5700" y="2273300"/>
            <a:ext cx="15621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8400" y="230505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70100" y="230505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55700" y="2571750"/>
            <a:ext cx="15621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400" y="260350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70100" y="260350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55700" y="2870200"/>
            <a:ext cx="15621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8400" y="2901950"/>
            <a:ext cx="9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70100" y="2901950"/>
            <a:ext cx="64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07010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4600" y="2336800"/>
            <a:ext cx="16891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23" name="Image 0" descr="/home/ahmed/Projects/ai_llm_slides/videos/machine-learning/03_ridger_regression_gradient_descent/recreated_pptx/build/assets/eq_03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0800" y="2416835"/>
            <a:ext cx="1536700" cy="19553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pic>
        <p:nvPicPr>
          <p:cNvPr id="70" name="Image 1" descr="/home/ahmed/Projects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1" name="Shape 67"/>
          <p:cNvSpPr/>
          <p:nvPr/>
        </p:nvSpPr>
        <p:spPr>
          <a:xfrm>
            <a:off x="8051800" y="1822450"/>
            <a:ext cx="349250" cy="203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hape 68"/>
          <p:cNvSpPr/>
          <p:nvPr/>
        </p:nvSpPr>
        <p:spPr>
          <a:xfrm>
            <a:off x="9112250" y="1822450"/>
            <a:ext cx="127000" cy="952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69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83439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86106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87630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Text 77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3" name="Text 79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84" name="Text 80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85" name="Text 81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6" name="Text 82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7" name="Text 83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8" name="Text 84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9" name="Text 85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90" name="Text 86"/>
          <p:cNvSpPr/>
          <p:nvPr/>
        </p:nvSpPr>
        <p:spPr>
          <a:xfrm>
            <a:off x="88900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91" name="Text 87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88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3" name="Shape 89"/>
          <p:cNvSpPr/>
          <p:nvPr/>
        </p:nvSpPr>
        <p:spPr>
          <a:xfrm>
            <a:off x="3098800" y="3111500"/>
            <a:ext cx="4089400" cy="558800"/>
          </a:xfrm>
          <a:prstGeom prst="rect">
            <a:avLst/>
          </a:prstGeom>
          <a:solidFill>
            <a:srgbClr val="E6FFE0"/>
          </a:solidFill>
          <a:ln/>
        </p:spPr>
      </p:sp>
      <p:sp>
        <p:nvSpPr>
          <p:cNvPr id="94" name="Shape 90"/>
          <p:cNvSpPr/>
          <p:nvPr/>
        </p:nvSpPr>
        <p:spPr>
          <a:xfrm>
            <a:off x="3086100" y="30988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086100" y="36830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0861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2009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8" name="Text 94"/>
          <p:cNvSpPr/>
          <p:nvPr/>
        </p:nvSpPr>
        <p:spPr>
          <a:xfrm>
            <a:off x="3162300" y="3136900"/>
            <a:ext cx="17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500" dirty="0"/>
          </a:p>
        </p:txBody>
      </p:sp>
      <p:sp>
        <p:nvSpPr>
          <p:cNvPr id="99" name="Text 95"/>
          <p:cNvSpPr/>
          <p:nvPr/>
        </p:nvSpPr>
        <p:spPr>
          <a:xfrm>
            <a:off x="3695700" y="31369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4.8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endParaRPr lang="en-US" sz="1500" dirty="0"/>
          </a:p>
        </p:txBody>
      </p:sp>
      <p:sp>
        <p:nvSpPr>
          <p:cNvPr id="100" name="Text 96"/>
          <p:cNvSpPr/>
          <p:nvPr/>
        </p:nvSpPr>
        <p:spPr>
          <a:xfrm>
            <a:off x="6858000" y="31369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1500" dirty="0"/>
          </a:p>
        </p:txBody>
      </p:sp>
      <p:sp>
        <p:nvSpPr>
          <p:cNvPr id="101" name="Text 97"/>
          <p:cNvSpPr/>
          <p:nvPr/>
        </p:nvSpPr>
        <p:spPr>
          <a:xfrm>
            <a:off x="3136900" y="33655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500" dirty="0"/>
          </a:p>
        </p:txBody>
      </p:sp>
      <p:sp>
        <p:nvSpPr>
          <p:cNvPr id="102" name="Text 98"/>
          <p:cNvSpPr/>
          <p:nvPr/>
        </p:nvSpPr>
        <p:spPr>
          <a:xfrm>
            <a:off x="3683000" y="33655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1.04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1500" dirty="0"/>
          </a:p>
        </p:txBody>
      </p:sp>
      <p:sp>
        <p:nvSpPr>
          <p:cNvPr id="103" name="Shape 99"/>
          <p:cNvSpPr/>
          <p:nvPr/>
        </p:nvSpPr>
        <p:spPr>
          <a:xfrm>
            <a:off x="3835400" y="3733800"/>
            <a:ext cx="1193800" cy="406400"/>
          </a:xfrm>
          <a:prstGeom prst="roundRect">
            <a:avLst>
              <a:gd name="adj" fmla="val 13500"/>
            </a:avLst>
          </a:prstGeom>
          <a:solidFill>
            <a:srgbClr val="F4C7FE"/>
          </a:solidFill>
          <a:ln w="12700">
            <a:solidFill>
              <a:srgbClr val="C69BC9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949700" y="3784600"/>
            <a:ext cx="96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Bouncing</a:t>
            </a:r>
            <a:endParaRPr lang="en-US" sz="1400" dirty="0"/>
          </a:p>
        </p:txBody>
      </p:sp>
      <p:sp>
        <p:nvSpPr>
          <p:cNvPr id="105" name="Shape 101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838200" y="4279900"/>
            <a:ext cx="10515600" cy="2425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3"/>
          <p:cNvSpPr/>
          <p:nvPr/>
        </p:nvSpPr>
        <p:spPr>
          <a:xfrm>
            <a:off x="952500" y="4368800"/>
            <a:ext cx="10236200" cy="469900"/>
          </a:xfrm>
          <a:prstGeom prst="rect">
            <a:avLst/>
          </a:prstGeom>
          <a:solidFill>
            <a:srgbClr val="D0D97C"/>
          </a:solidFill>
          <a:ln/>
        </p:spPr>
      </p:sp>
      <p:sp>
        <p:nvSpPr>
          <p:cNvPr id="108" name="Shape 104"/>
          <p:cNvSpPr/>
          <p:nvPr/>
        </p:nvSpPr>
        <p:spPr>
          <a:xfrm>
            <a:off x="952500" y="4914900"/>
            <a:ext cx="10236200" cy="482600"/>
          </a:xfrm>
          <a:prstGeom prst="rect">
            <a:avLst/>
          </a:prstGeom>
          <a:solidFill>
            <a:srgbClr val="BF9DDA"/>
          </a:solidFill>
          <a:ln/>
        </p:spPr>
      </p:sp>
      <p:sp>
        <p:nvSpPr>
          <p:cNvPr id="109" name="Shape 105"/>
          <p:cNvSpPr/>
          <p:nvPr/>
        </p:nvSpPr>
        <p:spPr>
          <a:xfrm>
            <a:off x="952500" y="5473700"/>
            <a:ext cx="10236200" cy="482600"/>
          </a:xfrm>
          <a:prstGeom prst="rect">
            <a:avLst/>
          </a:prstGeom>
          <a:solidFill>
            <a:srgbClr val="F8DDC8"/>
          </a:solidFill>
          <a:ln/>
        </p:spPr>
      </p:sp>
      <p:sp>
        <p:nvSpPr>
          <p:cNvPr id="110" name="Shape 106"/>
          <p:cNvSpPr/>
          <p:nvPr/>
        </p:nvSpPr>
        <p:spPr>
          <a:xfrm>
            <a:off x="952500" y="6032500"/>
            <a:ext cx="10236200" cy="241300"/>
          </a:xfrm>
          <a:prstGeom prst="rect">
            <a:avLst/>
          </a:prstGeom>
          <a:solidFill>
            <a:srgbClr val="E5FFD4"/>
          </a:solidFill>
          <a:ln w="25400">
            <a:solidFill>
              <a:srgbClr val="378A2E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2500" y="6362700"/>
            <a:ext cx="10236200" cy="203200"/>
          </a:xfrm>
          <a:prstGeom prst="rect">
            <a:avLst/>
          </a:prstGeom>
          <a:solidFill>
            <a:srgbClr val="F7BEC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952500" y="46228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952500" y="51816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952500" y="57404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952500" y="6337300"/>
            <a:ext cx="102362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6" name="Shape 112"/>
          <p:cNvSpPr/>
          <p:nvPr/>
        </p:nvSpPr>
        <p:spPr>
          <a:xfrm>
            <a:off x="952500" y="6527800"/>
            <a:ext cx="102362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7" name="Text 113"/>
          <p:cNvSpPr/>
          <p:nvPr/>
        </p:nvSpPr>
        <p:spPr>
          <a:xfrm>
            <a:off x="952500" y="44069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18" name="Text 114"/>
          <p:cNvSpPr/>
          <p:nvPr/>
        </p:nvSpPr>
        <p:spPr>
          <a:xfrm>
            <a:off x="166370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219290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120" name="Text 116"/>
          <p:cNvSpPr/>
          <p:nvPr/>
        </p:nvSpPr>
        <p:spPr>
          <a:xfrm>
            <a:off x="272211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121" name="Text 117"/>
          <p:cNvSpPr/>
          <p:nvPr/>
        </p:nvSpPr>
        <p:spPr>
          <a:xfrm>
            <a:off x="325132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122" name="Text 118"/>
          <p:cNvSpPr/>
          <p:nvPr/>
        </p:nvSpPr>
        <p:spPr>
          <a:xfrm>
            <a:off x="378053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123" name="Text 119"/>
          <p:cNvSpPr/>
          <p:nvPr/>
        </p:nvSpPr>
        <p:spPr>
          <a:xfrm>
            <a:off x="430974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124" name="Text 120"/>
          <p:cNvSpPr/>
          <p:nvPr/>
        </p:nvSpPr>
        <p:spPr>
          <a:xfrm>
            <a:off x="483895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536816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5897372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7" name="Text 123"/>
          <p:cNvSpPr/>
          <p:nvPr/>
        </p:nvSpPr>
        <p:spPr>
          <a:xfrm>
            <a:off x="6426581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8" name="Text 124"/>
          <p:cNvSpPr/>
          <p:nvPr/>
        </p:nvSpPr>
        <p:spPr>
          <a:xfrm>
            <a:off x="695579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9" name="Text 125"/>
          <p:cNvSpPr/>
          <p:nvPr/>
        </p:nvSpPr>
        <p:spPr>
          <a:xfrm>
            <a:off x="748499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0" name="Text 126"/>
          <p:cNvSpPr/>
          <p:nvPr/>
        </p:nvSpPr>
        <p:spPr>
          <a:xfrm>
            <a:off x="801420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854341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07262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3" name="Text 129"/>
          <p:cNvSpPr/>
          <p:nvPr/>
        </p:nvSpPr>
        <p:spPr>
          <a:xfrm>
            <a:off x="960183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4" name="Text 130"/>
          <p:cNvSpPr/>
          <p:nvPr/>
        </p:nvSpPr>
        <p:spPr>
          <a:xfrm>
            <a:off x="1013104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5" name="Text 131"/>
          <p:cNvSpPr/>
          <p:nvPr/>
        </p:nvSpPr>
        <p:spPr>
          <a:xfrm>
            <a:off x="1066025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6" name="Text 132"/>
          <p:cNvSpPr/>
          <p:nvPr/>
        </p:nvSpPr>
        <p:spPr>
          <a:xfrm>
            <a:off x="952500" y="46418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37" name="Text 133"/>
          <p:cNvSpPr/>
          <p:nvPr/>
        </p:nvSpPr>
        <p:spPr>
          <a:xfrm>
            <a:off x="166370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38" name="Text 134"/>
          <p:cNvSpPr/>
          <p:nvPr/>
        </p:nvSpPr>
        <p:spPr>
          <a:xfrm>
            <a:off x="219290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</a:t>
            </a:r>
            <a:endParaRPr lang="en-US" sz="900" dirty="0"/>
          </a:p>
        </p:txBody>
      </p:sp>
      <p:sp>
        <p:nvSpPr>
          <p:cNvPr id="139" name="Text 135"/>
          <p:cNvSpPr/>
          <p:nvPr/>
        </p:nvSpPr>
        <p:spPr>
          <a:xfrm>
            <a:off x="272211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</a:t>
            </a:r>
            <a:endParaRPr lang="en-US" sz="900" dirty="0"/>
          </a:p>
        </p:txBody>
      </p:sp>
      <p:sp>
        <p:nvSpPr>
          <p:cNvPr id="140" name="Text 136"/>
          <p:cNvSpPr/>
          <p:nvPr/>
        </p:nvSpPr>
        <p:spPr>
          <a:xfrm>
            <a:off x="325132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</a:t>
            </a:r>
            <a:endParaRPr lang="en-US" sz="900" dirty="0"/>
          </a:p>
        </p:txBody>
      </p:sp>
      <p:sp>
        <p:nvSpPr>
          <p:cNvPr id="141" name="Text 137"/>
          <p:cNvSpPr/>
          <p:nvPr/>
        </p:nvSpPr>
        <p:spPr>
          <a:xfrm>
            <a:off x="378053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1.64</a:t>
            </a:r>
            <a:endParaRPr lang="en-US" sz="900" dirty="0"/>
          </a:p>
        </p:txBody>
      </p:sp>
      <p:sp>
        <p:nvSpPr>
          <p:cNvPr id="142" name="Text 138"/>
          <p:cNvSpPr/>
          <p:nvPr/>
        </p:nvSpPr>
        <p:spPr>
          <a:xfrm>
            <a:off x="430974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900" dirty="0"/>
          </a:p>
        </p:txBody>
      </p:sp>
      <p:sp>
        <p:nvSpPr>
          <p:cNvPr id="143" name="Text 139"/>
          <p:cNvSpPr/>
          <p:nvPr/>
        </p:nvSpPr>
        <p:spPr>
          <a:xfrm>
            <a:off x="483895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4" name="Text 140"/>
          <p:cNvSpPr/>
          <p:nvPr/>
        </p:nvSpPr>
        <p:spPr>
          <a:xfrm>
            <a:off x="536816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5" name="Text 141"/>
          <p:cNvSpPr/>
          <p:nvPr/>
        </p:nvSpPr>
        <p:spPr>
          <a:xfrm>
            <a:off x="5897372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6" name="Text 142"/>
          <p:cNvSpPr/>
          <p:nvPr/>
        </p:nvSpPr>
        <p:spPr>
          <a:xfrm>
            <a:off x="6426581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7" name="Text 143"/>
          <p:cNvSpPr/>
          <p:nvPr/>
        </p:nvSpPr>
        <p:spPr>
          <a:xfrm>
            <a:off x="695579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8" name="Text 144"/>
          <p:cNvSpPr/>
          <p:nvPr/>
        </p:nvSpPr>
        <p:spPr>
          <a:xfrm>
            <a:off x="748499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9" name="Text 145"/>
          <p:cNvSpPr/>
          <p:nvPr/>
        </p:nvSpPr>
        <p:spPr>
          <a:xfrm>
            <a:off x="801420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0" name="Text 146"/>
          <p:cNvSpPr/>
          <p:nvPr/>
        </p:nvSpPr>
        <p:spPr>
          <a:xfrm>
            <a:off x="854341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1" name="Text 147"/>
          <p:cNvSpPr/>
          <p:nvPr/>
        </p:nvSpPr>
        <p:spPr>
          <a:xfrm>
            <a:off x="907262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2" name="Text 148"/>
          <p:cNvSpPr/>
          <p:nvPr/>
        </p:nvSpPr>
        <p:spPr>
          <a:xfrm>
            <a:off x="960183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3" name="Text 149"/>
          <p:cNvSpPr/>
          <p:nvPr/>
        </p:nvSpPr>
        <p:spPr>
          <a:xfrm>
            <a:off x="1013104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4" name="Text 150"/>
          <p:cNvSpPr/>
          <p:nvPr/>
        </p:nvSpPr>
        <p:spPr>
          <a:xfrm>
            <a:off x="1066025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5" name="Text 151"/>
          <p:cNvSpPr/>
          <p:nvPr/>
        </p:nvSpPr>
        <p:spPr>
          <a:xfrm>
            <a:off x="952500" y="49593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166370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900" dirty="0"/>
          </a:p>
        </p:txBody>
      </p:sp>
      <p:sp>
        <p:nvSpPr>
          <p:cNvPr id="157" name="Text 153"/>
          <p:cNvSpPr/>
          <p:nvPr/>
        </p:nvSpPr>
        <p:spPr>
          <a:xfrm>
            <a:off x="219290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900" dirty="0"/>
          </a:p>
        </p:txBody>
      </p:sp>
      <p:sp>
        <p:nvSpPr>
          <p:cNvPr id="158" name="Text 154"/>
          <p:cNvSpPr/>
          <p:nvPr/>
        </p:nvSpPr>
        <p:spPr>
          <a:xfrm>
            <a:off x="272211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900" dirty="0"/>
          </a:p>
        </p:txBody>
      </p:sp>
      <p:sp>
        <p:nvSpPr>
          <p:cNvPr id="159" name="Text 155"/>
          <p:cNvSpPr/>
          <p:nvPr/>
        </p:nvSpPr>
        <p:spPr>
          <a:xfrm>
            <a:off x="325132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900" dirty="0"/>
          </a:p>
        </p:txBody>
      </p:sp>
      <p:sp>
        <p:nvSpPr>
          <p:cNvPr id="160" name="Text 156"/>
          <p:cNvSpPr/>
          <p:nvPr/>
        </p:nvSpPr>
        <p:spPr>
          <a:xfrm>
            <a:off x="378053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900" dirty="0"/>
          </a:p>
        </p:txBody>
      </p:sp>
      <p:sp>
        <p:nvSpPr>
          <p:cNvPr id="161" name="Text 157"/>
          <p:cNvSpPr/>
          <p:nvPr/>
        </p:nvSpPr>
        <p:spPr>
          <a:xfrm>
            <a:off x="430974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900" dirty="0"/>
          </a:p>
        </p:txBody>
      </p:sp>
      <p:sp>
        <p:nvSpPr>
          <p:cNvPr id="162" name="Text 158"/>
          <p:cNvSpPr/>
          <p:nvPr/>
        </p:nvSpPr>
        <p:spPr>
          <a:xfrm>
            <a:off x="483895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3" name="Text 159"/>
          <p:cNvSpPr/>
          <p:nvPr/>
        </p:nvSpPr>
        <p:spPr>
          <a:xfrm>
            <a:off x="536816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4" name="Text 160"/>
          <p:cNvSpPr/>
          <p:nvPr/>
        </p:nvSpPr>
        <p:spPr>
          <a:xfrm>
            <a:off x="5897372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5" name="Text 161"/>
          <p:cNvSpPr/>
          <p:nvPr/>
        </p:nvSpPr>
        <p:spPr>
          <a:xfrm>
            <a:off x="6426581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6" name="Text 162"/>
          <p:cNvSpPr/>
          <p:nvPr/>
        </p:nvSpPr>
        <p:spPr>
          <a:xfrm>
            <a:off x="695579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7" name="Text 163"/>
          <p:cNvSpPr/>
          <p:nvPr/>
        </p:nvSpPr>
        <p:spPr>
          <a:xfrm>
            <a:off x="748499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8" name="Text 164"/>
          <p:cNvSpPr/>
          <p:nvPr/>
        </p:nvSpPr>
        <p:spPr>
          <a:xfrm>
            <a:off x="801420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9" name="Text 165"/>
          <p:cNvSpPr/>
          <p:nvPr/>
        </p:nvSpPr>
        <p:spPr>
          <a:xfrm>
            <a:off x="854341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0" name="Text 166"/>
          <p:cNvSpPr/>
          <p:nvPr/>
        </p:nvSpPr>
        <p:spPr>
          <a:xfrm>
            <a:off x="907262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1" name="Text 167"/>
          <p:cNvSpPr/>
          <p:nvPr/>
        </p:nvSpPr>
        <p:spPr>
          <a:xfrm>
            <a:off x="960183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2" name="Text 168"/>
          <p:cNvSpPr/>
          <p:nvPr/>
        </p:nvSpPr>
        <p:spPr>
          <a:xfrm>
            <a:off x="1013104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3" name="Text 169"/>
          <p:cNvSpPr/>
          <p:nvPr/>
        </p:nvSpPr>
        <p:spPr>
          <a:xfrm>
            <a:off x="1066025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4" name="Text 170"/>
          <p:cNvSpPr/>
          <p:nvPr/>
        </p:nvSpPr>
        <p:spPr>
          <a:xfrm>
            <a:off x="952500" y="52006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166370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</a:t>
            </a:r>
            <a:endParaRPr lang="en-US" sz="900" dirty="0"/>
          </a:p>
        </p:txBody>
      </p:sp>
      <p:sp>
        <p:nvSpPr>
          <p:cNvPr id="176" name="Text 172"/>
          <p:cNvSpPr/>
          <p:nvPr/>
        </p:nvSpPr>
        <p:spPr>
          <a:xfrm>
            <a:off x="219290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</a:t>
            </a:r>
            <a:endParaRPr lang="en-US" sz="900" dirty="0"/>
          </a:p>
        </p:txBody>
      </p:sp>
      <p:sp>
        <p:nvSpPr>
          <p:cNvPr id="177" name="Text 173"/>
          <p:cNvSpPr/>
          <p:nvPr/>
        </p:nvSpPr>
        <p:spPr>
          <a:xfrm>
            <a:off x="272211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</a:t>
            </a:r>
            <a:endParaRPr lang="en-US" sz="900" dirty="0"/>
          </a:p>
        </p:txBody>
      </p:sp>
      <p:sp>
        <p:nvSpPr>
          <p:cNvPr id="178" name="Text 174"/>
          <p:cNvSpPr/>
          <p:nvPr/>
        </p:nvSpPr>
        <p:spPr>
          <a:xfrm>
            <a:off x="325132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</a:t>
            </a:r>
            <a:endParaRPr lang="en-US" sz="900" dirty="0"/>
          </a:p>
        </p:txBody>
      </p:sp>
      <p:sp>
        <p:nvSpPr>
          <p:cNvPr id="179" name="Text 175"/>
          <p:cNvSpPr/>
          <p:nvPr/>
        </p:nvSpPr>
        <p:spPr>
          <a:xfrm>
            <a:off x="378053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1.81</a:t>
            </a:r>
            <a:endParaRPr lang="en-US" sz="900" dirty="0"/>
          </a:p>
        </p:txBody>
      </p:sp>
      <p:sp>
        <p:nvSpPr>
          <p:cNvPr id="180" name="Text 176"/>
          <p:cNvSpPr/>
          <p:nvPr/>
        </p:nvSpPr>
        <p:spPr>
          <a:xfrm>
            <a:off x="430974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</a:t>
            </a:r>
            <a:endParaRPr lang="en-US" sz="900" dirty="0"/>
          </a:p>
        </p:txBody>
      </p:sp>
      <p:sp>
        <p:nvSpPr>
          <p:cNvPr id="181" name="Text 177"/>
          <p:cNvSpPr/>
          <p:nvPr/>
        </p:nvSpPr>
        <p:spPr>
          <a:xfrm>
            <a:off x="483895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2" name="Text 178"/>
          <p:cNvSpPr/>
          <p:nvPr/>
        </p:nvSpPr>
        <p:spPr>
          <a:xfrm>
            <a:off x="536816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3" name="Text 179"/>
          <p:cNvSpPr/>
          <p:nvPr/>
        </p:nvSpPr>
        <p:spPr>
          <a:xfrm>
            <a:off x="5897372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4" name="Text 180"/>
          <p:cNvSpPr/>
          <p:nvPr/>
        </p:nvSpPr>
        <p:spPr>
          <a:xfrm>
            <a:off x="6426581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5" name="Text 181"/>
          <p:cNvSpPr/>
          <p:nvPr/>
        </p:nvSpPr>
        <p:spPr>
          <a:xfrm>
            <a:off x="695579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6" name="Text 182"/>
          <p:cNvSpPr/>
          <p:nvPr/>
        </p:nvSpPr>
        <p:spPr>
          <a:xfrm>
            <a:off x="748499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7" name="Text 183"/>
          <p:cNvSpPr/>
          <p:nvPr/>
        </p:nvSpPr>
        <p:spPr>
          <a:xfrm>
            <a:off x="801420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8" name="Text 184"/>
          <p:cNvSpPr/>
          <p:nvPr/>
        </p:nvSpPr>
        <p:spPr>
          <a:xfrm>
            <a:off x="854341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9" name="Text 185"/>
          <p:cNvSpPr/>
          <p:nvPr/>
        </p:nvSpPr>
        <p:spPr>
          <a:xfrm>
            <a:off x="907262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0" name="Text 186"/>
          <p:cNvSpPr/>
          <p:nvPr/>
        </p:nvSpPr>
        <p:spPr>
          <a:xfrm>
            <a:off x="960183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1" name="Text 187"/>
          <p:cNvSpPr/>
          <p:nvPr/>
        </p:nvSpPr>
        <p:spPr>
          <a:xfrm>
            <a:off x="1013104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2" name="Text 188"/>
          <p:cNvSpPr/>
          <p:nvPr/>
        </p:nvSpPr>
        <p:spPr>
          <a:xfrm>
            <a:off x="1066025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3" name="Text 189"/>
          <p:cNvSpPr/>
          <p:nvPr/>
        </p:nvSpPr>
        <p:spPr>
          <a:xfrm>
            <a:off x="952500" y="55181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166370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900" dirty="0"/>
          </a:p>
        </p:txBody>
      </p:sp>
      <p:sp>
        <p:nvSpPr>
          <p:cNvPr id="195" name="Text 191"/>
          <p:cNvSpPr/>
          <p:nvPr/>
        </p:nvSpPr>
        <p:spPr>
          <a:xfrm>
            <a:off x="219290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900" dirty="0"/>
          </a:p>
        </p:txBody>
      </p:sp>
      <p:sp>
        <p:nvSpPr>
          <p:cNvPr id="196" name="Text 192"/>
          <p:cNvSpPr/>
          <p:nvPr/>
        </p:nvSpPr>
        <p:spPr>
          <a:xfrm>
            <a:off x="272211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900" dirty="0"/>
          </a:p>
        </p:txBody>
      </p:sp>
      <p:sp>
        <p:nvSpPr>
          <p:cNvPr id="197" name="Text 193"/>
          <p:cNvSpPr/>
          <p:nvPr/>
        </p:nvSpPr>
        <p:spPr>
          <a:xfrm>
            <a:off x="325132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98" name="Text 194"/>
          <p:cNvSpPr/>
          <p:nvPr/>
        </p:nvSpPr>
        <p:spPr>
          <a:xfrm>
            <a:off x="378053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900" dirty="0"/>
          </a:p>
        </p:txBody>
      </p:sp>
      <p:sp>
        <p:nvSpPr>
          <p:cNvPr id="199" name="Text 195"/>
          <p:cNvSpPr/>
          <p:nvPr/>
        </p:nvSpPr>
        <p:spPr>
          <a:xfrm>
            <a:off x="430974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900" dirty="0"/>
          </a:p>
        </p:txBody>
      </p:sp>
      <p:sp>
        <p:nvSpPr>
          <p:cNvPr id="200" name="Text 196"/>
          <p:cNvSpPr/>
          <p:nvPr/>
        </p:nvSpPr>
        <p:spPr>
          <a:xfrm>
            <a:off x="483895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1" name="Text 197"/>
          <p:cNvSpPr/>
          <p:nvPr/>
        </p:nvSpPr>
        <p:spPr>
          <a:xfrm>
            <a:off x="536816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2" name="Text 198"/>
          <p:cNvSpPr/>
          <p:nvPr/>
        </p:nvSpPr>
        <p:spPr>
          <a:xfrm>
            <a:off x="5897372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3" name="Text 199"/>
          <p:cNvSpPr/>
          <p:nvPr/>
        </p:nvSpPr>
        <p:spPr>
          <a:xfrm>
            <a:off x="6426581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4" name="Text 200"/>
          <p:cNvSpPr/>
          <p:nvPr/>
        </p:nvSpPr>
        <p:spPr>
          <a:xfrm>
            <a:off x="695579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5" name="Text 201"/>
          <p:cNvSpPr/>
          <p:nvPr/>
        </p:nvSpPr>
        <p:spPr>
          <a:xfrm>
            <a:off x="748499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6" name="Text 202"/>
          <p:cNvSpPr/>
          <p:nvPr/>
        </p:nvSpPr>
        <p:spPr>
          <a:xfrm>
            <a:off x="801420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7" name="Text 203"/>
          <p:cNvSpPr/>
          <p:nvPr/>
        </p:nvSpPr>
        <p:spPr>
          <a:xfrm>
            <a:off x="854341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8" name="Text 204"/>
          <p:cNvSpPr/>
          <p:nvPr/>
        </p:nvSpPr>
        <p:spPr>
          <a:xfrm>
            <a:off x="907262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9" name="Text 205"/>
          <p:cNvSpPr/>
          <p:nvPr/>
        </p:nvSpPr>
        <p:spPr>
          <a:xfrm>
            <a:off x="960183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0" name="Text 206"/>
          <p:cNvSpPr/>
          <p:nvPr/>
        </p:nvSpPr>
        <p:spPr>
          <a:xfrm>
            <a:off x="1013104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11" name="Text 207"/>
          <p:cNvSpPr/>
          <p:nvPr/>
        </p:nvSpPr>
        <p:spPr>
          <a:xfrm>
            <a:off x="1066025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2" name="Text 208"/>
          <p:cNvSpPr/>
          <p:nvPr/>
        </p:nvSpPr>
        <p:spPr>
          <a:xfrm>
            <a:off x="952500" y="57594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166370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4.61</a:t>
            </a:r>
            <a:endParaRPr lang="en-US" sz="900" dirty="0"/>
          </a:p>
        </p:txBody>
      </p:sp>
      <p:sp>
        <p:nvSpPr>
          <p:cNvPr id="214" name="Text 210"/>
          <p:cNvSpPr/>
          <p:nvPr/>
        </p:nvSpPr>
        <p:spPr>
          <a:xfrm>
            <a:off x="219290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900" dirty="0"/>
          </a:p>
        </p:txBody>
      </p:sp>
      <p:sp>
        <p:nvSpPr>
          <p:cNvPr id="215" name="Text 211"/>
          <p:cNvSpPr/>
          <p:nvPr/>
        </p:nvSpPr>
        <p:spPr>
          <a:xfrm>
            <a:off x="272211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2.69</a:t>
            </a:r>
            <a:endParaRPr lang="en-US" sz="900" dirty="0"/>
          </a:p>
        </p:txBody>
      </p:sp>
      <p:sp>
        <p:nvSpPr>
          <p:cNvPr id="216" name="Text 212"/>
          <p:cNvSpPr/>
          <p:nvPr/>
        </p:nvSpPr>
        <p:spPr>
          <a:xfrm>
            <a:off x="325132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17" name="Text 213"/>
          <p:cNvSpPr/>
          <p:nvPr/>
        </p:nvSpPr>
        <p:spPr>
          <a:xfrm>
            <a:off x="378053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</a:t>
            </a:r>
            <a:endParaRPr lang="en-US" sz="900" dirty="0"/>
          </a:p>
        </p:txBody>
      </p:sp>
      <p:sp>
        <p:nvSpPr>
          <p:cNvPr id="218" name="Text 214"/>
          <p:cNvSpPr/>
          <p:nvPr/>
        </p:nvSpPr>
        <p:spPr>
          <a:xfrm>
            <a:off x="430974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</a:t>
            </a:r>
            <a:endParaRPr lang="en-US" sz="900" dirty="0"/>
          </a:p>
        </p:txBody>
      </p:sp>
      <p:sp>
        <p:nvSpPr>
          <p:cNvPr id="219" name="Text 215"/>
          <p:cNvSpPr/>
          <p:nvPr/>
        </p:nvSpPr>
        <p:spPr>
          <a:xfrm>
            <a:off x="483895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0" name="Text 216"/>
          <p:cNvSpPr/>
          <p:nvPr/>
        </p:nvSpPr>
        <p:spPr>
          <a:xfrm>
            <a:off x="536816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1" name="Text 217"/>
          <p:cNvSpPr/>
          <p:nvPr/>
        </p:nvSpPr>
        <p:spPr>
          <a:xfrm>
            <a:off x="5897372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2" name="Text 218"/>
          <p:cNvSpPr/>
          <p:nvPr/>
        </p:nvSpPr>
        <p:spPr>
          <a:xfrm>
            <a:off x="6426581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3" name="Text 219"/>
          <p:cNvSpPr/>
          <p:nvPr/>
        </p:nvSpPr>
        <p:spPr>
          <a:xfrm>
            <a:off x="695579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4" name="Text 220"/>
          <p:cNvSpPr/>
          <p:nvPr/>
        </p:nvSpPr>
        <p:spPr>
          <a:xfrm>
            <a:off x="748499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5" name="Text 221"/>
          <p:cNvSpPr/>
          <p:nvPr/>
        </p:nvSpPr>
        <p:spPr>
          <a:xfrm>
            <a:off x="801420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6" name="Text 222"/>
          <p:cNvSpPr/>
          <p:nvPr/>
        </p:nvSpPr>
        <p:spPr>
          <a:xfrm>
            <a:off x="854341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7" name="Text 223"/>
          <p:cNvSpPr/>
          <p:nvPr/>
        </p:nvSpPr>
        <p:spPr>
          <a:xfrm>
            <a:off x="907262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8" name="Text 224"/>
          <p:cNvSpPr/>
          <p:nvPr/>
        </p:nvSpPr>
        <p:spPr>
          <a:xfrm>
            <a:off x="960183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9" name="Text 225"/>
          <p:cNvSpPr/>
          <p:nvPr/>
        </p:nvSpPr>
        <p:spPr>
          <a:xfrm>
            <a:off x="1013104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30" name="Text 226"/>
          <p:cNvSpPr/>
          <p:nvPr/>
        </p:nvSpPr>
        <p:spPr>
          <a:xfrm>
            <a:off x="1066025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31" name="Text 227"/>
          <p:cNvSpPr/>
          <p:nvPr/>
        </p:nvSpPr>
        <p:spPr>
          <a:xfrm>
            <a:off x="952500" y="60642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166370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900" dirty="0"/>
          </a:p>
        </p:txBody>
      </p:sp>
      <p:sp>
        <p:nvSpPr>
          <p:cNvPr id="233" name="Text 229"/>
          <p:cNvSpPr/>
          <p:nvPr/>
        </p:nvSpPr>
        <p:spPr>
          <a:xfrm>
            <a:off x="219290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-6.8</a:t>
            </a:r>
            <a:endParaRPr lang="en-US" sz="900" dirty="0"/>
          </a:p>
        </p:txBody>
      </p:sp>
      <p:sp>
        <p:nvSpPr>
          <p:cNvPr id="234" name="Text 230"/>
          <p:cNvSpPr/>
          <p:nvPr/>
        </p:nvSpPr>
        <p:spPr>
          <a:xfrm>
            <a:off x="272211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-5.6</a:t>
            </a:r>
            <a:endParaRPr lang="en-US" sz="900" dirty="0"/>
          </a:p>
        </p:txBody>
      </p:sp>
      <p:sp>
        <p:nvSpPr>
          <p:cNvPr id="235" name="Text 231"/>
          <p:cNvSpPr/>
          <p:nvPr/>
        </p:nvSpPr>
        <p:spPr>
          <a:xfrm>
            <a:off x="325132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-4.4</a:t>
            </a:r>
            <a:endParaRPr lang="en-US" sz="900" dirty="0"/>
          </a:p>
        </p:txBody>
      </p:sp>
      <p:sp>
        <p:nvSpPr>
          <p:cNvPr id="236" name="Text 232"/>
          <p:cNvSpPr/>
          <p:nvPr/>
        </p:nvSpPr>
        <p:spPr>
          <a:xfrm>
            <a:off x="378053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</a:t>
            </a:r>
            <a:endParaRPr lang="en-US" sz="900" dirty="0"/>
          </a:p>
        </p:txBody>
      </p:sp>
      <p:sp>
        <p:nvSpPr>
          <p:cNvPr id="237" name="Text 233"/>
          <p:cNvSpPr/>
          <p:nvPr/>
        </p:nvSpPr>
        <p:spPr>
          <a:xfrm>
            <a:off x="430974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900" dirty="0"/>
          </a:p>
        </p:txBody>
      </p:sp>
      <p:sp>
        <p:nvSpPr>
          <p:cNvPr id="238" name="Text 234"/>
          <p:cNvSpPr/>
          <p:nvPr/>
        </p:nvSpPr>
        <p:spPr>
          <a:xfrm>
            <a:off x="483895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39" name="Text 235"/>
          <p:cNvSpPr/>
          <p:nvPr/>
        </p:nvSpPr>
        <p:spPr>
          <a:xfrm>
            <a:off x="536816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0" name="Text 236"/>
          <p:cNvSpPr/>
          <p:nvPr/>
        </p:nvSpPr>
        <p:spPr>
          <a:xfrm>
            <a:off x="5897372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1" name="Text 237"/>
          <p:cNvSpPr/>
          <p:nvPr/>
        </p:nvSpPr>
        <p:spPr>
          <a:xfrm>
            <a:off x="6426581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2" name="Text 238"/>
          <p:cNvSpPr/>
          <p:nvPr/>
        </p:nvSpPr>
        <p:spPr>
          <a:xfrm>
            <a:off x="695579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3" name="Text 239"/>
          <p:cNvSpPr/>
          <p:nvPr/>
        </p:nvSpPr>
        <p:spPr>
          <a:xfrm>
            <a:off x="748499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4" name="Text 240"/>
          <p:cNvSpPr/>
          <p:nvPr/>
        </p:nvSpPr>
        <p:spPr>
          <a:xfrm>
            <a:off x="801420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5" name="Text 241"/>
          <p:cNvSpPr/>
          <p:nvPr/>
        </p:nvSpPr>
        <p:spPr>
          <a:xfrm>
            <a:off x="854341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6" name="Text 242"/>
          <p:cNvSpPr/>
          <p:nvPr/>
        </p:nvSpPr>
        <p:spPr>
          <a:xfrm>
            <a:off x="907262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7" name="Text 243"/>
          <p:cNvSpPr/>
          <p:nvPr/>
        </p:nvSpPr>
        <p:spPr>
          <a:xfrm>
            <a:off x="960183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8" name="Text 244"/>
          <p:cNvSpPr/>
          <p:nvPr/>
        </p:nvSpPr>
        <p:spPr>
          <a:xfrm>
            <a:off x="1013104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9" name="Text 245"/>
          <p:cNvSpPr/>
          <p:nvPr/>
        </p:nvSpPr>
        <p:spPr>
          <a:xfrm>
            <a:off x="1066025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50" name="Text 246"/>
          <p:cNvSpPr/>
          <p:nvPr/>
        </p:nvSpPr>
        <p:spPr>
          <a:xfrm>
            <a:off x="952500" y="6375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166370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252" name="Text 248"/>
          <p:cNvSpPr/>
          <p:nvPr/>
        </p:nvSpPr>
        <p:spPr>
          <a:xfrm>
            <a:off x="219290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253" name="Text 249"/>
          <p:cNvSpPr/>
          <p:nvPr/>
        </p:nvSpPr>
        <p:spPr>
          <a:xfrm>
            <a:off x="272211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254" name="Text 250"/>
          <p:cNvSpPr/>
          <p:nvPr/>
        </p:nvSpPr>
        <p:spPr>
          <a:xfrm>
            <a:off x="325132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255" name="Text 251"/>
          <p:cNvSpPr/>
          <p:nvPr/>
        </p:nvSpPr>
        <p:spPr>
          <a:xfrm>
            <a:off x="378053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256" name="Text 252"/>
          <p:cNvSpPr/>
          <p:nvPr/>
        </p:nvSpPr>
        <p:spPr>
          <a:xfrm>
            <a:off x="430974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7" name="Text 253"/>
          <p:cNvSpPr/>
          <p:nvPr/>
        </p:nvSpPr>
        <p:spPr>
          <a:xfrm>
            <a:off x="483895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58" name="Text 254"/>
          <p:cNvSpPr/>
          <p:nvPr/>
        </p:nvSpPr>
        <p:spPr>
          <a:xfrm>
            <a:off x="536816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9" name="Text 255"/>
          <p:cNvSpPr/>
          <p:nvPr/>
        </p:nvSpPr>
        <p:spPr>
          <a:xfrm>
            <a:off x="5897372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0" name="Text 256"/>
          <p:cNvSpPr/>
          <p:nvPr/>
        </p:nvSpPr>
        <p:spPr>
          <a:xfrm>
            <a:off x="6426581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1" name="Text 257"/>
          <p:cNvSpPr/>
          <p:nvPr/>
        </p:nvSpPr>
        <p:spPr>
          <a:xfrm>
            <a:off x="695579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2" name="Text 258"/>
          <p:cNvSpPr/>
          <p:nvPr/>
        </p:nvSpPr>
        <p:spPr>
          <a:xfrm>
            <a:off x="748499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3" name="Text 259"/>
          <p:cNvSpPr/>
          <p:nvPr/>
        </p:nvSpPr>
        <p:spPr>
          <a:xfrm>
            <a:off x="801420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4" name="Text 260"/>
          <p:cNvSpPr/>
          <p:nvPr/>
        </p:nvSpPr>
        <p:spPr>
          <a:xfrm>
            <a:off x="854341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5" name="Text 261"/>
          <p:cNvSpPr/>
          <p:nvPr/>
        </p:nvSpPr>
        <p:spPr>
          <a:xfrm>
            <a:off x="907262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6" name="Text 262"/>
          <p:cNvSpPr/>
          <p:nvPr/>
        </p:nvSpPr>
        <p:spPr>
          <a:xfrm>
            <a:off x="960183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7" name="Text 263"/>
          <p:cNvSpPr/>
          <p:nvPr/>
        </p:nvSpPr>
        <p:spPr>
          <a:xfrm>
            <a:off x="1013104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8" name="Text 264"/>
          <p:cNvSpPr/>
          <p:nvPr/>
        </p:nvSpPr>
        <p:spPr>
          <a:xfrm>
            <a:off x="1066025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9" name="Shape 265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270" name="Shape 266"/>
          <p:cNvSpPr/>
          <p:nvPr/>
        </p:nvSpPr>
        <p:spPr>
          <a:xfrm>
            <a:off x="51244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1" name="Shape 267"/>
          <p:cNvSpPr/>
          <p:nvPr/>
        </p:nvSpPr>
        <p:spPr>
          <a:xfrm flipV="1">
            <a:off x="50736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2" name="Shape 268"/>
          <p:cNvSpPr/>
          <p:nvPr/>
        </p:nvSpPr>
        <p:spPr>
          <a:xfrm>
            <a:off x="55816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3" name="Shape 269"/>
          <p:cNvSpPr/>
          <p:nvPr/>
        </p:nvSpPr>
        <p:spPr>
          <a:xfrm flipV="1">
            <a:off x="55308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4" name="Shape 270"/>
          <p:cNvSpPr/>
          <p:nvPr/>
        </p:nvSpPr>
        <p:spPr>
          <a:xfrm>
            <a:off x="607060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5" name="Shape 271"/>
          <p:cNvSpPr/>
          <p:nvPr/>
        </p:nvSpPr>
        <p:spPr>
          <a:xfrm flipV="1">
            <a:off x="60261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6" name="Shape 272"/>
          <p:cNvSpPr/>
          <p:nvPr/>
        </p:nvSpPr>
        <p:spPr>
          <a:xfrm>
            <a:off x="66103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7" name="Shape 273"/>
          <p:cNvSpPr/>
          <p:nvPr/>
        </p:nvSpPr>
        <p:spPr>
          <a:xfrm flipV="1">
            <a:off x="65595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pic>
        <p:nvPicPr>
          <p:cNvPr id="278" name="Image 2" descr="/home/ahmed/Projects/ai_llm_slides/videos/machine-learning/03_ridger_regression_gradient_descent/recreated_pptx/build/assets/arrow_03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300" y="3956050"/>
            <a:ext cx="344424" cy="5349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55650"/>
            <a:ext cx="660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   </a:t>
            </a:r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=0.4,  </a:t>
            </a:r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9" name="Shape 7"/>
          <p:cNvSpPr/>
          <p:nvPr/>
        </p:nvSpPr>
        <p:spPr>
          <a:xfrm>
            <a:off x="1028700" y="2273300"/>
            <a:ext cx="15875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1400" y="230505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49450" y="230505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8700" y="2571750"/>
            <a:ext cx="15875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1400" y="260350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49450" y="260350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8700" y="2870200"/>
            <a:ext cx="15875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1400" y="2901950"/>
            <a:ext cx="908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949450" y="290195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94945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73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pic>
        <p:nvPicPr>
          <p:cNvPr id="71" name="Image 0" descr="/workspaces/codespaces-blank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2" name="Shape 69"/>
          <p:cNvSpPr/>
          <p:nvPr/>
        </p:nvSpPr>
        <p:spPr>
          <a:xfrm>
            <a:off x="8674100" y="3181350"/>
            <a:ext cx="114300" cy="1143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43900" y="2273300"/>
            <a:ext cx="88900" cy="889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Text 72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84" name="Text 81"/>
          <p:cNvSpPr/>
          <p:nvPr/>
        </p:nvSpPr>
        <p:spPr>
          <a:xfrm>
            <a:off x="88138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4"/>
          <p:cNvSpPr/>
          <p:nvPr/>
        </p:nvSpPr>
        <p:spPr>
          <a:xfrm>
            <a:off x="5054600" y="2336800"/>
            <a:ext cx="16764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88" name="Image 1" descr="/workspaces/codespaces-blank/ai_llm_slides/videos/machine-learning/03_ridger_regression_gradient_descent/recreated_pptx/build/assets/eq_032_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556" y="2401064"/>
            <a:ext cx="1618488" cy="227073"/>
          </a:xfrm>
          <a:prstGeom prst="rect">
            <a:avLst/>
          </a:prstGeom>
        </p:spPr>
      </p:pic>
      <p:sp>
        <p:nvSpPr>
          <p:cNvPr id="89" name="Shape 85"/>
          <p:cNvSpPr/>
          <p:nvPr/>
        </p:nvSpPr>
        <p:spPr>
          <a:xfrm>
            <a:off x="4229100" y="2971800"/>
            <a:ext cx="2603500" cy="584200"/>
          </a:xfrm>
          <a:prstGeom prst="rect">
            <a:avLst/>
          </a:prstGeom>
          <a:solidFill>
            <a:srgbClr val="EFFFE2"/>
          </a:solidFill>
          <a:ln w="12700">
            <a:solidFill>
              <a:srgbClr val="438A3C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4318000" y="29972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5</a:t>
            </a:r>
            <a:endParaRPr lang="en-US" sz="1700" dirty="0"/>
          </a:p>
        </p:txBody>
      </p:sp>
      <p:sp>
        <p:nvSpPr>
          <p:cNvPr id="91" name="Text 87"/>
          <p:cNvSpPr/>
          <p:nvPr/>
        </p:nvSpPr>
        <p:spPr>
          <a:xfrm>
            <a:off x="4279900" y="32131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pPr algn="l" indent="0" marL="0">
              <a:buNone/>
            </a:pPr>
            <a:r>
              <a:rPr lang="en-US" sz="18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Minimum value is </a:t>
            </a:r>
            <a:pPr algn="l" indent="0" marL="0">
              <a:buNone/>
            </a:pPr>
            <a:r>
              <a:rPr lang="en-US" sz="185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</a:t>
            </a:r>
            <a:endParaRPr lang="en-US" sz="1850" dirty="0"/>
          </a:p>
        </p:txBody>
      </p:sp>
      <p:sp>
        <p:nvSpPr>
          <p:cNvPr id="92" name="Shape 88"/>
          <p:cNvSpPr/>
          <p:nvPr/>
        </p:nvSpPr>
        <p:spPr>
          <a:xfrm>
            <a:off x="4254500" y="3708400"/>
            <a:ext cx="2984500" cy="355600"/>
          </a:xfrm>
          <a:prstGeom prst="rect">
            <a:avLst/>
          </a:prstGeom>
          <a:solidFill>
            <a:srgbClr val="F7C9FB"/>
          </a:solidFill>
          <a:ln w="9525">
            <a:solidFill>
              <a:srgbClr val="CBA6D1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4343400" y="3746500"/>
            <a:ext cx="292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800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 Minimum after 6  Steps</a:t>
            </a:r>
            <a:endParaRPr lang="en-US" sz="1600" dirty="0"/>
          </a:p>
        </p:txBody>
      </p:sp>
      <p:sp>
        <p:nvSpPr>
          <p:cNvPr id="94" name="Shape 90"/>
          <p:cNvSpPr/>
          <p:nvPr/>
        </p:nvSpPr>
        <p:spPr>
          <a:xfrm>
            <a:off x="3784600" y="41910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784600" y="66929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7909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6136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3790950" y="4368800"/>
            <a:ext cx="3822700" cy="495300"/>
          </a:xfrm>
          <a:prstGeom prst="rect">
            <a:avLst/>
          </a:prstGeom>
          <a:solidFill>
            <a:srgbClr val="D8E175"/>
          </a:solidFill>
          <a:ln/>
        </p:spPr>
      </p:sp>
      <p:sp>
        <p:nvSpPr>
          <p:cNvPr id="99" name="Shape 95"/>
          <p:cNvSpPr/>
          <p:nvPr/>
        </p:nvSpPr>
        <p:spPr>
          <a:xfrm>
            <a:off x="3790950" y="43688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3790950" y="48641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37909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6136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3790950" y="461645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085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0228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5435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0642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65786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70993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3790950" y="4914900"/>
            <a:ext cx="3822700" cy="469900"/>
          </a:xfrm>
          <a:prstGeom prst="rect">
            <a:avLst/>
          </a:prstGeom>
          <a:solidFill>
            <a:srgbClr val="D4B2F5"/>
          </a:solidFill>
          <a:ln/>
        </p:spPr>
      </p:sp>
      <p:sp>
        <p:nvSpPr>
          <p:cNvPr id="111" name="Shape 107"/>
          <p:cNvSpPr/>
          <p:nvPr/>
        </p:nvSpPr>
        <p:spPr>
          <a:xfrm>
            <a:off x="3790950" y="49149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790950" y="53848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7909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76136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790950" y="51562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45085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0228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55435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0642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65786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0993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3790950" y="5473700"/>
            <a:ext cx="3822700" cy="469900"/>
          </a:xfrm>
          <a:prstGeom prst="rect">
            <a:avLst/>
          </a:prstGeom>
          <a:solidFill>
            <a:srgbClr val="F6DDC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3790950" y="54737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3790950" y="59436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37909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76136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790950" y="57150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085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50228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5435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60642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65786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70993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3790950" y="5994400"/>
            <a:ext cx="3822700" cy="279400"/>
          </a:xfrm>
          <a:prstGeom prst="rect">
            <a:avLst/>
          </a:prstGeom>
          <a:solidFill>
            <a:srgbClr val="E7FFD2"/>
          </a:solidFill>
          <a:ln/>
        </p:spPr>
      </p:sp>
      <p:sp>
        <p:nvSpPr>
          <p:cNvPr id="135" name="Shape 131"/>
          <p:cNvSpPr/>
          <p:nvPr/>
        </p:nvSpPr>
        <p:spPr>
          <a:xfrm>
            <a:off x="3790950" y="59944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3790950" y="62738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37909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6136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45085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50228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55435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60642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65786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0993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3790950" y="6311900"/>
            <a:ext cx="3822700" cy="254000"/>
          </a:xfrm>
          <a:prstGeom prst="rect">
            <a:avLst/>
          </a:prstGeom>
          <a:solidFill>
            <a:srgbClr val="F4BEC2"/>
          </a:solidFill>
          <a:ln/>
        </p:spPr>
      </p:sp>
      <p:sp>
        <p:nvSpPr>
          <p:cNvPr id="146" name="Shape 142"/>
          <p:cNvSpPr/>
          <p:nvPr/>
        </p:nvSpPr>
        <p:spPr>
          <a:xfrm>
            <a:off x="3790950" y="6311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3790950" y="6565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37909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76136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45085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>
            <a:off x="50228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>
            <a:off x="55435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60642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5786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70993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6" name="Text 152"/>
          <p:cNvSpPr/>
          <p:nvPr/>
        </p:nvSpPr>
        <p:spPr>
          <a:xfrm>
            <a:off x="3790950" y="436880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50" dirty="0"/>
          </a:p>
        </p:txBody>
      </p:sp>
      <p:sp>
        <p:nvSpPr>
          <p:cNvPr id="157" name="Text 153"/>
          <p:cNvSpPr/>
          <p:nvPr/>
        </p:nvSpPr>
        <p:spPr>
          <a:xfrm>
            <a:off x="45085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50" dirty="0"/>
          </a:p>
        </p:txBody>
      </p:sp>
      <p:sp>
        <p:nvSpPr>
          <p:cNvPr id="158" name="Text 154"/>
          <p:cNvSpPr/>
          <p:nvPr/>
        </p:nvSpPr>
        <p:spPr>
          <a:xfrm>
            <a:off x="50228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159" name="Text 155"/>
          <p:cNvSpPr/>
          <p:nvPr/>
        </p:nvSpPr>
        <p:spPr>
          <a:xfrm>
            <a:off x="55435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160" name="Text 156"/>
          <p:cNvSpPr/>
          <p:nvPr/>
        </p:nvSpPr>
        <p:spPr>
          <a:xfrm>
            <a:off x="606425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161" name="Text 157"/>
          <p:cNvSpPr/>
          <p:nvPr/>
        </p:nvSpPr>
        <p:spPr>
          <a:xfrm>
            <a:off x="657860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162" name="Text 158"/>
          <p:cNvSpPr/>
          <p:nvPr/>
        </p:nvSpPr>
        <p:spPr>
          <a:xfrm>
            <a:off x="70993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3" name="Text 159"/>
          <p:cNvSpPr/>
          <p:nvPr/>
        </p:nvSpPr>
        <p:spPr>
          <a:xfrm>
            <a:off x="3790950" y="461645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050" dirty="0"/>
          </a:p>
        </p:txBody>
      </p:sp>
      <p:sp>
        <p:nvSpPr>
          <p:cNvPr id="164" name="Text 160"/>
          <p:cNvSpPr/>
          <p:nvPr/>
        </p:nvSpPr>
        <p:spPr>
          <a:xfrm>
            <a:off x="45085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5" name="Text 161"/>
          <p:cNvSpPr/>
          <p:nvPr/>
        </p:nvSpPr>
        <p:spPr>
          <a:xfrm>
            <a:off x="50228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3.56</a:t>
            </a:r>
            <a:endParaRPr lang="en-US" sz="950" dirty="0"/>
          </a:p>
        </p:txBody>
      </p:sp>
      <p:sp>
        <p:nvSpPr>
          <p:cNvPr id="166" name="Text 162"/>
          <p:cNvSpPr/>
          <p:nvPr/>
        </p:nvSpPr>
        <p:spPr>
          <a:xfrm>
            <a:off x="55435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2.44</a:t>
            </a:r>
            <a:endParaRPr lang="en-US" sz="950" dirty="0"/>
          </a:p>
        </p:txBody>
      </p:sp>
      <p:sp>
        <p:nvSpPr>
          <p:cNvPr id="167" name="Text 163"/>
          <p:cNvSpPr/>
          <p:nvPr/>
        </p:nvSpPr>
        <p:spPr>
          <a:xfrm>
            <a:off x="606425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1.64</a:t>
            </a:r>
            <a:endParaRPr lang="en-US" sz="950" dirty="0"/>
          </a:p>
        </p:txBody>
      </p:sp>
      <p:sp>
        <p:nvSpPr>
          <p:cNvPr id="168" name="Text 164"/>
          <p:cNvSpPr/>
          <p:nvPr/>
        </p:nvSpPr>
        <p:spPr>
          <a:xfrm>
            <a:off x="657860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1.16</a:t>
            </a:r>
            <a:endParaRPr lang="en-US" sz="950" dirty="0"/>
          </a:p>
        </p:txBody>
      </p:sp>
      <p:sp>
        <p:nvSpPr>
          <p:cNvPr id="169" name="Text 165"/>
          <p:cNvSpPr/>
          <p:nvPr/>
        </p:nvSpPr>
        <p:spPr>
          <a:xfrm>
            <a:off x="70993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50" dirty="0"/>
          </a:p>
        </p:txBody>
      </p:sp>
      <p:sp>
        <p:nvSpPr>
          <p:cNvPr id="170" name="Text 166"/>
          <p:cNvSpPr/>
          <p:nvPr/>
        </p:nvSpPr>
        <p:spPr>
          <a:xfrm>
            <a:off x="3790950" y="49149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x-delta</a:t>
            </a:r>
            <a:endParaRPr lang="en-US" sz="1050" dirty="0"/>
          </a:p>
        </p:txBody>
      </p:sp>
      <p:sp>
        <p:nvSpPr>
          <p:cNvPr id="171" name="Text 167"/>
          <p:cNvSpPr/>
          <p:nvPr/>
        </p:nvSpPr>
        <p:spPr>
          <a:xfrm>
            <a:off x="45085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2.9</a:t>
            </a:r>
            <a:endParaRPr lang="en-US" sz="950" dirty="0"/>
          </a:p>
        </p:txBody>
      </p:sp>
      <p:sp>
        <p:nvSpPr>
          <p:cNvPr id="172" name="Text 168"/>
          <p:cNvSpPr/>
          <p:nvPr/>
        </p:nvSpPr>
        <p:spPr>
          <a:xfrm>
            <a:off x="50228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3.3</a:t>
            </a:r>
            <a:endParaRPr lang="en-US" sz="950" dirty="0"/>
          </a:p>
        </p:txBody>
      </p:sp>
      <p:sp>
        <p:nvSpPr>
          <p:cNvPr id="173" name="Text 169"/>
          <p:cNvSpPr/>
          <p:nvPr/>
        </p:nvSpPr>
        <p:spPr>
          <a:xfrm>
            <a:off x="55435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3.7</a:t>
            </a:r>
            <a:endParaRPr lang="en-US" sz="950" dirty="0"/>
          </a:p>
        </p:txBody>
      </p:sp>
      <p:sp>
        <p:nvSpPr>
          <p:cNvPr id="174" name="Text 170"/>
          <p:cNvSpPr/>
          <p:nvPr/>
        </p:nvSpPr>
        <p:spPr>
          <a:xfrm>
            <a:off x="606425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4.1</a:t>
            </a:r>
            <a:endParaRPr lang="en-US" sz="950" dirty="0"/>
          </a:p>
        </p:txBody>
      </p:sp>
      <p:sp>
        <p:nvSpPr>
          <p:cNvPr id="175" name="Text 171"/>
          <p:cNvSpPr/>
          <p:nvPr/>
        </p:nvSpPr>
        <p:spPr>
          <a:xfrm>
            <a:off x="657860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4.5</a:t>
            </a:r>
            <a:endParaRPr lang="en-US" sz="950" dirty="0"/>
          </a:p>
        </p:txBody>
      </p:sp>
      <p:sp>
        <p:nvSpPr>
          <p:cNvPr id="176" name="Text 172"/>
          <p:cNvSpPr/>
          <p:nvPr/>
        </p:nvSpPr>
        <p:spPr>
          <a:xfrm>
            <a:off x="70993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4.9</a:t>
            </a:r>
            <a:endParaRPr lang="en-US" sz="950" dirty="0"/>
          </a:p>
        </p:txBody>
      </p:sp>
      <p:sp>
        <p:nvSpPr>
          <p:cNvPr id="177" name="Text 173"/>
          <p:cNvSpPr/>
          <p:nvPr/>
        </p:nvSpPr>
        <p:spPr>
          <a:xfrm>
            <a:off x="3790950" y="51562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f(x-delta)</a:t>
            </a:r>
            <a:endParaRPr lang="en-US" sz="1050" dirty="0"/>
          </a:p>
        </p:txBody>
      </p:sp>
      <p:sp>
        <p:nvSpPr>
          <p:cNvPr id="178" name="Text 174"/>
          <p:cNvSpPr/>
          <p:nvPr/>
        </p:nvSpPr>
        <p:spPr>
          <a:xfrm>
            <a:off x="45085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5.41</a:t>
            </a:r>
            <a:endParaRPr lang="en-US" sz="950" dirty="0"/>
          </a:p>
        </p:txBody>
      </p:sp>
      <p:sp>
        <p:nvSpPr>
          <p:cNvPr id="179" name="Text 175"/>
          <p:cNvSpPr/>
          <p:nvPr/>
        </p:nvSpPr>
        <p:spPr>
          <a:xfrm>
            <a:off x="50228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3.89</a:t>
            </a:r>
            <a:endParaRPr lang="en-US" sz="950" dirty="0"/>
          </a:p>
        </p:txBody>
      </p:sp>
      <p:sp>
        <p:nvSpPr>
          <p:cNvPr id="180" name="Text 176"/>
          <p:cNvSpPr/>
          <p:nvPr/>
        </p:nvSpPr>
        <p:spPr>
          <a:xfrm>
            <a:off x="55435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2.69</a:t>
            </a:r>
            <a:endParaRPr lang="en-US" sz="950" dirty="0"/>
          </a:p>
        </p:txBody>
      </p:sp>
      <p:sp>
        <p:nvSpPr>
          <p:cNvPr id="181" name="Text 177"/>
          <p:cNvSpPr/>
          <p:nvPr/>
        </p:nvSpPr>
        <p:spPr>
          <a:xfrm>
            <a:off x="606425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1.81</a:t>
            </a:r>
            <a:endParaRPr lang="en-US" sz="950" dirty="0"/>
          </a:p>
        </p:txBody>
      </p:sp>
      <p:sp>
        <p:nvSpPr>
          <p:cNvPr id="182" name="Text 178"/>
          <p:cNvSpPr/>
          <p:nvPr/>
        </p:nvSpPr>
        <p:spPr>
          <a:xfrm>
            <a:off x="657860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1.25</a:t>
            </a:r>
            <a:endParaRPr lang="en-US" sz="950" dirty="0"/>
          </a:p>
        </p:txBody>
      </p:sp>
      <p:sp>
        <p:nvSpPr>
          <p:cNvPr id="183" name="Text 179"/>
          <p:cNvSpPr/>
          <p:nvPr/>
        </p:nvSpPr>
        <p:spPr>
          <a:xfrm>
            <a:off x="70993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84" name="Text 180"/>
          <p:cNvSpPr/>
          <p:nvPr/>
        </p:nvSpPr>
        <p:spPr>
          <a:xfrm>
            <a:off x="3790950" y="54737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x+delta</a:t>
            </a:r>
            <a:endParaRPr lang="en-US" sz="1050" dirty="0"/>
          </a:p>
        </p:txBody>
      </p:sp>
      <p:sp>
        <p:nvSpPr>
          <p:cNvPr id="185" name="Text 181"/>
          <p:cNvSpPr/>
          <p:nvPr/>
        </p:nvSpPr>
        <p:spPr>
          <a:xfrm>
            <a:off x="45085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3.1</a:t>
            </a:r>
            <a:endParaRPr lang="en-US" sz="950" dirty="0"/>
          </a:p>
        </p:txBody>
      </p:sp>
      <p:sp>
        <p:nvSpPr>
          <p:cNvPr id="186" name="Text 182"/>
          <p:cNvSpPr/>
          <p:nvPr/>
        </p:nvSpPr>
        <p:spPr>
          <a:xfrm>
            <a:off x="50228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</a:t>
            </a:r>
            <a:endParaRPr lang="en-US" sz="950" dirty="0"/>
          </a:p>
        </p:txBody>
      </p:sp>
      <p:sp>
        <p:nvSpPr>
          <p:cNvPr id="187" name="Text 183"/>
          <p:cNvSpPr/>
          <p:nvPr/>
        </p:nvSpPr>
        <p:spPr>
          <a:xfrm>
            <a:off x="55435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3.9</a:t>
            </a:r>
            <a:endParaRPr lang="en-US" sz="950" dirty="0"/>
          </a:p>
        </p:txBody>
      </p:sp>
      <p:sp>
        <p:nvSpPr>
          <p:cNvPr id="188" name="Text 184"/>
          <p:cNvSpPr/>
          <p:nvPr/>
        </p:nvSpPr>
        <p:spPr>
          <a:xfrm>
            <a:off x="606425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4.3</a:t>
            </a:r>
            <a:endParaRPr lang="en-US" sz="950" dirty="0"/>
          </a:p>
        </p:txBody>
      </p:sp>
      <p:sp>
        <p:nvSpPr>
          <p:cNvPr id="189" name="Text 185"/>
          <p:cNvSpPr/>
          <p:nvPr/>
        </p:nvSpPr>
        <p:spPr>
          <a:xfrm>
            <a:off x="657860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4.7</a:t>
            </a:r>
            <a:endParaRPr lang="en-US" sz="950" dirty="0"/>
          </a:p>
        </p:txBody>
      </p:sp>
      <p:sp>
        <p:nvSpPr>
          <p:cNvPr id="190" name="Text 186"/>
          <p:cNvSpPr/>
          <p:nvPr/>
        </p:nvSpPr>
        <p:spPr>
          <a:xfrm>
            <a:off x="70993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950" dirty="0"/>
          </a:p>
        </p:txBody>
      </p:sp>
      <p:sp>
        <p:nvSpPr>
          <p:cNvPr id="191" name="Text 187"/>
          <p:cNvSpPr/>
          <p:nvPr/>
        </p:nvSpPr>
        <p:spPr>
          <a:xfrm>
            <a:off x="3790950" y="57150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f(x+delta)</a:t>
            </a:r>
            <a:endParaRPr lang="en-US" sz="1050" dirty="0"/>
          </a:p>
        </p:txBody>
      </p:sp>
      <p:sp>
        <p:nvSpPr>
          <p:cNvPr id="192" name="Text 188"/>
          <p:cNvSpPr/>
          <p:nvPr/>
        </p:nvSpPr>
        <p:spPr>
          <a:xfrm>
            <a:off x="45085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4.61</a:t>
            </a:r>
            <a:endParaRPr lang="en-US" sz="950" dirty="0"/>
          </a:p>
        </p:txBody>
      </p:sp>
      <p:sp>
        <p:nvSpPr>
          <p:cNvPr id="193" name="Text 189"/>
          <p:cNvSpPr/>
          <p:nvPr/>
        </p:nvSpPr>
        <p:spPr>
          <a:xfrm>
            <a:off x="50228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3.25</a:t>
            </a:r>
            <a:endParaRPr lang="en-US" sz="950" dirty="0"/>
          </a:p>
        </p:txBody>
      </p:sp>
      <p:sp>
        <p:nvSpPr>
          <p:cNvPr id="194" name="Text 190"/>
          <p:cNvSpPr/>
          <p:nvPr/>
        </p:nvSpPr>
        <p:spPr>
          <a:xfrm>
            <a:off x="55435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2.21</a:t>
            </a:r>
            <a:endParaRPr lang="en-US" sz="950" dirty="0"/>
          </a:p>
        </p:txBody>
      </p:sp>
      <p:sp>
        <p:nvSpPr>
          <p:cNvPr id="195" name="Text 191"/>
          <p:cNvSpPr/>
          <p:nvPr/>
        </p:nvSpPr>
        <p:spPr>
          <a:xfrm>
            <a:off x="606425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1.49</a:t>
            </a:r>
            <a:endParaRPr lang="en-US" sz="950" dirty="0"/>
          </a:p>
        </p:txBody>
      </p:sp>
      <p:sp>
        <p:nvSpPr>
          <p:cNvPr id="196" name="Text 192"/>
          <p:cNvSpPr/>
          <p:nvPr/>
        </p:nvSpPr>
        <p:spPr>
          <a:xfrm>
            <a:off x="657860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1.09</a:t>
            </a:r>
            <a:endParaRPr lang="en-US" sz="950" dirty="0"/>
          </a:p>
        </p:txBody>
      </p:sp>
      <p:sp>
        <p:nvSpPr>
          <p:cNvPr id="197" name="Text 193"/>
          <p:cNvSpPr/>
          <p:nvPr/>
        </p:nvSpPr>
        <p:spPr>
          <a:xfrm>
            <a:off x="70993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98" name="Text 194"/>
          <p:cNvSpPr/>
          <p:nvPr/>
        </p:nvSpPr>
        <p:spPr>
          <a:xfrm>
            <a:off x="3790950" y="5994400"/>
            <a:ext cx="7175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</a:t>
            </a:r>
            <a:endParaRPr lang="en-US" sz="1050" dirty="0"/>
          </a:p>
        </p:txBody>
      </p:sp>
      <p:sp>
        <p:nvSpPr>
          <p:cNvPr id="199" name="Text 195"/>
          <p:cNvSpPr/>
          <p:nvPr/>
        </p:nvSpPr>
        <p:spPr>
          <a:xfrm>
            <a:off x="45085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</a:t>
            </a:r>
            <a:endParaRPr lang="en-US" sz="950" dirty="0"/>
          </a:p>
        </p:txBody>
      </p:sp>
      <p:sp>
        <p:nvSpPr>
          <p:cNvPr id="200" name="Text 196"/>
          <p:cNvSpPr/>
          <p:nvPr/>
        </p:nvSpPr>
        <p:spPr>
          <a:xfrm>
            <a:off x="50228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-6.4</a:t>
            </a:r>
            <a:endParaRPr lang="en-US" sz="950" dirty="0"/>
          </a:p>
        </p:txBody>
      </p:sp>
      <p:sp>
        <p:nvSpPr>
          <p:cNvPr id="201" name="Text 197"/>
          <p:cNvSpPr/>
          <p:nvPr/>
        </p:nvSpPr>
        <p:spPr>
          <a:xfrm>
            <a:off x="55435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-4.8</a:t>
            </a:r>
            <a:endParaRPr lang="en-US" sz="950" dirty="0"/>
          </a:p>
        </p:txBody>
      </p:sp>
      <p:sp>
        <p:nvSpPr>
          <p:cNvPr id="202" name="Text 198"/>
          <p:cNvSpPr/>
          <p:nvPr/>
        </p:nvSpPr>
        <p:spPr>
          <a:xfrm>
            <a:off x="606425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-3.2</a:t>
            </a:r>
            <a:endParaRPr lang="en-US" sz="950" dirty="0"/>
          </a:p>
        </p:txBody>
      </p:sp>
      <p:sp>
        <p:nvSpPr>
          <p:cNvPr id="203" name="Text 199"/>
          <p:cNvSpPr/>
          <p:nvPr/>
        </p:nvSpPr>
        <p:spPr>
          <a:xfrm>
            <a:off x="657860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-1.6</a:t>
            </a:r>
            <a:endParaRPr lang="en-US" sz="950" dirty="0"/>
          </a:p>
        </p:txBody>
      </p:sp>
      <p:sp>
        <p:nvSpPr>
          <p:cNvPr id="204" name="Text 200"/>
          <p:cNvSpPr/>
          <p:nvPr/>
        </p:nvSpPr>
        <p:spPr>
          <a:xfrm>
            <a:off x="70993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50" dirty="0"/>
          </a:p>
        </p:txBody>
      </p:sp>
      <p:sp>
        <p:nvSpPr>
          <p:cNvPr id="205" name="Text 201"/>
          <p:cNvSpPr/>
          <p:nvPr/>
        </p:nvSpPr>
        <p:spPr>
          <a:xfrm>
            <a:off x="3790950" y="6311900"/>
            <a:ext cx="71755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x</a:t>
            </a:r>
            <a:endParaRPr lang="en-US" sz="1050" dirty="0"/>
          </a:p>
        </p:txBody>
      </p:sp>
      <p:sp>
        <p:nvSpPr>
          <p:cNvPr id="206" name="Text 202"/>
          <p:cNvSpPr/>
          <p:nvPr/>
        </p:nvSpPr>
        <p:spPr>
          <a:xfrm>
            <a:off x="45085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207" name="Text 203"/>
          <p:cNvSpPr/>
          <p:nvPr/>
        </p:nvSpPr>
        <p:spPr>
          <a:xfrm>
            <a:off x="50228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208" name="Text 204"/>
          <p:cNvSpPr/>
          <p:nvPr/>
        </p:nvSpPr>
        <p:spPr>
          <a:xfrm>
            <a:off x="55435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209" name="Text 205"/>
          <p:cNvSpPr/>
          <p:nvPr/>
        </p:nvSpPr>
        <p:spPr>
          <a:xfrm>
            <a:off x="606425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210" name="Text 206"/>
          <p:cNvSpPr/>
          <p:nvPr/>
        </p:nvSpPr>
        <p:spPr>
          <a:xfrm>
            <a:off x="657860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211" name="Text 207"/>
          <p:cNvSpPr/>
          <p:nvPr/>
        </p:nvSpPr>
        <p:spPr>
          <a:xfrm>
            <a:off x="70993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</a:t>
            </a:r>
            <a:endParaRPr lang="en-US" sz="950" dirty="0"/>
          </a:p>
        </p:txBody>
      </p:sp>
      <p:sp>
        <p:nvSpPr>
          <p:cNvPr id="212" name="Shape 208"/>
          <p:cNvSpPr/>
          <p:nvPr/>
        </p:nvSpPr>
        <p:spPr>
          <a:xfrm rot="1500000">
            <a:off x="4445000" y="4025900"/>
            <a:ext cx="203200" cy="4699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8B1A2B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70000" y="762000"/>
            <a:ext cx="546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Non-Convex Function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70000" y="11557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180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reach different minimum value based on: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222500" y="1447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point</a:t>
            </a:r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3124200"/>
            <a:ext cx="1257300" cy="787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3238500"/>
            <a:ext cx="5969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2900" y="3238500"/>
            <a:ext cx="5461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3238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25600" y="3238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6000" y="3429000"/>
            <a:ext cx="5969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2900" y="3429000"/>
            <a:ext cx="5461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34290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25600" y="34290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16000" y="3619500"/>
            <a:ext cx="5969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12900" y="3619500"/>
            <a:ext cx="5461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" y="3619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25600" y="3619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981200" y="3771900"/>
            <a:ext cx="736600" cy="330200"/>
          </a:xfrm>
          <a:prstGeom prst="right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02300" y="2311400"/>
            <a:ext cx="1727200" cy="6096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26" name="Image 0" descr="/workspaces/codespaces-blank/ai_llm_slides/videos/machine-learning/03_ridger_regression_gradient_descent/recreated_pptx/build/assets/eq_033_main_v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5170" y="2458085"/>
            <a:ext cx="1521460" cy="32893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124200" y="3225800"/>
            <a:ext cx="4457700" cy="571500"/>
          </a:xfrm>
          <a:prstGeom prst="rect">
            <a:avLst/>
          </a:prstGeom>
          <a:solidFill>
            <a:srgbClr val="EFFFE2"/>
          </a:solidFill>
          <a:ln w="15875">
            <a:solidFill>
              <a:srgbClr val="008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49600" y="3263900"/>
            <a:ext cx="533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3721100" y="3263900"/>
            <a:ext cx="3822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-9.7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-9.6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3149600" y="3505200"/>
            <a:ext cx="55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3721100" y="3505200"/>
            <a:ext cx="382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-8.08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-8.011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33" name="Image 1" descr="/workspaces/codespaces-blank/ai_llm_slides/videos/machine-learning/03_ridger_regression_gradient_descent/recreated_pptx/build/assets/slide_033_plot_v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787400"/>
            <a:ext cx="2996184" cy="317449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0756900" y="2082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7835900" y="1905000"/>
            <a:ext cx="0" cy="266700"/>
          </a:xfrm>
          <a:prstGeom prst="line">
            <a:avLst/>
          </a:prstGeom>
          <a:noFill/>
          <a:ln w="12700">
            <a:solidFill>
              <a:srgbClr val="8B0000"/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7874000" y="1816100"/>
            <a:ext cx="88900" cy="88900"/>
          </a:xfrm>
          <a:prstGeom prst="ellipse">
            <a:avLst/>
          </a:prstGeom>
          <a:solidFill>
            <a:srgbClr val="D0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flipH="1">
            <a:off x="8039100" y="1485900"/>
            <a:ext cx="165100" cy="241300"/>
          </a:xfrm>
          <a:prstGeom prst="line">
            <a:avLst/>
          </a:prstGeom>
          <a:noFill/>
          <a:ln w="381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7988300" y="2997200"/>
            <a:ext cx="190500" cy="139700"/>
          </a:xfrm>
          <a:prstGeom prst="ellipse">
            <a:avLst/>
          </a:prstGeom>
          <a:solidFill>
            <a:srgbClr val="7CFC00"/>
          </a:solidFill>
          <a:ln w="12700">
            <a:solidFill>
              <a:srgbClr val="7CFC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166100" y="3276600"/>
            <a:ext cx="-76200" cy="-1397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solidFill>
            <a:srgbClr val="F7C9FA"/>
          </a:solidFill>
          <a:ln w="9525">
            <a:solidFill>
              <a:srgbClr val="8E2A9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Minima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1092200" y="4064000"/>
            <a:ext cx="9944100" cy="25273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04900" y="4203700"/>
            <a:ext cx="9918700" cy="482600"/>
          </a:xfrm>
          <a:prstGeom prst="rect">
            <a:avLst/>
          </a:prstGeom>
          <a:solidFill>
            <a:srgbClr val="D9E275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04900" y="4749800"/>
            <a:ext cx="9918700" cy="469900"/>
          </a:xfrm>
          <a:prstGeom prst="rect">
            <a:avLst/>
          </a:prstGeom>
          <a:solidFill>
            <a:srgbClr val="D6B2F5"/>
          </a:solidFill>
          <a:ln w="15875">
            <a:solidFill>
              <a:srgbClr val="5B2C6F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04900" y="5295900"/>
            <a:ext cx="9918700" cy="482600"/>
          </a:xfrm>
          <a:prstGeom prst="rect">
            <a:avLst/>
          </a:prstGeom>
          <a:solidFill>
            <a:srgbClr val="F7DDC2"/>
          </a:solidFill>
          <a:ln w="15875">
            <a:solidFill>
              <a:srgbClr val="6B4226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104900" y="5829300"/>
            <a:ext cx="711200" cy="2540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816100" y="5829300"/>
            <a:ext cx="9194800" cy="254000"/>
          </a:xfrm>
          <a:prstGeom prst="rect">
            <a:avLst/>
          </a:prstGeom>
          <a:solidFill>
            <a:srgbClr val="DEAC95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978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94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04900" y="6134100"/>
            <a:ext cx="9918700" cy="254000"/>
          </a:xfrm>
          <a:prstGeom prst="rect">
            <a:avLst/>
          </a:prstGeom>
          <a:solidFill>
            <a:srgbClr val="F7BEC4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8458200" y="4216400"/>
            <a:ext cx="1536700" cy="457200"/>
          </a:xfrm>
          <a:prstGeom prst="rect">
            <a:avLst/>
          </a:prstGeom>
          <a:solidFill>
            <a:srgbClr val="8BF8AB"/>
          </a:solidFill>
          <a:ln w="15875">
            <a:solidFill>
              <a:srgbClr val="8B0000"/>
            </a:solidFill>
            <a:prstDash val="dash"/>
          </a:ln>
        </p:spPr>
      </p:sp>
      <p:sp>
        <p:nvSpPr>
          <p:cNvPr id="52" name="Shape 48"/>
          <p:cNvSpPr/>
          <p:nvPr/>
        </p:nvSpPr>
        <p:spPr>
          <a:xfrm>
            <a:off x="1816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33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844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3352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860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368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87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397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905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6413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934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442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950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458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8978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9486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994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02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010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816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2844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352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3860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368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487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397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905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413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6934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442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950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458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8978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9486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994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10502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11010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816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3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844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352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3860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368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487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397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5905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6413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6934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7442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950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8458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8978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9486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9994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10502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11010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18161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33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844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352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860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368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87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397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905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413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934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7442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950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8458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8978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9486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9994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10502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11010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18161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233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2844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3352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3860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4368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487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5397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5905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6413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6934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7442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7950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8458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978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9486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9994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10502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11010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1117600" y="44450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1117600" y="498475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1117600" y="55372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6"/>
          <p:cNvSpPr/>
          <p:nvPr/>
        </p:nvSpPr>
        <p:spPr>
          <a:xfrm>
            <a:off x="1117600" y="4241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51" name="Text 147"/>
          <p:cNvSpPr/>
          <p:nvPr/>
        </p:nvSpPr>
        <p:spPr>
          <a:xfrm>
            <a:off x="18161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52" name="Text 148"/>
          <p:cNvSpPr/>
          <p:nvPr/>
        </p:nvSpPr>
        <p:spPr>
          <a:xfrm>
            <a:off x="2336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53" name="Text 149"/>
          <p:cNvSpPr/>
          <p:nvPr/>
        </p:nvSpPr>
        <p:spPr>
          <a:xfrm>
            <a:off x="2844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54" name="Text 150"/>
          <p:cNvSpPr/>
          <p:nvPr/>
        </p:nvSpPr>
        <p:spPr>
          <a:xfrm>
            <a:off x="3352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55" name="Text 151"/>
          <p:cNvSpPr/>
          <p:nvPr/>
        </p:nvSpPr>
        <p:spPr>
          <a:xfrm>
            <a:off x="3860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4368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57" name="Text 153"/>
          <p:cNvSpPr/>
          <p:nvPr/>
        </p:nvSpPr>
        <p:spPr>
          <a:xfrm>
            <a:off x="48768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58" name="Text 154"/>
          <p:cNvSpPr/>
          <p:nvPr/>
        </p:nvSpPr>
        <p:spPr>
          <a:xfrm>
            <a:off x="5397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59" name="Text 155"/>
          <p:cNvSpPr/>
          <p:nvPr/>
        </p:nvSpPr>
        <p:spPr>
          <a:xfrm>
            <a:off x="5905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60" name="Text 156"/>
          <p:cNvSpPr/>
          <p:nvPr/>
        </p:nvSpPr>
        <p:spPr>
          <a:xfrm>
            <a:off x="64135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161" name="Text 157"/>
          <p:cNvSpPr/>
          <p:nvPr/>
        </p:nvSpPr>
        <p:spPr>
          <a:xfrm>
            <a:off x="6934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162" name="Text 158"/>
          <p:cNvSpPr/>
          <p:nvPr/>
        </p:nvSpPr>
        <p:spPr>
          <a:xfrm>
            <a:off x="7442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163" name="Text 159"/>
          <p:cNvSpPr/>
          <p:nvPr/>
        </p:nvSpPr>
        <p:spPr>
          <a:xfrm>
            <a:off x="7950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164" name="Text 160"/>
          <p:cNvSpPr/>
          <p:nvPr/>
        </p:nvSpPr>
        <p:spPr>
          <a:xfrm>
            <a:off x="84582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5" name="Text 161"/>
          <p:cNvSpPr/>
          <p:nvPr/>
        </p:nvSpPr>
        <p:spPr>
          <a:xfrm>
            <a:off x="8978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6" name="Text 162"/>
          <p:cNvSpPr/>
          <p:nvPr/>
        </p:nvSpPr>
        <p:spPr>
          <a:xfrm>
            <a:off x="9486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7" name="Text 163"/>
          <p:cNvSpPr/>
          <p:nvPr/>
        </p:nvSpPr>
        <p:spPr>
          <a:xfrm>
            <a:off x="9994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8" name="Text 164"/>
          <p:cNvSpPr/>
          <p:nvPr/>
        </p:nvSpPr>
        <p:spPr>
          <a:xfrm>
            <a:off x="10502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9" name="Text 165"/>
          <p:cNvSpPr/>
          <p:nvPr/>
        </p:nvSpPr>
        <p:spPr>
          <a:xfrm>
            <a:off x="1117600" y="4470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70" name="Text 166"/>
          <p:cNvSpPr/>
          <p:nvPr/>
        </p:nvSpPr>
        <p:spPr>
          <a:xfrm>
            <a:off x="18161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171" name="Text 167"/>
          <p:cNvSpPr/>
          <p:nvPr/>
        </p:nvSpPr>
        <p:spPr>
          <a:xfrm>
            <a:off x="2336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172" name="Text 168"/>
          <p:cNvSpPr/>
          <p:nvPr/>
        </p:nvSpPr>
        <p:spPr>
          <a:xfrm>
            <a:off x="2844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173" name="Text 169"/>
          <p:cNvSpPr/>
          <p:nvPr/>
        </p:nvSpPr>
        <p:spPr>
          <a:xfrm>
            <a:off x="3352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174" name="Text 170"/>
          <p:cNvSpPr/>
          <p:nvPr/>
        </p:nvSpPr>
        <p:spPr>
          <a:xfrm>
            <a:off x="3860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4368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176" name="Text 172"/>
          <p:cNvSpPr/>
          <p:nvPr/>
        </p:nvSpPr>
        <p:spPr>
          <a:xfrm>
            <a:off x="48768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177" name="Text 173"/>
          <p:cNvSpPr/>
          <p:nvPr/>
        </p:nvSpPr>
        <p:spPr>
          <a:xfrm>
            <a:off x="5397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178" name="Text 174"/>
          <p:cNvSpPr/>
          <p:nvPr/>
        </p:nvSpPr>
        <p:spPr>
          <a:xfrm>
            <a:off x="5905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179" name="Text 175"/>
          <p:cNvSpPr/>
          <p:nvPr/>
        </p:nvSpPr>
        <p:spPr>
          <a:xfrm>
            <a:off x="64135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180" name="Text 176"/>
          <p:cNvSpPr/>
          <p:nvPr/>
        </p:nvSpPr>
        <p:spPr>
          <a:xfrm>
            <a:off x="6934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181" name="Text 177"/>
          <p:cNvSpPr/>
          <p:nvPr/>
        </p:nvSpPr>
        <p:spPr>
          <a:xfrm>
            <a:off x="7442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182" name="Text 178"/>
          <p:cNvSpPr/>
          <p:nvPr/>
        </p:nvSpPr>
        <p:spPr>
          <a:xfrm>
            <a:off x="7950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183" name="Text 179"/>
          <p:cNvSpPr/>
          <p:nvPr/>
        </p:nvSpPr>
        <p:spPr>
          <a:xfrm>
            <a:off x="84582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4" name="Text 180"/>
          <p:cNvSpPr/>
          <p:nvPr/>
        </p:nvSpPr>
        <p:spPr>
          <a:xfrm>
            <a:off x="8978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5" name="Text 181"/>
          <p:cNvSpPr/>
          <p:nvPr/>
        </p:nvSpPr>
        <p:spPr>
          <a:xfrm>
            <a:off x="9486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6" name="Text 182"/>
          <p:cNvSpPr/>
          <p:nvPr/>
        </p:nvSpPr>
        <p:spPr>
          <a:xfrm>
            <a:off x="9994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7" name="Text 183"/>
          <p:cNvSpPr/>
          <p:nvPr/>
        </p:nvSpPr>
        <p:spPr>
          <a:xfrm>
            <a:off x="10502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8" name="Text 184"/>
          <p:cNvSpPr/>
          <p:nvPr/>
        </p:nvSpPr>
        <p:spPr>
          <a:xfrm>
            <a:off x="1117600" y="4775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89" name="Text 185"/>
          <p:cNvSpPr/>
          <p:nvPr/>
        </p:nvSpPr>
        <p:spPr>
          <a:xfrm>
            <a:off x="18161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-11.1</a:t>
            </a:r>
            <a:endParaRPr lang="en-US" sz="800" dirty="0"/>
          </a:p>
        </p:txBody>
      </p:sp>
      <p:sp>
        <p:nvSpPr>
          <p:cNvPr id="190" name="Text 186"/>
          <p:cNvSpPr/>
          <p:nvPr/>
        </p:nvSpPr>
        <p:spPr>
          <a:xfrm>
            <a:off x="2336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91" name="Text 187"/>
          <p:cNvSpPr/>
          <p:nvPr/>
        </p:nvSpPr>
        <p:spPr>
          <a:xfrm>
            <a:off x="2844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92" name="Text 188"/>
          <p:cNvSpPr/>
          <p:nvPr/>
        </p:nvSpPr>
        <p:spPr>
          <a:xfrm>
            <a:off x="3352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93" name="Text 189"/>
          <p:cNvSpPr/>
          <p:nvPr/>
        </p:nvSpPr>
        <p:spPr>
          <a:xfrm>
            <a:off x="3860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4368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95" name="Text 191"/>
          <p:cNvSpPr/>
          <p:nvPr/>
        </p:nvSpPr>
        <p:spPr>
          <a:xfrm>
            <a:off x="48768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96" name="Text 192"/>
          <p:cNvSpPr/>
          <p:nvPr/>
        </p:nvSpPr>
        <p:spPr>
          <a:xfrm>
            <a:off x="5397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97" name="Text 193"/>
          <p:cNvSpPr/>
          <p:nvPr/>
        </p:nvSpPr>
        <p:spPr>
          <a:xfrm>
            <a:off x="5905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98" name="Text 194"/>
          <p:cNvSpPr/>
          <p:nvPr/>
        </p:nvSpPr>
        <p:spPr>
          <a:xfrm>
            <a:off x="64135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99" name="Text 195"/>
          <p:cNvSpPr/>
          <p:nvPr/>
        </p:nvSpPr>
        <p:spPr>
          <a:xfrm>
            <a:off x="6934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00" name="Text 196"/>
          <p:cNvSpPr/>
          <p:nvPr/>
        </p:nvSpPr>
        <p:spPr>
          <a:xfrm>
            <a:off x="7442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01" name="Text 197"/>
          <p:cNvSpPr/>
          <p:nvPr/>
        </p:nvSpPr>
        <p:spPr>
          <a:xfrm>
            <a:off x="7950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02" name="Text 198"/>
          <p:cNvSpPr/>
          <p:nvPr/>
        </p:nvSpPr>
        <p:spPr>
          <a:xfrm>
            <a:off x="84582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3" name="Text 199"/>
          <p:cNvSpPr/>
          <p:nvPr/>
        </p:nvSpPr>
        <p:spPr>
          <a:xfrm>
            <a:off x="8978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4" name="Text 200"/>
          <p:cNvSpPr/>
          <p:nvPr/>
        </p:nvSpPr>
        <p:spPr>
          <a:xfrm>
            <a:off x="9486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5" name="Text 201"/>
          <p:cNvSpPr/>
          <p:nvPr/>
        </p:nvSpPr>
        <p:spPr>
          <a:xfrm>
            <a:off x="9994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6" name="Text 202"/>
          <p:cNvSpPr/>
          <p:nvPr/>
        </p:nvSpPr>
        <p:spPr>
          <a:xfrm>
            <a:off x="10502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7" name="Text 203"/>
          <p:cNvSpPr/>
          <p:nvPr/>
        </p:nvSpPr>
        <p:spPr>
          <a:xfrm>
            <a:off x="1117600" y="5003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208" name="Text 204"/>
          <p:cNvSpPr/>
          <p:nvPr/>
        </p:nvSpPr>
        <p:spPr>
          <a:xfrm>
            <a:off x="18161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</a:t>
            </a:r>
            <a:endParaRPr lang="en-US" sz="800" dirty="0"/>
          </a:p>
        </p:txBody>
      </p:sp>
      <p:sp>
        <p:nvSpPr>
          <p:cNvPr id="209" name="Text 205"/>
          <p:cNvSpPr/>
          <p:nvPr/>
        </p:nvSpPr>
        <p:spPr>
          <a:xfrm>
            <a:off x="2336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210" name="Text 206"/>
          <p:cNvSpPr/>
          <p:nvPr/>
        </p:nvSpPr>
        <p:spPr>
          <a:xfrm>
            <a:off x="2844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11" name="Text 207"/>
          <p:cNvSpPr/>
          <p:nvPr/>
        </p:nvSpPr>
        <p:spPr>
          <a:xfrm>
            <a:off x="3352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12" name="Text 208"/>
          <p:cNvSpPr/>
          <p:nvPr/>
        </p:nvSpPr>
        <p:spPr>
          <a:xfrm>
            <a:off x="3860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4368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14" name="Text 210"/>
          <p:cNvSpPr/>
          <p:nvPr/>
        </p:nvSpPr>
        <p:spPr>
          <a:xfrm>
            <a:off x="48768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15" name="Text 211"/>
          <p:cNvSpPr/>
          <p:nvPr/>
        </p:nvSpPr>
        <p:spPr>
          <a:xfrm>
            <a:off x="5397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16" name="Text 212"/>
          <p:cNvSpPr/>
          <p:nvPr/>
        </p:nvSpPr>
        <p:spPr>
          <a:xfrm>
            <a:off x="5905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17" name="Text 213"/>
          <p:cNvSpPr/>
          <p:nvPr/>
        </p:nvSpPr>
        <p:spPr>
          <a:xfrm>
            <a:off x="64135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18" name="Text 214"/>
          <p:cNvSpPr/>
          <p:nvPr/>
        </p:nvSpPr>
        <p:spPr>
          <a:xfrm>
            <a:off x="6934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19" name="Text 215"/>
          <p:cNvSpPr/>
          <p:nvPr/>
        </p:nvSpPr>
        <p:spPr>
          <a:xfrm>
            <a:off x="7442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20" name="Text 216"/>
          <p:cNvSpPr/>
          <p:nvPr/>
        </p:nvSpPr>
        <p:spPr>
          <a:xfrm>
            <a:off x="7950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21" name="Text 217"/>
          <p:cNvSpPr/>
          <p:nvPr/>
        </p:nvSpPr>
        <p:spPr>
          <a:xfrm>
            <a:off x="84582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2" name="Text 218"/>
          <p:cNvSpPr/>
          <p:nvPr/>
        </p:nvSpPr>
        <p:spPr>
          <a:xfrm>
            <a:off x="8978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3" name="Text 219"/>
          <p:cNvSpPr/>
          <p:nvPr/>
        </p:nvSpPr>
        <p:spPr>
          <a:xfrm>
            <a:off x="9486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4" name="Text 220"/>
          <p:cNvSpPr/>
          <p:nvPr/>
        </p:nvSpPr>
        <p:spPr>
          <a:xfrm>
            <a:off x="9994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5" name="Text 221"/>
          <p:cNvSpPr/>
          <p:nvPr/>
        </p:nvSpPr>
        <p:spPr>
          <a:xfrm>
            <a:off x="10502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6" name="Text 222"/>
          <p:cNvSpPr/>
          <p:nvPr/>
        </p:nvSpPr>
        <p:spPr>
          <a:xfrm>
            <a:off x="1117600" y="53340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227" name="Text 223"/>
          <p:cNvSpPr/>
          <p:nvPr/>
        </p:nvSpPr>
        <p:spPr>
          <a:xfrm>
            <a:off x="18161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28" name="Text 224"/>
          <p:cNvSpPr/>
          <p:nvPr/>
        </p:nvSpPr>
        <p:spPr>
          <a:xfrm>
            <a:off x="2336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29" name="Text 225"/>
          <p:cNvSpPr/>
          <p:nvPr/>
        </p:nvSpPr>
        <p:spPr>
          <a:xfrm>
            <a:off x="2844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30" name="Text 226"/>
          <p:cNvSpPr/>
          <p:nvPr/>
        </p:nvSpPr>
        <p:spPr>
          <a:xfrm>
            <a:off x="3352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31" name="Text 227"/>
          <p:cNvSpPr/>
          <p:nvPr/>
        </p:nvSpPr>
        <p:spPr>
          <a:xfrm>
            <a:off x="3860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4368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33" name="Text 229"/>
          <p:cNvSpPr/>
          <p:nvPr/>
        </p:nvSpPr>
        <p:spPr>
          <a:xfrm>
            <a:off x="48768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34" name="Text 230"/>
          <p:cNvSpPr/>
          <p:nvPr/>
        </p:nvSpPr>
        <p:spPr>
          <a:xfrm>
            <a:off x="5397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35" name="Text 231"/>
          <p:cNvSpPr/>
          <p:nvPr/>
        </p:nvSpPr>
        <p:spPr>
          <a:xfrm>
            <a:off x="5905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36" name="Text 232"/>
          <p:cNvSpPr/>
          <p:nvPr/>
        </p:nvSpPr>
        <p:spPr>
          <a:xfrm>
            <a:off x="64135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37" name="Text 233"/>
          <p:cNvSpPr/>
          <p:nvPr/>
        </p:nvSpPr>
        <p:spPr>
          <a:xfrm>
            <a:off x="6934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38" name="Text 234"/>
          <p:cNvSpPr/>
          <p:nvPr/>
        </p:nvSpPr>
        <p:spPr>
          <a:xfrm>
            <a:off x="7442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39" name="Text 235"/>
          <p:cNvSpPr/>
          <p:nvPr/>
        </p:nvSpPr>
        <p:spPr>
          <a:xfrm>
            <a:off x="7950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40" name="Text 236"/>
          <p:cNvSpPr/>
          <p:nvPr/>
        </p:nvSpPr>
        <p:spPr>
          <a:xfrm>
            <a:off x="84582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1" name="Text 237"/>
          <p:cNvSpPr/>
          <p:nvPr/>
        </p:nvSpPr>
        <p:spPr>
          <a:xfrm>
            <a:off x="8978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2" name="Text 238"/>
          <p:cNvSpPr/>
          <p:nvPr/>
        </p:nvSpPr>
        <p:spPr>
          <a:xfrm>
            <a:off x="9486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3" name="Text 239"/>
          <p:cNvSpPr/>
          <p:nvPr/>
        </p:nvSpPr>
        <p:spPr>
          <a:xfrm>
            <a:off x="9994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4" name="Text 240"/>
          <p:cNvSpPr/>
          <p:nvPr/>
        </p:nvSpPr>
        <p:spPr>
          <a:xfrm>
            <a:off x="10502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5" name="Text 241"/>
          <p:cNvSpPr/>
          <p:nvPr/>
        </p:nvSpPr>
        <p:spPr>
          <a:xfrm>
            <a:off x="1117600" y="55626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46" name="Text 242"/>
          <p:cNvSpPr/>
          <p:nvPr/>
        </p:nvSpPr>
        <p:spPr>
          <a:xfrm>
            <a:off x="18161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47" name="Text 243"/>
          <p:cNvSpPr/>
          <p:nvPr/>
        </p:nvSpPr>
        <p:spPr>
          <a:xfrm>
            <a:off x="2336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48" name="Text 244"/>
          <p:cNvSpPr/>
          <p:nvPr/>
        </p:nvSpPr>
        <p:spPr>
          <a:xfrm>
            <a:off x="2844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49" name="Text 245"/>
          <p:cNvSpPr/>
          <p:nvPr/>
        </p:nvSpPr>
        <p:spPr>
          <a:xfrm>
            <a:off x="3352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50" name="Text 246"/>
          <p:cNvSpPr/>
          <p:nvPr/>
        </p:nvSpPr>
        <p:spPr>
          <a:xfrm>
            <a:off x="3860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4368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52" name="Text 248"/>
          <p:cNvSpPr/>
          <p:nvPr/>
        </p:nvSpPr>
        <p:spPr>
          <a:xfrm>
            <a:off x="48768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53" name="Text 249"/>
          <p:cNvSpPr/>
          <p:nvPr/>
        </p:nvSpPr>
        <p:spPr>
          <a:xfrm>
            <a:off x="5397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54" name="Text 250"/>
          <p:cNvSpPr/>
          <p:nvPr/>
        </p:nvSpPr>
        <p:spPr>
          <a:xfrm>
            <a:off x="5905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55" name="Text 251"/>
          <p:cNvSpPr/>
          <p:nvPr/>
        </p:nvSpPr>
        <p:spPr>
          <a:xfrm>
            <a:off x="64135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56" name="Text 252"/>
          <p:cNvSpPr/>
          <p:nvPr/>
        </p:nvSpPr>
        <p:spPr>
          <a:xfrm>
            <a:off x="6934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57" name="Text 253"/>
          <p:cNvSpPr/>
          <p:nvPr/>
        </p:nvSpPr>
        <p:spPr>
          <a:xfrm>
            <a:off x="7442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58" name="Text 254"/>
          <p:cNvSpPr/>
          <p:nvPr/>
        </p:nvSpPr>
        <p:spPr>
          <a:xfrm>
            <a:off x="7950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59" name="Text 255"/>
          <p:cNvSpPr/>
          <p:nvPr/>
        </p:nvSpPr>
        <p:spPr>
          <a:xfrm>
            <a:off x="84582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0" name="Text 256"/>
          <p:cNvSpPr/>
          <p:nvPr/>
        </p:nvSpPr>
        <p:spPr>
          <a:xfrm>
            <a:off x="8978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1" name="Text 257"/>
          <p:cNvSpPr/>
          <p:nvPr/>
        </p:nvSpPr>
        <p:spPr>
          <a:xfrm>
            <a:off x="9486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2" name="Text 258"/>
          <p:cNvSpPr/>
          <p:nvPr/>
        </p:nvSpPr>
        <p:spPr>
          <a:xfrm>
            <a:off x="9994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3" name="Text 259"/>
          <p:cNvSpPr/>
          <p:nvPr/>
        </p:nvSpPr>
        <p:spPr>
          <a:xfrm>
            <a:off x="10502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4" name="Text 260"/>
          <p:cNvSpPr/>
          <p:nvPr/>
        </p:nvSpPr>
        <p:spPr>
          <a:xfrm>
            <a:off x="1117600" y="5867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65" name="Text 261"/>
          <p:cNvSpPr/>
          <p:nvPr/>
        </p:nvSpPr>
        <p:spPr>
          <a:xfrm>
            <a:off x="18161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-24.3</a:t>
            </a:r>
            <a:endParaRPr lang="en-US" sz="800" dirty="0"/>
          </a:p>
        </p:txBody>
      </p:sp>
      <p:sp>
        <p:nvSpPr>
          <p:cNvPr id="266" name="Text 262"/>
          <p:cNvSpPr/>
          <p:nvPr/>
        </p:nvSpPr>
        <p:spPr>
          <a:xfrm>
            <a:off x="2336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-23.4</a:t>
            </a:r>
            <a:endParaRPr lang="en-US" sz="800" dirty="0"/>
          </a:p>
        </p:txBody>
      </p:sp>
      <p:sp>
        <p:nvSpPr>
          <p:cNvPr id="267" name="Text 263"/>
          <p:cNvSpPr/>
          <p:nvPr/>
        </p:nvSpPr>
        <p:spPr>
          <a:xfrm>
            <a:off x="2844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-22.2</a:t>
            </a:r>
            <a:endParaRPr lang="en-US" sz="800" dirty="0"/>
          </a:p>
        </p:txBody>
      </p:sp>
      <p:sp>
        <p:nvSpPr>
          <p:cNvPr id="268" name="Text 264"/>
          <p:cNvSpPr/>
          <p:nvPr/>
        </p:nvSpPr>
        <p:spPr>
          <a:xfrm>
            <a:off x="3352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-20.8</a:t>
            </a:r>
            <a:endParaRPr lang="en-US" sz="800" dirty="0"/>
          </a:p>
        </p:txBody>
      </p:sp>
      <p:sp>
        <p:nvSpPr>
          <p:cNvPr id="269" name="Text 265"/>
          <p:cNvSpPr/>
          <p:nvPr/>
        </p:nvSpPr>
        <p:spPr>
          <a:xfrm>
            <a:off x="3860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-19.3</a:t>
            </a:r>
            <a:endParaRPr lang="en-US" sz="800" dirty="0"/>
          </a:p>
        </p:txBody>
      </p:sp>
      <p:sp>
        <p:nvSpPr>
          <p:cNvPr id="270" name="Text 266"/>
          <p:cNvSpPr/>
          <p:nvPr/>
        </p:nvSpPr>
        <p:spPr>
          <a:xfrm>
            <a:off x="4368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-17.6</a:t>
            </a:r>
            <a:endParaRPr lang="en-US" sz="800" dirty="0"/>
          </a:p>
        </p:txBody>
      </p:sp>
      <p:sp>
        <p:nvSpPr>
          <p:cNvPr id="271" name="Text 267"/>
          <p:cNvSpPr/>
          <p:nvPr/>
        </p:nvSpPr>
        <p:spPr>
          <a:xfrm>
            <a:off x="48768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-15.8</a:t>
            </a:r>
            <a:endParaRPr lang="en-US" sz="800" dirty="0"/>
          </a:p>
        </p:txBody>
      </p:sp>
      <p:sp>
        <p:nvSpPr>
          <p:cNvPr id="272" name="Text 268"/>
          <p:cNvSpPr/>
          <p:nvPr/>
        </p:nvSpPr>
        <p:spPr>
          <a:xfrm>
            <a:off x="5397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-13.8</a:t>
            </a:r>
            <a:endParaRPr lang="en-US" sz="800" dirty="0"/>
          </a:p>
        </p:txBody>
      </p:sp>
      <p:sp>
        <p:nvSpPr>
          <p:cNvPr id="273" name="Text 269"/>
          <p:cNvSpPr/>
          <p:nvPr/>
        </p:nvSpPr>
        <p:spPr>
          <a:xfrm>
            <a:off x="5905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-11.8</a:t>
            </a:r>
            <a:endParaRPr lang="en-US" sz="800" dirty="0"/>
          </a:p>
        </p:txBody>
      </p:sp>
      <p:sp>
        <p:nvSpPr>
          <p:cNvPr id="274" name="Text 270"/>
          <p:cNvSpPr/>
          <p:nvPr/>
        </p:nvSpPr>
        <p:spPr>
          <a:xfrm>
            <a:off x="64135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75" name="Text 271"/>
          <p:cNvSpPr/>
          <p:nvPr/>
        </p:nvSpPr>
        <p:spPr>
          <a:xfrm>
            <a:off x="6934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</a:t>
            </a:r>
            <a:endParaRPr lang="en-US" sz="800" dirty="0"/>
          </a:p>
        </p:txBody>
      </p:sp>
      <p:sp>
        <p:nvSpPr>
          <p:cNvPr id="276" name="Text 272"/>
          <p:cNvSpPr/>
          <p:nvPr/>
        </p:nvSpPr>
        <p:spPr>
          <a:xfrm>
            <a:off x="7442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</a:t>
            </a:r>
            <a:endParaRPr lang="en-US" sz="800" dirty="0"/>
          </a:p>
        </p:txBody>
      </p:sp>
      <p:sp>
        <p:nvSpPr>
          <p:cNvPr id="277" name="Text 273"/>
          <p:cNvSpPr/>
          <p:nvPr/>
        </p:nvSpPr>
        <p:spPr>
          <a:xfrm>
            <a:off x="7950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-3.6</a:t>
            </a:r>
            <a:endParaRPr lang="en-US" sz="800" dirty="0"/>
          </a:p>
        </p:txBody>
      </p:sp>
      <p:sp>
        <p:nvSpPr>
          <p:cNvPr id="278" name="Text 274"/>
          <p:cNvSpPr/>
          <p:nvPr/>
        </p:nvSpPr>
        <p:spPr>
          <a:xfrm>
            <a:off x="84582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79" name="Text 275"/>
          <p:cNvSpPr/>
          <p:nvPr/>
        </p:nvSpPr>
        <p:spPr>
          <a:xfrm>
            <a:off x="8978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0" name="Text 276"/>
          <p:cNvSpPr/>
          <p:nvPr/>
        </p:nvSpPr>
        <p:spPr>
          <a:xfrm>
            <a:off x="9486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1" name="Text 277"/>
          <p:cNvSpPr/>
          <p:nvPr/>
        </p:nvSpPr>
        <p:spPr>
          <a:xfrm>
            <a:off x="9994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2" name="Text 278"/>
          <p:cNvSpPr/>
          <p:nvPr/>
        </p:nvSpPr>
        <p:spPr>
          <a:xfrm>
            <a:off x="10502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3" name="Text 279"/>
          <p:cNvSpPr/>
          <p:nvPr/>
        </p:nvSpPr>
        <p:spPr>
          <a:xfrm>
            <a:off x="1117600" y="6172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84" name="Text 280"/>
          <p:cNvSpPr/>
          <p:nvPr/>
        </p:nvSpPr>
        <p:spPr>
          <a:xfrm>
            <a:off x="18161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85" name="Text 281"/>
          <p:cNvSpPr/>
          <p:nvPr/>
        </p:nvSpPr>
        <p:spPr>
          <a:xfrm>
            <a:off x="2336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86" name="Text 282"/>
          <p:cNvSpPr/>
          <p:nvPr/>
        </p:nvSpPr>
        <p:spPr>
          <a:xfrm>
            <a:off x="2844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87" name="Text 283"/>
          <p:cNvSpPr/>
          <p:nvPr/>
        </p:nvSpPr>
        <p:spPr>
          <a:xfrm>
            <a:off x="3352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88" name="Text 284"/>
          <p:cNvSpPr/>
          <p:nvPr/>
        </p:nvSpPr>
        <p:spPr>
          <a:xfrm>
            <a:off x="3860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89" name="Text 285"/>
          <p:cNvSpPr/>
          <p:nvPr/>
        </p:nvSpPr>
        <p:spPr>
          <a:xfrm>
            <a:off x="4368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90" name="Text 286"/>
          <p:cNvSpPr/>
          <p:nvPr/>
        </p:nvSpPr>
        <p:spPr>
          <a:xfrm>
            <a:off x="48768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91" name="Text 287"/>
          <p:cNvSpPr/>
          <p:nvPr/>
        </p:nvSpPr>
        <p:spPr>
          <a:xfrm>
            <a:off x="5397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92" name="Text 288"/>
          <p:cNvSpPr/>
          <p:nvPr/>
        </p:nvSpPr>
        <p:spPr>
          <a:xfrm>
            <a:off x="5905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93" name="Text 289"/>
          <p:cNvSpPr/>
          <p:nvPr/>
        </p:nvSpPr>
        <p:spPr>
          <a:xfrm>
            <a:off x="64135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94" name="Text 290"/>
          <p:cNvSpPr/>
          <p:nvPr/>
        </p:nvSpPr>
        <p:spPr>
          <a:xfrm>
            <a:off x="6934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95" name="Text 291"/>
          <p:cNvSpPr/>
          <p:nvPr/>
        </p:nvSpPr>
        <p:spPr>
          <a:xfrm>
            <a:off x="7442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96" name="Text 292"/>
          <p:cNvSpPr/>
          <p:nvPr/>
        </p:nvSpPr>
        <p:spPr>
          <a:xfrm>
            <a:off x="7950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7" name="Text 293"/>
          <p:cNvSpPr/>
          <p:nvPr/>
        </p:nvSpPr>
        <p:spPr>
          <a:xfrm>
            <a:off x="84582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98" name="Text 294"/>
          <p:cNvSpPr/>
          <p:nvPr/>
        </p:nvSpPr>
        <p:spPr>
          <a:xfrm>
            <a:off x="8978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9" name="Text 295"/>
          <p:cNvSpPr/>
          <p:nvPr/>
        </p:nvSpPr>
        <p:spPr>
          <a:xfrm>
            <a:off x="9486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300" name="Text 296"/>
          <p:cNvSpPr/>
          <p:nvPr/>
        </p:nvSpPr>
        <p:spPr>
          <a:xfrm>
            <a:off x="9994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301" name="Text 297"/>
          <p:cNvSpPr/>
          <p:nvPr/>
        </p:nvSpPr>
        <p:spPr>
          <a:xfrm>
            <a:off x="10502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4240" y="211836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Gradient Descent to train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901700" y="310261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857500" y="405892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384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(Problem Formulation)</a:t>
            </a:r>
            <a:endParaRPr lang="en-US" sz="3840" dirty="0"/>
          </a:p>
        </p:txBody>
      </p:sp>
    </p:spTree>
  </p:cSld>
  <p:clrMapOvr>
    <a:masterClrMapping/>
  </p:clrMapOvr>
</p:sld>
</file>

<file path=ppt/slides/slide36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1193800"/>
            <a:ext cx="10191750" cy="1498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600" y="2870200"/>
            <a:ext cx="10191750" cy="1117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3600" y="4165600"/>
            <a:ext cx="10191750" cy="11811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3600" y="5549900"/>
            <a:ext cx="10191750" cy="12954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3300" y="11870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two classes: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3300" y="1542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 a discriminant function =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3300" y="1898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3300" y="22665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3300" y="28507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3300" y="3193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3300" y="3549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03300" y="41969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as: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20" name="Equation OMML" descr="Error = \sum_{all misclassified vectors(i)} W^T X_i \Rightarrow (W^T X_i) take positive and negative values"/>
              <p:cNvSpPr txBox="1"/>
              <p:nvPr/>
            </p:nvSpPr>
            <p:spPr>
              <a:xfrm>
                <a:off x="1066800" y="4681220"/>
                <a:ext cx="8243316" cy="57454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1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Error=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allmisclassifiedvectors(i)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⇒(</m:t>
                          </m:r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)takepositiveandnegativevalues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0" name="Image 0" descr="videos/machine-learning/03_ridger_regression_gradient_descent/recreated_pptx/build/assets/eq_036_error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066800" y="4681220"/>
                <a:ext cx="8243316" cy="574545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 18"/>
          <p:cNvSpPr/>
          <p:nvPr/>
        </p:nvSpPr>
        <p:spPr>
          <a:xfrm>
            <a:off x="1003300" y="55304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: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03300" y="58733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-1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03300" y="6216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+1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14400" y="703466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9550400" y="4575962"/>
            <a:ext cx="6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3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700" y="762000"/>
            <a:ext cx="121916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Problem Formulation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63600" y="1371600"/>
            <a:ext cx="10185400" cy="1295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8200" y="2908300"/>
            <a:ext cx="10477500" cy="1422400"/>
          </a:xfrm>
          <a:prstGeom prst="roundRect">
            <a:avLst>
              <a:gd name="adj" fmla="val 6429"/>
            </a:avLst>
          </a:prstGeom>
          <a:solidFill>
            <a:srgbClr val="FEFFE8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8200" y="4419600"/>
            <a:ext cx="10477500" cy="2324100"/>
          </a:xfrm>
          <a:prstGeom prst="roundRect">
            <a:avLst>
              <a:gd name="adj" fmla="val 3934"/>
            </a:avLst>
          </a:prstGeom>
          <a:solidFill>
            <a:srgbClr val="EADBC8"/>
          </a:solidFill>
          <a:ln w="19050">
            <a:solidFill>
              <a:srgbClr val="865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5867400"/>
            <a:ext cx="5143500" cy="736600"/>
          </a:xfrm>
          <a:prstGeom prst="roundRect">
            <a:avLst>
              <a:gd name="adj" fmla="val 11172"/>
            </a:avLst>
          </a:prstGeom>
          <a:solidFill>
            <a:srgbClr val="DFFFEE"/>
          </a:solidFill>
          <a:ln w="19050">
            <a:solidFill>
              <a:srgbClr val="7FBF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7900" y="1409700"/>
            <a:ext cx="1096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Define </a:t>
            </a:r>
            <a:pPr algn="l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40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: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90600" y="17367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&lt;0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-1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0600" y="20923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&gt;0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+1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77900" y="3013075"/>
            <a:ext cx="10960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Redefine Error function as: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16000" y="3336925"/>
            <a:ext cx="10922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Error =</a:t>
            </a:r>
            <a:endParaRPr lang="en-US" sz="2100" dirty="0"/>
          </a:p>
        </p:txBody>
      </p:sp>
      <p:pic>
        <p:nvPicPr>
          <p:cNvPr id="18" name="Image 0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6510" y="3319272"/>
            <a:ext cx="270708" cy="34553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43050" y="3686969"/>
            <a:ext cx="2286000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all </a:t>
            </a:r>
            <a:pPr algn="ctr" indent="0" marL="0">
              <a:lnSpc>
                <a:spcPts val="1290"/>
              </a:lnSpc>
              <a:buNone/>
            </a:pPr>
            <a:r>
              <a:rPr lang="en-US" sz="1075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(i)</a:t>
            </a:r>
            <a:endParaRPr lang="en-US" sz="1075" dirty="0"/>
          </a:p>
        </p:txBody>
      </p:sp>
      <p:sp>
        <p:nvSpPr>
          <p:cNvPr id="20" name="Text 17"/>
          <p:cNvSpPr/>
          <p:nvPr/>
        </p:nvSpPr>
        <p:spPr>
          <a:xfrm>
            <a:off x="3543300" y="3336925"/>
            <a:ext cx="127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</a:t>
            </a:r>
            <a:pPr algn="l" indent="0" marL="0">
              <a:lnSpc>
                <a:spcPts val="252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4572000" y="3336925"/>
            <a:ext cx="38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4991100" y="3397250"/>
            <a:ext cx="6946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16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160"/>
              </a:lnSpc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 takes positive and negative values and </a:t>
            </a:r>
            <a:pPr algn="l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16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has the same sign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65200" y="3863975"/>
            <a:ext cx="10972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Summation is always </a:t>
            </a:r>
            <a:pPr algn="l" indent="0" marL="0">
              <a:lnSpc>
                <a:spcPts val="2280"/>
              </a:lnSpc>
              <a:buNone/>
            </a:pPr>
            <a:r>
              <a:rPr lang="en-US" sz="19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positive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054100" y="4530725"/>
            <a:ext cx="108839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Minimize the Error using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Gradient Descent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with step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054100" y="52038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26" name="Image 1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724" y="5104638"/>
            <a:ext cx="909965" cy="6093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94300" y="5203825"/>
            <a:ext cx="101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where</a:t>
            </a:r>
            <a:endParaRPr lang="en-US" sz="2100" dirty="0"/>
          </a:p>
        </p:txBody>
      </p:sp>
      <p:pic>
        <p:nvPicPr>
          <p:cNvPr id="28" name="Image 2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24" y="5104638"/>
            <a:ext cx="909965" cy="6093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480300" y="5254625"/>
            <a:ext cx="31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=</a:t>
            </a:r>
            <a:endParaRPr lang="en-US" sz="2100" dirty="0"/>
          </a:p>
        </p:txBody>
      </p:sp>
      <p:pic>
        <p:nvPicPr>
          <p:cNvPr id="30" name="Image 3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635" y="5183886"/>
            <a:ext cx="365458" cy="438565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277100" y="5611813"/>
            <a:ext cx="2286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69400" y="52419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33" name="Text 27"/>
          <p:cNvSpPr/>
          <p:nvPr/>
        </p:nvSpPr>
        <p:spPr>
          <a:xfrm>
            <a:off x="1054100" y="59531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34" name="Image 4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3032" y="5985002"/>
            <a:ext cx="324850" cy="39869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086100" y="6391275"/>
            <a:ext cx="254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ONLY</a:t>
            </a:r>
            <a:pPr algn="ctr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(i)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359400" y="59658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1865" y="21031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(GD)</a:t>
            </a:r>
            <a:endParaRPr lang="en-US" sz="4450" dirty="0"/>
          </a:p>
        </p:txBody>
      </p:sp>
      <p:sp>
        <p:nvSpPr>
          <p:cNvPr id="9" name="Text 7"/>
          <p:cNvSpPr/>
          <p:nvPr/>
        </p:nvSpPr>
        <p:spPr>
          <a:xfrm>
            <a:off x="878205" y="30937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4450" dirty="0"/>
          </a:p>
        </p:txBody>
      </p:sp>
      <p:sp>
        <p:nvSpPr>
          <p:cNvPr id="10" name="Text 8"/>
          <p:cNvSpPr/>
          <p:nvPr/>
        </p:nvSpPr>
        <p:spPr>
          <a:xfrm>
            <a:off x="948690" y="40843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 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(SGD)</a:t>
            </a:r>
            <a:endParaRPr lang="en-US" sz="4450" dirty="0"/>
          </a:p>
        </p:txBody>
      </p:sp>
    </p:spTree>
  </p:cSld>
  <p:clrMapOvr>
    <a:masterClrMapping/>
  </p:clrMapOvr>
</p:sld>
</file>

<file path=ppt/slides/slide3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7100" y="1803400"/>
            <a:ext cx="10096500" cy="431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5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9600" y="3302000"/>
            <a:ext cx="6438900" cy="533400"/>
          </a:xfrm>
          <a:prstGeom prst="rect">
            <a:avLst/>
          </a:prstGeom>
          <a:solidFill>
            <a:srgbClr val="E1FFEF"/>
          </a:solidFill>
          <a:ln w="19050">
            <a:solidFill>
              <a:srgbClr val="5981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36700" y="92710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 (GD) – Stochastic Gradient Descent SGD)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56000" y="13081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18000" y="13081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Mini-Batch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70600" y="13081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</a:t>
            </a:r>
            <a:endParaRPr lang="en-US" sz="2800" dirty="0"/>
          </a:p>
        </p:txBody>
      </p:sp>
      <p:pic>
        <p:nvPicPr>
          <p:cNvPr id="14" name="Image 0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00" y="1989455"/>
            <a:ext cx="164592" cy="138687"/>
          </a:xfrm>
          <a:prstGeom prst="rect">
            <a:avLst/>
          </a:prstGeom>
        </p:spPr>
      </p:pic>
      <p:pic>
        <p:nvPicPr>
          <p:cNvPr id="15" name="Image 1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" y="2637155"/>
            <a:ext cx="164592" cy="138687"/>
          </a:xfrm>
          <a:prstGeom prst="rect">
            <a:avLst/>
          </a:prstGeom>
        </p:spPr>
      </p:pic>
      <p:pic>
        <p:nvPicPr>
          <p:cNvPr id="16" name="Image 2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0" y="2954655"/>
            <a:ext cx="164592" cy="1386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2700" y="184785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Stochastic Gradient Descent (SGD) is a variant of GD which computes the gradient of the Error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282700" y="22098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 with respect to a single training example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295400" y="25273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other words, it updates the weights using one training sample at a time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1295400" y="28194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Remember: GD updated the weight vector after passing through ALL training samples.</a:t>
            </a:r>
            <a:endParaRPr lang="en-US" sz="1900" dirty="0"/>
          </a:p>
        </p:txBody>
      </p:sp>
      <mc:AlternateContent>
        <mc:Choice xmlns:a14="http://schemas.microsoft.com/office/drawing/2010/main" Requires="a14">
          <p:sp>
            <p:nvSpPr>
              <p:cNvPr id="21" name="Equation OMML" descr="W^{(updated)}=W^{old}-\eta\,\delta_{i}\,X_{i}"/>
              <p:cNvSpPr txBox="1"/>
              <p:nvPr/>
            </p:nvSpPr>
            <p:spPr>
              <a:xfrm>
                <a:off x="4648708" y="3481070"/>
                <a:ext cx="2554224" cy="2727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(updated)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old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-η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δ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1" name="Image 3" descr="/workspaces/codespaces-blank/ai_llm_slides/videos/machine-learning/03_ridger_regression_gradient_descent/recreated_pptx/build/assets/eq_039_main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48708" y="3481070"/>
                <a:ext cx="2554224" cy="272796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 16"/>
          <p:cNvSpPr/>
          <p:nvPr/>
        </p:nvSpPr>
        <p:spPr>
          <a:xfrm>
            <a:off x="7683500" y="348615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Repeat for ALL misclassified Samples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066800" y="3822700"/>
            <a:ext cx="196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using SGD</a:t>
            </a:r>
            <a:endParaRPr lang="en-US" sz="1800" dirty="0"/>
          </a:p>
        </p:txBody>
      </p:sp>
      <p:pic>
        <p:nvPicPr>
          <p:cNvPr id="24" name="Image 4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" y="4237355"/>
            <a:ext cx="164592" cy="138687"/>
          </a:xfrm>
          <a:prstGeom prst="rect">
            <a:avLst/>
          </a:prstGeom>
        </p:spPr>
      </p:pic>
      <p:pic>
        <p:nvPicPr>
          <p:cNvPr id="25" name="Image 5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100" y="4567555"/>
            <a:ext cx="164592" cy="13868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2700" y="4140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is usually more efficient than GD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1282700" y="4470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converges faster than GD</a:t>
            </a:r>
            <a:endParaRPr lang="en-US" sz="1900" dirty="0"/>
          </a:p>
        </p:txBody>
      </p:sp>
      <p:sp>
        <p:nvSpPr>
          <p:cNvPr id="28" name="Text 20"/>
          <p:cNvSpPr/>
          <p:nvPr/>
        </p:nvSpPr>
        <p:spPr>
          <a:xfrm>
            <a:off x="1117600" y="51689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 GD is a generalization of GD and SGD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5842000" y="5168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weights are updated after passing through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1168400" y="54737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“Mini-Batch” of training samples with size n</a:t>
            </a:r>
            <a:endParaRPr lang="en-US" sz="1900" dirty="0"/>
          </a:p>
        </p:txBody>
      </p:sp>
      <p:sp>
        <p:nvSpPr>
          <p:cNvPr id="31" name="Text 23"/>
          <p:cNvSpPr/>
          <p:nvPr/>
        </p:nvSpPr>
        <p:spPr>
          <a:xfrm>
            <a:off x="3816350" y="5765800"/>
            <a:ext cx="431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n=N (it is GD), and if n=1 (it is SGD)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2300" y="2108200"/>
            <a:ext cx="10795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of  Linear Regression Model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483100" y="314960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usnig SGD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54400" y="4000500"/>
            <a:ext cx="482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Example</a:t>
            </a:r>
            <a:endParaRPr lang="en-US" sz="4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89000" y="685800"/>
            <a:ext cx="82423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39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97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764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9685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2542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40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014" y="986028"/>
            <a:ext cx="44196" cy="367284"/>
          </a:xfrm>
          <a:prstGeom prst="rect">
            <a:avLst/>
          </a:prstGeom>
        </p:spPr>
      </p:pic>
      <p:pic>
        <p:nvPicPr>
          <p:cNvPr id="16" name="Image 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064" y="986028"/>
            <a:ext cx="44196" cy="3672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366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1366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064" y="986028"/>
            <a:ext cx="44196" cy="367284"/>
          </a:xfrm>
          <a:prstGeom prst="rect">
            <a:avLst/>
          </a:prstGeom>
        </p:spPr>
      </p:pic>
      <p:pic>
        <p:nvPicPr>
          <p:cNvPr id="20" name="Image 3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3464" y="986028"/>
            <a:ext cx="44196" cy="3672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09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409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23" name="Image 4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0464" y="986028"/>
            <a:ext cx="44196" cy="367284"/>
          </a:xfrm>
          <a:prstGeom prst="rect">
            <a:avLst/>
          </a:prstGeom>
        </p:spPr>
      </p:pic>
      <p:pic>
        <p:nvPicPr>
          <p:cNvPr id="24" name="Image 5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214" y="986028"/>
            <a:ext cx="44196" cy="36728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6891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16891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27" name="Image 6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6214" y="986028"/>
            <a:ext cx="44196" cy="367284"/>
          </a:xfrm>
          <a:prstGeom prst="rect">
            <a:avLst/>
          </a:prstGeom>
        </p:spPr>
      </p:pic>
      <p:pic>
        <p:nvPicPr>
          <p:cNvPr id="28" name="Image 7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1314" y="986028"/>
            <a:ext cx="44196" cy="36728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9812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0"/>
          <p:cNvSpPr txBox="1"/>
          <p:nvPr/>
        </p:nvSpPr>
        <p:spPr>
          <a:xfrm>
            <a:off x="19812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31" name="Image 8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314" y="986028"/>
            <a:ext cx="44196" cy="367284"/>
          </a:xfrm>
          <a:prstGeom prst="rect">
            <a:avLst/>
          </a:prstGeom>
        </p:spPr>
      </p:pic>
      <p:pic>
        <p:nvPicPr>
          <p:cNvPr id="32" name="Image 9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064" y="986028"/>
            <a:ext cx="44196" cy="367284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22669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22669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35" name="Image 1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4064" y="986028"/>
            <a:ext cx="44196" cy="367284"/>
          </a:xfrm>
          <a:prstGeom prst="rect">
            <a:avLst/>
          </a:prstGeom>
        </p:spPr>
      </p:pic>
      <p:pic>
        <p:nvPicPr>
          <p:cNvPr id="36" name="Image 1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6464" y="986028"/>
            <a:ext cx="44196" cy="367284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2552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24"/>
          <p:cNvSpPr txBox="1"/>
          <p:nvPr/>
        </p:nvSpPr>
        <p:spPr>
          <a:xfrm>
            <a:off x="2552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25"/>
          <p:cNvSpPr txBox="1"/>
          <p:nvPr/>
        </p:nvSpPr>
        <p:spPr>
          <a:xfrm>
            <a:off x="11239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26"/>
          <p:cNvSpPr txBox="1"/>
          <p:nvPr/>
        </p:nvSpPr>
        <p:spPr>
          <a:xfrm>
            <a:off x="1397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27"/>
          <p:cNvSpPr txBox="1"/>
          <p:nvPr/>
        </p:nvSpPr>
        <p:spPr>
          <a:xfrm>
            <a:off x="16764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28"/>
          <p:cNvSpPr txBox="1"/>
          <p:nvPr/>
        </p:nvSpPr>
        <p:spPr>
          <a:xfrm>
            <a:off x="19685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29"/>
          <p:cNvSpPr txBox="1"/>
          <p:nvPr/>
        </p:nvSpPr>
        <p:spPr>
          <a:xfrm>
            <a:off x="22542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30"/>
          <p:cNvSpPr txBox="1"/>
          <p:nvPr/>
        </p:nvSpPr>
        <p:spPr>
          <a:xfrm>
            <a:off x="2540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0099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32"/>
          <p:cNvSpPr txBox="1"/>
          <p:nvPr/>
        </p:nvSpPr>
        <p:spPr>
          <a:xfrm>
            <a:off x="3200400" y="1358900"/>
            <a:ext cx="6604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</a:t>
            </a:r>
            <a:endParaRPr lang="en-US" sz="1150" dirty="0"/>
          </a:p>
        </p:txBody>
      </p:sp>
      <p:sp>
        <p:nvSpPr>
          <p:cNvPr id="47" name="Text 33"/>
          <p:cNvSpPr txBox="1"/>
          <p:nvPr/>
        </p:nvSpPr>
        <p:spPr>
          <a:xfrm>
            <a:off x="3949700" y="1358900"/>
            <a:ext cx="177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48" name="Text 34"/>
          <p:cNvSpPr txBox="1"/>
          <p:nvPr/>
        </p:nvSpPr>
        <p:spPr>
          <a:xfrm>
            <a:off x="4140200" y="1358900"/>
            <a:ext cx="685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</a:t>
            </a:r>
            <a:endParaRPr lang="en-US" sz="1150" dirty="0"/>
          </a:p>
        </p:txBody>
      </p:sp>
      <p:sp>
        <p:nvSpPr>
          <p:cNvPr id="49" name="Text 35"/>
          <p:cNvSpPr txBox="1"/>
          <p:nvPr/>
        </p:nvSpPr>
        <p:spPr>
          <a:xfrm>
            <a:off x="4978400" y="1358900"/>
            <a:ext cx="431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50" dirty="0"/>
          </a:p>
        </p:txBody>
      </p:sp>
      <p:sp>
        <p:nvSpPr>
          <p:cNvPr id="50" name="Text 36"/>
          <p:cNvSpPr txBox="1"/>
          <p:nvPr/>
        </p:nvSpPr>
        <p:spPr>
          <a:xfrm>
            <a:off x="5397500" y="1358900"/>
            <a:ext cx="10922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150" dirty="0"/>
          </a:p>
        </p:txBody>
      </p:sp>
      <p:sp>
        <p:nvSpPr>
          <p:cNvPr id="51" name="Text 37"/>
          <p:cNvSpPr txBox="1"/>
          <p:nvPr/>
        </p:nvSpPr>
        <p:spPr>
          <a:xfrm>
            <a:off x="3340100" y="914400"/>
            <a:ext cx="812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250" dirty="0"/>
          </a:p>
        </p:txBody>
      </p:sp>
      <p:pic>
        <p:nvPicPr>
          <p:cNvPr id="52" name="Image 12" descr="/home/ahmed/Projects/ai_llm_slides/videos/machine-learning/03_ridger_regression_gradient_descent/recreated_pptx/qa/slide041/assets/parens041/paren_wvec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9156" y="744728"/>
            <a:ext cx="56388" cy="59588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qa/slide041/assets/parens041/paren_wvec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48556" y="744728"/>
            <a:ext cx="56388" cy="59588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54500" y="7493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Text 39"/>
          <p:cNvSpPr txBox="1"/>
          <p:nvPr/>
        </p:nvSpPr>
        <p:spPr>
          <a:xfrm>
            <a:off x="4254500" y="9525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6" name="Text 40"/>
          <p:cNvSpPr txBox="1"/>
          <p:nvPr/>
        </p:nvSpPr>
        <p:spPr>
          <a:xfrm>
            <a:off x="4254500" y="11811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7" name="Text 41"/>
          <p:cNvSpPr txBox="1"/>
          <p:nvPr/>
        </p:nvSpPr>
        <p:spPr>
          <a:xfrm>
            <a:off x="4610100" y="800100"/>
            <a:ext cx="990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350" dirty="0"/>
          </a:p>
        </p:txBody>
      </p:sp>
      <p:sp>
        <p:nvSpPr>
          <p:cNvPr id="58" name="Text 42"/>
          <p:cNvSpPr txBox="1"/>
          <p:nvPr/>
        </p:nvSpPr>
        <p:spPr>
          <a:xfrm>
            <a:off x="6273800" y="952500"/>
            <a:ext cx="116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757555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613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62" name="Image 14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79614" y="1035304"/>
            <a:ext cx="44196" cy="342900"/>
          </a:xfrm>
          <a:prstGeom prst="rect">
            <a:avLst/>
          </a:prstGeom>
        </p:spPr>
      </p:pic>
      <p:pic>
        <p:nvPicPr>
          <p:cNvPr id="63" name="Image 15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44714" y="1035304"/>
            <a:ext cx="44196" cy="342900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760095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5" name="Text 47"/>
          <p:cNvSpPr txBox="1"/>
          <p:nvPr/>
        </p:nvSpPr>
        <p:spPr>
          <a:xfrm>
            <a:off x="760095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6" name="Image 16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78064" y="1035304"/>
            <a:ext cx="44196" cy="342900"/>
          </a:xfrm>
          <a:prstGeom prst="rect">
            <a:avLst/>
          </a:prstGeom>
        </p:spPr>
      </p:pic>
      <p:pic>
        <p:nvPicPr>
          <p:cNvPr id="67" name="Image 17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30464" y="1035304"/>
            <a:ext cx="44196" cy="342900"/>
          </a:xfrm>
          <a:prstGeom prst="rect">
            <a:avLst/>
          </a:prstGeom>
        </p:spPr>
      </p:pic>
      <p:sp>
        <p:nvSpPr>
          <p:cNvPr id="68" name="Text 48"/>
          <p:cNvSpPr txBox="1"/>
          <p:nvPr/>
        </p:nvSpPr>
        <p:spPr>
          <a:xfrm>
            <a:off x="78867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9" name="Text 49"/>
          <p:cNvSpPr txBox="1"/>
          <p:nvPr/>
        </p:nvSpPr>
        <p:spPr>
          <a:xfrm>
            <a:off x="78867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70" name="Image 18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1114" y="1035304"/>
            <a:ext cx="44196" cy="342900"/>
          </a:xfrm>
          <a:prstGeom prst="rect">
            <a:avLst/>
          </a:prstGeom>
        </p:spPr>
      </p:pic>
      <p:pic>
        <p:nvPicPr>
          <p:cNvPr id="71" name="Image 19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9864" y="1035304"/>
            <a:ext cx="44196" cy="34290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1661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Text 51"/>
          <p:cNvSpPr txBox="1"/>
          <p:nvPr/>
        </p:nvSpPr>
        <p:spPr>
          <a:xfrm>
            <a:off x="81661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4" name="Shape 52"/>
          <p:cNvSpPr/>
          <p:nvPr/>
        </p:nvSpPr>
        <p:spPr>
          <a:xfrm>
            <a:off x="3968750" y="2203450"/>
            <a:ext cx="6489700" cy="391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75" name="Shape 53"/>
          <p:cNvSpPr/>
          <p:nvPr/>
        </p:nvSpPr>
        <p:spPr>
          <a:xfrm>
            <a:off x="3975100" y="27178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6" name="Shape 54"/>
          <p:cNvSpPr/>
          <p:nvPr/>
        </p:nvSpPr>
        <p:spPr>
          <a:xfrm>
            <a:off x="3975100" y="31115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7" name="Shape 55"/>
          <p:cNvSpPr/>
          <p:nvPr/>
        </p:nvSpPr>
        <p:spPr>
          <a:xfrm>
            <a:off x="3975100" y="3505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8" name="Shape 56"/>
          <p:cNvSpPr/>
          <p:nvPr/>
        </p:nvSpPr>
        <p:spPr>
          <a:xfrm>
            <a:off x="3975100" y="3886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9" name="Shape 57"/>
          <p:cNvSpPr/>
          <p:nvPr/>
        </p:nvSpPr>
        <p:spPr>
          <a:xfrm>
            <a:off x="3975100" y="42799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0" name="Shape 58"/>
          <p:cNvSpPr/>
          <p:nvPr/>
        </p:nvSpPr>
        <p:spPr>
          <a:xfrm>
            <a:off x="3975100" y="4673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1" name="Shape 59"/>
          <p:cNvSpPr/>
          <p:nvPr/>
        </p:nvSpPr>
        <p:spPr>
          <a:xfrm>
            <a:off x="3975100" y="5054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2" name="Shape 60"/>
          <p:cNvSpPr/>
          <p:nvPr/>
        </p:nvSpPr>
        <p:spPr>
          <a:xfrm>
            <a:off x="3975100" y="54483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3" name="Shape 61"/>
          <p:cNvSpPr/>
          <p:nvPr/>
        </p:nvSpPr>
        <p:spPr>
          <a:xfrm>
            <a:off x="45974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4" name="Shape 62"/>
          <p:cNvSpPr/>
          <p:nvPr/>
        </p:nvSpPr>
        <p:spPr>
          <a:xfrm>
            <a:off x="99568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5" name="Text 63"/>
          <p:cNvSpPr txBox="1"/>
          <p:nvPr/>
        </p:nvSpPr>
        <p:spPr>
          <a:xfrm>
            <a:off x="45466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86" name="Text 64"/>
          <p:cNvSpPr txBox="1"/>
          <p:nvPr/>
        </p:nvSpPr>
        <p:spPr>
          <a:xfrm>
            <a:off x="52070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87" name="Text 65"/>
          <p:cNvSpPr txBox="1"/>
          <p:nvPr/>
        </p:nvSpPr>
        <p:spPr>
          <a:xfrm>
            <a:off x="58674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88" name="Text 66"/>
          <p:cNvSpPr txBox="1"/>
          <p:nvPr/>
        </p:nvSpPr>
        <p:spPr>
          <a:xfrm>
            <a:off x="6527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89" name="Text 67"/>
          <p:cNvSpPr txBox="1"/>
          <p:nvPr/>
        </p:nvSpPr>
        <p:spPr>
          <a:xfrm>
            <a:off x="7200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0" name="Text 68"/>
          <p:cNvSpPr txBox="1"/>
          <p:nvPr/>
        </p:nvSpPr>
        <p:spPr>
          <a:xfrm>
            <a:off x="78613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91" name="Text 69"/>
          <p:cNvSpPr txBox="1"/>
          <p:nvPr/>
        </p:nvSpPr>
        <p:spPr>
          <a:xfrm>
            <a:off x="85217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2" name="Text 70"/>
          <p:cNvSpPr txBox="1"/>
          <p:nvPr/>
        </p:nvSpPr>
        <p:spPr>
          <a:xfrm>
            <a:off x="9194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93" name="Text 71"/>
          <p:cNvSpPr txBox="1"/>
          <p:nvPr/>
        </p:nvSpPr>
        <p:spPr>
          <a:xfrm>
            <a:off x="9867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94" name="Text 72"/>
          <p:cNvSpPr txBox="1"/>
          <p:nvPr/>
        </p:nvSpPr>
        <p:spPr>
          <a:xfrm>
            <a:off x="4394200" y="53594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95" name="Text 73"/>
          <p:cNvSpPr txBox="1"/>
          <p:nvPr/>
        </p:nvSpPr>
        <p:spPr>
          <a:xfrm>
            <a:off x="4394200" y="49847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6" name="Text 74"/>
          <p:cNvSpPr txBox="1"/>
          <p:nvPr/>
        </p:nvSpPr>
        <p:spPr>
          <a:xfrm>
            <a:off x="4394200" y="4591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97" name="Text 75"/>
          <p:cNvSpPr txBox="1"/>
          <p:nvPr/>
        </p:nvSpPr>
        <p:spPr>
          <a:xfrm>
            <a:off x="4394200" y="4210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98" name="Text 76"/>
          <p:cNvSpPr txBox="1"/>
          <p:nvPr/>
        </p:nvSpPr>
        <p:spPr>
          <a:xfrm>
            <a:off x="4394200" y="38163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9" name="Text 77"/>
          <p:cNvSpPr txBox="1"/>
          <p:nvPr/>
        </p:nvSpPr>
        <p:spPr>
          <a:xfrm>
            <a:off x="4394200" y="34226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100" name="Text 78"/>
          <p:cNvSpPr txBox="1"/>
          <p:nvPr/>
        </p:nvSpPr>
        <p:spPr>
          <a:xfrm>
            <a:off x="4394200" y="30353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101" name="Text 79"/>
          <p:cNvSpPr txBox="1"/>
          <p:nvPr/>
        </p:nvSpPr>
        <p:spPr>
          <a:xfrm>
            <a:off x="4394200" y="26352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2" name="Shape 80"/>
          <p:cNvSpPr/>
          <p:nvPr/>
        </p:nvSpPr>
        <p:spPr>
          <a:xfrm rot="10800000">
            <a:off x="4552950" y="53848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3" name="Shape 81"/>
          <p:cNvSpPr/>
          <p:nvPr/>
        </p:nvSpPr>
        <p:spPr>
          <a:xfrm rot="10800000">
            <a:off x="6559550" y="46101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4" name="Shape 82"/>
          <p:cNvSpPr/>
          <p:nvPr/>
        </p:nvSpPr>
        <p:spPr>
          <a:xfrm rot="10800000">
            <a:off x="9226550" y="30480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5" name="Shape 83"/>
          <p:cNvSpPr/>
          <p:nvPr/>
        </p:nvSpPr>
        <p:spPr>
          <a:xfrm>
            <a:off x="5232400" y="46101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6" name="Shape 84"/>
          <p:cNvSpPr/>
          <p:nvPr/>
        </p:nvSpPr>
        <p:spPr>
          <a:xfrm>
            <a:off x="52387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7" name="Shape 85"/>
          <p:cNvSpPr/>
          <p:nvPr/>
        </p:nvSpPr>
        <p:spPr>
          <a:xfrm>
            <a:off x="58991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8" name="Shape 86"/>
          <p:cNvSpPr/>
          <p:nvPr/>
        </p:nvSpPr>
        <p:spPr>
          <a:xfrm>
            <a:off x="7893050" y="383540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09" name="Shape 87"/>
          <p:cNvSpPr/>
          <p:nvPr/>
        </p:nvSpPr>
        <p:spPr>
          <a:xfrm>
            <a:off x="8566150" y="34480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10" name="Shape 88"/>
          <p:cNvSpPr/>
          <p:nvPr/>
        </p:nvSpPr>
        <p:spPr>
          <a:xfrm>
            <a:off x="8566150" y="30543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931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7100" y="18034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7100" y="2717800"/>
            <a:ext cx="7378700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7100" y="34671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67100" y="4318000"/>
            <a:ext cx="73787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67100" y="51562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67100" y="59944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39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403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6827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748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606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46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65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65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446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446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9367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9367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2225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2225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508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508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1239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403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6827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9748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26060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546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39" name="Image 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9202" y="1000325"/>
            <a:ext cx="28756" cy="338133"/>
          </a:xfrm>
          <a:prstGeom prst="rect">
            <a:avLst/>
          </a:prstGeom>
        </p:spPr>
      </p:pic>
      <p:pic>
        <p:nvPicPr>
          <p:cNvPr id="40" name="Image 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434" y="1000325"/>
            <a:ext cx="28756" cy="338133"/>
          </a:xfrm>
          <a:prstGeom prst="rect">
            <a:avLst/>
          </a:prstGeom>
        </p:spPr>
      </p:pic>
      <p:pic>
        <p:nvPicPr>
          <p:cNvPr id="41" name="Image 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902" y="1000325"/>
            <a:ext cx="28756" cy="338133"/>
          </a:xfrm>
          <a:prstGeom prst="rect">
            <a:avLst/>
          </a:prstGeom>
        </p:spPr>
      </p:pic>
      <p:pic>
        <p:nvPicPr>
          <p:cNvPr id="42" name="Image 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534" y="1000325"/>
            <a:ext cx="28756" cy="338133"/>
          </a:xfrm>
          <a:prstGeom prst="rect">
            <a:avLst/>
          </a:prstGeom>
        </p:spPr>
      </p:pic>
      <p:pic>
        <p:nvPicPr>
          <p:cNvPr id="43" name="Image 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8002" y="1000325"/>
            <a:ext cx="28756" cy="338133"/>
          </a:xfrm>
          <a:prstGeom prst="rect">
            <a:avLst/>
          </a:prstGeom>
        </p:spPr>
      </p:pic>
      <p:pic>
        <p:nvPicPr>
          <p:cNvPr id="44" name="Image 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2934" y="1000325"/>
            <a:ext cx="28756" cy="338133"/>
          </a:xfrm>
          <a:prstGeom prst="rect">
            <a:avLst/>
          </a:prstGeom>
        </p:spPr>
      </p:pic>
      <p:pic>
        <p:nvPicPr>
          <p:cNvPr id="45" name="Image 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7402" y="1000325"/>
            <a:ext cx="28756" cy="338133"/>
          </a:xfrm>
          <a:prstGeom prst="rect">
            <a:avLst/>
          </a:prstGeom>
        </p:spPr>
      </p:pic>
      <p:pic>
        <p:nvPicPr>
          <p:cNvPr id="46" name="Image 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5034" y="1000325"/>
            <a:ext cx="28756" cy="338133"/>
          </a:xfrm>
          <a:prstGeom prst="rect">
            <a:avLst/>
          </a:prstGeom>
        </p:spPr>
      </p:pic>
      <p:pic>
        <p:nvPicPr>
          <p:cNvPr id="47" name="Image 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9502" y="1000325"/>
            <a:ext cx="28756" cy="338133"/>
          </a:xfrm>
          <a:prstGeom prst="rect">
            <a:avLst/>
          </a:prstGeom>
        </p:spPr>
      </p:pic>
      <p:pic>
        <p:nvPicPr>
          <p:cNvPr id="48" name="Image 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4434" y="1000325"/>
            <a:ext cx="28756" cy="338133"/>
          </a:xfrm>
          <a:prstGeom prst="rect">
            <a:avLst/>
          </a:prstGeom>
        </p:spPr>
      </p:pic>
      <p:pic>
        <p:nvPicPr>
          <p:cNvPr id="49" name="Image 1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8902" y="1000325"/>
            <a:ext cx="28756" cy="338133"/>
          </a:xfrm>
          <a:prstGeom prst="rect">
            <a:avLst/>
          </a:prstGeom>
        </p:spPr>
      </p:pic>
      <p:pic>
        <p:nvPicPr>
          <p:cNvPr id="50" name="Image 1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26534" y="1000325"/>
            <a:ext cx="28756" cy="338133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indent="0" marL="0">
              <a:buNone/>
            </a:pPr>
            <a:r>
              <a:rPr lang="en-US" sz="14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52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48150" y="8001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39"/>
          <p:cNvSpPr txBox="1"/>
          <p:nvPr/>
        </p:nvSpPr>
        <p:spPr>
          <a:xfrm>
            <a:off x="4286250" y="10033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6" name="Text 40"/>
          <p:cNvSpPr txBox="1"/>
          <p:nvPr/>
        </p:nvSpPr>
        <p:spPr>
          <a:xfrm>
            <a:off x="4286250" y="1155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7" name="Text 41"/>
          <p:cNvSpPr txBox="1"/>
          <p:nvPr/>
        </p:nvSpPr>
        <p:spPr>
          <a:xfrm>
            <a:off x="4622800" y="800100"/>
            <a:ext cx="939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500" dirty="0"/>
          </a:p>
        </p:txBody>
      </p:sp>
      <p:sp>
        <p:nvSpPr>
          <p:cNvPr id="58" name="Text 42"/>
          <p:cNvSpPr txBox="1"/>
          <p:nvPr/>
        </p:nvSpPr>
        <p:spPr>
          <a:xfrm>
            <a:off x="6299200" y="939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9" name="Text 43"/>
          <p:cNvSpPr txBox="1"/>
          <p:nvPr/>
        </p:nvSpPr>
        <p:spPr>
          <a:xfrm>
            <a:off x="75819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86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Text 46"/>
          <p:cNvSpPr txBox="1"/>
          <p:nvPr/>
        </p:nvSpPr>
        <p:spPr>
          <a:xfrm>
            <a:off x="75501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3" name="Text 47"/>
          <p:cNvSpPr txBox="1"/>
          <p:nvPr/>
        </p:nvSpPr>
        <p:spPr>
          <a:xfrm>
            <a:off x="75501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4" name="Image 14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8024" y="1009904"/>
            <a:ext cx="44196" cy="393192"/>
          </a:xfrm>
          <a:prstGeom prst="rect">
            <a:avLst/>
          </a:prstGeom>
        </p:spPr>
      </p:pic>
      <p:pic>
        <p:nvPicPr>
          <p:cNvPr id="65" name="Image 15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66304" y="1009904"/>
            <a:ext cx="44196" cy="393192"/>
          </a:xfrm>
          <a:prstGeom prst="rect">
            <a:avLst/>
          </a:prstGeom>
        </p:spPr>
      </p:pic>
      <p:sp>
        <p:nvSpPr>
          <p:cNvPr id="66" name="Text 48"/>
          <p:cNvSpPr txBox="1"/>
          <p:nvPr/>
        </p:nvSpPr>
        <p:spPr>
          <a:xfrm>
            <a:off x="7842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7842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68" name="Image 16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50124" y="1009904"/>
            <a:ext cx="44196" cy="393192"/>
          </a:xfrm>
          <a:prstGeom prst="rect">
            <a:avLst/>
          </a:prstGeom>
        </p:spPr>
      </p:pic>
      <p:pic>
        <p:nvPicPr>
          <p:cNvPr id="69" name="Image 17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8404" y="1009904"/>
            <a:ext cx="44196" cy="393192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8096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Text 51"/>
          <p:cNvSpPr txBox="1"/>
          <p:nvPr/>
        </p:nvSpPr>
        <p:spPr>
          <a:xfrm>
            <a:off x="8096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72" name="Image 18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04124" y="1009904"/>
            <a:ext cx="44196" cy="393192"/>
          </a:xfrm>
          <a:prstGeom prst="rect">
            <a:avLst/>
          </a:prstGeom>
        </p:spPr>
      </p:pic>
      <p:pic>
        <p:nvPicPr>
          <p:cNvPr id="73" name="Image 19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2404" y="1009904"/>
            <a:ext cx="44196" cy="393192"/>
          </a:xfrm>
          <a:prstGeom prst="rect">
            <a:avLst/>
          </a:prstGeom>
        </p:spPr>
      </p:pic>
      <p:sp>
        <p:nvSpPr>
          <p:cNvPr id="74" name="Text 52"/>
          <p:cNvSpPr txBox="1"/>
          <p:nvPr/>
        </p:nvSpPr>
        <p:spPr>
          <a:xfrm>
            <a:off x="30226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5" name="Text 53"/>
          <p:cNvSpPr txBox="1"/>
          <p:nvPr/>
        </p:nvSpPr>
        <p:spPr>
          <a:xfrm>
            <a:off x="32004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endParaRPr lang="en-US" sz="1300" dirty="0"/>
          </a:p>
        </p:txBody>
      </p:sp>
      <p:sp>
        <p:nvSpPr>
          <p:cNvPr id="76" name="Text 54"/>
          <p:cNvSpPr txBox="1"/>
          <p:nvPr/>
        </p:nvSpPr>
        <p:spPr>
          <a:xfrm>
            <a:off x="39624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" name="Text 55"/>
          <p:cNvSpPr txBox="1"/>
          <p:nvPr/>
        </p:nvSpPr>
        <p:spPr>
          <a:xfrm>
            <a:off x="4114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endParaRPr lang="en-US" sz="1300" dirty="0"/>
          </a:p>
        </p:txBody>
      </p:sp>
      <p:sp>
        <p:nvSpPr>
          <p:cNvPr id="78" name="Text 56"/>
          <p:cNvSpPr txBox="1"/>
          <p:nvPr/>
        </p:nvSpPr>
        <p:spPr>
          <a:xfrm>
            <a:off x="5003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300" dirty="0"/>
          </a:p>
        </p:txBody>
      </p:sp>
      <p:sp>
        <p:nvSpPr>
          <p:cNvPr id="79" name="Text 57"/>
          <p:cNvSpPr txBox="1"/>
          <p:nvPr/>
        </p:nvSpPr>
        <p:spPr>
          <a:xfrm>
            <a:off x="54610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80" name="Shape 58"/>
          <p:cNvSpPr/>
          <p:nvPr/>
        </p:nvSpPr>
        <p:spPr>
          <a:xfrm>
            <a:off x="889000" y="1778000"/>
            <a:ext cx="22479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8B2C2"/>
            </a:solidFill>
            <a:prstDash val="solid"/>
          </a:ln>
        </p:spPr>
      </p:sp>
      <p:sp>
        <p:nvSpPr>
          <p:cNvPr id="81" name="Text 59"/>
          <p:cNvSpPr txBox="1"/>
          <p:nvPr/>
        </p:nvSpPr>
        <p:spPr>
          <a:xfrm>
            <a:off x="1003300" y="1879600"/>
            <a:ext cx="2133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00" dirty="0"/>
          </a:p>
        </p:txBody>
      </p:sp>
      <p:sp>
        <p:nvSpPr>
          <p:cNvPr id="82" name="Text 60"/>
          <p:cNvSpPr txBox="1"/>
          <p:nvPr/>
        </p:nvSpPr>
        <p:spPr>
          <a:xfrm>
            <a:off x="11557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61"/>
          <p:cNvSpPr txBox="1"/>
          <p:nvPr/>
        </p:nvSpPr>
        <p:spPr>
          <a:xfrm>
            <a:off x="1435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4" name="Text 62"/>
          <p:cNvSpPr txBox="1"/>
          <p:nvPr/>
        </p:nvSpPr>
        <p:spPr>
          <a:xfrm>
            <a:off x="17145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5" name="Text 63"/>
          <p:cNvSpPr txBox="1"/>
          <p:nvPr/>
        </p:nvSpPr>
        <p:spPr>
          <a:xfrm>
            <a:off x="20066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6" name="Text 64"/>
          <p:cNvSpPr txBox="1"/>
          <p:nvPr/>
        </p:nvSpPr>
        <p:spPr>
          <a:xfrm>
            <a:off x="22860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87" name="Text 65"/>
          <p:cNvSpPr txBox="1"/>
          <p:nvPr/>
        </p:nvSpPr>
        <p:spPr>
          <a:xfrm>
            <a:off x="2578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88" name="Text 66"/>
          <p:cNvSpPr txBox="1"/>
          <p:nvPr/>
        </p:nvSpPr>
        <p:spPr>
          <a:xfrm>
            <a:off x="11938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Text 67"/>
          <p:cNvSpPr txBox="1"/>
          <p:nvPr/>
        </p:nvSpPr>
        <p:spPr>
          <a:xfrm>
            <a:off x="1473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Text 68"/>
          <p:cNvSpPr txBox="1"/>
          <p:nvPr/>
        </p:nvSpPr>
        <p:spPr>
          <a:xfrm>
            <a:off x="17526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1" name="Text 69"/>
          <p:cNvSpPr txBox="1"/>
          <p:nvPr/>
        </p:nvSpPr>
        <p:spPr>
          <a:xfrm>
            <a:off x="2044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2" name="Text 70"/>
          <p:cNvSpPr txBox="1"/>
          <p:nvPr/>
        </p:nvSpPr>
        <p:spPr>
          <a:xfrm>
            <a:off x="23241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3" name="Text 71"/>
          <p:cNvSpPr txBox="1"/>
          <p:nvPr/>
        </p:nvSpPr>
        <p:spPr>
          <a:xfrm>
            <a:off x="2616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4" name="Text 72"/>
          <p:cNvSpPr txBox="1"/>
          <p:nvPr/>
        </p:nvSpPr>
        <p:spPr>
          <a:xfrm>
            <a:off x="11938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5" name="Text 73"/>
          <p:cNvSpPr txBox="1"/>
          <p:nvPr/>
        </p:nvSpPr>
        <p:spPr>
          <a:xfrm>
            <a:off x="1473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6" name="Text 74"/>
          <p:cNvSpPr txBox="1"/>
          <p:nvPr/>
        </p:nvSpPr>
        <p:spPr>
          <a:xfrm>
            <a:off x="17526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75"/>
          <p:cNvSpPr txBox="1"/>
          <p:nvPr/>
        </p:nvSpPr>
        <p:spPr>
          <a:xfrm>
            <a:off x="20447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98" name="Text 76"/>
          <p:cNvSpPr txBox="1"/>
          <p:nvPr/>
        </p:nvSpPr>
        <p:spPr>
          <a:xfrm>
            <a:off x="23241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9" name="Text 77"/>
          <p:cNvSpPr txBox="1"/>
          <p:nvPr/>
        </p:nvSpPr>
        <p:spPr>
          <a:xfrm>
            <a:off x="2616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0" name="Text 78"/>
          <p:cNvSpPr txBox="1"/>
          <p:nvPr/>
        </p:nvSpPr>
        <p:spPr>
          <a:xfrm>
            <a:off x="11938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1" name="Text 79"/>
          <p:cNvSpPr txBox="1"/>
          <p:nvPr/>
        </p:nvSpPr>
        <p:spPr>
          <a:xfrm>
            <a:off x="1473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2" name="Text 80"/>
          <p:cNvSpPr txBox="1"/>
          <p:nvPr/>
        </p:nvSpPr>
        <p:spPr>
          <a:xfrm>
            <a:off x="17526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3" name="Text 81"/>
          <p:cNvSpPr txBox="1"/>
          <p:nvPr/>
        </p:nvSpPr>
        <p:spPr>
          <a:xfrm>
            <a:off x="20447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4" name="Text 82"/>
          <p:cNvSpPr txBox="1"/>
          <p:nvPr/>
        </p:nvSpPr>
        <p:spPr>
          <a:xfrm>
            <a:off x="23241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5" name="Text 83"/>
          <p:cNvSpPr txBox="1"/>
          <p:nvPr/>
        </p:nvSpPr>
        <p:spPr>
          <a:xfrm>
            <a:off x="2616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06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995" y="2268037"/>
            <a:ext cx="50876" cy="598235"/>
          </a:xfrm>
          <a:prstGeom prst="rect">
            <a:avLst/>
          </a:prstGeom>
        </p:spPr>
      </p:pic>
      <p:pic>
        <p:nvPicPr>
          <p:cNvPr id="107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51883" y="2268037"/>
            <a:ext cx="50876" cy="598235"/>
          </a:xfrm>
          <a:prstGeom prst="rect">
            <a:avLst/>
          </a:prstGeom>
        </p:spPr>
      </p:pic>
      <p:pic>
        <p:nvPicPr>
          <p:cNvPr id="108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18395" y="2268037"/>
            <a:ext cx="50876" cy="598235"/>
          </a:xfrm>
          <a:prstGeom prst="rect">
            <a:avLst/>
          </a:prstGeom>
        </p:spPr>
      </p:pic>
      <p:pic>
        <p:nvPicPr>
          <p:cNvPr id="109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18583" y="2268037"/>
            <a:ext cx="50876" cy="598235"/>
          </a:xfrm>
          <a:prstGeom prst="rect">
            <a:avLst/>
          </a:prstGeom>
        </p:spPr>
      </p:pic>
      <p:pic>
        <p:nvPicPr>
          <p:cNvPr id="110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97795" y="2268037"/>
            <a:ext cx="50876" cy="598235"/>
          </a:xfrm>
          <a:prstGeom prst="rect">
            <a:avLst/>
          </a:prstGeom>
        </p:spPr>
      </p:pic>
      <p:pic>
        <p:nvPicPr>
          <p:cNvPr id="111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97983" y="2268037"/>
            <a:ext cx="50876" cy="598235"/>
          </a:xfrm>
          <a:prstGeom prst="rect">
            <a:avLst/>
          </a:prstGeom>
        </p:spPr>
      </p:pic>
      <p:pic>
        <p:nvPicPr>
          <p:cNvPr id="112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77195" y="2268037"/>
            <a:ext cx="50876" cy="598235"/>
          </a:xfrm>
          <a:prstGeom prst="rect">
            <a:avLst/>
          </a:prstGeom>
        </p:spPr>
      </p:pic>
      <p:pic>
        <p:nvPicPr>
          <p:cNvPr id="113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90083" y="2268037"/>
            <a:ext cx="50876" cy="598235"/>
          </a:xfrm>
          <a:prstGeom prst="rect">
            <a:avLst/>
          </a:prstGeom>
        </p:spPr>
      </p:pic>
      <p:pic>
        <p:nvPicPr>
          <p:cNvPr id="114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69295" y="2268037"/>
            <a:ext cx="50876" cy="598235"/>
          </a:xfrm>
          <a:prstGeom prst="rect">
            <a:avLst/>
          </a:prstGeom>
        </p:spPr>
      </p:pic>
      <p:pic>
        <p:nvPicPr>
          <p:cNvPr id="115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82183" y="2268037"/>
            <a:ext cx="50876" cy="598235"/>
          </a:xfrm>
          <a:prstGeom prst="rect">
            <a:avLst/>
          </a:prstGeom>
        </p:spPr>
      </p:pic>
      <p:pic>
        <p:nvPicPr>
          <p:cNvPr id="116" name="Image 3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61395" y="2268037"/>
            <a:ext cx="50876" cy="598235"/>
          </a:xfrm>
          <a:prstGeom prst="rect">
            <a:avLst/>
          </a:prstGeom>
        </p:spPr>
      </p:pic>
      <p:pic>
        <p:nvPicPr>
          <p:cNvPr id="117" name="Image 3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761583" y="2268037"/>
            <a:ext cx="50876" cy="598235"/>
          </a:xfrm>
          <a:prstGeom prst="rect">
            <a:avLst/>
          </a:prstGeom>
        </p:spPr>
      </p:pic>
      <p:sp>
        <p:nvSpPr>
          <p:cNvPr id="118" name="Text 84"/>
          <p:cNvSpPr txBox="1"/>
          <p:nvPr/>
        </p:nvSpPr>
        <p:spPr>
          <a:xfrm>
            <a:off x="10922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85"/>
          <p:cNvSpPr txBox="1"/>
          <p:nvPr/>
        </p:nvSpPr>
        <p:spPr>
          <a:xfrm>
            <a:off x="13716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86"/>
          <p:cNvSpPr txBox="1"/>
          <p:nvPr/>
        </p:nvSpPr>
        <p:spPr>
          <a:xfrm>
            <a:off x="16510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87"/>
          <p:cNvSpPr txBox="1"/>
          <p:nvPr/>
        </p:nvSpPr>
        <p:spPr>
          <a:xfrm>
            <a:off x="19304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88"/>
          <p:cNvSpPr txBox="1"/>
          <p:nvPr/>
        </p:nvSpPr>
        <p:spPr>
          <a:xfrm>
            <a:off x="22225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3" name="Text 89"/>
          <p:cNvSpPr txBox="1"/>
          <p:nvPr/>
        </p:nvSpPr>
        <p:spPr>
          <a:xfrm>
            <a:off x="25019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4" name="Shape 90"/>
          <p:cNvSpPr/>
          <p:nvPr/>
        </p:nvSpPr>
        <p:spPr>
          <a:xfrm>
            <a:off x="1066800" y="3517900"/>
            <a:ext cx="1663700" cy="3683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5" name="Text 91"/>
          <p:cNvSpPr txBox="1"/>
          <p:nvPr/>
        </p:nvSpPr>
        <p:spPr>
          <a:xfrm>
            <a:off x="1244600" y="35941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500" dirty="0"/>
          </a:p>
        </p:txBody>
      </p:sp>
      <p:sp>
        <p:nvSpPr>
          <p:cNvPr id="126" name="Text 92"/>
          <p:cNvSpPr/>
          <p:nvPr/>
        </p:nvSpPr>
        <p:spPr>
          <a:xfrm>
            <a:off x="3594100" y="20701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pic>
        <p:nvPicPr>
          <p:cNvPr id="127" name="Image 32" descr="/home/ahmed/Projects/ai_llm_slides/videos/machine-learning/03_ridger_regression_gradient_descent/recreated_pptx/build/assets/parens042/paren_z_lp_r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70190" y="1888832"/>
            <a:ext cx="25145" cy="223704"/>
          </a:xfrm>
          <a:prstGeom prst="rect">
            <a:avLst/>
          </a:prstGeom>
        </p:spPr>
      </p:pic>
      <p:pic>
        <p:nvPicPr>
          <p:cNvPr id="128" name="Image 33" descr="/home/ahmed/Projects/ai_llm_slides/videos/machine-learning/03_ridger_regression_gradient_descent/recreated_pptx/build/assets/parens042/paren_z_rp_r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05190" y="1888832"/>
            <a:ext cx="25145" cy="223704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41910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0" name="Text 94"/>
          <p:cNvSpPr txBox="1"/>
          <p:nvPr/>
        </p:nvSpPr>
        <p:spPr>
          <a:xfrm>
            <a:off x="441325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1" name="Text 95"/>
          <p:cNvSpPr txBox="1"/>
          <p:nvPr/>
        </p:nvSpPr>
        <p:spPr>
          <a:xfrm>
            <a:off x="46355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32" name="Image 34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14787" y="1925823"/>
            <a:ext cx="44240" cy="520204"/>
          </a:xfrm>
          <a:prstGeom prst="rect">
            <a:avLst/>
          </a:prstGeom>
        </p:spPr>
      </p:pic>
      <p:pic>
        <p:nvPicPr>
          <p:cNvPr id="133" name="Image 35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035798" y="1925823"/>
            <a:ext cx="44240" cy="520204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4876800" y="1905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5" name="Text 97"/>
          <p:cNvSpPr txBox="1"/>
          <p:nvPr/>
        </p:nvSpPr>
        <p:spPr>
          <a:xfrm>
            <a:off x="4876800" y="2108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6" name="Text 98"/>
          <p:cNvSpPr txBox="1"/>
          <p:nvPr/>
        </p:nvSpPr>
        <p:spPr>
          <a:xfrm>
            <a:off x="4876800" y="2298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7" name="Text 99"/>
          <p:cNvSpPr txBox="1"/>
          <p:nvPr/>
        </p:nvSpPr>
        <p:spPr>
          <a:xfrm>
            <a:off x="5219700" y="20701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200" dirty="0"/>
          </a:p>
        </p:txBody>
      </p:sp>
      <p:sp>
        <p:nvSpPr>
          <p:cNvPr id="138" name="Text 100"/>
          <p:cNvSpPr txBox="1"/>
          <p:nvPr/>
        </p:nvSpPr>
        <p:spPr>
          <a:xfrm>
            <a:off x="6172200" y="20701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39" name="Text 101"/>
          <p:cNvSpPr txBox="1"/>
          <p:nvPr/>
        </p:nvSpPr>
        <p:spPr>
          <a:xfrm>
            <a:off x="6426200" y="20701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40" name="Text 102"/>
          <p:cNvSpPr/>
          <p:nvPr/>
        </p:nvSpPr>
        <p:spPr>
          <a:xfrm>
            <a:off x="7797800" y="2070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41" name="Image 3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167587" y="1925823"/>
            <a:ext cx="44240" cy="520204"/>
          </a:xfrm>
          <a:prstGeom prst="rect">
            <a:avLst/>
          </a:prstGeom>
        </p:spPr>
      </p:pic>
      <p:pic>
        <p:nvPicPr>
          <p:cNvPr id="142" name="Image 3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528298" y="1925823"/>
            <a:ext cx="44240" cy="520204"/>
          </a:xfrm>
          <a:prstGeom prst="rect">
            <a:avLst/>
          </a:prstGeom>
        </p:spPr>
      </p:pic>
      <p:sp>
        <p:nvSpPr>
          <p:cNvPr id="143" name="Text 103"/>
          <p:cNvSpPr txBox="1"/>
          <p:nvPr/>
        </p:nvSpPr>
        <p:spPr>
          <a:xfrm>
            <a:off x="8229600" y="1905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4" name="Text 104"/>
          <p:cNvSpPr txBox="1"/>
          <p:nvPr/>
        </p:nvSpPr>
        <p:spPr>
          <a:xfrm>
            <a:off x="8229600" y="21082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5" name="Text 105"/>
          <p:cNvSpPr txBox="1"/>
          <p:nvPr/>
        </p:nvSpPr>
        <p:spPr>
          <a:xfrm>
            <a:off x="8229600" y="22987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6" name="Text 106"/>
          <p:cNvSpPr txBox="1"/>
          <p:nvPr/>
        </p:nvSpPr>
        <p:spPr>
          <a:xfrm>
            <a:off x="8585200" y="20701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100" dirty="0"/>
          </a:p>
        </p:txBody>
      </p:sp>
      <p:pic>
        <p:nvPicPr>
          <p:cNvPr id="147" name="Image 3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54987" y="1925823"/>
            <a:ext cx="44240" cy="520204"/>
          </a:xfrm>
          <a:prstGeom prst="rect">
            <a:avLst/>
          </a:prstGeom>
        </p:spPr>
      </p:pic>
      <p:pic>
        <p:nvPicPr>
          <p:cNvPr id="148" name="Image 3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201398" y="1925823"/>
            <a:ext cx="44240" cy="520204"/>
          </a:xfrm>
          <a:prstGeom prst="rect">
            <a:avLst/>
          </a:prstGeom>
        </p:spPr>
      </p:pic>
      <p:sp>
        <p:nvSpPr>
          <p:cNvPr id="149" name="Text 107"/>
          <p:cNvSpPr txBox="1"/>
          <p:nvPr/>
        </p:nvSpPr>
        <p:spPr>
          <a:xfrm>
            <a:off x="9017000" y="19050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0" name="Text 108"/>
          <p:cNvSpPr txBox="1"/>
          <p:nvPr/>
        </p:nvSpPr>
        <p:spPr>
          <a:xfrm>
            <a:off x="9017000" y="2108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1" name="Text 109"/>
          <p:cNvSpPr txBox="1"/>
          <p:nvPr/>
        </p:nvSpPr>
        <p:spPr>
          <a:xfrm>
            <a:off x="9017000" y="2298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2" name="Text 110"/>
          <p:cNvSpPr txBox="1"/>
          <p:nvPr/>
        </p:nvSpPr>
        <p:spPr>
          <a:xfrm>
            <a:off x="9245600" y="2070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53" name="Image 4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361387" y="1925823"/>
            <a:ext cx="44240" cy="520204"/>
          </a:xfrm>
          <a:prstGeom prst="rect">
            <a:avLst/>
          </a:prstGeom>
        </p:spPr>
      </p:pic>
      <p:pic>
        <p:nvPicPr>
          <p:cNvPr id="154" name="Image 4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620498" y="1925823"/>
            <a:ext cx="44240" cy="520204"/>
          </a:xfrm>
          <a:prstGeom prst="rect">
            <a:avLst/>
          </a:prstGeom>
        </p:spPr>
      </p:pic>
      <p:sp>
        <p:nvSpPr>
          <p:cNvPr id="155" name="Text 111"/>
          <p:cNvSpPr txBox="1"/>
          <p:nvPr/>
        </p:nvSpPr>
        <p:spPr>
          <a:xfrm>
            <a:off x="9423400" y="19050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56" name="Text 112"/>
          <p:cNvSpPr txBox="1"/>
          <p:nvPr/>
        </p:nvSpPr>
        <p:spPr>
          <a:xfrm>
            <a:off x="9423400" y="21082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7" name="Text 113"/>
          <p:cNvSpPr txBox="1"/>
          <p:nvPr/>
        </p:nvSpPr>
        <p:spPr>
          <a:xfrm>
            <a:off x="9423400" y="22987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8" name="Text 114"/>
          <p:cNvSpPr txBox="1"/>
          <p:nvPr/>
        </p:nvSpPr>
        <p:spPr>
          <a:xfrm>
            <a:off x="9829800" y="20701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59" name="Text 115"/>
          <p:cNvSpPr/>
          <p:nvPr/>
        </p:nvSpPr>
        <p:spPr>
          <a:xfrm>
            <a:off x="3594100" y="29083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60" name="Shape 116"/>
          <p:cNvSpPr/>
          <p:nvPr/>
        </p:nvSpPr>
        <p:spPr>
          <a:xfrm>
            <a:off x="41529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1" name="Shape 117"/>
          <p:cNvSpPr/>
          <p:nvPr/>
        </p:nvSpPr>
        <p:spPr>
          <a:xfrm>
            <a:off x="48133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2" name="Text 118"/>
          <p:cNvSpPr txBox="1"/>
          <p:nvPr/>
        </p:nvSpPr>
        <p:spPr>
          <a:xfrm>
            <a:off x="41910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3" name="Text 119"/>
          <p:cNvSpPr txBox="1"/>
          <p:nvPr/>
        </p:nvSpPr>
        <p:spPr>
          <a:xfrm>
            <a:off x="441325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4" name="Text 120"/>
          <p:cNvSpPr txBox="1"/>
          <p:nvPr/>
        </p:nvSpPr>
        <p:spPr>
          <a:xfrm>
            <a:off x="46355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65" name="Image 4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814787" y="2764023"/>
            <a:ext cx="44240" cy="520204"/>
          </a:xfrm>
          <a:prstGeom prst="rect">
            <a:avLst/>
          </a:prstGeom>
        </p:spPr>
      </p:pic>
      <p:pic>
        <p:nvPicPr>
          <p:cNvPr id="166" name="Image 4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035798" y="2764023"/>
            <a:ext cx="44240" cy="520204"/>
          </a:xfrm>
          <a:prstGeom prst="rect">
            <a:avLst/>
          </a:prstGeom>
        </p:spPr>
      </p:pic>
      <p:sp>
        <p:nvSpPr>
          <p:cNvPr id="167" name="Text 121"/>
          <p:cNvSpPr txBox="1"/>
          <p:nvPr/>
        </p:nvSpPr>
        <p:spPr>
          <a:xfrm>
            <a:off x="4876800" y="2743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68" name="Text 122"/>
          <p:cNvSpPr txBox="1"/>
          <p:nvPr/>
        </p:nvSpPr>
        <p:spPr>
          <a:xfrm>
            <a:off x="4876800" y="29464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69" name="Text 123"/>
          <p:cNvSpPr txBox="1"/>
          <p:nvPr/>
        </p:nvSpPr>
        <p:spPr>
          <a:xfrm>
            <a:off x="4876800" y="31369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0" name="Text 124"/>
          <p:cNvSpPr txBox="1"/>
          <p:nvPr/>
        </p:nvSpPr>
        <p:spPr>
          <a:xfrm>
            <a:off x="5080000" y="2908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71" name="Text 125"/>
          <p:cNvSpPr txBox="1"/>
          <p:nvPr/>
        </p:nvSpPr>
        <p:spPr>
          <a:xfrm>
            <a:off x="6007100" y="29083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72" name="Text 126"/>
          <p:cNvSpPr txBox="1"/>
          <p:nvPr/>
        </p:nvSpPr>
        <p:spPr>
          <a:xfrm>
            <a:off x="6286500" y="29083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73" name="Text 127"/>
          <p:cNvSpPr/>
          <p:nvPr/>
        </p:nvSpPr>
        <p:spPr>
          <a:xfrm>
            <a:off x="8724900" y="2908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74" name="Image 4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018487" y="2764023"/>
            <a:ext cx="44240" cy="520204"/>
          </a:xfrm>
          <a:prstGeom prst="rect">
            <a:avLst/>
          </a:prstGeom>
        </p:spPr>
      </p:pic>
      <p:pic>
        <p:nvPicPr>
          <p:cNvPr id="175" name="Image 4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226798" y="2764023"/>
            <a:ext cx="44240" cy="520204"/>
          </a:xfrm>
          <a:prstGeom prst="rect">
            <a:avLst/>
          </a:prstGeom>
        </p:spPr>
      </p:pic>
      <p:sp>
        <p:nvSpPr>
          <p:cNvPr id="176" name="Text 128"/>
          <p:cNvSpPr txBox="1"/>
          <p:nvPr/>
        </p:nvSpPr>
        <p:spPr>
          <a:xfrm>
            <a:off x="9080500" y="27432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77" name="Text 129"/>
          <p:cNvSpPr txBox="1"/>
          <p:nvPr/>
        </p:nvSpPr>
        <p:spPr>
          <a:xfrm>
            <a:off x="9080500" y="29464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8" name="Text 130"/>
          <p:cNvSpPr txBox="1"/>
          <p:nvPr/>
        </p:nvSpPr>
        <p:spPr>
          <a:xfrm>
            <a:off x="9080500" y="31369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9" name="Text 131"/>
          <p:cNvSpPr/>
          <p:nvPr/>
        </p:nvSpPr>
        <p:spPr>
          <a:xfrm>
            <a:off x="3594100" y="37084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80" name="Shape 132"/>
          <p:cNvSpPr/>
          <p:nvPr/>
        </p:nvSpPr>
        <p:spPr>
          <a:xfrm>
            <a:off x="41529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1" name="Shape 133"/>
          <p:cNvSpPr/>
          <p:nvPr/>
        </p:nvSpPr>
        <p:spPr>
          <a:xfrm>
            <a:off x="48133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2" name="Text 134"/>
          <p:cNvSpPr txBox="1"/>
          <p:nvPr/>
        </p:nvSpPr>
        <p:spPr>
          <a:xfrm>
            <a:off x="41910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3" name="Text 135"/>
          <p:cNvSpPr txBox="1"/>
          <p:nvPr/>
        </p:nvSpPr>
        <p:spPr>
          <a:xfrm>
            <a:off x="441325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4" name="Text 136"/>
          <p:cNvSpPr txBox="1"/>
          <p:nvPr/>
        </p:nvSpPr>
        <p:spPr>
          <a:xfrm>
            <a:off x="46355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185" name="Image 4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15703" y="3564238"/>
            <a:ext cx="43134" cy="507199"/>
          </a:xfrm>
          <a:prstGeom prst="rect">
            <a:avLst/>
          </a:prstGeom>
        </p:spPr>
      </p:pic>
      <p:pic>
        <p:nvPicPr>
          <p:cNvPr id="186" name="Image 4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35950" y="3564238"/>
            <a:ext cx="43134" cy="507199"/>
          </a:xfrm>
          <a:prstGeom prst="rect">
            <a:avLst/>
          </a:prstGeom>
        </p:spPr>
      </p:pic>
      <p:sp>
        <p:nvSpPr>
          <p:cNvPr id="187" name="Text 137"/>
          <p:cNvSpPr txBox="1"/>
          <p:nvPr/>
        </p:nvSpPr>
        <p:spPr>
          <a:xfrm>
            <a:off x="48768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88" name="Text 138"/>
          <p:cNvSpPr txBox="1"/>
          <p:nvPr/>
        </p:nvSpPr>
        <p:spPr>
          <a:xfrm>
            <a:off x="48768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89" name="Text 139"/>
          <p:cNvSpPr txBox="1"/>
          <p:nvPr/>
        </p:nvSpPr>
        <p:spPr>
          <a:xfrm>
            <a:off x="48768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0" name="Text 140"/>
          <p:cNvSpPr txBox="1"/>
          <p:nvPr/>
        </p:nvSpPr>
        <p:spPr>
          <a:xfrm>
            <a:off x="5080000" y="3708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91" name="Text 141"/>
          <p:cNvSpPr txBox="1"/>
          <p:nvPr/>
        </p:nvSpPr>
        <p:spPr>
          <a:xfrm>
            <a:off x="6007100" y="3708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92" name="Text 142"/>
          <p:cNvSpPr txBox="1"/>
          <p:nvPr/>
        </p:nvSpPr>
        <p:spPr>
          <a:xfrm>
            <a:off x="6286500" y="37084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93" name="Text 143"/>
          <p:cNvSpPr/>
          <p:nvPr/>
        </p:nvSpPr>
        <p:spPr>
          <a:xfrm>
            <a:off x="8724900" y="3708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94" name="Image 4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019403" y="3564238"/>
            <a:ext cx="43134" cy="507199"/>
          </a:xfrm>
          <a:prstGeom prst="rect">
            <a:avLst/>
          </a:prstGeom>
        </p:spPr>
      </p:pic>
      <p:pic>
        <p:nvPicPr>
          <p:cNvPr id="195" name="Image 4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9239650" y="3564238"/>
            <a:ext cx="43134" cy="507199"/>
          </a:xfrm>
          <a:prstGeom prst="rect">
            <a:avLst/>
          </a:prstGeom>
        </p:spPr>
      </p:pic>
      <p:sp>
        <p:nvSpPr>
          <p:cNvPr id="196" name="Text 144"/>
          <p:cNvSpPr txBox="1"/>
          <p:nvPr/>
        </p:nvSpPr>
        <p:spPr>
          <a:xfrm>
            <a:off x="90805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97" name="Text 145"/>
          <p:cNvSpPr txBox="1"/>
          <p:nvPr/>
        </p:nvSpPr>
        <p:spPr>
          <a:xfrm>
            <a:off x="90805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8" name="Text 146"/>
          <p:cNvSpPr txBox="1"/>
          <p:nvPr/>
        </p:nvSpPr>
        <p:spPr>
          <a:xfrm>
            <a:off x="90805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9" name="Text 147"/>
          <p:cNvSpPr/>
          <p:nvPr/>
        </p:nvSpPr>
        <p:spPr>
          <a:xfrm>
            <a:off x="3594100" y="45466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00" name="Shape 148"/>
          <p:cNvSpPr/>
          <p:nvPr/>
        </p:nvSpPr>
        <p:spPr>
          <a:xfrm>
            <a:off x="41529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1" name="Shape 149"/>
          <p:cNvSpPr/>
          <p:nvPr/>
        </p:nvSpPr>
        <p:spPr>
          <a:xfrm>
            <a:off x="48133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2" name="Text 150"/>
          <p:cNvSpPr txBox="1"/>
          <p:nvPr/>
        </p:nvSpPr>
        <p:spPr>
          <a:xfrm>
            <a:off x="41910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3" name="Text 151"/>
          <p:cNvSpPr txBox="1"/>
          <p:nvPr/>
        </p:nvSpPr>
        <p:spPr>
          <a:xfrm>
            <a:off x="441325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4" name="Text 152"/>
          <p:cNvSpPr txBox="1"/>
          <p:nvPr/>
        </p:nvSpPr>
        <p:spPr>
          <a:xfrm>
            <a:off x="46355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05" name="Image 5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46513" y="4402438"/>
            <a:ext cx="43134" cy="507199"/>
          </a:xfrm>
          <a:prstGeom prst="rect">
            <a:avLst/>
          </a:prstGeom>
        </p:spPr>
      </p:pic>
      <p:pic>
        <p:nvPicPr>
          <p:cNvPr id="206" name="Image 5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146440" y="4402438"/>
            <a:ext cx="43134" cy="507199"/>
          </a:xfrm>
          <a:prstGeom prst="rect">
            <a:avLst/>
          </a:prstGeom>
        </p:spPr>
      </p:pic>
      <p:sp>
        <p:nvSpPr>
          <p:cNvPr id="207" name="Text 153"/>
          <p:cNvSpPr txBox="1"/>
          <p:nvPr/>
        </p:nvSpPr>
        <p:spPr>
          <a:xfrm>
            <a:off x="5007610" y="4394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8" name="Text 154"/>
          <p:cNvSpPr txBox="1"/>
          <p:nvPr/>
        </p:nvSpPr>
        <p:spPr>
          <a:xfrm>
            <a:off x="5007610" y="45847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09" name="Text 155"/>
          <p:cNvSpPr txBox="1"/>
          <p:nvPr/>
        </p:nvSpPr>
        <p:spPr>
          <a:xfrm>
            <a:off x="5007610" y="4775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0" name="Text 156"/>
          <p:cNvSpPr txBox="1"/>
          <p:nvPr/>
        </p:nvSpPr>
        <p:spPr>
          <a:xfrm>
            <a:off x="5162550" y="45466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211" name="Text 157"/>
          <p:cNvSpPr txBox="1"/>
          <p:nvPr/>
        </p:nvSpPr>
        <p:spPr>
          <a:xfrm>
            <a:off x="6007100" y="4546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12" name="Text 158"/>
          <p:cNvSpPr txBox="1"/>
          <p:nvPr/>
        </p:nvSpPr>
        <p:spPr>
          <a:xfrm>
            <a:off x="6286500" y="45466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213" name="Text 159"/>
          <p:cNvSpPr/>
          <p:nvPr/>
        </p:nvSpPr>
        <p:spPr>
          <a:xfrm>
            <a:off x="7734300" y="4546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14" name="Image 5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016103" y="4402438"/>
            <a:ext cx="43134" cy="507199"/>
          </a:xfrm>
          <a:prstGeom prst="rect">
            <a:avLst/>
          </a:prstGeom>
        </p:spPr>
      </p:pic>
      <p:pic>
        <p:nvPicPr>
          <p:cNvPr id="215" name="Image 5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61750" y="4402438"/>
            <a:ext cx="43134" cy="507199"/>
          </a:xfrm>
          <a:prstGeom prst="rect">
            <a:avLst/>
          </a:prstGeom>
        </p:spPr>
      </p:pic>
      <p:sp>
        <p:nvSpPr>
          <p:cNvPr id="216" name="Text 160"/>
          <p:cNvSpPr txBox="1"/>
          <p:nvPr/>
        </p:nvSpPr>
        <p:spPr>
          <a:xfrm>
            <a:off x="8077200" y="4394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7" name="Text 161"/>
          <p:cNvSpPr txBox="1"/>
          <p:nvPr/>
        </p:nvSpPr>
        <p:spPr>
          <a:xfrm>
            <a:off x="8077200" y="4584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8" name="Text 162"/>
          <p:cNvSpPr txBox="1"/>
          <p:nvPr/>
        </p:nvSpPr>
        <p:spPr>
          <a:xfrm>
            <a:off x="8077200" y="4775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9" name="Text 163"/>
          <p:cNvSpPr txBox="1"/>
          <p:nvPr/>
        </p:nvSpPr>
        <p:spPr>
          <a:xfrm>
            <a:off x="8318500" y="45466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- 2 *</a:t>
            </a:r>
            <a:endParaRPr lang="en-US" sz="1100" dirty="0"/>
          </a:p>
        </p:txBody>
      </p:sp>
      <p:pic>
        <p:nvPicPr>
          <p:cNvPr id="220" name="Image 5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689203" y="4402438"/>
            <a:ext cx="43134" cy="507199"/>
          </a:xfrm>
          <a:prstGeom prst="rect">
            <a:avLst/>
          </a:prstGeom>
        </p:spPr>
      </p:pic>
      <p:pic>
        <p:nvPicPr>
          <p:cNvPr id="221" name="Image 5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909450" y="4402438"/>
            <a:ext cx="43134" cy="507199"/>
          </a:xfrm>
          <a:prstGeom prst="rect">
            <a:avLst/>
          </a:prstGeom>
        </p:spPr>
      </p:pic>
      <p:sp>
        <p:nvSpPr>
          <p:cNvPr id="222" name="Text 164"/>
          <p:cNvSpPr txBox="1"/>
          <p:nvPr/>
        </p:nvSpPr>
        <p:spPr>
          <a:xfrm>
            <a:off x="8750300" y="4394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3" name="Text 165"/>
          <p:cNvSpPr txBox="1"/>
          <p:nvPr/>
        </p:nvSpPr>
        <p:spPr>
          <a:xfrm>
            <a:off x="8750300" y="4584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4" name="Text 166"/>
          <p:cNvSpPr txBox="1"/>
          <p:nvPr/>
        </p:nvSpPr>
        <p:spPr>
          <a:xfrm>
            <a:off x="8750300" y="4775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5" name="Text 167"/>
          <p:cNvSpPr txBox="1"/>
          <p:nvPr/>
        </p:nvSpPr>
        <p:spPr>
          <a:xfrm>
            <a:off x="8991600" y="45466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226" name="Image 5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070203" y="4402438"/>
            <a:ext cx="43134" cy="507199"/>
          </a:xfrm>
          <a:prstGeom prst="rect">
            <a:avLst/>
          </a:prstGeom>
        </p:spPr>
      </p:pic>
      <p:pic>
        <p:nvPicPr>
          <p:cNvPr id="227" name="Image 5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531750" y="4402438"/>
            <a:ext cx="43134" cy="507199"/>
          </a:xfrm>
          <a:prstGeom prst="rect">
            <a:avLst/>
          </a:prstGeom>
        </p:spPr>
      </p:pic>
      <p:sp>
        <p:nvSpPr>
          <p:cNvPr id="228" name="Text 168"/>
          <p:cNvSpPr txBox="1"/>
          <p:nvPr/>
        </p:nvSpPr>
        <p:spPr>
          <a:xfrm>
            <a:off x="9131300" y="4394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9" name="Text 169"/>
          <p:cNvSpPr txBox="1"/>
          <p:nvPr/>
        </p:nvSpPr>
        <p:spPr>
          <a:xfrm>
            <a:off x="9131300" y="45847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30" name="Text 170"/>
          <p:cNvSpPr txBox="1"/>
          <p:nvPr/>
        </p:nvSpPr>
        <p:spPr>
          <a:xfrm>
            <a:off x="9131300" y="4775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31" name="Text 171"/>
          <p:cNvSpPr txBox="1"/>
          <p:nvPr/>
        </p:nvSpPr>
        <p:spPr>
          <a:xfrm>
            <a:off x="9791700" y="45466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232" name="Text 172"/>
          <p:cNvSpPr/>
          <p:nvPr/>
        </p:nvSpPr>
        <p:spPr>
          <a:xfrm>
            <a:off x="3594100" y="53848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33" name="Shape 173"/>
          <p:cNvSpPr/>
          <p:nvPr/>
        </p:nvSpPr>
        <p:spPr>
          <a:xfrm>
            <a:off x="41529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4" name="Shape 174"/>
          <p:cNvSpPr/>
          <p:nvPr/>
        </p:nvSpPr>
        <p:spPr>
          <a:xfrm>
            <a:off x="48133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5" name="Text 175"/>
          <p:cNvSpPr txBox="1"/>
          <p:nvPr/>
        </p:nvSpPr>
        <p:spPr>
          <a:xfrm>
            <a:off x="41910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36" name="Text 176"/>
          <p:cNvSpPr txBox="1"/>
          <p:nvPr/>
        </p:nvSpPr>
        <p:spPr>
          <a:xfrm>
            <a:off x="441325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37" name="Text 177"/>
          <p:cNvSpPr txBox="1"/>
          <p:nvPr/>
        </p:nvSpPr>
        <p:spPr>
          <a:xfrm>
            <a:off x="46355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238" name="Image 58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929236" y="5201966"/>
            <a:ext cx="48664" cy="572225"/>
          </a:xfrm>
          <a:prstGeom prst="rect">
            <a:avLst/>
          </a:prstGeom>
        </p:spPr>
      </p:pic>
      <p:pic>
        <p:nvPicPr>
          <p:cNvPr id="239" name="Image 59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229498" y="5201966"/>
            <a:ext cx="48664" cy="572225"/>
          </a:xfrm>
          <a:prstGeom prst="rect">
            <a:avLst/>
          </a:prstGeom>
        </p:spPr>
      </p:pic>
      <p:sp>
        <p:nvSpPr>
          <p:cNvPr id="240" name="Text 178"/>
          <p:cNvSpPr txBox="1"/>
          <p:nvPr/>
        </p:nvSpPr>
        <p:spPr>
          <a:xfrm>
            <a:off x="4994910" y="52197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1" name="Text 179"/>
          <p:cNvSpPr txBox="1"/>
          <p:nvPr/>
        </p:nvSpPr>
        <p:spPr>
          <a:xfrm>
            <a:off x="4994910" y="5422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42" name="Text 180"/>
          <p:cNvSpPr txBox="1"/>
          <p:nvPr/>
        </p:nvSpPr>
        <p:spPr>
          <a:xfrm>
            <a:off x="4994910" y="56134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43" name="Text 181"/>
          <p:cNvSpPr txBox="1"/>
          <p:nvPr/>
        </p:nvSpPr>
        <p:spPr>
          <a:xfrm>
            <a:off x="5295900" y="53848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-96</a:t>
            </a:r>
            <a:endParaRPr lang="en-US" sz="1200" dirty="0"/>
          </a:p>
        </p:txBody>
      </p:sp>
      <p:sp>
        <p:nvSpPr>
          <p:cNvPr id="244" name="Text 182"/>
          <p:cNvSpPr txBox="1"/>
          <p:nvPr/>
        </p:nvSpPr>
        <p:spPr>
          <a:xfrm>
            <a:off x="6007100" y="5384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45" name="Text 183"/>
          <p:cNvSpPr txBox="1"/>
          <p:nvPr/>
        </p:nvSpPr>
        <p:spPr>
          <a:xfrm>
            <a:off x="6286500" y="53848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46" name="Text 184"/>
          <p:cNvSpPr/>
          <p:nvPr/>
        </p:nvSpPr>
        <p:spPr>
          <a:xfrm>
            <a:off x="9144000" y="5384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47" name="Image 6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433926" y="5201966"/>
            <a:ext cx="48664" cy="572225"/>
          </a:xfrm>
          <a:prstGeom prst="rect">
            <a:avLst/>
          </a:prstGeom>
        </p:spPr>
      </p:pic>
      <p:pic>
        <p:nvPicPr>
          <p:cNvPr id="248" name="Image 6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48488" y="5201966"/>
            <a:ext cx="48664" cy="572225"/>
          </a:xfrm>
          <a:prstGeom prst="rect">
            <a:avLst/>
          </a:prstGeom>
        </p:spPr>
      </p:pic>
      <p:sp>
        <p:nvSpPr>
          <p:cNvPr id="249" name="Text 185"/>
          <p:cNvSpPr txBox="1"/>
          <p:nvPr/>
        </p:nvSpPr>
        <p:spPr>
          <a:xfrm>
            <a:off x="9499600" y="52197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0" name="Text 186"/>
          <p:cNvSpPr txBox="1"/>
          <p:nvPr/>
        </p:nvSpPr>
        <p:spPr>
          <a:xfrm>
            <a:off x="9499600" y="5422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51" name="Text 187"/>
          <p:cNvSpPr txBox="1"/>
          <p:nvPr/>
        </p:nvSpPr>
        <p:spPr>
          <a:xfrm>
            <a:off x="9499600" y="56134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52" name="Text 188"/>
          <p:cNvSpPr/>
          <p:nvPr/>
        </p:nvSpPr>
        <p:spPr>
          <a:xfrm>
            <a:off x="3594100" y="62230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53" name="Shape 189"/>
          <p:cNvSpPr/>
          <p:nvPr/>
        </p:nvSpPr>
        <p:spPr>
          <a:xfrm>
            <a:off x="41529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4" name="Shape 190"/>
          <p:cNvSpPr/>
          <p:nvPr/>
        </p:nvSpPr>
        <p:spPr>
          <a:xfrm>
            <a:off x="48133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5" name="Text 191"/>
          <p:cNvSpPr txBox="1"/>
          <p:nvPr/>
        </p:nvSpPr>
        <p:spPr>
          <a:xfrm>
            <a:off x="41910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6" name="Text 192"/>
          <p:cNvSpPr txBox="1"/>
          <p:nvPr/>
        </p:nvSpPr>
        <p:spPr>
          <a:xfrm>
            <a:off x="441325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7" name="Text 193"/>
          <p:cNvSpPr txBox="1"/>
          <p:nvPr/>
        </p:nvSpPr>
        <p:spPr>
          <a:xfrm>
            <a:off x="46355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258" name="Image 6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927405" y="6039937"/>
            <a:ext cx="50876" cy="598235"/>
          </a:xfrm>
          <a:prstGeom prst="rect">
            <a:avLst/>
          </a:prstGeom>
        </p:spPr>
      </p:pic>
      <p:pic>
        <p:nvPicPr>
          <p:cNvPr id="259" name="Image 6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229193" y="6039937"/>
            <a:ext cx="50876" cy="598235"/>
          </a:xfrm>
          <a:prstGeom prst="rect">
            <a:avLst/>
          </a:prstGeom>
        </p:spPr>
      </p:pic>
      <p:sp>
        <p:nvSpPr>
          <p:cNvPr id="260" name="Text 194"/>
          <p:cNvSpPr txBox="1"/>
          <p:nvPr/>
        </p:nvSpPr>
        <p:spPr>
          <a:xfrm>
            <a:off x="4994910" y="6057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61" name="Text 195"/>
          <p:cNvSpPr txBox="1"/>
          <p:nvPr/>
        </p:nvSpPr>
        <p:spPr>
          <a:xfrm>
            <a:off x="4994910" y="62611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62" name="Text 196"/>
          <p:cNvSpPr txBox="1"/>
          <p:nvPr/>
        </p:nvSpPr>
        <p:spPr>
          <a:xfrm>
            <a:off x="4994910" y="64516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63" name="Text 197"/>
          <p:cNvSpPr txBox="1"/>
          <p:nvPr/>
        </p:nvSpPr>
        <p:spPr>
          <a:xfrm>
            <a:off x="5295900" y="62230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-104</a:t>
            </a:r>
            <a:endParaRPr lang="en-US" sz="1200" dirty="0"/>
          </a:p>
        </p:txBody>
      </p:sp>
      <p:sp>
        <p:nvSpPr>
          <p:cNvPr id="264" name="Text 198"/>
          <p:cNvSpPr txBox="1"/>
          <p:nvPr/>
        </p:nvSpPr>
        <p:spPr>
          <a:xfrm>
            <a:off x="6007100" y="622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65" name="Text 199"/>
          <p:cNvSpPr txBox="1"/>
          <p:nvPr/>
        </p:nvSpPr>
        <p:spPr>
          <a:xfrm>
            <a:off x="6286500" y="62230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66" name="Text 200"/>
          <p:cNvSpPr/>
          <p:nvPr/>
        </p:nvSpPr>
        <p:spPr>
          <a:xfrm>
            <a:off x="9207500" y="6223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67" name="Image 6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9508295" y="6039937"/>
            <a:ext cx="50876" cy="598235"/>
          </a:xfrm>
          <a:prstGeom prst="rect">
            <a:avLst/>
          </a:prstGeom>
        </p:spPr>
      </p:pic>
      <p:pic>
        <p:nvPicPr>
          <p:cNvPr id="268" name="Image 6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924383" y="6039937"/>
            <a:ext cx="50876" cy="598235"/>
          </a:xfrm>
          <a:prstGeom prst="rect">
            <a:avLst/>
          </a:prstGeom>
        </p:spPr>
      </p:pic>
      <p:sp>
        <p:nvSpPr>
          <p:cNvPr id="269" name="Text 201"/>
          <p:cNvSpPr txBox="1"/>
          <p:nvPr/>
        </p:nvSpPr>
        <p:spPr>
          <a:xfrm>
            <a:off x="9575800" y="6057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0" name="Text 202"/>
          <p:cNvSpPr txBox="1"/>
          <p:nvPr/>
        </p:nvSpPr>
        <p:spPr>
          <a:xfrm>
            <a:off x="9575800" y="62611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71" name="Text 203"/>
          <p:cNvSpPr txBox="1"/>
          <p:nvPr/>
        </p:nvSpPr>
        <p:spPr>
          <a:xfrm>
            <a:off x="9575800" y="64516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43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558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7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4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335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925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050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7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892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4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35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1925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050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7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92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4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335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1925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9050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197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4892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04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843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7005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9558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247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5400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8200" y="9398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lnSpc>
                <a:spcPts val="16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73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40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4229100" y="7429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29100" y="952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29100" y="11366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635500" y="825500"/>
            <a:ext cx="106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337300" y="990600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00" spc="-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92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8549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1407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5184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0415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0899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5184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80415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0899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128000" y="1473200"/>
            <a:ext cx="177800" cy="127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80400" y="1511300"/>
            <a:ext cx="12700" cy="88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3048000" y="13843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8700" y="1866900"/>
            <a:ext cx="2006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8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843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6700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558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241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336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8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3843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6700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9558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241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5336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8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3843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6700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19558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241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25336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098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3843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6700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9558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241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25336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9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14351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7208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20066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2292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25844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D8262C"/>
          </a:solidFill>
          <a:ln/>
        </p:spPr>
      </p:sp>
      <p:sp>
        <p:nvSpPr>
          <p:cNvPr id="92" name="Text 90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812800" y="4191000"/>
            <a:ext cx="2311400" cy="1079500"/>
          </a:xfrm>
          <a:prstGeom prst="rect">
            <a:avLst/>
          </a:prstGeom>
          <a:solidFill>
            <a:srgbClr val="F8D7DA"/>
          </a:solidFill>
          <a:ln w="12700">
            <a:solidFill>
              <a:srgbClr val="D8262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9800" y="43688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lnSpc>
                <a:spcPts val="210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00" dirty="0"/>
          </a:p>
        </p:txBody>
      </p:sp>
      <p:sp>
        <p:nvSpPr>
          <p:cNvPr id="95" name="Text 93"/>
          <p:cNvSpPr/>
          <p:nvPr/>
        </p:nvSpPr>
        <p:spPr>
          <a:xfrm>
            <a:off x="1079500" y="4724400"/>
            <a:ext cx="17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Iterations</a:t>
            </a:r>
            <a:endParaRPr lang="en-US" sz="1900" dirty="0"/>
          </a:p>
        </p:txBody>
      </p:sp>
      <p:sp>
        <p:nvSpPr>
          <p:cNvPr id="96" name="Shape 94"/>
          <p:cNvSpPr/>
          <p:nvPr/>
        </p:nvSpPr>
        <p:spPr>
          <a:xfrm>
            <a:off x="3479800" y="1765300"/>
            <a:ext cx="7353300" cy="4940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517900" y="1778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17900" y="2501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517900" y="2628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17900" y="33401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517900" y="34544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517900" y="41783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17900" y="4292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17900" y="50165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7900" y="51308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7900" y="58547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7900" y="5969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17900" y="6705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594100" y="20066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241800" y="20066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1 1 1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819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4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3" name="Text 111"/>
          <p:cNvSpPr/>
          <p:nvPr/>
        </p:nvSpPr>
        <p:spPr>
          <a:xfrm>
            <a:off x="4832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4832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15" name="Text 113"/>
          <p:cNvSpPr/>
          <p:nvPr/>
        </p:nvSpPr>
        <p:spPr>
          <a:xfrm>
            <a:off x="4832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5219700" y="20066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6413500" y="200660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6667500" y="200660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8940800" y="200660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264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69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2" name="Text 120"/>
          <p:cNvSpPr/>
          <p:nvPr/>
        </p:nvSpPr>
        <p:spPr>
          <a:xfrm>
            <a:off x="9277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277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277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3594100" y="28511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6" name="Text 124"/>
          <p:cNvSpPr/>
          <p:nvPr/>
        </p:nvSpPr>
        <p:spPr>
          <a:xfrm>
            <a:off x="4241800" y="28511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1 2 1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8196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244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9" name="Text 127"/>
          <p:cNvSpPr/>
          <p:nvPr/>
        </p:nvSpPr>
        <p:spPr>
          <a:xfrm>
            <a:off x="48323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48323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8323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5219700" y="28511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300" dirty="0"/>
          </a:p>
        </p:txBody>
      </p:sp>
      <p:sp>
        <p:nvSpPr>
          <p:cNvPr id="133" name="Text 131"/>
          <p:cNvSpPr/>
          <p:nvPr/>
        </p:nvSpPr>
        <p:spPr>
          <a:xfrm>
            <a:off x="6350000" y="28511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34" name="Text 132"/>
          <p:cNvSpPr/>
          <p:nvPr/>
        </p:nvSpPr>
        <p:spPr>
          <a:xfrm>
            <a:off x="6591300" y="28511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35" name="Text 133"/>
          <p:cNvSpPr/>
          <p:nvPr/>
        </p:nvSpPr>
        <p:spPr>
          <a:xfrm>
            <a:off x="8864600" y="28511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92011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5059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8" name="Text 136"/>
          <p:cNvSpPr/>
          <p:nvPr/>
        </p:nvSpPr>
        <p:spPr>
          <a:xfrm>
            <a:off x="92138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9" name="Text 137"/>
          <p:cNvSpPr/>
          <p:nvPr/>
        </p:nvSpPr>
        <p:spPr>
          <a:xfrm>
            <a:off x="92138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92138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3594100" y="36893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42" name="Text 140"/>
          <p:cNvSpPr/>
          <p:nvPr/>
        </p:nvSpPr>
        <p:spPr>
          <a:xfrm>
            <a:off x="4241800" y="36893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1 1 2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48196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1244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5" name="Text 143"/>
          <p:cNvSpPr/>
          <p:nvPr/>
        </p:nvSpPr>
        <p:spPr>
          <a:xfrm>
            <a:off x="483235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483235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483235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8" name="Text 146"/>
          <p:cNvSpPr/>
          <p:nvPr/>
        </p:nvSpPr>
        <p:spPr>
          <a:xfrm>
            <a:off x="5219700" y="36893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6413500" y="36893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50" name="Text 148"/>
          <p:cNvSpPr/>
          <p:nvPr/>
        </p:nvSpPr>
        <p:spPr>
          <a:xfrm>
            <a:off x="6667500" y="36893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51" name="Text 149"/>
          <p:cNvSpPr/>
          <p:nvPr/>
        </p:nvSpPr>
        <p:spPr>
          <a:xfrm>
            <a:off x="8940800" y="36893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92710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5758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4" name="Text 152"/>
          <p:cNvSpPr/>
          <p:nvPr/>
        </p:nvSpPr>
        <p:spPr>
          <a:xfrm>
            <a:off x="928370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55" name="Text 153"/>
          <p:cNvSpPr/>
          <p:nvPr/>
        </p:nvSpPr>
        <p:spPr>
          <a:xfrm>
            <a:off x="928370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56" name="Text 154"/>
          <p:cNvSpPr/>
          <p:nvPr/>
        </p:nvSpPr>
        <p:spPr>
          <a:xfrm>
            <a:off x="928370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57" name="Text 155"/>
          <p:cNvSpPr/>
          <p:nvPr/>
        </p:nvSpPr>
        <p:spPr>
          <a:xfrm>
            <a:off x="3594100" y="45656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8" name="Text 156"/>
          <p:cNvSpPr/>
          <p:nvPr/>
        </p:nvSpPr>
        <p:spPr>
          <a:xfrm>
            <a:off x="4241800" y="45656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1 5 4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4819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1244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1" name="Text 159"/>
          <p:cNvSpPr/>
          <p:nvPr/>
        </p:nvSpPr>
        <p:spPr>
          <a:xfrm>
            <a:off x="48323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62" name="Text 160"/>
          <p:cNvSpPr/>
          <p:nvPr/>
        </p:nvSpPr>
        <p:spPr>
          <a:xfrm>
            <a:off x="48323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63" name="Text 161"/>
          <p:cNvSpPr/>
          <p:nvPr/>
        </p:nvSpPr>
        <p:spPr>
          <a:xfrm>
            <a:off x="48323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4" name="Text 162"/>
          <p:cNvSpPr/>
          <p:nvPr/>
        </p:nvSpPr>
        <p:spPr>
          <a:xfrm>
            <a:off x="5232400" y="45656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−6</a:t>
            </a:r>
            <a:endParaRPr lang="en-US" sz="1300" dirty="0"/>
          </a:p>
        </p:txBody>
      </p:sp>
      <p:sp>
        <p:nvSpPr>
          <p:cNvPr id="165" name="Text 163"/>
          <p:cNvSpPr/>
          <p:nvPr/>
        </p:nvSpPr>
        <p:spPr>
          <a:xfrm>
            <a:off x="6477000" y="45656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66" name="Text 164"/>
          <p:cNvSpPr/>
          <p:nvPr/>
        </p:nvSpPr>
        <p:spPr>
          <a:xfrm>
            <a:off x="6731000" y="45656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67" name="Text 165"/>
          <p:cNvSpPr/>
          <p:nvPr/>
        </p:nvSpPr>
        <p:spPr>
          <a:xfrm>
            <a:off x="9017000" y="45656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3408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645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0" name="Text 168"/>
          <p:cNvSpPr/>
          <p:nvPr/>
        </p:nvSpPr>
        <p:spPr>
          <a:xfrm>
            <a:off x="93535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1" name="Text 169"/>
          <p:cNvSpPr/>
          <p:nvPr/>
        </p:nvSpPr>
        <p:spPr>
          <a:xfrm>
            <a:off x="93535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2" name="Text 170"/>
          <p:cNvSpPr/>
          <p:nvPr/>
        </p:nvSpPr>
        <p:spPr>
          <a:xfrm>
            <a:off x="93535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73" name="Text 171"/>
          <p:cNvSpPr/>
          <p:nvPr/>
        </p:nvSpPr>
        <p:spPr>
          <a:xfrm>
            <a:off x="3594100" y="53657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74" name="Text 172"/>
          <p:cNvSpPr/>
          <p:nvPr/>
        </p:nvSpPr>
        <p:spPr>
          <a:xfrm>
            <a:off x="4241800" y="53657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1 6 5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48196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1244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7" name="Text 175"/>
          <p:cNvSpPr/>
          <p:nvPr/>
        </p:nvSpPr>
        <p:spPr>
          <a:xfrm>
            <a:off x="48323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8" name="Text 176"/>
          <p:cNvSpPr/>
          <p:nvPr/>
        </p:nvSpPr>
        <p:spPr>
          <a:xfrm>
            <a:off x="48323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9" name="Text 177"/>
          <p:cNvSpPr/>
          <p:nvPr/>
        </p:nvSpPr>
        <p:spPr>
          <a:xfrm>
            <a:off x="48323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0" name="Text 178"/>
          <p:cNvSpPr/>
          <p:nvPr/>
        </p:nvSpPr>
        <p:spPr>
          <a:xfrm>
            <a:off x="5232400" y="53657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−10</a:t>
            </a:r>
            <a:endParaRPr lang="en-US" sz="1300" dirty="0"/>
          </a:p>
        </p:txBody>
      </p:sp>
      <p:sp>
        <p:nvSpPr>
          <p:cNvPr id="181" name="Text 179"/>
          <p:cNvSpPr/>
          <p:nvPr/>
        </p:nvSpPr>
        <p:spPr>
          <a:xfrm>
            <a:off x="6553200" y="53657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82" name="Text 180"/>
          <p:cNvSpPr/>
          <p:nvPr/>
        </p:nvSpPr>
        <p:spPr>
          <a:xfrm>
            <a:off x="6794500" y="53657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9080500" y="53657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4043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7091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6" name="Text 184"/>
          <p:cNvSpPr/>
          <p:nvPr/>
        </p:nvSpPr>
        <p:spPr>
          <a:xfrm>
            <a:off x="94170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87" name="Text 185"/>
          <p:cNvSpPr/>
          <p:nvPr/>
        </p:nvSpPr>
        <p:spPr>
          <a:xfrm>
            <a:off x="94170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88" name="Text 186"/>
          <p:cNvSpPr/>
          <p:nvPr/>
        </p:nvSpPr>
        <p:spPr>
          <a:xfrm>
            <a:off x="94170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9" name="Text 187"/>
          <p:cNvSpPr/>
          <p:nvPr/>
        </p:nvSpPr>
        <p:spPr>
          <a:xfrm>
            <a:off x="3594100" y="62039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90" name="Text 188"/>
          <p:cNvSpPr/>
          <p:nvPr/>
        </p:nvSpPr>
        <p:spPr>
          <a:xfrm>
            <a:off x="4241800" y="62039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1 6 6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48196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44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3" name="Text 191"/>
          <p:cNvSpPr/>
          <p:nvPr/>
        </p:nvSpPr>
        <p:spPr>
          <a:xfrm>
            <a:off x="483235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94" name="Text 192"/>
          <p:cNvSpPr/>
          <p:nvPr/>
        </p:nvSpPr>
        <p:spPr>
          <a:xfrm>
            <a:off x="483235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95" name="Text 193"/>
          <p:cNvSpPr/>
          <p:nvPr/>
        </p:nvSpPr>
        <p:spPr>
          <a:xfrm>
            <a:off x="483235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96" name="Text 194"/>
          <p:cNvSpPr/>
          <p:nvPr/>
        </p:nvSpPr>
        <p:spPr>
          <a:xfrm>
            <a:off x="5219700" y="62039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−112</a:t>
            </a:r>
            <a:endParaRPr lang="en-US" sz="1300" dirty="0"/>
          </a:p>
        </p:txBody>
      </p:sp>
      <p:sp>
        <p:nvSpPr>
          <p:cNvPr id="197" name="Text 195"/>
          <p:cNvSpPr/>
          <p:nvPr/>
        </p:nvSpPr>
        <p:spPr>
          <a:xfrm>
            <a:off x="6629400" y="62039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6870700" y="62039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99" name="Text 197"/>
          <p:cNvSpPr/>
          <p:nvPr/>
        </p:nvSpPr>
        <p:spPr>
          <a:xfrm>
            <a:off x="9156700" y="62039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94742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97790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2" name="Text 200"/>
          <p:cNvSpPr/>
          <p:nvPr/>
        </p:nvSpPr>
        <p:spPr>
          <a:xfrm>
            <a:off x="948690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03" name="Text 201"/>
          <p:cNvSpPr/>
          <p:nvPr/>
        </p:nvSpPr>
        <p:spPr>
          <a:xfrm>
            <a:off x="948690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04" name="Text 202"/>
          <p:cNvSpPr/>
          <p:nvPr/>
        </p:nvSpPr>
        <p:spPr>
          <a:xfrm>
            <a:off x="948690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9525">
            <a:solidFill>
              <a:srgbClr val="2217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41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335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12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923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844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3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workspaces/codespaces-blank/ai_llm_slides/videos/machine-learning/03_ridger_regression_gradient_descent/recreated_pptx/build/assets/m046_topco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0" y="977900"/>
            <a:ext cx="190497" cy="405381"/>
          </a:xfrm>
          <a:prstGeom prst="rect">
            <a:avLst/>
          </a:prstGeom>
        </p:spPr>
      </p:pic>
      <p:pic>
        <p:nvPicPr>
          <p:cNvPr id="16" name="Image 1" descr="/workspaces/codespaces-blank/ai_llm_slides/videos/machine-learning/03_ridger_regression_gradient_descent/recreated_pptx/build/assets/m046_topco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350" y="977900"/>
            <a:ext cx="190497" cy="405381"/>
          </a:xfrm>
          <a:prstGeom prst="rect">
            <a:avLst/>
          </a:prstGeom>
        </p:spPr>
      </p:pic>
      <p:pic>
        <p:nvPicPr>
          <p:cNvPr id="17" name="Image 2" descr="/workspaces/codespaces-blank/ai_llm_slides/videos/machine-learning/03_ridger_regression_gradient_descent/recreated_pptx/build/assets/m046_topcol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750" y="977900"/>
            <a:ext cx="190497" cy="405381"/>
          </a:xfrm>
          <a:prstGeom prst="rect">
            <a:avLst/>
          </a:prstGeom>
        </p:spPr>
      </p:pic>
      <p:pic>
        <p:nvPicPr>
          <p:cNvPr id="18" name="Image 3" descr="/workspaces/codespaces-blank/ai_llm_slides/videos/machine-learning/03_ridger_regression_gradient_descent/recreated_pptx/build/assets/m046_topcol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0" y="977900"/>
            <a:ext cx="190497" cy="405381"/>
          </a:xfrm>
          <a:prstGeom prst="rect">
            <a:avLst/>
          </a:prstGeom>
        </p:spPr>
      </p:pic>
      <p:pic>
        <p:nvPicPr>
          <p:cNvPr id="19" name="Image 4" descr="/workspaces/codespaces-blank/ai_llm_slides/videos/machine-learning/03_ridger_regression_gradient_descent/recreated_pptx/build/assets/m046_topcol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4250" y="977900"/>
            <a:ext cx="190497" cy="405381"/>
          </a:xfrm>
          <a:prstGeom prst="rect">
            <a:avLst/>
          </a:prstGeom>
        </p:spPr>
      </p:pic>
      <p:pic>
        <p:nvPicPr>
          <p:cNvPr id="20" name="Image 5" descr="/workspaces/codespaces-blank/ai_llm_slides/videos/machine-learning/03_ridger_regression_gradient_descent/recreated_pptx/build/assets/m046_topcol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650" y="977900"/>
            <a:ext cx="190497" cy="40538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541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14"/>
          <p:cNvSpPr/>
          <p:nvPr/>
        </p:nvSpPr>
        <p:spPr>
          <a:xfrm>
            <a:off x="13335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16129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16"/>
          <p:cNvSpPr/>
          <p:nvPr/>
        </p:nvSpPr>
        <p:spPr>
          <a:xfrm>
            <a:off x="18923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17"/>
          <p:cNvSpPr/>
          <p:nvPr/>
        </p:nvSpPr>
        <p:spPr>
          <a:xfrm>
            <a:off x="21844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24638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3111500" y="13589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unaccepted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3378200" y="850900"/>
            <a:ext cx="558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endParaRPr lang="en-US" sz="1150" dirty="0"/>
          </a:p>
        </p:txBody>
      </p:sp>
      <p:sp>
        <p:nvSpPr>
          <p:cNvPr id="29" name="Text 21"/>
          <p:cNvSpPr/>
          <p:nvPr/>
        </p:nvSpPr>
        <p:spPr>
          <a:xfrm>
            <a:off x="3873500" y="83820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440"/>
              </a:lnSpc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30" name="Image 6" descr="/workspaces/codespaces-blank/ai_llm_slides/videos/machine-learning/03_ridger_regression_gradient_descent/recreated_pptx/build/assets/m046_vec_initi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711200"/>
            <a:ext cx="519681" cy="595887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1700" y="800100"/>
            <a:ext cx="111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6337300" y="9525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75057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25"/>
          <p:cNvSpPr/>
          <p:nvPr/>
        </p:nvSpPr>
        <p:spPr>
          <a:xfrm>
            <a:off x="7797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8089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pic>
        <p:nvPicPr>
          <p:cNvPr id="36" name="Image 7" descr="/workspaces/codespaces-blank/ai_llm_slides/videos/machine-learning/03_ridger_regression_gradient_descent/recreated_pptx/build/assets/m046_zcol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5550" y="1016000"/>
            <a:ext cx="190497" cy="405381"/>
          </a:xfrm>
          <a:prstGeom prst="rect">
            <a:avLst/>
          </a:prstGeom>
        </p:spPr>
      </p:pic>
      <p:pic>
        <p:nvPicPr>
          <p:cNvPr id="37" name="Image 8" descr="/workspaces/codespaces-blank/ai_llm_slides/videos/machine-learning/03_ridger_regression_gradient_descent/recreated_pptx/build/assets/m046_zcol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7650" y="1016000"/>
            <a:ext cx="190497" cy="405381"/>
          </a:xfrm>
          <a:prstGeom prst="rect">
            <a:avLst/>
          </a:prstGeom>
        </p:spPr>
      </p:pic>
      <p:pic>
        <p:nvPicPr>
          <p:cNvPr id="38" name="Image 9" descr="/workspaces/codespaces-blank/ai_llm_slides/videos/machine-learning/03_ridger_regression_gradient_descent/recreated_pptx/build/assets/m046_zcol3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9750" y="1016000"/>
            <a:ext cx="190497" cy="405381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9372600" y="736600"/>
            <a:ext cx="1155700" cy="1079500"/>
          </a:xfrm>
          <a:prstGeom prst="rect">
            <a:avLst/>
          </a:prstGeom>
          <a:solidFill>
            <a:srgbClr val="F9E8FA"/>
          </a:solidFill>
          <a:ln w="9525">
            <a:solidFill>
              <a:srgbClr val="D4BED5"/>
            </a:solidFill>
            <a:prstDash val="solid"/>
          </a:ln>
        </p:spPr>
      </p:sp>
      <p:sp>
        <p:nvSpPr>
          <p:cNvPr id="40" name="Text 28"/>
          <p:cNvSpPr/>
          <p:nvPr/>
        </p:nvSpPr>
        <p:spPr>
          <a:xfrm>
            <a:off x="9410700" y="10414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41" name="Text 29"/>
          <p:cNvSpPr/>
          <p:nvPr/>
        </p:nvSpPr>
        <p:spPr>
          <a:xfrm>
            <a:off x="9677400" y="1092200"/>
            <a:ext cx="203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700" dirty="0"/>
          </a:p>
        </p:txBody>
      </p:sp>
      <p:pic>
        <p:nvPicPr>
          <p:cNvPr id="42" name="Image 10" descr="/workspaces/codespaces-blank/ai_llm_slides/videos/machine-learning/03_ridger_regression_gradient_descent/recreated_pptx/build/assets/m046_vec_fin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44100" y="838200"/>
            <a:ext cx="545595" cy="888495"/>
          </a:xfrm>
          <a:prstGeom prst="rect">
            <a:avLst/>
          </a:prstGeom>
        </p:spPr>
      </p:pic>
      <p:sp>
        <p:nvSpPr>
          <p:cNvPr id="43" name="Shape 30"/>
          <p:cNvSpPr/>
          <p:nvPr/>
        </p:nvSpPr>
        <p:spPr>
          <a:xfrm>
            <a:off x="876300" y="1778000"/>
            <a:ext cx="2247900" cy="14605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3C8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838200" y="1803400"/>
            <a:ext cx="23749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84"/>
              </a:lnSpc>
              <a:buNone/>
            </a:pPr>
            <a:r>
              <a:rPr lang="en-US" sz="1070" b="1" i="1" dirty="0">
                <a:solidFill>
                  <a:srgbClr val="453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070" dirty="0"/>
          </a:p>
        </p:txBody>
      </p:sp>
      <p:sp>
        <p:nvSpPr>
          <p:cNvPr id="45" name="Text 32"/>
          <p:cNvSpPr/>
          <p:nvPr/>
        </p:nvSpPr>
        <p:spPr>
          <a:xfrm>
            <a:off x="1117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80" dirty="0"/>
          </a:p>
        </p:txBody>
      </p:sp>
      <p:sp>
        <p:nvSpPr>
          <p:cNvPr id="46" name="Text 33"/>
          <p:cNvSpPr/>
          <p:nvPr/>
        </p:nvSpPr>
        <p:spPr>
          <a:xfrm>
            <a:off x="1397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80" dirty="0"/>
          </a:p>
        </p:txBody>
      </p:sp>
      <p:sp>
        <p:nvSpPr>
          <p:cNvPr id="47" name="Text 34"/>
          <p:cNvSpPr/>
          <p:nvPr/>
        </p:nvSpPr>
        <p:spPr>
          <a:xfrm>
            <a:off x="16764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80" dirty="0"/>
          </a:p>
        </p:txBody>
      </p:sp>
      <p:sp>
        <p:nvSpPr>
          <p:cNvPr id="48" name="Text 35"/>
          <p:cNvSpPr/>
          <p:nvPr/>
        </p:nvSpPr>
        <p:spPr>
          <a:xfrm>
            <a:off x="19685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" dirty="0"/>
          </a:p>
        </p:txBody>
      </p:sp>
      <p:sp>
        <p:nvSpPr>
          <p:cNvPr id="49" name="Text 36"/>
          <p:cNvSpPr/>
          <p:nvPr/>
        </p:nvSpPr>
        <p:spPr>
          <a:xfrm>
            <a:off x="2260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80" dirty="0"/>
          </a:p>
        </p:txBody>
      </p:sp>
      <p:sp>
        <p:nvSpPr>
          <p:cNvPr id="50" name="Text 37"/>
          <p:cNvSpPr/>
          <p:nvPr/>
        </p:nvSpPr>
        <p:spPr>
          <a:xfrm>
            <a:off x="2540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80" dirty="0"/>
          </a:p>
        </p:txBody>
      </p:sp>
      <p:pic>
        <p:nvPicPr>
          <p:cNvPr id="51" name="Image 11" descr="/workspaces/codespaces-blank/ai_llm_slides/videos/machine-learning/03_ridger_regression_gradient_descent/recreated_pptx/build/assets/m046_augcol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9350" y="2260600"/>
            <a:ext cx="190497" cy="633981"/>
          </a:xfrm>
          <a:prstGeom prst="rect">
            <a:avLst/>
          </a:prstGeom>
        </p:spPr>
      </p:pic>
      <p:pic>
        <p:nvPicPr>
          <p:cNvPr id="52" name="Image 12" descr="/workspaces/codespaces-blank/ai_llm_slides/videos/machine-learning/03_ridger_regression_gradient_descent/recreated_pptx/build/assets/m046_augcol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28750" y="2260600"/>
            <a:ext cx="190497" cy="633981"/>
          </a:xfrm>
          <a:prstGeom prst="rect">
            <a:avLst/>
          </a:prstGeom>
        </p:spPr>
      </p:pic>
      <p:pic>
        <p:nvPicPr>
          <p:cNvPr id="53" name="Image 13" descr="/workspaces/codespaces-blank/ai_llm_slides/videos/machine-learning/03_ridger_regression_gradient_descent/recreated_pptx/build/assets/m046_augcol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8150" y="2260600"/>
            <a:ext cx="190497" cy="633981"/>
          </a:xfrm>
          <a:prstGeom prst="rect">
            <a:avLst/>
          </a:prstGeom>
        </p:spPr>
      </p:pic>
      <p:pic>
        <p:nvPicPr>
          <p:cNvPr id="54" name="Image 14" descr="/workspaces/codespaces-blank/ai_llm_slides/videos/machine-learning/03_ridger_regression_gradient_descent/recreated_pptx/build/assets/m046_augcol4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00250" y="2260600"/>
            <a:ext cx="190497" cy="633981"/>
          </a:xfrm>
          <a:prstGeom prst="rect">
            <a:avLst/>
          </a:prstGeom>
        </p:spPr>
      </p:pic>
      <p:pic>
        <p:nvPicPr>
          <p:cNvPr id="55" name="Image 15" descr="/workspaces/codespaces-blank/ai_llm_slides/videos/machine-learning/03_ridger_regression_gradient_descent/recreated_pptx/build/assets/m046_augcol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92350" y="2260600"/>
            <a:ext cx="190497" cy="633981"/>
          </a:xfrm>
          <a:prstGeom prst="rect">
            <a:avLst/>
          </a:prstGeom>
        </p:spPr>
      </p:pic>
      <p:pic>
        <p:nvPicPr>
          <p:cNvPr id="56" name="Image 16" descr="/workspaces/codespaces-blank/ai_llm_slides/videos/machine-learning/03_ridger_regression_gradient_descent/recreated_pptx/build/assets/m046_augcol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71750" y="2260600"/>
            <a:ext cx="190497" cy="633981"/>
          </a:xfrm>
          <a:prstGeom prst="rect">
            <a:avLst/>
          </a:prstGeom>
        </p:spPr>
      </p:pic>
      <p:sp>
        <p:nvSpPr>
          <p:cNvPr id="57" name="Text 38"/>
          <p:cNvSpPr/>
          <p:nvPr/>
        </p:nvSpPr>
        <p:spPr>
          <a:xfrm>
            <a:off x="1079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8" name="Text 39"/>
          <p:cNvSpPr/>
          <p:nvPr/>
        </p:nvSpPr>
        <p:spPr>
          <a:xfrm>
            <a:off x="1358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40"/>
          <p:cNvSpPr/>
          <p:nvPr/>
        </p:nvSpPr>
        <p:spPr>
          <a:xfrm>
            <a:off x="16383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60" name="Text 41"/>
          <p:cNvSpPr/>
          <p:nvPr/>
        </p:nvSpPr>
        <p:spPr>
          <a:xfrm>
            <a:off x="19304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1" name="Text 42"/>
          <p:cNvSpPr/>
          <p:nvPr/>
        </p:nvSpPr>
        <p:spPr>
          <a:xfrm>
            <a:off x="2222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43"/>
          <p:cNvSpPr/>
          <p:nvPr/>
        </p:nvSpPr>
        <p:spPr>
          <a:xfrm>
            <a:off x="2501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3" name="Shape 44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4" name="Text 45"/>
          <p:cNvSpPr/>
          <p:nvPr/>
        </p:nvSpPr>
        <p:spPr>
          <a:xfrm>
            <a:off x="1066800" y="3517900"/>
            <a:ext cx="16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80"/>
              </a:lnSpc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2150" dirty="0"/>
          </a:p>
        </p:txBody>
      </p:sp>
      <p:sp>
        <p:nvSpPr>
          <p:cNvPr id="65" name="Shape 46"/>
          <p:cNvSpPr/>
          <p:nvPr/>
        </p:nvSpPr>
        <p:spPr>
          <a:xfrm>
            <a:off x="812800" y="4203700"/>
            <a:ext cx="2298700" cy="1066800"/>
          </a:xfrm>
          <a:prstGeom prst="rect">
            <a:avLst/>
          </a:prstGeom>
          <a:solidFill>
            <a:srgbClr val="F9D7D8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6" name="Text 47"/>
          <p:cNvSpPr/>
          <p:nvPr/>
        </p:nvSpPr>
        <p:spPr>
          <a:xfrm>
            <a:off x="749300" y="43561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ctr" indent="0" marL="0">
              <a:lnSpc>
                <a:spcPts val="2340"/>
              </a:lnSpc>
              <a:buNone/>
            </a:pPr>
            <a:r>
              <a:rPr lang="en-US" sz="195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50" dirty="0"/>
          </a:p>
        </p:txBody>
      </p:sp>
      <p:sp>
        <p:nvSpPr>
          <p:cNvPr id="67" name="Text 48"/>
          <p:cNvSpPr/>
          <p:nvPr/>
        </p:nvSpPr>
        <p:spPr>
          <a:xfrm>
            <a:off x="749300" y="47117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sz="19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ctr" indent="0" marL="0">
              <a:lnSpc>
                <a:spcPts val="2280"/>
              </a:lnSpc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1900" dirty="0"/>
          </a:p>
        </p:txBody>
      </p:sp>
      <p:pic>
        <p:nvPicPr>
          <p:cNvPr id="68" name="Image 17" descr="/workspaces/codespaces-blank/ai_llm_slides/videos/machine-learning/03_ridger_regression_gradient_descent/recreated_pptx/build/assets/m046_pl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62400" y="2197100"/>
            <a:ext cx="6515100" cy="39243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98500"/>
            <a:ext cx="8280400" cy="952500"/>
          </a:xfrm>
          <a:prstGeom prst="rect">
            <a:avLst/>
          </a:prstGeom>
          <a:solidFill>
            <a:srgbClr val="FFFFE8"/>
          </a:solidFill>
          <a:ln w="12700">
            <a:solidFill>
              <a:srgbClr val="1A1A99"/>
            </a:solidFill>
            <a:prstDash val="solid"/>
          </a:ln>
        </p:spPr>
      </p:sp>
      <p:pic>
        <p:nvPicPr>
          <p:cNvPr id="9" name="Image 0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855" y="971550"/>
            <a:ext cx="193548" cy="3992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731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112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1112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10858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14" name="Image 1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255" y="971550"/>
            <a:ext cx="193548" cy="3992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525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3906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13906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3652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19" name="Image 2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274" y="971550"/>
            <a:ext cx="193548" cy="39928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319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6700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16700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16446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24" name="Image 3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9643" y="971550"/>
            <a:ext cx="193548" cy="3992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9177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9558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19558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9304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pic>
        <p:nvPicPr>
          <p:cNvPr id="29" name="Image 4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5393" y="971550"/>
            <a:ext cx="193548" cy="3992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22034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22415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22415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22161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pic>
        <p:nvPicPr>
          <p:cNvPr id="34" name="Image 5" descr="videos/machine-learning/03_ridger_regression_gradient_descent/recreated_pptx/build/assets/paren_p047_tl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8255" y="971550"/>
            <a:ext cx="193548" cy="3992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24892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25273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7" name="Text 29"/>
          <p:cNvSpPr/>
          <p:nvPr/>
        </p:nvSpPr>
        <p:spPr>
          <a:xfrm>
            <a:off x="25273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25019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3378200" y="895350"/>
            <a:ext cx="863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</a:t>
            </a:r>
            <a:pPr algn="l" indent="0" marL="0">
              <a:buNone/>
            </a:pPr>
            <a:r>
              <a:rPr lang="en-US" sz="13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</a:t>
            </a:r>
            <a:endParaRPr lang="en-US" sz="1300" dirty="0"/>
          </a:p>
        </p:txBody>
      </p:sp>
      <p:pic>
        <p:nvPicPr>
          <p:cNvPr id="40" name="Image 6" descr="videos/machine-learning/03_ridger_regression_gradient_descent/recreated_pptx/build/assets/paren_p047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0200" y="736600"/>
            <a:ext cx="393700" cy="6019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4203700" y="7556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42" name="Text 33"/>
          <p:cNvSpPr/>
          <p:nvPr/>
        </p:nvSpPr>
        <p:spPr>
          <a:xfrm>
            <a:off x="4203700" y="9588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43" name="Text 34"/>
          <p:cNvSpPr/>
          <p:nvPr/>
        </p:nvSpPr>
        <p:spPr>
          <a:xfrm>
            <a:off x="4203700" y="11557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44" name="Text 35"/>
          <p:cNvSpPr/>
          <p:nvPr/>
        </p:nvSpPr>
        <p:spPr>
          <a:xfrm>
            <a:off x="4635500" y="800100"/>
            <a:ext cx="104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η = 2</a:t>
            </a:r>
            <a:endParaRPr lang="en-US" sz="1750" dirty="0"/>
          </a:p>
        </p:txBody>
      </p:sp>
      <p:sp>
        <p:nvSpPr>
          <p:cNvPr id="45" name="Text 36"/>
          <p:cNvSpPr/>
          <p:nvPr/>
        </p:nvSpPr>
        <p:spPr>
          <a:xfrm>
            <a:off x="6337300" y="9525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 of</a:t>
            </a:r>
            <a:endParaRPr lang="en-US" sz="1250" dirty="0"/>
          </a:p>
        </p:txBody>
      </p:sp>
      <p:sp>
        <p:nvSpPr>
          <p:cNvPr id="46" name="Text 37"/>
          <p:cNvSpPr/>
          <p:nvPr/>
        </p:nvSpPr>
        <p:spPr>
          <a:xfrm>
            <a:off x="3035300" y="1358900"/>
            <a:ext cx="355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positive  </a:t>
            </a:r>
            <a:pPr algn="l" indent="0" marL="0">
              <a:buNone/>
            </a:pPr>
            <a:r>
              <a:rPr lang="en-US" sz="15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  </a:t>
            </a:r>
            <a:pPr algn="l" indent="0" marL="0">
              <a:buNone/>
            </a:pPr>
            <a:r>
              <a:rPr lang="en-US" sz="150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unaccepted</a:t>
            </a:r>
            <a:endParaRPr lang="en-US" sz="1500" dirty="0"/>
          </a:p>
        </p:txBody>
      </p:sp>
      <p:pic>
        <p:nvPicPr>
          <p:cNvPr id="47" name="Image 7" descr="videos/machine-learning/03_ridger_regression_gradient_descent/recreated_pptx/build/assets/paren_p047_z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2535" y="1003300"/>
            <a:ext cx="205740" cy="411480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75501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49" name="Text 39"/>
          <p:cNvSpPr/>
          <p:nvPr/>
        </p:nvSpPr>
        <p:spPr>
          <a:xfrm>
            <a:off x="75882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0" name="Text 40"/>
          <p:cNvSpPr/>
          <p:nvPr/>
        </p:nvSpPr>
        <p:spPr>
          <a:xfrm>
            <a:off x="75882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pic>
        <p:nvPicPr>
          <p:cNvPr id="51" name="Image 8" descr="videos/machine-learning/03_ridger_regression_gradient_descent/recreated_pptx/build/assets/paren_p047_z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5524" y="1003300"/>
            <a:ext cx="205740" cy="411480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782320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53" name="Text 42"/>
          <p:cNvSpPr/>
          <p:nvPr/>
        </p:nvSpPr>
        <p:spPr>
          <a:xfrm>
            <a:off x="786130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50" dirty="0"/>
          </a:p>
        </p:txBody>
      </p:sp>
      <p:sp>
        <p:nvSpPr>
          <p:cNvPr id="54" name="Text 43"/>
          <p:cNvSpPr/>
          <p:nvPr/>
        </p:nvSpPr>
        <p:spPr>
          <a:xfrm>
            <a:off x="786130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pic>
        <p:nvPicPr>
          <p:cNvPr id="55" name="Image 9" descr="videos/machine-learning/03_ridger_regression_gradient_descent/recreated_pptx/build/assets/paren_p047_z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4924" y="1003300"/>
            <a:ext cx="205740" cy="411480"/>
          </a:xfrm>
          <a:prstGeom prst="rect">
            <a:avLst/>
          </a:prstGeom>
        </p:spPr>
      </p:pic>
      <p:sp>
        <p:nvSpPr>
          <p:cNvPr id="56" name="Text 44"/>
          <p:cNvSpPr/>
          <p:nvPr/>
        </p:nvSpPr>
        <p:spPr>
          <a:xfrm>
            <a:off x="81089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57" name="Text 45"/>
          <p:cNvSpPr/>
          <p:nvPr/>
        </p:nvSpPr>
        <p:spPr>
          <a:xfrm>
            <a:off x="81470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50" dirty="0"/>
          </a:p>
        </p:txBody>
      </p:sp>
      <p:sp>
        <p:nvSpPr>
          <p:cNvPr id="58" name="Text 46"/>
          <p:cNvSpPr/>
          <p:nvPr/>
        </p:nvSpPr>
        <p:spPr>
          <a:xfrm>
            <a:off x="81470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59" name="Shape 47"/>
          <p:cNvSpPr/>
          <p:nvPr/>
        </p:nvSpPr>
        <p:spPr>
          <a:xfrm>
            <a:off x="876300" y="1765300"/>
            <a:ext cx="2260600" cy="14859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60" name="Text 48"/>
          <p:cNvSpPr/>
          <p:nvPr/>
        </p:nvSpPr>
        <p:spPr>
          <a:xfrm>
            <a:off x="1041400" y="1835150"/>
            <a:ext cx="2260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300" dirty="0"/>
          </a:p>
        </p:txBody>
      </p:sp>
      <p:pic>
        <p:nvPicPr>
          <p:cNvPr id="61" name="Image 10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6655" y="2298700"/>
            <a:ext cx="193548" cy="577596"/>
          </a:xfrm>
          <a:prstGeom prst="rect">
            <a:avLst/>
          </a:prstGeom>
        </p:spPr>
      </p:pic>
      <p:sp>
        <p:nvSpPr>
          <p:cNvPr id="62" name="Text 49"/>
          <p:cNvSpPr/>
          <p:nvPr/>
        </p:nvSpPr>
        <p:spPr>
          <a:xfrm>
            <a:off x="11239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63" name="Text 50"/>
          <p:cNvSpPr/>
          <p:nvPr/>
        </p:nvSpPr>
        <p:spPr>
          <a:xfrm>
            <a:off x="11620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64" name="Text 51"/>
          <p:cNvSpPr/>
          <p:nvPr/>
        </p:nvSpPr>
        <p:spPr>
          <a:xfrm>
            <a:off x="11620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65" name="Text 52"/>
          <p:cNvSpPr/>
          <p:nvPr/>
        </p:nvSpPr>
        <p:spPr>
          <a:xfrm>
            <a:off x="11620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66" name="Text 53"/>
          <p:cNvSpPr/>
          <p:nvPr/>
        </p:nvSpPr>
        <p:spPr>
          <a:xfrm>
            <a:off x="11366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67" name="Image 11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43355" y="2298700"/>
            <a:ext cx="193548" cy="577596"/>
          </a:xfrm>
          <a:prstGeom prst="rect">
            <a:avLst/>
          </a:prstGeom>
        </p:spPr>
      </p:pic>
      <p:sp>
        <p:nvSpPr>
          <p:cNvPr id="68" name="Text 54"/>
          <p:cNvSpPr/>
          <p:nvPr/>
        </p:nvSpPr>
        <p:spPr>
          <a:xfrm>
            <a:off x="1390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69" name="Text 55"/>
          <p:cNvSpPr/>
          <p:nvPr/>
        </p:nvSpPr>
        <p:spPr>
          <a:xfrm>
            <a:off x="1428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0" name="Text 56"/>
          <p:cNvSpPr/>
          <p:nvPr/>
        </p:nvSpPr>
        <p:spPr>
          <a:xfrm>
            <a:off x="1428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71" name="Text 57"/>
          <p:cNvSpPr/>
          <p:nvPr/>
        </p:nvSpPr>
        <p:spPr>
          <a:xfrm>
            <a:off x="1428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2" name="Text 58"/>
          <p:cNvSpPr/>
          <p:nvPr/>
        </p:nvSpPr>
        <p:spPr>
          <a:xfrm>
            <a:off x="1403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73" name="Image 12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8597" y="2298700"/>
            <a:ext cx="193548" cy="577596"/>
          </a:xfrm>
          <a:prstGeom prst="rect">
            <a:avLst/>
          </a:prstGeom>
        </p:spPr>
      </p:pic>
      <p:sp>
        <p:nvSpPr>
          <p:cNvPr id="74" name="Text 59"/>
          <p:cNvSpPr/>
          <p:nvPr/>
        </p:nvSpPr>
        <p:spPr>
          <a:xfrm>
            <a:off x="16827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75" name="Text 60"/>
          <p:cNvSpPr/>
          <p:nvPr/>
        </p:nvSpPr>
        <p:spPr>
          <a:xfrm>
            <a:off x="17208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6" name="Text 61"/>
          <p:cNvSpPr/>
          <p:nvPr/>
        </p:nvSpPr>
        <p:spPr>
          <a:xfrm>
            <a:off x="17208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7" name="Text 62"/>
          <p:cNvSpPr/>
          <p:nvPr/>
        </p:nvSpPr>
        <p:spPr>
          <a:xfrm>
            <a:off x="17208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78" name="Text 63"/>
          <p:cNvSpPr/>
          <p:nvPr/>
        </p:nvSpPr>
        <p:spPr>
          <a:xfrm>
            <a:off x="16954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pic>
        <p:nvPicPr>
          <p:cNvPr id="79" name="Image 13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13966" y="2298700"/>
            <a:ext cx="193548" cy="577596"/>
          </a:xfrm>
          <a:prstGeom prst="rect">
            <a:avLst/>
          </a:prstGeom>
        </p:spPr>
      </p:pic>
      <p:sp>
        <p:nvSpPr>
          <p:cNvPr id="80" name="Text 64"/>
          <p:cNvSpPr/>
          <p:nvPr/>
        </p:nvSpPr>
        <p:spPr>
          <a:xfrm>
            <a:off x="196850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81" name="Text 65"/>
          <p:cNvSpPr/>
          <p:nvPr/>
        </p:nvSpPr>
        <p:spPr>
          <a:xfrm>
            <a:off x="200660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2" name="Text 66"/>
          <p:cNvSpPr/>
          <p:nvPr/>
        </p:nvSpPr>
        <p:spPr>
          <a:xfrm>
            <a:off x="200660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83" name="Text 67"/>
          <p:cNvSpPr/>
          <p:nvPr/>
        </p:nvSpPr>
        <p:spPr>
          <a:xfrm>
            <a:off x="200660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84" name="Text 68"/>
          <p:cNvSpPr/>
          <p:nvPr/>
        </p:nvSpPr>
        <p:spPr>
          <a:xfrm>
            <a:off x="198120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pic>
        <p:nvPicPr>
          <p:cNvPr id="85" name="Image 14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00097" y="2298700"/>
            <a:ext cx="193548" cy="577596"/>
          </a:xfrm>
          <a:prstGeom prst="rect">
            <a:avLst/>
          </a:prstGeom>
        </p:spPr>
      </p:pic>
      <p:sp>
        <p:nvSpPr>
          <p:cNvPr id="86" name="Text 69"/>
          <p:cNvSpPr/>
          <p:nvPr/>
        </p:nvSpPr>
        <p:spPr>
          <a:xfrm>
            <a:off x="22542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87" name="Text 70"/>
          <p:cNvSpPr/>
          <p:nvPr/>
        </p:nvSpPr>
        <p:spPr>
          <a:xfrm>
            <a:off x="22923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8" name="Text 71"/>
          <p:cNvSpPr/>
          <p:nvPr/>
        </p:nvSpPr>
        <p:spPr>
          <a:xfrm>
            <a:off x="22923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89" name="Text 72"/>
          <p:cNvSpPr/>
          <p:nvPr/>
        </p:nvSpPr>
        <p:spPr>
          <a:xfrm>
            <a:off x="22923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90" name="Text 73"/>
          <p:cNvSpPr/>
          <p:nvPr/>
        </p:nvSpPr>
        <p:spPr>
          <a:xfrm>
            <a:off x="22669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pic>
        <p:nvPicPr>
          <p:cNvPr id="91" name="Image 15" descr="videos/machine-learning/03_ridger_regression_gradient_descent/recreated_pptx/build/assets/paren_p047_aug3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85847" y="2298700"/>
            <a:ext cx="193548" cy="577596"/>
          </a:xfrm>
          <a:prstGeom prst="rect">
            <a:avLst/>
          </a:prstGeom>
        </p:spPr>
      </p:pic>
      <p:sp>
        <p:nvSpPr>
          <p:cNvPr id="92" name="Text 74"/>
          <p:cNvSpPr/>
          <p:nvPr/>
        </p:nvSpPr>
        <p:spPr>
          <a:xfrm>
            <a:off x="2533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93" name="Text 75"/>
          <p:cNvSpPr/>
          <p:nvPr/>
        </p:nvSpPr>
        <p:spPr>
          <a:xfrm>
            <a:off x="2571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4" name="Text 76"/>
          <p:cNvSpPr/>
          <p:nvPr/>
        </p:nvSpPr>
        <p:spPr>
          <a:xfrm>
            <a:off x="2571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95" name="Text 77"/>
          <p:cNvSpPr/>
          <p:nvPr/>
        </p:nvSpPr>
        <p:spPr>
          <a:xfrm>
            <a:off x="2571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96" name="Text 78"/>
          <p:cNvSpPr/>
          <p:nvPr/>
        </p:nvSpPr>
        <p:spPr>
          <a:xfrm>
            <a:off x="2546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97" name="Shape 79"/>
          <p:cNvSpPr/>
          <p:nvPr/>
        </p:nvSpPr>
        <p:spPr>
          <a:xfrm>
            <a:off x="3467100" y="17653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98" name="Text 80"/>
          <p:cNvSpPr/>
          <p:nvPr/>
        </p:nvSpPr>
        <p:spPr>
          <a:xfrm>
            <a:off x="3594100" y="19989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d(Z₁) =</a:t>
            </a:r>
            <a:endParaRPr lang="en-US" sz="1400" dirty="0"/>
          </a:p>
        </p:txBody>
      </p:sp>
      <p:sp>
        <p:nvSpPr>
          <p:cNvPr id="99" name="Text 81"/>
          <p:cNvSpPr/>
          <p:nvPr/>
        </p:nvSpPr>
        <p:spPr>
          <a:xfrm>
            <a:off x="4254500" y="18288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(1  0  0)</a:t>
            </a:r>
            <a:endParaRPr lang="en-US" sz="1300" dirty="0"/>
          </a:p>
        </p:txBody>
      </p:sp>
      <p:pic>
        <p:nvPicPr>
          <p:cNvPr id="100" name="Image 16" descr="videos/machine-learning/03_ridger_regression_gradient_descent/recreated_pptx/build/assets/paren_p047_stack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27600" y="1905000"/>
            <a:ext cx="231648" cy="501396"/>
          </a:xfrm>
          <a:prstGeom prst="rect">
            <a:avLst/>
          </a:prstGeom>
        </p:spPr>
      </p:pic>
      <p:sp>
        <p:nvSpPr>
          <p:cNvPr id="101" name="Text 82"/>
          <p:cNvSpPr/>
          <p:nvPr/>
        </p:nvSpPr>
        <p:spPr>
          <a:xfrm>
            <a:off x="4940300" y="18732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02" name="Text 83"/>
          <p:cNvSpPr/>
          <p:nvPr/>
        </p:nvSpPr>
        <p:spPr>
          <a:xfrm>
            <a:off x="4940300" y="2044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03" name="Text 84"/>
          <p:cNvSpPr/>
          <p:nvPr/>
        </p:nvSpPr>
        <p:spPr>
          <a:xfrm>
            <a:off x="4940300" y="226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04" name="Text 85"/>
          <p:cNvSpPr/>
          <p:nvPr/>
        </p:nvSpPr>
        <p:spPr>
          <a:xfrm>
            <a:off x="5257800" y="20091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14</a:t>
            </a:r>
            <a:endParaRPr lang="en-US" sz="1350" dirty="0"/>
          </a:p>
        </p:txBody>
      </p:sp>
      <p:sp>
        <p:nvSpPr>
          <p:cNvPr id="105" name="Text 86"/>
          <p:cNvSpPr/>
          <p:nvPr/>
        </p:nvSpPr>
        <p:spPr>
          <a:xfrm>
            <a:off x="6438900" y="20129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Positive &gt; 0</a:t>
            </a:r>
            <a:endParaRPr lang="en-US" sz="1400" dirty="0"/>
          </a:p>
        </p:txBody>
      </p:sp>
      <p:sp>
        <p:nvSpPr>
          <p:cNvPr id="106" name="Text 87"/>
          <p:cNvSpPr/>
          <p:nvPr/>
        </p:nvSpPr>
        <p:spPr>
          <a:xfrm>
            <a:off x="8420100" y="20066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</a:t>
            </a:r>
            <a:endParaRPr lang="en-US" sz="1300" dirty="0"/>
          </a:p>
        </p:txBody>
      </p:sp>
      <p:sp>
        <p:nvSpPr>
          <p:cNvPr id="107" name="Shape 88"/>
          <p:cNvSpPr/>
          <p:nvPr/>
        </p:nvSpPr>
        <p:spPr>
          <a:xfrm>
            <a:off x="3467100" y="2616200"/>
            <a:ext cx="73914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08" name="Text 89"/>
          <p:cNvSpPr/>
          <p:nvPr/>
        </p:nvSpPr>
        <p:spPr>
          <a:xfrm>
            <a:off x="3594100" y="28752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09" name="Text 90"/>
          <p:cNvSpPr/>
          <p:nvPr/>
        </p:nvSpPr>
        <p:spPr>
          <a:xfrm>
            <a:off x="4254500" y="27051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(1  7  6)</a:t>
            </a:r>
            <a:endParaRPr lang="en-US" sz="1300" dirty="0"/>
          </a:p>
        </p:txBody>
      </p:sp>
      <p:pic>
        <p:nvPicPr>
          <p:cNvPr id="110" name="Image 17" descr="videos/machine-learning/03_ridger_regression_gradient_descent/recreated_pptx/build/assets/paren_p047_stack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27600" y="2781300"/>
            <a:ext cx="231648" cy="501396"/>
          </a:xfrm>
          <a:prstGeom prst="rect">
            <a:avLst/>
          </a:prstGeom>
        </p:spPr>
      </p:pic>
      <p:sp>
        <p:nvSpPr>
          <p:cNvPr id="111" name="Text 91"/>
          <p:cNvSpPr/>
          <p:nvPr/>
        </p:nvSpPr>
        <p:spPr>
          <a:xfrm>
            <a:off x="4940300" y="27495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Text 92"/>
          <p:cNvSpPr/>
          <p:nvPr/>
        </p:nvSpPr>
        <p:spPr>
          <a:xfrm>
            <a:off x="4940300" y="29210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13" name="Text 93"/>
          <p:cNvSpPr/>
          <p:nvPr/>
        </p:nvSpPr>
        <p:spPr>
          <a:xfrm>
            <a:off x="4940300" y="3136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14" name="Text 94"/>
          <p:cNvSpPr/>
          <p:nvPr/>
        </p:nvSpPr>
        <p:spPr>
          <a:xfrm>
            <a:off x="5257800" y="28854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-14</a:t>
            </a:r>
            <a:endParaRPr lang="en-US" sz="1350" dirty="0"/>
          </a:p>
        </p:txBody>
      </p:sp>
      <p:sp>
        <p:nvSpPr>
          <p:cNvPr id="115" name="Text 95"/>
          <p:cNvSpPr/>
          <p:nvPr/>
        </p:nvSpPr>
        <p:spPr>
          <a:xfrm>
            <a:off x="6438900" y="28892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16" name="Text 96"/>
          <p:cNvSpPr/>
          <p:nvPr/>
        </p:nvSpPr>
        <p:spPr>
          <a:xfrm>
            <a:off x="8597900" y="28829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17" name="Shape 97"/>
          <p:cNvSpPr/>
          <p:nvPr/>
        </p:nvSpPr>
        <p:spPr>
          <a:xfrm>
            <a:off x="3467100" y="34417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18" name="Text 98"/>
          <p:cNvSpPr/>
          <p:nvPr/>
        </p:nvSpPr>
        <p:spPr>
          <a:xfrm>
            <a:off x="3594100" y="37134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19" name="Text 99"/>
          <p:cNvSpPr/>
          <p:nvPr/>
        </p:nvSpPr>
        <p:spPr>
          <a:xfrm>
            <a:off x="4254500" y="35433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(1  3  2)</a:t>
            </a:r>
            <a:endParaRPr lang="en-US" sz="1300" dirty="0"/>
          </a:p>
        </p:txBody>
      </p:sp>
      <p:pic>
        <p:nvPicPr>
          <p:cNvPr id="120" name="Image 18" descr="videos/machine-learning/03_ridger_regression_gradient_descent/recreated_pptx/build/assets/paren_p047_stac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27600" y="3619500"/>
            <a:ext cx="231648" cy="501396"/>
          </a:xfrm>
          <a:prstGeom prst="rect">
            <a:avLst/>
          </a:prstGeom>
        </p:spPr>
      </p:pic>
      <p:sp>
        <p:nvSpPr>
          <p:cNvPr id="121" name="Text 100"/>
          <p:cNvSpPr/>
          <p:nvPr/>
        </p:nvSpPr>
        <p:spPr>
          <a:xfrm>
            <a:off x="4940300" y="35877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22" name="Text 101"/>
          <p:cNvSpPr/>
          <p:nvPr/>
        </p:nvSpPr>
        <p:spPr>
          <a:xfrm>
            <a:off x="4940300" y="37592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23" name="Text 102"/>
          <p:cNvSpPr/>
          <p:nvPr/>
        </p:nvSpPr>
        <p:spPr>
          <a:xfrm>
            <a:off x="4940300" y="39751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24" name="Text 103"/>
          <p:cNvSpPr/>
          <p:nvPr/>
        </p:nvSpPr>
        <p:spPr>
          <a:xfrm>
            <a:off x="5257800" y="37236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-2</a:t>
            </a:r>
            <a:endParaRPr lang="en-US" sz="1350" dirty="0"/>
          </a:p>
        </p:txBody>
      </p:sp>
      <p:sp>
        <p:nvSpPr>
          <p:cNvPr id="125" name="Text 104"/>
          <p:cNvSpPr/>
          <p:nvPr/>
        </p:nvSpPr>
        <p:spPr>
          <a:xfrm>
            <a:off x="6438900" y="37274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26" name="Text 105"/>
          <p:cNvSpPr/>
          <p:nvPr/>
        </p:nvSpPr>
        <p:spPr>
          <a:xfrm>
            <a:off x="8509000" y="37211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27" name="Shape 106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28" name="Text 107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</a:t>
            </a:r>
            <a:endParaRPr lang="en-US" sz="2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pic>
        <p:nvPicPr>
          <p:cNvPr id="33" name="Image 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585" y="971804"/>
            <a:ext cx="44196" cy="393192"/>
          </a:xfrm>
          <a:prstGeom prst="rect">
            <a:avLst/>
          </a:prstGeom>
        </p:spPr>
      </p:pic>
      <p:pic>
        <p:nvPicPr>
          <p:cNvPr id="34" name="Image 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09" y="971804"/>
            <a:ext cx="44196" cy="393192"/>
          </a:xfrm>
          <a:prstGeom prst="rect">
            <a:avLst/>
          </a:prstGeom>
        </p:spPr>
      </p:pic>
      <p:pic>
        <p:nvPicPr>
          <p:cNvPr id="35" name="Image 2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365" y="971804"/>
            <a:ext cx="44196" cy="393192"/>
          </a:xfrm>
          <a:prstGeom prst="rect">
            <a:avLst/>
          </a:prstGeom>
        </p:spPr>
      </p:pic>
      <p:pic>
        <p:nvPicPr>
          <p:cNvPr id="36" name="Image 3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19" y="971804"/>
            <a:ext cx="44196" cy="393192"/>
          </a:xfrm>
          <a:prstGeom prst="rect">
            <a:avLst/>
          </a:prstGeom>
        </p:spPr>
      </p:pic>
      <p:pic>
        <p:nvPicPr>
          <p:cNvPr id="37" name="Image 4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9194" y="971804"/>
            <a:ext cx="44196" cy="393192"/>
          </a:xfrm>
          <a:prstGeom prst="rect">
            <a:avLst/>
          </a:prstGeom>
        </p:spPr>
      </p:pic>
      <p:pic>
        <p:nvPicPr>
          <p:cNvPr id="38" name="Image 5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6199" y="971804"/>
            <a:ext cx="44196" cy="393192"/>
          </a:xfrm>
          <a:prstGeom prst="rect">
            <a:avLst/>
          </a:prstGeom>
        </p:spPr>
      </p:pic>
      <p:pic>
        <p:nvPicPr>
          <p:cNvPr id="39" name="Image 6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4182" y="971804"/>
            <a:ext cx="44196" cy="393192"/>
          </a:xfrm>
          <a:prstGeom prst="rect">
            <a:avLst/>
          </a:prstGeom>
        </p:spPr>
      </p:pic>
      <p:pic>
        <p:nvPicPr>
          <p:cNvPr id="40" name="Image 7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7664" y="971804"/>
            <a:ext cx="44196" cy="393192"/>
          </a:xfrm>
          <a:prstGeom prst="rect">
            <a:avLst/>
          </a:prstGeom>
        </p:spPr>
      </p:pic>
      <p:pic>
        <p:nvPicPr>
          <p:cNvPr id="41" name="Image 8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5647" y="971804"/>
            <a:ext cx="44196" cy="393192"/>
          </a:xfrm>
          <a:prstGeom prst="rect">
            <a:avLst/>
          </a:prstGeom>
        </p:spPr>
      </p:pic>
      <p:pic>
        <p:nvPicPr>
          <p:cNvPr id="42" name="Image 9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1890" y="971804"/>
            <a:ext cx="44196" cy="393192"/>
          </a:xfrm>
          <a:prstGeom prst="rect">
            <a:avLst/>
          </a:prstGeom>
        </p:spPr>
      </p:pic>
      <p:pic>
        <p:nvPicPr>
          <p:cNvPr id="43" name="Image 1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9746" y="971804"/>
            <a:ext cx="44196" cy="393192"/>
          </a:xfrm>
          <a:prstGeom prst="rect">
            <a:avLst/>
          </a:prstGeom>
        </p:spPr>
      </p:pic>
      <p:pic>
        <p:nvPicPr>
          <p:cNvPr id="44" name="Image 1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4973" y="971804"/>
            <a:ext cx="44196" cy="393192"/>
          </a:xfrm>
          <a:prstGeom prst="rect">
            <a:avLst/>
          </a:prstGeom>
        </p:spPr>
      </p:pic>
      <p:pic>
        <p:nvPicPr>
          <p:cNvPr id="45" name="Image 12" descr="/home/ahmed/Projects/ai_llm_slides/videos/machine-learning/03_ridger_regression_gradient_descent/recreated_pptx/build/assets/eq_initial_w_col_pare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254" y="736600"/>
            <a:ext cx="320040" cy="588261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4635500" y="774700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300" dirty="0"/>
          </a:p>
        </p:txBody>
      </p:sp>
      <p:sp>
        <p:nvSpPr>
          <p:cNvPr id="47" name="Text 32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48" name="Text 33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pic>
        <p:nvPicPr>
          <p:cNvPr id="49" name="Image 13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1429" y="1111504"/>
            <a:ext cx="44196" cy="393192"/>
          </a:xfrm>
          <a:prstGeom prst="rect">
            <a:avLst/>
          </a:prstGeom>
        </p:spPr>
      </p:pic>
      <p:pic>
        <p:nvPicPr>
          <p:cNvPr id="50" name="Image 14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2625" y="1111504"/>
            <a:ext cx="44196" cy="393192"/>
          </a:xfrm>
          <a:prstGeom prst="rect">
            <a:avLst/>
          </a:prstGeom>
        </p:spPr>
      </p:pic>
      <p:pic>
        <p:nvPicPr>
          <p:cNvPr id="51" name="Image 15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23529" y="1111504"/>
            <a:ext cx="44196" cy="393192"/>
          </a:xfrm>
          <a:prstGeom prst="rect">
            <a:avLst/>
          </a:prstGeom>
        </p:spPr>
      </p:pic>
      <p:pic>
        <p:nvPicPr>
          <p:cNvPr id="52" name="Image 16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82025" y="1111504"/>
            <a:ext cx="44196" cy="393192"/>
          </a:xfrm>
          <a:prstGeom prst="rect">
            <a:avLst/>
          </a:prstGeom>
        </p:spPr>
      </p:pic>
      <p:pic>
        <p:nvPicPr>
          <p:cNvPr id="53" name="Image 17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02929" y="1111504"/>
            <a:ext cx="44196" cy="393192"/>
          </a:xfrm>
          <a:prstGeom prst="rect">
            <a:avLst/>
          </a:prstGeom>
        </p:spPr>
      </p:pic>
      <p:pic>
        <p:nvPicPr>
          <p:cNvPr id="54" name="Image 18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61425" y="1111504"/>
            <a:ext cx="44196" cy="393192"/>
          </a:xfrm>
          <a:prstGeom prst="rect">
            <a:avLst/>
          </a:prstGeom>
        </p:spPr>
      </p:pic>
      <p:sp>
        <p:nvSpPr>
          <p:cNvPr id="55" name="Text 34"/>
          <p:cNvSpPr/>
          <p:nvPr/>
        </p:nvSpPr>
        <p:spPr>
          <a:xfrm>
            <a:off x="808736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endParaRPr lang="en-US" sz="1200" dirty="0"/>
          </a:p>
        </p:txBody>
      </p:sp>
      <p:sp>
        <p:nvSpPr>
          <p:cNvPr id="56" name="Text 35"/>
          <p:cNvSpPr/>
          <p:nvPr/>
        </p:nvSpPr>
        <p:spPr>
          <a:xfrm>
            <a:off x="83731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endParaRPr lang="en-US" sz="1200" dirty="0"/>
          </a:p>
        </p:txBody>
      </p:sp>
      <p:sp>
        <p:nvSpPr>
          <p:cNvPr id="57" name="Text 36"/>
          <p:cNvSpPr/>
          <p:nvPr/>
        </p:nvSpPr>
        <p:spPr>
          <a:xfrm>
            <a:off x="86652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endParaRPr lang="en-US" sz="1200" dirty="0"/>
          </a:p>
        </p:txBody>
      </p:sp>
      <p:sp>
        <p:nvSpPr>
          <p:cNvPr id="58" name="Text 37"/>
          <p:cNvSpPr/>
          <p:nvPr/>
        </p:nvSpPr>
        <p:spPr>
          <a:xfrm>
            <a:off x="808736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59" name="Text 38"/>
          <p:cNvSpPr/>
          <p:nvPr/>
        </p:nvSpPr>
        <p:spPr>
          <a:xfrm>
            <a:off x="83731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0" name="Text 39"/>
          <p:cNvSpPr/>
          <p:nvPr/>
        </p:nvSpPr>
        <p:spPr>
          <a:xfrm>
            <a:off x="86652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40"/>
          <p:cNvSpPr/>
          <p:nvPr/>
        </p:nvSpPr>
        <p:spPr>
          <a:xfrm>
            <a:off x="808736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41"/>
          <p:cNvSpPr/>
          <p:nvPr/>
        </p:nvSpPr>
        <p:spPr>
          <a:xfrm>
            <a:off x="83731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3" name="Text 42"/>
          <p:cNvSpPr/>
          <p:nvPr/>
        </p:nvSpPr>
        <p:spPr>
          <a:xfrm>
            <a:off x="86652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43"/>
          <p:cNvSpPr/>
          <p:nvPr/>
        </p:nvSpPr>
        <p:spPr>
          <a:xfrm>
            <a:off x="3035300" y="13716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sp>
        <p:nvSpPr>
          <p:cNvPr id="65" name="Shape 44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66" name="Text 45"/>
          <p:cNvSpPr/>
          <p:nvPr/>
        </p:nvSpPr>
        <p:spPr>
          <a:xfrm>
            <a:off x="10160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67" name="Text 46"/>
          <p:cNvSpPr/>
          <p:nvPr/>
        </p:nvSpPr>
        <p:spPr>
          <a:xfrm>
            <a:off x="11277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68" name="Text 47"/>
          <p:cNvSpPr/>
          <p:nvPr/>
        </p:nvSpPr>
        <p:spPr>
          <a:xfrm>
            <a:off x="1407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69" name="Text 48"/>
          <p:cNvSpPr/>
          <p:nvPr/>
        </p:nvSpPr>
        <p:spPr>
          <a:xfrm>
            <a:off x="16929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70" name="Text 49"/>
          <p:cNvSpPr/>
          <p:nvPr/>
        </p:nvSpPr>
        <p:spPr>
          <a:xfrm>
            <a:off x="19786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71" name="Text 50"/>
          <p:cNvSpPr/>
          <p:nvPr/>
        </p:nvSpPr>
        <p:spPr>
          <a:xfrm>
            <a:off x="22644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72" name="Text 51"/>
          <p:cNvSpPr/>
          <p:nvPr/>
        </p:nvSpPr>
        <p:spPr>
          <a:xfrm>
            <a:off x="2550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73" name="Text 52"/>
          <p:cNvSpPr/>
          <p:nvPr/>
        </p:nvSpPr>
        <p:spPr>
          <a:xfrm>
            <a:off x="11277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4" name="Text 53"/>
          <p:cNvSpPr/>
          <p:nvPr/>
        </p:nvSpPr>
        <p:spPr>
          <a:xfrm>
            <a:off x="1407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54"/>
          <p:cNvSpPr/>
          <p:nvPr/>
        </p:nvSpPr>
        <p:spPr>
          <a:xfrm>
            <a:off x="16929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55"/>
          <p:cNvSpPr/>
          <p:nvPr/>
        </p:nvSpPr>
        <p:spPr>
          <a:xfrm>
            <a:off x="19786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7" name="Text 56"/>
          <p:cNvSpPr/>
          <p:nvPr/>
        </p:nvSpPr>
        <p:spPr>
          <a:xfrm>
            <a:off x="22644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8" name="Text 57"/>
          <p:cNvSpPr/>
          <p:nvPr/>
        </p:nvSpPr>
        <p:spPr>
          <a:xfrm>
            <a:off x="2550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Text 58"/>
          <p:cNvSpPr/>
          <p:nvPr/>
        </p:nvSpPr>
        <p:spPr>
          <a:xfrm>
            <a:off x="11277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Text 59"/>
          <p:cNvSpPr/>
          <p:nvPr/>
        </p:nvSpPr>
        <p:spPr>
          <a:xfrm>
            <a:off x="1407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1" name="Text 60"/>
          <p:cNvSpPr/>
          <p:nvPr/>
        </p:nvSpPr>
        <p:spPr>
          <a:xfrm>
            <a:off x="16929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61"/>
          <p:cNvSpPr/>
          <p:nvPr/>
        </p:nvSpPr>
        <p:spPr>
          <a:xfrm>
            <a:off x="19786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83" name="Text 62"/>
          <p:cNvSpPr/>
          <p:nvPr/>
        </p:nvSpPr>
        <p:spPr>
          <a:xfrm>
            <a:off x="22644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4" name="Text 63"/>
          <p:cNvSpPr/>
          <p:nvPr/>
        </p:nvSpPr>
        <p:spPr>
          <a:xfrm>
            <a:off x="2550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5" name="Text 64"/>
          <p:cNvSpPr/>
          <p:nvPr/>
        </p:nvSpPr>
        <p:spPr>
          <a:xfrm>
            <a:off x="11277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Text 65"/>
          <p:cNvSpPr/>
          <p:nvPr/>
        </p:nvSpPr>
        <p:spPr>
          <a:xfrm>
            <a:off x="1407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7" name="Text 66"/>
          <p:cNvSpPr/>
          <p:nvPr/>
        </p:nvSpPr>
        <p:spPr>
          <a:xfrm>
            <a:off x="16929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8" name="Text 67"/>
          <p:cNvSpPr/>
          <p:nvPr/>
        </p:nvSpPr>
        <p:spPr>
          <a:xfrm>
            <a:off x="19786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89" name="Text 68"/>
          <p:cNvSpPr/>
          <p:nvPr/>
        </p:nvSpPr>
        <p:spPr>
          <a:xfrm>
            <a:off x="22644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0" name="Text 69"/>
          <p:cNvSpPr/>
          <p:nvPr/>
        </p:nvSpPr>
        <p:spPr>
          <a:xfrm>
            <a:off x="2550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91" name="Image 19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71829" y="2279904"/>
            <a:ext cx="44196" cy="577596"/>
          </a:xfrm>
          <a:prstGeom prst="rect">
            <a:avLst/>
          </a:prstGeom>
        </p:spPr>
      </p:pic>
      <p:pic>
        <p:nvPicPr>
          <p:cNvPr id="92" name="Image 20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30325" y="2279904"/>
            <a:ext cx="44196" cy="577596"/>
          </a:xfrm>
          <a:prstGeom prst="rect">
            <a:avLst/>
          </a:prstGeom>
        </p:spPr>
      </p:pic>
      <p:pic>
        <p:nvPicPr>
          <p:cNvPr id="93" name="Image 21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51229" y="2279904"/>
            <a:ext cx="44196" cy="577596"/>
          </a:xfrm>
          <a:prstGeom prst="rect">
            <a:avLst/>
          </a:prstGeom>
        </p:spPr>
      </p:pic>
      <p:pic>
        <p:nvPicPr>
          <p:cNvPr id="94" name="Image 22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09725" y="2279904"/>
            <a:ext cx="44196" cy="577596"/>
          </a:xfrm>
          <a:prstGeom prst="rect">
            <a:avLst/>
          </a:prstGeom>
        </p:spPr>
      </p:pic>
      <p:pic>
        <p:nvPicPr>
          <p:cNvPr id="95" name="Image 23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30629" y="2279904"/>
            <a:ext cx="44196" cy="577596"/>
          </a:xfrm>
          <a:prstGeom prst="rect">
            <a:avLst/>
          </a:prstGeom>
        </p:spPr>
      </p:pic>
      <p:pic>
        <p:nvPicPr>
          <p:cNvPr id="96" name="Image 24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1825" y="2279904"/>
            <a:ext cx="44196" cy="577596"/>
          </a:xfrm>
          <a:prstGeom prst="rect">
            <a:avLst/>
          </a:prstGeom>
        </p:spPr>
      </p:pic>
      <p:pic>
        <p:nvPicPr>
          <p:cNvPr id="97" name="Image 25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22729" y="2279904"/>
            <a:ext cx="44196" cy="577596"/>
          </a:xfrm>
          <a:prstGeom prst="rect">
            <a:avLst/>
          </a:prstGeom>
        </p:spPr>
      </p:pic>
      <p:pic>
        <p:nvPicPr>
          <p:cNvPr id="98" name="Image 26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81225" y="2279904"/>
            <a:ext cx="44196" cy="577596"/>
          </a:xfrm>
          <a:prstGeom prst="rect">
            <a:avLst/>
          </a:prstGeom>
        </p:spPr>
      </p:pic>
      <p:pic>
        <p:nvPicPr>
          <p:cNvPr id="99" name="Image 27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02129" y="2279904"/>
            <a:ext cx="44196" cy="577596"/>
          </a:xfrm>
          <a:prstGeom prst="rect">
            <a:avLst/>
          </a:prstGeom>
        </p:spPr>
      </p:pic>
      <p:pic>
        <p:nvPicPr>
          <p:cNvPr id="100" name="Image 28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473325" y="2279904"/>
            <a:ext cx="44196" cy="577596"/>
          </a:xfrm>
          <a:prstGeom prst="rect">
            <a:avLst/>
          </a:prstGeom>
        </p:spPr>
      </p:pic>
      <p:pic>
        <p:nvPicPr>
          <p:cNvPr id="101" name="Image 29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94229" y="2279904"/>
            <a:ext cx="44196" cy="577596"/>
          </a:xfrm>
          <a:prstGeom prst="rect">
            <a:avLst/>
          </a:prstGeom>
        </p:spPr>
      </p:pic>
      <p:pic>
        <p:nvPicPr>
          <p:cNvPr id="102" name="Image 30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752725" y="2279904"/>
            <a:ext cx="44196" cy="577596"/>
          </a:xfrm>
          <a:prstGeom prst="rect">
            <a:avLst/>
          </a:prstGeom>
        </p:spPr>
      </p:pic>
      <p:sp>
        <p:nvSpPr>
          <p:cNvPr id="103" name="Text 70"/>
          <p:cNvSpPr/>
          <p:nvPr/>
        </p:nvSpPr>
        <p:spPr>
          <a:xfrm>
            <a:off x="11277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4" name="Text 71"/>
          <p:cNvSpPr/>
          <p:nvPr/>
        </p:nvSpPr>
        <p:spPr>
          <a:xfrm>
            <a:off x="1407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5" name="Text 72"/>
          <p:cNvSpPr/>
          <p:nvPr/>
        </p:nvSpPr>
        <p:spPr>
          <a:xfrm>
            <a:off x="16929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6" name="Text 73"/>
          <p:cNvSpPr/>
          <p:nvPr/>
        </p:nvSpPr>
        <p:spPr>
          <a:xfrm>
            <a:off x="19786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7" name="Text 74"/>
          <p:cNvSpPr/>
          <p:nvPr/>
        </p:nvSpPr>
        <p:spPr>
          <a:xfrm>
            <a:off x="22644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8" name="Text 75"/>
          <p:cNvSpPr/>
          <p:nvPr/>
        </p:nvSpPr>
        <p:spPr>
          <a:xfrm>
            <a:off x="2550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9" name="Shape 76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110" name="Text 77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111" name="Text 78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112" name="Text 79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13" name="Text 80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114" name="Text 81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115" name="Shape 82"/>
          <p:cNvSpPr/>
          <p:nvPr/>
        </p:nvSpPr>
        <p:spPr>
          <a:xfrm>
            <a:off x="3479800" y="1778000"/>
            <a:ext cx="7353300" cy="492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hape 83"/>
          <p:cNvSpPr/>
          <p:nvPr/>
        </p:nvSpPr>
        <p:spPr>
          <a:xfrm>
            <a:off x="3479800" y="1778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7" name="Shape 84"/>
          <p:cNvSpPr/>
          <p:nvPr/>
        </p:nvSpPr>
        <p:spPr>
          <a:xfrm>
            <a:off x="3479800" y="25019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8" name="Shape 85"/>
          <p:cNvSpPr/>
          <p:nvPr/>
        </p:nvSpPr>
        <p:spPr>
          <a:xfrm>
            <a:off x="3479800" y="26162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9" name="Shape 86"/>
          <p:cNvSpPr/>
          <p:nvPr/>
        </p:nvSpPr>
        <p:spPr>
          <a:xfrm>
            <a:off x="3479800" y="33401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0" name="Shape 87"/>
          <p:cNvSpPr/>
          <p:nvPr/>
        </p:nvSpPr>
        <p:spPr>
          <a:xfrm>
            <a:off x="3479800" y="34544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1" name="Shape 88"/>
          <p:cNvSpPr/>
          <p:nvPr/>
        </p:nvSpPr>
        <p:spPr>
          <a:xfrm>
            <a:off x="3479800" y="41783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2" name="Shape 89"/>
          <p:cNvSpPr/>
          <p:nvPr/>
        </p:nvSpPr>
        <p:spPr>
          <a:xfrm>
            <a:off x="3479800" y="4292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3" name="Shape 90"/>
          <p:cNvSpPr/>
          <p:nvPr/>
        </p:nvSpPr>
        <p:spPr>
          <a:xfrm>
            <a:off x="3479800" y="50165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4" name="Shape 91"/>
          <p:cNvSpPr/>
          <p:nvPr/>
        </p:nvSpPr>
        <p:spPr>
          <a:xfrm>
            <a:off x="3479800" y="51308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5" name="Shape 92"/>
          <p:cNvSpPr/>
          <p:nvPr/>
        </p:nvSpPr>
        <p:spPr>
          <a:xfrm>
            <a:off x="3479800" y="58547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6" name="Shape 93"/>
          <p:cNvSpPr/>
          <p:nvPr/>
        </p:nvSpPr>
        <p:spPr>
          <a:xfrm>
            <a:off x="3479800" y="5969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7" name="Shape 94"/>
          <p:cNvSpPr/>
          <p:nvPr/>
        </p:nvSpPr>
        <p:spPr>
          <a:xfrm>
            <a:off x="3479800" y="6705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8" name="Shape 95"/>
          <p:cNvSpPr/>
          <p:nvPr/>
        </p:nvSpPr>
        <p:spPr>
          <a:xfrm>
            <a:off x="3479800" y="1778000"/>
            <a:ext cx="0" cy="474980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9" name="Text 96"/>
          <p:cNvSpPr/>
          <p:nvPr/>
        </p:nvSpPr>
        <p:spPr>
          <a:xfrm>
            <a:off x="3594100" y="2057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30" name="Text 97"/>
          <p:cNvSpPr/>
          <p:nvPr/>
        </p:nvSpPr>
        <p:spPr>
          <a:xfrm>
            <a:off x="41656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1" name="Text 98"/>
          <p:cNvSpPr/>
          <p:nvPr/>
        </p:nvSpPr>
        <p:spPr>
          <a:xfrm>
            <a:off x="43942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2" name="Text 99"/>
          <p:cNvSpPr/>
          <p:nvPr/>
        </p:nvSpPr>
        <p:spPr>
          <a:xfrm>
            <a:off x="46228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133" name="Image 31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13554" y="1866900"/>
            <a:ext cx="316995" cy="579117"/>
          </a:xfrm>
          <a:prstGeom prst="rect">
            <a:avLst/>
          </a:prstGeom>
        </p:spPr>
      </p:pic>
      <p:sp>
        <p:nvSpPr>
          <p:cNvPr id="134" name="Text 100"/>
          <p:cNvSpPr/>
          <p:nvPr/>
        </p:nvSpPr>
        <p:spPr>
          <a:xfrm>
            <a:off x="5194300" y="2057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35" name="Text 101"/>
          <p:cNvSpPr/>
          <p:nvPr/>
        </p:nvSpPr>
        <p:spPr>
          <a:xfrm>
            <a:off x="5321300" y="2057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6" name="Text 102"/>
          <p:cNvSpPr/>
          <p:nvPr/>
        </p:nvSpPr>
        <p:spPr>
          <a:xfrm>
            <a:off x="6299200" y="2057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37" name="Text 103"/>
          <p:cNvSpPr/>
          <p:nvPr/>
        </p:nvSpPr>
        <p:spPr>
          <a:xfrm>
            <a:off x="6553200" y="2057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38" name="Text 104"/>
          <p:cNvSpPr/>
          <p:nvPr/>
        </p:nvSpPr>
        <p:spPr>
          <a:xfrm>
            <a:off x="8826500" y="2057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39" name="Image 32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169654" y="1879600"/>
            <a:ext cx="316995" cy="579117"/>
          </a:xfrm>
          <a:prstGeom prst="rect">
            <a:avLst/>
          </a:prstGeom>
        </p:spPr>
      </p:pic>
      <p:sp>
        <p:nvSpPr>
          <p:cNvPr id="140" name="Text 105"/>
          <p:cNvSpPr/>
          <p:nvPr/>
        </p:nvSpPr>
        <p:spPr>
          <a:xfrm>
            <a:off x="3594100" y="28956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41" name="Text 106"/>
          <p:cNvSpPr/>
          <p:nvPr/>
        </p:nvSpPr>
        <p:spPr>
          <a:xfrm>
            <a:off x="41656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2" name="Text 107"/>
          <p:cNvSpPr/>
          <p:nvPr/>
        </p:nvSpPr>
        <p:spPr>
          <a:xfrm>
            <a:off x="43942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3" name="Text 108"/>
          <p:cNvSpPr/>
          <p:nvPr/>
        </p:nvSpPr>
        <p:spPr>
          <a:xfrm>
            <a:off x="46228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144" name="Image 33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13554" y="2705100"/>
            <a:ext cx="316995" cy="579117"/>
          </a:xfrm>
          <a:prstGeom prst="rect">
            <a:avLst/>
          </a:prstGeom>
        </p:spPr>
      </p:pic>
      <p:sp>
        <p:nvSpPr>
          <p:cNvPr id="145" name="Text 109"/>
          <p:cNvSpPr/>
          <p:nvPr/>
        </p:nvSpPr>
        <p:spPr>
          <a:xfrm>
            <a:off x="5194300" y="28956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6" name="Text 110"/>
          <p:cNvSpPr/>
          <p:nvPr/>
        </p:nvSpPr>
        <p:spPr>
          <a:xfrm>
            <a:off x="5321300" y="2895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7" name="Text 111"/>
          <p:cNvSpPr/>
          <p:nvPr/>
        </p:nvSpPr>
        <p:spPr>
          <a:xfrm>
            <a:off x="6299200" y="2895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48" name="Text 112"/>
          <p:cNvSpPr/>
          <p:nvPr/>
        </p:nvSpPr>
        <p:spPr>
          <a:xfrm>
            <a:off x="6553200" y="28956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49" name="Text 113"/>
          <p:cNvSpPr/>
          <p:nvPr/>
        </p:nvSpPr>
        <p:spPr>
          <a:xfrm>
            <a:off x="8826500" y="28956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50" name="Image 34" descr="/home/ahmed/Projects/ai_llm_slides/videos/machine-learning/03_ridger_regression_gradient_descent/recreated_pptx/build/assets/slide_049_wcol_paren_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169654" y="2717800"/>
            <a:ext cx="316995" cy="579117"/>
          </a:xfrm>
          <a:prstGeom prst="rect">
            <a:avLst/>
          </a:prstGeom>
        </p:spPr>
      </p:pic>
      <p:sp>
        <p:nvSpPr>
          <p:cNvPr id="151" name="Text 114"/>
          <p:cNvSpPr/>
          <p:nvPr/>
        </p:nvSpPr>
        <p:spPr>
          <a:xfrm>
            <a:off x="3594100" y="37338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52" name="Text 115"/>
          <p:cNvSpPr/>
          <p:nvPr/>
        </p:nvSpPr>
        <p:spPr>
          <a:xfrm>
            <a:off x="41656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3" name="Text 116"/>
          <p:cNvSpPr/>
          <p:nvPr/>
        </p:nvSpPr>
        <p:spPr>
          <a:xfrm>
            <a:off x="43942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4" name="Text 117"/>
          <p:cNvSpPr/>
          <p:nvPr/>
        </p:nvSpPr>
        <p:spPr>
          <a:xfrm>
            <a:off x="46228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155" name="Image 35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13554" y="3543300"/>
            <a:ext cx="316995" cy="579117"/>
          </a:xfrm>
          <a:prstGeom prst="rect">
            <a:avLst/>
          </a:prstGeom>
        </p:spPr>
      </p:pic>
      <p:sp>
        <p:nvSpPr>
          <p:cNvPr id="156" name="Text 118"/>
          <p:cNvSpPr/>
          <p:nvPr/>
        </p:nvSpPr>
        <p:spPr>
          <a:xfrm>
            <a:off x="5194300" y="37338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57" name="Text 119"/>
          <p:cNvSpPr/>
          <p:nvPr/>
        </p:nvSpPr>
        <p:spPr>
          <a:xfrm>
            <a:off x="5321300" y="3733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8" name="Text 120"/>
          <p:cNvSpPr/>
          <p:nvPr/>
        </p:nvSpPr>
        <p:spPr>
          <a:xfrm>
            <a:off x="6299200" y="37338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59" name="Text 121"/>
          <p:cNvSpPr/>
          <p:nvPr/>
        </p:nvSpPr>
        <p:spPr>
          <a:xfrm>
            <a:off x="6553200" y="37338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60" name="Text 122"/>
          <p:cNvSpPr/>
          <p:nvPr/>
        </p:nvSpPr>
        <p:spPr>
          <a:xfrm>
            <a:off x="8826500" y="37338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61" name="Image 36" descr="/home/ahmed/Projects/ai_llm_slides/videos/machine-learning/03_ridger_regression_gradient_descent/recreated_pptx/build/assets/slide_049_wcol_paren_3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169654" y="3556000"/>
            <a:ext cx="316995" cy="579117"/>
          </a:xfrm>
          <a:prstGeom prst="rect">
            <a:avLst/>
          </a:prstGeom>
        </p:spPr>
      </p:pic>
      <p:sp>
        <p:nvSpPr>
          <p:cNvPr id="162" name="Text 123"/>
          <p:cNvSpPr/>
          <p:nvPr/>
        </p:nvSpPr>
        <p:spPr>
          <a:xfrm>
            <a:off x="3594100" y="45720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63" name="Text 124"/>
          <p:cNvSpPr/>
          <p:nvPr/>
        </p:nvSpPr>
        <p:spPr>
          <a:xfrm>
            <a:off x="41656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4" name="Text 125"/>
          <p:cNvSpPr/>
          <p:nvPr/>
        </p:nvSpPr>
        <p:spPr>
          <a:xfrm>
            <a:off x="43942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5" name="Text 126"/>
          <p:cNvSpPr/>
          <p:nvPr/>
        </p:nvSpPr>
        <p:spPr>
          <a:xfrm>
            <a:off x="46228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pic>
        <p:nvPicPr>
          <p:cNvPr id="166" name="Image 37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13554" y="4381500"/>
            <a:ext cx="316995" cy="579117"/>
          </a:xfrm>
          <a:prstGeom prst="rect">
            <a:avLst/>
          </a:prstGeom>
        </p:spPr>
      </p:pic>
      <p:sp>
        <p:nvSpPr>
          <p:cNvPr id="167" name="Text 127"/>
          <p:cNvSpPr/>
          <p:nvPr/>
        </p:nvSpPr>
        <p:spPr>
          <a:xfrm>
            <a:off x="5219700" y="45720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68" name="Text 128"/>
          <p:cNvSpPr/>
          <p:nvPr/>
        </p:nvSpPr>
        <p:spPr>
          <a:xfrm>
            <a:off x="5334000" y="45720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169" name="Text 129"/>
          <p:cNvSpPr/>
          <p:nvPr/>
        </p:nvSpPr>
        <p:spPr>
          <a:xfrm>
            <a:off x="6457950" y="45720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70" name="Text 130"/>
          <p:cNvSpPr/>
          <p:nvPr/>
        </p:nvSpPr>
        <p:spPr>
          <a:xfrm>
            <a:off x="6705600" y="45720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71" name="Text 131"/>
          <p:cNvSpPr/>
          <p:nvPr/>
        </p:nvSpPr>
        <p:spPr>
          <a:xfrm>
            <a:off x="8991600" y="457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72" name="Image 38" descr="/home/ahmed/Projects/ai_llm_slides/videos/machine-learning/03_ridger_regression_gradient_descent/recreated_pptx/build/assets/slide_049_wcol_paren_4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309354" y="4394200"/>
            <a:ext cx="316995" cy="579117"/>
          </a:xfrm>
          <a:prstGeom prst="rect">
            <a:avLst/>
          </a:prstGeom>
        </p:spPr>
      </p:pic>
      <p:sp>
        <p:nvSpPr>
          <p:cNvPr id="173" name="Text 132"/>
          <p:cNvSpPr/>
          <p:nvPr/>
        </p:nvSpPr>
        <p:spPr>
          <a:xfrm>
            <a:off x="3594100" y="54102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74" name="Text 133"/>
          <p:cNvSpPr/>
          <p:nvPr/>
        </p:nvSpPr>
        <p:spPr>
          <a:xfrm>
            <a:off x="41656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5" name="Text 134"/>
          <p:cNvSpPr/>
          <p:nvPr/>
        </p:nvSpPr>
        <p:spPr>
          <a:xfrm>
            <a:off x="43942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76" name="Text 135"/>
          <p:cNvSpPr/>
          <p:nvPr/>
        </p:nvSpPr>
        <p:spPr>
          <a:xfrm>
            <a:off x="46228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pic>
        <p:nvPicPr>
          <p:cNvPr id="177" name="Image 39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813554" y="5219700"/>
            <a:ext cx="316995" cy="579117"/>
          </a:xfrm>
          <a:prstGeom prst="rect">
            <a:avLst/>
          </a:prstGeom>
        </p:spPr>
      </p:pic>
      <p:sp>
        <p:nvSpPr>
          <p:cNvPr id="178" name="Text 136"/>
          <p:cNvSpPr/>
          <p:nvPr/>
        </p:nvSpPr>
        <p:spPr>
          <a:xfrm>
            <a:off x="5219700" y="54102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79" name="Text 137"/>
          <p:cNvSpPr/>
          <p:nvPr/>
        </p:nvSpPr>
        <p:spPr>
          <a:xfrm>
            <a:off x="5334000" y="54102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180" name="Text 138"/>
          <p:cNvSpPr/>
          <p:nvPr/>
        </p:nvSpPr>
        <p:spPr>
          <a:xfrm>
            <a:off x="6457950" y="54102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81" name="Text 139"/>
          <p:cNvSpPr/>
          <p:nvPr/>
        </p:nvSpPr>
        <p:spPr>
          <a:xfrm>
            <a:off x="6705600" y="5410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82" name="Text 140"/>
          <p:cNvSpPr/>
          <p:nvPr/>
        </p:nvSpPr>
        <p:spPr>
          <a:xfrm>
            <a:off x="8991600" y="54102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83" name="Image 40" descr="/home/ahmed/Projects/ai_llm_slides/videos/machine-learning/03_ridger_regression_gradient_descent/recreated_pptx/build/assets/slide_049_wcol_paren_5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309354" y="5232400"/>
            <a:ext cx="316995" cy="579117"/>
          </a:xfrm>
          <a:prstGeom prst="rect">
            <a:avLst/>
          </a:prstGeom>
        </p:spPr>
      </p:pic>
      <p:sp>
        <p:nvSpPr>
          <p:cNvPr id="184" name="Text 141"/>
          <p:cNvSpPr/>
          <p:nvPr/>
        </p:nvSpPr>
        <p:spPr>
          <a:xfrm>
            <a:off x="3594100" y="6248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85" name="Text 142"/>
          <p:cNvSpPr/>
          <p:nvPr/>
        </p:nvSpPr>
        <p:spPr>
          <a:xfrm>
            <a:off x="41656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6" name="Text 143"/>
          <p:cNvSpPr/>
          <p:nvPr/>
        </p:nvSpPr>
        <p:spPr>
          <a:xfrm>
            <a:off x="43942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7" name="Text 144"/>
          <p:cNvSpPr/>
          <p:nvPr/>
        </p:nvSpPr>
        <p:spPr>
          <a:xfrm>
            <a:off x="46228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pic>
        <p:nvPicPr>
          <p:cNvPr id="188" name="Image 41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13554" y="6057900"/>
            <a:ext cx="316995" cy="579117"/>
          </a:xfrm>
          <a:prstGeom prst="rect">
            <a:avLst/>
          </a:prstGeom>
        </p:spPr>
      </p:pic>
      <p:sp>
        <p:nvSpPr>
          <p:cNvPr id="189" name="Text 145"/>
          <p:cNvSpPr/>
          <p:nvPr/>
        </p:nvSpPr>
        <p:spPr>
          <a:xfrm>
            <a:off x="5219700" y="6248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90" name="Text 146"/>
          <p:cNvSpPr/>
          <p:nvPr/>
        </p:nvSpPr>
        <p:spPr>
          <a:xfrm>
            <a:off x="5334000" y="62484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191" name="Text 147"/>
          <p:cNvSpPr/>
          <p:nvPr/>
        </p:nvSpPr>
        <p:spPr>
          <a:xfrm>
            <a:off x="6457950" y="6248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92" name="Text 148"/>
          <p:cNvSpPr/>
          <p:nvPr/>
        </p:nvSpPr>
        <p:spPr>
          <a:xfrm>
            <a:off x="6705600" y="6248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93" name="Text 149"/>
          <p:cNvSpPr/>
          <p:nvPr/>
        </p:nvSpPr>
        <p:spPr>
          <a:xfrm>
            <a:off x="8991600" y="6248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94" name="Image 42" descr="/home/ahmed/Projects/ai_llm_slides/videos/machine-learning/03_ridger_regression_gradient_descent/recreated_pptx/build/assets/slide_049_wcol_paren_6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309354" y="6070600"/>
            <a:ext cx="316995" cy="57911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Ridge Regression &amp; Gradient Descent — continuous final deck</dc:title>
  <dc:subject>PptxGenJS Presentation</dc:subject>
  <dc:creator>ai_llm_slides pipeline</dc:creator>
  <cp:lastModifiedBy>ai_llm_slides pipeline</cp:lastModifiedBy>
  <cp:revision>1</cp:revision>
  <dcterms:created xsi:type="dcterms:W3CDTF">2026-10-25T11:59:25Z</dcterms:created>
  <dcterms:modified xsi:type="dcterms:W3CDTF">2026-10-25T11:59:25Z</dcterms:modified>
</cp:coreProperties>
</file>