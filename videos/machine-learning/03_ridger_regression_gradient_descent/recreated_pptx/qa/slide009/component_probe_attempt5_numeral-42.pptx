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44600" y="1409700"/>
            <a:ext cx="4635500" cy="45593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13081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0" name="Shape 8"/>
          <p:cNvSpPr/>
          <p:nvPr/>
        </p:nvSpPr>
        <p:spPr>
          <a:xfrm>
            <a:off x="16002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1" name="Shape 9"/>
          <p:cNvSpPr/>
          <p:nvPr/>
        </p:nvSpPr>
        <p:spPr>
          <a:xfrm>
            <a:off x="18923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2" name="Shape 10"/>
          <p:cNvSpPr/>
          <p:nvPr/>
        </p:nvSpPr>
        <p:spPr>
          <a:xfrm>
            <a:off x="21844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3" name="Shape 11"/>
          <p:cNvSpPr/>
          <p:nvPr/>
        </p:nvSpPr>
        <p:spPr>
          <a:xfrm>
            <a:off x="24765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4" name="Shape 12"/>
          <p:cNvSpPr/>
          <p:nvPr/>
        </p:nvSpPr>
        <p:spPr>
          <a:xfrm>
            <a:off x="27686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5" name="Shape 13"/>
          <p:cNvSpPr/>
          <p:nvPr/>
        </p:nvSpPr>
        <p:spPr>
          <a:xfrm>
            <a:off x="30607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6" name="Shape 14"/>
          <p:cNvSpPr/>
          <p:nvPr/>
        </p:nvSpPr>
        <p:spPr>
          <a:xfrm>
            <a:off x="33528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7" name="Shape 15"/>
          <p:cNvSpPr/>
          <p:nvPr/>
        </p:nvSpPr>
        <p:spPr>
          <a:xfrm>
            <a:off x="36449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8" name="Shape 16"/>
          <p:cNvSpPr/>
          <p:nvPr/>
        </p:nvSpPr>
        <p:spPr>
          <a:xfrm>
            <a:off x="39370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9" name="Shape 17"/>
          <p:cNvSpPr/>
          <p:nvPr/>
        </p:nvSpPr>
        <p:spPr>
          <a:xfrm>
            <a:off x="42291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0" name="Shape 18"/>
          <p:cNvSpPr/>
          <p:nvPr/>
        </p:nvSpPr>
        <p:spPr>
          <a:xfrm>
            <a:off x="45212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1" name="Shape 19"/>
          <p:cNvSpPr/>
          <p:nvPr/>
        </p:nvSpPr>
        <p:spPr>
          <a:xfrm>
            <a:off x="48133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2" name="Shape 20"/>
          <p:cNvSpPr/>
          <p:nvPr/>
        </p:nvSpPr>
        <p:spPr>
          <a:xfrm>
            <a:off x="51054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3" name="Shape 21"/>
          <p:cNvSpPr/>
          <p:nvPr/>
        </p:nvSpPr>
        <p:spPr>
          <a:xfrm>
            <a:off x="53975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4" name="Shape 22"/>
          <p:cNvSpPr/>
          <p:nvPr/>
        </p:nvSpPr>
        <p:spPr>
          <a:xfrm>
            <a:off x="56896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5" name="Shape 23"/>
          <p:cNvSpPr/>
          <p:nvPr/>
        </p:nvSpPr>
        <p:spPr>
          <a:xfrm>
            <a:off x="1314450" y="15240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6" name="Shape 24"/>
          <p:cNvSpPr/>
          <p:nvPr/>
        </p:nvSpPr>
        <p:spPr>
          <a:xfrm>
            <a:off x="1314450" y="18084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7" name="Shape 25"/>
          <p:cNvSpPr/>
          <p:nvPr/>
        </p:nvSpPr>
        <p:spPr>
          <a:xfrm>
            <a:off x="1314450" y="20929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8" name="Shape 26"/>
          <p:cNvSpPr/>
          <p:nvPr/>
        </p:nvSpPr>
        <p:spPr>
          <a:xfrm>
            <a:off x="1314450" y="23774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9" name="Shape 27"/>
          <p:cNvSpPr/>
          <p:nvPr/>
        </p:nvSpPr>
        <p:spPr>
          <a:xfrm>
            <a:off x="1314450" y="26619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0" name="Shape 28"/>
          <p:cNvSpPr/>
          <p:nvPr/>
        </p:nvSpPr>
        <p:spPr>
          <a:xfrm>
            <a:off x="1314450" y="29464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1" name="Shape 29"/>
          <p:cNvSpPr/>
          <p:nvPr/>
        </p:nvSpPr>
        <p:spPr>
          <a:xfrm>
            <a:off x="1314450" y="32308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2" name="Shape 30"/>
          <p:cNvSpPr/>
          <p:nvPr/>
        </p:nvSpPr>
        <p:spPr>
          <a:xfrm>
            <a:off x="1314450" y="35153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3" name="Shape 31"/>
          <p:cNvSpPr/>
          <p:nvPr/>
        </p:nvSpPr>
        <p:spPr>
          <a:xfrm>
            <a:off x="1314450" y="37998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4" name="Shape 32"/>
          <p:cNvSpPr/>
          <p:nvPr/>
        </p:nvSpPr>
        <p:spPr>
          <a:xfrm>
            <a:off x="1314450" y="40843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5" name="Shape 33"/>
          <p:cNvSpPr/>
          <p:nvPr/>
        </p:nvSpPr>
        <p:spPr>
          <a:xfrm>
            <a:off x="1314450" y="43688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6" name="Shape 34"/>
          <p:cNvSpPr/>
          <p:nvPr/>
        </p:nvSpPr>
        <p:spPr>
          <a:xfrm>
            <a:off x="1314450" y="46532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7" name="Shape 35"/>
          <p:cNvSpPr/>
          <p:nvPr/>
        </p:nvSpPr>
        <p:spPr>
          <a:xfrm>
            <a:off x="1314450" y="49377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8" name="Shape 36"/>
          <p:cNvSpPr/>
          <p:nvPr/>
        </p:nvSpPr>
        <p:spPr>
          <a:xfrm>
            <a:off x="1314450" y="52222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9" name="Shape 37"/>
          <p:cNvSpPr/>
          <p:nvPr/>
        </p:nvSpPr>
        <p:spPr>
          <a:xfrm>
            <a:off x="1314450" y="55067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40" name="Shape 38"/>
          <p:cNvSpPr/>
          <p:nvPr/>
        </p:nvSpPr>
        <p:spPr>
          <a:xfrm>
            <a:off x="1314450" y="57912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41" name="Shape 39"/>
          <p:cNvSpPr/>
          <p:nvPr/>
        </p:nvSpPr>
        <p:spPr>
          <a:xfrm>
            <a:off x="2508250" y="1841500"/>
            <a:ext cx="913521" cy="1778321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2244769" y="4224445"/>
            <a:ext cx="149181" cy="290405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1995143" y="4352678"/>
            <a:ext cx="246407" cy="479672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2931913" y="3871460"/>
            <a:ext cx="147837" cy="287790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3081813" y="3794457"/>
            <a:ext cx="226537" cy="440993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3418433" y="3621536"/>
            <a:ext cx="315367" cy="613914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3944424" y="3351335"/>
            <a:ext cx="170376" cy="331665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3772845" y="3439475"/>
            <a:ext cx="399105" cy="776925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4462844" y="3085023"/>
            <a:ext cx="382206" cy="744027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4894615" y="2863223"/>
            <a:ext cx="153635" cy="299077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5104805" y="2755249"/>
            <a:ext cx="248245" cy="483251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2663394" y="4009398"/>
            <a:ext cx="302056" cy="588002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1206500" y="1358900"/>
            <a:ext cx="4711700" cy="4660900"/>
          </a:xfrm>
          <a:prstGeom prst="rect">
            <a:avLst/>
          </a:prstGeom>
          <a:noFill/>
          <a:ln w="12700">
            <a:solidFill>
              <a:srgbClr val="00008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216650" y="1409700"/>
            <a:ext cx="4800600" cy="45593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5" name="Shape 53"/>
          <p:cNvSpPr/>
          <p:nvPr/>
        </p:nvSpPr>
        <p:spPr>
          <a:xfrm>
            <a:off x="65659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6" name="Shape 54"/>
          <p:cNvSpPr/>
          <p:nvPr/>
        </p:nvSpPr>
        <p:spPr>
          <a:xfrm>
            <a:off x="68580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7" name="Shape 55"/>
          <p:cNvSpPr/>
          <p:nvPr/>
        </p:nvSpPr>
        <p:spPr>
          <a:xfrm>
            <a:off x="71501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8" name="Shape 56"/>
          <p:cNvSpPr/>
          <p:nvPr/>
        </p:nvSpPr>
        <p:spPr>
          <a:xfrm>
            <a:off x="74422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9" name="Shape 57"/>
          <p:cNvSpPr/>
          <p:nvPr/>
        </p:nvSpPr>
        <p:spPr>
          <a:xfrm>
            <a:off x="77343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0" name="Shape 58"/>
          <p:cNvSpPr/>
          <p:nvPr/>
        </p:nvSpPr>
        <p:spPr>
          <a:xfrm>
            <a:off x="80264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1" name="Shape 59"/>
          <p:cNvSpPr/>
          <p:nvPr/>
        </p:nvSpPr>
        <p:spPr>
          <a:xfrm>
            <a:off x="83185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2" name="Shape 60"/>
          <p:cNvSpPr/>
          <p:nvPr/>
        </p:nvSpPr>
        <p:spPr>
          <a:xfrm>
            <a:off x="86106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3" name="Shape 61"/>
          <p:cNvSpPr/>
          <p:nvPr/>
        </p:nvSpPr>
        <p:spPr>
          <a:xfrm>
            <a:off x="89027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4" name="Shape 62"/>
          <p:cNvSpPr/>
          <p:nvPr/>
        </p:nvSpPr>
        <p:spPr>
          <a:xfrm>
            <a:off x="91948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5" name="Shape 63"/>
          <p:cNvSpPr/>
          <p:nvPr/>
        </p:nvSpPr>
        <p:spPr>
          <a:xfrm>
            <a:off x="94869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6" name="Shape 64"/>
          <p:cNvSpPr/>
          <p:nvPr/>
        </p:nvSpPr>
        <p:spPr>
          <a:xfrm>
            <a:off x="97790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7" name="Shape 65"/>
          <p:cNvSpPr/>
          <p:nvPr/>
        </p:nvSpPr>
        <p:spPr>
          <a:xfrm>
            <a:off x="100711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8" name="Shape 66"/>
          <p:cNvSpPr/>
          <p:nvPr/>
        </p:nvSpPr>
        <p:spPr>
          <a:xfrm>
            <a:off x="103632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9" name="Shape 67"/>
          <p:cNvSpPr/>
          <p:nvPr/>
        </p:nvSpPr>
        <p:spPr>
          <a:xfrm>
            <a:off x="106553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0" name="Shape 68"/>
          <p:cNvSpPr/>
          <p:nvPr/>
        </p:nvSpPr>
        <p:spPr>
          <a:xfrm>
            <a:off x="109474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1" name="Shape 69"/>
          <p:cNvSpPr/>
          <p:nvPr/>
        </p:nvSpPr>
        <p:spPr>
          <a:xfrm>
            <a:off x="6572250" y="15240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2" name="Shape 70"/>
          <p:cNvSpPr/>
          <p:nvPr/>
        </p:nvSpPr>
        <p:spPr>
          <a:xfrm>
            <a:off x="6572250" y="18084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3" name="Shape 71"/>
          <p:cNvSpPr/>
          <p:nvPr/>
        </p:nvSpPr>
        <p:spPr>
          <a:xfrm>
            <a:off x="6572250" y="20929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4" name="Shape 72"/>
          <p:cNvSpPr/>
          <p:nvPr/>
        </p:nvSpPr>
        <p:spPr>
          <a:xfrm>
            <a:off x="6572250" y="23774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5" name="Shape 73"/>
          <p:cNvSpPr/>
          <p:nvPr/>
        </p:nvSpPr>
        <p:spPr>
          <a:xfrm>
            <a:off x="6572250" y="26619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6" name="Shape 74"/>
          <p:cNvSpPr/>
          <p:nvPr/>
        </p:nvSpPr>
        <p:spPr>
          <a:xfrm>
            <a:off x="6572250" y="29464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7" name="Shape 75"/>
          <p:cNvSpPr/>
          <p:nvPr/>
        </p:nvSpPr>
        <p:spPr>
          <a:xfrm>
            <a:off x="6572250" y="32308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8" name="Shape 76"/>
          <p:cNvSpPr/>
          <p:nvPr/>
        </p:nvSpPr>
        <p:spPr>
          <a:xfrm>
            <a:off x="6572250" y="35153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9" name="Shape 77"/>
          <p:cNvSpPr/>
          <p:nvPr/>
        </p:nvSpPr>
        <p:spPr>
          <a:xfrm>
            <a:off x="6572250" y="37998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0" name="Shape 78"/>
          <p:cNvSpPr/>
          <p:nvPr/>
        </p:nvSpPr>
        <p:spPr>
          <a:xfrm>
            <a:off x="6572250" y="40843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1" name="Shape 79"/>
          <p:cNvSpPr/>
          <p:nvPr/>
        </p:nvSpPr>
        <p:spPr>
          <a:xfrm>
            <a:off x="6572250" y="43688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2" name="Shape 80"/>
          <p:cNvSpPr/>
          <p:nvPr/>
        </p:nvSpPr>
        <p:spPr>
          <a:xfrm>
            <a:off x="6572250" y="46532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3" name="Shape 81"/>
          <p:cNvSpPr/>
          <p:nvPr/>
        </p:nvSpPr>
        <p:spPr>
          <a:xfrm>
            <a:off x="6572250" y="49377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4" name="Shape 82"/>
          <p:cNvSpPr/>
          <p:nvPr/>
        </p:nvSpPr>
        <p:spPr>
          <a:xfrm>
            <a:off x="6572250" y="52222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5" name="Shape 83"/>
          <p:cNvSpPr/>
          <p:nvPr/>
        </p:nvSpPr>
        <p:spPr>
          <a:xfrm>
            <a:off x="6572250" y="55067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6" name="Shape 84"/>
          <p:cNvSpPr/>
          <p:nvPr/>
        </p:nvSpPr>
        <p:spPr>
          <a:xfrm>
            <a:off x="6572250" y="57912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7" name="Shape 85"/>
          <p:cNvSpPr/>
          <p:nvPr/>
        </p:nvSpPr>
        <p:spPr>
          <a:xfrm>
            <a:off x="7759700" y="1841500"/>
            <a:ext cx="1061542" cy="2229237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88" name="Shape 86"/>
          <p:cNvSpPr/>
          <p:nvPr/>
        </p:nvSpPr>
        <p:spPr>
          <a:xfrm>
            <a:off x="8331200" y="4152900"/>
            <a:ext cx="58688" cy="123244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89" name="Shape 87"/>
          <p:cNvSpPr/>
          <p:nvPr/>
        </p:nvSpPr>
        <p:spPr>
          <a:xfrm>
            <a:off x="8890998" y="4037520"/>
            <a:ext cx="94252" cy="197930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90" name="Shape 88"/>
          <p:cNvSpPr/>
          <p:nvPr/>
        </p:nvSpPr>
        <p:spPr>
          <a:xfrm>
            <a:off x="9366250" y="3683000"/>
            <a:ext cx="49767" cy="104511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91" name="Shape 89"/>
          <p:cNvSpPr/>
          <p:nvPr/>
        </p:nvSpPr>
        <p:spPr>
          <a:xfrm>
            <a:off x="9250377" y="3866387"/>
            <a:ext cx="166673" cy="350013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92" name="Shape 90"/>
          <p:cNvSpPr/>
          <p:nvPr/>
        </p:nvSpPr>
        <p:spPr>
          <a:xfrm>
            <a:off x="9941776" y="3537150"/>
            <a:ext cx="142024" cy="298250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93" name="Shape 91"/>
          <p:cNvSpPr/>
          <p:nvPr/>
        </p:nvSpPr>
        <p:spPr>
          <a:xfrm>
            <a:off x="10287000" y="3162300"/>
            <a:ext cx="81693" cy="171556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94" name="Shape 92"/>
          <p:cNvSpPr/>
          <p:nvPr/>
        </p:nvSpPr>
        <p:spPr>
          <a:xfrm>
            <a:off x="8124174" y="4402674"/>
            <a:ext cx="92726" cy="194726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95" name="Shape 93"/>
          <p:cNvSpPr/>
          <p:nvPr/>
        </p:nvSpPr>
        <p:spPr>
          <a:xfrm>
            <a:off x="6178550" y="1358900"/>
            <a:ext cx="4889500" cy="4660900"/>
          </a:xfrm>
          <a:prstGeom prst="rect">
            <a:avLst/>
          </a:prstGeom>
          <a:noFill/>
          <a:ln w="12700">
            <a:solidFill>
              <a:srgbClr val="00008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flipV="1">
            <a:off x="1790700" y="2552700"/>
            <a:ext cx="3708400" cy="190500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flipV="1">
            <a:off x="7048500" y="3136900"/>
            <a:ext cx="3733800" cy="177800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460625" y="17938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99" name="Shape 97"/>
          <p:cNvSpPr/>
          <p:nvPr/>
        </p:nvSpPr>
        <p:spPr>
          <a:xfrm>
            <a:off x="2346325" y="44672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00" name="Shape 98"/>
          <p:cNvSpPr/>
          <p:nvPr/>
        </p:nvSpPr>
        <p:spPr>
          <a:xfrm>
            <a:off x="2193925" y="47847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01" name="Shape 99"/>
          <p:cNvSpPr/>
          <p:nvPr/>
        </p:nvSpPr>
        <p:spPr>
          <a:xfrm>
            <a:off x="3032125" y="41116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02" name="Shape 100"/>
          <p:cNvSpPr/>
          <p:nvPr/>
        </p:nvSpPr>
        <p:spPr>
          <a:xfrm>
            <a:off x="3260725" y="41878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3686175" y="41878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04" name="Shape 102"/>
          <p:cNvSpPr/>
          <p:nvPr/>
        </p:nvSpPr>
        <p:spPr>
          <a:xfrm>
            <a:off x="4067175" y="36353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05" name="Shape 103"/>
          <p:cNvSpPr/>
          <p:nvPr/>
        </p:nvSpPr>
        <p:spPr>
          <a:xfrm>
            <a:off x="4124325" y="41687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06" name="Shape 104"/>
          <p:cNvSpPr/>
          <p:nvPr/>
        </p:nvSpPr>
        <p:spPr>
          <a:xfrm>
            <a:off x="4797425" y="37814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000625" y="31146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05425" y="31908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09" name="Shape 107"/>
          <p:cNvSpPr/>
          <p:nvPr/>
        </p:nvSpPr>
        <p:spPr>
          <a:xfrm>
            <a:off x="2917825" y="45497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10" name="Shape 108"/>
          <p:cNvSpPr/>
          <p:nvPr/>
        </p:nvSpPr>
        <p:spPr>
          <a:xfrm>
            <a:off x="7712075" y="17938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11" name="Shape 109"/>
          <p:cNvSpPr/>
          <p:nvPr/>
        </p:nvSpPr>
        <p:spPr>
          <a:xfrm>
            <a:off x="7591425" y="44672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12" name="Shape 110"/>
          <p:cNvSpPr/>
          <p:nvPr/>
        </p:nvSpPr>
        <p:spPr>
          <a:xfrm>
            <a:off x="7439025" y="47847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13" name="Shape 111"/>
          <p:cNvSpPr/>
          <p:nvPr/>
        </p:nvSpPr>
        <p:spPr>
          <a:xfrm>
            <a:off x="8283575" y="41052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14" name="Shape 112"/>
          <p:cNvSpPr/>
          <p:nvPr/>
        </p:nvSpPr>
        <p:spPr>
          <a:xfrm>
            <a:off x="8512175" y="41878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8937625" y="41878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16" name="Shape 114"/>
          <p:cNvSpPr/>
          <p:nvPr/>
        </p:nvSpPr>
        <p:spPr>
          <a:xfrm>
            <a:off x="9318625" y="36353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17" name="Shape 115"/>
          <p:cNvSpPr/>
          <p:nvPr/>
        </p:nvSpPr>
        <p:spPr>
          <a:xfrm>
            <a:off x="9369425" y="41687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18" name="Shape 116"/>
          <p:cNvSpPr/>
          <p:nvPr/>
        </p:nvSpPr>
        <p:spPr>
          <a:xfrm>
            <a:off x="10036175" y="37877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19" name="Shape 117"/>
          <p:cNvSpPr/>
          <p:nvPr/>
        </p:nvSpPr>
        <p:spPr>
          <a:xfrm>
            <a:off x="10239375" y="31146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20" name="Shape 118"/>
          <p:cNvSpPr/>
          <p:nvPr/>
        </p:nvSpPr>
        <p:spPr>
          <a:xfrm>
            <a:off x="10550525" y="31908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21" name="Shape 119"/>
          <p:cNvSpPr/>
          <p:nvPr/>
        </p:nvSpPr>
        <p:spPr>
          <a:xfrm>
            <a:off x="8169275" y="45497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22" name="Shape 120"/>
          <p:cNvSpPr/>
          <p:nvPr/>
        </p:nvSpPr>
        <p:spPr>
          <a:xfrm>
            <a:off x="2501900" y="1854200"/>
            <a:ext cx="660400" cy="1854200"/>
          </a:xfrm>
          <a:prstGeom prst="line">
            <a:avLst/>
          </a:prstGeom>
          <a:noFill/>
          <a:ln w="12700">
            <a:solidFill>
              <a:srgbClr val="ECBAC4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 rot="9622158">
            <a:off x="3101848" y="3615912"/>
            <a:ext cx="88900" cy="952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24" name="Shape 122"/>
          <p:cNvSpPr/>
          <p:nvPr/>
        </p:nvSpPr>
        <p:spPr>
          <a:xfrm flipV="1">
            <a:off x="2082800" y="1993900"/>
            <a:ext cx="266700" cy="127000"/>
          </a:xfrm>
          <a:prstGeom prst="line">
            <a:avLst/>
          </a:prstGeom>
          <a:noFill/>
          <a:ln w="12700">
            <a:solidFill>
              <a:srgbClr val="ECBAC4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 rot="2700000">
            <a:off x="2348509" y="1890116"/>
            <a:ext cx="82550" cy="1016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26" name="Shape 124"/>
          <p:cNvSpPr/>
          <p:nvPr/>
        </p:nvSpPr>
        <p:spPr>
          <a:xfrm>
            <a:off x="2797175" y="2905125"/>
            <a:ext cx="311150" cy="311150"/>
          </a:xfrm>
          <a:prstGeom prst="ellipse">
            <a:avLst/>
          </a:prstGeom>
          <a:solidFill>
            <a:srgbClr val="EE3145"/>
          </a:solidFill>
          <a:ln/>
        </p:spPr>
      </p:sp>
      <p:sp>
        <p:nvSpPr>
          <p:cNvPr id="127" name="Text 125"/>
          <p:cNvSpPr/>
          <p:nvPr/>
        </p:nvSpPr>
        <p:spPr>
          <a:xfrm rot="-4140000">
            <a:off x="2095500" y="2603500"/>
            <a:ext cx="1143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50.85 mm</a:t>
            </a:r>
            <a:endParaRPr lang="en-US" sz="1100" dirty="0"/>
          </a:p>
        </p:txBody>
      </p:sp>
      <p:sp>
        <p:nvSpPr>
          <p:cNvPr id="128" name="Shape 126"/>
          <p:cNvSpPr/>
          <p:nvPr/>
        </p:nvSpPr>
        <p:spPr>
          <a:xfrm>
            <a:off x="7759700" y="1866900"/>
            <a:ext cx="901700" cy="2247900"/>
          </a:xfrm>
          <a:prstGeom prst="line">
            <a:avLst/>
          </a:prstGeom>
          <a:noFill/>
          <a:ln w="12700">
            <a:solidFill>
              <a:srgbClr val="ECBAC4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 rot="9489361">
            <a:off x="8598052" y="4016858"/>
            <a:ext cx="88900" cy="1016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30" name="Shape 128"/>
          <p:cNvSpPr/>
          <p:nvPr/>
        </p:nvSpPr>
        <p:spPr>
          <a:xfrm flipV="1">
            <a:off x="7429500" y="1930400"/>
            <a:ext cx="203200" cy="76200"/>
          </a:xfrm>
          <a:prstGeom prst="line">
            <a:avLst/>
          </a:prstGeom>
          <a:noFill/>
          <a:ln w="12700">
            <a:solidFill>
              <a:srgbClr val="ECBAC4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 rot="2700000">
            <a:off x="7631709" y="1813916"/>
            <a:ext cx="82550" cy="1016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32" name="Text 130"/>
          <p:cNvSpPr/>
          <p:nvPr/>
        </p:nvSpPr>
        <p:spPr>
          <a:xfrm rot="-4080000">
            <a:off x="7518400" y="2921000"/>
            <a:ext cx="1143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63.64 mm</a:t>
            </a:r>
            <a:endParaRPr lang="en-US" sz="1100" dirty="0"/>
          </a:p>
        </p:txBody>
      </p:sp>
      <p:sp>
        <p:nvSpPr>
          <p:cNvPr id="133" name="Shape 131"/>
          <p:cNvSpPr/>
          <p:nvPr/>
        </p:nvSpPr>
        <p:spPr>
          <a:xfrm>
            <a:off x="1600200" y="1930400"/>
            <a:ext cx="12700" cy="3619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34" name="Shape 132"/>
          <p:cNvSpPr/>
          <p:nvPr/>
        </p:nvSpPr>
        <p:spPr>
          <a:xfrm>
            <a:off x="1574800" y="5505450"/>
            <a:ext cx="3860800" cy="127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35" name="Shape 133"/>
          <p:cNvSpPr/>
          <p:nvPr/>
        </p:nvSpPr>
        <p:spPr>
          <a:xfrm>
            <a:off x="1555750" y="1816100"/>
            <a:ext cx="101600" cy="1016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36" name="Shape 134"/>
          <p:cNvSpPr/>
          <p:nvPr/>
        </p:nvSpPr>
        <p:spPr>
          <a:xfrm rot="5400000">
            <a:off x="5435600" y="5467350"/>
            <a:ext cx="88900" cy="889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1650" y="1930400"/>
            <a:ext cx="12700" cy="3619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32600" y="5505450"/>
            <a:ext cx="3848100" cy="127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13550" y="1816100"/>
            <a:ext cx="88900" cy="1016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40" name="Shape 138"/>
          <p:cNvSpPr/>
          <p:nvPr/>
        </p:nvSpPr>
        <p:spPr>
          <a:xfrm rot="5400000">
            <a:off x="10680700" y="5467350"/>
            <a:ext cx="88900" cy="889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41" name="Shape 139"/>
          <p:cNvSpPr/>
          <p:nvPr/>
        </p:nvSpPr>
        <p:spPr>
          <a:xfrm>
            <a:off x="2743200" y="1879600"/>
            <a:ext cx="1295400" cy="342900"/>
          </a:xfrm>
          <a:prstGeom prst="rect">
            <a:avLst/>
          </a:prstGeom>
          <a:solidFill>
            <a:srgbClr val="ECFDF9"/>
          </a:solidFill>
          <a:ln w="12700">
            <a:solidFill>
              <a:srgbClr val="000080"/>
            </a:solidFill>
            <a:prstDash val="solid"/>
          </a:ln>
        </p:spPr>
      </p:sp>
      <p:pic>
        <p:nvPicPr>
          <p:cNvPr id="142" name="Image 0" descr="/workspaces/codespaces-blank/ai_llm_slides/videos/machine-learning/03_ridger_regression_gradient_descent/recreated_pptx/build/assets/eq_009_left_attempt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60040" y="1958340"/>
            <a:ext cx="1092708" cy="169164"/>
          </a:xfrm>
          <a:prstGeom prst="rect">
            <a:avLst/>
          </a:prstGeom>
        </p:spPr>
      </p:pic>
      <p:sp>
        <p:nvSpPr>
          <p:cNvPr id="143" name="Shape 140"/>
          <p:cNvSpPr/>
          <p:nvPr/>
        </p:nvSpPr>
        <p:spPr>
          <a:xfrm>
            <a:off x="8013700" y="1879600"/>
            <a:ext cx="1320800" cy="342900"/>
          </a:xfrm>
          <a:prstGeom prst="rect">
            <a:avLst/>
          </a:prstGeom>
          <a:solidFill>
            <a:srgbClr val="ECFDF9"/>
          </a:solidFill>
          <a:ln w="12700">
            <a:solidFill>
              <a:srgbClr val="000080"/>
            </a:solidFill>
            <a:prstDash val="solid"/>
          </a:ln>
        </p:spPr>
      </p:sp>
      <p:pic>
        <p:nvPicPr>
          <p:cNvPr id="144" name="Image 1" descr="/workspaces/codespaces-blank/ai_llm_slides/videos/machine-learning/03_ridger_regression_gradient_descent/recreated_pptx/build/assets/eq_009_right_attempt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5940" y="1958340"/>
            <a:ext cx="1095756" cy="169164"/>
          </a:xfrm>
          <a:prstGeom prst="rect">
            <a:avLst/>
          </a:prstGeom>
        </p:spPr>
      </p:pic>
      <p:sp>
        <p:nvSpPr>
          <p:cNvPr id="145" name="Shape 141"/>
          <p:cNvSpPr/>
          <p:nvPr/>
        </p:nvSpPr>
        <p:spPr>
          <a:xfrm>
            <a:off x="1231900" y="6096000"/>
            <a:ext cx="4254500" cy="596900"/>
          </a:xfrm>
          <a:prstGeom prst="rect">
            <a:avLst/>
          </a:prstGeom>
          <a:solidFill>
            <a:srgbClr val="FBFCEC"/>
          </a:solidFill>
          <a:ln/>
        </p:spPr>
      </p:sp>
      <p:sp>
        <p:nvSpPr>
          <p:cNvPr id="146" name="Shape 142"/>
          <p:cNvSpPr/>
          <p:nvPr/>
        </p:nvSpPr>
        <p:spPr>
          <a:xfrm>
            <a:off x="6400800" y="6096000"/>
            <a:ext cx="4254500" cy="596900"/>
          </a:xfrm>
          <a:prstGeom prst="rect">
            <a:avLst/>
          </a:prstGeom>
          <a:solidFill>
            <a:srgbClr val="FBFCEC"/>
          </a:solidFill>
          <a:ln/>
        </p:spPr>
      </p:sp>
      <p:sp>
        <p:nvSpPr>
          <p:cNvPr id="147" name="Shape 143"/>
          <p:cNvSpPr/>
          <p:nvPr/>
        </p:nvSpPr>
        <p:spPr>
          <a:xfrm>
            <a:off x="1212850" y="6083300"/>
            <a:ext cx="25400" cy="622300"/>
          </a:xfrm>
          <a:prstGeom prst="rect">
            <a:avLst/>
          </a:prstGeom>
          <a:solidFill>
            <a:srgbClr val="E2C6C3"/>
          </a:solidFill>
          <a:ln/>
        </p:spPr>
      </p:sp>
      <p:sp>
        <p:nvSpPr>
          <p:cNvPr id="148" name="Shape 144"/>
          <p:cNvSpPr/>
          <p:nvPr/>
        </p:nvSpPr>
        <p:spPr>
          <a:xfrm>
            <a:off x="5492750" y="6083300"/>
            <a:ext cx="25400" cy="622300"/>
          </a:xfrm>
          <a:prstGeom prst="rect">
            <a:avLst/>
          </a:prstGeom>
          <a:solidFill>
            <a:srgbClr val="F0E6E7"/>
          </a:solidFill>
          <a:ln/>
        </p:spPr>
      </p:sp>
      <p:sp>
        <p:nvSpPr>
          <p:cNvPr id="149" name="Shape 145"/>
          <p:cNvSpPr/>
          <p:nvPr/>
        </p:nvSpPr>
        <p:spPr>
          <a:xfrm>
            <a:off x="1219200" y="6699250"/>
            <a:ext cx="4279900" cy="25400"/>
          </a:xfrm>
          <a:prstGeom prst="rect">
            <a:avLst/>
          </a:prstGeom>
          <a:solidFill>
            <a:srgbClr val="DCBBBB"/>
          </a:solidFill>
          <a:ln/>
        </p:spPr>
      </p:sp>
      <p:sp>
        <p:nvSpPr>
          <p:cNvPr id="150" name="Shape 146"/>
          <p:cNvSpPr/>
          <p:nvPr/>
        </p:nvSpPr>
        <p:spPr>
          <a:xfrm>
            <a:off x="6375400" y="6083300"/>
            <a:ext cx="25400" cy="622300"/>
          </a:xfrm>
          <a:prstGeom prst="rect">
            <a:avLst/>
          </a:prstGeom>
          <a:solidFill>
            <a:srgbClr val="D3BCB9"/>
          </a:solidFill>
          <a:ln/>
        </p:spPr>
      </p:sp>
      <p:sp>
        <p:nvSpPr>
          <p:cNvPr id="151" name="Shape 147"/>
          <p:cNvSpPr/>
          <p:nvPr/>
        </p:nvSpPr>
        <p:spPr>
          <a:xfrm>
            <a:off x="10661650" y="6083300"/>
            <a:ext cx="25400" cy="622300"/>
          </a:xfrm>
          <a:prstGeom prst="rect">
            <a:avLst/>
          </a:prstGeom>
          <a:solidFill>
            <a:srgbClr val="CAA5A6"/>
          </a:solidFill>
          <a:ln/>
        </p:spPr>
      </p:sp>
      <p:sp>
        <p:nvSpPr>
          <p:cNvPr id="152" name="Shape 148"/>
          <p:cNvSpPr/>
          <p:nvPr/>
        </p:nvSpPr>
        <p:spPr>
          <a:xfrm>
            <a:off x="6388100" y="6699250"/>
            <a:ext cx="4279900" cy="25400"/>
          </a:xfrm>
          <a:prstGeom prst="rect">
            <a:avLst/>
          </a:prstGeom>
          <a:solidFill>
            <a:srgbClr val="D9BBBA"/>
          </a:solidFill>
          <a:ln/>
        </p:spPr>
      </p:sp>
      <p:sp>
        <p:nvSpPr>
          <p:cNvPr id="153" name="Text 149"/>
          <p:cNvSpPr/>
          <p:nvPr/>
        </p:nvSpPr>
        <p:spPr>
          <a:xfrm>
            <a:off x="939800" y="6134100"/>
            <a:ext cx="482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Overfit</a:t>
            </a:r>
            <a:pPr algn="ctr" indent="0" marL="0">
              <a:lnSpc>
                <a:spcPts val="2040"/>
              </a:lnSpc>
              <a:buNone/>
            </a:pPr>
            <a:r>
              <a:rPr lang="en-US" sz="17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(try to minimize the residuals ONLY)</a:t>
            </a:r>
            <a:endParaRPr lang="en-US" sz="1700" dirty="0"/>
          </a:p>
        </p:txBody>
      </p:sp>
      <p:sp>
        <p:nvSpPr>
          <p:cNvPr id="154" name="Text 150"/>
          <p:cNvSpPr/>
          <p:nvPr/>
        </p:nvSpPr>
        <p:spPr>
          <a:xfrm>
            <a:off x="939800" y="6375400"/>
            <a:ext cx="482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sz="17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Fails to detect the Pattern</a:t>
            </a:r>
            <a:endParaRPr lang="en-US" sz="1700" dirty="0"/>
          </a:p>
        </p:txBody>
      </p:sp>
      <p:sp>
        <p:nvSpPr>
          <p:cNvPr id="155" name="Text 151"/>
          <p:cNvSpPr/>
          <p:nvPr/>
        </p:nvSpPr>
        <p:spPr>
          <a:xfrm>
            <a:off x="6235700" y="6134100"/>
            <a:ext cx="457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Generalized</a:t>
            </a:r>
            <a:pPr algn="ctr" indent="0" marL="0">
              <a:lnSpc>
                <a:spcPts val="2040"/>
              </a:lnSpc>
              <a:buNone/>
            </a:pPr>
            <a:r>
              <a:rPr lang="en-US" sz="17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(Residuals are not minimized)</a:t>
            </a:r>
            <a:endParaRPr lang="en-US" sz="1700" dirty="0"/>
          </a:p>
        </p:txBody>
      </p:sp>
      <p:sp>
        <p:nvSpPr>
          <p:cNvPr id="156" name="Text 152"/>
          <p:cNvSpPr/>
          <p:nvPr/>
        </p:nvSpPr>
        <p:spPr>
          <a:xfrm>
            <a:off x="6235700" y="6375400"/>
            <a:ext cx="457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sz="17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Successes to detect the Pattern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2026-10-24T06:57:49Z</dcterms:created>
  <dcterms:modified xsi:type="dcterms:W3CDTF">2026-10-24T06:57:49Z</dcterms:modified>
</cp:coreProperties>
</file>