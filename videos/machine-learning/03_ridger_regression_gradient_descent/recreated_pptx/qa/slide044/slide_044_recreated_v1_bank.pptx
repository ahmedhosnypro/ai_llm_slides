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89000" y="711200"/>
            <a:ext cx="8229600" cy="914400"/>
          </a:xfrm>
          <a:prstGeom prst="rect">
            <a:avLst/>
          </a:prstGeom>
          <a:solidFill>
            <a:srgbClr val="FFFEE8"/>
          </a:solidFill>
          <a:ln/>
        </p:spPr>
      </p:sp>
      <p:sp>
        <p:nvSpPr>
          <p:cNvPr id="9" name="Shape 7"/>
          <p:cNvSpPr/>
          <p:nvPr/>
        </p:nvSpPr>
        <p:spPr>
          <a:xfrm>
            <a:off x="863600" y="685800"/>
            <a:ext cx="8280400" cy="965200"/>
          </a:xfrm>
          <a:prstGeom prst="rect">
            <a:avLst/>
          </a:prstGeom>
          <a:ln w="12700">
            <a:solidFill>
              <a:srgbClr val="221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6800" y="771525"/>
            <a:ext cx="4318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46200" y="771525"/>
            <a:ext cx="4318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25600" y="771525"/>
            <a:ext cx="4318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05000" y="771525"/>
            <a:ext cx="4318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84400" y="771525"/>
            <a:ext cx="4318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76500" y="771525"/>
            <a:ext cx="4318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2200" y="9747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9747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51000" y="9747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30400" y="9747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09800" y="9747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01900" y="9747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2200" y="11779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11779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51000" y="11779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930400" y="11779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09800" y="11779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01900" y="11779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2200" y="13938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13938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651000" y="13938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930400" y="13938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209800" y="13938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501900" y="13938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78200" y="908050"/>
            <a:ext cx="1143000" cy="30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 W =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03700" y="698500"/>
            <a:ext cx="0" cy="609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3100" y="698500"/>
            <a:ext cx="0" cy="609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3700" y="746125"/>
            <a:ext cx="2794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203700" y="949325"/>
            <a:ext cx="3048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203700" y="1139825"/>
            <a:ext cx="3048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635500" y="784225"/>
            <a:ext cx="1397000" cy="36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η = 2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337300" y="1000125"/>
            <a:ext cx="165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518400" y="7747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Z₁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797800" y="7747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Z₁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77200" y="7747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Z₁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518400" y="10160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97800" y="10160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77200" y="10160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518400" y="12192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797800" y="12192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077200" y="12192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35300" y="1355725"/>
            <a:ext cx="368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positive, </a:t>
            </a:r>
            <a:pPr algn="l" indent="0" marL="0">
              <a:buNone/>
            </a:pPr>
            <a:r>
              <a:rPr lang="en-US" sz="1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negative, Zero is unaccepted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89000" y="1778000"/>
            <a:ext cx="2235200" cy="1460500"/>
          </a:xfrm>
          <a:prstGeom prst="rect">
            <a:avLst/>
          </a:prstGeom>
          <a:ln w="12700">
            <a:solidFill>
              <a:srgbClr val="A3A9B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2200" y="1844675"/>
            <a:ext cx="2032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Upgraded Vectors (from Top)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04900" y="20701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371600" y="20701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663700" y="20701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x₃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955800" y="20701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x₄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235200" y="20701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x₅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527300" y="20701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x₆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117600" y="2298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384300" y="2298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676400" y="2298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968500" y="2298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2247900" y="2298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540000" y="2298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117600" y="24892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384300" y="24892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676400" y="24892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1968500" y="24892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2247900" y="24892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2540000" y="24892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117600" y="2679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384300" y="2679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676400" y="2679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1968500" y="2679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2247900" y="2679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2540000" y="2679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1117600" y="29083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1384300" y="29083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676400" y="29083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968500" y="29083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2247900" y="29083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2540000" y="29083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3473450" y="1790700"/>
            <a:ext cx="0" cy="490220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826750" y="1790700"/>
            <a:ext cx="0" cy="490220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479800" y="17780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479800" y="25019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479800" y="26162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479800" y="33401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479800" y="34544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479800" y="42926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479800" y="50165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479800" y="51308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479800" y="58547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479800" y="59690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479800" y="67056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pic>
        <p:nvPicPr>
          <p:cNvPr id="97" name="Image 0" descr="/workspaces/codespaces-blank/ai_llm_slides/videos/machine-learning/03_ridger_regression_gradient_descent/recreated_pptx/build/assets/eq_044_d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4900" y="1838960"/>
            <a:ext cx="4113273" cy="256032"/>
          </a:xfrm>
          <a:prstGeom prst="rect">
            <a:avLst/>
          </a:prstGeom>
        </p:spPr>
      </p:pic>
      <p:sp>
        <p:nvSpPr>
          <p:cNvPr id="98" name="Text 95"/>
          <p:cNvSpPr/>
          <p:nvPr/>
        </p:nvSpPr>
        <p:spPr>
          <a:xfrm>
            <a:off x="4279900" y="2085975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Update Weight</a:t>
            </a:r>
            <a:endParaRPr lang="en-US" sz="1500" dirty="0"/>
          </a:p>
        </p:txBody>
      </p:sp>
      <p:pic>
        <p:nvPicPr>
          <p:cNvPr id="99" name="Image 1" descr="/workspaces/codespaces-blank/ai_llm_slides/videos/machine-learning/03_ridger_regression_gradient_descent/recreated_pptx/build/assets/eq_044_w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700" y="2232660"/>
            <a:ext cx="4824987" cy="251460"/>
          </a:xfrm>
          <a:prstGeom prst="rect">
            <a:avLst/>
          </a:prstGeom>
        </p:spPr>
      </p:pic>
      <p:pic>
        <p:nvPicPr>
          <p:cNvPr id="100" name="Image 2" descr="/workspaces/codespaces-blank/ai_llm_slides/videos/machine-learning/03_ridger_regression_gradient_descent/recreated_pptx/build/assets/eq_044_dx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900" y="2702560"/>
            <a:ext cx="4122417" cy="256032"/>
          </a:xfrm>
          <a:prstGeom prst="rect">
            <a:avLst/>
          </a:prstGeom>
        </p:spPr>
      </p:pic>
      <p:sp>
        <p:nvSpPr>
          <p:cNvPr id="101" name="Text 96"/>
          <p:cNvSpPr/>
          <p:nvPr/>
        </p:nvSpPr>
        <p:spPr>
          <a:xfrm>
            <a:off x="4279900" y="2936875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Update Weight</a:t>
            </a:r>
            <a:endParaRPr lang="en-US" sz="1500" dirty="0"/>
          </a:p>
        </p:txBody>
      </p:sp>
      <p:pic>
        <p:nvPicPr>
          <p:cNvPr id="102" name="Image 3" descr="/workspaces/codespaces-blank/ai_llm_slides/videos/machine-learning/03_ridger_regression_gradient_descent/recreated_pptx/build/assets/eq_044_w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3108960"/>
            <a:ext cx="4674111" cy="251460"/>
          </a:xfrm>
          <a:prstGeom prst="rect">
            <a:avLst/>
          </a:prstGeom>
        </p:spPr>
      </p:pic>
      <p:pic>
        <p:nvPicPr>
          <p:cNvPr id="103" name="Image 4" descr="/workspaces/codespaces-blank/ai_llm_slides/videos/machine-learning/03_ridger_regression_gradient_descent/recreated_pptx/build/assets/eq_044_dx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900" y="3464562"/>
            <a:ext cx="3802377" cy="259077"/>
          </a:xfrm>
          <a:prstGeom prst="rect">
            <a:avLst/>
          </a:prstGeom>
        </p:spPr>
      </p:pic>
      <p:sp>
        <p:nvSpPr>
          <p:cNvPr id="104" name="Text 97"/>
          <p:cNvSpPr/>
          <p:nvPr/>
        </p:nvSpPr>
        <p:spPr>
          <a:xfrm>
            <a:off x="4279900" y="3698875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Update Weight</a:t>
            </a:r>
            <a:endParaRPr lang="en-US" sz="1500" dirty="0"/>
          </a:p>
        </p:txBody>
      </p:sp>
      <p:pic>
        <p:nvPicPr>
          <p:cNvPr id="105" name="Image 5" descr="/workspaces/codespaces-blank/ai_llm_slides/videos/machine-learning/03_ridger_regression_gradient_descent/recreated_pptx/build/assets/eq_044_w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7600" y="3858260"/>
            <a:ext cx="4674111" cy="251460"/>
          </a:xfrm>
          <a:prstGeom prst="rect">
            <a:avLst/>
          </a:prstGeom>
        </p:spPr>
      </p:pic>
      <p:pic>
        <p:nvPicPr>
          <p:cNvPr id="106" name="Image 6" descr="/workspaces/codespaces-blank/ai_llm_slides/videos/machine-learning/03_ridger_regression_gradient_descent/recreated_pptx/build/assets/eq_044_dx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4900" y="4302760"/>
            <a:ext cx="3486909" cy="256032"/>
          </a:xfrm>
          <a:prstGeom prst="rect">
            <a:avLst/>
          </a:prstGeom>
        </p:spPr>
      </p:pic>
      <p:sp>
        <p:nvSpPr>
          <p:cNvPr id="107" name="Text 98"/>
          <p:cNvSpPr/>
          <p:nvPr/>
        </p:nvSpPr>
        <p:spPr>
          <a:xfrm>
            <a:off x="4292600" y="4524375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Keep same Weight</a:t>
            </a:r>
            <a:endParaRPr lang="en-US" sz="1500" dirty="0"/>
          </a:p>
        </p:txBody>
      </p:sp>
      <p:pic>
        <p:nvPicPr>
          <p:cNvPr id="108" name="Image 7" descr="/workspaces/codespaces-blank/ai_llm_slides/videos/machine-learning/03_ridger_regression_gradient_descent/recreated_pptx/build/assets/eq_044_w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3800" y="4696460"/>
            <a:ext cx="1738887" cy="251460"/>
          </a:xfrm>
          <a:prstGeom prst="rect">
            <a:avLst/>
          </a:prstGeom>
        </p:spPr>
      </p:pic>
      <p:pic>
        <p:nvPicPr>
          <p:cNvPr id="109" name="Image 8" descr="/workspaces/codespaces-blank/ai_llm_slides/videos/machine-learning/03_ridger_regression_gradient_descent/recreated_pptx/build/assets/eq_044_dx5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94100" y="5153662"/>
            <a:ext cx="4283964" cy="259077"/>
          </a:xfrm>
          <a:prstGeom prst="rect">
            <a:avLst/>
          </a:prstGeom>
        </p:spPr>
      </p:pic>
      <p:sp>
        <p:nvSpPr>
          <p:cNvPr id="110" name="Text 99"/>
          <p:cNvSpPr/>
          <p:nvPr/>
        </p:nvSpPr>
        <p:spPr>
          <a:xfrm>
            <a:off x="4229100" y="5375275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Keep same Weight</a:t>
            </a:r>
            <a:endParaRPr lang="en-US" sz="1500" dirty="0"/>
          </a:p>
        </p:txBody>
      </p:sp>
      <p:pic>
        <p:nvPicPr>
          <p:cNvPr id="111" name="Image 9" descr="/workspaces/codespaces-blank/ai_llm_slides/videos/machine-learning/03_ridger_regression_gradient_descent/recreated_pptx/build/assets/eq_044_w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0300" y="5534660"/>
            <a:ext cx="1738887" cy="251460"/>
          </a:xfrm>
          <a:prstGeom prst="rect">
            <a:avLst/>
          </a:prstGeom>
        </p:spPr>
      </p:pic>
      <p:pic>
        <p:nvPicPr>
          <p:cNvPr id="112" name="Image 10" descr="/workspaces/codespaces-blank/ai_llm_slides/videos/machine-learning/03_ridger_regression_gradient_descent/recreated_pptx/build/assets/eq_044_dx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94100" y="5979162"/>
            <a:ext cx="3963924" cy="259077"/>
          </a:xfrm>
          <a:prstGeom prst="rect">
            <a:avLst/>
          </a:prstGeom>
        </p:spPr>
      </p:pic>
      <p:sp>
        <p:nvSpPr>
          <p:cNvPr id="113" name="Text 100"/>
          <p:cNvSpPr/>
          <p:nvPr/>
        </p:nvSpPr>
        <p:spPr>
          <a:xfrm>
            <a:off x="4229100" y="6200775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Keep same Weight</a:t>
            </a:r>
            <a:endParaRPr lang="en-US" sz="1500" dirty="0"/>
          </a:p>
        </p:txBody>
      </p:sp>
      <p:pic>
        <p:nvPicPr>
          <p:cNvPr id="114" name="Image 11" descr="/workspaces/codespaces-blank/ai_llm_slides/videos/machine-learning/03_ridger_regression_gradient_descent/recreated_pptx/build/assets/eq_044_w6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27600" y="6385560"/>
            <a:ext cx="1738887" cy="251460"/>
          </a:xfrm>
          <a:prstGeom prst="rect">
            <a:avLst/>
          </a:prstGeom>
        </p:spPr>
      </p:pic>
      <p:sp>
        <p:nvSpPr>
          <p:cNvPr id="115" name="Shape 101"/>
          <p:cNvSpPr/>
          <p:nvPr/>
        </p:nvSpPr>
        <p:spPr>
          <a:xfrm>
            <a:off x="1066800" y="3517900"/>
            <a:ext cx="1651000" cy="355600"/>
          </a:xfrm>
          <a:prstGeom prst="roundRect">
            <a:avLst>
              <a:gd name="adj" fmla="val 12857"/>
            </a:avLst>
          </a:prstGeom>
          <a:solidFill>
            <a:srgbClr val="FF0000"/>
          </a:solidFill>
          <a:ln/>
        </p:spPr>
      </p:sp>
      <p:sp>
        <p:nvSpPr>
          <p:cNvPr id="116" name="Text 102"/>
          <p:cNvSpPr/>
          <p:nvPr/>
        </p:nvSpPr>
        <p:spPr>
          <a:xfrm>
            <a:off x="1066800" y="35941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2026-10-24T02:07:52Z</dcterms:created>
  <dcterms:modified xsi:type="dcterms:W3CDTF">2026-10-24T02:07:52Z</dcterms:modified>
</cp:coreProperties>
</file>