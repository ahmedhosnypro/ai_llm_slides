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80400" cy="965200"/>
          </a:xfrm>
          <a:prstGeom prst="rect">
            <a:avLst/>
          </a:prstGeom>
          <a:solidFill>
            <a:srgbClr val="FEFFE8"/>
          </a:solidFill>
          <a:ln w="9525">
            <a:solidFill>
              <a:srgbClr val="2217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41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335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129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3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844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38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15" name="Image 0" descr="/workspaces/codespaces-blank/ai_llm_slides/videos/machine-learning/03_ridger_regression_gradient_descent/recreated_pptx/build/assets/m046_topco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" y="977900"/>
            <a:ext cx="190497" cy="405381"/>
          </a:xfrm>
          <a:prstGeom prst="rect">
            <a:avLst/>
          </a:prstGeom>
        </p:spPr>
      </p:pic>
      <p:pic>
        <p:nvPicPr>
          <p:cNvPr id="16" name="Image 1" descr="/workspaces/codespaces-blank/ai_llm_slides/videos/machine-learning/03_ridger_regression_gradient_descent/recreated_pptx/build/assets/m046_topco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977900"/>
            <a:ext cx="190497" cy="405381"/>
          </a:xfrm>
          <a:prstGeom prst="rect">
            <a:avLst/>
          </a:prstGeom>
        </p:spPr>
      </p:pic>
      <p:pic>
        <p:nvPicPr>
          <p:cNvPr id="17" name="Image 2" descr="/workspaces/codespaces-blank/ai_llm_slides/videos/machine-learning/03_ridger_regression_gradient_descent/recreated_pptx/build/assets/m046_topcol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750" y="977900"/>
            <a:ext cx="190497" cy="405381"/>
          </a:xfrm>
          <a:prstGeom prst="rect">
            <a:avLst/>
          </a:prstGeom>
        </p:spPr>
      </p:pic>
      <p:pic>
        <p:nvPicPr>
          <p:cNvPr id="18" name="Image 3" descr="/workspaces/codespaces-blank/ai_llm_slides/videos/machine-learning/03_ridger_regression_gradient_descent/recreated_pptx/build/assets/m046_topcol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977900"/>
            <a:ext cx="190497" cy="405381"/>
          </a:xfrm>
          <a:prstGeom prst="rect">
            <a:avLst/>
          </a:prstGeom>
        </p:spPr>
      </p:pic>
      <p:pic>
        <p:nvPicPr>
          <p:cNvPr id="19" name="Image 4" descr="/workspaces/codespaces-blank/ai_llm_slides/videos/machine-learning/03_ridger_regression_gradient_descent/recreated_pptx/build/assets/m046_topcol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977900"/>
            <a:ext cx="190497" cy="405381"/>
          </a:xfrm>
          <a:prstGeom prst="rect">
            <a:avLst/>
          </a:prstGeom>
        </p:spPr>
      </p:pic>
      <p:pic>
        <p:nvPicPr>
          <p:cNvPr id="20" name="Image 5" descr="/workspaces/codespaces-blank/ai_llm_slides/videos/machine-learning/03_ridger_regression_gradient_descent/recreated_pptx/build/assets/m046_topcol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650" y="977900"/>
            <a:ext cx="190497" cy="40538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41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13335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16129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18923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21844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24638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3111500" y="13589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60"/>
              </a:lnSpc>
              <a:buNone/>
            </a:pPr>
            <a:r>
              <a:rPr lang="en-US" sz="95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  </a:t>
            </a:r>
            <a:pPr algn="l" indent="0" marL="0">
              <a:lnSpc>
                <a:spcPts val="15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60"/>
              </a:lnSpc>
              <a:buNone/>
            </a:pPr>
            <a:r>
              <a:rPr lang="en-US" sz="950" b="1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   </a:t>
            </a:r>
            <a:pPr algn="l" indent="0" marL="0">
              <a:lnSpc>
                <a:spcPts val="1560"/>
              </a:lnSpc>
              <a:buNone/>
            </a:pPr>
            <a:r>
              <a:rPr lang="en-US" sz="1300" b="1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unaccepted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3378200" y="85090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3873500" y="83820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44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30" name="Image 6" descr="/workspaces/codespaces-blank/ai_llm_slides/videos/machine-learning/03_ridger_regression_gradient_descent/recreated_pptx/build/assets/m046_vec_initi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0" y="711200"/>
            <a:ext cx="519681" cy="59588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11700" y="800100"/>
            <a:ext cx="111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6337300" y="952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75057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380"/>
              </a:lnSpc>
              <a:buNone/>
            </a:pPr>
            <a:r>
              <a:rPr lang="en-US" sz="8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77978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380"/>
              </a:lnSpc>
              <a:buNone/>
            </a:pPr>
            <a:r>
              <a:rPr lang="en-US" sz="8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80899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380"/>
              </a:lnSpc>
              <a:buNone/>
            </a:pPr>
            <a:r>
              <a:rPr lang="en-US" sz="8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pic>
        <p:nvPicPr>
          <p:cNvPr id="36" name="Image 7" descr="/workspaces/codespaces-blank/ai_llm_slides/videos/machine-learning/03_ridger_regression_gradient_descent/recreated_pptx/build/assets/m046_zcol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5550" y="1016000"/>
            <a:ext cx="190497" cy="405381"/>
          </a:xfrm>
          <a:prstGeom prst="rect">
            <a:avLst/>
          </a:prstGeom>
        </p:spPr>
      </p:pic>
      <p:pic>
        <p:nvPicPr>
          <p:cNvPr id="37" name="Image 8" descr="/workspaces/codespaces-blank/ai_llm_slides/videos/machine-learning/03_ridger_regression_gradient_descent/recreated_pptx/build/assets/m046_zcol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7650" y="1016000"/>
            <a:ext cx="190497" cy="405381"/>
          </a:xfrm>
          <a:prstGeom prst="rect">
            <a:avLst/>
          </a:prstGeom>
        </p:spPr>
      </p:pic>
      <p:pic>
        <p:nvPicPr>
          <p:cNvPr id="38" name="Image 9" descr="/workspaces/codespaces-blank/ai_llm_slides/videos/machine-learning/03_ridger_regression_gradient_descent/recreated_pptx/build/assets/m046_zcol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9750" y="1016000"/>
            <a:ext cx="190497" cy="405381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372600" y="736600"/>
            <a:ext cx="1155700" cy="1079500"/>
          </a:xfrm>
          <a:prstGeom prst="rect">
            <a:avLst/>
          </a:prstGeom>
          <a:solidFill>
            <a:srgbClr val="F9E8FA"/>
          </a:solidFill>
          <a:ln w="9525">
            <a:solidFill>
              <a:srgbClr val="D4BED5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9410700" y="104140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700" dirty="0"/>
          </a:p>
        </p:txBody>
      </p:sp>
      <p:sp>
        <p:nvSpPr>
          <p:cNvPr id="41" name="Text 29"/>
          <p:cNvSpPr/>
          <p:nvPr/>
        </p:nvSpPr>
        <p:spPr>
          <a:xfrm>
            <a:off x="9677400" y="1092200"/>
            <a:ext cx="20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700" dirty="0"/>
          </a:p>
        </p:txBody>
      </p:sp>
      <p:pic>
        <p:nvPicPr>
          <p:cNvPr id="42" name="Image 10" descr="/workspaces/codespaces-blank/ai_llm_slides/videos/machine-learning/03_ridger_regression_gradient_descent/recreated_pptx/build/assets/m046_vec_fin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4100" y="838200"/>
            <a:ext cx="545595" cy="888495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876300" y="1778000"/>
            <a:ext cx="2247900" cy="14605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3C8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838200" y="1803400"/>
            <a:ext cx="23749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84"/>
              </a:lnSpc>
              <a:buNone/>
            </a:pPr>
            <a:r>
              <a:rPr lang="en-US" sz="1070" b="1" i="1" dirty="0">
                <a:solidFill>
                  <a:srgbClr val="453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Vectors ( from Top )</a:t>
            </a:r>
            <a:endParaRPr lang="en-US" sz="1070" dirty="0"/>
          </a:p>
        </p:txBody>
      </p:sp>
      <p:sp>
        <p:nvSpPr>
          <p:cNvPr id="45" name="Text 32"/>
          <p:cNvSpPr/>
          <p:nvPr/>
        </p:nvSpPr>
        <p:spPr>
          <a:xfrm>
            <a:off x="11176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80" dirty="0"/>
          </a:p>
        </p:txBody>
      </p:sp>
      <p:sp>
        <p:nvSpPr>
          <p:cNvPr id="46" name="Text 33"/>
          <p:cNvSpPr/>
          <p:nvPr/>
        </p:nvSpPr>
        <p:spPr>
          <a:xfrm>
            <a:off x="13970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80" dirty="0"/>
          </a:p>
        </p:txBody>
      </p:sp>
      <p:sp>
        <p:nvSpPr>
          <p:cNvPr id="47" name="Text 34"/>
          <p:cNvSpPr/>
          <p:nvPr/>
        </p:nvSpPr>
        <p:spPr>
          <a:xfrm>
            <a:off x="16764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80" dirty="0"/>
          </a:p>
        </p:txBody>
      </p:sp>
      <p:sp>
        <p:nvSpPr>
          <p:cNvPr id="48" name="Text 35"/>
          <p:cNvSpPr/>
          <p:nvPr/>
        </p:nvSpPr>
        <p:spPr>
          <a:xfrm>
            <a:off x="19685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80" dirty="0"/>
          </a:p>
        </p:txBody>
      </p:sp>
      <p:sp>
        <p:nvSpPr>
          <p:cNvPr id="49" name="Text 36"/>
          <p:cNvSpPr/>
          <p:nvPr/>
        </p:nvSpPr>
        <p:spPr>
          <a:xfrm>
            <a:off x="22606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80" dirty="0"/>
          </a:p>
        </p:txBody>
      </p:sp>
      <p:sp>
        <p:nvSpPr>
          <p:cNvPr id="50" name="Text 37"/>
          <p:cNvSpPr/>
          <p:nvPr/>
        </p:nvSpPr>
        <p:spPr>
          <a:xfrm>
            <a:off x="25400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80" dirty="0"/>
          </a:p>
        </p:txBody>
      </p:sp>
      <p:pic>
        <p:nvPicPr>
          <p:cNvPr id="51" name="Image 11" descr="/workspaces/codespaces-blank/ai_llm_slides/videos/machine-learning/03_ridger_regression_gradient_descent/recreated_pptx/build/assets/m046_augcol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9350" y="2260600"/>
            <a:ext cx="190497" cy="633981"/>
          </a:xfrm>
          <a:prstGeom prst="rect">
            <a:avLst/>
          </a:prstGeom>
        </p:spPr>
      </p:pic>
      <p:pic>
        <p:nvPicPr>
          <p:cNvPr id="52" name="Image 12" descr="/workspaces/codespaces-blank/ai_llm_slides/videos/machine-learning/03_ridger_regression_gradient_descent/recreated_pptx/build/assets/m046_augcol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8750" y="2260600"/>
            <a:ext cx="190497" cy="633981"/>
          </a:xfrm>
          <a:prstGeom prst="rect">
            <a:avLst/>
          </a:prstGeom>
        </p:spPr>
      </p:pic>
      <p:pic>
        <p:nvPicPr>
          <p:cNvPr id="53" name="Image 13" descr="/workspaces/codespaces-blank/ai_llm_slides/videos/machine-learning/03_ridger_regression_gradient_descent/recreated_pptx/build/assets/m046_augcol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8150" y="2260600"/>
            <a:ext cx="190497" cy="633981"/>
          </a:xfrm>
          <a:prstGeom prst="rect">
            <a:avLst/>
          </a:prstGeom>
        </p:spPr>
      </p:pic>
      <p:pic>
        <p:nvPicPr>
          <p:cNvPr id="54" name="Image 14" descr="/workspaces/codespaces-blank/ai_llm_slides/videos/machine-learning/03_ridger_regression_gradient_descent/recreated_pptx/build/assets/m046_augcol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00250" y="2260600"/>
            <a:ext cx="190497" cy="633981"/>
          </a:xfrm>
          <a:prstGeom prst="rect">
            <a:avLst/>
          </a:prstGeom>
        </p:spPr>
      </p:pic>
      <p:pic>
        <p:nvPicPr>
          <p:cNvPr id="55" name="Image 15" descr="/workspaces/codespaces-blank/ai_llm_slides/videos/machine-learning/03_ridger_regression_gradient_descent/recreated_pptx/build/assets/m046_augcol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92350" y="2260600"/>
            <a:ext cx="190497" cy="633981"/>
          </a:xfrm>
          <a:prstGeom prst="rect">
            <a:avLst/>
          </a:prstGeom>
        </p:spPr>
      </p:pic>
      <p:pic>
        <p:nvPicPr>
          <p:cNvPr id="56" name="Image 16" descr="/workspaces/codespaces-blank/ai_llm_slides/videos/machine-learning/03_ridger_regression_gradient_descent/recreated_pptx/build/assets/m046_augcol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71750" y="2260600"/>
            <a:ext cx="190497" cy="633981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10795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8" name="Text 39"/>
          <p:cNvSpPr/>
          <p:nvPr/>
        </p:nvSpPr>
        <p:spPr>
          <a:xfrm>
            <a:off x="13589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9" name="Text 40"/>
          <p:cNvSpPr/>
          <p:nvPr/>
        </p:nvSpPr>
        <p:spPr>
          <a:xfrm>
            <a:off x="16383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60" name="Text 41"/>
          <p:cNvSpPr/>
          <p:nvPr/>
        </p:nvSpPr>
        <p:spPr>
          <a:xfrm>
            <a:off x="19304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61" name="Text 42"/>
          <p:cNvSpPr/>
          <p:nvPr/>
        </p:nvSpPr>
        <p:spPr>
          <a:xfrm>
            <a:off x="22225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Text 43"/>
          <p:cNvSpPr/>
          <p:nvPr/>
        </p:nvSpPr>
        <p:spPr>
          <a:xfrm>
            <a:off x="25019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63" name="Shape 44"/>
          <p:cNvSpPr/>
          <p:nvPr/>
        </p:nvSpPr>
        <p:spPr>
          <a:xfrm>
            <a:off x="1066800" y="3530600"/>
            <a:ext cx="1638300" cy="330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4" name="Text 45"/>
          <p:cNvSpPr/>
          <p:nvPr/>
        </p:nvSpPr>
        <p:spPr>
          <a:xfrm>
            <a:off x="1066800" y="351790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4</a:t>
            </a:r>
            <a:endParaRPr lang="en-US" sz="1900" dirty="0"/>
          </a:p>
        </p:txBody>
      </p:sp>
      <p:sp>
        <p:nvSpPr>
          <p:cNvPr id="65" name="Shape 46"/>
          <p:cNvSpPr/>
          <p:nvPr/>
        </p:nvSpPr>
        <p:spPr>
          <a:xfrm>
            <a:off x="812800" y="4203700"/>
            <a:ext cx="2298700" cy="1066800"/>
          </a:xfrm>
          <a:prstGeom prst="rect">
            <a:avLst/>
          </a:prstGeom>
          <a:solidFill>
            <a:srgbClr val="F9D7D8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6" name="Text 47"/>
          <p:cNvSpPr/>
          <p:nvPr/>
        </p:nvSpPr>
        <p:spPr>
          <a:xfrm>
            <a:off x="749300" y="4356100"/>
            <a:ext cx="223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</a:t>
            </a:r>
            <a:pPr algn="ctr" indent="0" marL="0">
              <a:lnSpc>
                <a:spcPts val="2340"/>
              </a:lnSpc>
              <a:buNone/>
            </a:pPr>
            <a:r>
              <a:rPr lang="en-US" sz="195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950" dirty="0"/>
          </a:p>
        </p:txBody>
      </p:sp>
      <p:sp>
        <p:nvSpPr>
          <p:cNvPr id="67" name="Text 48"/>
          <p:cNvSpPr/>
          <p:nvPr/>
        </p:nvSpPr>
        <p:spPr>
          <a:xfrm>
            <a:off x="749300" y="4711700"/>
            <a:ext cx="223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pPr algn="ctr" indent="0" marL="0">
              <a:lnSpc>
                <a:spcPts val="2280"/>
              </a:lnSpc>
              <a:buNone/>
            </a:pPr>
            <a:r>
              <a:rPr lang="en-US" sz="1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Iterations</a:t>
            </a:r>
            <a:endParaRPr lang="en-US" sz="1900" dirty="0"/>
          </a:p>
        </p:txBody>
      </p:sp>
      <p:pic>
        <p:nvPicPr>
          <p:cNvPr id="68" name="Image 17" descr="/workspaces/codespaces-blank/ai_llm_slides/videos/machine-learning/03_ridger_regression_gradient_descent/recreated_pptx/build/assets/m046_plo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62400" y="2197100"/>
            <a:ext cx="6515100" cy="392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2026-10-24T06:56:38Z</dcterms:created>
  <dcterms:modified xsi:type="dcterms:W3CDTF">2026-10-24T06:56:38Z</dcterms:modified>
</cp:coreProperties>
</file>