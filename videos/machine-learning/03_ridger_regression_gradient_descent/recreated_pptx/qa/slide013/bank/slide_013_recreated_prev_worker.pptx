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55800" y="863600"/>
            <a:ext cx="812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of Overfitting on model parameter “W”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19200" y="1219200"/>
            <a:ext cx="825500" cy="3810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1333500"/>
            <a:ext cx="825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172700" y="1219200"/>
            <a:ext cx="838200" cy="3810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172700" y="1333500"/>
            <a:ext cx="838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1600200"/>
          <a:ext cx="4660900" cy="15621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20700"/>
                <a:gridCol w="5080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3365500"/>
          <a:ext cx="4660900" cy="15621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20700"/>
                <a:gridCol w="5080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5105400"/>
          <a:ext cx="4660900" cy="15748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20700"/>
                <a:gridCol w="508000"/>
              </a:tblGrid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31300" y="1600200"/>
          <a:ext cx="1943100" cy="15621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31300" y="3365500"/>
          <a:ext cx="1943100" cy="15621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31300" y="5105400"/>
          <a:ext cx="1943100" cy="1574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</a:tblGrid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1"/>
          <p:cNvSpPr/>
          <p:nvPr/>
        </p:nvSpPr>
        <p:spPr>
          <a:xfrm>
            <a:off x="5892800" y="2362200"/>
            <a:ext cx="508000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5892800" y="2679700"/>
            <a:ext cx="508000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5892800" y="2362200"/>
            <a:ext cx="0" cy="3175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 rot="5400000">
            <a:off x="6261100" y="2311400"/>
            <a:ext cx="139700" cy="431800"/>
          </a:xfrm>
          <a:prstGeom prst="triangle">
            <a:avLst/>
          </a:prstGeom>
          <a:solidFill>
            <a:srgbClr val="0000FF"/>
          </a:solidFill>
          <a:ln/>
        </p:spPr>
      </p:sp>
      <p:sp>
        <p:nvSpPr>
          <p:cNvPr id="23" name="Shape 15"/>
          <p:cNvSpPr/>
          <p:nvPr/>
        </p:nvSpPr>
        <p:spPr>
          <a:xfrm>
            <a:off x="7962900" y="2362200"/>
            <a:ext cx="508000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7962900" y="2667000"/>
            <a:ext cx="508000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7962900" y="2362200"/>
            <a:ext cx="0" cy="3048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 rot="5400000">
            <a:off x="8331200" y="2311400"/>
            <a:ext cx="139700" cy="419100"/>
          </a:xfrm>
          <a:prstGeom prst="triangle">
            <a:avLst/>
          </a:prstGeom>
          <a:solidFill>
            <a:srgbClr val="0000FF"/>
          </a:solidFill>
          <a:ln/>
        </p:spPr>
      </p:sp>
      <p:sp>
        <p:nvSpPr>
          <p:cNvPr id="27" name="Shape 19"/>
          <p:cNvSpPr/>
          <p:nvPr/>
        </p:nvSpPr>
        <p:spPr>
          <a:xfrm>
            <a:off x="5892800" y="4051300"/>
            <a:ext cx="508000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5892800" y="4368800"/>
            <a:ext cx="508000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5892800" y="4051300"/>
            <a:ext cx="0" cy="3175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 rot="5400000">
            <a:off x="6261100" y="4000500"/>
            <a:ext cx="139700" cy="431800"/>
          </a:xfrm>
          <a:prstGeom prst="triangle">
            <a:avLst/>
          </a:prstGeom>
          <a:solidFill>
            <a:srgbClr val="0000FF"/>
          </a:solidFill>
          <a:ln/>
        </p:spPr>
      </p:sp>
      <p:sp>
        <p:nvSpPr>
          <p:cNvPr id="31" name="Shape 23"/>
          <p:cNvSpPr/>
          <p:nvPr/>
        </p:nvSpPr>
        <p:spPr>
          <a:xfrm>
            <a:off x="7975600" y="4051300"/>
            <a:ext cx="508000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975600" y="4356100"/>
            <a:ext cx="508000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7975600" y="4051300"/>
            <a:ext cx="0" cy="3048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 rot="5400000">
            <a:off x="8343900" y="4000500"/>
            <a:ext cx="139700" cy="419100"/>
          </a:xfrm>
          <a:prstGeom prst="triangle">
            <a:avLst/>
          </a:prstGeom>
          <a:solidFill>
            <a:srgbClr val="0000FF"/>
          </a:solidFill>
          <a:ln/>
        </p:spPr>
      </p:sp>
      <p:sp>
        <p:nvSpPr>
          <p:cNvPr id="35" name="Shape 27"/>
          <p:cNvSpPr/>
          <p:nvPr/>
        </p:nvSpPr>
        <p:spPr>
          <a:xfrm>
            <a:off x="5892800" y="5740400"/>
            <a:ext cx="508000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892800" y="6057900"/>
            <a:ext cx="508000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5892800" y="5740400"/>
            <a:ext cx="0" cy="3175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 rot="5400000">
            <a:off x="6261100" y="5689600"/>
            <a:ext cx="139700" cy="431800"/>
          </a:xfrm>
          <a:prstGeom prst="triangle">
            <a:avLst/>
          </a:prstGeom>
          <a:solidFill>
            <a:srgbClr val="0000FF"/>
          </a:solidFill>
          <a:ln/>
        </p:spPr>
      </p:sp>
      <p:sp>
        <p:nvSpPr>
          <p:cNvPr id="39" name="Shape 31"/>
          <p:cNvSpPr/>
          <p:nvPr/>
        </p:nvSpPr>
        <p:spPr>
          <a:xfrm>
            <a:off x="7962900" y="5740400"/>
            <a:ext cx="508000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7962900" y="6045200"/>
            <a:ext cx="508000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7962900" y="5740400"/>
            <a:ext cx="0" cy="3048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 rot="5400000">
            <a:off x="8331200" y="5689600"/>
            <a:ext cx="139700" cy="419100"/>
          </a:xfrm>
          <a:prstGeom prst="triangle">
            <a:avLst/>
          </a:prstGeom>
          <a:solidFill>
            <a:srgbClr val="0000FF"/>
          </a:solidFill>
          <a:ln/>
        </p:spPr>
      </p:sp>
      <p:sp>
        <p:nvSpPr>
          <p:cNvPr id="43" name="Shape 35"/>
          <p:cNvSpPr/>
          <p:nvPr/>
        </p:nvSpPr>
        <p:spPr>
          <a:xfrm>
            <a:off x="6413500" y="1600200"/>
            <a:ext cx="1524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680200" y="205740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</a:t>
            </a:r>
            <a:endParaRPr lang="en-US" sz="1200" dirty="0"/>
          </a:p>
        </p:txBody>
      </p:sp>
      <p:sp>
        <p:nvSpPr>
          <p:cNvPr id="45" name="Shape 37"/>
          <p:cNvSpPr/>
          <p:nvPr/>
        </p:nvSpPr>
        <p:spPr>
          <a:xfrm>
            <a:off x="7035800" y="2133600"/>
            <a:ext cx="177800" cy="25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6" name="Shape 38"/>
          <p:cNvSpPr/>
          <p:nvPr/>
        </p:nvSpPr>
        <p:spPr>
          <a:xfrm>
            <a:off x="7035800" y="2197100"/>
            <a:ext cx="177800" cy="25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7" name="Shape 39"/>
          <p:cNvSpPr/>
          <p:nvPr/>
        </p:nvSpPr>
        <p:spPr>
          <a:xfrm>
            <a:off x="7181850" y="1803400"/>
            <a:ext cx="0" cy="82550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7429500" y="1803400"/>
            <a:ext cx="0" cy="82550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7226300" y="1765300"/>
            <a:ext cx="21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50" name="Text 42"/>
          <p:cNvSpPr/>
          <p:nvPr/>
        </p:nvSpPr>
        <p:spPr>
          <a:xfrm>
            <a:off x="7226300" y="2070100"/>
            <a:ext cx="21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1" name="Text 43"/>
          <p:cNvSpPr/>
          <p:nvPr/>
        </p:nvSpPr>
        <p:spPr>
          <a:xfrm>
            <a:off x="7226300" y="2387600"/>
            <a:ext cx="21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52" name="Shape 44"/>
          <p:cNvSpPr/>
          <p:nvPr/>
        </p:nvSpPr>
        <p:spPr>
          <a:xfrm>
            <a:off x="6540500" y="2730500"/>
            <a:ext cx="1270000" cy="419100"/>
          </a:xfrm>
          <a:prstGeom prst="ellipse">
            <a:avLst/>
          </a:prstGeom>
          <a:solidFill>
            <a:srgbClr val="FFFF00"/>
          </a:solidFill>
          <a:ln/>
        </p:spPr>
      </p:sp>
      <p:sp>
        <p:nvSpPr>
          <p:cNvPr id="53" name="Text 45"/>
          <p:cNvSpPr/>
          <p:nvPr/>
        </p:nvSpPr>
        <p:spPr>
          <a:xfrm>
            <a:off x="6540500" y="28321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||W||^2 = 4</a:t>
            </a:r>
            <a:endParaRPr lang="en-US" sz="1100" dirty="0"/>
          </a:p>
        </p:txBody>
      </p:sp>
      <p:sp>
        <p:nvSpPr>
          <p:cNvPr id="54" name="Shape 46"/>
          <p:cNvSpPr/>
          <p:nvPr/>
        </p:nvSpPr>
        <p:spPr>
          <a:xfrm>
            <a:off x="6413500" y="3365500"/>
            <a:ext cx="1524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6680200" y="381000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</a:t>
            </a:r>
            <a:endParaRPr lang="en-US" sz="1200" dirty="0"/>
          </a:p>
        </p:txBody>
      </p:sp>
      <p:sp>
        <p:nvSpPr>
          <p:cNvPr id="56" name="Shape 48"/>
          <p:cNvSpPr/>
          <p:nvPr/>
        </p:nvSpPr>
        <p:spPr>
          <a:xfrm>
            <a:off x="7035800" y="3886200"/>
            <a:ext cx="177800" cy="25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7" name="Shape 49"/>
          <p:cNvSpPr/>
          <p:nvPr/>
        </p:nvSpPr>
        <p:spPr>
          <a:xfrm>
            <a:off x="7035800" y="3949700"/>
            <a:ext cx="177800" cy="25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7181850" y="3543300"/>
            <a:ext cx="0" cy="83820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7429500" y="3543300"/>
            <a:ext cx="0" cy="83820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7226300" y="3505200"/>
            <a:ext cx="21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100" dirty="0"/>
          </a:p>
        </p:txBody>
      </p:sp>
      <p:sp>
        <p:nvSpPr>
          <p:cNvPr id="61" name="Text 53"/>
          <p:cNvSpPr/>
          <p:nvPr/>
        </p:nvSpPr>
        <p:spPr>
          <a:xfrm>
            <a:off x="7226300" y="3822700"/>
            <a:ext cx="21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0.67</a:t>
            </a:r>
            <a:endParaRPr lang="en-US" sz="1100" dirty="0"/>
          </a:p>
        </p:txBody>
      </p:sp>
      <p:sp>
        <p:nvSpPr>
          <p:cNvPr id="62" name="Text 54"/>
          <p:cNvSpPr/>
          <p:nvPr/>
        </p:nvSpPr>
        <p:spPr>
          <a:xfrm>
            <a:off x="7226300" y="4140200"/>
            <a:ext cx="21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</a:t>
            </a:r>
            <a:endParaRPr lang="en-US" sz="1100" dirty="0"/>
          </a:p>
        </p:txBody>
      </p:sp>
      <p:sp>
        <p:nvSpPr>
          <p:cNvPr id="63" name="Shape 55"/>
          <p:cNvSpPr/>
          <p:nvPr/>
        </p:nvSpPr>
        <p:spPr>
          <a:xfrm>
            <a:off x="6565900" y="4483100"/>
            <a:ext cx="1270000" cy="419100"/>
          </a:xfrm>
          <a:prstGeom prst="ellipse">
            <a:avLst/>
          </a:prstGeom>
          <a:solidFill>
            <a:srgbClr val="FFFF00"/>
          </a:solidFill>
          <a:ln/>
        </p:spPr>
      </p:sp>
      <p:sp>
        <p:nvSpPr>
          <p:cNvPr id="64" name="Text 56"/>
          <p:cNvSpPr/>
          <p:nvPr/>
        </p:nvSpPr>
        <p:spPr>
          <a:xfrm>
            <a:off x="6565900" y="45847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||W||^2 = 8.11</a:t>
            </a:r>
            <a:endParaRPr lang="en-US" sz="1100" dirty="0"/>
          </a:p>
        </p:txBody>
      </p:sp>
      <p:sp>
        <p:nvSpPr>
          <p:cNvPr id="65" name="Shape 57"/>
          <p:cNvSpPr/>
          <p:nvPr/>
        </p:nvSpPr>
        <p:spPr>
          <a:xfrm>
            <a:off x="6413500" y="5105400"/>
            <a:ext cx="15240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6" name="Text 58"/>
          <p:cNvSpPr/>
          <p:nvPr/>
        </p:nvSpPr>
        <p:spPr>
          <a:xfrm>
            <a:off x="6680200" y="556260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</a:t>
            </a:r>
            <a:endParaRPr lang="en-US" sz="1200" dirty="0"/>
          </a:p>
        </p:txBody>
      </p:sp>
      <p:sp>
        <p:nvSpPr>
          <p:cNvPr id="67" name="Shape 59"/>
          <p:cNvSpPr/>
          <p:nvPr/>
        </p:nvSpPr>
        <p:spPr>
          <a:xfrm>
            <a:off x="7035800" y="5638800"/>
            <a:ext cx="177800" cy="25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8" name="Shape 60"/>
          <p:cNvSpPr/>
          <p:nvPr/>
        </p:nvSpPr>
        <p:spPr>
          <a:xfrm>
            <a:off x="7035800" y="5702300"/>
            <a:ext cx="177800" cy="25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9" name="Shape 61"/>
          <p:cNvSpPr/>
          <p:nvPr/>
        </p:nvSpPr>
        <p:spPr>
          <a:xfrm>
            <a:off x="7181850" y="5397500"/>
            <a:ext cx="0" cy="73660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70" name="Shape 62"/>
          <p:cNvSpPr/>
          <p:nvPr/>
        </p:nvSpPr>
        <p:spPr>
          <a:xfrm>
            <a:off x="7429500" y="5397500"/>
            <a:ext cx="0" cy="73660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71" name="Text 63"/>
          <p:cNvSpPr/>
          <p:nvPr/>
        </p:nvSpPr>
        <p:spPr>
          <a:xfrm>
            <a:off x="7226300" y="5359400"/>
            <a:ext cx="21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72" name="Text 64"/>
          <p:cNvSpPr/>
          <p:nvPr/>
        </p:nvSpPr>
        <p:spPr>
          <a:xfrm>
            <a:off x="7226300" y="5575300"/>
            <a:ext cx="21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0.29</a:t>
            </a:r>
            <a:endParaRPr lang="en-US" sz="1100" dirty="0"/>
          </a:p>
        </p:txBody>
      </p:sp>
      <p:sp>
        <p:nvSpPr>
          <p:cNvPr id="73" name="Text 65"/>
          <p:cNvSpPr/>
          <p:nvPr/>
        </p:nvSpPr>
        <p:spPr>
          <a:xfrm>
            <a:off x="7226300" y="5892800"/>
            <a:ext cx="21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1100" dirty="0"/>
          </a:p>
        </p:txBody>
      </p:sp>
      <p:sp>
        <p:nvSpPr>
          <p:cNvPr id="74" name="Shape 66"/>
          <p:cNvSpPr/>
          <p:nvPr/>
        </p:nvSpPr>
        <p:spPr>
          <a:xfrm>
            <a:off x="6629400" y="6248400"/>
            <a:ext cx="1257300" cy="406400"/>
          </a:xfrm>
          <a:prstGeom prst="ellipse">
            <a:avLst/>
          </a:prstGeom>
          <a:solidFill>
            <a:srgbClr val="FFFF00"/>
          </a:solidFill>
          <a:ln/>
        </p:spPr>
      </p:sp>
      <p:sp>
        <p:nvSpPr>
          <p:cNvPr id="75" name="Text 67"/>
          <p:cNvSpPr/>
          <p:nvPr/>
        </p:nvSpPr>
        <p:spPr>
          <a:xfrm>
            <a:off x="6629400" y="6350000"/>
            <a:ext cx="1257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||W||^2 = 16.7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2026-10-24T04:49:56Z</dcterms:created>
  <dcterms:modified xsi:type="dcterms:W3CDTF">2026-10-24T04:49:56Z</dcterms:modified>
</cp:coreProperties>
</file>