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71500"/>
            <a:ext cx="10795000" cy="6286500"/>
          </a:xfrm>
          <a:prstGeom prst="rect">
            <a:avLst/>
          </a:prstGeom>
          <a:solidFill>
            <a:srgbClr val="E9E9E7"/>
          </a:solidFill>
          <a:ln/>
        </p:spPr>
      </p:sp>
      <p:sp>
        <p:nvSpPr>
          <p:cNvPr id="3" name="Shape 1"/>
          <p:cNvSpPr/>
          <p:nvPr/>
        </p:nvSpPr>
        <p:spPr>
          <a:xfrm>
            <a:off x="74295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2700" y="584200"/>
            <a:ext cx="0" cy="626110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6600" y="6838950"/>
            <a:ext cx="10718800" cy="0"/>
          </a:xfrm>
          <a:prstGeom prst="line">
            <a:avLst/>
          </a:prstGeom>
          <a:noFill/>
          <a:ln w="12700">
            <a:solidFill>
              <a:srgbClr val="C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02950" y="704850"/>
            <a:ext cx="444500" cy="444500"/>
          </a:xfrm>
          <a:prstGeom prst="ellipse">
            <a:avLst/>
          </a:prstGeom>
          <a:solidFill>
            <a:srgbClr val="FDFD96"/>
          </a:solidFill>
          <a:ln w="25400">
            <a:solidFill>
              <a:srgbClr val="6A5AC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02950" y="704850"/>
            <a:ext cx="4445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955800" y="787400"/>
            <a:ext cx="838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 of Overfitting on model parameter “W”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solidFill>
            <a:srgbClr val="0000A7"/>
          </a:solidFill>
          <a:ln/>
        </p:spPr>
      </p:sp>
      <p:sp>
        <p:nvSpPr>
          <p:cNvPr id="12" name="Text 10"/>
          <p:cNvSpPr/>
          <p:nvPr/>
        </p:nvSpPr>
        <p:spPr>
          <a:xfrm>
            <a:off x="10185400" y="1231900"/>
            <a:ext cx="812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</a:t>
            </a:r>
            <a:endParaRPr lang="en-US" sz="17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1600200"/>
          <a:ext cx="4660900" cy="15621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3365500"/>
          <a:ext cx="4660900" cy="15748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68400" y="5105400"/>
          <a:ext cx="4660900" cy="1587500"/>
        </p:xfrm>
        <a:graphic>
          <a:graphicData uri="http://schemas.openxmlformats.org/drawingml/2006/table">
            <a:tbl>
              <a:tblPr/>
              <a:tblGrid>
                <a:gridCol w="520700"/>
                <a:gridCol w="520700"/>
                <a:gridCol w="508000"/>
                <a:gridCol w="520700"/>
                <a:gridCol w="520700"/>
                <a:gridCol w="520700"/>
                <a:gridCol w="508000"/>
                <a:gridCol w="533400"/>
                <a:gridCol w="508000"/>
              </a:tblGrid>
              <a:tr h="406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9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7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y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16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CED0C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16256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60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80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100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33782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32.4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42.3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52.3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31300" y="5118100"/>
          <a:ext cx="1943100" cy="1574800"/>
        </p:xfrm>
        <a:graphic>
          <a:graphicData uri="http://schemas.openxmlformats.org/drawingml/2006/table">
            <a:tbl>
              <a:tblPr/>
              <a:tblGrid>
                <a:gridCol w="647700"/>
                <a:gridCol w="647700"/>
                <a:gridCol w="647700"/>
              </a:tblGrid>
              <a:tr h="4064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Test</a:t>
                      </a:r>
                      <a:pPr algn="ctr" indent="0" marL="0">
                        <a:buNone/>
                      </a:pPr>
                      <a:r>
                        <a:rPr lang="en-US" sz="1100" b="1" spc="-50" kern="0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</a:t>
                      </a:r>
                      <a:endParaRPr lang="en-US" sz="18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36576" marR="36576" marT="27432" marB="27432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40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50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20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25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937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24.4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0000A7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31.2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C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38</a:t>
                      </a:r>
                      <a:endParaRPr lang="en-US" sz="2000" dirty="0">
                        <a:latin typeface="Times New Roman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91440" marR="91440" marT="45720" marB="45720" anchor="ctr">
                    <a:lnL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D7BE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FE1"/>
                    </a:solidFill>
                  </a:tcPr>
                </a:tc>
              </a:tr>
            </a:tbl>
          </a:graphicData>
        </a:graphic>
      </p:graphicFrame>
      <p:sp>
        <p:nvSpPr>
          <p:cNvPr id="19" name="Shape 11"/>
          <p:cNvSpPr/>
          <p:nvPr/>
        </p:nvSpPr>
        <p:spPr>
          <a:xfrm>
            <a:off x="58928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0" name="Shape 12"/>
          <p:cNvSpPr/>
          <p:nvPr/>
        </p:nvSpPr>
        <p:spPr>
          <a:xfrm>
            <a:off x="58928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1" name="Shape 13"/>
          <p:cNvSpPr/>
          <p:nvPr/>
        </p:nvSpPr>
        <p:spPr>
          <a:xfrm>
            <a:off x="58928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2" name="Shape 14"/>
          <p:cNvSpPr/>
          <p:nvPr/>
        </p:nvSpPr>
        <p:spPr>
          <a:xfrm>
            <a:off x="62738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3" name="Shape 15"/>
          <p:cNvSpPr/>
          <p:nvPr/>
        </p:nvSpPr>
        <p:spPr>
          <a:xfrm>
            <a:off x="7962900" y="24384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4" name="Shape 16"/>
          <p:cNvSpPr/>
          <p:nvPr/>
        </p:nvSpPr>
        <p:spPr>
          <a:xfrm>
            <a:off x="7962900" y="2603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5" name="Shape 17"/>
          <p:cNvSpPr/>
          <p:nvPr/>
        </p:nvSpPr>
        <p:spPr>
          <a:xfrm>
            <a:off x="7962900" y="24384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8343900" y="23622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58928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8928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8928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738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7975600" y="41275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975600" y="4292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7975600" y="41275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8356600" y="40513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8928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8928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58928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738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962900" y="58166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962900" y="5981700"/>
            <a:ext cx="381000" cy="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7962900" y="5816600"/>
            <a:ext cx="0" cy="165100"/>
          </a:xfrm>
          <a:prstGeom prst="line">
            <a:avLst/>
          </a:prstGeom>
          <a:noFill/>
          <a:ln w="15875">
            <a:solidFill>
              <a:srgbClr val="0000A7"/>
            </a:solidFill>
            <a:prstDash val="solid"/>
          </a:ln>
        </p:spPr>
      </p:sp>
      <p:sp>
        <p:nvSpPr>
          <p:cNvPr id="42" name="Shape 34"/>
          <p:cNvSpPr/>
          <p:nvPr/>
        </p:nvSpPr>
        <p:spPr>
          <a:xfrm>
            <a:off x="8343900" y="5740400"/>
            <a:ext cx="114300" cy="317500"/>
          </a:xfrm>
          <a:custGeom>
            <a:avLst/>
            <a:gdLst/>
            <a:ahLst/>
            <a:cxnLst/>
            <a:rect l="l" t="t" r="r" b="b"/>
            <a:pathLst>
              <a:path w="114300" h="317500">
                <a:moveTo>
                  <a:pt x="0" y="0"/>
                </a:moveTo>
                <a:lnTo>
                  <a:pt x="114300" y="158750"/>
                </a:lnTo>
                <a:lnTo>
                  <a:pt x="0" y="31750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0000A7"/>
            </a:solidFill>
            <a:prstDash val="solid"/>
          </a:ln>
        </p:spPr>
      </p:sp>
      <p:sp>
        <p:nvSpPr>
          <p:cNvPr id="43" name="Shape 35"/>
          <p:cNvSpPr/>
          <p:nvPr/>
        </p:nvSpPr>
        <p:spPr>
          <a:xfrm>
            <a:off x="6432550" y="1619250"/>
            <a:ext cx="1473200" cy="157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4" name="Image 0" descr="/workspaces/codespaces-blank/ai_llm_slides/videos/machine-learning/03_ridger_regression_gradient_descent/recreated_pptx/build/assets/wbox_band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8900" y="1625600"/>
            <a:ext cx="1460500" cy="15621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6432550" y="3371850"/>
            <a:ext cx="1473200" cy="157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6" name="Image 1" descr="/workspaces/codespaces-blank/ai_llm_slides/videos/machine-learning/03_ridger_regression_gradient_descent/recreated_pptx/build/assets/wbox_band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8900" y="3378200"/>
            <a:ext cx="1460500" cy="1562100"/>
          </a:xfrm>
          <a:prstGeom prst="rect">
            <a:avLst/>
          </a:prstGeom>
        </p:spPr>
      </p:pic>
      <p:sp>
        <p:nvSpPr>
          <p:cNvPr id="47" name="Shape 37"/>
          <p:cNvSpPr/>
          <p:nvPr/>
        </p:nvSpPr>
        <p:spPr>
          <a:xfrm>
            <a:off x="6432550" y="5124450"/>
            <a:ext cx="1473200" cy="1574800"/>
          </a:xfrm>
          <a:prstGeom prst="rect">
            <a:avLst/>
          </a:prstGeom>
          <a:solidFill>
            <a:srgbClr val="FFFFFF"/>
          </a:solidFill>
          <a:ln w="25400">
            <a:solidFill>
              <a:srgbClr val="C00000"/>
            </a:solidFill>
            <a:prstDash val="solid"/>
          </a:ln>
        </p:spPr>
      </p:sp>
      <p:pic>
        <p:nvPicPr>
          <p:cNvPr id="48" name="Image 2" descr="/workspaces/codespaces-blank/ai_llm_slides/videos/machine-learning/03_ridger_regression_gradient_descent/recreated_pptx/build/assets/wbox_band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900" y="5130800"/>
            <a:ext cx="1460500" cy="1562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2026-10-24T06:59:22Z</dcterms:created>
  <dcterms:modified xsi:type="dcterms:W3CDTF">2026-10-24T06:59:22Z</dcterms:modified>
</cp:coreProperties>
</file>