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1.png"/><Relationship Id="rId6" Type="http://schemas.openxmlformats.org/officeDocument/2006/relationships/image" Target="../media/image-1-2.png"/><Relationship Id="rId7" Type="http://schemas.openxmlformats.org/officeDocument/2006/relationships/image" Target="../media/image-1-1.png"/><Relationship Id="rId8" Type="http://schemas.openxmlformats.org/officeDocument/2006/relationships/image" Target="../media/image-1-2.png"/><Relationship Id="rId9" Type="http://schemas.openxmlformats.org/officeDocument/2006/relationships/image" Target="../media/image-1-1.png"/><Relationship Id="rId10" Type="http://schemas.openxmlformats.org/officeDocument/2006/relationships/image" Target="../media/image-1-2.png"/><Relationship Id="rId11" Type="http://schemas.openxmlformats.org/officeDocument/2006/relationships/image" Target="../media/image-1-1.png"/><Relationship Id="rId12" Type="http://schemas.openxmlformats.org/officeDocument/2006/relationships/image" Target="../media/image-1-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4.png"/><Relationship Id="rId17" Type="http://schemas.openxmlformats.org/officeDocument/2006/relationships/image" Target="../media/image-1-15.png"/><Relationship Id="rId18" Type="http://schemas.openxmlformats.org/officeDocument/2006/relationships/image" Target="../media/image-1-14.png"/><Relationship Id="rId19" Type="http://schemas.openxmlformats.org/officeDocument/2006/relationships/image" Target="../media/image-1-15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0.png"/><Relationship Id="rId23" Type="http://schemas.openxmlformats.org/officeDocument/2006/relationships/image" Target="../media/image-1-21.png"/><Relationship Id="rId24" Type="http://schemas.openxmlformats.org/officeDocument/2006/relationships/image" Target="../media/image-1-20.png"/><Relationship Id="rId25" Type="http://schemas.openxmlformats.org/officeDocument/2006/relationships/image" Target="../media/image-1-21.png"/><Relationship Id="rId26" Type="http://schemas.openxmlformats.org/officeDocument/2006/relationships/image" Target="../media/image-1-20.png"/><Relationship Id="rId27" Type="http://schemas.openxmlformats.org/officeDocument/2006/relationships/image" Target="../media/image-1-21.png"/><Relationship Id="rId28" Type="http://schemas.openxmlformats.org/officeDocument/2006/relationships/image" Target="../media/image-1-20.png"/><Relationship Id="rId29" Type="http://schemas.openxmlformats.org/officeDocument/2006/relationships/image" Target="../media/image-1-21.png"/><Relationship Id="rId30" Type="http://schemas.openxmlformats.org/officeDocument/2006/relationships/image" Target="../media/image-1-20.png"/><Relationship Id="rId31" Type="http://schemas.openxmlformats.org/officeDocument/2006/relationships/image" Target="../media/image-1-2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2.png"/><Relationship Id="rId34" Type="http://schemas.openxmlformats.org/officeDocument/2006/relationships/image" Target="../media/image-1-32.png"/><Relationship Id="rId35" Type="http://schemas.openxmlformats.org/officeDocument/2006/relationships/image" Target="../media/image-1-35.png"/><Relationship Id="rId36" Type="http://schemas.openxmlformats.org/officeDocument/2006/relationships/image" Target="../media/image-1-32.png"/><Relationship Id="rId37" Type="http://schemas.openxmlformats.org/officeDocument/2006/relationships/image" Target="../media/image-1-37.png"/><Relationship Id="rId38" Type="http://schemas.openxmlformats.org/officeDocument/2006/relationships/image" Target="../media/image-1-32.png"/><Relationship Id="rId39" Type="http://schemas.openxmlformats.org/officeDocument/2006/relationships/image" Target="../media/image-1-39.png"/><Relationship Id="rId40" Type="http://schemas.openxmlformats.org/officeDocument/2006/relationships/image" Target="../media/image-1-32.png"/><Relationship Id="rId41" Type="http://schemas.openxmlformats.org/officeDocument/2006/relationships/image" Target="../media/image-1-41.png"/><Relationship Id="rId42" Type="http://schemas.openxmlformats.org/officeDocument/2006/relationships/image" Target="../media/image-1-32.png"/><Relationship Id="rId43" Type="http://schemas.openxmlformats.org/officeDocument/2006/relationships/image" Target="../media/image-1-43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pic>
        <p:nvPicPr>
          <p:cNvPr id="33" name="Image 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585" y="971804"/>
            <a:ext cx="44196" cy="393192"/>
          </a:xfrm>
          <a:prstGeom prst="rect">
            <a:avLst/>
          </a:prstGeom>
        </p:spPr>
      </p:pic>
      <p:pic>
        <p:nvPicPr>
          <p:cNvPr id="34" name="Image 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09" y="971804"/>
            <a:ext cx="44196" cy="393192"/>
          </a:xfrm>
          <a:prstGeom prst="rect">
            <a:avLst/>
          </a:prstGeom>
        </p:spPr>
      </p:pic>
      <p:pic>
        <p:nvPicPr>
          <p:cNvPr id="35" name="Image 2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365" y="971804"/>
            <a:ext cx="44196" cy="393192"/>
          </a:xfrm>
          <a:prstGeom prst="rect">
            <a:avLst/>
          </a:prstGeom>
        </p:spPr>
      </p:pic>
      <p:pic>
        <p:nvPicPr>
          <p:cNvPr id="36" name="Image 3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19" y="971804"/>
            <a:ext cx="44196" cy="393192"/>
          </a:xfrm>
          <a:prstGeom prst="rect">
            <a:avLst/>
          </a:prstGeom>
        </p:spPr>
      </p:pic>
      <p:pic>
        <p:nvPicPr>
          <p:cNvPr id="37" name="Image 4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9194" y="971804"/>
            <a:ext cx="44196" cy="393192"/>
          </a:xfrm>
          <a:prstGeom prst="rect">
            <a:avLst/>
          </a:prstGeom>
        </p:spPr>
      </p:pic>
      <p:pic>
        <p:nvPicPr>
          <p:cNvPr id="38" name="Image 5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6199" y="971804"/>
            <a:ext cx="44196" cy="393192"/>
          </a:xfrm>
          <a:prstGeom prst="rect">
            <a:avLst/>
          </a:prstGeom>
        </p:spPr>
      </p:pic>
      <p:pic>
        <p:nvPicPr>
          <p:cNvPr id="39" name="Image 6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4182" y="971804"/>
            <a:ext cx="44196" cy="393192"/>
          </a:xfrm>
          <a:prstGeom prst="rect">
            <a:avLst/>
          </a:prstGeom>
        </p:spPr>
      </p:pic>
      <p:pic>
        <p:nvPicPr>
          <p:cNvPr id="40" name="Image 7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7664" y="971804"/>
            <a:ext cx="44196" cy="393192"/>
          </a:xfrm>
          <a:prstGeom prst="rect">
            <a:avLst/>
          </a:prstGeom>
        </p:spPr>
      </p:pic>
      <p:pic>
        <p:nvPicPr>
          <p:cNvPr id="41" name="Image 8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5647" y="971804"/>
            <a:ext cx="44196" cy="393192"/>
          </a:xfrm>
          <a:prstGeom prst="rect">
            <a:avLst/>
          </a:prstGeom>
        </p:spPr>
      </p:pic>
      <p:pic>
        <p:nvPicPr>
          <p:cNvPr id="42" name="Image 9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1890" y="971804"/>
            <a:ext cx="44196" cy="393192"/>
          </a:xfrm>
          <a:prstGeom prst="rect">
            <a:avLst/>
          </a:prstGeom>
        </p:spPr>
      </p:pic>
      <p:pic>
        <p:nvPicPr>
          <p:cNvPr id="43" name="Image 1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9746" y="971804"/>
            <a:ext cx="44196" cy="393192"/>
          </a:xfrm>
          <a:prstGeom prst="rect">
            <a:avLst/>
          </a:prstGeom>
        </p:spPr>
      </p:pic>
      <p:pic>
        <p:nvPicPr>
          <p:cNvPr id="44" name="Image 1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4973" y="971804"/>
            <a:ext cx="44196" cy="393192"/>
          </a:xfrm>
          <a:prstGeom prst="rect">
            <a:avLst/>
          </a:prstGeom>
        </p:spPr>
      </p:pic>
      <p:pic>
        <p:nvPicPr>
          <p:cNvPr id="45" name="Image 12" descr="/home/ahmed/Projects/ai_llm_slides/videos/machine-learning/03_ridger_regression_gradient_descent/recreated_pptx/build/assets/eq_initial_w_col_pare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254" y="736600"/>
            <a:ext cx="320040" cy="588261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4635500" y="774700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300" dirty="0"/>
          </a:p>
        </p:txBody>
      </p:sp>
      <p:sp>
        <p:nvSpPr>
          <p:cNvPr id="47" name="Text 32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48" name="Text 33"/>
          <p:cNvSpPr/>
          <p:nvPr/>
        </p:nvSpPr>
        <p:spPr>
          <a:xfrm>
            <a:off x="6959600" y="10795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000" dirty="0"/>
          </a:p>
        </p:txBody>
      </p:sp>
      <p:pic>
        <p:nvPicPr>
          <p:cNvPr id="49" name="Image 13" descr="/home/ahmed/Projects/ai_llm_slides/videos/machine-learning/03_ridger_regression_gradient_descent/recreated_pptx/build/assets/parens049/paren_z49_l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1429" y="1111504"/>
            <a:ext cx="44196" cy="393192"/>
          </a:xfrm>
          <a:prstGeom prst="rect">
            <a:avLst/>
          </a:prstGeom>
        </p:spPr>
      </p:pic>
      <p:pic>
        <p:nvPicPr>
          <p:cNvPr id="50" name="Image 14" descr="/home/ahmed/Projects/ai_llm_slides/videos/machine-learning/03_ridger_regression_gradient_descent/recreated_pptx/build/assets/parens049/paren_z49_r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2625" y="1111504"/>
            <a:ext cx="44196" cy="393192"/>
          </a:xfrm>
          <a:prstGeom prst="rect">
            <a:avLst/>
          </a:prstGeom>
        </p:spPr>
      </p:pic>
      <p:pic>
        <p:nvPicPr>
          <p:cNvPr id="51" name="Image 15" descr="/home/ahmed/Projects/ai_llm_slides/videos/machine-learning/03_ridger_regression_gradient_descent/recreated_pptx/build/assets/parens049/paren_z49_l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23529" y="1111504"/>
            <a:ext cx="44196" cy="393192"/>
          </a:xfrm>
          <a:prstGeom prst="rect">
            <a:avLst/>
          </a:prstGeom>
        </p:spPr>
      </p:pic>
      <p:pic>
        <p:nvPicPr>
          <p:cNvPr id="52" name="Image 16" descr="/home/ahmed/Projects/ai_llm_slides/videos/machine-learning/03_ridger_regression_gradient_descent/recreated_pptx/build/assets/parens049/paren_z49_r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82025" y="1111504"/>
            <a:ext cx="44196" cy="393192"/>
          </a:xfrm>
          <a:prstGeom prst="rect">
            <a:avLst/>
          </a:prstGeom>
        </p:spPr>
      </p:pic>
      <p:pic>
        <p:nvPicPr>
          <p:cNvPr id="53" name="Image 17" descr="/home/ahmed/Projects/ai_llm_slides/videos/machine-learning/03_ridger_regression_gradient_descent/recreated_pptx/build/assets/parens049/paren_z49_l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02929" y="1111504"/>
            <a:ext cx="44196" cy="393192"/>
          </a:xfrm>
          <a:prstGeom prst="rect">
            <a:avLst/>
          </a:prstGeom>
        </p:spPr>
      </p:pic>
      <p:pic>
        <p:nvPicPr>
          <p:cNvPr id="54" name="Image 18" descr="/home/ahmed/Projects/ai_llm_slides/videos/machine-learning/03_ridger_regression_gradient_descent/recreated_pptx/build/assets/parens049/paren_z49_r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61425" y="1111504"/>
            <a:ext cx="44196" cy="393192"/>
          </a:xfrm>
          <a:prstGeom prst="rect">
            <a:avLst/>
          </a:prstGeom>
        </p:spPr>
      </p:pic>
      <p:sp>
        <p:nvSpPr>
          <p:cNvPr id="55" name="Text 34"/>
          <p:cNvSpPr/>
          <p:nvPr/>
        </p:nvSpPr>
        <p:spPr>
          <a:xfrm>
            <a:off x="808736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</a:t>
            </a:r>
            <a:endParaRPr lang="en-US" sz="1200" dirty="0"/>
          </a:p>
        </p:txBody>
      </p:sp>
      <p:sp>
        <p:nvSpPr>
          <p:cNvPr id="56" name="Text 35"/>
          <p:cNvSpPr/>
          <p:nvPr/>
        </p:nvSpPr>
        <p:spPr>
          <a:xfrm>
            <a:off x="83731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Z₂</a:t>
            </a:r>
            <a:endParaRPr lang="en-US" sz="1200" dirty="0"/>
          </a:p>
        </p:txBody>
      </p:sp>
      <p:sp>
        <p:nvSpPr>
          <p:cNvPr id="57" name="Text 36"/>
          <p:cNvSpPr/>
          <p:nvPr/>
        </p:nvSpPr>
        <p:spPr>
          <a:xfrm>
            <a:off x="86652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Z₃</a:t>
            </a:r>
            <a:endParaRPr lang="en-US" sz="1200" dirty="0"/>
          </a:p>
        </p:txBody>
      </p:sp>
      <p:sp>
        <p:nvSpPr>
          <p:cNvPr id="58" name="Text 37"/>
          <p:cNvSpPr/>
          <p:nvPr/>
        </p:nvSpPr>
        <p:spPr>
          <a:xfrm>
            <a:off x="808736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59" name="Text 38"/>
          <p:cNvSpPr/>
          <p:nvPr/>
        </p:nvSpPr>
        <p:spPr>
          <a:xfrm>
            <a:off x="83731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0" name="Text 39"/>
          <p:cNvSpPr/>
          <p:nvPr/>
        </p:nvSpPr>
        <p:spPr>
          <a:xfrm>
            <a:off x="86652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40"/>
          <p:cNvSpPr/>
          <p:nvPr/>
        </p:nvSpPr>
        <p:spPr>
          <a:xfrm>
            <a:off x="808736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41"/>
          <p:cNvSpPr/>
          <p:nvPr/>
        </p:nvSpPr>
        <p:spPr>
          <a:xfrm>
            <a:off x="83731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3" name="Text 42"/>
          <p:cNvSpPr/>
          <p:nvPr/>
        </p:nvSpPr>
        <p:spPr>
          <a:xfrm>
            <a:off x="86652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43"/>
          <p:cNvSpPr/>
          <p:nvPr/>
        </p:nvSpPr>
        <p:spPr>
          <a:xfrm>
            <a:off x="3035300" y="13716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sp>
        <p:nvSpPr>
          <p:cNvPr id="65" name="Shape 44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66" name="Text 45"/>
          <p:cNvSpPr/>
          <p:nvPr/>
        </p:nvSpPr>
        <p:spPr>
          <a:xfrm>
            <a:off x="1016000" y="1854200"/>
            <a:ext cx="200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A5A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sp>
        <p:nvSpPr>
          <p:cNvPr id="67" name="Text 46"/>
          <p:cNvSpPr/>
          <p:nvPr/>
        </p:nvSpPr>
        <p:spPr>
          <a:xfrm>
            <a:off x="11277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68" name="Text 47"/>
          <p:cNvSpPr/>
          <p:nvPr/>
        </p:nvSpPr>
        <p:spPr>
          <a:xfrm>
            <a:off x="1407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69" name="Text 48"/>
          <p:cNvSpPr/>
          <p:nvPr/>
        </p:nvSpPr>
        <p:spPr>
          <a:xfrm>
            <a:off x="16929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70" name="Text 49"/>
          <p:cNvSpPr/>
          <p:nvPr/>
        </p:nvSpPr>
        <p:spPr>
          <a:xfrm>
            <a:off x="19786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71" name="Text 50"/>
          <p:cNvSpPr/>
          <p:nvPr/>
        </p:nvSpPr>
        <p:spPr>
          <a:xfrm>
            <a:off x="22644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72" name="Text 51"/>
          <p:cNvSpPr/>
          <p:nvPr/>
        </p:nvSpPr>
        <p:spPr>
          <a:xfrm>
            <a:off x="2550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73" name="Text 52"/>
          <p:cNvSpPr/>
          <p:nvPr/>
        </p:nvSpPr>
        <p:spPr>
          <a:xfrm>
            <a:off x="11277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4" name="Text 53"/>
          <p:cNvSpPr/>
          <p:nvPr/>
        </p:nvSpPr>
        <p:spPr>
          <a:xfrm>
            <a:off x="1407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54"/>
          <p:cNvSpPr/>
          <p:nvPr/>
        </p:nvSpPr>
        <p:spPr>
          <a:xfrm>
            <a:off x="16929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55"/>
          <p:cNvSpPr/>
          <p:nvPr/>
        </p:nvSpPr>
        <p:spPr>
          <a:xfrm>
            <a:off x="19786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7" name="Text 56"/>
          <p:cNvSpPr/>
          <p:nvPr/>
        </p:nvSpPr>
        <p:spPr>
          <a:xfrm>
            <a:off x="22644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8" name="Text 57"/>
          <p:cNvSpPr/>
          <p:nvPr/>
        </p:nvSpPr>
        <p:spPr>
          <a:xfrm>
            <a:off x="2550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9" name="Text 58"/>
          <p:cNvSpPr/>
          <p:nvPr/>
        </p:nvSpPr>
        <p:spPr>
          <a:xfrm>
            <a:off x="11277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Text 59"/>
          <p:cNvSpPr/>
          <p:nvPr/>
        </p:nvSpPr>
        <p:spPr>
          <a:xfrm>
            <a:off x="1407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1" name="Text 60"/>
          <p:cNvSpPr/>
          <p:nvPr/>
        </p:nvSpPr>
        <p:spPr>
          <a:xfrm>
            <a:off x="16929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61"/>
          <p:cNvSpPr/>
          <p:nvPr/>
        </p:nvSpPr>
        <p:spPr>
          <a:xfrm>
            <a:off x="19786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83" name="Text 62"/>
          <p:cNvSpPr/>
          <p:nvPr/>
        </p:nvSpPr>
        <p:spPr>
          <a:xfrm>
            <a:off x="22644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4" name="Text 63"/>
          <p:cNvSpPr/>
          <p:nvPr/>
        </p:nvSpPr>
        <p:spPr>
          <a:xfrm>
            <a:off x="2550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5" name="Text 64"/>
          <p:cNvSpPr/>
          <p:nvPr/>
        </p:nvSpPr>
        <p:spPr>
          <a:xfrm>
            <a:off x="11277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Text 65"/>
          <p:cNvSpPr/>
          <p:nvPr/>
        </p:nvSpPr>
        <p:spPr>
          <a:xfrm>
            <a:off x="1407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7" name="Text 66"/>
          <p:cNvSpPr/>
          <p:nvPr/>
        </p:nvSpPr>
        <p:spPr>
          <a:xfrm>
            <a:off x="16929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8" name="Text 67"/>
          <p:cNvSpPr/>
          <p:nvPr/>
        </p:nvSpPr>
        <p:spPr>
          <a:xfrm>
            <a:off x="19786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89" name="Text 68"/>
          <p:cNvSpPr/>
          <p:nvPr/>
        </p:nvSpPr>
        <p:spPr>
          <a:xfrm>
            <a:off x="22644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0" name="Text 69"/>
          <p:cNvSpPr/>
          <p:nvPr/>
        </p:nvSpPr>
        <p:spPr>
          <a:xfrm>
            <a:off x="2550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91" name="Image 19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71829" y="2279904"/>
            <a:ext cx="44196" cy="577596"/>
          </a:xfrm>
          <a:prstGeom prst="rect">
            <a:avLst/>
          </a:prstGeom>
        </p:spPr>
      </p:pic>
      <p:pic>
        <p:nvPicPr>
          <p:cNvPr id="92" name="Image 20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30325" y="2279904"/>
            <a:ext cx="44196" cy="577596"/>
          </a:xfrm>
          <a:prstGeom prst="rect">
            <a:avLst/>
          </a:prstGeom>
        </p:spPr>
      </p:pic>
      <p:pic>
        <p:nvPicPr>
          <p:cNvPr id="93" name="Image 21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51229" y="2279904"/>
            <a:ext cx="44196" cy="577596"/>
          </a:xfrm>
          <a:prstGeom prst="rect">
            <a:avLst/>
          </a:prstGeom>
        </p:spPr>
      </p:pic>
      <p:pic>
        <p:nvPicPr>
          <p:cNvPr id="94" name="Image 22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09725" y="2279904"/>
            <a:ext cx="44196" cy="577596"/>
          </a:xfrm>
          <a:prstGeom prst="rect">
            <a:avLst/>
          </a:prstGeom>
        </p:spPr>
      </p:pic>
      <p:pic>
        <p:nvPicPr>
          <p:cNvPr id="95" name="Image 23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30629" y="2279904"/>
            <a:ext cx="44196" cy="577596"/>
          </a:xfrm>
          <a:prstGeom prst="rect">
            <a:avLst/>
          </a:prstGeom>
        </p:spPr>
      </p:pic>
      <p:pic>
        <p:nvPicPr>
          <p:cNvPr id="96" name="Image 24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01825" y="2279904"/>
            <a:ext cx="44196" cy="577596"/>
          </a:xfrm>
          <a:prstGeom prst="rect">
            <a:avLst/>
          </a:prstGeom>
        </p:spPr>
      </p:pic>
      <p:pic>
        <p:nvPicPr>
          <p:cNvPr id="97" name="Image 25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22729" y="2279904"/>
            <a:ext cx="44196" cy="577596"/>
          </a:xfrm>
          <a:prstGeom prst="rect">
            <a:avLst/>
          </a:prstGeom>
        </p:spPr>
      </p:pic>
      <p:pic>
        <p:nvPicPr>
          <p:cNvPr id="98" name="Image 26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181225" y="2279904"/>
            <a:ext cx="44196" cy="577596"/>
          </a:xfrm>
          <a:prstGeom prst="rect">
            <a:avLst/>
          </a:prstGeom>
        </p:spPr>
      </p:pic>
      <p:pic>
        <p:nvPicPr>
          <p:cNvPr id="99" name="Image 27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02129" y="2279904"/>
            <a:ext cx="44196" cy="577596"/>
          </a:xfrm>
          <a:prstGeom prst="rect">
            <a:avLst/>
          </a:prstGeom>
        </p:spPr>
      </p:pic>
      <p:pic>
        <p:nvPicPr>
          <p:cNvPr id="100" name="Image 28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473325" y="2279904"/>
            <a:ext cx="44196" cy="577596"/>
          </a:xfrm>
          <a:prstGeom prst="rect">
            <a:avLst/>
          </a:prstGeom>
        </p:spPr>
      </p:pic>
      <p:pic>
        <p:nvPicPr>
          <p:cNvPr id="101" name="Image 29" descr="/home/ahmed/Projects/ai_llm_slides/videos/machine-learning/03_ridger_regression_gradient_descent/recreated_pptx/build/assets/parens049/paren_aug_l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94229" y="2279904"/>
            <a:ext cx="44196" cy="577596"/>
          </a:xfrm>
          <a:prstGeom prst="rect">
            <a:avLst/>
          </a:prstGeom>
        </p:spPr>
      </p:pic>
      <p:pic>
        <p:nvPicPr>
          <p:cNvPr id="102" name="Image 30" descr="/home/ahmed/Projects/ai_llm_slides/videos/machine-learning/03_ridger_regression_gradient_descent/recreated_pptx/build/assets/parens049/paren_aug_r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752725" y="2279904"/>
            <a:ext cx="44196" cy="577596"/>
          </a:xfrm>
          <a:prstGeom prst="rect">
            <a:avLst/>
          </a:prstGeom>
        </p:spPr>
      </p:pic>
      <p:sp>
        <p:nvSpPr>
          <p:cNvPr id="103" name="Text 70"/>
          <p:cNvSpPr/>
          <p:nvPr/>
        </p:nvSpPr>
        <p:spPr>
          <a:xfrm>
            <a:off x="11277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4" name="Text 71"/>
          <p:cNvSpPr/>
          <p:nvPr/>
        </p:nvSpPr>
        <p:spPr>
          <a:xfrm>
            <a:off x="1407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5" name="Text 72"/>
          <p:cNvSpPr/>
          <p:nvPr/>
        </p:nvSpPr>
        <p:spPr>
          <a:xfrm>
            <a:off x="16929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6" name="Text 73"/>
          <p:cNvSpPr/>
          <p:nvPr/>
        </p:nvSpPr>
        <p:spPr>
          <a:xfrm>
            <a:off x="19786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07" name="Text 74"/>
          <p:cNvSpPr/>
          <p:nvPr/>
        </p:nvSpPr>
        <p:spPr>
          <a:xfrm>
            <a:off x="22644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08" name="Text 75"/>
          <p:cNvSpPr/>
          <p:nvPr/>
        </p:nvSpPr>
        <p:spPr>
          <a:xfrm>
            <a:off x="2550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09" name="Shape 76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110" name="Text 77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2100" dirty="0"/>
          </a:p>
        </p:txBody>
      </p:sp>
      <p:sp>
        <p:nvSpPr>
          <p:cNvPr id="111" name="Text 78"/>
          <p:cNvSpPr/>
          <p:nvPr/>
        </p:nvSpPr>
        <p:spPr>
          <a:xfrm>
            <a:off x="990600" y="44323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2000" dirty="0"/>
          </a:p>
        </p:txBody>
      </p:sp>
      <p:sp>
        <p:nvSpPr>
          <p:cNvPr id="112" name="Text 79"/>
          <p:cNvSpPr/>
          <p:nvPr/>
        </p:nvSpPr>
        <p:spPr>
          <a:xfrm>
            <a:off x="2514600" y="4432300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13" name="Text 80"/>
          <p:cNvSpPr/>
          <p:nvPr/>
        </p:nvSpPr>
        <p:spPr>
          <a:xfrm>
            <a:off x="1079500" y="4749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114" name="Text 81"/>
          <p:cNvSpPr/>
          <p:nvPr/>
        </p:nvSpPr>
        <p:spPr>
          <a:xfrm>
            <a:off x="1612900" y="4749800"/>
            <a:ext cx="114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endParaRPr lang="en-US" sz="2000" dirty="0"/>
          </a:p>
        </p:txBody>
      </p:sp>
      <p:sp>
        <p:nvSpPr>
          <p:cNvPr id="115" name="Shape 82"/>
          <p:cNvSpPr/>
          <p:nvPr/>
        </p:nvSpPr>
        <p:spPr>
          <a:xfrm>
            <a:off x="3479800" y="1778000"/>
            <a:ext cx="7353300" cy="492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Shape 83"/>
          <p:cNvSpPr/>
          <p:nvPr/>
        </p:nvSpPr>
        <p:spPr>
          <a:xfrm>
            <a:off x="3479800" y="1778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17" name="Shape 84"/>
          <p:cNvSpPr/>
          <p:nvPr/>
        </p:nvSpPr>
        <p:spPr>
          <a:xfrm>
            <a:off x="3479800" y="25019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18" name="Shape 85"/>
          <p:cNvSpPr/>
          <p:nvPr/>
        </p:nvSpPr>
        <p:spPr>
          <a:xfrm>
            <a:off x="3479800" y="26162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19" name="Shape 86"/>
          <p:cNvSpPr/>
          <p:nvPr/>
        </p:nvSpPr>
        <p:spPr>
          <a:xfrm>
            <a:off x="3479800" y="33401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0" name="Shape 87"/>
          <p:cNvSpPr/>
          <p:nvPr/>
        </p:nvSpPr>
        <p:spPr>
          <a:xfrm>
            <a:off x="3479800" y="34544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1" name="Shape 88"/>
          <p:cNvSpPr/>
          <p:nvPr/>
        </p:nvSpPr>
        <p:spPr>
          <a:xfrm>
            <a:off x="3479800" y="41783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2" name="Shape 89"/>
          <p:cNvSpPr/>
          <p:nvPr/>
        </p:nvSpPr>
        <p:spPr>
          <a:xfrm>
            <a:off x="3479800" y="4292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3" name="Shape 90"/>
          <p:cNvSpPr/>
          <p:nvPr/>
        </p:nvSpPr>
        <p:spPr>
          <a:xfrm>
            <a:off x="3479800" y="50165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4" name="Shape 91"/>
          <p:cNvSpPr/>
          <p:nvPr/>
        </p:nvSpPr>
        <p:spPr>
          <a:xfrm>
            <a:off x="3479800" y="51308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5" name="Shape 92"/>
          <p:cNvSpPr/>
          <p:nvPr/>
        </p:nvSpPr>
        <p:spPr>
          <a:xfrm>
            <a:off x="3479800" y="58547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6" name="Shape 93"/>
          <p:cNvSpPr/>
          <p:nvPr/>
        </p:nvSpPr>
        <p:spPr>
          <a:xfrm>
            <a:off x="3479800" y="5969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7" name="Shape 94"/>
          <p:cNvSpPr/>
          <p:nvPr/>
        </p:nvSpPr>
        <p:spPr>
          <a:xfrm>
            <a:off x="3479800" y="6705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8" name="Shape 95"/>
          <p:cNvSpPr/>
          <p:nvPr/>
        </p:nvSpPr>
        <p:spPr>
          <a:xfrm>
            <a:off x="3479800" y="1778000"/>
            <a:ext cx="0" cy="474980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9" name="Text 96"/>
          <p:cNvSpPr/>
          <p:nvPr/>
        </p:nvSpPr>
        <p:spPr>
          <a:xfrm>
            <a:off x="3594100" y="2057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30" name="Text 97"/>
          <p:cNvSpPr/>
          <p:nvPr/>
        </p:nvSpPr>
        <p:spPr>
          <a:xfrm>
            <a:off x="41656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1" name="Text 98"/>
          <p:cNvSpPr/>
          <p:nvPr/>
        </p:nvSpPr>
        <p:spPr>
          <a:xfrm>
            <a:off x="43942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2" name="Text 99"/>
          <p:cNvSpPr/>
          <p:nvPr/>
        </p:nvSpPr>
        <p:spPr>
          <a:xfrm>
            <a:off x="46228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133" name="Image 31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13554" y="1866900"/>
            <a:ext cx="316995" cy="579117"/>
          </a:xfrm>
          <a:prstGeom prst="rect">
            <a:avLst/>
          </a:prstGeom>
        </p:spPr>
      </p:pic>
      <p:sp>
        <p:nvSpPr>
          <p:cNvPr id="134" name="Text 100"/>
          <p:cNvSpPr/>
          <p:nvPr/>
        </p:nvSpPr>
        <p:spPr>
          <a:xfrm>
            <a:off x="5194300" y="2057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35" name="Text 101"/>
          <p:cNvSpPr/>
          <p:nvPr/>
        </p:nvSpPr>
        <p:spPr>
          <a:xfrm>
            <a:off x="5321300" y="2057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6" name="Text 102"/>
          <p:cNvSpPr/>
          <p:nvPr/>
        </p:nvSpPr>
        <p:spPr>
          <a:xfrm>
            <a:off x="6299200" y="2057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37" name="Text 103"/>
          <p:cNvSpPr/>
          <p:nvPr/>
        </p:nvSpPr>
        <p:spPr>
          <a:xfrm>
            <a:off x="6553200" y="2057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38" name="Text 104"/>
          <p:cNvSpPr/>
          <p:nvPr/>
        </p:nvSpPr>
        <p:spPr>
          <a:xfrm>
            <a:off x="8826500" y="2057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39" name="Image 32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169654" y="1879600"/>
            <a:ext cx="316995" cy="579117"/>
          </a:xfrm>
          <a:prstGeom prst="rect">
            <a:avLst/>
          </a:prstGeom>
        </p:spPr>
      </p:pic>
      <p:sp>
        <p:nvSpPr>
          <p:cNvPr id="140" name="Text 105"/>
          <p:cNvSpPr/>
          <p:nvPr/>
        </p:nvSpPr>
        <p:spPr>
          <a:xfrm>
            <a:off x="3594100" y="28956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41" name="Text 106"/>
          <p:cNvSpPr/>
          <p:nvPr/>
        </p:nvSpPr>
        <p:spPr>
          <a:xfrm>
            <a:off x="41656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2" name="Text 107"/>
          <p:cNvSpPr/>
          <p:nvPr/>
        </p:nvSpPr>
        <p:spPr>
          <a:xfrm>
            <a:off x="43942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3" name="Text 108"/>
          <p:cNvSpPr/>
          <p:nvPr/>
        </p:nvSpPr>
        <p:spPr>
          <a:xfrm>
            <a:off x="46228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144" name="Image 33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13554" y="2705100"/>
            <a:ext cx="316995" cy="579117"/>
          </a:xfrm>
          <a:prstGeom prst="rect">
            <a:avLst/>
          </a:prstGeom>
        </p:spPr>
      </p:pic>
      <p:sp>
        <p:nvSpPr>
          <p:cNvPr id="145" name="Text 109"/>
          <p:cNvSpPr/>
          <p:nvPr/>
        </p:nvSpPr>
        <p:spPr>
          <a:xfrm>
            <a:off x="5194300" y="28956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6" name="Text 110"/>
          <p:cNvSpPr/>
          <p:nvPr/>
        </p:nvSpPr>
        <p:spPr>
          <a:xfrm>
            <a:off x="5321300" y="28956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7" name="Text 111"/>
          <p:cNvSpPr/>
          <p:nvPr/>
        </p:nvSpPr>
        <p:spPr>
          <a:xfrm>
            <a:off x="6299200" y="28956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48" name="Text 112"/>
          <p:cNvSpPr/>
          <p:nvPr/>
        </p:nvSpPr>
        <p:spPr>
          <a:xfrm>
            <a:off x="6553200" y="28956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49" name="Text 113"/>
          <p:cNvSpPr/>
          <p:nvPr/>
        </p:nvSpPr>
        <p:spPr>
          <a:xfrm>
            <a:off x="8826500" y="28956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50" name="Image 34" descr="/home/ahmed/Projects/ai_llm_slides/videos/machine-learning/03_ridger_regression_gradient_descent/recreated_pptx/build/assets/slide_049_wcol_paren_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169654" y="2717800"/>
            <a:ext cx="316995" cy="579117"/>
          </a:xfrm>
          <a:prstGeom prst="rect">
            <a:avLst/>
          </a:prstGeom>
        </p:spPr>
      </p:pic>
      <p:sp>
        <p:nvSpPr>
          <p:cNvPr id="151" name="Text 114"/>
          <p:cNvSpPr/>
          <p:nvPr/>
        </p:nvSpPr>
        <p:spPr>
          <a:xfrm>
            <a:off x="3594100" y="37338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52" name="Text 115"/>
          <p:cNvSpPr/>
          <p:nvPr/>
        </p:nvSpPr>
        <p:spPr>
          <a:xfrm>
            <a:off x="41656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3" name="Text 116"/>
          <p:cNvSpPr/>
          <p:nvPr/>
        </p:nvSpPr>
        <p:spPr>
          <a:xfrm>
            <a:off x="43942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4" name="Text 117"/>
          <p:cNvSpPr/>
          <p:nvPr/>
        </p:nvSpPr>
        <p:spPr>
          <a:xfrm>
            <a:off x="46228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pic>
        <p:nvPicPr>
          <p:cNvPr id="155" name="Image 35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13554" y="3543300"/>
            <a:ext cx="316995" cy="579117"/>
          </a:xfrm>
          <a:prstGeom prst="rect">
            <a:avLst/>
          </a:prstGeom>
        </p:spPr>
      </p:pic>
      <p:sp>
        <p:nvSpPr>
          <p:cNvPr id="156" name="Text 118"/>
          <p:cNvSpPr/>
          <p:nvPr/>
        </p:nvSpPr>
        <p:spPr>
          <a:xfrm>
            <a:off x="5194300" y="37338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57" name="Text 119"/>
          <p:cNvSpPr/>
          <p:nvPr/>
        </p:nvSpPr>
        <p:spPr>
          <a:xfrm>
            <a:off x="5321300" y="3733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8" name="Text 120"/>
          <p:cNvSpPr/>
          <p:nvPr/>
        </p:nvSpPr>
        <p:spPr>
          <a:xfrm>
            <a:off x="6299200" y="37338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59" name="Text 121"/>
          <p:cNvSpPr/>
          <p:nvPr/>
        </p:nvSpPr>
        <p:spPr>
          <a:xfrm>
            <a:off x="6553200" y="37338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60" name="Text 122"/>
          <p:cNvSpPr/>
          <p:nvPr/>
        </p:nvSpPr>
        <p:spPr>
          <a:xfrm>
            <a:off x="8826500" y="37338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61" name="Image 36" descr="/home/ahmed/Projects/ai_llm_slides/videos/machine-learning/03_ridger_regression_gradient_descent/recreated_pptx/build/assets/slide_049_wcol_paren_3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169654" y="3556000"/>
            <a:ext cx="316995" cy="579117"/>
          </a:xfrm>
          <a:prstGeom prst="rect">
            <a:avLst/>
          </a:prstGeom>
        </p:spPr>
      </p:pic>
      <p:sp>
        <p:nvSpPr>
          <p:cNvPr id="162" name="Text 123"/>
          <p:cNvSpPr/>
          <p:nvPr/>
        </p:nvSpPr>
        <p:spPr>
          <a:xfrm>
            <a:off x="3594100" y="45720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63" name="Text 124"/>
          <p:cNvSpPr/>
          <p:nvPr/>
        </p:nvSpPr>
        <p:spPr>
          <a:xfrm>
            <a:off x="41656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4" name="Text 125"/>
          <p:cNvSpPr/>
          <p:nvPr/>
        </p:nvSpPr>
        <p:spPr>
          <a:xfrm>
            <a:off x="43942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5" name="Text 126"/>
          <p:cNvSpPr/>
          <p:nvPr/>
        </p:nvSpPr>
        <p:spPr>
          <a:xfrm>
            <a:off x="46228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pic>
        <p:nvPicPr>
          <p:cNvPr id="166" name="Image 37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13554" y="4381500"/>
            <a:ext cx="316995" cy="579117"/>
          </a:xfrm>
          <a:prstGeom prst="rect">
            <a:avLst/>
          </a:prstGeom>
        </p:spPr>
      </p:pic>
      <p:sp>
        <p:nvSpPr>
          <p:cNvPr id="167" name="Text 127"/>
          <p:cNvSpPr/>
          <p:nvPr/>
        </p:nvSpPr>
        <p:spPr>
          <a:xfrm>
            <a:off x="5219700" y="45720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68" name="Text 128"/>
          <p:cNvSpPr/>
          <p:nvPr/>
        </p:nvSpPr>
        <p:spPr>
          <a:xfrm>
            <a:off x="5334000" y="45720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169" name="Text 129"/>
          <p:cNvSpPr/>
          <p:nvPr/>
        </p:nvSpPr>
        <p:spPr>
          <a:xfrm>
            <a:off x="6457950" y="45720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70" name="Text 130"/>
          <p:cNvSpPr/>
          <p:nvPr/>
        </p:nvSpPr>
        <p:spPr>
          <a:xfrm>
            <a:off x="6705600" y="45720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71" name="Text 131"/>
          <p:cNvSpPr/>
          <p:nvPr/>
        </p:nvSpPr>
        <p:spPr>
          <a:xfrm>
            <a:off x="8991600" y="457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72" name="Image 38" descr="/home/ahmed/Projects/ai_llm_slides/videos/machine-learning/03_ridger_regression_gradient_descent/recreated_pptx/build/assets/slide_049_wcol_paren_4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309354" y="4394200"/>
            <a:ext cx="316995" cy="579117"/>
          </a:xfrm>
          <a:prstGeom prst="rect">
            <a:avLst/>
          </a:prstGeom>
        </p:spPr>
      </p:pic>
      <p:sp>
        <p:nvSpPr>
          <p:cNvPr id="173" name="Text 132"/>
          <p:cNvSpPr/>
          <p:nvPr/>
        </p:nvSpPr>
        <p:spPr>
          <a:xfrm>
            <a:off x="3594100" y="54102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74" name="Text 133"/>
          <p:cNvSpPr/>
          <p:nvPr/>
        </p:nvSpPr>
        <p:spPr>
          <a:xfrm>
            <a:off x="41656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5" name="Text 134"/>
          <p:cNvSpPr/>
          <p:nvPr/>
        </p:nvSpPr>
        <p:spPr>
          <a:xfrm>
            <a:off x="43942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76" name="Text 135"/>
          <p:cNvSpPr/>
          <p:nvPr/>
        </p:nvSpPr>
        <p:spPr>
          <a:xfrm>
            <a:off x="46228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pic>
        <p:nvPicPr>
          <p:cNvPr id="177" name="Image 39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813554" y="5219700"/>
            <a:ext cx="316995" cy="579117"/>
          </a:xfrm>
          <a:prstGeom prst="rect">
            <a:avLst/>
          </a:prstGeom>
        </p:spPr>
      </p:pic>
      <p:sp>
        <p:nvSpPr>
          <p:cNvPr id="178" name="Text 136"/>
          <p:cNvSpPr/>
          <p:nvPr/>
        </p:nvSpPr>
        <p:spPr>
          <a:xfrm>
            <a:off x="5219700" y="54102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79" name="Text 137"/>
          <p:cNvSpPr/>
          <p:nvPr/>
        </p:nvSpPr>
        <p:spPr>
          <a:xfrm>
            <a:off x="5334000" y="54102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180" name="Text 138"/>
          <p:cNvSpPr/>
          <p:nvPr/>
        </p:nvSpPr>
        <p:spPr>
          <a:xfrm>
            <a:off x="6457950" y="54102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81" name="Text 139"/>
          <p:cNvSpPr/>
          <p:nvPr/>
        </p:nvSpPr>
        <p:spPr>
          <a:xfrm>
            <a:off x="6705600" y="5410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82" name="Text 140"/>
          <p:cNvSpPr/>
          <p:nvPr/>
        </p:nvSpPr>
        <p:spPr>
          <a:xfrm>
            <a:off x="8991600" y="54102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83" name="Image 40" descr="/home/ahmed/Projects/ai_llm_slides/videos/machine-learning/03_ridger_regression_gradient_descent/recreated_pptx/build/assets/slide_049_wcol_paren_5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309354" y="5232400"/>
            <a:ext cx="316995" cy="579117"/>
          </a:xfrm>
          <a:prstGeom prst="rect">
            <a:avLst/>
          </a:prstGeom>
        </p:spPr>
      </p:pic>
      <p:sp>
        <p:nvSpPr>
          <p:cNvPr id="184" name="Text 141"/>
          <p:cNvSpPr/>
          <p:nvPr/>
        </p:nvSpPr>
        <p:spPr>
          <a:xfrm>
            <a:off x="3594100" y="6248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85" name="Text 142"/>
          <p:cNvSpPr/>
          <p:nvPr/>
        </p:nvSpPr>
        <p:spPr>
          <a:xfrm>
            <a:off x="41656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6" name="Text 143"/>
          <p:cNvSpPr/>
          <p:nvPr/>
        </p:nvSpPr>
        <p:spPr>
          <a:xfrm>
            <a:off x="43942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87" name="Text 144"/>
          <p:cNvSpPr/>
          <p:nvPr/>
        </p:nvSpPr>
        <p:spPr>
          <a:xfrm>
            <a:off x="46228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pic>
        <p:nvPicPr>
          <p:cNvPr id="188" name="Image 41" descr="/home/ahmed/Projects/ai_llm_slides/videos/machine-learning/03_ridger_regression_gradient_descent/recreated_pptx/build/assets/slide_049_wcol_paren_1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13554" y="6057900"/>
            <a:ext cx="316995" cy="579117"/>
          </a:xfrm>
          <a:prstGeom prst="rect">
            <a:avLst/>
          </a:prstGeom>
        </p:spPr>
      </p:pic>
      <p:sp>
        <p:nvSpPr>
          <p:cNvPr id="189" name="Text 145"/>
          <p:cNvSpPr/>
          <p:nvPr/>
        </p:nvSpPr>
        <p:spPr>
          <a:xfrm>
            <a:off x="5219700" y="6248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90" name="Text 146"/>
          <p:cNvSpPr/>
          <p:nvPr/>
        </p:nvSpPr>
        <p:spPr>
          <a:xfrm>
            <a:off x="5334000" y="62484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191" name="Text 147"/>
          <p:cNvSpPr/>
          <p:nvPr/>
        </p:nvSpPr>
        <p:spPr>
          <a:xfrm>
            <a:off x="6457950" y="6248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92" name="Text 148"/>
          <p:cNvSpPr/>
          <p:nvPr/>
        </p:nvSpPr>
        <p:spPr>
          <a:xfrm>
            <a:off x="6705600" y="6248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93" name="Text 149"/>
          <p:cNvSpPr/>
          <p:nvPr/>
        </p:nvSpPr>
        <p:spPr>
          <a:xfrm>
            <a:off x="8991600" y="6248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194" name="Image 42" descr="/home/ahmed/Projects/ai_llm_slides/videos/machine-learning/03_ridger_regression_gradient_descent/recreated_pptx/build/assets/slide_049_wcol_paren_6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309354" y="6070600"/>
            <a:ext cx="316995" cy="5791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2026-10-26T05:11:25Z</dcterms:created>
  <dcterms:modified xsi:type="dcterms:W3CDTF">2026-10-26T05:11:25Z</dcterms:modified>
</cp:coreProperties>
</file>