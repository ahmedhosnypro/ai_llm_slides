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2.png"/><Relationship Id="rId5" Type="http://schemas.openxmlformats.org/officeDocument/2006/relationships/image" Target="../media/image-1-3.png"/><Relationship Id="rId6" Type="http://schemas.openxmlformats.org/officeDocument/2006/relationships/image" Target="../media/image-1-2.png"/><Relationship Id="rId7" Type="http://schemas.openxmlformats.org/officeDocument/2006/relationships/image" Target="../media/image-1-3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8.png"/><Relationship Id="rId11" Type="http://schemas.openxmlformats.org/officeDocument/2006/relationships/image" Target="../media/image-1-9.png"/><Relationship Id="rId12" Type="http://schemas.openxmlformats.org/officeDocument/2006/relationships/image" Target="../media/image-1-8.png"/><Relationship Id="rId13" Type="http://schemas.openxmlformats.org/officeDocument/2006/relationships/image" Target="../media/image-1-9.png"/><Relationship Id="rId14" Type="http://schemas.openxmlformats.org/officeDocument/2006/relationships/image" Target="../media/image-1-8.png"/><Relationship Id="rId15" Type="http://schemas.openxmlformats.org/officeDocument/2006/relationships/image" Target="../media/image-1-9.png"/><Relationship Id="rId16" Type="http://schemas.openxmlformats.org/officeDocument/2006/relationships/image" Target="../media/image-1-8.png"/><Relationship Id="rId17" Type="http://schemas.openxmlformats.org/officeDocument/2006/relationships/image" Target="../media/image-1-9.png"/><Relationship Id="rId18" Type="http://schemas.openxmlformats.org/officeDocument/2006/relationships/image" Target="../media/image-1-8.png"/><Relationship Id="rId19" Type="http://schemas.openxmlformats.org/officeDocument/2006/relationships/image" Target="../media/image-1-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0.png"/><Relationship Id="rId22" Type="http://schemas.openxmlformats.org/officeDocument/2006/relationships/image" Target="../media/image-1-20.png"/><Relationship Id="rId23" Type="http://schemas.openxmlformats.org/officeDocument/2006/relationships/image" Target="../media/image-1-23.png"/><Relationship Id="rId24" Type="http://schemas.openxmlformats.org/officeDocument/2006/relationships/image" Target="../media/image-1-20.png"/><Relationship Id="rId25" Type="http://schemas.openxmlformats.org/officeDocument/2006/relationships/image" Target="../media/image-1-25.png"/><Relationship Id="rId26" Type="http://schemas.openxmlformats.org/officeDocument/2006/relationships/image" Target="../media/image-1-20.png"/><Relationship Id="rId27" Type="http://schemas.openxmlformats.org/officeDocument/2006/relationships/image" Target="../media/image-1-27.png"/><Relationship Id="rId28" Type="http://schemas.openxmlformats.org/officeDocument/2006/relationships/image" Target="../media/image-1-20.png"/><Relationship Id="rId29" Type="http://schemas.openxmlformats.org/officeDocument/2006/relationships/image" Target="../media/image-1-29.png"/><Relationship Id="rId30" Type="http://schemas.openxmlformats.org/officeDocument/2006/relationships/image" Target="../media/image-1-20.png"/><Relationship Id="rId31" Type="http://schemas.openxmlformats.org/officeDocument/2006/relationships/image" Target="../media/image-1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6300" y="698500"/>
            <a:ext cx="8255000" cy="93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17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950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6398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846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3294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1742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0190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9500" y="9906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63980" y="9906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8460" y="9906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32940" y="9906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17420" y="9906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01900" y="9906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9500" y="12319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63980" y="12319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8460" y="12319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32940" y="12319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17420" y="12319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01900" y="12319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9500" y="14351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63980" y="14351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48460" y="14351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32940" y="14351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17420" y="14351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01900" y="14351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176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2700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3843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5621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16637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18415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9558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21336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22479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24257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25273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27051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pic>
        <p:nvPicPr>
          <p:cNvPr id="45" name="Image 0" descr="/home/ahmed/Projects/ai_llm_slides/videos/machine-learning/03_ridger_regression_gradient_descent/recreated_pptx/build/assets/eq_initial_w_col_par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254" y="736600"/>
            <a:ext cx="320040" cy="588261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4635500" y="774700"/>
            <a:ext cx="762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</a:t>
            </a:r>
            <a:pPr algn="l" indent="0" marL="0">
              <a:lnSpc>
                <a:spcPts val="13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410200" y="762000"/>
            <a:ext cx="190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using Step η = 1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959600" y="1079500"/>
            <a:ext cx="1168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000" dirty="0"/>
          </a:p>
        </p:txBody>
      </p:sp>
      <p:pic>
        <p:nvPicPr>
          <p:cNvPr id="49" name="Image 1" descr="/home/ahmed/Projects/ai_llm_slides/videos/machine-learning/03_ridger_regression_gradient_descent/recreated_pptx/build/assets/parens049/paren_z49_l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429" y="1111504"/>
            <a:ext cx="44196" cy="393192"/>
          </a:xfrm>
          <a:prstGeom prst="rect">
            <a:avLst/>
          </a:prstGeom>
        </p:spPr>
      </p:pic>
      <p:pic>
        <p:nvPicPr>
          <p:cNvPr id="50" name="Image 2" descr="/home/ahmed/Projects/ai_llm_slides/videos/machine-learning/03_ridger_regression_gradient_descent/recreated_pptx/build/assets/parens049/paren_z49_r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625" y="1111504"/>
            <a:ext cx="44196" cy="393192"/>
          </a:xfrm>
          <a:prstGeom prst="rect">
            <a:avLst/>
          </a:prstGeom>
        </p:spPr>
      </p:pic>
      <p:pic>
        <p:nvPicPr>
          <p:cNvPr id="51" name="Image 3" descr="/home/ahmed/Projects/ai_llm_slides/videos/machine-learning/03_ridger_regression_gradient_descent/recreated_pptx/build/assets/parens049/paren_z49_l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529" y="1111504"/>
            <a:ext cx="44196" cy="393192"/>
          </a:xfrm>
          <a:prstGeom prst="rect">
            <a:avLst/>
          </a:prstGeom>
        </p:spPr>
      </p:pic>
      <p:pic>
        <p:nvPicPr>
          <p:cNvPr id="52" name="Image 4" descr="/home/ahmed/Projects/ai_llm_slides/videos/machine-learning/03_ridger_regression_gradient_descent/recreated_pptx/build/assets/parens049/paren_z49_r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025" y="1111504"/>
            <a:ext cx="44196" cy="393192"/>
          </a:xfrm>
          <a:prstGeom prst="rect">
            <a:avLst/>
          </a:prstGeom>
        </p:spPr>
      </p:pic>
      <p:pic>
        <p:nvPicPr>
          <p:cNvPr id="53" name="Image 5" descr="/home/ahmed/Projects/ai_llm_slides/videos/machine-learning/03_ridger_regression_gradient_descent/recreated_pptx/build/assets/parens049/paren_z49_l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929" y="1111504"/>
            <a:ext cx="44196" cy="393192"/>
          </a:xfrm>
          <a:prstGeom prst="rect">
            <a:avLst/>
          </a:prstGeom>
        </p:spPr>
      </p:pic>
      <p:pic>
        <p:nvPicPr>
          <p:cNvPr id="54" name="Image 6" descr="/home/ahmed/Projects/ai_llm_slides/videos/machine-learning/03_ridger_regression_gradient_descent/recreated_pptx/build/assets/parens049/paren_z49_r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1425" y="1111504"/>
            <a:ext cx="44196" cy="393192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8087360" y="901700"/>
            <a:ext cx="28448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Z₁</a:t>
            </a:r>
            <a:endParaRPr lang="en-US" sz="1200" dirty="0"/>
          </a:p>
        </p:txBody>
      </p:sp>
      <p:sp>
        <p:nvSpPr>
          <p:cNvPr id="56" name="Text 47"/>
          <p:cNvSpPr/>
          <p:nvPr/>
        </p:nvSpPr>
        <p:spPr>
          <a:xfrm>
            <a:off x="8373110" y="901700"/>
            <a:ext cx="28448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Z₂</a:t>
            </a:r>
            <a:endParaRPr lang="en-US" sz="1200" dirty="0"/>
          </a:p>
        </p:txBody>
      </p:sp>
      <p:sp>
        <p:nvSpPr>
          <p:cNvPr id="57" name="Text 48"/>
          <p:cNvSpPr/>
          <p:nvPr/>
        </p:nvSpPr>
        <p:spPr>
          <a:xfrm>
            <a:off x="8665210" y="901700"/>
            <a:ext cx="28448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Z₃</a:t>
            </a:r>
            <a:endParaRPr lang="en-US" sz="1200" dirty="0"/>
          </a:p>
        </p:txBody>
      </p:sp>
      <p:sp>
        <p:nvSpPr>
          <p:cNvPr id="58" name="Text 49"/>
          <p:cNvSpPr/>
          <p:nvPr/>
        </p:nvSpPr>
        <p:spPr>
          <a:xfrm>
            <a:off x="8087360" y="10922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50"/>
          <p:cNvSpPr/>
          <p:nvPr/>
        </p:nvSpPr>
        <p:spPr>
          <a:xfrm>
            <a:off x="8373110" y="10922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60" name="Text 51"/>
          <p:cNvSpPr/>
          <p:nvPr/>
        </p:nvSpPr>
        <p:spPr>
          <a:xfrm>
            <a:off x="8665210" y="10922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2"/>
          <p:cNvSpPr/>
          <p:nvPr/>
        </p:nvSpPr>
        <p:spPr>
          <a:xfrm>
            <a:off x="8087360" y="13462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2" name="Text 53"/>
          <p:cNvSpPr/>
          <p:nvPr/>
        </p:nvSpPr>
        <p:spPr>
          <a:xfrm>
            <a:off x="8373110" y="13462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63" name="Text 54"/>
          <p:cNvSpPr/>
          <p:nvPr/>
        </p:nvSpPr>
        <p:spPr>
          <a:xfrm>
            <a:off x="8665210" y="13462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4" name="Text 55"/>
          <p:cNvSpPr/>
          <p:nvPr/>
        </p:nvSpPr>
        <p:spPr>
          <a:xfrm>
            <a:off x="3035300" y="1371600"/>
            <a:ext cx="381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pPr algn="l" indent="0" marL="0">
              <a:lnSpc>
                <a:spcPts val="14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 </a:t>
            </a:r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1F1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pPr algn="l" indent="0" marL="0">
              <a:lnSpc>
                <a:spcPts val="14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 </a:t>
            </a:r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5B9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pPr algn="l" indent="0" marL="0">
              <a:lnSpc>
                <a:spcPts val="14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unaccepted</a:t>
            </a:r>
            <a:endParaRPr lang="en-US" sz="1350" dirty="0"/>
          </a:p>
        </p:txBody>
      </p:sp>
      <p:sp>
        <p:nvSpPr>
          <p:cNvPr id="65" name="Shape 56"/>
          <p:cNvSpPr/>
          <p:nvPr/>
        </p:nvSpPr>
        <p:spPr>
          <a:xfrm>
            <a:off x="882650" y="1771650"/>
            <a:ext cx="2235200" cy="1473200"/>
          </a:xfrm>
          <a:prstGeom prst="rect">
            <a:avLst/>
          </a:prstGeom>
          <a:solidFill>
            <a:srgbClr val="FFFFFF"/>
          </a:solidFill>
          <a:ln w="9525">
            <a:solidFill>
              <a:srgbClr val="ABAFBA"/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1016000" y="1854200"/>
            <a:ext cx="200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Ugmented Vectors (from Top)</a:t>
            </a:r>
            <a:endParaRPr lang="en-US" sz="1200" dirty="0"/>
          </a:p>
        </p:txBody>
      </p:sp>
      <p:sp>
        <p:nvSpPr>
          <p:cNvPr id="67" name="Text 58"/>
          <p:cNvSpPr/>
          <p:nvPr/>
        </p:nvSpPr>
        <p:spPr>
          <a:xfrm>
            <a:off x="1127760" y="2108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100" dirty="0"/>
          </a:p>
        </p:txBody>
      </p:sp>
      <p:sp>
        <p:nvSpPr>
          <p:cNvPr id="68" name="Text 59"/>
          <p:cNvSpPr/>
          <p:nvPr/>
        </p:nvSpPr>
        <p:spPr>
          <a:xfrm>
            <a:off x="1407160" y="2108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100" dirty="0"/>
          </a:p>
        </p:txBody>
      </p:sp>
      <p:sp>
        <p:nvSpPr>
          <p:cNvPr id="69" name="Text 60"/>
          <p:cNvSpPr/>
          <p:nvPr/>
        </p:nvSpPr>
        <p:spPr>
          <a:xfrm>
            <a:off x="1692910" y="2108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x₃</a:t>
            </a:r>
            <a:endParaRPr lang="en-US" sz="1100" dirty="0"/>
          </a:p>
        </p:txBody>
      </p:sp>
      <p:sp>
        <p:nvSpPr>
          <p:cNvPr id="70" name="Text 61"/>
          <p:cNvSpPr/>
          <p:nvPr/>
        </p:nvSpPr>
        <p:spPr>
          <a:xfrm>
            <a:off x="1978660" y="2108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x₄</a:t>
            </a:r>
            <a:endParaRPr lang="en-US" sz="1100" dirty="0"/>
          </a:p>
        </p:txBody>
      </p:sp>
      <p:sp>
        <p:nvSpPr>
          <p:cNvPr id="71" name="Text 62"/>
          <p:cNvSpPr/>
          <p:nvPr/>
        </p:nvSpPr>
        <p:spPr>
          <a:xfrm>
            <a:off x="2264410" y="2108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x₅</a:t>
            </a:r>
            <a:endParaRPr lang="en-US" sz="1100" dirty="0"/>
          </a:p>
        </p:txBody>
      </p:sp>
      <p:sp>
        <p:nvSpPr>
          <p:cNvPr id="72" name="Text 63"/>
          <p:cNvSpPr/>
          <p:nvPr/>
        </p:nvSpPr>
        <p:spPr>
          <a:xfrm>
            <a:off x="2550160" y="2108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x₆</a:t>
            </a:r>
            <a:endParaRPr lang="en-US" sz="1100" dirty="0"/>
          </a:p>
        </p:txBody>
      </p:sp>
      <p:sp>
        <p:nvSpPr>
          <p:cNvPr id="73" name="Text 64"/>
          <p:cNvSpPr/>
          <p:nvPr/>
        </p:nvSpPr>
        <p:spPr>
          <a:xfrm>
            <a:off x="1127760" y="2324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4" name="Text 65"/>
          <p:cNvSpPr/>
          <p:nvPr/>
        </p:nvSpPr>
        <p:spPr>
          <a:xfrm>
            <a:off x="1407160" y="2324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5" name="Text 66"/>
          <p:cNvSpPr/>
          <p:nvPr/>
        </p:nvSpPr>
        <p:spPr>
          <a:xfrm>
            <a:off x="1692910" y="2324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Text 67"/>
          <p:cNvSpPr/>
          <p:nvPr/>
        </p:nvSpPr>
        <p:spPr>
          <a:xfrm>
            <a:off x="1978660" y="2324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7" name="Text 68"/>
          <p:cNvSpPr/>
          <p:nvPr/>
        </p:nvSpPr>
        <p:spPr>
          <a:xfrm>
            <a:off x="2264410" y="2324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8" name="Text 69"/>
          <p:cNvSpPr/>
          <p:nvPr/>
        </p:nvSpPr>
        <p:spPr>
          <a:xfrm>
            <a:off x="2550160" y="2324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Text 70"/>
          <p:cNvSpPr/>
          <p:nvPr/>
        </p:nvSpPr>
        <p:spPr>
          <a:xfrm>
            <a:off x="1127760" y="25146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0" name="Text 71"/>
          <p:cNvSpPr/>
          <p:nvPr/>
        </p:nvSpPr>
        <p:spPr>
          <a:xfrm>
            <a:off x="1407160" y="25146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81" name="Text 72"/>
          <p:cNvSpPr/>
          <p:nvPr/>
        </p:nvSpPr>
        <p:spPr>
          <a:xfrm>
            <a:off x="1692910" y="25146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Text 73"/>
          <p:cNvSpPr/>
          <p:nvPr/>
        </p:nvSpPr>
        <p:spPr>
          <a:xfrm>
            <a:off x="1978660" y="25146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83" name="Text 74"/>
          <p:cNvSpPr/>
          <p:nvPr/>
        </p:nvSpPr>
        <p:spPr>
          <a:xfrm>
            <a:off x="2264410" y="25146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84" name="Text 75"/>
          <p:cNvSpPr/>
          <p:nvPr/>
        </p:nvSpPr>
        <p:spPr>
          <a:xfrm>
            <a:off x="2550160" y="25146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85" name="Text 76"/>
          <p:cNvSpPr/>
          <p:nvPr/>
        </p:nvSpPr>
        <p:spPr>
          <a:xfrm>
            <a:off x="1127760" y="2705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6" name="Text 77"/>
          <p:cNvSpPr/>
          <p:nvPr/>
        </p:nvSpPr>
        <p:spPr>
          <a:xfrm>
            <a:off x="1407160" y="2705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7" name="Text 78"/>
          <p:cNvSpPr/>
          <p:nvPr/>
        </p:nvSpPr>
        <p:spPr>
          <a:xfrm>
            <a:off x="1692910" y="2705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88" name="Text 79"/>
          <p:cNvSpPr/>
          <p:nvPr/>
        </p:nvSpPr>
        <p:spPr>
          <a:xfrm>
            <a:off x="1978660" y="2705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9" name="Text 80"/>
          <p:cNvSpPr/>
          <p:nvPr/>
        </p:nvSpPr>
        <p:spPr>
          <a:xfrm>
            <a:off x="2264410" y="2705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90" name="Text 81"/>
          <p:cNvSpPr/>
          <p:nvPr/>
        </p:nvSpPr>
        <p:spPr>
          <a:xfrm>
            <a:off x="2550160" y="2705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91" name="Image 7" descr="/home/ahmed/Projects/ai_llm_slides/videos/machine-learning/03_ridger_regression_gradient_descent/recreated_pptx/build/assets/parens049/paren_aug_l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1829" y="2279904"/>
            <a:ext cx="44196" cy="577596"/>
          </a:xfrm>
          <a:prstGeom prst="rect">
            <a:avLst/>
          </a:prstGeom>
        </p:spPr>
      </p:pic>
      <p:pic>
        <p:nvPicPr>
          <p:cNvPr id="92" name="Image 8" descr="/home/ahmed/Projects/ai_llm_slides/videos/machine-learning/03_ridger_regression_gradient_descent/recreated_pptx/build/assets/parens049/paren_aug_r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25" y="2279904"/>
            <a:ext cx="44196" cy="577596"/>
          </a:xfrm>
          <a:prstGeom prst="rect">
            <a:avLst/>
          </a:prstGeom>
        </p:spPr>
      </p:pic>
      <p:pic>
        <p:nvPicPr>
          <p:cNvPr id="93" name="Image 9" descr="/home/ahmed/Projects/ai_llm_slides/videos/machine-learning/03_ridger_regression_gradient_descent/recreated_pptx/build/assets/parens049/paren_aug_l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1229" y="2279904"/>
            <a:ext cx="44196" cy="577596"/>
          </a:xfrm>
          <a:prstGeom prst="rect">
            <a:avLst/>
          </a:prstGeom>
        </p:spPr>
      </p:pic>
      <p:pic>
        <p:nvPicPr>
          <p:cNvPr id="94" name="Image 10" descr="/home/ahmed/Projects/ai_llm_slides/videos/machine-learning/03_ridger_regression_gradient_descent/recreated_pptx/build/assets/parens049/paren_aug_r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9725" y="2279904"/>
            <a:ext cx="44196" cy="577596"/>
          </a:xfrm>
          <a:prstGeom prst="rect">
            <a:avLst/>
          </a:prstGeom>
        </p:spPr>
      </p:pic>
      <p:pic>
        <p:nvPicPr>
          <p:cNvPr id="95" name="Image 11" descr="/home/ahmed/Projects/ai_llm_slides/videos/machine-learning/03_ridger_regression_gradient_descent/recreated_pptx/build/assets/parens049/paren_aug_l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0629" y="2279904"/>
            <a:ext cx="44196" cy="577596"/>
          </a:xfrm>
          <a:prstGeom prst="rect">
            <a:avLst/>
          </a:prstGeom>
        </p:spPr>
      </p:pic>
      <p:pic>
        <p:nvPicPr>
          <p:cNvPr id="96" name="Image 12" descr="/home/ahmed/Projects/ai_llm_slides/videos/machine-learning/03_ridger_regression_gradient_descent/recreated_pptx/build/assets/parens049/paren_aug_r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1825" y="2279904"/>
            <a:ext cx="44196" cy="577596"/>
          </a:xfrm>
          <a:prstGeom prst="rect">
            <a:avLst/>
          </a:prstGeom>
        </p:spPr>
      </p:pic>
      <p:pic>
        <p:nvPicPr>
          <p:cNvPr id="97" name="Image 13" descr="/home/ahmed/Projects/ai_llm_slides/videos/machine-learning/03_ridger_regression_gradient_descent/recreated_pptx/build/assets/parens049/paren_aug_l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22729" y="2279904"/>
            <a:ext cx="44196" cy="577596"/>
          </a:xfrm>
          <a:prstGeom prst="rect">
            <a:avLst/>
          </a:prstGeom>
        </p:spPr>
      </p:pic>
      <p:pic>
        <p:nvPicPr>
          <p:cNvPr id="98" name="Image 14" descr="/home/ahmed/Projects/ai_llm_slides/videos/machine-learning/03_ridger_regression_gradient_descent/recreated_pptx/build/assets/parens049/paren_aug_r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81225" y="2279904"/>
            <a:ext cx="44196" cy="577596"/>
          </a:xfrm>
          <a:prstGeom prst="rect">
            <a:avLst/>
          </a:prstGeom>
        </p:spPr>
      </p:pic>
      <p:pic>
        <p:nvPicPr>
          <p:cNvPr id="99" name="Image 15" descr="/home/ahmed/Projects/ai_llm_slides/videos/machine-learning/03_ridger_regression_gradient_descent/recreated_pptx/build/assets/parens049/paren_aug_lp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02129" y="2279904"/>
            <a:ext cx="44196" cy="577596"/>
          </a:xfrm>
          <a:prstGeom prst="rect">
            <a:avLst/>
          </a:prstGeom>
        </p:spPr>
      </p:pic>
      <p:pic>
        <p:nvPicPr>
          <p:cNvPr id="100" name="Image 16" descr="/home/ahmed/Projects/ai_llm_slides/videos/machine-learning/03_ridger_regression_gradient_descent/recreated_pptx/build/assets/parens049/paren_aug_r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73325" y="2279904"/>
            <a:ext cx="44196" cy="577596"/>
          </a:xfrm>
          <a:prstGeom prst="rect">
            <a:avLst/>
          </a:prstGeom>
        </p:spPr>
      </p:pic>
      <p:pic>
        <p:nvPicPr>
          <p:cNvPr id="101" name="Image 17" descr="/home/ahmed/Projects/ai_llm_slides/videos/machine-learning/03_ridger_regression_gradient_descent/recreated_pptx/build/assets/parens049/paren_aug_lp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4229" y="2279904"/>
            <a:ext cx="44196" cy="577596"/>
          </a:xfrm>
          <a:prstGeom prst="rect">
            <a:avLst/>
          </a:prstGeom>
        </p:spPr>
      </p:pic>
      <p:pic>
        <p:nvPicPr>
          <p:cNvPr id="102" name="Image 18" descr="/home/ahmed/Projects/ai_llm_slides/videos/machine-learning/03_ridger_regression_gradient_descent/recreated_pptx/build/assets/parens049/paren_aug_rp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52725" y="2279904"/>
            <a:ext cx="44196" cy="577596"/>
          </a:xfrm>
          <a:prstGeom prst="rect">
            <a:avLst/>
          </a:prstGeom>
        </p:spPr>
      </p:pic>
      <p:sp>
        <p:nvSpPr>
          <p:cNvPr id="103" name="Text 82"/>
          <p:cNvSpPr/>
          <p:nvPr/>
        </p:nvSpPr>
        <p:spPr>
          <a:xfrm>
            <a:off x="1127760" y="29210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100" dirty="0"/>
          </a:p>
        </p:txBody>
      </p:sp>
      <p:sp>
        <p:nvSpPr>
          <p:cNvPr id="104" name="Text 83"/>
          <p:cNvSpPr/>
          <p:nvPr/>
        </p:nvSpPr>
        <p:spPr>
          <a:xfrm>
            <a:off x="1407160" y="29210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100" dirty="0"/>
          </a:p>
        </p:txBody>
      </p:sp>
      <p:sp>
        <p:nvSpPr>
          <p:cNvPr id="105" name="Text 84"/>
          <p:cNvSpPr/>
          <p:nvPr/>
        </p:nvSpPr>
        <p:spPr>
          <a:xfrm>
            <a:off x="1692910" y="29210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100" dirty="0"/>
          </a:p>
        </p:txBody>
      </p:sp>
      <p:sp>
        <p:nvSpPr>
          <p:cNvPr id="106" name="Text 85"/>
          <p:cNvSpPr/>
          <p:nvPr/>
        </p:nvSpPr>
        <p:spPr>
          <a:xfrm>
            <a:off x="1978660" y="29210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100" dirty="0"/>
          </a:p>
        </p:txBody>
      </p:sp>
      <p:sp>
        <p:nvSpPr>
          <p:cNvPr id="107" name="Text 86"/>
          <p:cNvSpPr/>
          <p:nvPr/>
        </p:nvSpPr>
        <p:spPr>
          <a:xfrm>
            <a:off x="2264410" y="29210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100" dirty="0"/>
          </a:p>
        </p:txBody>
      </p:sp>
      <p:sp>
        <p:nvSpPr>
          <p:cNvPr id="108" name="Text 87"/>
          <p:cNvSpPr/>
          <p:nvPr/>
        </p:nvSpPr>
        <p:spPr>
          <a:xfrm>
            <a:off x="2550160" y="29210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100" dirty="0"/>
          </a:p>
        </p:txBody>
      </p:sp>
      <p:sp>
        <p:nvSpPr>
          <p:cNvPr id="109" name="Shape 88"/>
          <p:cNvSpPr/>
          <p:nvPr/>
        </p:nvSpPr>
        <p:spPr>
          <a:xfrm>
            <a:off x="1066800" y="3530600"/>
            <a:ext cx="1638300" cy="330200"/>
          </a:xfrm>
          <a:prstGeom prst="rect">
            <a:avLst/>
          </a:prstGeom>
          <a:solidFill>
            <a:srgbClr val="C6020A"/>
          </a:solidFill>
          <a:ln w="12700">
            <a:solidFill>
              <a:srgbClr val="C6020A"/>
            </a:solidFill>
            <a:prstDash val="solid"/>
          </a:ln>
        </p:spPr>
      </p:sp>
      <p:sp>
        <p:nvSpPr>
          <p:cNvPr id="110" name="Text 89"/>
          <p:cNvSpPr/>
          <p:nvPr/>
        </p:nvSpPr>
        <p:spPr>
          <a:xfrm>
            <a:off x="1066800" y="3530600"/>
            <a:ext cx="16383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2</a:t>
            </a:r>
            <a:endParaRPr lang="en-US" sz="2100" dirty="0"/>
          </a:p>
        </p:txBody>
      </p:sp>
      <p:sp>
        <p:nvSpPr>
          <p:cNvPr id="111" name="Text 90"/>
          <p:cNvSpPr/>
          <p:nvPr/>
        </p:nvSpPr>
        <p:spPr>
          <a:xfrm>
            <a:off x="990600" y="443230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in </a:t>
            </a:r>
            <a:endParaRPr lang="en-US" sz="2000" dirty="0"/>
          </a:p>
        </p:txBody>
      </p:sp>
      <p:sp>
        <p:nvSpPr>
          <p:cNvPr id="112" name="Text 91"/>
          <p:cNvSpPr/>
          <p:nvPr/>
        </p:nvSpPr>
        <p:spPr>
          <a:xfrm>
            <a:off x="2514600" y="443230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00" dirty="0"/>
          </a:p>
        </p:txBody>
      </p:sp>
      <p:sp>
        <p:nvSpPr>
          <p:cNvPr id="113" name="Text 92"/>
          <p:cNvSpPr/>
          <p:nvPr/>
        </p:nvSpPr>
        <p:spPr>
          <a:xfrm>
            <a:off x="1079500" y="4749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2000" dirty="0"/>
          </a:p>
        </p:txBody>
      </p:sp>
      <p:sp>
        <p:nvSpPr>
          <p:cNvPr id="114" name="Text 93"/>
          <p:cNvSpPr/>
          <p:nvPr/>
        </p:nvSpPr>
        <p:spPr>
          <a:xfrm>
            <a:off x="1612900" y="4749800"/>
            <a:ext cx="114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</a:t>
            </a:r>
            <a:endParaRPr lang="en-US" sz="2000" dirty="0"/>
          </a:p>
        </p:txBody>
      </p:sp>
      <p:sp>
        <p:nvSpPr>
          <p:cNvPr id="115" name="Shape 94"/>
          <p:cNvSpPr/>
          <p:nvPr/>
        </p:nvSpPr>
        <p:spPr>
          <a:xfrm>
            <a:off x="3479800" y="1778000"/>
            <a:ext cx="7353300" cy="492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Shape 95"/>
          <p:cNvSpPr/>
          <p:nvPr/>
        </p:nvSpPr>
        <p:spPr>
          <a:xfrm>
            <a:off x="3479800" y="17780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17" name="Shape 96"/>
          <p:cNvSpPr/>
          <p:nvPr/>
        </p:nvSpPr>
        <p:spPr>
          <a:xfrm>
            <a:off x="3479800" y="25019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18" name="Shape 97"/>
          <p:cNvSpPr/>
          <p:nvPr/>
        </p:nvSpPr>
        <p:spPr>
          <a:xfrm>
            <a:off x="3479800" y="26162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19" name="Shape 98"/>
          <p:cNvSpPr/>
          <p:nvPr/>
        </p:nvSpPr>
        <p:spPr>
          <a:xfrm>
            <a:off x="3479800" y="33401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0" name="Shape 99"/>
          <p:cNvSpPr/>
          <p:nvPr/>
        </p:nvSpPr>
        <p:spPr>
          <a:xfrm>
            <a:off x="3479800" y="34544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1" name="Shape 100"/>
          <p:cNvSpPr/>
          <p:nvPr/>
        </p:nvSpPr>
        <p:spPr>
          <a:xfrm>
            <a:off x="3479800" y="41783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2" name="Shape 101"/>
          <p:cNvSpPr/>
          <p:nvPr/>
        </p:nvSpPr>
        <p:spPr>
          <a:xfrm>
            <a:off x="3479800" y="42926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3" name="Shape 102"/>
          <p:cNvSpPr/>
          <p:nvPr/>
        </p:nvSpPr>
        <p:spPr>
          <a:xfrm>
            <a:off x="3479800" y="50165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4" name="Shape 103"/>
          <p:cNvSpPr/>
          <p:nvPr/>
        </p:nvSpPr>
        <p:spPr>
          <a:xfrm>
            <a:off x="3479800" y="51308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5" name="Shape 104"/>
          <p:cNvSpPr/>
          <p:nvPr/>
        </p:nvSpPr>
        <p:spPr>
          <a:xfrm>
            <a:off x="3479800" y="58547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6" name="Shape 105"/>
          <p:cNvSpPr/>
          <p:nvPr/>
        </p:nvSpPr>
        <p:spPr>
          <a:xfrm>
            <a:off x="3479800" y="59690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7" name="Shape 106"/>
          <p:cNvSpPr/>
          <p:nvPr/>
        </p:nvSpPr>
        <p:spPr>
          <a:xfrm>
            <a:off x="3479800" y="67056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8" name="Shape 107"/>
          <p:cNvSpPr/>
          <p:nvPr/>
        </p:nvSpPr>
        <p:spPr>
          <a:xfrm>
            <a:off x="3479800" y="1778000"/>
            <a:ext cx="0" cy="474980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9" name="Text 108"/>
          <p:cNvSpPr/>
          <p:nvPr/>
        </p:nvSpPr>
        <p:spPr>
          <a:xfrm>
            <a:off x="3594100" y="20574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</a:t>
            </a:r>
            <a:endParaRPr lang="en-US" sz="1200" dirty="0"/>
          </a:p>
        </p:txBody>
      </p:sp>
      <p:sp>
        <p:nvSpPr>
          <p:cNvPr id="130" name="Text 109"/>
          <p:cNvSpPr/>
          <p:nvPr/>
        </p:nvSpPr>
        <p:spPr>
          <a:xfrm>
            <a:off x="4165600" y="18923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1" name="Text 110"/>
          <p:cNvSpPr/>
          <p:nvPr/>
        </p:nvSpPr>
        <p:spPr>
          <a:xfrm>
            <a:off x="4394200" y="18923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2" name="Text 111"/>
          <p:cNvSpPr/>
          <p:nvPr/>
        </p:nvSpPr>
        <p:spPr>
          <a:xfrm>
            <a:off x="4622800" y="18923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33" name="Image 19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13554" y="1866900"/>
            <a:ext cx="316995" cy="579117"/>
          </a:xfrm>
          <a:prstGeom prst="rect">
            <a:avLst/>
          </a:prstGeom>
        </p:spPr>
      </p:pic>
      <p:sp>
        <p:nvSpPr>
          <p:cNvPr id="134" name="Text 112"/>
          <p:cNvSpPr/>
          <p:nvPr/>
        </p:nvSpPr>
        <p:spPr>
          <a:xfrm>
            <a:off x="5194300" y="20574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35" name="Text 113"/>
          <p:cNvSpPr/>
          <p:nvPr/>
        </p:nvSpPr>
        <p:spPr>
          <a:xfrm>
            <a:off x="5321300" y="2057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6" name="Text 114"/>
          <p:cNvSpPr/>
          <p:nvPr/>
        </p:nvSpPr>
        <p:spPr>
          <a:xfrm>
            <a:off x="6299200" y="20574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37" name="Text 115"/>
          <p:cNvSpPr/>
          <p:nvPr/>
        </p:nvSpPr>
        <p:spPr>
          <a:xfrm>
            <a:off x="6553200" y="20574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200" dirty="0"/>
          </a:p>
        </p:txBody>
      </p:sp>
      <p:sp>
        <p:nvSpPr>
          <p:cNvPr id="138" name="Text 116"/>
          <p:cNvSpPr/>
          <p:nvPr/>
        </p:nvSpPr>
        <p:spPr>
          <a:xfrm>
            <a:off x="8826500" y="20574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139" name="Image 20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69654" y="1879600"/>
            <a:ext cx="316995" cy="579117"/>
          </a:xfrm>
          <a:prstGeom prst="rect">
            <a:avLst/>
          </a:prstGeom>
        </p:spPr>
      </p:pic>
      <p:sp>
        <p:nvSpPr>
          <p:cNvPr id="140" name="Text 117"/>
          <p:cNvSpPr/>
          <p:nvPr/>
        </p:nvSpPr>
        <p:spPr>
          <a:xfrm>
            <a:off x="3594100" y="28956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</a:t>
            </a:r>
            <a:endParaRPr lang="en-US" sz="1200" dirty="0"/>
          </a:p>
        </p:txBody>
      </p:sp>
      <p:sp>
        <p:nvSpPr>
          <p:cNvPr id="141" name="Text 118"/>
          <p:cNvSpPr/>
          <p:nvPr/>
        </p:nvSpPr>
        <p:spPr>
          <a:xfrm>
            <a:off x="4165600" y="27305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2" name="Text 119"/>
          <p:cNvSpPr/>
          <p:nvPr/>
        </p:nvSpPr>
        <p:spPr>
          <a:xfrm>
            <a:off x="4394200" y="27305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3" name="Text 120"/>
          <p:cNvSpPr/>
          <p:nvPr/>
        </p:nvSpPr>
        <p:spPr>
          <a:xfrm>
            <a:off x="4622800" y="27305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44" name="Image 21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13554" y="2705100"/>
            <a:ext cx="316995" cy="579117"/>
          </a:xfrm>
          <a:prstGeom prst="rect">
            <a:avLst/>
          </a:prstGeom>
        </p:spPr>
      </p:pic>
      <p:sp>
        <p:nvSpPr>
          <p:cNvPr id="145" name="Text 121"/>
          <p:cNvSpPr/>
          <p:nvPr/>
        </p:nvSpPr>
        <p:spPr>
          <a:xfrm>
            <a:off x="5194300" y="28956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46" name="Text 122"/>
          <p:cNvSpPr/>
          <p:nvPr/>
        </p:nvSpPr>
        <p:spPr>
          <a:xfrm>
            <a:off x="5321300" y="2895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7" name="Text 123"/>
          <p:cNvSpPr/>
          <p:nvPr/>
        </p:nvSpPr>
        <p:spPr>
          <a:xfrm>
            <a:off x="6299200" y="28956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48" name="Text 124"/>
          <p:cNvSpPr/>
          <p:nvPr/>
        </p:nvSpPr>
        <p:spPr>
          <a:xfrm>
            <a:off x="6553200" y="28956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200" dirty="0"/>
          </a:p>
        </p:txBody>
      </p:sp>
      <p:sp>
        <p:nvSpPr>
          <p:cNvPr id="149" name="Text 125"/>
          <p:cNvSpPr/>
          <p:nvPr/>
        </p:nvSpPr>
        <p:spPr>
          <a:xfrm>
            <a:off x="8826500" y="28956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150" name="Image 22" descr="/home/ahmed/Projects/ai_llm_slides/videos/machine-learning/03_ridger_regression_gradient_descent/recreated_pptx/build/assets/slide_049_wcol_paren_2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69654" y="2717800"/>
            <a:ext cx="316995" cy="579117"/>
          </a:xfrm>
          <a:prstGeom prst="rect">
            <a:avLst/>
          </a:prstGeom>
        </p:spPr>
      </p:pic>
      <p:sp>
        <p:nvSpPr>
          <p:cNvPr id="151" name="Text 126"/>
          <p:cNvSpPr/>
          <p:nvPr/>
        </p:nvSpPr>
        <p:spPr>
          <a:xfrm>
            <a:off x="3594100" y="373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</a:t>
            </a:r>
            <a:endParaRPr lang="en-US" sz="1200" dirty="0"/>
          </a:p>
        </p:txBody>
      </p:sp>
      <p:sp>
        <p:nvSpPr>
          <p:cNvPr id="152" name="Text 127"/>
          <p:cNvSpPr/>
          <p:nvPr/>
        </p:nvSpPr>
        <p:spPr>
          <a:xfrm>
            <a:off x="4165600" y="35687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3" name="Text 128"/>
          <p:cNvSpPr/>
          <p:nvPr/>
        </p:nvSpPr>
        <p:spPr>
          <a:xfrm>
            <a:off x="4394200" y="35687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4" name="Text 129"/>
          <p:cNvSpPr/>
          <p:nvPr/>
        </p:nvSpPr>
        <p:spPr>
          <a:xfrm>
            <a:off x="4622800" y="35687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pic>
        <p:nvPicPr>
          <p:cNvPr id="155" name="Image 23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13554" y="3543300"/>
            <a:ext cx="316995" cy="579117"/>
          </a:xfrm>
          <a:prstGeom prst="rect">
            <a:avLst/>
          </a:prstGeom>
        </p:spPr>
      </p:pic>
      <p:sp>
        <p:nvSpPr>
          <p:cNvPr id="156" name="Text 130"/>
          <p:cNvSpPr/>
          <p:nvPr/>
        </p:nvSpPr>
        <p:spPr>
          <a:xfrm>
            <a:off x="5194300" y="37338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57" name="Text 131"/>
          <p:cNvSpPr/>
          <p:nvPr/>
        </p:nvSpPr>
        <p:spPr>
          <a:xfrm>
            <a:off x="5321300" y="3733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8" name="Text 132"/>
          <p:cNvSpPr/>
          <p:nvPr/>
        </p:nvSpPr>
        <p:spPr>
          <a:xfrm>
            <a:off x="6299200" y="37338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59" name="Text 133"/>
          <p:cNvSpPr/>
          <p:nvPr/>
        </p:nvSpPr>
        <p:spPr>
          <a:xfrm>
            <a:off x="6553200" y="37338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200" dirty="0"/>
          </a:p>
        </p:txBody>
      </p:sp>
      <p:sp>
        <p:nvSpPr>
          <p:cNvPr id="160" name="Text 134"/>
          <p:cNvSpPr/>
          <p:nvPr/>
        </p:nvSpPr>
        <p:spPr>
          <a:xfrm>
            <a:off x="8826500" y="37338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161" name="Image 24" descr="/home/ahmed/Projects/ai_llm_slides/videos/machine-learning/03_ridger_regression_gradient_descent/recreated_pptx/build/assets/slide_049_wcol_paren_3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69654" y="3556000"/>
            <a:ext cx="316995" cy="579117"/>
          </a:xfrm>
          <a:prstGeom prst="rect">
            <a:avLst/>
          </a:prstGeom>
        </p:spPr>
      </p:pic>
      <p:sp>
        <p:nvSpPr>
          <p:cNvPr id="162" name="Text 135"/>
          <p:cNvSpPr/>
          <p:nvPr/>
        </p:nvSpPr>
        <p:spPr>
          <a:xfrm>
            <a:off x="3594100" y="45720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</a:t>
            </a:r>
            <a:endParaRPr lang="en-US" sz="1200" dirty="0"/>
          </a:p>
        </p:txBody>
      </p:sp>
      <p:sp>
        <p:nvSpPr>
          <p:cNvPr id="163" name="Text 136"/>
          <p:cNvSpPr/>
          <p:nvPr/>
        </p:nvSpPr>
        <p:spPr>
          <a:xfrm>
            <a:off x="4165600" y="44069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4" name="Text 137"/>
          <p:cNvSpPr/>
          <p:nvPr/>
        </p:nvSpPr>
        <p:spPr>
          <a:xfrm>
            <a:off x="4394200" y="44069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65" name="Text 138"/>
          <p:cNvSpPr/>
          <p:nvPr/>
        </p:nvSpPr>
        <p:spPr>
          <a:xfrm>
            <a:off x="4622800" y="44069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pic>
        <p:nvPicPr>
          <p:cNvPr id="166" name="Image 25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13554" y="4381500"/>
            <a:ext cx="316995" cy="579117"/>
          </a:xfrm>
          <a:prstGeom prst="rect">
            <a:avLst/>
          </a:prstGeom>
        </p:spPr>
      </p:pic>
      <p:sp>
        <p:nvSpPr>
          <p:cNvPr id="167" name="Text 139"/>
          <p:cNvSpPr/>
          <p:nvPr/>
        </p:nvSpPr>
        <p:spPr>
          <a:xfrm>
            <a:off x="5219700" y="45720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68" name="Text 140"/>
          <p:cNvSpPr/>
          <p:nvPr/>
        </p:nvSpPr>
        <p:spPr>
          <a:xfrm>
            <a:off x="5334000" y="457200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200" dirty="0"/>
          </a:p>
        </p:txBody>
      </p:sp>
      <p:sp>
        <p:nvSpPr>
          <p:cNvPr id="169" name="Text 141"/>
          <p:cNvSpPr/>
          <p:nvPr/>
        </p:nvSpPr>
        <p:spPr>
          <a:xfrm>
            <a:off x="6457950" y="45720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70" name="Text 142"/>
          <p:cNvSpPr/>
          <p:nvPr/>
        </p:nvSpPr>
        <p:spPr>
          <a:xfrm>
            <a:off x="6705600" y="45720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200" dirty="0"/>
          </a:p>
        </p:txBody>
      </p:sp>
      <p:sp>
        <p:nvSpPr>
          <p:cNvPr id="171" name="Text 143"/>
          <p:cNvSpPr/>
          <p:nvPr/>
        </p:nvSpPr>
        <p:spPr>
          <a:xfrm>
            <a:off x="8991600" y="457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172" name="Image 26" descr="/home/ahmed/Projects/ai_llm_slides/videos/machine-learning/03_ridger_regression_gradient_descent/recreated_pptx/build/assets/slide_049_wcol_paren_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09354" y="4394200"/>
            <a:ext cx="316995" cy="579117"/>
          </a:xfrm>
          <a:prstGeom prst="rect">
            <a:avLst/>
          </a:prstGeom>
        </p:spPr>
      </p:pic>
      <p:sp>
        <p:nvSpPr>
          <p:cNvPr id="173" name="Text 144"/>
          <p:cNvSpPr/>
          <p:nvPr/>
        </p:nvSpPr>
        <p:spPr>
          <a:xfrm>
            <a:off x="3594100" y="54102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</a:t>
            </a:r>
            <a:endParaRPr lang="en-US" sz="1200" dirty="0"/>
          </a:p>
        </p:txBody>
      </p:sp>
      <p:sp>
        <p:nvSpPr>
          <p:cNvPr id="174" name="Text 145"/>
          <p:cNvSpPr/>
          <p:nvPr/>
        </p:nvSpPr>
        <p:spPr>
          <a:xfrm>
            <a:off x="4165600" y="52451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5" name="Text 146"/>
          <p:cNvSpPr/>
          <p:nvPr/>
        </p:nvSpPr>
        <p:spPr>
          <a:xfrm>
            <a:off x="4394200" y="52451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76" name="Text 147"/>
          <p:cNvSpPr/>
          <p:nvPr/>
        </p:nvSpPr>
        <p:spPr>
          <a:xfrm>
            <a:off x="4622800" y="52451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pic>
        <p:nvPicPr>
          <p:cNvPr id="177" name="Image 27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13554" y="5219700"/>
            <a:ext cx="316995" cy="579117"/>
          </a:xfrm>
          <a:prstGeom prst="rect">
            <a:avLst/>
          </a:prstGeom>
        </p:spPr>
      </p:pic>
      <p:sp>
        <p:nvSpPr>
          <p:cNvPr id="178" name="Text 148"/>
          <p:cNvSpPr/>
          <p:nvPr/>
        </p:nvSpPr>
        <p:spPr>
          <a:xfrm>
            <a:off x="5219700" y="54102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79" name="Text 149"/>
          <p:cNvSpPr/>
          <p:nvPr/>
        </p:nvSpPr>
        <p:spPr>
          <a:xfrm>
            <a:off x="5334000" y="541020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200" dirty="0"/>
          </a:p>
        </p:txBody>
      </p:sp>
      <p:sp>
        <p:nvSpPr>
          <p:cNvPr id="180" name="Text 150"/>
          <p:cNvSpPr/>
          <p:nvPr/>
        </p:nvSpPr>
        <p:spPr>
          <a:xfrm>
            <a:off x="6457950" y="54102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81" name="Text 151"/>
          <p:cNvSpPr/>
          <p:nvPr/>
        </p:nvSpPr>
        <p:spPr>
          <a:xfrm>
            <a:off x="6705600" y="54102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200" dirty="0"/>
          </a:p>
        </p:txBody>
      </p:sp>
      <p:sp>
        <p:nvSpPr>
          <p:cNvPr id="182" name="Text 152"/>
          <p:cNvSpPr/>
          <p:nvPr/>
        </p:nvSpPr>
        <p:spPr>
          <a:xfrm>
            <a:off x="8991600" y="54102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183" name="Image 28" descr="/home/ahmed/Projects/ai_llm_slides/videos/machine-learning/03_ridger_regression_gradient_descent/recreated_pptx/build/assets/slide_049_wcol_paren_5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09354" y="5232400"/>
            <a:ext cx="316995" cy="579117"/>
          </a:xfrm>
          <a:prstGeom prst="rect">
            <a:avLst/>
          </a:prstGeom>
        </p:spPr>
      </p:pic>
      <p:sp>
        <p:nvSpPr>
          <p:cNvPr id="184" name="Text 153"/>
          <p:cNvSpPr/>
          <p:nvPr/>
        </p:nvSpPr>
        <p:spPr>
          <a:xfrm>
            <a:off x="3594100" y="62484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</a:t>
            </a:r>
            <a:endParaRPr lang="en-US" sz="1200" dirty="0"/>
          </a:p>
        </p:txBody>
      </p:sp>
      <p:sp>
        <p:nvSpPr>
          <p:cNvPr id="185" name="Text 154"/>
          <p:cNvSpPr/>
          <p:nvPr/>
        </p:nvSpPr>
        <p:spPr>
          <a:xfrm>
            <a:off x="4165600" y="60833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6" name="Text 155"/>
          <p:cNvSpPr/>
          <p:nvPr/>
        </p:nvSpPr>
        <p:spPr>
          <a:xfrm>
            <a:off x="4394200" y="60833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87" name="Text 156"/>
          <p:cNvSpPr/>
          <p:nvPr/>
        </p:nvSpPr>
        <p:spPr>
          <a:xfrm>
            <a:off x="4622800" y="60833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pic>
        <p:nvPicPr>
          <p:cNvPr id="188" name="Image 29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813554" y="6057900"/>
            <a:ext cx="316995" cy="579117"/>
          </a:xfrm>
          <a:prstGeom prst="rect">
            <a:avLst/>
          </a:prstGeom>
        </p:spPr>
      </p:pic>
      <p:sp>
        <p:nvSpPr>
          <p:cNvPr id="189" name="Text 157"/>
          <p:cNvSpPr/>
          <p:nvPr/>
        </p:nvSpPr>
        <p:spPr>
          <a:xfrm>
            <a:off x="5219700" y="62484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90" name="Text 158"/>
          <p:cNvSpPr/>
          <p:nvPr/>
        </p:nvSpPr>
        <p:spPr>
          <a:xfrm>
            <a:off x="5334000" y="624840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</a:t>
            </a:r>
            <a:endParaRPr lang="en-US" sz="1200" dirty="0"/>
          </a:p>
        </p:txBody>
      </p:sp>
      <p:sp>
        <p:nvSpPr>
          <p:cNvPr id="191" name="Text 159"/>
          <p:cNvSpPr/>
          <p:nvPr/>
        </p:nvSpPr>
        <p:spPr>
          <a:xfrm>
            <a:off x="6457950" y="62484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92" name="Text 160"/>
          <p:cNvSpPr/>
          <p:nvPr/>
        </p:nvSpPr>
        <p:spPr>
          <a:xfrm>
            <a:off x="6705600" y="62484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200" dirty="0"/>
          </a:p>
        </p:txBody>
      </p:sp>
      <p:sp>
        <p:nvSpPr>
          <p:cNvPr id="193" name="Text 161"/>
          <p:cNvSpPr/>
          <p:nvPr/>
        </p:nvSpPr>
        <p:spPr>
          <a:xfrm>
            <a:off x="8991600" y="62484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194" name="Image 30" descr="/home/ahmed/Projects/ai_llm_slides/videos/machine-learning/03_ridger_regression_gradient_descent/recreated_pptx/build/assets/slide_049_wcol_paren_6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309354" y="6070600"/>
            <a:ext cx="316995" cy="5791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2026-10-26T01:16:42Z</dcterms:created>
  <dcterms:modified xsi:type="dcterms:W3CDTF">2026-10-26T01:16:42Z</dcterms:modified>
</cp:coreProperties>
</file>