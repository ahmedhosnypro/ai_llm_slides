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80400" cy="965200"/>
          </a:xfrm>
          <a:prstGeom prst="rect">
            <a:avLst/>
          </a:prstGeom>
          <a:solidFill>
            <a:srgbClr val="FFFFFF"/>
          </a:solidFill>
          <a:ln w="19050">
            <a:solidFill>
              <a:srgbClr val="6A5ACD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812800"/>
          <a:ext cx="1615440" cy="914400"/>
        </p:xfrm>
        <a:graphic>
          <a:graphicData uri="http://schemas.openxmlformats.org/drawingml/2006/table">
            <a:tbl>
              <a:tblPr/>
              <a:tblGrid>
                <a:gridCol w="269240"/>
                <a:gridCol w="269240"/>
                <a:gridCol w="269240"/>
                <a:gridCol w="269240"/>
                <a:gridCol w="269240"/>
                <a:gridCol w="269240"/>
              </a:tblGrid>
              <a:tr h="177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2959100" y="812800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63900" y="812800"/>
            <a:ext cx="215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[4, -2]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34000" y="7366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 η = 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959600" y="10795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7200" y="876300"/>
          <a:ext cx="889000" cy="914400"/>
        </p:xfrm>
        <a:graphic>
          <a:graphicData uri="http://schemas.openxmlformats.org/drawingml/2006/table">
            <a:tbl>
              <a:tblPr/>
              <a:tblGrid>
                <a:gridCol w="295910"/>
                <a:gridCol w="295910"/>
                <a:gridCol w="297180"/>
              </a:tblGrid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3111500" y="1384300"/>
            <a:ext cx="387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l" indent="0" marL="0">
              <a:buNone/>
            </a:pPr>
            <a:r>
              <a:rPr lang="en-US" sz="15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is unaccepted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041400" y="1854200"/>
            <a:ext cx="2006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A5A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2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2057400"/>
          <a:ext cx="1600200" cy="914400"/>
        </p:xfrm>
        <a:graphic>
          <a:graphicData uri="http://schemas.openxmlformats.org/drawingml/2006/table">
            <a:tbl>
              <a:tblPr/>
              <a:tblGrid>
                <a:gridCol w="266700"/>
                <a:gridCol w="266700"/>
                <a:gridCol w="266700"/>
                <a:gridCol w="266700"/>
                <a:gridCol w="266700"/>
                <a:gridCol w="266700"/>
              </a:tblGrid>
              <a:tr h="177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/>
          <p:nvPr/>
        </p:nvSpPr>
        <p:spPr>
          <a:xfrm>
            <a:off x="1117600" y="2921000"/>
            <a:ext cx="266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384300" y="2921000"/>
            <a:ext cx="266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651000" y="2921000"/>
            <a:ext cx="266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917700" y="2921000"/>
            <a:ext cx="266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2184400" y="2921000"/>
            <a:ext cx="266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2451100" y="2921000"/>
            <a:ext cx="266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2100" dirty="0"/>
          </a:p>
        </p:txBody>
      </p:sp>
      <p:sp>
        <p:nvSpPr>
          <p:cNvPr id="26" name="Text 21"/>
          <p:cNvSpPr/>
          <p:nvPr/>
        </p:nvSpPr>
        <p:spPr>
          <a:xfrm>
            <a:off x="990600" y="44323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endParaRPr lang="en-US" sz="2000" dirty="0"/>
          </a:p>
        </p:txBody>
      </p:sp>
      <p:sp>
        <p:nvSpPr>
          <p:cNvPr id="27" name="Text 22"/>
          <p:cNvSpPr/>
          <p:nvPr/>
        </p:nvSpPr>
        <p:spPr>
          <a:xfrm>
            <a:off x="2514600" y="4432300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28" name="Text 23"/>
          <p:cNvSpPr/>
          <p:nvPr/>
        </p:nvSpPr>
        <p:spPr>
          <a:xfrm>
            <a:off x="1079500" y="4749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29" name="Text 24"/>
          <p:cNvSpPr/>
          <p:nvPr/>
        </p:nvSpPr>
        <p:spPr>
          <a:xfrm>
            <a:off x="1612900" y="4749800"/>
            <a:ext cx="114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467100" y="1778000"/>
            <a:ext cx="7353300" cy="0"/>
          </a:xfrm>
          <a:prstGeom prst="line">
            <a:avLst/>
          </a:prstGeom>
          <a:noFill/>
          <a:ln w="12700">
            <a:solidFill>
              <a:srgbClr val="C1C1C9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594100" y="20066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d(x1) =</a:t>
            </a:r>
            <a:endParaRPr lang="en-US" sz="1200" dirty="0"/>
          </a:p>
        </p:txBody>
      </p:sp>
      <p:pic>
        <p:nvPicPr>
          <p:cNvPr id="32" name="Image 0" descr="/workspaces/codespaces-blank/ai_llm_slides/videos/machine-learning/03_ridger_regression_gradient_descent/recreated_pptx/build/assets/slide_049_matrix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9600" y="1930400"/>
            <a:ext cx="723903" cy="38404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451600" y="20066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Keep same Weight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8966200" y="20066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</a:t>
            </a:r>
            <a:endParaRPr lang="en-US" sz="1200" dirty="0"/>
          </a:p>
        </p:txBody>
      </p:sp>
      <p:pic>
        <p:nvPicPr>
          <p:cNvPr id="35" name="Image 1" descr="/workspaces/codespaces-blank/ai_llm_slides/videos/machine-learning/03_ridger_regression_gradient_descent/recreated_pptx/build/assets/slide_049_wcol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0" y="1905000"/>
            <a:ext cx="266703" cy="577599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3467100" y="2603500"/>
            <a:ext cx="7353300" cy="0"/>
          </a:xfrm>
          <a:prstGeom prst="line">
            <a:avLst/>
          </a:prstGeom>
          <a:noFill/>
          <a:ln w="12700">
            <a:solidFill>
              <a:srgbClr val="C1C1C9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3594100" y="28321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d(x2) =</a:t>
            </a:r>
            <a:endParaRPr lang="en-US" sz="1200" dirty="0"/>
          </a:p>
        </p:txBody>
      </p:sp>
      <p:pic>
        <p:nvPicPr>
          <p:cNvPr id="38" name="Image 2" descr="/workspaces/codespaces-blank/ai_llm_slides/videos/machine-learning/03_ridger_regression_gradient_descent/recreated_pptx/build/assets/slide_049_matrix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2755900"/>
            <a:ext cx="723903" cy="38404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451600" y="28321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Keep same Weight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8966200" y="28321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</a:t>
            </a:r>
            <a:endParaRPr lang="en-US" sz="1200" dirty="0"/>
          </a:p>
        </p:txBody>
      </p:sp>
      <p:pic>
        <p:nvPicPr>
          <p:cNvPr id="41" name="Image 3" descr="/workspaces/codespaces-blank/ai_llm_slides/videos/machine-learning/03_ridger_regression_gradient_descent/recreated_pptx/build/assets/slide_049_wcol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5600" y="2730500"/>
            <a:ext cx="266703" cy="577599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3467100" y="3441700"/>
            <a:ext cx="7353300" cy="0"/>
          </a:xfrm>
          <a:prstGeom prst="line">
            <a:avLst/>
          </a:prstGeom>
          <a:noFill/>
          <a:ln w="12700">
            <a:solidFill>
              <a:srgbClr val="C1C1C9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3594100" y="36703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d(x3) =</a:t>
            </a:r>
            <a:endParaRPr lang="en-US" sz="1200" dirty="0"/>
          </a:p>
        </p:txBody>
      </p:sp>
      <p:pic>
        <p:nvPicPr>
          <p:cNvPr id="44" name="Image 4" descr="/workspaces/codespaces-blank/ai_llm_slides/videos/machine-learning/03_ridger_regression_gradient_descent/recreated_pptx/build/assets/slide_049_matrix_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600" y="3594100"/>
            <a:ext cx="723903" cy="384048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6451600" y="36703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Keep same Weight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8966200" y="36703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</a:t>
            </a:r>
            <a:endParaRPr lang="en-US" sz="1200" dirty="0"/>
          </a:p>
        </p:txBody>
      </p:sp>
      <p:pic>
        <p:nvPicPr>
          <p:cNvPr id="47" name="Image 5" descr="/workspaces/codespaces-blank/ai_llm_slides/videos/machine-learning/03_ridger_regression_gradient_descent/recreated_pptx/build/assets/slide_049_wcol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5600" y="3568700"/>
            <a:ext cx="266703" cy="577599"/>
          </a:xfrm>
          <a:prstGeom prst="rect">
            <a:avLst/>
          </a:prstGeom>
        </p:spPr>
      </p:pic>
      <p:sp>
        <p:nvSpPr>
          <p:cNvPr id="48" name="Shape 37"/>
          <p:cNvSpPr/>
          <p:nvPr/>
        </p:nvSpPr>
        <p:spPr>
          <a:xfrm>
            <a:off x="3467100" y="4279900"/>
            <a:ext cx="7353300" cy="0"/>
          </a:xfrm>
          <a:prstGeom prst="line">
            <a:avLst/>
          </a:prstGeom>
          <a:noFill/>
          <a:ln w="12700">
            <a:solidFill>
              <a:srgbClr val="C1C1C9"/>
            </a:solidFill>
            <a:prstDash val="solid"/>
          </a:ln>
        </p:spPr>
      </p:sp>
      <p:sp>
        <p:nvSpPr>
          <p:cNvPr id="49" name="Text 38"/>
          <p:cNvSpPr/>
          <p:nvPr/>
        </p:nvSpPr>
        <p:spPr>
          <a:xfrm>
            <a:off x="3594100" y="4508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d(x4) =</a:t>
            </a:r>
            <a:endParaRPr lang="en-US" sz="1200" dirty="0"/>
          </a:p>
        </p:txBody>
      </p:sp>
      <p:pic>
        <p:nvPicPr>
          <p:cNvPr id="50" name="Image 6" descr="/workspaces/codespaces-blank/ai_llm_slides/videos/machine-learning/03_ridger_regression_gradient_descent/recreated_pptx/build/assets/slide_049_matrix_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9600" y="4432300"/>
            <a:ext cx="723903" cy="384048"/>
          </a:xfrm>
          <a:prstGeom prst="rect">
            <a:avLst/>
          </a:prstGeom>
        </p:spPr>
      </p:pic>
      <p:sp>
        <p:nvSpPr>
          <p:cNvPr id="51" name="Text 39"/>
          <p:cNvSpPr/>
          <p:nvPr/>
        </p:nvSpPr>
        <p:spPr>
          <a:xfrm>
            <a:off x="6451600" y="45085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Keep same Weight</a:t>
            </a:r>
            <a:endParaRPr lang="en-US" sz="1200" dirty="0"/>
          </a:p>
        </p:txBody>
      </p:sp>
      <p:sp>
        <p:nvSpPr>
          <p:cNvPr id="52" name="Text 40"/>
          <p:cNvSpPr/>
          <p:nvPr/>
        </p:nvSpPr>
        <p:spPr>
          <a:xfrm>
            <a:off x="8966200" y="45085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</a:t>
            </a:r>
            <a:endParaRPr lang="en-US" sz="1200" dirty="0"/>
          </a:p>
        </p:txBody>
      </p:sp>
      <p:pic>
        <p:nvPicPr>
          <p:cNvPr id="53" name="Image 7" descr="/workspaces/codespaces-blank/ai_llm_slides/videos/machine-learning/03_ridger_regression_gradient_descent/recreated_pptx/build/assets/slide_049_wcol_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5600" y="4406900"/>
            <a:ext cx="266703" cy="577599"/>
          </a:xfrm>
          <a:prstGeom prst="rect">
            <a:avLst/>
          </a:prstGeom>
        </p:spPr>
      </p:pic>
      <p:sp>
        <p:nvSpPr>
          <p:cNvPr id="54" name="Shape 41"/>
          <p:cNvSpPr/>
          <p:nvPr/>
        </p:nvSpPr>
        <p:spPr>
          <a:xfrm>
            <a:off x="3467100" y="5118100"/>
            <a:ext cx="7353300" cy="0"/>
          </a:xfrm>
          <a:prstGeom prst="line">
            <a:avLst/>
          </a:prstGeom>
          <a:noFill/>
          <a:ln w="12700">
            <a:solidFill>
              <a:srgbClr val="C1C1C9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3594100" y="53467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d(x5) =</a:t>
            </a:r>
            <a:endParaRPr lang="en-US" sz="1200" dirty="0"/>
          </a:p>
        </p:txBody>
      </p:sp>
      <p:pic>
        <p:nvPicPr>
          <p:cNvPr id="56" name="Image 8" descr="/workspaces/codespaces-blank/ai_llm_slides/videos/machine-learning/03_ridger_regression_gradient_descent/recreated_pptx/build/assets/slide_049_matrix_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19600" y="5270500"/>
            <a:ext cx="723903" cy="384048"/>
          </a:xfrm>
          <a:prstGeom prst="rect">
            <a:avLst/>
          </a:prstGeom>
        </p:spPr>
      </p:pic>
      <p:sp>
        <p:nvSpPr>
          <p:cNvPr id="57" name="Text 43"/>
          <p:cNvSpPr/>
          <p:nvPr/>
        </p:nvSpPr>
        <p:spPr>
          <a:xfrm>
            <a:off x="6451600" y="53467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Keep same Weight</a:t>
            </a:r>
            <a:endParaRPr lang="en-US" sz="1200" dirty="0"/>
          </a:p>
        </p:txBody>
      </p:sp>
      <p:sp>
        <p:nvSpPr>
          <p:cNvPr id="58" name="Text 44"/>
          <p:cNvSpPr/>
          <p:nvPr/>
        </p:nvSpPr>
        <p:spPr>
          <a:xfrm>
            <a:off x="8966200" y="53467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</a:t>
            </a:r>
            <a:endParaRPr lang="en-US" sz="1200" dirty="0"/>
          </a:p>
        </p:txBody>
      </p:sp>
      <p:pic>
        <p:nvPicPr>
          <p:cNvPr id="59" name="Image 9" descr="/workspaces/codespaces-blank/ai_llm_slides/videos/machine-learning/03_ridger_regression_gradient_descent/recreated_pptx/build/assets/slide_049_wcol_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5600" y="5245100"/>
            <a:ext cx="266703" cy="577599"/>
          </a:xfrm>
          <a:prstGeom prst="rect">
            <a:avLst/>
          </a:prstGeom>
        </p:spPr>
      </p:pic>
      <p:sp>
        <p:nvSpPr>
          <p:cNvPr id="60" name="Shape 45"/>
          <p:cNvSpPr/>
          <p:nvPr/>
        </p:nvSpPr>
        <p:spPr>
          <a:xfrm>
            <a:off x="3467100" y="5956300"/>
            <a:ext cx="7353300" cy="0"/>
          </a:xfrm>
          <a:prstGeom prst="line">
            <a:avLst/>
          </a:prstGeom>
          <a:noFill/>
          <a:ln w="12700">
            <a:solidFill>
              <a:srgbClr val="C1C1C9"/>
            </a:solidFill>
            <a:prstDash val="solid"/>
          </a:ln>
        </p:spPr>
      </p:sp>
      <p:sp>
        <p:nvSpPr>
          <p:cNvPr id="61" name="Text 46"/>
          <p:cNvSpPr/>
          <p:nvPr/>
        </p:nvSpPr>
        <p:spPr>
          <a:xfrm>
            <a:off x="3594100" y="61849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d(x6) =</a:t>
            </a:r>
            <a:endParaRPr lang="en-US" sz="1200" dirty="0"/>
          </a:p>
        </p:txBody>
      </p:sp>
      <p:pic>
        <p:nvPicPr>
          <p:cNvPr id="62" name="Image 10" descr="/workspaces/codespaces-blank/ai_llm_slides/videos/machine-learning/03_ridger_regression_gradient_descent/recreated_pptx/build/assets/slide_049_matrix_6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9600" y="6108700"/>
            <a:ext cx="723903" cy="384048"/>
          </a:xfrm>
          <a:prstGeom prst="rect">
            <a:avLst/>
          </a:prstGeom>
        </p:spPr>
      </p:pic>
      <p:sp>
        <p:nvSpPr>
          <p:cNvPr id="63" name="Text 47"/>
          <p:cNvSpPr/>
          <p:nvPr/>
        </p:nvSpPr>
        <p:spPr>
          <a:xfrm>
            <a:off x="6451600" y="61849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Keep same Weight</a:t>
            </a:r>
            <a:endParaRPr lang="en-US" sz="1200" dirty="0"/>
          </a:p>
        </p:txBody>
      </p:sp>
      <p:sp>
        <p:nvSpPr>
          <p:cNvPr id="64" name="Text 48"/>
          <p:cNvSpPr/>
          <p:nvPr/>
        </p:nvSpPr>
        <p:spPr>
          <a:xfrm>
            <a:off x="8966200" y="61849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</a:t>
            </a:r>
            <a:endParaRPr lang="en-US" sz="1200" dirty="0"/>
          </a:p>
        </p:txBody>
      </p:sp>
      <p:pic>
        <p:nvPicPr>
          <p:cNvPr id="65" name="Image 11" descr="/workspaces/codespaces-blank/ai_llm_slides/videos/machine-learning/03_ridger_regression_gradient_descent/recreated_pptx/build/assets/slide_049_wcol_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5600" y="6083300"/>
            <a:ext cx="266703" cy="577599"/>
          </a:xfrm>
          <a:prstGeom prst="rect">
            <a:avLst/>
          </a:prstGeom>
        </p:spPr>
      </p:pic>
      <p:sp>
        <p:nvSpPr>
          <p:cNvPr id="66" name="Shape 49"/>
          <p:cNvSpPr/>
          <p:nvPr/>
        </p:nvSpPr>
        <p:spPr>
          <a:xfrm>
            <a:off x="3467100" y="6692900"/>
            <a:ext cx="7353300" cy="0"/>
          </a:xfrm>
          <a:prstGeom prst="line">
            <a:avLst/>
          </a:prstGeom>
          <a:noFill/>
          <a:ln w="12700">
            <a:solidFill>
              <a:srgbClr val="C1C1C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2026-10-24T16:13:23Z</dcterms:created>
  <dcterms:modified xsi:type="dcterms:W3CDTF">2026-10-24T16:13:23Z</dcterms:modified>
</cp:coreProperties>
</file>