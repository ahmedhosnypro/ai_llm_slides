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700" y="762000"/>
            <a:ext cx="121916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Problem Formulation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63600" y="1371600"/>
            <a:ext cx="10185400" cy="1295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8200" y="2908300"/>
            <a:ext cx="10477500" cy="1422400"/>
          </a:xfrm>
          <a:prstGeom prst="roundRect">
            <a:avLst>
              <a:gd name="adj" fmla="val 6429"/>
            </a:avLst>
          </a:prstGeom>
          <a:solidFill>
            <a:srgbClr val="FEFF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" y="4419600"/>
            <a:ext cx="10477500" cy="2324100"/>
          </a:xfrm>
          <a:prstGeom prst="roundRect">
            <a:avLst>
              <a:gd name="adj" fmla="val 3934"/>
            </a:avLst>
          </a:prstGeom>
          <a:solidFill>
            <a:srgbClr val="EADBC8"/>
          </a:solidFill>
          <a:ln w="19050">
            <a:solidFill>
              <a:srgbClr val="865E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000" y="5867400"/>
            <a:ext cx="5143500" cy="736600"/>
          </a:xfrm>
          <a:prstGeom prst="roundRect">
            <a:avLst>
              <a:gd name="adj" fmla="val 11172"/>
            </a:avLst>
          </a:prstGeom>
          <a:solidFill>
            <a:srgbClr val="DFFFEE"/>
          </a:solidFill>
          <a:ln w="19050">
            <a:solidFill>
              <a:srgbClr val="7FBF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7900" y="1409700"/>
            <a:ext cx="1096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Define </a:t>
            </a:r>
            <a:pPr algn="l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90600" y="1736725"/>
            <a:ext cx="10947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If 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∈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 and 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II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then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will be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&lt;0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-1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&gt; 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" y="2092325"/>
            <a:ext cx="10947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If 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∈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II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 and 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as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Class I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then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will be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&gt;0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+1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⇒ 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52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X</a:t>
            </a:r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&gt; 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7900" y="3013075"/>
            <a:ext cx="10960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Redefine Error function as: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16000" y="3336925"/>
            <a:ext cx="1092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Error =</a:t>
            </a:r>
            <a:endParaRPr lang="en-US" sz="2100" dirty="0"/>
          </a:p>
        </p:txBody>
      </p:sp>
      <p:pic>
        <p:nvPicPr>
          <p:cNvPr id="18" name="Image 0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6510" y="3319272"/>
            <a:ext cx="270708" cy="34553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43050" y="3686969"/>
            <a:ext cx="22860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all </a:t>
            </a:r>
            <a:pPr algn="ctr" indent="0" marL="0">
              <a:lnSpc>
                <a:spcPts val="1290"/>
              </a:lnSpc>
              <a:buNone/>
            </a:pPr>
            <a:r>
              <a:rPr lang="en-US" sz="1075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 </a:t>
            </a:r>
            <a:pPr algn="ctr" indent="0" marL="0">
              <a:lnSpc>
                <a:spcPts val="1290"/>
              </a:lnSpc>
              <a:buNone/>
            </a:pPr>
            <a:r>
              <a:rPr lang="en-US" sz="1075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(i)</a:t>
            </a:r>
            <a:endParaRPr lang="en-US" sz="1075" dirty="0"/>
          </a:p>
        </p:txBody>
      </p:sp>
      <p:sp>
        <p:nvSpPr>
          <p:cNvPr id="20" name="Text 17"/>
          <p:cNvSpPr/>
          <p:nvPr/>
        </p:nvSpPr>
        <p:spPr>
          <a:xfrm>
            <a:off x="3543300" y="3336925"/>
            <a:ext cx="127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</a:t>
            </a:r>
            <a:pPr algn="l" indent="0" marL="0">
              <a:lnSpc>
                <a:spcPts val="2520"/>
              </a:lnSpc>
              <a:buNone/>
            </a:pPr>
            <a:r>
              <a:rPr lang="en-US" sz="1900" baseline="30000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4572000" y="3336925"/>
            <a:ext cx="38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⇒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991100" y="3397250"/>
            <a:ext cx="6946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</a:t>
            </a:r>
            <a:pPr algn="l" indent="0" marL="0">
              <a:lnSpc>
                <a:spcPts val="2160"/>
              </a:lnSpc>
              <a:buNone/>
            </a:pPr>
            <a:r>
              <a:rPr lang="en-US" sz="18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160"/>
              </a:lnSpc>
              <a:buNone/>
            </a:pPr>
            <a:r>
              <a:rPr lang="en-US" sz="1900" baseline="30000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</a:t>
            </a:r>
            <a:pPr algn="l" indent="0" marL="0">
              <a:lnSpc>
                <a:spcPts val="2160"/>
              </a:lnSpc>
              <a:buNone/>
            </a:pPr>
            <a:r>
              <a:rPr lang="en-US" sz="1800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160"/>
              </a:lnSpc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) takes positive and negative values and </a:t>
            </a:r>
            <a:pPr algn="l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16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16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has the same sign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65200" y="3863975"/>
            <a:ext cx="10972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Summation is always </a:t>
            </a:r>
            <a:pPr algn="l" indent="0" marL="0">
              <a:lnSpc>
                <a:spcPts val="2280"/>
              </a:lnSpc>
              <a:buNone/>
            </a:pPr>
            <a:r>
              <a:rPr lang="en-US" sz="19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positive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054100" y="4530725"/>
            <a:ext cx="10883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Minimize the Error using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A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Gradient Descent</a:t>
            </a:r>
            <a:pPr algn="l" indent="0" marL="0">
              <a:lnSpc>
                <a:spcPts val="252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with step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1054100" y="5203825"/>
            <a:ext cx="215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(updated)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old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-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pic>
        <p:nvPicPr>
          <p:cNvPr id="26" name="Image 1" descr="/workspaces/codespaces-blank/ai_llm_slides/videos/machine-learning/03_ridger_regression_gradient_descent/recreated_pptx/build/assets/eq_037_fra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24" y="5104638"/>
            <a:ext cx="909965" cy="6093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94300" y="5203825"/>
            <a:ext cx="101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where</a:t>
            </a:r>
            <a:endParaRPr lang="en-US" sz="2100" dirty="0"/>
          </a:p>
        </p:txBody>
      </p:sp>
      <p:pic>
        <p:nvPicPr>
          <p:cNvPr id="28" name="Image 2" descr="/workspaces/codespaces-blank/ai_llm_slides/videos/machine-learning/03_ridger_regression_gradient_descent/recreated_pptx/build/assets/eq_037_fra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5104638"/>
            <a:ext cx="909965" cy="6093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480300" y="5254625"/>
            <a:ext cx="31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=</a:t>
            </a:r>
            <a:endParaRPr lang="en-US" sz="2100" dirty="0"/>
          </a:p>
        </p:txBody>
      </p:sp>
      <p:pic>
        <p:nvPicPr>
          <p:cNvPr id="30" name="Image 3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635" y="5183886"/>
            <a:ext cx="365458" cy="4385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77100" y="5611813"/>
            <a:ext cx="2286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169400" y="5241925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  <p:sp>
        <p:nvSpPr>
          <p:cNvPr id="33" name="Text 27"/>
          <p:cNvSpPr/>
          <p:nvPr/>
        </p:nvSpPr>
        <p:spPr>
          <a:xfrm>
            <a:off x="1054100" y="5953125"/>
            <a:ext cx="215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(updated)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=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W</a:t>
            </a:r>
            <a:pPr algn="l" indent="0" marL="0">
              <a:lnSpc>
                <a:spcPts val="2520"/>
              </a:lnSpc>
              <a:buNone/>
            </a:pPr>
            <a:r>
              <a:rPr lang="en-US" sz="2200" i="1" baseline="30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old</a:t>
            </a:r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- 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η</a:t>
            </a:r>
            <a:endParaRPr lang="en-US" sz="2100" dirty="0"/>
          </a:p>
        </p:txBody>
      </p:sp>
      <p:pic>
        <p:nvPicPr>
          <p:cNvPr id="34" name="Image 4" descr="/workspaces/codespaces-blank/ai_llm_slides/videos/machine-learning/03_ridger_regression_gradient_descent/recreated_pptx/build/assets/eq_037_sigm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032" y="5985002"/>
            <a:ext cx="324850" cy="39869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086100" y="6391275"/>
            <a:ext cx="254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misclassified</a:t>
            </a:r>
            <a:pPr algn="ctr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vectors </a:t>
            </a:r>
            <a:pPr algn="ctr" indent="0" marL="0">
              <a:lnSpc>
                <a:spcPts val="1320"/>
              </a:lnSpc>
              <a:buNone/>
            </a:pPr>
            <a:r>
              <a:rPr lang="en-US" sz="1100" b="1" i="1" u="sng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ONLY</a:t>
            </a:r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(i)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359400" y="5965825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i="1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δ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pPr algn="l" indent="0" marL="0">
              <a:lnSpc>
                <a:spcPts val="2520"/>
              </a:lnSpc>
              <a:buNone/>
            </a:pPr>
            <a:r>
              <a:rPr lang="en-US" sz="2100" b="1" i="1" u="sng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 X</a:t>
            </a:r>
            <a:pPr algn="l" indent="0" marL="0">
              <a:lnSpc>
                <a:spcPts val="2520"/>
              </a:lnSpc>
              <a:buNone/>
            </a:pPr>
            <a:r>
              <a:rPr lang="en-US" sz="1500" b="1" i="1" baseline="-40000" dirty="0">
                <a:solidFill>
                  <a:srgbClr val="288428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_i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2026-10-24T06:56:56Z</dcterms:created>
  <dcterms:modified xsi:type="dcterms:W3CDTF">2026-10-24T06:56:56Z</dcterms:modified>
</cp:coreProperties>
</file>