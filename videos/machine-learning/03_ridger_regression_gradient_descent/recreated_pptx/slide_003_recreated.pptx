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image" Target="../media/image-1-7.png"/><Relationship Id="rId8" Type="http://schemas.openxmlformats.org/officeDocument/2006/relationships/image" Target="../media/image-1-8.png"/><Relationship Id="rId9" Type="http://schemas.openxmlformats.org/officeDocument/2006/relationships/image" Target="../media/image-1-9.png"/><Relationship Id="rId10" Type="http://schemas.openxmlformats.org/officeDocument/2006/relationships/image" Target="../media/image-1-10.png"/><Relationship Id="rId11" Type="http://schemas.openxmlformats.org/officeDocument/2006/relationships/image" Target="../media/image-1-11.png"/><Relationship Id="rId12" Type="http://schemas.openxmlformats.org/officeDocument/2006/relationships/image" Target="../media/image-1-12.png"/><Relationship Id="rId13" Type="http://schemas.openxmlformats.org/officeDocument/2006/relationships/image" Target="../media/image-1-13.png"/><Relationship Id="rId14" Type="http://schemas.openxmlformats.org/officeDocument/2006/relationships/image" Target="../media/image-1-14.png"/><Relationship Id="rId15" Type="http://schemas.openxmlformats.org/officeDocument/2006/relationships/slideLayout" Target="../slideLayouts/slideLayout1.xml"/><Relationship Id="rId16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571500"/>
            <a:ext cx="10795000" cy="6286500"/>
          </a:xfrm>
          <a:prstGeom prst="rect">
            <a:avLst/>
          </a:prstGeom>
          <a:solidFill>
            <a:srgbClr val="E9E9E7"/>
          </a:solidFill>
          <a:ln/>
        </p:spPr>
      </p:sp>
      <p:sp>
        <p:nvSpPr>
          <p:cNvPr id="3" name="Shape 1"/>
          <p:cNvSpPr/>
          <p:nvPr/>
        </p:nvSpPr>
        <p:spPr>
          <a:xfrm>
            <a:off x="742950" y="584200"/>
            <a:ext cx="0" cy="6261100"/>
          </a:xfrm>
          <a:prstGeom prst="line">
            <a:avLst/>
          </a:prstGeom>
          <a:noFill/>
          <a:ln w="12700">
            <a:solidFill>
              <a:srgbClr val="C000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442700" y="584200"/>
            <a:ext cx="0" cy="6261100"/>
          </a:xfrm>
          <a:prstGeom prst="line">
            <a:avLst/>
          </a:prstGeom>
          <a:noFill/>
          <a:ln w="12700">
            <a:solidFill>
              <a:srgbClr val="C0000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6600" y="6838950"/>
            <a:ext cx="10718800" cy="0"/>
          </a:xfrm>
          <a:prstGeom prst="line">
            <a:avLst/>
          </a:prstGeom>
          <a:noFill/>
          <a:ln w="12700">
            <a:solidFill>
              <a:srgbClr val="C0000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902950" y="704850"/>
            <a:ext cx="444500" cy="444500"/>
          </a:xfrm>
          <a:prstGeom prst="ellipse">
            <a:avLst/>
          </a:prstGeom>
          <a:solidFill>
            <a:srgbClr val="FDFD96"/>
          </a:solidFill>
          <a:ln w="25400">
            <a:solidFill>
              <a:srgbClr val="6A5AC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902950" y="704850"/>
            <a:ext cx="4445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89000" y="787400"/>
            <a:ext cx="101600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00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Matrix</a:t>
            </a:r>
            <a:pPr algn="ctr" indent="0" marL="0">
              <a:buNone/>
            </a:pPr>
            <a:r>
              <a:rPr lang="en-US" sz="2300" b="1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Notation for Linear Regression and Classification </a:t>
            </a:r>
            <a:pPr algn="ctr" indent="0" marL="0">
              <a:buNone/>
            </a:pPr>
            <a:r>
              <a:rPr lang="en-US" sz="2300" b="1" dirty="0">
                <a:solidFill>
                  <a:srgbClr val="00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(N-</a:t>
            </a:r>
            <a:pPr algn="ctr" indent="0" marL="0">
              <a:buNone/>
            </a:pPr>
            <a:r>
              <a:rPr lang="en-US" sz="2300" b="1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Samples)</a:t>
            </a:r>
            <a:endParaRPr lang="en-US" sz="2300" dirty="0"/>
          </a:p>
        </p:txBody>
      </p:sp>
      <p:sp>
        <p:nvSpPr>
          <p:cNvPr id="9" name="Text 7"/>
          <p:cNvSpPr/>
          <p:nvPr/>
        </p:nvSpPr>
        <p:spPr>
          <a:xfrm>
            <a:off x="1016000" y="2197100"/>
            <a:ext cx="254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 Training Samples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3441700" y="1358900"/>
            <a:ext cx="4127500" cy="24638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F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727450" y="1790700"/>
            <a:ext cx="546100" cy="1968500"/>
          </a:xfrm>
          <a:prstGeom prst="rect">
            <a:avLst/>
          </a:prstGeom>
          <a:solidFill>
            <a:srgbClr val="FFFF99"/>
          </a:solidFill>
          <a:ln/>
        </p:spPr>
      </p:sp>
      <p:sp>
        <p:nvSpPr>
          <p:cNvPr id="12" name="Shape 10"/>
          <p:cNvSpPr/>
          <p:nvPr/>
        </p:nvSpPr>
        <p:spPr>
          <a:xfrm>
            <a:off x="4692650" y="1790700"/>
            <a:ext cx="609600" cy="1968500"/>
          </a:xfrm>
          <a:prstGeom prst="rect">
            <a:avLst/>
          </a:prstGeom>
          <a:solidFill>
            <a:srgbClr val="CCFFFF"/>
          </a:solidFill>
          <a:ln/>
        </p:spPr>
      </p:sp>
      <p:sp>
        <p:nvSpPr>
          <p:cNvPr id="13" name="Shape 11"/>
          <p:cNvSpPr/>
          <p:nvPr/>
        </p:nvSpPr>
        <p:spPr>
          <a:xfrm>
            <a:off x="6508750" y="1790700"/>
            <a:ext cx="571500" cy="1968500"/>
          </a:xfrm>
          <a:prstGeom prst="rect">
            <a:avLst/>
          </a:prstGeom>
          <a:solidFill>
            <a:srgbClr val="F0A0F0"/>
          </a:solidFill>
          <a:ln/>
        </p:spPr>
      </p:sp>
      <p:sp>
        <p:nvSpPr>
          <p:cNvPr id="14" name="Text 12"/>
          <p:cNvSpPr/>
          <p:nvPr/>
        </p:nvSpPr>
        <p:spPr>
          <a:xfrm>
            <a:off x="3695700" y="1460500"/>
            <a:ext cx="6096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1800" b="1" i="1" baseline="-40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4692650" y="1460500"/>
            <a:ext cx="6096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1800" b="1" i="1" baseline="-40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6489700" y="1460500"/>
            <a:ext cx="6096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1800" b="1" i="1" baseline="-40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3727450" y="1981200"/>
            <a:ext cx="5461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1100" i="1" baseline="-40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727450" y="2349500"/>
            <a:ext cx="5461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1100" i="1" baseline="-40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727450" y="2844800"/>
            <a:ext cx="5461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...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727450" y="3048000"/>
            <a:ext cx="5461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1100" i="1" baseline="-40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1d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692650" y="1981200"/>
            <a:ext cx="60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1100" i="1" baseline="-40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692650" y="2349500"/>
            <a:ext cx="60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1100" i="1" baseline="-40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692650" y="2844800"/>
            <a:ext cx="60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...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692650" y="3048000"/>
            <a:ext cx="60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1100" i="1" baseline="-40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2d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508750" y="1981200"/>
            <a:ext cx="571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1100" i="1" baseline="-40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n1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508750" y="2349500"/>
            <a:ext cx="571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1100" i="1" baseline="-40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n2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508750" y="2844800"/>
            <a:ext cx="571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...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508750" y="3048000"/>
            <a:ext cx="571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1100" i="1" baseline="-40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nd</a:t>
            </a:r>
            <a:endParaRPr lang="en-US" sz="1100" dirty="0"/>
          </a:p>
        </p:txBody>
      </p:sp>
      <p:pic>
        <p:nvPicPr>
          <p:cNvPr id="29" name="Image 0" descr="/home/ahmed/Projects/ai_llm_slides/videos/machine-learning/03_ridger_regression_gradient_descent/recreated_pptx/qa/slide003/parens/col1_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761740" y="1854200"/>
            <a:ext cx="48260" cy="1485900"/>
          </a:xfrm>
          <a:prstGeom prst="rect">
            <a:avLst/>
          </a:prstGeom>
        </p:spPr>
      </p:pic>
      <p:pic>
        <p:nvPicPr>
          <p:cNvPr id="30" name="Image 1" descr="/home/ahmed/Projects/ai_llm_slides/videos/machine-learning/03_ridger_regression_gradient_descent/recreated_pptx/qa/slide003/parens/col1_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65092" y="1854200"/>
            <a:ext cx="48260" cy="1485900"/>
          </a:xfrm>
          <a:prstGeom prst="rect">
            <a:avLst/>
          </a:prstGeom>
        </p:spPr>
      </p:pic>
      <p:pic>
        <p:nvPicPr>
          <p:cNvPr id="31" name="Image 2" descr="/home/ahmed/Projects/ai_llm_slides/videos/machine-learning/03_ridger_regression_gradient_descent/recreated_pptx/qa/slide003/parens/col2_L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39640" y="1854200"/>
            <a:ext cx="48260" cy="1485900"/>
          </a:xfrm>
          <a:prstGeom prst="rect">
            <a:avLst/>
          </a:prstGeom>
        </p:spPr>
      </p:pic>
      <p:pic>
        <p:nvPicPr>
          <p:cNvPr id="32" name="Image 3" descr="/home/ahmed/Projects/ai_llm_slides/videos/machine-learning/03_ridger_regression_gradient_descent/recreated_pptx/qa/slide003/parens/col2_R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49342" y="1854200"/>
            <a:ext cx="48260" cy="1485900"/>
          </a:xfrm>
          <a:prstGeom prst="rect">
            <a:avLst/>
          </a:prstGeom>
        </p:spPr>
      </p:pic>
      <p:pic>
        <p:nvPicPr>
          <p:cNvPr id="33" name="Image 4" descr="/home/ahmed/Projects/ai_llm_slides/videos/machine-learning/03_ridger_regression_gradient_descent/recreated_pptx/qa/slide003/parens/col4_L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68440" y="1854200"/>
            <a:ext cx="48260" cy="1485900"/>
          </a:xfrm>
          <a:prstGeom prst="rect">
            <a:avLst/>
          </a:prstGeom>
        </p:spPr>
      </p:pic>
      <p:pic>
        <p:nvPicPr>
          <p:cNvPr id="34" name="Image 5" descr="/home/ahmed/Projects/ai_llm_slides/videos/machine-learning/03_ridger_regression_gradient_descent/recreated_pptx/qa/slide003/parens/col4_R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71792" y="1854200"/>
            <a:ext cx="48260" cy="1485900"/>
          </a:xfrm>
          <a:prstGeom prst="rect">
            <a:avLst/>
          </a:prstGeom>
        </p:spPr>
      </p:pic>
      <p:sp>
        <p:nvSpPr>
          <p:cNvPr id="35" name="Shape 27"/>
          <p:cNvSpPr/>
          <p:nvPr/>
        </p:nvSpPr>
        <p:spPr>
          <a:xfrm>
            <a:off x="3454400" y="3778250"/>
            <a:ext cx="4102100" cy="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</a:ln>
        </p:spPr>
      </p:sp>
      <p:sp>
        <p:nvSpPr>
          <p:cNvPr id="36" name="Text 28"/>
          <p:cNvSpPr/>
          <p:nvPr/>
        </p:nvSpPr>
        <p:spPr>
          <a:xfrm>
            <a:off x="3746500" y="3479800"/>
            <a:ext cx="50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pPr algn="ctr" indent="0" marL="0">
              <a:buNone/>
            </a:pPr>
            <a:r>
              <a:rPr lang="en-US" sz="1200" i="1" baseline="-40000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37" name="Text 29"/>
          <p:cNvSpPr/>
          <p:nvPr/>
        </p:nvSpPr>
        <p:spPr>
          <a:xfrm>
            <a:off x="4743450" y="3479800"/>
            <a:ext cx="50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pPr algn="ctr" indent="0" marL="0">
              <a:buNone/>
            </a:pPr>
            <a:r>
              <a:rPr lang="en-US" sz="1200" i="1" baseline="-40000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38" name="Text 30"/>
          <p:cNvSpPr/>
          <p:nvPr/>
        </p:nvSpPr>
        <p:spPr>
          <a:xfrm>
            <a:off x="6540500" y="3479800"/>
            <a:ext cx="50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pPr algn="ctr" indent="0" marL="0">
              <a:buNone/>
            </a:pPr>
            <a:r>
              <a:rPr lang="en-US" sz="1200" i="1" baseline="-40000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</a:t>
            </a:r>
            <a:endParaRPr lang="en-US" sz="1200" dirty="0"/>
          </a:p>
        </p:txBody>
      </p:sp>
      <p:sp>
        <p:nvSpPr>
          <p:cNvPr id="39" name="Text 31"/>
          <p:cNvSpPr/>
          <p:nvPr/>
        </p:nvSpPr>
        <p:spPr>
          <a:xfrm>
            <a:off x="5867400" y="3530600"/>
            <a:ext cx="3048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...</a:t>
            </a:r>
            <a:endParaRPr lang="en-US" sz="1100" dirty="0"/>
          </a:p>
        </p:txBody>
      </p:sp>
      <p:sp>
        <p:nvSpPr>
          <p:cNvPr id="40" name="Text 32"/>
          <p:cNvSpPr/>
          <p:nvPr/>
        </p:nvSpPr>
        <p:spPr>
          <a:xfrm>
            <a:off x="5334000" y="1460500"/>
            <a:ext cx="7112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...</a:t>
            </a:r>
            <a:endParaRPr lang="en-US" sz="1800" dirty="0"/>
          </a:p>
        </p:txBody>
      </p:sp>
      <p:pic>
        <p:nvPicPr>
          <p:cNvPr id="41" name="Image 6" descr="/home/ahmed/Projects/ai_llm_slides/videos/machine-learning/03_ridger_regression_gradient_descent/recreated_pptx/qa/slide003/parens/arc_midcol_L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27700" y="1993900"/>
            <a:ext cx="48260" cy="1193800"/>
          </a:xfrm>
          <a:prstGeom prst="rect">
            <a:avLst/>
          </a:prstGeom>
        </p:spPr>
      </p:pic>
      <p:pic>
        <p:nvPicPr>
          <p:cNvPr id="42" name="Image 7" descr="/home/ahmed/Projects/ai_llm_slides/videos/machine-learning/03_ridger_regression_gradient_descent/recreated_pptx/qa/slide003/parens/arc_midcol_R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943600" y="1993900"/>
            <a:ext cx="48260" cy="1193800"/>
          </a:xfrm>
          <a:prstGeom prst="rect">
            <a:avLst/>
          </a:prstGeom>
        </p:spPr>
      </p:pic>
      <p:sp>
        <p:nvSpPr>
          <p:cNvPr id="43" name="Text 33"/>
          <p:cNvSpPr/>
          <p:nvPr/>
        </p:nvSpPr>
        <p:spPr>
          <a:xfrm>
            <a:off x="5689600" y="2070100"/>
            <a:ext cx="381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i="1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...</a:t>
            </a:r>
            <a:endParaRPr lang="en-US" sz="1200" dirty="0"/>
          </a:p>
        </p:txBody>
      </p:sp>
      <p:sp>
        <p:nvSpPr>
          <p:cNvPr id="44" name="Text 34"/>
          <p:cNvSpPr/>
          <p:nvPr/>
        </p:nvSpPr>
        <p:spPr>
          <a:xfrm>
            <a:off x="5689600" y="2413000"/>
            <a:ext cx="381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i="1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...</a:t>
            </a:r>
            <a:endParaRPr lang="en-US" sz="1200" dirty="0"/>
          </a:p>
        </p:txBody>
      </p:sp>
      <p:sp>
        <p:nvSpPr>
          <p:cNvPr id="45" name="Text 35"/>
          <p:cNvSpPr/>
          <p:nvPr/>
        </p:nvSpPr>
        <p:spPr>
          <a:xfrm>
            <a:off x="5689600" y="2717800"/>
            <a:ext cx="381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i="1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...</a:t>
            </a:r>
            <a:endParaRPr lang="en-US" sz="1200" dirty="0"/>
          </a:p>
        </p:txBody>
      </p:sp>
      <p:sp>
        <p:nvSpPr>
          <p:cNvPr id="46" name="Text 36"/>
          <p:cNvSpPr/>
          <p:nvPr/>
        </p:nvSpPr>
        <p:spPr>
          <a:xfrm>
            <a:off x="5689600" y="3060700"/>
            <a:ext cx="381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i="1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...</a:t>
            </a:r>
            <a:endParaRPr lang="en-US" sz="1200" dirty="0"/>
          </a:p>
        </p:txBody>
      </p:sp>
      <p:sp>
        <p:nvSpPr>
          <p:cNvPr id="47" name="Shape 37"/>
          <p:cNvSpPr/>
          <p:nvPr/>
        </p:nvSpPr>
        <p:spPr>
          <a:xfrm>
            <a:off x="8242300" y="1943100"/>
            <a:ext cx="2857500" cy="863600"/>
          </a:xfrm>
          <a:prstGeom prst="rect">
            <a:avLst/>
          </a:prstGeom>
          <a:solidFill>
            <a:srgbClr val="E5FEFA"/>
          </a:solidFill>
          <a:ln w="19050">
            <a:solidFill>
              <a:srgbClr val="0000FF"/>
            </a:solidFill>
            <a:prstDash val="solid"/>
          </a:ln>
        </p:spPr>
      </p:sp>
      <p:sp>
        <p:nvSpPr>
          <p:cNvPr id="48" name="Text 38"/>
          <p:cNvSpPr/>
          <p:nvPr/>
        </p:nvSpPr>
        <p:spPr>
          <a:xfrm>
            <a:off x="8331200" y="1993900"/>
            <a:ext cx="15240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i="1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Remember</a:t>
            </a:r>
            <a:endParaRPr lang="en-US" sz="1800" dirty="0"/>
          </a:p>
        </p:txBody>
      </p:sp>
      <p:sp>
        <p:nvSpPr>
          <p:cNvPr id="49" name="Text 39"/>
          <p:cNvSpPr/>
          <p:nvPr/>
        </p:nvSpPr>
        <p:spPr>
          <a:xfrm>
            <a:off x="8851900" y="2336800"/>
            <a:ext cx="2286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i="1" u="sng" dirty="0">
                <a:solidFill>
                  <a:srgbClr val="00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pPr algn="l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= </a:t>
            </a:r>
            <a:pPr algn="l" indent="0" marL="0">
              <a:buNone/>
            </a:pPr>
            <a:r>
              <a:rPr lang="en-US" sz="1800" b="1" u="sng" dirty="0">
                <a:solidFill>
                  <a:srgbClr val="00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l" indent="0" marL="0">
              <a:buNone/>
            </a:pPr>
            <a:r>
              <a:rPr lang="en-US" sz="1800" i="1" baseline="30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</a:t>
            </a:r>
            <a:pPr algn="l" indent="0" marL="0">
              <a:buNone/>
            </a:pPr>
            <a:r>
              <a:rPr lang="en-US" sz="1800" b="1" u="sng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l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= </a:t>
            </a:r>
            <a:pPr algn="l" indent="0" marL="0">
              <a:buNone/>
            </a:pPr>
            <a:r>
              <a:rPr lang="en-US" sz="1800" b="1" u="sng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l" indent="0" marL="0">
              <a:buNone/>
            </a:pPr>
            <a:r>
              <a:rPr lang="en-US" sz="1800" i="1" baseline="30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</a:t>
            </a:r>
            <a:pPr algn="l" indent="0" marL="0">
              <a:buNone/>
            </a:pPr>
            <a:r>
              <a:rPr lang="en-US" sz="1800" b="1" u="sng" dirty="0">
                <a:solidFill>
                  <a:srgbClr val="00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endParaRPr lang="en-US" sz="1800" dirty="0"/>
          </a:p>
        </p:txBody>
      </p:sp>
      <p:sp>
        <p:nvSpPr>
          <p:cNvPr id="50" name="Shape 40"/>
          <p:cNvSpPr/>
          <p:nvPr/>
        </p:nvSpPr>
        <p:spPr>
          <a:xfrm>
            <a:off x="8369300" y="3403600"/>
            <a:ext cx="2425700" cy="33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6C5B3D"/>
            </a:solidFill>
            <a:prstDash val="solid"/>
          </a:ln>
        </p:spPr>
      </p:sp>
      <p:sp>
        <p:nvSpPr>
          <p:cNvPr id="51" name="Text 41"/>
          <p:cNvSpPr/>
          <p:nvPr/>
        </p:nvSpPr>
        <p:spPr>
          <a:xfrm>
            <a:off x="8445500" y="3429000"/>
            <a:ext cx="22733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General: </a:t>
            </a:r>
            <a:pPr algn="l" indent="0" marL="0">
              <a:buNone/>
            </a:pPr>
            <a:r>
              <a:rPr lang="en-US" sz="1500" b="1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</a:t>
            </a:r>
            <a:pPr algn="l" indent="0" marL="0">
              <a:buNone/>
            </a:pPr>
            <a:r>
              <a:rPr lang="en-US" sz="1500" b="1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&gt;&gt;&gt; </a:t>
            </a:r>
            <a:pPr algn="l" indent="0" marL="0">
              <a:buNone/>
            </a:pPr>
            <a:r>
              <a:rPr lang="en-US" sz="1500" b="1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500" dirty="0"/>
          </a:p>
        </p:txBody>
      </p:sp>
      <p:sp>
        <p:nvSpPr>
          <p:cNvPr id="52" name="Shape 42"/>
          <p:cNvSpPr/>
          <p:nvPr/>
        </p:nvSpPr>
        <p:spPr>
          <a:xfrm>
            <a:off x="1003300" y="4102100"/>
            <a:ext cx="5765800" cy="2463800"/>
          </a:xfrm>
          <a:prstGeom prst="rect">
            <a:avLst/>
          </a:prstGeom>
          <a:solidFill>
            <a:srgbClr val="FFFFFF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53" name="Shape 43"/>
          <p:cNvSpPr/>
          <p:nvPr/>
        </p:nvSpPr>
        <p:spPr>
          <a:xfrm>
            <a:off x="2489200" y="4673600"/>
            <a:ext cx="2501900" cy="279400"/>
          </a:xfrm>
          <a:prstGeom prst="rect">
            <a:avLst/>
          </a:prstGeom>
          <a:solidFill>
            <a:srgbClr val="FFFF99"/>
          </a:solidFill>
          <a:ln/>
        </p:spPr>
      </p:sp>
      <p:sp>
        <p:nvSpPr>
          <p:cNvPr id="54" name="Shape 44"/>
          <p:cNvSpPr/>
          <p:nvPr/>
        </p:nvSpPr>
        <p:spPr>
          <a:xfrm>
            <a:off x="2489200" y="5041900"/>
            <a:ext cx="2501900" cy="330200"/>
          </a:xfrm>
          <a:prstGeom prst="rect">
            <a:avLst/>
          </a:prstGeom>
          <a:solidFill>
            <a:srgbClr val="CCFFFF"/>
          </a:solidFill>
          <a:ln/>
        </p:spPr>
      </p:sp>
      <p:sp>
        <p:nvSpPr>
          <p:cNvPr id="55" name="Shape 45"/>
          <p:cNvSpPr/>
          <p:nvPr/>
        </p:nvSpPr>
        <p:spPr>
          <a:xfrm>
            <a:off x="2489200" y="5791200"/>
            <a:ext cx="2501900" cy="279400"/>
          </a:xfrm>
          <a:prstGeom prst="rect">
            <a:avLst/>
          </a:prstGeom>
          <a:solidFill>
            <a:srgbClr val="F0A0F0"/>
          </a:solidFill>
          <a:ln/>
        </p:spPr>
      </p:sp>
      <p:sp>
        <p:nvSpPr>
          <p:cNvPr id="56" name="Shape 46"/>
          <p:cNvSpPr/>
          <p:nvPr/>
        </p:nvSpPr>
        <p:spPr>
          <a:xfrm>
            <a:off x="1371600" y="4673600"/>
            <a:ext cx="355600" cy="292100"/>
          </a:xfrm>
          <a:prstGeom prst="rect">
            <a:avLst/>
          </a:prstGeom>
          <a:solidFill>
            <a:srgbClr val="FFFF99"/>
          </a:solidFill>
          <a:ln/>
        </p:spPr>
      </p:sp>
      <p:sp>
        <p:nvSpPr>
          <p:cNvPr id="57" name="Shape 47"/>
          <p:cNvSpPr/>
          <p:nvPr/>
        </p:nvSpPr>
        <p:spPr>
          <a:xfrm>
            <a:off x="1371600" y="5067300"/>
            <a:ext cx="355600" cy="304800"/>
          </a:xfrm>
          <a:prstGeom prst="rect">
            <a:avLst/>
          </a:prstGeom>
          <a:solidFill>
            <a:srgbClr val="CCFFFF"/>
          </a:solidFill>
          <a:ln/>
        </p:spPr>
      </p:sp>
      <p:sp>
        <p:nvSpPr>
          <p:cNvPr id="58" name="Shape 48"/>
          <p:cNvSpPr/>
          <p:nvPr/>
        </p:nvSpPr>
        <p:spPr>
          <a:xfrm>
            <a:off x="1371600" y="5778500"/>
            <a:ext cx="355600" cy="304800"/>
          </a:xfrm>
          <a:prstGeom prst="rect">
            <a:avLst/>
          </a:prstGeom>
          <a:solidFill>
            <a:srgbClr val="F0A0F0"/>
          </a:solidFill>
          <a:ln/>
        </p:spPr>
      </p:sp>
      <p:pic>
        <p:nvPicPr>
          <p:cNvPr id="59" name="Image 8" descr="/home/ahmed/Projects/ai_llm_slides/videos/machine-learning/03_ridger_regression_gradient_descent/recreated_pptx/qa/slide003/parens/arc_yvec_L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358900" y="4546600"/>
            <a:ext cx="48260" cy="1625600"/>
          </a:xfrm>
          <a:prstGeom prst="rect">
            <a:avLst/>
          </a:prstGeom>
        </p:spPr>
      </p:pic>
      <p:pic>
        <p:nvPicPr>
          <p:cNvPr id="60" name="Image 9" descr="/home/ahmed/Projects/ai_llm_slides/videos/machine-learning/03_ridger_regression_gradient_descent/recreated_pptx/qa/slide003/parens/arc_yvec_R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638300" y="4546600"/>
            <a:ext cx="48260" cy="1625600"/>
          </a:xfrm>
          <a:prstGeom prst="rect">
            <a:avLst/>
          </a:prstGeom>
        </p:spPr>
      </p:pic>
      <p:sp>
        <p:nvSpPr>
          <p:cNvPr id="61" name="Text 49"/>
          <p:cNvSpPr/>
          <p:nvPr/>
        </p:nvSpPr>
        <p:spPr>
          <a:xfrm>
            <a:off x="1384300" y="4673600"/>
            <a:ext cx="4318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C896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pPr algn="ctr" indent="0" marL="0">
              <a:buNone/>
            </a:pPr>
            <a:r>
              <a:rPr lang="en-US" sz="1500" i="1" baseline="-40000" dirty="0">
                <a:solidFill>
                  <a:srgbClr val="C896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500" dirty="0"/>
          </a:p>
        </p:txBody>
      </p:sp>
      <p:sp>
        <p:nvSpPr>
          <p:cNvPr id="62" name="Text 50"/>
          <p:cNvSpPr/>
          <p:nvPr/>
        </p:nvSpPr>
        <p:spPr>
          <a:xfrm>
            <a:off x="1384300" y="5041900"/>
            <a:ext cx="4318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46A0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pPr algn="ctr" indent="0" marL="0">
              <a:buNone/>
            </a:pPr>
            <a:r>
              <a:rPr lang="en-US" sz="1500" i="1" baseline="-40000" dirty="0">
                <a:solidFill>
                  <a:srgbClr val="46A0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500" dirty="0"/>
          </a:p>
        </p:txBody>
      </p:sp>
      <p:sp>
        <p:nvSpPr>
          <p:cNvPr id="63" name="Text 51"/>
          <p:cNvSpPr/>
          <p:nvPr/>
        </p:nvSpPr>
        <p:spPr>
          <a:xfrm>
            <a:off x="1384300" y="5422900"/>
            <a:ext cx="4318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...</a:t>
            </a:r>
            <a:endParaRPr lang="en-US" sz="1500" dirty="0"/>
          </a:p>
        </p:txBody>
      </p:sp>
      <p:sp>
        <p:nvSpPr>
          <p:cNvPr id="64" name="Text 52"/>
          <p:cNvSpPr/>
          <p:nvPr/>
        </p:nvSpPr>
        <p:spPr>
          <a:xfrm>
            <a:off x="1384300" y="5791200"/>
            <a:ext cx="4318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CC3F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pPr algn="ctr" indent="0" marL="0">
              <a:buNone/>
            </a:pPr>
            <a:r>
              <a:rPr lang="en-US" sz="1500" i="1" baseline="-40000" dirty="0">
                <a:solidFill>
                  <a:srgbClr val="CC3F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</a:t>
            </a:r>
            <a:endParaRPr lang="en-US" sz="1500" dirty="0"/>
          </a:p>
        </p:txBody>
      </p:sp>
      <p:sp>
        <p:nvSpPr>
          <p:cNvPr id="65" name="Text 53"/>
          <p:cNvSpPr/>
          <p:nvPr/>
        </p:nvSpPr>
        <p:spPr>
          <a:xfrm>
            <a:off x="1778000" y="5867400"/>
            <a:ext cx="76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 × 1</a:t>
            </a:r>
            <a:endParaRPr lang="en-US" sz="1100" dirty="0"/>
          </a:p>
        </p:txBody>
      </p:sp>
      <p:sp>
        <p:nvSpPr>
          <p:cNvPr id="66" name="Text 54"/>
          <p:cNvSpPr/>
          <p:nvPr/>
        </p:nvSpPr>
        <p:spPr>
          <a:xfrm>
            <a:off x="1828800" y="4914900"/>
            <a:ext cx="3048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</a:t>
            </a:r>
            <a:endParaRPr lang="en-US" sz="2400" dirty="0"/>
          </a:p>
        </p:txBody>
      </p:sp>
      <p:sp>
        <p:nvSpPr>
          <p:cNvPr id="67" name="Text 55"/>
          <p:cNvSpPr/>
          <p:nvPr/>
        </p:nvSpPr>
        <p:spPr>
          <a:xfrm>
            <a:off x="2654300" y="4673600"/>
            <a:ext cx="5080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00" dirty="0"/>
          </a:p>
        </p:txBody>
      </p:sp>
      <p:sp>
        <p:nvSpPr>
          <p:cNvPr id="68" name="Text 56"/>
          <p:cNvSpPr/>
          <p:nvPr/>
        </p:nvSpPr>
        <p:spPr>
          <a:xfrm>
            <a:off x="3111500" y="4673600"/>
            <a:ext cx="5080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l" indent="0" marL="0">
              <a:buNone/>
            </a:pPr>
            <a:r>
              <a:rPr lang="en-US" sz="1000" i="1" baseline="-40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  <p:sp>
        <p:nvSpPr>
          <p:cNvPr id="69" name="Text 57"/>
          <p:cNvSpPr/>
          <p:nvPr/>
        </p:nvSpPr>
        <p:spPr>
          <a:xfrm>
            <a:off x="3683000" y="4673600"/>
            <a:ext cx="5080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l" indent="0" marL="0">
              <a:buNone/>
            </a:pPr>
            <a:r>
              <a:rPr lang="en-US" sz="1000" i="1" baseline="-40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000" dirty="0"/>
          </a:p>
        </p:txBody>
      </p:sp>
      <p:sp>
        <p:nvSpPr>
          <p:cNvPr id="70" name="Text 58"/>
          <p:cNvSpPr/>
          <p:nvPr/>
        </p:nvSpPr>
        <p:spPr>
          <a:xfrm>
            <a:off x="4191000" y="4673600"/>
            <a:ext cx="5080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...</a:t>
            </a:r>
            <a:endParaRPr lang="en-US" sz="1000" dirty="0"/>
          </a:p>
        </p:txBody>
      </p:sp>
      <p:sp>
        <p:nvSpPr>
          <p:cNvPr id="71" name="Text 59"/>
          <p:cNvSpPr/>
          <p:nvPr/>
        </p:nvSpPr>
        <p:spPr>
          <a:xfrm>
            <a:off x="4635500" y="4673600"/>
            <a:ext cx="5080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l" indent="0" marL="0">
              <a:buNone/>
            </a:pPr>
            <a:r>
              <a:rPr lang="en-US" sz="1000" i="1" baseline="-40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1d</a:t>
            </a:r>
            <a:endParaRPr lang="en-US" sz="1000" dirty="0"/>
          </a:p>
        </p:txBody>
      </p:sp>
      <p:sp>
        <p:nvSpPr>
          <p:cNvPr id="72" name="Text 60"/>
          <p:cNvSpPr/>
          <p:nvPr/>
        </p:nvSpPr>
        <p:spPr>
          <a:xfrm>
            <a:off x="2654300" y="5041900"/>
            <a:ext cx="5080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00" dirty="0"/>
          </a:p>
        </p:txBody>
      </p:sp>
      <p:sp>
        <p:nvSpPr>
          <p:cNvPr id="73" name="Text 61"/>
          <p:cNvSpPr/>
          <p:nvPr/>
        </p:nvSpPr>
        <p:spPr>
          <a:xfrm>
            <a:off x="3111500" y="5041900"/>
            <a:ext cx="5080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l" indent="0" marL="0">
              <a:buNone/>
            </a:pPr>
            <a:r>
              <a:rPr lang="en-US" sz="1000" i="1" baseline="-40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</a:t>
            </a:r>
            <a:endParaRPr lang="en-US" sz="1000" dirty="0"/>
          </a:p>
        </p:txBody>
      </p:sp>
      <p:sp>
        <p:nvSpPr>
          <p:cNvPr id="74" name="Text 62"/>
          <p:cNvSpPr/>
          <p:nvPr/>
        </p:nvSpPr>
        <p:spPr>
          <a:xfrm>
            <a:off x="3683000" y="5041900"/>
            <a:ext cx="5080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l" indent="0" marL="0">
              <a:buNone/>
            </a:pPr>
            <a:r>
              <a:rPr lang="en-US" sz="1000" i="1" baseline="-40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</a:t>
            </a:r>
            <a:endParaRPr lang="en-US" sz="1000" dirty="0"/>
          </a:p>
        </p:txBody>
      </p:sp>
      <p:sp>
        <p:nvSpPr>
          <p:cNvPr id="75" name="Text 63"/>
          <p:cNvSpPr/>
          <p:nvPr/>
        </p:nvSpPr>
        <p:spPr>
          <a:xfrm>
            <a:off x="4191000" y="5041900"/>
            <a:ext cx="5080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...</a:t>
            </a:r>
            <a:endParaRPr lang="en-US" sz="1000" dirty="0"/>
          </a:p>
        </p:txBody>
      </p:sp>
      <p:sp>
        <p:nvSpPr>
          <p:cNvPr id="76" name="Text 64"/>
          <p:cNvSpPr/>
          <p:nvPr/>
        </p:nvSpPr>
        <p:spPr>
          <a:xfrm>
            <a:off x="4635500" y="5041900"/>
            <a:ext cx="5080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l" indent="0" marL="0">
              <a:buNone/>
            </a:pPr>
            <a:r>
              <a:rPr lang="en-US" sz="1000" i="1" baseline="-40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2d</a:t>
            </a:r>
            <a:endParaRPr lang="en-US" sz="1000" dirty="0"/>
          </a:p>
        </p:txBody>
      </p:sp>
      <p:sp>
        <p:nvSpPr>
          <p:cNvPr id="77" name="Text 65"/>
          <p:cNvSpPr/>
          <p:nvPr/>
        </p:nvSpPr>
        <p:spPr>
          <a:xfrm>
            <a:off x="2654300" y="5422900"/>
            <a:ext cx="5080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00" dirty="0"/>
          </a:p>
        </p:txBody>
      </p:sp>
      <p:sp>
        <p:nvSpPr>
          <p:cNvPr id="78" name="Text 66"/>
          <p:cNvSpPr/>
          <p:nvPr/>
        </p:nvSpPr>
        <p:spPr>
          <a:xfrm>
            <a:off x="3111500" y="5422900"/>
            <a:ext cx="5080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...</a:t>
            </a:r>
            <a:endParaRPr lang="en-US" sz="1000" dirty="0"/>
          </a:p>
        </p:txBody>
      </p:sp>
      <p:sp>
        <p:nvSpPr>
          <p:cNvPr id="79" name="Text 67"/>
          <p:cNvSpPr/>
          <p:nvPr/>
        </p:nvSpPr>
        <p:spPr>
          <a:xfrm>
            <a:off x="3683000" y="5422900"/>
            <a:ext cx="5080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...</a:t>
            </a:r>
            <a:endParaRPr lang="en-US" sz="1000" dirty="0"/>
          </a:p>
        </p:txBody>
      </p:sp>
      <p:sp>
        <p:nvSpPr>
          <p:cNvPr id="80" name="Text 68"/>
          <p:cNvSpPr/>
          <p:nvPr/>
        </p:nvSpPr>
        <p:spPr>
          <a:xfrm>
            <a:off x="4191000" y="5422900"/>
            <a:ext cx="5080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...</a:t>
            </a:r>
            <a:endParaRPr lang="en-US" sz="1000" dirty="0"/>
          </a:p>
        </p:txBody>
      </p:sp>
      <p:sp>
        <p:nvSpPr>
          <p:cNvPr id="81" name="Text 69"/>
          <p:cNvSpPr/>
          <p:nvPr/>
        </p:nvSpPr>
        <p:spPr>
          <a:xfrm>
            <a:off x="4635500" y="5422900"/>
            <a:ext cx="5080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...</a:t>
            </a:r>
            <a:endParaRPr lang="en-US" sz="1000" dirty="0"/>
          </a:p>
        </p:txBody>
      </p:sp>
      <p:sp>
        <p:nvSpPr>
          <p:cNvPr id="82" name="Text 70"/>
          <p:cNvSpPr/>
          <p:nvPr/>
        </p:nvSpPr>
        <p:spPr>
          <a:xfrm>
            <a:off x="2654300" y="5791200"/>
            <a:ext cx="5080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00" dirty="0"/>
          </a:p>
        </p:txBody>
      </p:sp>
      <p:sp>
        <p:nvSpPr>
          <p:cNvPr id="83" name="Text 71"/>
          <p:cNvSpPr/>
          <p:nvPr/>
        </p:nvSpPr>
        <p:spPr>
          <a:xfrm>
            <a:off x="3111500" y="5791200"/>
            <a:ext cx="5080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l" indent="0" marL="0">
              <a:buNone/>
            </a:pPr>
            <a:r>
              <a:rPr lang="en-US" sz="1000" i="1" baseline="-40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n1</a:t>
            </a:r>
            <a:endParaRPr lang="en-US" sz="1000" dirty="0"/>
          </a:p>
        </p:txBody>
      </p:sp>
      <p:sp>
        <p:nvSpPr>
          <p:cNvPr id="84" name="Text 72"/>
          <p:cNvSpPr/>
          <p:nvPr/>
        </p:nvSpPr>
        <p:spPr>
          <a:xfrm>
            <a:off x="3683000" y="5791200"/>
            <a:ext cx="5080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l" indent="0" marL="0">
              <a:buNone/>
            </a:pPr>
            <a:r>
              <a:rPr lang="en-US" sz="1000" i="1" baseline="-40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n2</a:t>
            </a:r>
            <a:endParaRPr lang="en-US" sz="1000" dirty="0"/>
          </a:p>
        </p:txBody>
      </p:sp>
      <p:sp>
        <p:nvSpPr>
          <p:cNvPr id="85" name="Text 73"/>
          <p:cNvSpPr/>
          <p:nvPr/>
        </p:nvSpPr>
        <p:spPr>
          <a:xfrm>
            <a:off x="4191000" y="5791200"/>
            <a:ext cx="5080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...</a:t>
            </a:r>
            <a:endParaRPr lang="en-US" sz="1000" dirty="0"/>
          </a:p>
        </p:txBody>
      </p:sp>
      <p:sp>
        <p:nvSpPr>
          <p:cNvPr id="86" name="Text 74"/>
          <p:cNvSpPr/>
          <p:nvPr/>
        </p:nvSpPr>
        <p:spPr>
          <a:xfrm>
            <a:off x="4635500" y="5791200"/>
            <a:ext cx="5080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l" indent="0" marL="0">
              <a:buNone/>
            </a:pPr>
            <a:r>
              <a:rPr lang="en-US" sz="1000" i="1" baseline="-40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nd</a:t>
            </a:r>
            <a:endParaRPr lang="en-US" sz="1000" dirty="0"/>
          </a:p>
        </p:txBody>
      </p:sp>
      <p:pic>
        <p:nvPicPr>
          <p:cNvPr id="87" name="Image 10" descr="/home/ahmed/Projects/ai_llm_slides/videos/machine-learning/03_ridger_regression_gradient_descent/recreated_pptx/qa/slide003/parens/arc_matrix_L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463800" y="4597400"/>
            <a:ext cx="48260" cy="1549400"/>
          </a:xfrm>
          <a:prstGeom prst="rect">
            <a:avLst/>
          </a:prstGeom>
        </p:spPr>
      </p:pic>
      <p:pic>
        <p:nvPicPr>
          <p:cNvPr id="88" name="Image 11" descr="/home/ahmed/Projects/ai_llm_slides/videos/machine-learning/03_ridger_regression_gradient_descent/recreated_pptx/qa/slide003/parens/arc_matrix_R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927600" y="4597400"/>
            <a:ext cx="48260" cy="1549400"/>
          </a:xfrm>
          <a:prstGeom prst="rect">
            <a:avLst/>
          </a:prstGeom>
        </p:spPr>
      </p:pic>
      <p:sp>
        <p:nvSpPr>
          <p:cNvPr id="89" name="Shape 75"/>
          <p:cNvSpPr/>
          <p:nvPr/>
        </p:nvSpPr>
        <p:spPr>
          <a:xfrm>
            <a:off x="2520950" y="4648200"/>
            <a:ext cx="0" cy="1409700"/>
          </a:xfrm>
          <a:prstGeom prst="line">
            <a:avLst/>
          </a:prstGeom>
          <a:noFill/>
          <a:ln w="9525">
            <a:solidFill>
              <a:srgbClr val="000000"/>
            </a:solidFill>
            <a:prstDash val="solid"/>
          </a:ln>
        </p:spPr>
      </p:sp>
      <p:sp>
        <p:nvSpPr>
          <p:cNvPr id="90" name="Shape 76"/>
          <p:cNvSpPr/>
          <p:nvPr/>
        </p:nvSpPr>
        <p:spPr>
          <a:xfrm>
            <a:off x="5010150" y="4648200"/>
            <a:ext cx="0" cy="1409700"/>
          </a:xfrm>
          <a:prstGeom prst="line">
            <a:avLst/>
          </a:prstGeom>
          <a:noFill/>
          <a:ln w="9525">
            <a:solidFill>
              <a:srgbClr val="000000"/>
            </a:solidFill>
            <a:prstDash val="solid"/>
          </a:ln>
        </p:spPr>
      </p:sp>
      <p:sp>
        <p:nvSpPr>
          <p:cNvPr id="91" name="Text 77"/>
          <p:cNvSpPr/>
          <p:nvPr/>
        </p:nvSpPr>
        <p:spPr>
          <a:xfrm>
            <a:off x="5067300" y="5943600"/>
            <a:ext cx="1397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 × d+1</a:t>
            </a:r>
            <a:endParaRPr lang="en-US" sz="1100" dirty="0"/>
          </a:p>
        </p:txBody>
      </p:sp>
      <p:pic>
        <p:nvPicPr>
          <p:cNvPr id="92" name="Image 12" descr="/home/ahmed/Projects/ai_llm_slides/videos/machine-learning/03_ridger_regression_gradient_descent/recreated_pptx/qa/slide003/parens/arc_wvec_L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816600" y="4419600"/>
            <a:ext cx="48260" cy="1651000"/>
          </a:xfrm>
          <a:prstGeom prst="rect">
            <a:avLst/>
          </a:prstGeom>
        </p:spPr>
      </p:pic>
      <p:pic>
        <p:nvPicPr>
          <p:cNvPr id="93" name="Image 13" descr="/home/ahmed/Projects/ai_llm_slides/videos/machine-learning/03_ridger_regression_gradient_descent/recreated_pptx/qa/slide003/parens/arc_wvec_R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553200" y="4419600"/>
            <a:ext cx="48260" cy="1651000"/>
          </a:xfrm>
          <a:prstGeom prst="rect">
            <a:avLst/>
          </a:prstGeom>
        </p:spPr>
      </p:pic>
      <p:sp>
        <p:nvSpPr>
          <p:cNvPr id="94" name="Text 78"/>
          <p:cNvSpPr/>
          <p:nvPr/>
        </p:nvSpPr>
        <p:spPr>
          <a:xfrm>
            <a:off x="5867400" y="4445000"/>
            <a:ext cx="7112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300" dirty="0"/>
          </a:p>
        </p:txBody>
      </p:sp>
      <p:sp>
        <p:nvSpPr>
          <p:cNvPr id="95" name="Text 79"/>
          <p:cNvSpPr/>
          <p:nvPr/>
        </p:nvSpPr>
        <p:spPr>
          <a:xfrm>
            <a:off x="5867400" y="4927600"/>
            <a:ext cx="7112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00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1300" i="1" baseline="-40000" dirty="0">
                <a:solidFill>
                  <a:srgbClr val="00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96" name="Text 80"/>
          <p:cNvSpPr/>
          <p:nvPr/>
        </p:nvSpPr>
        <p:spPr>
          <a:xfrm>
            <a:off x="5867400" y="5283200"/>
            <a:ext cx="7112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00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1300" i="1" baseline="-40000" dirty="0">
                <a:solidFill>
                  <a:srgbClr val="00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97" name="Text 81"/>
          <p:cNvSpPr/>
          <p:nvPr/>
        </p:nvSpPr>
        <p:spPr>
          <a:xfrm>
            <a:off x="5867400" y="5753100"/>
            <a:ext cx="7112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...</a:t>
            </a:r>
            <a:endParaRPr lang="en-US" sz="1300" dirty="0"/>
          </a:p>
        </p:txBody>
      </p:sp>
      <p:sp>
        <p:nvSpPr>
          <p:cNvPr id="98" name="Text 82"/>
          <p:cNvSpPr/>
          <p:nvPr/>
        </p:nvSpPr>
        <p:spPr>
          <a:xfrm>
            <a:off x="5867400" y="5969000"/>
            <a:ext cx="7112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00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1300" i="1" baseline="-40000" dirty="0">
                <a:solidFill>
                  <a:srgbClr val="00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300" dirty="0"/>
          </a:p>
        </p:txBody>
      </p:sp>
      <p:sp>
        <p:nvSpPr>
          <p:cNvPr id="99" name="Text 83"/>
          <p:cNvSpPr/>
          <p:nvPr/>
        </p:nvSpPr>
        <p:spPr>
          <a:xfrm>
            <a:off x="5740400" y="6172200"/>
            <a:ext cx="96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D42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d+1 × 1</a:t>
            </a:r>
            <a:endParaRPr lang="en-US" sz="1100" dirty="0"/>
          </a:p>
        </p:txBody>
      </p:sp>
      <p:sp>
        <p:nvSpPr>
          <p:cNvPr id="100" name="Shape 84"/>
          <p:cNvSpPr/>
          <p:nvPr/>
        </p:nvSpPr>
        <p:spPr>
          <a:xfrm>
            <a:off x="6896100" y="5181600"/>
            <a:ext cx="431800" cy="0"/>
          </a:xfrm>
          <a:prstGeom prst="line">
            <a:avLst/>
          </a:prstGeom>
          <a:noFill/>
          <a:ln w="19050">
            <a:solidFill>
              <a:srgbClr val="808080"/>
            </a:solidFill>
            <a:prstDash val="solid"/>
            <a:tailEnd type="triangle"/>
          </a:ln>
        </p:spPr>
      </p:sp>
      <p:sp>
        <p:nvSpPr>
          <p:cNvPr id="101" name="Shape 85"/>
          <p:cNvSpPr/>
          <p:nvPr/>
        </p:nvSpPr>
        <p:spPr>
          <a:xfrm>
            <a:off x="7429500" y="4102100"/>
            <a:ext cx="3822700" cy="2463800"/>
          </a:xfrm>
          <a:prstGeom prst="rect">
            <a:avLst/>
          </a:prstGeom>
          <a:solidFill>
            <a:srgbClr val="FFFFFF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102" name="Text 86"/>
          <p:cNvSpPr/>
          <p:nvPr/>
        </p:nvSpPr>
        <p:spPr>
          <a:xfrm>
            <a:off x="7683500" y="4521200"/>
            <a:ext cx="33147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u="sng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pPr algn="l"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= </a:t>
            </a:r>
            <a:pPr algn="l" indent="0" marL="0">
              <a:buNone/>
            </a:pPr>
            <a:r>
              <a:rPr lang="en-US" sz="1600" b="1" u="sng" dirty="0">
                <a:solidFill>
                  <a:srgbClr val="00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l"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pPr algn="l" indent="0" marL="0">
              <a:buNone/>
            </a:pPr>
            <a:r>
              <a:rPr lang="en-US" sz="1600" b="1" u="sng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endParaRPr lang="en-US" sz="1600" dirty="0"/>
          </a:p>
        </p:txBody>
      </p:sp>
      <p:sp>
        <p:nvSpPr>
          <p:cNvPr id="103" name="Text 87"/>
          <p:cNvSpPr/>
          <p:nvPr/>
        </p:nvSpPr>
        <p:spPr>
          <a:xfrm>
            <a:off x="7683500" y="5054600"/>
            <a:ext cx="33147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Where: </a:t>
            </a:r>
            <a:pPr algn="l" indent="0" marL="0">
              <a:buNone/>
            </a:pPr>
            <a:r>
              <a:rPr lang="en-US" sz="1300" i="1" u="sng" dirty="0">
                <a:solidFill>
                  <a:srgbClr val="00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l" indent="0" marL="0">
              <a:buNone/>
            </a:pPr>
            <a:r>
              <a:rPr lang="en-US" sz="1300" i="1" baseline="-40000" dirty="0">
                <a:solidFill>
                  <a:srgbClr val="00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N×d+1</a:t>
            </a:r>
            <a:pPr algn="l"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is a matrix</a:t>
            </a:r>
            <a:endParaRPr lang="en-US" sz="1300" dirty="0"/>
          </a:p>
        </p:txBody>
      </p:sp>
      <p:sp>
        <p:nvSpPr>
          <p:cNvPr id="104" name="Text 88"/>
          <p:cNvSpPr/>
          <p:nvPr/>
        </p:nvSpPr>
        <p:spPr>
          <a:xfrm>
            <a:off x="8483600" y="5664200"/>
            <a:ext cx="25146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i="1" u="sng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pPr algn="l" indent="0" marL="0">
              <a:buNone/>
            </a:pPr>
            <a:r>
              <a:rPr lang="en-US" sz="1300" i="1" baseline="-40000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N×1</a:t>
            </a:r>
            <a:pPr algn="l"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is labels vector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2026-10-25T19:30:59Z</dcterms:created>
  <dcterms:modified xsi:type="dcterms:W3CDTF">2026-10-25T19:30:59Z</dcterms:modified>
</cp:coreProperties>
</file>