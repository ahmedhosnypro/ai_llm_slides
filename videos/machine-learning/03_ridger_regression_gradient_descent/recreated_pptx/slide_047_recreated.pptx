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8.png"/><Relationship Id="rId10" Type="http://schemas.openxmlformats.org/officeDocument/2006/relationships/image" Target="../media/image-1-8.png"/><Relationship Id="rId11" Type="http://schemas.openxmlformats.org/officeDocument/2006/relationships/image" Target="../media/image-1-11.png"/><Relationship Id="rId12" Type="http://schemas.openxmlformats.org/officeDocument/2006/relationships/image" Target="../media/image-1-11.png"/><Relationship Id="rId13" Type="http://schemas.openxmlformats.org/officeDocument/2006/relationships/image" Target="../media/image-1-11.png"/><Relationship Id="rId14" Type="http://schemas.openxmlformats.org/officeDocument/2006/relationships/image" Target="../media/image-1-11.png"/><Relationship Id="rId15" Type="http://schemas.openxmlformats.org/officeDocument/2006/relationships/image" Target="../media/image-1-11.png"/><Relationship Id="rId16" Type="http://schemas.openxmlformats.org/officeDocument/2006/relationships/image" Target="../media/image-1-11.png"/><Relationship Id="rId17" Type="http://schemas.openxmlformats.org/officeDocument/2006/relationships/image" Target="../media/image-1-17.png"/><Relationship Id="rId18" Type="http://schemas.openxmlformats.org/officeDocument/2006/relationships/image" Target="../media/image-1-17.png"/><Relationship Id="rId19" Type="http://schemas.openxmlformats.org/officeDocument/2006/relationships/image" Target="../media/image-1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98500"/>
            <a:ext cx="8280400" cy="952500"/>
          </a:xfrm>
          <a:prstGeom prst="rect">
            <a:avLst/>
          </a:prstGeom>
          <a:solidFill>
            <a:srgbClr val="FFFFE8"/>
          </a:solidFill>
          <a:ln w="12700">
            <a:solidFill>
              <a:srgbClr val="1A1A99"/>
            </a:solidFill>
            <a:prstDash val="solid"/>
          </a:ln>
        </p:spPr>
      </p:sp>
      <p:pic>
        <p:nvPicPr>
          <p:cNvPr id="9" name="Image 0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855" y="971550"/>
            <a:ext cx="193548" cy="3992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31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12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112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858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14" name="Image 1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55" y="971550"/>
            <a:ext cx="193548" cy="3992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525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3906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3906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3652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19" name="Image 2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274" y="971550"/>
            <a:ext cx="193548" cy="3992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319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x₃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6700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6700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6446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24" name="Image 3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643" y="971550"/>
            <a:ext cx="193548" cy="3992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1770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x₄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95580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95580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93040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29" name="Image 4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393" y="971550"/>
            <a:ext cx="193548" cy="3992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2034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x₅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22415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22415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22161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34" name="Image 5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255" y="971550"/>
            <a:ext cx="193548" cy="3992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48920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x₆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252730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252730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250190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378200" y="895350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</a:t>
            </a:r>
            <a:pPr algn="l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</a:t>
            </a:r>
            <a:endParaRPr lang="en-US" sz="1300" dirty="0"/>
          </a:p>
        </p:txBody>
      </p:sp>
      <p:pic>
        <p:nvPicPr>
          <p:cNvPr id="40" name="Image 6" descr="videos/machine-learning/03_ridger_regression_gradient_descent/recreated_pptx/build/assets/paren_p047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0200" y="736600"/>
            <a:ext cx="393700" cy="6019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203700" y="755650"/>
            <a:ext cx="228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4203700" y="958850"/>
            <a:ext cx="228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-2</a:t>
            </a:r>
            <a:endParaRPr lang="en-US" sz="1400" dirty="0"/>
          </a:p>
        </p:txBody>
      </p:sp>
      <p:sp>
        <p:nvSpPr>
          <p:cNvPr id="43" name="Text 34"/>
          <p:cNvSpPr/>
          <p:nvPr/>
        </p:nvSpPr>
        <p:spPr>
          <a:xfrm>
            <a:off x="4203700" y="1155700"/>
            <a:ext cx="228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-2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4635500" y="800100"/>
            <a:ext cx="104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η = 2</a:t>
            </a:r>
            <a:endParaRPr lang="en-US" sz="1750" dirty="0"/>
          </a:p>
        </p:txBody>
      </p:sp>
      <p:sp>
        <p:nvSpPr>
          <p:cNvPr id="45" name="Text 36"/>
          <p:cNvSpPr/>
          <p:nvPr/>
        </p:nvSpPr>
        <p:spPr>
          <a:xfrm>
            <a:off x="6337300" y="9525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classes of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3035300" y="1358900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positive  </a:t>
            </a:r>
            <a:pPr algn="l" indent="0" marL="0">
              <a:buNone/>
            </a:pPr>
            <a:r>
              <a:rPr lang="en-US" sz="15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  </a:t>
            </a:r>
            <a:pPr algn="l" indent="0" marL="0">
              <a:buNone/>
            </a:pPr>
            <a:r>
              <a:rPr lang="en-US" sz="150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unaccepted</a:t>
            </a:r>
            <a:endParaRPr lang="en-US" sz="1500" dirty="0"/>
          </a:p>
        </p:txBody>
      </p:sp>
      <p:pic>
        <p:nvPicPr>
          <p:cNvPr id="47" name="Image 7" descr="videos/machine-learning/03_ridger_regression_gradient_descent/recreated_pptx/build/assets/paren_p047_z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2535" y="1003300"/>
            <a:ext cx="205740" cy="41148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550150" y="76454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7588250" y="99314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350" dirty="0"/>
          </a:p>
        </p:txBody>
      </p:sp>
      <p:sp>
        <p:nvSpPr>
          <p:cNvPr id="50" name="Text 40"/>
          <p:cNvSpPr/>
          <p:nvPr/>
        </p:nvSpPr>
        <p:spPr>
          <a:xfrm>
            <a:off x="7588250" y="121285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350" dirty="0"/>
          </a:p>
        </p:txBody>
      </p:sp>
      <p:pic>
        <p:nvPicPr>
          <p:cNvPr id="51" name="Image 8" descr="videos/machine-learning/03_ridger_regression_gradient_descent/recreated_pptx/build/assets/paren_p047_z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5524" y="1003300"/>
            <a:ext cx="205740" cy="4114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823200" y="76454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endParaRPr lang="en-US" sz="1250" dirty="0"/>
          </a:p>
        </p:txBody>
      </p:sp>
      <p:sp>
        <p:nvSpPr>
          <p:cNvPr id="53" name="Text 42"/>
          <p:cNvSpPr/>
          <p:nvPr/>
        </p:nvSpPr>
        <p:spPr>
          <a:xfrm>
            <a:off x="7861300" y="99314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50" dirty="0"/>
          </a:p>
        </p:txBody>
      </p:sp>
      <p:sp>
        <p:nvSpPr>
          <p:cNvPr id="54" name="Text 43"/>
          <p:cNvSpPr/>
          <p:nvPr/>
        </p:nvSpPr>
        <p:spPr>
          <a:xfrm>
            <a:off x="7861300" y="121285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pic>
        <p:nvPicPr>
          <p:cNvPr id="55" name="Image 9" descr="videos/machine-learning/03_ridger_regression_gradient_descent/recreated_pptx/build/assets/paren_p047_z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4924" y="1003300"/>
            <a:ext cx="205740" cy="4114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8108950" y="76454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endParaRPr lang="en-US" sz="1250" dirty="0"/>
          </a:p>
        </p:txBody>
      </p:sp>
      <p:sp>
        <p:nvSpPr>
          <p:cNvPr id="57" name="Text 45"/>
          <p:cNvSpPr/>
          <p:nvPr/>
        </p:nvSpPr>
        <p:spPr>
          <a:xfrm>
            <a:off x="8147050" y="99314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50" dirty="0"/>
          </a:p>
        </p:txBody>
      </p:sp>
      <p:sp>
        <p:nvSpPr>
          <p:cNvPr id="58" name="Text 46"/>
          <p:cNvSpPr/>
          <p:nvPr/>
        </p:nvSpPr>
        <p:spPr>
          <a:xfrm>
            <a:off x="8147050" y="121285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59" name="Shape 47"/>
          <p:cNvSpPr/>
          <p:nvPr/>
        </p:nvSpPr>
        <p:spPr>
          <a:xfrm>
            <a:off x="876300" y="1765300"/>
            <a:ext cx="2260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1041400" y="1835150"/>
            <a:ext cx="2260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Ugmented Vectors ( from Top )</a:t>
            </a:r>
            <a:endParaRPr lang="en-US" sz="1300" dirty="0"/>
          </a:p>
        </p:txBody>
      </p:sp>
      <p:pic>
        <p:nvPicPr>
          <p:cNvPr id="61" name="Image 10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6655" y="2298700"/>
            <a:ext cx="193548" cy="577596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1239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</a:t>
            </a:r>
            <a:endParaRPr lang="en-US" sz="1250" dirty="0"/>
          </a:p>
        </p:txBody>
      </p:sp>
      <p:sp>
        <p:nvSpPr>
          <p:cNvPr id="63" name="Text 50"/>
          <p:cNvSpPr/>
          <p:nvPr/>
        </p:nvSpPr>
        <p:spPr>
          <a:xfrm>
            <a:off x="11620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64" name="Text 51"/>
          <p:cNvSpPr/>
          <p:nvPr/>
        </p:nvSpPr>
        <p:spPr>
          <a:xfrm>
            <a:off x="11620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65" name="Text 52"/>
          <p:cNvSpPr/>
          <p:nvPr/>
        </p:nvSpPr>
        <p:spPr>
          <a:xfrm>
            <a:off x="11620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66" name="Text 53"/>
          <p:cNvSpPr/>
          <p:nvPr/>
        </p:nvSpPr>
        <p:spPr>
          <a:xfrm>
            <a:off x="11366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67" name="Image 11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3355" y="2298700"/>
            <a:ext cx="193548" cy="577596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13906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</a:t>
            </a:r>
            <a:endParaRPr lang="en-US" sz="1250" dirty="0"/>
          </a:p>
        </p:txBody>
      </p:sp>
      <p:sp>
        <p:nvSpPr>
          <p:cNvPr id="69" name="Text 55"/>
          <p:cNvSpPr/>
          <p:nvPr/>
        </p:nvSpPr>
        <p:spPr>
          <a:xfrm>
            <a:off x="14287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0" name="Text 56"/>
          <p:cNvSpPr/>
          <p:nvPr/>
        </p:nvSpPr>
        <p:spPr>
          <a:xfrm>
            <a:off x="14287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71" name="Text 57"/>
          <p:cNvSpPr/>
          <p:nvPr/>
        </p:nvSpPr>
        <p:spPr>
          <a:xfrm>
            <a:off x="14287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2" name="Text 58"/>
          <p:cNvSpPr/>
          <p:nvPr/>
        </p:nvSpPr>
        <p:spPr>
          <a:xfrm>
            <a:off x="14033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73" name="Image 12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8597" y="2298700"/>
            <a:ext cx="193548" cy="577596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16827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x₃</a:t>
            </a:r>
            <a:endParaRPr lang="en-US" sz="1250" dirty="0"/>
          </a:p>
        </p:txBody>
      </p:sp>
      <p:sp>
        <p:nvSpPr>
          <p:cNvPr id="75" name="Text 60"/>
          <p:cNvSpPr/>
          <p:nvPr/>
        </p:nvSpPr>
        <p:spPr>
          <a:xfrm>
            <a:off x="17208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6" name="Text 61"/>
          <p:cNvSpPr/>
          <p:nvPr/>
        </p:nvSpPr>
        <p:spPr>
          <a:xfrm>
            <a:off x="17208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7" name="Text 62"/>
          <p:cNvSpPr/>
          <p:nvPr/>
        </p:nvSpPr>
        <p:spPr>
          <a:xfrm>
            <a:off x="17208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78" name="Text 63"/>
          <p:cNvSpPr/>
          <p:nvPr/>
        </p:nvSpPr>
        <p:spPr>
          <a:xfrm>
            <a:off x="16954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79" name="Image 13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3966" y="2298700"/>
            <a:ext cx="193548" cy="577596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196850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x₄</a:t>
            </a:r>
            <a:endParaRPr lang="en-US" sz="1250" dirty="0"/>
          </a:p>
        </p:txBody>
      </p:sp>
      <p:sp>
        <p:nvSpPr>
          <p:cNvPr id="81" name="Text 65"/>
          <p:cNvSpPr/>
          <p:nvPr/>
        </p:nvSpPr>
        <p:spPr>
          <a:xfrm>
            <a:off x="200660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82" name="Text 66"/>
          <p:cNvSpPr/>
          <p:nvPr/>
        </p:nvSpPr>
        <p:spPr>
          <a:xfrm>
            <a:off x="200660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83" name="Text 67"/>
          <p:cNvSpPr/>
          <p:nvPr/>
        </p:nvSpPr>
        <p:spPr>
          <a:xfrm>
            <a:off x="200660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50" dirty="0"/>
          </a:p>
        </p:txBody>
      </p:sp>
      <p:sp>
        <p:nvSpPr>
          <p:cNvPr id="84" name="Text 68"/>
          <p:cNvSpPr/>
          <p:nvPr/>
        </p:nvSpPr>
        <p:spPr>
          <a:xfrm>
            <a:off x="198120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85" name="Image 14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00097" y="2298700"/>
            <a:ext cx="193548" cy="577596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22542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x₅</a:t>
            </a:r>
            <a:endParaRPr lang="en-US" sz="1250" dirty="0"/>
          </a:p>
        </p:txBody>
      </p:sp>
      <p:sp>
        <p:nvSpPr>
          <p:cNvPr id="87" name="Text 70"/>
          <p:cNvSpPr/>
          <p:nvPr/>
        </p:nvSpPr>
        <p:spPr>
          <a:xfrm>
            <a:off x="22923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88" name="Text 71"/>
          <p:cNvSpPr/>
          <p:nvPr/>
        </p:nvSpPr>
        <p:spPr>
          <a:xfrm>
            <a:off x="22923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89" name="Text 72"/>
          <p:cNvSpPr/>
          <p:nvPr/>
        </p:nvSpPr>
        <p:spPr>
          <a:xfrm>
            <a:off x="22923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90" name="Text 73"/>
          <p:cNvSpPr/>
          <p:nvPr/>
        </p:nvSpPr>
        <p:spPr>
          <a:xfrm>
            <a:off x="22669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91" name="Image 15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85847" y="2298700"/>
            <a:ext cx="193548" cy="577596"/>
          </a:xfrm>
          <a:prstGeom prst="rect">
            <a:avLst/>
          </a:prstGeom>
        </p:spPr>
      </p:pic>
      <p:sp>
        <p:nvSpPr>
          <p:cNvPr id="92" name="Text 74"/>
          <p:cNvSpPr/>
          <p:nvPr/>
        </p:nvSpPr>
        <p:spPr>
          <a:xfrm>
            <a:off x="25336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x₆</a:t>
            </a:r>
            <a:endParaRPr lang="en-US" sz="1250" dirty="0"/>
          </a:p>
        </p:txBody>
      </p:sp>
      <p:sp>
        <p:nvSpPr>
          <p:cNvPr id="93" name="Text 75"/>
          <p:cNvSpPr/>
          <p:nvPr/>
        </p:nvSpPr>
        <p:spPr>
          <a:xfrm>
            <a:off x="25717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94" name="Text 76"/>
          <p:cNvSpPr/>
          <p:nvPr/>
        </p:nvSpPr>
        <p:spPr>
          <a:xfrm>
            <a:off x="25717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95" name="Text 77"/>
          <p:cNvSpPr/>
          <p:nvPr/>
        </p:nvSpPr>
        <p:spPr>
          <a:xfrm>
            <a:off x="25717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96" name="Text 78"/>
          <p:cNvSpPr/>
          <p:nvPr/>
        </p:nvSpPr>
        <p:spPr>
          <a:xfrm>
            <a:off x="25463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sp>
        <p:nvSpPr>
          <p:cNvPr id="97" name="Shape 79"/>
          <p:cNvSpPr/>
          <p:nvPr/>
        </p:nvSpPr>
        <p:spPr>
          <a:xfrm>
            <a:off x="3467100" y="1765300"/>
            <a:ext cx="7391400" cy="7493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98" name="Text 80"/>
          <p:cNvSpPr/>
          <p:nvPr/>
        </p:nvSpPr>
        <p:spPr>
          <a:xfrm>
            <a:off x="3594100" y="199898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d(Z₁) =</a:t>
            </a:r>
            <a:endParaRPr lang="en-US" sz="1400" dirty="0"/>
          </a:p>
        </p:txBody>
      </p:sp>
      <p:sp>
        <p:nvSpPr>
          <p:cNvPr id="99" name="Text 81"/>
          <p:cNvSpPr/>
          <p:nvPr/>
        </p:nvSpPr>
        <p:spPr>
          <a:xfrm>
            <a:off x="4254500" y="18288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(1  0  0)</a:t>
            </a:r>
            <a:endParaRPr lang="en-US" sz="1300" dirty="0"/>
          </a:p>
        </p:txBody>
      </p:sp>
      <p:pic>
        <p:nvPicPr>
          <p:cNvPr id="100" name="Image 16" descr="videos/machine-learning/03_ridger_regression_gradient_descent/recreated_pptx/build/assets/paren_p047_stac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27600" y="1905000"/>
            <a:ext cx="231648" cy="501396"/>
          </a:xfrm>
          <a:prstGeom prst="rect">
            <a:avLst/>
          </a:prstGeom>
        </p:spPr>
      </p:pic>
      <p:sp>
        <p:nvSpPr>
          <p:cNvPr id="101" name="Text 82"/>
          <p:cNvSpPr/>
          <p:nvPr/>
        </p:nvSpPr>
        <p:spPr>
          <a:xfrm>
            <a:off x="4940300" y="187325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102" name="Text 83"/>
          <p:cNvSpPr/>
          <p:nvPr/>
        </p:nvSpPr>
        <p:spPr>
          <a:xfrm>
            <a:off x="4940300" y="20447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</a:t>
            </a:r>
            <a:endParaRPr lang="en-US" sz="1050" dirty="0"/>
          </a:p>
        </p:txBody>
      </p:sp>
      <p:sp>
        <p:nvSpPr>
          <p:cNvPr id="103" name="Text 84"/>
          <p:cNvSpPr/>
          <p:nvPr/>
        </p:nvSpPr>
        <p:spPr>
          <a:xfrm>
            <a:off x="4940300" y="22606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50" dirty="0"/>
          </a:p>
        </p:txBody>
      </p:sp>
      <p:sp>
        <p:nvSpPr>
          <p:cNvPr id="104" name="Text 85"/>
          <p:cNvSpPr/>
          <p:nvPr/>
        </p:nvSpPr>
        <p:spPr>
          <a:xfrm>
            <a:off x="5257800" y="200914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14</a:t>
            </a:r>
            <a:endParaRPr lang="en-US" sz="1350" dirty="0"/>
          </a:p>
        </p:txBody>
      </p:sp>
      <p:sp>
        <p:nvSpPr>
          <p:cNvPr id="105" name="Text 86"/>
          <p:cNvSpPr/>
          <p:nvPr/>
        </p:nvSpPr>
        <p:spPr>
          <a:xfrm>
            <a:off x="6438900" y="201295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Positive &gt; 0</a:t>
            </a:r>
            <a:endParaRPr lang="en-US" sz="1400" dirty="0"/>
          </a:p>
        </p:txBody>
      </p:sp>
      <p:sp>
        <p:nvSpPr>
          <p:cNvPr id="106" name="Text 87"/>
          <p:cNvSpPr/>
          <p:nvPr/>
        </p:nvSpPr>
        <p:spPr>
          <a:xfrm>
            <a:off x="8420100" y="20066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</a:t>
            </a:r>
            <a:endParaRPr lang="en-US" sz="1300" dirty="0"/>
          </a:p>
        </p:txBody>
      </p:sp>
      <p:sp>
        <p:nvSpPr>
          <p:cNvPr id="107" name="Shape 88"/>
          <p:cNvSpPr/>
          <p:nvPr/>
        </p:nvSpPr>
        <p:spPr>
          <a:xfrm>
            <a:off x="3467100" y="2616200"/>
            <a:ext cx="73914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108" name="Text 89"/>
          <p:cNvSpPr/>
          <p:nvPr/>
        </p:nvSpPr>
        <p:spPr>
          <a:xfrm>
            <a:off x="3594100" y="287528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d(Z₂) =</a:t>
            </a:r>
            <a:endParaRPr lang="en-US" sz="1400" dirty="0"/>
          </a:p>
        </p:txBody>
      </p:sp>
      <p:sp>
        <p:nvSpPr>
          <p:cNvPr id="109" name="Text 90"/>
          <p:cNvSpPr/>
          <p:nvPr/>
        </p:nvSpPr>
        <p:spPr>
          <a:xfrm>
            <a:off x="4254500" y="27051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(1  7  6)</a:t>
            </a:r>
            <a:endParaRPr lang="en-US" sz="1300" dirty="0"/>
          </a:p>
        </p:txBody>
      </p:sp>
      <p:pic>
        <p:nvPicPr>
          <p:cNvPr id="110" name="Image 17" descr="videos/machine-learning/03_ridger_regression_gradient_descent/recreated_pptx/build/assets/paren_p047_sta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27600" y="2781300"/>
            <a:ext cx="231648" cy="501396"/>
          </a:xfrm>
          <a:prstGeom prst="rect">
            <a:avLst/>
          </a:prstGeom>
        </p:spPr>
      </p:pic>
      <p:sp>
        <p:nvSpPr>
          <p:cNvPr id="111" name="Text 91"/>
          <p:cNvSpPr/>
          <p:nvPr/>
        </p:nvSpPr>
        <p:spPr>
          <a:xfrm>
            <a:off x="4940300" y="274955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112" name="Text 92"/>
          <p:cNvSpPr/>
          <p:nvPr/>
        </p:nvSpPr>
        <p:spPr>
          <a:xfrm>
            <a:off x="4940300" y="29210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</a:t>
            </a:r>
            <a:endParaRPr lang="en-US" sz="1050" dirty="0"/>
          </a:p>
        </p:txBody>
      </p:sp>
      <p:sp>
        <p:nvSpPr>
          <p:cNvPr id="113" name="Text 93"/>
          <p:cNvSpPr/>
          <p:nvPr/>
        </p:nvSpPr>
        <p:spPr>
          <a:xfrm>
            <a:off x="4940300" y="31369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50" dirty="0"/>
          </a:p>
        </p:txBody>
      </p:sp>
      <p:sp>
        <p:nvSpPr>
          <p:cNvPr id="114" name="Text 94"/>
          <p:cNvSpPr/>
          <p:nvPr/>
        </p:nvSpPr>
        <p:spPr>
          <a:xfrm>
            <a:off x="5257800" y="288544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-14</a:t>
            </a:r>
            <a:endParaRPr lang="en-US" sz="1350" dirty="0"/>
          </a:p>
        </p:txBody>
      </p:sp>
      <p:sp>
        <p:nvSpPr>
          <p:cNvPr id="115" name="Text 95"/>
          <p:cNvSpPr/>
          <p:nvPr/>
        </p:nvSpPr>
        <p:spPr>
          <a:xfrm>
            <a:off x="6438900" y="288925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Negative &lt; 0</a:t>
            </a:r>
            <a:endParaRPr lang="en-US" sz="1400" dirty="0"/>
          </a:p>
        </p:txBody>
      </p:sp>
      <p:sp>
        <p:nvSpPr>
          <p:cNvPr id="116" name="Text 96"/>
          <p:cNvSpPr/>
          <p:nvPr/>
        </p:nvSpPr>
        <p:spPr>
          <a:xfrm>
            <a:off x="8597900" y="28829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II</a:t>
            </a:r>
            <a:endParaRPr lang="en-US" sz="1300" dirty="0"/>
          </a:p>
        </p:txBody>
      </p:sp>
      <p:sp>
        <p:nvSpPr>
          <p:cNvPr id="117" name="Shape 97"/>
          <p:cNvSpPr/>
          <p:nvPr/>
        </p:nvSpPr>
        <p:spPr>
          <a:xfrm>
            <a:off x="3467100" y="3441700"/>
            <a:ext cx="7391400" cy="7493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118" name="Text 98"/>
          <p:cNvSpPr/>
          <p:nvPr/>
        </p:nvSpPr>
        <p:spPr>
          <a:xfrm>
            <a:off x="3594100" y="371348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d(Z₂) =</a:t>
            </a:r>
            <a:endParaRPr lang="en-US" sz="1400" dirty="0"/>
          </a:p>
        </p:txBody>
      </p:sp>
      <p:sp>
        <p:nvSpPr>
          <p:cNvPr id="119" name="Text 99"/>
          <p:cNvSpPr/>
          <p:nvPr/>
        </p:nvSpPr>
        <p:spPr>
          <a:xfrm>
            <a:off x="4254500" y="35433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(1  3  2)</a:t>
            </a:r>
            <a:endParaRPr lang="en-US" sz="1300" dirty="0"/>
          </a:p>
        </p:txBody>
      </p:sp>
      <p:pic>
        <p:nvPicPr>
          <p:cNvPr id="120" name="Image 18" descr="videos/machine-learning/03_ridger_regression_gradient_descent/recreated_pptx/build/assets/paren_p047_sta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27600" y="3619500"/>
            <a:ext cx="231648" cy="501396"/>
          </a:xfrm>
          <a:prstGeom prst="rect">
            <a:avLst/>
          </a:prstGeom>
        </p:spPr>
      </p:pic>
      <p:sp>
        <p:nvSpPr>
          <p:cNvPr id="121" name="Text 100"/>
          <p:cNvSpPr/>
          <p:nvPr/>
        </p:nvSpPr>
        <p:spPr>
          <a:xfrm>
            <a:off x="4940300" y="358775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122" name="Text 101"/>
          <p:cNvSpPr/>
          <p:nvPr/>
        </p:nvSpPr>
        <p:spPr>
          <a:xfrm>
            <a:off x="4940300" y="37592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</a:t>
            </a:r>
            <a:endParaRPr lang="en-US" sz="1050" dirty="0"/>
          </a:p>
        </p:txBody>
      </p:sp>
      <p:sp>
        <p:nvSpPr>
          <p:cNvPr id="123" name="Text 102"/>
          <p:cNvSpPr/>
          <p:nvPr/>
        </p:nvSpPr>
        <p:spPr>
          <a:xfrm>
            <a:off x="4940300" y="39751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50" dirty="0"/>
          </a:p>
        </p:txBody>
      </p:sp>
      <p:sp>
        <p:nvSpPr>
          <p:cNvPr id="124" name="Text 103"/>
          <p:cNvSpPr/>
          <p:nvPr/>
        </p:nvSpPr>
        <p:spPr>
          <a:xfrm>
            <a:off x="5257800" y="372364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-2</a:t>
            </a:r>
            <a:endParaRPr lang="en-US" sz="1350" dirty="0"/>
          </a:p>
        </p:txBody>
      </p:sp>
      <p:sp>
        <p:nvSpPr>
          <p:cNvPr id="125" name="Text 104"/>
          <p:cNvSpPr/>
          <p:nvPr/>
        </p:nvSpPr>
        <p:spPr>
          <a:xfrm>
            <a:off x="6438900" y="372745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Negative &lt; 0</a:t>
            </a:r>
            <a:endParaRPr lang="en-US" sz="1400" dirty="0"/>
          </a:p>
        </p:txBody>
      </p:sp>
      <p:sp>
        <p:nvSpPr>
          <p:cNvPr id="126" name="Text 105"/>
          <p:cNvSpPr/>
          <p:nvPr/>
        </p:nvSpPr>
        <p:spPr>
          <a:xfrm>
            <a:off x="8509000" y="37211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II</a:t>
            </a:r>
            <a:endParaRPr lang="en-US" sz="1300" dirty="0"/>
          </a:p>
        </p:txBody>
      </p:sp>
      <p:sp>
        <p:nvSpPr>
          <p:cNvPr id="127" name="Shape 106"/>
          <p:cNvSpPr/>
          <p:nvPr/>
        </p:nvSpPr>
        <p:spPr>
          <a:xfrm>
            <a:off x="1003300" y="3530600"/>
            <a:ext cx="2032000" cy="3429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8" name="Text 107"/>
          <p:cNvSpPr/>
          <p:nvPr/>
        </p:nvSpPr>
        <p:spPr>
          <a:xfrm>
            <a:off x="1003300" y="3530600"/>
            <a:ext cx="203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Classes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2026-10-24T06:57:02Z</dcterms:created>
  <dcterms:modified xsi:type="dcterms:W3CDTF">2026-10-24T06:57:02Z</dcterms:modified>
</cp:coreProperties>
</file>